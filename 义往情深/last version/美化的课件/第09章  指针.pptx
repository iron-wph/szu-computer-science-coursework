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8"/>
  </p:notesMasterIdLst>
  <p:sldIdLst>
    <p:sldId id="818" r:id="rId2"/>
    <p:sldId id="842" r:id="rId3"/>
    <p:sldId id="794" r:id="rId4"/>
    <p:sldId id="843" r:id="rId5"/>
    <p:sldId id="796" r:id="rId6"/>
    <p:sldId id="797" r:id="rId7"/>
    <p:sldId id="798" r:id="rId8"/>
    <p:sldId id="799" r:id="rId9"/>
    <p:sldId id="800" r:id="rId10"/>
    <p:sldId id="801" r:id="rId11"/>
    <p:sldId id="802" r:id="rId12"/>
    <p:sldId id="803" r:id="rId13"/>
    <p:sldId id="804" r:id="rId14"/>
    <p:sldId id="805" r:id="rId15"/>
    <p:sldId id="806" r:id="rId16"/>
    <p:sldId id="807" r:id="rId17"/>
    <p:sldId id="808" r:id="rId18"/>
    <p:sldId id="809" r:id="rId19"/>
    <p:sldId id="810" r:id="rId20"/>
    <p:sldId id="811" r:id="rId21"/>
    <p:sldId id="812" r:id="rId22"/>
    <p:sldId id="813" r:id="rId23"/>
    <p:sldId id="814" r:id="rId24"/>
    <p:sldId id="815" r:id="rId25"/>
    <p:sldId id="816" r:id="rId26"/>
    <p:sldId id="817" r:id="rId27"/>
    <p:sldId id="845" r:id="rId28"/>
    <p:sldId id="880" r:id="rId29"/>
    <p:sldId id="881" r:id="rId30"/>
    <p:sldId id="820" r:id="rId31"/>
    <p:sldId id="821" r:id="rId32"/>
    <p:sldId id="822" r:id="rId33"/>
    <p:sldId id="882" r:id="rId34"/>
    <p:sldId id="824" r:id="rId35"/>
    <p:sldId id="825" r:id="rId36"/>
    <p:sldId id="826" r:id="rId37"/>
    <p:sldId id="827" r:id="rId38"/>
    <p:sldId id="828" r:id="rId39"/>
    <p:sldId id="829" r:id="rId40"/>
    <p:sldId id="830" r:id="rId41"/>
    <p:sldId id="831" r:id="rId42"/>
    <p:sldId id="832" r:id="rId43"/>
    <p:sldId id="833" r:id="rId44"/>
    <p:sldId id="892" r:id="rId45"/>
    <p:sldId id="834" r:id="rId46"/>
    <p:sldId id="835" r:id="rId47"/>
    <p:sldId id="836" r:id="rId48"/>
    <p:sldId id="837" r:id="rId49"/>
    <p:sldId id="838" r:id="rId50"/>
    <p:sldId id="839" r:id="rId51"/>
    <p:sldId id="840" r:id="rId52"/>
    <p:sldId id="841" r:id="rId53"/>
    <p:sldId id="883" r:id="rId54"/>
    <p:sldId id="884" r:id="rId55"/>
    <p:sldId id="885" r:id="rId56"/>
    <p:sldId id="886" r:id="rId57"/>
    <p:sldId id="887" r:id="rId58"/>
    <p:sldId id="888" r:id="rId59"/>
    <p:sldId id="889" r:id="rId60"/>
    <p:sldId id="890" r:id="rId61"/>
    <p:sldId id="846" r:id="rId62"/>
    <p:sldId id="847" r:id="rId63"/>
    <p:sldId id="848" r:id="rId64"/>
    <p:sldId id="849" r:id="rId65"/>
    <p:sldId id="850" r:id="rId66"/>
    <p:sldId id="851" r:id="rId67"/>
    <p:sldId id="852" r:id="rId68"/>
    <p:sldId id="853" r:id="rId69"/>
    <p:sldId id="854" r:id="rId70"/>
    <p:sldId id="855" r:id="rId71"/>
    <p:sldId id="856" r:id="rId72"/>
    <p:sldId id="857" r:id="rId73"/>
    <p:sldId id="891" r:id="rId74"/>
    <p:sldId id="858" r:id="rId75"/>
    <p:sldId id="859" r:id="rId76"/>
    <p:sldId id="860" r:id="rId77"/>
    <p:sldId id="861" r:id="rId78"/>
    <p:sldId id="862" r:id="rId79"/>
    <p:sldId id="863" r:id="rId80"/>
    <p:sldId id="864" r:id="rId81"/>
    <p:sldId id="865" r:id="rId82"/>
    <p:sldId id="866" r:id="rId83"/>
    <p:sldId id="867" r:id="rId84"/>
    <p:sldId id="868" r:id="rId85"/>
    <p:sldId id="869" r:id="rId86"/>
    <p:sldId id="870" r:id="rId87"/>
    <p:sldId id="871" r:id="rId88"/>
    <p:sldId id="872" r:id="rId89"/>
    <p:sldId id="873" r:id="rId90"/>
    <p:sldId id="874" r:id="rId91"/>
    <p:sldId id="875" r:id="rId92"/>
    <p:sldId id="876" r:id="rId93"/>
    <p:sldId id="877" r:id="rId94"/>
    <p:sldId id="878" r:id="rId95"/>
    <p:sldId id="879" r:id="rId96"/>
    <p:sldId id="819" r:id="rId97"/>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2" pos="3840" userDrawn="1">
          <p15:clr>
            <a:srgbClr val="A4A3A4"/>
          </p15:clr>
        </p15:guide>
        <p15:guide id="4" pos="892" userDrawn="1">
          <p15:clr>
            <a:srgbClr val="A4A3A4"/>
          </p15:clr>
        </p15:guide>
        <p15:guide id="5" pos="438" userDrawn="1">
          <p15:clr>
            <a:srgbClr val="A4A3A4"/>
          </p15:clr>
        </p15:guide>
        <p15:guide id="6" pos="7015" userDrawn="1">
          <p15:clr>
            <a:srgbClr val="A4A3A4"/>
          </p15:clr>
        </p15:guide>
        <p15:guide id="7" orient="horz" pos="2160">
          <p15:clr>
            <a:srgbClr val="A4A3A4"/>
          </p15:clr>
        </p15:guide>
        <p15:guide id="8" pos="665" userDrawn="1">
          <p15:clr>
            <a:srgbClr val="A4A3A4"/>
          </p15:clr>
        </p15:guide>
        <p15:guide id="9" pos="72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CFD1"/>
    <a:srgbClr val="DDFAED"/>
    <a:srgbClr val="BEDFC4"/>
    <a:srgbClr val="C01920"/>
    <a:srgbClr val="CF0D9E"/>
    <a:srgbClr val="BAA1B9"/>
    <a:srgbClr val="F0E5B7"/>
    <a:srgbClr val="FF9900"/>
    <a:srgbClr val="BD6368"/>
    <a:srgbClr val="9CF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17" autoAdjust="0"/>
    <p:restoredTop sz="95285" autoAdjust="0"/>
  </p:normalViewPr>
  <p:slideViewPr>
    <p:cSldViewPr>
      <p:cViewPr varScale="1">
        <p:scale>
          <a:sx n="79" d="100"/>
          <a:sy n="79" d="100"/>
        </p:scale>
        <p:origin x="931" y="53"/>
      </p:cViewPr>
      <p:guideLst>
        <p:guide pos="3840"/>
        <p:guide pos="892"/>
        <p:guide pos="438"/>
        <p:guide pos="7015"/>
        <p:guide orient="horz" pos="2160"/>
        <p:guide pos="665"/>
        <p:guide pos="72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76E37FF-4EAF-470E-BD31-3D917444AAA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1</a:t>
            </a:fld>
            <a:endParaRPr lang="en-US" altLang="zh-CN" dirty="0"/>
          </a:p>
        </p:txBody>
      </p:sp>
    </p:spTree>
    <p:extLst>
      <p:ext uri="{BB962C8B-B14F-4D97-AF65-F5344CB8AC3E}">
        <p14:creationId xmlns:p14="http://schemas.microsoft.com/office/powerpoint/2010/main" val="1473123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3D8839-C5AB-4018-B67A-8BAE0943C859}" type="slidenum">
              <a:rPr lang="en-US" altLang="zh-CN"/>
              <a:pPr/>
              <a:t>2</a:t>
            </a:fld>
            <a:endParaRPr lang="en-US" altLang="zh-CN"/>
          </a:p>
        </p:txBody>
      </p:sp>
      <p:sp>
        <p:nvSpPr>
          <p:cNvPr id="744450" name="Rectangle 2"/>
          <p:cNvSpPr>
            <a:spLocks noGrp="1" noRot="1" noChangeAspect="1" noChangeArrowheads="1" noTextEdit="1"/>
          </p:cNvSpPr>
          <p:nvPr>
            <p:ph type="sldImg"/>
          </p:nvPr>
        </p:nvSpPr>
        <p:spPr>
          <a:xfrm>
            <a:off x="381000" y="685800"/>
            <a:ext cx="6096000" cy="3429000"/>
          </a:xfrm>
          <a:ln/>
        </p:spPr>
      </p:sp>
      <p:sp>
        <p:nvSpPr>
          <p:cNvPr id="74445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5438D1-0543-41DC-89A2-AB48DA1C9107}" type="slidenum">
              <a:rPr lang="en-US" altLang="zh-CN"/>
              <a:pPr/>
              <a:t>5</a:t>
            </a:fld>
            <a:endParaRPr lang="en-US" altLang="zh-CN"/>
          </a:p>
        </p:txBody>
      </p:sp>
      <p:sp>
        <p:nvSpPr>
          <p:cNvPr id="1130498" name="Rectangle 2"/>
          <p:cNvSpPr>
            <a:spLocks noGrp="1" noRot="1" noChangeAspect="1" noChangeArrowheads="1" noTextEdit="1"/>
          </p:cNvSpPr>
          <p:nvPr>
            <p:ph type="sldImg"/>
          </p:nvPr>
        </p:nvSpPr>
        <p:spPr>
          <a:xfrm>
            <a:off x="381000" y="685800"/>
            <a:ext cx="6096000" cy="3429000"/>
          </a:xfrm>
          <a:ln/>
        </p:spPr>
      </p:sp>
      <p:sp>
        <p:nvSpPr>
          <p:cNvPr id="11304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E4AC1C-9330-41F3-85C2-B7B30E0F0CEA}" type="slidenum">
              <a:rPr lang="en-US" altLang="zh-CN"/>
              <a:pPr/>
              <a:t>9</a:t>
            </a:fld>
            <a:endParaRPr lang="en-US" altLang="zh-CN"/>
          </a:p>
        </p:txBody>
      </p:sp>
      <p:sp>
        <p:nvSpPr>
          <p:cNvPr id="1135618" name="Rectangle 2"/>
          <p:cNvSpPr>
            <a:spLocks noGrp="1" noRot="1" noChangeAspect="1" noChangeArrowheads="1" noTextEdit="1"/>
          </p:cNvSpPr>
          <p:nvPr>
            <p:ph type="sldImg"/>
          </p:nvPr>
        </p:nvSpPr>
        <p:spPr>
          <a:xfrm>
            <a:off x="381000" y="685800"/>
            <a:ext cx="6096000" cy="3429000"/>
          </a:xfrm>
          <a:ln/>
        </p:spPr>
      </p:sp>
      <p:sp>
        <p:nvSpPr>
          <p:cNvPr id="113561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D0D461-DE3E-419C-852D-769CD2D9FEE2}" type="slidenum">
              <a:rPr lang="en-US" altLang="zh-CN" smtClean="0"/>
              <a:pPr/>
              <a:t>10</a:t>
            </a:fld>
            <a:endParaRPr lang="en-US" altLang="zh-CN"/>
          </a:p>
        </p:txBody>
      </p:sp>
    </p:spTree>
    <p:extLst>
      <p:ext uri="{BB962C8B-B14F-4D97-AF65-F5344CB8AC3E}">
        <p14:creationId xmlns:p14="http://schemas.microsoft.com/office/powerpoint/2010/main" val="76171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7973CD-E91D-4C47-9081-B692699F8B4D}" type="slidenum">
              <a:rPr lang="en-US" altLang="zh-CN"/>
              <a:pPr/>
              <a:t>11</a:t>
            </a:fld>
            <a:endParaRPr lang="en-US" altLang="zh-CN"/>
          </a:p>
        </p:txBody>
      </p:sp>
      <p:sp>
        <p:nvSpPr>
          <p:cNvPr id="1138690" name="Rectangle 2"/>
          <p:cNvSpPr>
            <a:spLocks noGrp="1" noRot="1" noChangeAspect="1" noChangeArrowheads="1" noTextEdit="1"/>
          </p:cNvSpPr>
          <p:nvPr>
            <p:ph type="sldImg"/>
          </p:nvPr>
        </p:nvSpPr>
        <p:spPr>
          <a:xfrm>
            <a:off x="381000" y="685800"/>
            <a:ext cx="6096000" cy="3429000"/>
          </a:xfrm>
          <a:ln/>
        </p:spPr>
      </p:sp>
      <p:sp>
        <p:nvSpPr>
          <p:cNvPr id="113869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D0D461-DE3E-419C-852D-769CD2D9FEE2}" type="slidenum">
              <a:rPr lang="en-US" altLang="zh-CN" smtClean="0"/>
              <a:pPr/>
              <a:t>34</a:t>
            </a:fld>
            <a:endParaRPr lang="en-US" altLang="zh-CN"/>
          </a:p>
        </p:txBody>
      </p:sp>
    </p:spTree>
    <p:extLst>
      <p:ext uri="{BB962C8B-B14F-4D97-AF65-F5344CB8AC3E}">
        <p14:creationId xmlns:p14="http://schemas.microsoft.com/office/powerpoint/2010/main" val="1567215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D0D461-DE3E-419C-852D-769CD2D9FEE2}" type="slidenum">
              <a:rPr lang="en-US" altLang="zh-CN" smtClean="0"/>
              <a:pPr/>
              <a:t>51</a:t>
            </a:fld>
            <a:endParaRPr lang="en-US" altLang="zh-CN"/>
          </a:p>
        </p:txBody>
      </p:sp>
    </p:spTree>
    <p:extLst>
      <p:ext uri="{BB962C8B-B14F-4D97-AF65-F5344CB8AC3E}">
        <p14:creationId xmlns:p14="http://schemas.microsoft.com/office/powerpoint/2010/main" val="4289398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D0D461-DE3E-419C-852D-769CD2D9FEE2}" type="slidenum">
              <a:rPr lang="en-US" altLang="zh-CN" smtClean="0"/>
              <a:pPr/>
              <a:t>82</a:t>
            </a:fld>
            <a:endParaRPr lang="en-US" altLang="zh-CN"/>
          </a:p>
        </p:txBody>
      </p:sp>
    </p:spTree>
    <p:extLst>
      <p:ext uri="{BB962C8B-B14F-4D97-AF65-F5344CB8AC3E}">
        <p14:creationId xmlns:p14="http://schemas.microsoft.com/office/powerpoint/2010/main" val="157010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A1D0D461-DE3E-419C-852D-769CD2D9FEE2}" type="slidenum">
              <a:rPr lang="en-US" altLang="zh-CN" smtClean="0"/>
              <a:pPr/>
              <a:t>86</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D0D461-DE3E-419C-852D-769CD2D9FEE2}" type="slidenum">
              <a:rPr lang="en-US" altLang="zh-CN" smtClean="0"/>
              <a:pPr/>
              <a:t>88</a:t>
            </a:fld>
            <a:endParaRPr lang="en-US" altLang="zh-CN"/>
          </a:p>
        </p:txBody>
      </p:sp>
    </p:spTree>
    <p:extLst>
      <p:ext uri="{BB962C8B-B14F-4D97-AF65-F5344CB8AC3E}">
        <p14:creationId xmlns:p14="http://schemas.microsoft.com/office/powerpoint/2010/main" val="1526121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96</a:t>
            </a:fld>
            <a:endParaRPr lang="en-US" altLang="zh-CN"/>
          </a:p>
        </p:txBody>
      </p:sp>
    </p:spTree>
    <p:extLst>
      <p:ext uri="{BB962C8B-B14F-4D97-AF65-F5344CB8AC3E}">
        <p14:creationId xmlns:p14="http://schemas.microsoft.com/office/powerpoint/2010/main" val="836997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1EF2924-3E1E-4CB4-8EF2-15D5D1C0B5A9}"/>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8" name="组合 7">
            <a:extLst>
              <a:ext uri="{FF2B5EF4-FFF2-40B4-BE49-F238E27FC236}">
                <a16:creationId xmlns:a16="http://schemas.microsoft.com/office/drawing/2014/main" id="{4B418866-4D2D-43B4-A4C7-A19B50828F83}"/>
              </a:ext>
            </a:extLst>
          </p:cNvPr>
          <p:cNvGrpSpPr/>
          <p:nvPr userDrawn="1"/>
        </p:nvGrpSpPr>
        <p:grpSpPr>
          <a:xfrm>
            <a:off x="0" y="-18269"/>
            <a:ext cx="1136073" cy="864235"/>
            <a:chOff x="0" y="-18269"/>
            <a:chExt cx="1136073" cy="864235"/>
          </a:xfrm>
        </p:grpSpPr>
        <p:sp>
          <p:nvSpPr>
            <p:cNvPr id="9" name="矩形 8">
              <a:extLst>
                <a:ext uri="{FF2B5EF4-FFF2-40B4-BE49-F238E27FC236}">
                  <a16:creationId xmlns:a16="http://schemas.microsoft.com/office/drawing/2014/main" id="{B57A01DE-1CE0-473F-BFBC-953845BD515E}"/>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0" name="矩形 9">
              <a:extLst>
                <a:ext uri="{FF2B5EF4-FFF2-40B4-BE49-F238E27FC236}">
                  <a16:creationId xmlns:a16="http://schemas.microsoft.com/office/drawing/2014/main" id="{96E742AE-2026-40D4-B7D4-325185E7DA57}"/>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1" name="矩形 10">
              <a:extLst>
                <a:ext uri="{FF2B5EF4-FFF2-40B4-BE49-F238E27FC236}">
                  <a16:creationId xmlns:a16="http://schemas.microsoft.com/office/drawing/2014/main" id="{645C1E27-5297-46D4-8389-5A37CA1DD237}"/>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2" name="矩形 11">
              <a:extLst>
                <a:ext uri="{FF2B5EF4-FFF2-40B4-BE49-F238E27FC236}">
                  <a16:creationId xmlns:a16="http://schemas.microsoft.com/office/drawing/2014/main" id="{9E82ED21-678D-45D4-8A9D-D1F391FA6F5F}"/>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3" name="矩形 12">
              <a:extLst>
                <a:ext uri="{FF2B5EF4-FFF2-40B4-BE49-F238E27FC236}">
                  <a16:creationId xmlns:a16="http://schemas.microsoft.com/office/drawing/2014/main" id="{71B67A05-980D-4B85-BFA9-BB6839BE7D5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14" name="矩形 13">
            <a:extLst>
              <a:ext uri="{FF2B5EF4-FFF2-40B4-BE49-F238E27FC236}">
                <a16:creationId xmlns:a16="http://schemas.microsoft.com/office/drawing/2014/main" id="{A07852E5-18ED-4342-8617-434AF51E6693}"/>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16" name="图片 15" descr="文本&#10;&#10;描述已自动生成">
            <a:extLst>
              <a:ext uri="{FF2B5EF4-FFF2-40B4-BE49-F238E27FC236}">
                <a16:creationId xmlns:a16="http://schemas.microsoft.com/office/drawing/2014/main" id="{FE70EF5C-ACA0-4A13-89C1-BD7D5AB87B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a:prstGeom prst="rect">
            <a:avLst/>
          </a:prstGeom>
        </p:spPr>
        <p:txBody>
          <a:bodyPr/>
          <a:lstStyle>
            <a:lvl1pPr>
              <a:defRPr/>
            </a:lvl1pPr>
          </a:lstStyle>
          <a:p>
            <a:fld id="{C4CA0FDB-3C96-4F80-8C31-ADBD4276175E}"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284EC08-A8D8-44C4-8645-6C1DB1686FFF}"/>
              </a:ext>
            </a:extLst>
          </p:cNvPr>
          <p:cNvPicPr>
            <a:picLocks noChangeAspect="1"/>
          </p:cNvPicPr>
          <p:nvPr userDrawn="1"/>
        </p:nvPicPr>
        <p:blipFill>
          <a:blip r:embed="rId2"/>
          <a:stretch>
            <a:fillRect/>
          </a:stretch>
        </p:blipFill>
        <p:spPr>
          <a:xfrm>
            <a:off x="-1032792" y="3021330"/>
            <a:ext cx="371475" cy="342900"/>
          </a:xfrm>
          <a:prstGeom prst="rect">
            <a:avLst/>
          </a:prstGeom>
        </p:spPr>
      </p:pic>
      <p:sp>
        <p:nvSpPr>
          <p:cNvPr id="7" name="矩形 6">
            <a:extLst>
              <a:ext uri="{FF2B5EF4-FFF2-40B4-BE49-F238E27FC236}">
                <a16:creationId xmlns:a16="http://schemas.microsoft.com/office/drawing/2014/main" id="{03B68388-6482-47AA-B23D-54697538AC93}"/>
              </a:ext>
            </a:extLst>
          </p:cNvPr>
          <p:cNvSpPr/>
          <p:nvPr userDrawn="1"/>
        </p:nvSpPr>
        <p:spPr bwMode="auto">
          <a:xfrm>
            <a:off x="0" y="0"/>
            <a:ext cx="12192000" cy="6858000"/>
          </a:xfrm>
          <a:prstGeom prst="rect">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234118"/>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E5BC307-0E07-482C-BB08-A2C38A4179A3}" type="slidenum">
              <a:rPr lang="en-US" altLang="zh-CN"/>
              <a:pPr/>
              <a:t>‹#›</a:t>
            </a:fld>
            <a:endParaRPr lang="en-US" altLang="zh-CN"/>
          </a:p>
        </p:txBody>
      </p:sp>
    </p:spTree>
    <p:extLst>
      <p:ext uri="{BB962C8B-B14F-4D97-AF65-F5344CB8AC3E}">
        <p14:creationId xmlns:p14="http://schemas.microsoft.com/office/powerpoint/2010/main" val="56380906"/>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115888"/>
            <a:ext cx="10363200" cy="5980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p:spPr>
        <p:txBody>
          <a:bodyPr/>
          <a:lstStyle>
            <a:lvl1pPr>
              <a:defRPr/>
            </a:lvl1pPr>
          </a:lstStyle>
          <a:p>
            <a:fld id="{C552FE6F-13F5-41E6-9FA3-5A273B7D4E87}" type="slidenum">
              <a:rPr lang="en-US" altLang="zh-CN"/>
              <a:pPr/>
              <a:t>‹#›</a:t>
            </a:fld>
            <a:endParaRPr lang="en-US" altLang="zh-CN"/>
          </a:p>
        </p:txBody>
      </p:sp>
    </p:spTree>
    <p:extLst>
      <p:ext uri="{BB962C8B-B14F-4D97-AF65-F5344CB8AC3E}">
        <p14:creationId xmlns:p14="http://schemas.microsoft.com/office/powerpoint/2010/main" val="2004803536"/>
      </p:ext>
    </p:extLst>
  </p:cSld>
  <p:clrMapOvr>
    <a:masterClrMapping/>
  </p:clrMapOvr>
  <p:transition>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B5A18940-D624-4B3D-B96C-0EC2FB38CDBE}" type="slidenum">
              <a:rPr lang="en-US" altLang="zh-CN"/>
              <a:pPr/>
              <a:t>‹#›</a:t>
            </a:fld>
            <a:endParaRPr lang="en-US" altLang="zh-CN"/>
          </a:p>
        </p:txBody>
      </p:sp>
    </p:spTree>
    <p:extLst>
      <p:ext uri="{BB962C8B-B14F-4D97-AF65-F5344CB8AC3E}">
        <p14:creationId xmlns:p14="http://schemas.microsoft.com/office/powerpoint/2010/main" val="1792258927"/>
      </p:ext>
    </p:extLst>
  </p:cSld>
  <p:clrMapOvr>
    <a:masterClrMapping/>
  </p:clrMapOvr>
  <p:transition>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341438"/>
            <a:ext cx="5080000" cy="47545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8400"/>
            <a:ext cx="2540000" cy="457200"/>
          </a:xfrm>
        </p:spPr>
        <p:txBody>
          <a:bodyPr/>
          <a:lstStyle>
            <a:lvl1pPr>
              <a:defRPr/>
            </a:lvl1pPr>
          </a:lstStyle>
          <a:p>
            <a:fld id="{F70F8F8D-D16E-4599-93A1-3AB601F3F5B8}" type="slidenum">
              <a:rPr lang="en-US" altLang="zh-CN"/>
              <a:pPr/>
              <a:t>‹#›</a:t>
            </a:fld>
            <a:endParaRPr lang="en-US" altLang="zh-CN"/>
          </a:p>
        </p:txBody>
      </p:sp>
    </p:spTree>
    <p:extLst>
      <p:ext uri="{BB962C8B-B14F-4D97-AF65-F5344CB8AC3E}">
        <p14:creationId xmlns:p14="http://schemas.microsoft.com/office/powerpoint/2010/main" val="1547771544"/>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B56CF960-5613-4363-9E14-14A8BF1EBB1E}"/>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22" name="组合 21">
            <a:extLst>
              <a:ext uri="{FF2B5EF4-FFF2-40B4-BE49-F238E27FC236}">
                <a16:creationId xmlns:a16="http://schemas.microsoft.com/office/drawing/2014/main" id="{7B1461C2-7D0D-4E3C-8B47-25DCF9B20DC6}"/>
              </a:ext>
            </a:extLst>
          </p:cNvPr>
          <p:cNvGrpSpPr/>
          <p:nvPr userDrawn="1"/>
        </p:nvGrpSpPr>
        <p:grpSpPr>
          <a:xfrm>
            <a:off x="0" y="-18269"/>
            <a:ext cx="1136073" cy="864235"/>
            <a:chOff x="0" y="-18269"/>
            <a:chExt cx="1136073" cy="864235"/>
          </a:xfrm>
        </p:grpSpPr>
        <p:sp>
          <p:nvSpPr>
            <p:cNvPr id="23" name="矩形 22">
              <a:extLst>
                <a:ext uri="{FF2B5EF4-FFF2-40B4-BE49-F238E27FC236}">
                  <a16:creationId xmlns:a16="http://schemas.microsoft.com/office/drawing/2014/main" id="{968FD0F2-33A1-43B7-94AC-D1A0FC81FA0B}"/>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4" name="矩形 23">
              <a:extLst>
                <a:ext uri="{FF2B5EF4-FFF2-40B4-BE49-F238E27FC236}">
                  <a16:creationId xmlns:a16="http://schemas.microsoft.com/office/drawing/2014/main" id="{63006E15-5CC6-4E2B-974F-5505320A49A0}"/>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5" name="矩形 24">
              <a:extLst>
                <a:ext uri="{FF2B5EF4-FFF2-40B4-BE49-F238E27FC236}">
                  <a16:creationId xmlns:a16="http://schemas.microsoft.com/office/drawing/2014/main" id="{E4DFBFD1-EA9E-4E6B-BEDE-0C3408961645}"/>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6" name="矩形 25">
              <a:extLst>
                <a:ext uri="{FF2B5EF4-FFF2-40B4-BE49-F238E27FC236}">
                  <a16:creationId xmlns:a16="http://schemas.microsoft.com/office/drawing/2014/main" id="{0F4E1A74-684B-41DA-B988-56C6439CBC73}"/>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7" name="矩形 26">
              <a:extLst>
                <a:ext uri="{FF2B5EF4-FFF2-40B4-BE49-F238E27FC236}">
                  <a16:creationId xmlns:a16="http://schemas.microsoft.com/office/drawing/2014/main" id="{17248F34-2C9B-45E0-A8F0-6337A327BFF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28" name="矩形 27">
            <a:extLst>
              <a:ext uri="{FF2B5EF4-FFF2-40B4-BE49-F238E27FC236}">
                <a16:creationId xmlns:a16="http://schemas.microsoft.com/office/drawing/2014/main" id="{968F4294-188D-4257-9B6F-6E7514261A97}"/>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29" name="图片 28" descr="文本&#10;&#10;描述已自动生成">
            <a:extLst>
              <a:ext uri="{FF2B5EF4-FFF2-40B4-BE49-F238E27FC236}">
                <a16:creationId xmlns:a16="http://schemas.microsoft.com/office/drawing/2014/main" id="{BC7FD4F5-F6C5-40DA-A03E-06C55AE51873}"/>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 id="2147483665" r:id="rId16"/>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14.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2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3.wav"/></Relationships>
</file>

<file path=ppt/slides/_rels/slide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4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5.wav"/></Relationships>
</file>

<file path=ppt/slides/_rels/slide46.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3.wav"/></Relationships>
</file>

<file path=ppt/slides/_rels/slide5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4.wav"/></Relationships>
</file>

<file path=ppt/slides/_rels/slide52.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5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6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6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6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audio" Target="../media/audio6.wav"/><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8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audio" Target="../media/audio3.wav"/><Relationship Id="rId5" Type="http://schemas.openxmlformats.org/officeDocument/2006/relationships/audio" Target="../media/audio2.wav"/><Relationship Id="rId4" Type="http://schemas.openxmlformats.org/officeDocument/2006/relationships/audio" Target="../media/audio5.wav"/></Relationships>
</file>

<file path=ppt/slides/_rels/slide8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86.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1.wav"/></Relationships>
</file>

<file path=ppt/slides/_rels/slide8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88.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8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9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audio" Target="../media/audio3.wav"/></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1920"/>
        </a:solidFill>
        <a:effectLst/>
      </p:bgPr>
    </p:bg>
    <p:spTree>
      <p:nvGrpSpPr>
        <p:cNvPr id="1" name=""/>
        <p:cNvGrpSpPr/>
        <p:nvPr/>
      </p:nvGrpSpPr>
      <p:grpSpPr>
        <a:xfrm>
          <a:off x="0" y="0"/>
          <a:ext cx="0" cy="0"/>
          <a:chOff x="0" y="0"/>
          <a:chExt cx="0" cy="0"/>
        </a:xfrm>
      </p:grpSpPr>
      <p:grpSp>
        <p:nvGrpSpPr>
          <p:cNvPr id="466990" name="组合 466989">
            <a:extLst>
              <a:ext uri="{FF2B5EF4-FFF2-40B4-BE49-F238E27FC236}">
                <a16:creationId xmlns:a16="http://schemas.microsoft.com/office/drawing/2014/main" id="{90DA2393-20F0-4F22-A673-37EFCBE3CBB7}"/>
              </a:ext>
            </a:extLst>
          </p:cNvPr>
          <p:cNvGrpSpPr/>
          <p:nvPr/>
        </p:nvGrpSpPr>
        <p:grpSpPr>
          <a:xfrm>
            <a:off x="2734933" y="1239143"/>
            <a:ext cx="5668582" cy="6031728"/>
            <a:chOff x="1319586" y="1051455"/>
            <a:chExt cx="5668582" cy="5256585"/>
          </a:xfrm>
          <a:noFill/>
        </p:grpSpPr>
        <p:grpSp>
          <p:nvGrpSpPr>
            <p:cNvPr id="466988" name="组合 466987">
              <a:extLst>
                <a:ext uri="{FF2B5EF4-FFF2-40B4-BE49-F238E27FC236}">
                  <a16:creationId xmlns:a16="http://schemas.microsoft.com/office/drawing/2014/main" id="{47849CA3-A394-49F2-AD5A-D3DDF8E5D932}"/>
                </a:ext>
              </a:extLst>
            </p:cNvPr>
            <p:cNvGrpSpPr/>
            <p:nvPr/>
          </p:nvGrpSpPr>
          <p:grpSpPr>
            <a:xfrm>
              <a:off x="1319586" y="1232940"/>
              <a:ext cx="4837921" cy="4232797"/>
              <a:chOff x="4426431" y="860338"/>
              <a:chExt cx="4837921" cy="4232797"/>
            </a:xfrm>
            <a:grpFill/>
          </p:grpSpPr>
          <p:sp>
            <p:nvSpPr>
              <p:cNvPr id="56" name="矩形: 圆顶角 55">
                <a:extLst>
                  <a:ext uri="{FF2B5EF4-FFF2-40B4-BE49-F238E27FC236}">
                    <a16:creationId xmlns:a16="http://schemas.microsoft.com/office/drawing/2014/main" id="{34E73DA9-BC8D-436A-A664-0989F146C2E5}"/>
                  </a:ext>
                </a:extLst>
              </p:cNvPr>
              <p:cNvSpPr/>
              <p:nvPr/>
            </p:nvSpPr>
            <p:spPr bwMode="auto">
              <a:xfrm rot="16200000">
                <a:off x="6101055" y="1929838"/>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6578915 w 8968159"/>
                  <a:gd name="connsiteY0" fmla="*/ 1929838 h 5389328"/>
                  <a:gd name="connsiteX1" fmla="*/ 0 w 8968159"/>
                  <a:gd name="connsiteY1" fmla="*/ 0 h 5389328"/>
                  <a:gd name="connsiteX2" fmla="*/ 8490299 w 8968159"/>
                  <a:gd name="connsiteY2" fmla="*/ 1929838 h 5389328"/>
                  <a:gd name="connsiteX3" fmla="*/ 8968159 w 8968159"/>
                  <a:gd name="connsiteY3" fmla="*/ 2407698 h 5389328"/>
                  <a:gd name="connsiteX4" fmla="*/ 8968159 w 8968159"/>
                  <a:gd name="connsiteY4" fmla="*/ 5389328 h 5389328"/>
                  <a:gd name="connsiteX5" fmla="*/ 8968159 w 8968159"/>
                  <a:gd name="connsiteY5" fmla="*/ 5389328 h 5389328"/>
                  <a:gd name="connsiteX6" fmla="*/ 6101055 w 8968159"/>
                  <a:gd name="connsiteY6" fmla="*/ 5389328 h 5389328"/>
                  <a:gd name="connsiteX7" fmla="*/ 6101055 w 8968159"/>
                  <a:gd name="connsiteY7" fmla="*/ 5389328 h 5389328"/>
                  <a:gd name="connsiteX8" fmla="*/ 6101055 w 8968159"/>
                  <a:gd name="connsiteY8" fmla="*/ 2407698 h 5389328"/>
                  <a:gd name="connsiteX9" fmla="*/ 6578915 w 8968159"/>
                  <a:gd name="connsiteY9" fmla="*/ 1929838 h 5389328"/>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66958" name="任意多边形: 形状 466957">
                <a:extLst>
                  <a:ext uri="{FF2B5EF4-FFF2-40B4-BE49-F238E27FC236}">
                    <a16:creationId xmlns:a16="http://schemas.microsoft.com/office/drawing/2014/main" id="{62D9AFFB-BF60-4B90-91C5-D6F2AB5FA62F}"/>
                  </a:ext>
                </a:extLst>
              </p:cNvPr>
              <p:cNvSpPr/>
              <p:nvPr/>
            </p:nvSpPr>
            <p:spPr bwMode="auto">
              <a:xfrm>
                <a:off x="5760395" y="2181976"/>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59" name="任意多边形: 形状 466958">
                <a:extLst>
                  <a:ext uri="{FF2B5EF4-FFF2-40B4-BE49-F238E27FC236}">
                    <a16:creationId xmlns:a16="http://schemas.microsoft.com/office/drawing/2014/main" id="{494EA9CB-8869-4422-B197-F5480FE45B0A}"/>
                  </a:ext>
                </a:extLst>
              </p:cNvPr>
              <p:cNvSpPr/>
              <p:nvPr/>
            </p:nvSpPr>
            <p:spPr bwMode="auto">
              <a:xfrm>
                <a:off x="5715931" y="213792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0" name="任意多边形: 形状 466959">
                <a:extLst>
                  <a:ext uri="{FF2B5EF4-FFF2-40B4-BE49-F238E27FC236}">
                    <a16:creationId xmlns:a16="http://schemas.microsoft.com/office/drawing/2014/main" id="{B042FD86-A0B7-4149-8398-29E8B2039CA8}"/>
                  </a:ext>
                </a:extLst>
              </p:cNvPr>
              <p:cNvSpPr/>
              <p:nvPr/>
            </p:nvSpPr>
            <p:spPr bwMode="auto">
              <a:xfrm>
                <a:off x="5671464" y="2093867"/>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1" name="任意多边形: 形状 466960">
                <a:extLst>
                  <a:ext uri="{FF2B5EF4-FFF2-40B4-BE49-F238E27FC236}">
                    <a16:creationId xmlns:a16="http://schemas.microsoft.com/office/drawing/2014/main" id="{33E40499-0A00-469C-B532-5C731717B7DC}"/>
                  </a:ext>
                </a:extLst>
              </p:cNvPr>
              <p:cNvSpPr/>
              <p:nvPr/>
            </p:nvSpPr>
            <p:spPr bwMode="auto">
              <a:xfrm>
                <a:off x="5627000" y="2049811"/>
                <a:ext cx="3459490" cy="2867105"/>
              </a:xfrm>
              <a:custGeom>
                <a:avLst/>
                <a:gdLst>
                  <a:gd name="connsiteX0" fmla="*/ 0 w 3459490"/>
                  <a:gd name="connsiteY0" fmla="*/ 2389245 h 2867105"/>
                  <a:gd name="connsiteX1" fmla="*/ 13 w 3459490"/>
                  <a:gd name="connsiteY1" fmla="*/ 477860 h 2867105"/>
                  <a:gd name="connsiteX2" fmla="*/ 477860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60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60" y="0"/>
                    </a:cubicBezTo>
                    <a:lnTo>
                      <a:pt x="3459490" y="0"/>
                    </a:lnTo>
                    <a:lnTo>
                      <a:pt x="3459490" y="0"/>
                    </a:lnTo>
                    <a:lnTo>
                      <a:pt x="3459490" y="2867105"/>
                    </a:lnTo>
                    <a:lnTo>
                      <a:pt x="3459490" y="2867105"/>
                    </a:lnTo>
                    <a:lnTo>
                      <a:pt x="477860"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2" name="任意多边形: 形状 466961">
                <a:extLst>
                  <a:ext uri="{FF2B5EF4-FFF2-40B4-BE49-F238E27FC236}">
                    <a16:creationId xmlns:a16="http://schemas.microsoft.com/office/drawing/2014/main" id="{D083F042-0879-45F3-A207-BF0D2EC1AD9C}"/>
                  </a:ext>
                </a:extLst>
              </p:cNvPr>
              <p:cNvSpPr/>
              <p:nvPr/>
            </p:nvSpPr>
            <p:spPr bwMode="auto">
              <a:xfrm>
                <a:off x="5582533" y="2005758"/>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3" name="任意多边形: 形状 466962">
                <a:extLst>
                  <a:ext uri="{FF2B5EF4-FFF2-40B4-BE49-F238E27FC236}">
                    <a16:creationId xmlns:a16="http://schemas.microsoft.com/office/drawing/2014/main" id="{CA88892A-146D-4C2E-B891-97B3AF4A4C42}"/>
                  </a:ext>
                </a:extLst>
              </p:cNvPr>
              <p:cNvSpPr/>
              <p:nvPr/>
            </p:nvSpPr>
            <p:spPr bwMode="auto">
              <a:xfrm>
                <a:off x="5538069" y="19617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4" name="任意多边形: 形状 466963">
                <a:extLst>
                  <a:ext uri="{FF2B5EF4-FFF2-40B4-BE49-F238E27FC236}">
                    <a16:creationId xmlns:a16="http://schemas.microsoft.com/office/drawing/2014/main" id="{FB28D25E-670E-47ED-8799-2BB2C1A45443}"/>
                  </a:ext>
                </a:extLst>
              </p:cNvPr>
              <p:cNvSpPr/>
              <p:nvPr/>
            </p:nvSpPr>
            <p:spPr bwMode="auto">
              <a:xfrm>
                <a:off x="5493602" y="1917649"/>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5" name="任意多边形: 形状 466964">
                <a:extLst>
                  <a:ext uri="{FF2B5EF4-FFF2-40B4-BE49-F238E27FC236}">
                    <a16:creationId xmlns:a16="http://schemas.microsoft.com/office/drawing/2014/main" id="{1FD4C06D-70F0-4FF2-BEAD-6E88DD6FDC13}"/>
                  </a:ext>
                </a:extLst>
              </p:cNvPr>
              <p:cNvSpPr/>
              <p:nvPr/>
            </p:nvSpPr>
            <p:spPr bwMode="auto">
              <a:xfrm>
                <a:off x="5449138" y="187359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6" name="任意多边形: 形状 466965">
                <a:extLst>
                  <a:ext uri="{FF2B5EF4-FFF2-40B4-BE49-F238E27FC236}">
                    <a16:creationId xmlns:a16="http://schemas.microsoft.com/office/drawing/2014/main" id="{9EE30DBB-6592-4438-82EB-D778B287E33D}"/>
                  </a:ext>
                </a:extLst>
              </p:cNvPr>
              <p:cNvSpPr/>
              <p:nvPr/>
            </p:nvSpPr>
            <p:spPr bwMode="auto">
              <a:xfrm>
                <a:off x="5404671" y="1829539"/>
                <a:ext cx="3459491" cy="2867104"/>
              </a:xfrm>
              <a:custGeom>
                <a:avLst/>
                <a:gdLst>
                  <a:gd name="connsiteX0" fmla="*/ 0 w 3459491"/>
                  <a:gd name="connsiteY0" fmla="*/ 2389245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5"/>
                    </a:moveTo>
                    <a:lnTo>
                      <a:pt x="13" y="477860"/>
                    </a:lnTo>
                    <a:cubicBezTo>
                      <a:pt x="0" y="213946"/>
                      <a:pt x="213946" y="0"/>
                      <a:pt x="477860" y="0"/>
                    </a:cubicBezTo>
                    <a:lnTo>
                      <a:pt x="3459491" y="0"/>
                    </a:lnTo>
                    <a:lnTo>
                      <a:pt x="3459491" y="0"/>
                    </a:lnTo>
                    <a:lnTo>
                      <a:pt x="3459491" y="2867104"/>
                    </a:lnTo>
                    <a:lnTo>
                      <a:pt x="3459491" y="2867104"/>
                    </a:lnTo>
                    <a:lnTo>
                      <a:pt x="477860" y="2867104"/>
                    </a:lnTo>
                    <a:cubicBezTo>
                      <a:pt x="213946"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7" name="任意多边形: 形状 466966">
                <a:extLst>
                  <a:ext uri="{FF2B5EF4-FFF2-40B4-BE49-F238E27FC236}">
                    <a16:creationId xmlns:a16="http://schemas.microsoft.com/office/drawing/2014/main" id="{0EA352E2-0DF8-42FC-9D07-EB8EE1456A5A}"/>
                  </a:ext>
                </a:extLst>
              </p:cNvPr>
              <p:cNvSpPr/>
              <p:nvPr/>
            </p:nvSpPr>
            <p:spPr bwMode="auto">
              <a:xfrm>
                <a:off x="5360207" y="178548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8" name="任意多边形: 形状 466967">
                <a:extLst>
                  <a:ext uri="{FF2B5EF4-FFF2-40B4-BE49-F238E27FC236}">
                    <a16:creationId xmlns:a16="http://schemas.microsoft.com/office/drawing/2014/main" id="{54588078-9E32-4766-A8B8-140045943AA9}"/>
                  </a:ext>
                </a:extLst>
              </p:cNvPr>
              <p:cNvSpPr/>
              <p:nvPr/>
            </p:nvSpPr>
            <p:spPr bwMode="auto">
              <a:xfrm>
                <a:off x="5315740" y="1741430"/>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9" name="任意多边形: 形状 466968">
                <a:extLst>
                  <a:ext uri="{FF2B5EF4-FFF2-40B4-BE49-F238E27FC236}">
                    <a16:creationId xmlns:a16="http://schemas.microsoft.com/office/drawing/2014/main" id="{FA514FA6-74F9-48BB-980B-7B8312E21653}"/>
                  </a:ext>
                </a:extLst>
              </p:cNvPr>
              <p:cNvSpPr/>
              <p:nvPr/>
            </p:nvSpPr>
            <p:spPr bwMode="auto">
              <a:xfrm>
                <a:off x="5271276" y="169737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0" name="任意多边形: 形状 466969">
                <a:extLst>
                  <a:ext uri="{FF2B5EF4-FFF2-40B4-BE49-F238E27FC236}">
                    <a16:creationId xmlns:a16="http://schemas.microsoft.com/office/drawing/2014/main" id="{88F1D9B7-AF83-4DDD-A889-D50E3162BDDC}"/>
                  </a:ext>
                </a:extLst>
              </p:cNvPr>
              <p:cNvSpPr/>
              <p:nvPr/>
            </p:nvSpPr>
            <p:spPr bwMode="auto">
              <a:xfrm>
                <a:off x="5226809" y="1653321"/>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1" name="任意多边形: 形状 466970">
                <a:extLst>
                  <a:ext uri="{FF2B5EF4-FFF2-40B4-BE49-F238E27FC236}">
                    <a16:creationId xmlns:a16="http://schemas.microsoft.com/office/drawing/2014/main" id="{DF343671-04EE-41F9-A774-7D9F2E1E3811}"/>
                  </a:ext>
                </a:extLst>
              </p:cNvPr>
              <p:cNvSpPr/>
              <p:nvPr/>
            </p:nvSpPr>
            <p:spPr bwMode="auto">
              <a:xfrm>
                <a:off x="5182345" y="160926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2" name="任意多边形: 形状 466971">
                <a:extLst>
                  <a:ext uri="{FF2B5EF4-FFF2-40B4-BE49-F238E27FC236}">
                    <a16:creationId xmlns:a16="http://schemas.microsoft.com/office/drawing/2014/main" id="{41D25F15-C331-4651-A2D6-E86049B272DB}"/>
                  </a:ext>
                </a:extLst>
              </p:cNvPr>
              <p:cNvSpPr/>
              <p:nvPr/>
            </p:nvSpPr>
            <p:spPr bwMode="auto">
              <a:xfrm>
                <a:off x="5137878" y="1565212"/>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3" name="任意多边形: 形状 466972">
                <a:extLst>
                  <a:ext uri="{FF2B5EF4-FFF2-40B4-BE49-F238E27FC236}">
                    <a16:creationId xmlns:a16="http://schemas.microsoft.com/office/drawing/2014/main" id="{CD9EBE19-3D53-4D07-9B5F-0CF948C1BCB1}"/>
                  </a:ext>
                </a:extLst>
              </p:cNvPr>
              <p:cNvSpPr/>
              <p:nvPr/>
            </p:nvSpPr>
            <p:spPr bwMode="auto">
              <a:xfrm>
                <a:off x="5093414" y="152115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4" name="任意多边形: 形状 466973">
                <a:extLst>
                  <a:ext uri="{FF2B5EF4-FFF2-40B4-BE49-F238E27FC236}">
                    <a16:creationId xmlns:a16="http://schemas.microsoft.com/office/drawing/2014/main" id="{B7DF68E3-54CC-455F-A067-6F4658E8A900}"/>
                  </a:ext>
                </a:extLst>
              </p:cNvPr>
              <p:cNvSpPr/>
              <p:nvPr/>
            </p:nvSpPr>
            <p:spPr bwMode="auto">
              <a:xfrm>
                <a:off x="5048948" y="14771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5" name="任意多边形: 形状 466974">
                <a:extLst>
                  <a:ext uri="{FF2B5EF4-FFF2-40B4-BE49-F238E27FC236}">
                    <a16:creationId xmlns:a16="http://schemas.microsoft.com/office/drawing/2014/main" id="{54BB5C2B-8F60-4B1F-A5D7-444F44D5EB80}"/>
                  </a:ext>
                </a:extLst>
              </p:cNvPr>
              <p:cNvSpPr/>
              <p:nvPr/>
            </p:nvSpPr>
            <p:spPr bwMode="auto">
              <a:xfrm>
                <a:off x="5004483" y="1433048"/>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6" name="任意多边形: 形状 466975">
                <a:extLst>
                  <a:ext uri="{FF2B5EF4-FFF2-40B4-BE49-F238E27FC236}">
                    <a16:creationId xmlns:a16="http://schemas.microsoft.com/office/drawing/2014/main" id="{217B73B5-1C97-4293-8FB1-7F526507A90A}"/>
                  </a:ext>
                </a:extLst>
              </p:cNvPr>
              <p:cNvSpPr/>
              <p:nvPr/>
            </p:nvSpPr>
            <p:spPr bwMode="auto">
              <a:xfrm>
                <a:off x="4960017" y="13889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7" name="任意多边形: 形状 466976">
                <a:extLst>
                  <a:ext uri="{FF2B5EF4-FFF2-40B4-BE49-F238E27FC236}">
                    <a16:creationId xmlns:a16="http://schemas.microsoft.com/office/drawing/2014/main" id="{C984FC97-6EC5-4A31-BB5E-5DC882D064D5}"/>
                  </a:ext>
                </a:extLst>
              </p:cNvPr>
              <p:cNvSpPr/>
              <p:nvPr/>
            </p:nvSpPr>
            <p:spPr bwMode="auto">
              <a:xfrm>
                <a:off x="4915552" y="1344939"/>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8" name="任意多边形: 形状 466977">
                <a:extLst>
                  <a:ext uri="{FF2B5EF4-FFF2-40B4-BE49-F238E27FC236}">
                    <a16:creationId xmlns:a16="http://schemas.microsoft.com/office/drawing/2014/main" id="{9D5B62FE-4C38-49BA-96B9-F2F2C6C5195B}"/>
                  </a:ext>
                </a:extLst>
              </p:cNvPr>
              <p:cNvSpPr/>
              <p:nvPr/>
            </p:nvSpPr>
            <p:spPr bwMode="auto">
              <a:xfrm>
                <a:off x="4871086" y="130088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9" name="任意多边形: 形状 466978">
                <a:extLst>
                  <a:ext uri="{FF2B5EF4-FFF2-40B4-BE49-F238E27FC236}">
                    <a16:creationId xmlns:a16="http://schemas.microsoft.com/office/drawing/2014/main" id="{43FB0229-74A2-4B10-A1C8-9D916F26FC12}"/>
                  </a:ext>
                </a:extLst>
              </p:cNvPr>
              <p:cNvSpPr/>
              <p:nvPr/>
            </p:nvSpPr>
            <p:spPr bwMode="auto">
              <a:xfrm>
                <a:off x="4826621" y="1256828"/>
                <a:ext cx="3459490" cy="2867105"/>
              </a:xfrm>
              <a:custGeom>
                <a:avLst/>
                <a:gdLst>
                  <a:gd name="connsiteX0" fmla="*/ 0 w 3459490"/>
                  <a:gd name="connsiteY0" fmla="*/ 2389245 h 2867105"/>
                  <a:gd name="connsiteX1" fmla="*/ 13 w 3459490"/>
                  <a:gd name="connsiteY1" fmla="*/ 477860 h 2867105"/>
                  <a:gd name="connsiteX2" fmla="*/ 477859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59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59" y="0"/>
                    </a:cubicBezTo>
                    <a:lnTo>
                      <a:pt x="3459490" y="0"/>
                    </a:lnTo>
                    <a:lnTo>
                      <a:pt x="3459490" y="0"/>
                    </a:lnTo>
                    <a:lnTo>
                      <a:pt x="3459490" y="2867105"/>
                    </a:lnTo>
                    <a:lnTo>
                      <a:pt x="3459490" y="2867105"/>
                    </a:lnTo>
                    <a:lnTo>
                      <a:pt x="477859"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0" name="任意多边形: 形状 466979">
                <a:extLst>
                  <a:ext uri="{FF2B5EF4-FFF2-40B4-BE49-F238E27FC236}">
                    <a16:creationId xmlns:a16="http://schemas.microsoft.com/office/drawing/2014/main" id="{74B8460D-B7FE-49A3-8239-29C31B3A2EEA}"/>
                  </a:ext>
                </a:extLst>
              </p:cNvPr>
              <p:cNvSpPr/>
              <p:nvPr/>
            </p:nvSpPr>
            <p:spPr bwMode="auto">
              <a:xfrm>
                <a:off x="4782155" y="121277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1" name="任意多边形: 形状 466980">
                <a:extLst>
                  <a:ext uri="{FF2B5EF4-FFF2-40B4-BE49-F238E27FC236}">
                    <a16:creationId xmlns:a16="http://schemas.microsoft.com/office/drawing/2014/main" id="{D9A89519-E16F-43C0-B72E-D6C34AD80221}"/>
                  </a:ext>
                </a:extLst>
              </p:cNvPr>
              <p:cNvSpPr/>
              <p:nvPr/>
            </p:nvSpPr>
            <p:spPr bwMode="auto">
              <a:xfrm>
                <a:off x="4737689" y="1168720"/>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2" name="任意多边形: 形状 466981">
                <a:extLst>
                  <a:ext uri="{FF2B5EF4-FFF2-40B4-BE49-F238E27FC236}">
                    <a16:creationId xmlns:a16="http://schemas.microsoft.com/office/drawing/2014/main" id="{18A2A0EB-78C6-45EA-93B2-7A2AC5915417}"/>
                  </a:ext>
                </a:extLst>
              </p:cNvPr>
              <p:cNvSpPr/>
              <p:nvPr/>
            </p:nvSpPr>
            <p:spPr bwMode="auto">
              <a:xfrm>
                <a:off x="4693224" y="112466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3" name="任意多边形: 形状 466982">
                <a:extLst>
                  <a:ext uri="{FF2B5EF4-FFF2-40B4-BE49-F238E27FC236}">
                    <a16:creationId xmlns:a16="http://schemas.microsoft.com/office/drawing/2014/main" id="{06E5EC0C-4EE8-4A28-9FCA-6356264408B1}"/>
                  </a:ext>
                </a:extLst>
              </p:cNvPr>
              <p:cNvSpPr/>
              <p:nvPr/>
            </p:nvSpPr>
            <p:spPr bwMode="auto">
              <a:xfrm>
                <a:off x="4648758" y="1080611"/>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4" name="任意多边形: 形状 466983">
                <a:extLst>
                  <a:ext uri="{FF2B5EF4-FFF2-40B4-BE49-F238E27FC236}">
                    <a16:creationId xmlns:a16="http://schemas.microsoft.com/office/drawing/2014/main" id="{AB0FA968-42CB-494C-91E6-B313DCDF189D}"/>
                  </a:ext>
                </a:extLst>
              </p:cNvPr>
              <p:cNvSpPr/>
              <p:nvPr/>
            </p:nvSpPr>
            <p:spPr bwMode="auto">
              <a:xfrm>
                <a:off x="4604293" y="103655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5" name="任意多边形: 形状 466984">
                <a:extLst>
                  <a:ext uri="{FF2B5EF4-FFF2-40B4-BE49-F238E27FC236}">
                    <a16:creationId xmlns:a16="http://schemas.microsoft.com/office/drawing/2014/main" id="{10BBF3E6-C74F-4CBB-B883-1E7A1C20184B}"/>
                  </a:ext>
                </a:extLst>
              </p:cNvPr>
              <p:cNvSpPr/>
              <p:nvPr/>
            </p:nvSpPr>
            <p:spPr bwMode="auto">
              <a:xfrm>
                <a:off x="4559827" y="99250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6" name="任意多边形: 形状 466985">
                <a:extLst>
                  <a:ext uri="{FF2B5EF4-FFF2-40B4-BE49-F238E27FC236}">
                    <a16:creationId xmlns:a16="http://schemas.microsoft.com/office/drawing/2014/main" id="{E8951B63-EE6B-43B4-B8F3-9211148B64D9}"/>
                  </a:ext>
                </a:extLst>
              </p:cNvPr>
              <p:cNvSpPr/>
              <p:nvPr/>
            </p:nvSpPr>
            <p:spPr bwMode="auto">
              <a:xfrm>
                <a:off x="4515362" y="94844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7" name="任意多边形: 形状 466986">
                <a:extLst>
                  <a:ext uri="{FF2B5EF4-FFF2-40B4-BE49-F238E27FC236}">
                    <a16:creationId xmlns:a16="http://schemas.microsoft.com/office/drawing/2014/main" id="{BA473FBB-4A3A-4D61-966F-B1BD2B2157EB}"/>
                  </a:ext>
                </a:extLst>
              </p:cNvPr>
              <p:cNvSpPr/>
              <p:nvPr/>
            </p:nvSpPr>
            <p:spPr bwMode="auto">
              <a:xfrm>
                <a:off x="4470896" y="9043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1" name="矩形: 圆顶角 20">
                <a:extLst>
                  <a:ext uri="{FF2B5EF4-FFF2-40B4-BE49-F238E27FC236}">
                    <a16:creationId xmlns:a16="http://schemas.microsoft.com/office/drawing/2014/main" id="{12987477-6EDB-49EE-B6FF-2369D8E2EDAC}"/>
                  </a:ext>
                </a:extLst>
              </p:cNvPr>
              <p:cNvSpPr/>
              <p:nvPr/>
            </p:nvSpPr>
            <p:spPr bwMode="auto">
              <a:xfrm rot="16200000">
                <a:off x="4722624" y="564145"/>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5200483 w 7589727"/>
                  <a:gd name="connsiteY0" fmla="*/ 564145 h 4023635"/>
                  <a:gd name="connsiteX1" fmla="*/ 0 w 7589727"/>
                  <a:gd name="connsiteY1" fmla="*/ 0 h 4023635"/>
                  <a:gd name="connsiteX2" fmla="*/ 7111867 w 7589727"/>
                  <a:gd name="connsiteY2" fmla="*/ 564145 h 4023635"/>
                  <a:gd name="connsiteX3" fmla="*/ 7589727 w 7589727"/>
                  <a:gd name="connsiteY3" fmla="*/ 1042005 h 4023635"/>
                  <a:gd name="connsiteX4" fmla="*/ 7589727 w 7589727"/>
                  <a:gd name="connsiteY4" fmla="*/ 4023635 h 4023635"/>
                  <a:gd name="connsiteX5" fmla="*/ 7589727 w 7589727"/>
                  <a:gd name="connsiteY5" fmla="*/ 4023635 h 4023635"/>
                  <a:gd name="connsiteX6" fmla="*/ 4722623 w 7589727"/>
                  <a:gd name="connsiteY6" fmla="*/ 4023635 h 4023635"/>
                  <a:gd name="connsiteX7" fmla="*/ 4722623 w 7589727"/>
                  <a:gd name="connsiteY7" fmla="*/ 4023635 h 4023635"/>
                  <a:gd name="connsiteX8" fmla="*/ 4722623 w 7589727"/>
                  <a:gd name="connsiteY8" fmla="*/ 1042005 h 4023635"/>
                  <a:gd name="connsiteX9" fmla="*/ 5200483 w 7589727"/>
                  <a:gd name="connsiteY9" fmla="*/ 564145 h 4023635"/>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466989" name="平行四边形 466988">
              <a:extLst>
                <a:ext uri="{FF2B5EF4-FFF2-40B4-BE49-F238E27FC236}">
                  <a16:creationId xmlns:a16="http://schemas.microsoft.com/office/drawing/2014/main" id="{F9B55C15-0562-4D84-BA64-F86954A0BEF2}"/>
                </a:ext>
              </a:extLst>
            </p:cNvPr>
            <p:cNvSpPr/>
            <p:nvPr/>
          </p:nvSpPr>
          <p:spPr bwMode="auto">
            <a:xfrm rot="5400000">
              <a:off x="3245809" y="2565681"/>
              <a:ext cx="5256585" cy="2228133"/>
            </a:xfrm>
            <a:prstGeom prst="parallelogram">
              <a:avLst>
                <a:gd name="adj" fmla="val 96622"/>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grpSp>
      <p:sp>
        <p:nvSpPr>
          <p:cNvPr id="466949" name="Rectangle 5"/>
          <p:cNvSpPr>
            <a:spLocks noChangeArrowheads="1"/>
          </p:cNvSpPr>
          <p:nvPr/>
        </p:nvSpPr>
        <p:spPr bwMode="auto">
          <a:xfrm>
            <a:off x="3938093" y="3004278"/>
            <a:ext cx="5758307" cy="92333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5400" b="1" dirty="0">
                <a:solidFill>
                  <a:schemeClr val="bg1"/>
                </a:solidFill>
                <a:latin typeface="思源黑体 CN Heavy" panose="020B0A00000000000000" pitchFamily="34" charset="-122"/>
                <a:ea typeface="思源黑体 CN Heavy" panose="020B0A00000000000000" pitchFamily="34" charset="-122"/>
              </a:rPr>
              <a:t>程序设计教程</a:t>
            </a:r>
            <a:r>
              <a:rPr lang="zh-CN" altLang="en-US" b="1" dirty="0">
                <a:solidFill>
                  <a:schemeClr val="bg1"/>
                </a:solidFill>
                <a:latin typeface="思源黑体 CN Heavy" panose="020B0A00000000000000" pitchFamily="34" charset="-122"/>
                <a:ea typeface="思源黑体 CN Heavy" panose="020B0A00000000000000" pitchFamily="34" charset="-122"/>
              </a:rPr>
              <a:t>（第</a:t>
            </a:r>
            <a:r>
              <a:rPr lang="en-US" altLang="zh-CN" b="1" dirty="0">
                <a:solidFill>
                  <a:schemeClr val="bg1"/>
                </a:solidFill>
                <a:latin typeface="思源黑体 CN Heavy" panose="020B0A00000000000000" pitchFamily="34" charset="-122"/>
                <a:ea typeface="思源黑体 CN Heavy" panose="020B0A00000000000000" pitchFamily="34" charset="-122"/>
              </a:rPr>
              <a:t>3</a:t>
            </a:r>
            <a:r>
              <a:rPr lang="zh-CN" altLang="en-US" b="1" dirty="0">
                <a:solidFill>
                  <a:schemeClr val="bg1"/>
                </a:solidFill>
                <a:latin typeface="思源黑体 CN Heavy" panose="020B0A00000000000000" pitchFamily="34" charset="-122"/>
                <a:ea typeface="思源黑体 CN Heavy" panose="020B0A00000000000000" pitchFamily="34" charset="-122"/>
              </a:rPr>
              <a:t>版）</a:t>
            </a:r>
          </a:p>
        </p:txBody>
      </p:sp>
      <p:sp>
        <p:nvSpPr>
          <p:cNvPr id="24" name="Rectangle 5">
            <a:extLst>
              <a:ext uri="{FF2B5EF4-FFF2-40B4-BE49-F238E27FC236}">
                <a16:creationId xmlns:a16="http://schemas.microsoft.com/office/drawing/2014/main" id="{B5E1C75A-58F7-488D-A75F-78F2A3EA65CE}"/>
              </a:ext>
            </a:extLst>
          </p:cNvPr>
          <p:cNvSpPr>
            <a:spLocks noChangeArrowheads="1"/>
          </p:cNvSpPr>
          <p:nvPr/>
        </p:nvSpPr>
        <p:spPr bwMode="auto">
          <a:xfrm>
            <a:off x="4578322" y="1412776"/>
            <a:ext cx="2989921" cy="144655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en-US" altLang="zh-CN" sz="8800" b="1" dirty="0">
                <a:solidFill>
                  <a:schemeClr val="bg1"/>
                </a:solidFill>
                <a:latin typeface="思源黑体 CN Heavy" panose="020B0A00000000000000" pitchFamily="34" charset="-122"/>
                <a:ea typeface="思源黑体 CN Heavy" panose="020B0A00000000000000" pitchFamily="34" charset="-122"/>
              </a:rPr>
              <a:t>C</a:t>
            </a:r>
            <a:r>
              <a:rPr lang="zh-CN" altLang="en-US" sz="8000" b="1" dirty="0">
                <a:solidFill>
                  <a:schemeClr val="bg1"/>
                </a:solidFill>
                <a:latin typeface="思源黑体 CN Heavy" panose="020B0A00000000000000" pitchFamily="34" charset="-122"/>
                <a:ea typeface="思源黑体 CN Heavy" panose="020B0A00000000000000" pitchFamily="34" charset="-122"/>
              </a:rPr>
              <a:t>语言</a:t>
            </a:r>
          </a:p>
        </p:txBody>
      </p:sp>
      <p:pic>
        <p:nvPicPr>
          <p:cNvPr id="15" name="图片 14" descr="图片包含 游戏机&#10;&#10;描述已自动生成">
            <a:extLst>
              <a:ext uri="{FF2B5EF4-FFF2-40B4-BE49-F238E27FC236}">
                <a16:creationId xmlns:a16="http://schemas.microsoft.com/office/drawing/2014/main" id="{88B313E9-A6E8-4A29-8FCB-633A40EB26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049" y="2708920"/>
            <a:ext cx="1415626" cy="4200157"/>
          </a:xfrm>
          <a:prstGeom prst="rect">
            <a:avLst/>
          </a:prstGeom>
        </p:spPr>
      </p:pic>
      <p:sp>
        <p:nvSpPr>
          <p:cNvPr id="18" name="Rectangle 5">
            <a:extLst>
              <a:ext uri="{FF2B5EF4-FFF2-40B4-BE49-F238E27FC236}">
                <a16:creationId xmlns:a16="http://schemas.microsoft.com/office/drawing/2014/main" id="{2F7A13F8-9190-4D44-8ACC-DC3AF3AE4724}"/>
              </a:ext>
            </a:extLst>
          </p:cNvPr>
          <p:cNvSpPr>
            <a:spLocks noChangeArrowheads="1"/>
          </p:cNvSpPr>
          <p:nvPr/>
        </p:nvSpPr>
        <p:spPr bwMode="auto">
          <a:xfrm>
            <a:off x="2590917" y="4072560"/>
            <a:ext cx="7105483" cy="584775"/>
          </a:xfrm>
          <a:prstGeom prst="rect">
            <a:avLst/>
          </a:prstGeom>
          <a:noFill/>
          <a:ln w="12700">
            <a:noFill/>
            <a:miter lim="800000"/>
            <a:headEnd/>
            <a:tailEnd/>
          </a:ln>
          <a:effectLst>
            <a:outerShdw dist="35921" dir="2700000" algn="ctr" rotWithShape="0">
              <a:schemeClr val="bg2">
                <a:alpha val="50000"/>
              </a:schemeClr>
            </a:outerShdw>
          </a:effectLst>
        </p:spPr>
        <p:txBody>
          <a:bodyPr wrap="square" anchor="ctr">
            <a:spAutoFit/>
          </a:bodyPr>
          <a:lstStyle/>
          <a:p>
            <a:pPr algn="ctr"/>
            <a:r>
              <a:rPr lang="zh-CN" altLang="en-US" sz="3200" b="1" dirty="0">
                <a:solidFill>
                  <a:schemeClr val="bg1"/>
                </a:solidFill>
                <a:latin typeface="思源黑体 CN Heavy" panose="020B0A00000000000000" pitchFamily="34" charset="-122"/>
                <a:ea typeface="思源黑体 CN Heavy" panose="020B0A00000000000000" pitchFamily="34" charset="-122"/>
              </a:rPr>
              <a:t>第</a:t>
            </a:r>
            <a:r>
              <a:rPr lang="en-US" altLang="zh-CN" sz="3200" b="1" dirty="0">
                <a:solidFill>
                  <a:schemeClr val="bg1"/>
                </a:solidFill>
                <a:latin typeface="思源黑体 CN Heavy" panose="020B0A00000000000000" pitchFamily="34" charset="-122"/>
                <a:ea typeface="思源黑体 CN Heavy" panose="020B0A00000000000000" pitchFamily="34" charset="-122"/>
              </a:rPr>
              <a:t>9</a:t>
            </a:r>
            <a:r>
              <a:rPr lang="zh-CN" altLang="en-US" sz="3200" b="1" dirty="0">
                <a:solidFill>
                  <a:schemeClr val="bg1"/>
                </a:solidFill>
                <a:latin typeface="思源黑体 CN Heavy" panose="020B0A00000000000000" pitchFamily="34" charset="-122"/>
                <a:ea typeface="思源黑体 CN Heavy" panose="020B0A00000000000000" pitchFamily="34" charset="-122"/>
              </a:rPr>
              <a:t>章  指   针</a:t>
            </a:r>
          </a:p>
        </p:txBody>
      </p:sp>
      <p:sp>
        <p:nvSpPr>
          <p:cNvPr id="145" name="文本框 144">
            <a:extLst>
              <a:ext uri="{FF2B5EF4-FFF2-40B4-BE49-F238E27FC236}">
                <a16:creationId xmlns:a16="http://schemas.microsoft.com/office/drawing/2014/main" id="{1E13812E-B2A6-4F2D-AC3F-19B02AAE7E42}"/>
              </a:ext>
            </a:extLst>
          </p:cNvPr>
          <p:cNvSpPr txBox="1"/>
          <p:nvPr/>
        </p:nvSpPr>
        <p:spPr>
          <a:xfrm>
            <a:off x="4748092" y="5157192"/>
            <a:ext cx="2650379" cy="461665"/>
          </a:xfrm>
          <a:prstGeom prst="rect">
            <a:avLst/>
          </a:prstGeom>
          <a:noFill/>
        </p:spPr>
        <p:txBody>
          <a:bodyPr wrap="square">
            <a:spAutoFit/>
          </a:bodyPr>
          <a:lstStyle/>
          <a:p>
            <a:pPr algn="r"/>
            <a:r>
              <a:rPr lang="zh-CN" altLang="en-US" sz="2400" b="1" dirty="0">
                <a:solidFill>
                  <a:schemeClr val="bg1"/>
                </a:solidFill>
                <a:latin typeface="思源黑体 CN Heavy" panose="020B0A00000000000000" pitchFamily="34" charset="-122"/>
                <a:ea typeface="思源黑体 CN Heavy" panose="020B0A00000000000000" pitchFamily="34" charset="-122"/>
              </a:rPr>
              <a:t>制作人：王敬华</a:t>
            </a:r>
          </a:p>
        </p:txBody>
      </p:sp>
      <p:pic>
        <p:nvPicPr>
          <p:cNvPr id="3" name="图片 2">
            <a:extLst>
              <a:ext uri="{FF2B5EF4-FFF2-40B4-BE49-F238E27FC236}">
                <a16:creationId xmlns:a16="http://schemas.microsoft.com/office/drawing/2014/main" id="{0E65F837-AE8E-4CDF-9162-627DDF4D379F}"/>
              </a:ext>
            </a:extLst>
          </p:cNvPr>
          <p:cNvPicPr>
            <a:picLocks noChangeAspect="1"/>
          </p:cNvPicPr>
          <p:nvPr/>
        </p:nvPicPr>
        <p:blipFill>
          <a:blip r:embed="rId5"/>
          <a:stretch>
            <a:fillRect/>
          </a:stretch>
        </p:blipFill>
        <p:spPr>
          <a:xfrm>
            <a:off x="11272104" y="5942946"/>
            <a:ext cx="919896" cy="915054"/>
          </a:xfrm>
          <a:prstGeom prst="rect">
            <a:avLst/>
          </a:prstGeom>
        </p:spPr>
      </p:pic>
    </p:spTree>
    <p:extLst>
      <p:ext uri="{BB962C8B-B14F-4D97-AF65-F5344CB8AC3E}">
        <p14:creationId xmlns:p14="http://schemas.microsoft.com/office/powerpoint/2010/main" val="346955630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grpId="0" nodeType="withEffect">
                                  <p:stCondLst>
                                    <p:cond delay="0"/>
                                  </p:stCondLst>
                                  <p:childTnLst>
                                    <p:set>
                                      <p:cBhvr>
                                        <p:cTn id="10" dur="1" fill="hold">
                                          <p:stCondLst>
                                            <p:cond delay="0"/>
                                          </p:stCondLst>
                                        </p:cTn>
                                        <p:tgtEl>
                                          <p:spTgt spid="466949"/>
                                        </p:tgtEl>
                                        <p:attrNameLst>
                                          <p:attrName>style.visibility</p:attrName>
                                        </p:attrNameLst>
                                      </p:cBhvr>
                                      <p:to>
                                        <p:strVal val="visible"/>
                                      </p:to>
                                    </p:set>
                                    <p:anim calcmode="lin" valueType="num">
                                      <p:cBhvr additive="base">
                                        <p:cTn id="11" dur="500" fill="hold"/>
                                        <p:tgtEl>
                                          <p:spTgt spid="466949"/>
                                        </p:tgtEl>
                                        <p:attrNameLst>
                                          <p:attrName>ppt_x</p:attrName>
                                        </p:attrNameLst>
                                      </p:cBhvr>
                                      <p:tavLst>
                                        <p:tav tm="0">
                                          <p:val>
                                            <p:strVal val="#ppt_x"/>
                                          </p:val>
                                        </p:tav>
                                        <p:tav tm="100000">
                                          <p:val>
                                            <p:strVal val="#ppt_x"/>
                                          </p:val>
                                        </p:tav>
                                      </p:tavLst>
                                    </p:anim>
                                    <p:anim calcmode="lin" valueType="num">
                                      <p:cBhvr additive="base">
                                        <p:cTn id="12" dur="500" fill="hold"/>
                                        <p:tgtEl>
                                          <p:spTgt spid="46694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2"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21" presetID="14" presetClass="entr" presetSubtype="10" fill="hold" nodeType="withEffect">
                                  <p:stCondLst>
                                    <p:cond delay="0"/>
                                  </p:stCondLst>
                                  <p:childTnLst>
                                    <p:set>
                                      <p:cBhvr>
                                        <p:cTn id="22" dur="1" fill="hold">
                                          <p:stCondLst>
                                            <p:cond delay="0"/>
                                          </p:stCondLst>
                                        </p:cTn>
                                        <p:tgtEl>
                                          <p:spTgt spid="466990"/>
                                        </p:tgtEl>
                                        <p:attrNameLst>
                                          <p:attrName>style.visibility</p:attrName>
                                        </p:attrNameLst>
                                      </p:cBhvr>
                                      <p:to>
                                        <p:strVal val="visible"/>
                                      </p:to>
                                    </p:set>
                                    <p:animEffect transition="in" filter="randombar(horizontal)">
                                      <p:cBhvr>
                                        <p:cTn id="23" dur="500"/>
                                        <p:tgtEl>
                                          <p:spTgt spid="466990"/>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4" presetID="2" presetClass="entr" presetSubtype="4"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ppt_x"/>
                                          </p:val>
                                        </p:tav>
                                        <p:tav tm="100000">
                                          <p:val>
                                            <p:strVal val="#ppt_x"/>
                                          </p:val>
                                        </p:tav>
                                      </p:tavLst>
                                    </p:anim>
                                    <p:anim calcmode="lin" valueType="num">
                                      <p:cBhvr additive="base">
                                        <p:cTn id="27" dur="500" fill="hold"/>
                                        <p:tgtEl>
                                          <p:spTgt spid="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9" grpId="0"/>
      <p:bldP spid="24"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 name="Rectangle 4">
            <a:extLst>
              <a:ext uri="{FF2B5EF4-FFF2-40B4-BE49-F238E27FC236}">
                <a16:creationId xmlns:a16="http://schemas.microsoft.com/office/drawing/2014/main" id="{431E8D51-2D51-4734-B47F-E25B6044C8D4}"/>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章：指  针 </a:t>
            </a:r>
          </a:p>
        </p:txBody>
      </p:sp>
      <p:grpSp>
        <p:nvGrpSpPr>
          <p:cNvPr id="41" name="组合 40">
            <a:extLst>
              <a:ext uri="{FF2B5EF4-FFF2-40B4-BE49-F238E27FC236}">
                <a16:creationId xmlns:a16="http://schemas.microsoft.com/office/drawing/2014/main" id="{63B9BD25-9F2D-42FF-92E6-3A6C98A67190}"/>
              </a:ext>
            </a:extLst>
          </p:cNvPr>
          <p:cNvGrpSpPr/>
          <p:nvPr/>
        </p:nvGrpSpPr>
        <p:grpSpPr>
          <a:xfrm>
            <a:off x="695325" y="967906"/>
            <a:ext cx="3267000" cy="630931"/>
            <a:chOff x="695400" y="1059424"/>
            <a:chExt cx="3267000" cy="630931"/>
          </a:xfrm>
        </p:grpSpPr>
        <p:grpSp>
          <p:nvGrpSpPr>
            <p:cNvPr id="42" name="组合 41">
              <a:extLst>
                <a:ext uri="{FF2B5EF4-FFF2-40B4-BE49-F238E27FC236}">
                  <a16:creationId xmlns:a16="http://schemas.microsoft.com/office/drawing/2014/main" id="{16120A4E-EE83-4002-854E-7E1B181F04FC}"/>
                </a:ext>
              </a:extLst>
            </p:cNvPr>
            <p:cNvGrpSpPr/>
            <p:nvPr/>
          </p:nvGrpSpPr>
          <p:grpSpPr>
            <a:xfrm>
              <a:off x="695400" y="1059424"/>
              <a:ext cx="833819" cy="557612"/>
              <a:chOff x="695400" y="1059424"/>
              <a:chExt cx="833819" cy="557612"/>
            </a:xfrm>
          </p:grpSpPr>
          <p:sp>
            <p:nvSpPr>
              <p:cNvPr id="44" name="菱形 43">
                <a:extLst>
                  <a:ext uri="{FF2B5EF4-FFF2-40B4-BE49-F238E27FC236}">
                    <a16:creationId xmlns:a16="http://schemas.microsoft.com/office/drawing/2014/main" id="{E2DD6C37-0DBB-4E03-95B2-596C09F65ED8}"/>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5" name="菱形 44">
                <a:extLst>
                  <a:ext uri="{FF2B5EF4-FFF2-40B4-BE49-F238E27FC236}">
                    <a16:creationId xmlns:a16="http://schemas.microsoft.com/office/drawing/2014/main" id="{96143A9F-4949-4AC4-970C-F654EEB8B6B6}"/>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43" name="Text Box 5">
              <a:extLst>
                <a:ext uri="{FF2B5EF4-FFF2-40B4-BE49-F238E27FC236}">
                  <a16:creationId xmlns:a16="http://schemas.microsoft.com/office/drawing/2014/main" id="{AEBEB744-7C0F-4E5D-8AEF-3DD53D5B4BB0}"/>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学习的意义</a:t>
              </a:r>
            </a:p>
          </p:txBody>
        </p:sp>
      </p:grpSp>
      <p:sp>
        <p:nvSpPr>
          <p:cNvPr id="47" name="Rectangle 7">
            <a:extLst>
              <a:ext uri="{FF2B5EF4-FFF2-40B4-BE49-F238E27FC236}">
                <a16:creationId xmlns:a16="http://schemas.microsoft.com/office/drawing/2014/main" id="{E3E55F76-D96C-477A-9D8D-060A12FD7D60}"/>
              </a:ext>
            </a:extLst>
          </p:cNvPr>
          <p:cNvSpPr>
            <a:spLocks noChangeArrowheads="1"/>
          </p:cNvSpPr>
          <p:nvPr/>
        </p:nvSpPr>
        <p:spPr bwMode="auto">
          <a:xfrm>
            <a:off x="1118442" y="1634044"/>
            <a:ext cx="10378158" cy="3046988"/>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ct val="100000"/>
              </a:lnSpc>
              <a:spcBef>
                <a:spcPct val="0"/>
              </a:spcBef>
            </a:pPr>
            <a:r>
              <a:rPr lang="en-US" altLang="zh-CN" b="0" dirty="0">
                <a:ea typeface="楷体" pitchFamily="49" charset="-122"/>
              </a:rPr>
              <a:t>      </a:t>
            </a:r>
            <a:r>
              <a:rPr lang="zh-CN" altLang="en-US" dirty="0">
                <a:ea typeface="楷体" panose="02010609060101010101" pitchFamily="49" charset="-122"/>
              </a:rPr>
              <a:t>指针是Ｃ语言中广泛使用的一种数据类型。 运用指针编程是Ｃ语言最主要的风格之一。</a:t>
            </a:r>
          </a:p>
          <a:p>
            <a:pPr lvl="1">
              <a:lnSpc>
                <a:spcPct val="100000"/>
              </a:lnSpc>
              <a:spcBef>
                <a:spcPct val="0"/>
              </a:spcBef>
            </a:pPr>
            <a:r>
              <a:rPr lang="en-US" altLang="zh-CN" b="1" u="sng" dirty="0">
                <a:solidFill>
                  <a:srgbClr val="CC0000"/>
                </a:solidFill>
                <a:ea typeface="楷体" pitchFamily="49" charset="-122"/>
              </a:rPr>
              <a:t>C</a:t>
            </a:r>
            <a:r>
              <a:rPr lang="zh-CN" altLang="en-US" b="1" u="sng" dirty="0">
                <a:solidFill>
                  <a:srgbClr val="CC0000"/>
                </a:solidFill>
                <a:ea typeface="楷体" pitchFamily="49" charset="-122"/>
              </a:rPr>
              <a:t>程序设计中使用指针可以</a:t>
            </a:r>
            <a:r>
              <a:rPr lang="en-US" altLang="zh-CN" b="1" u="sng" dirty="0">
                <a:solidFill>
                  <a:srgbClr val="CC0000"/>
                </a:solidFill>
                <a:ea typeface="楷体" pitchFamily="49" charset="-122"/>
              </a:rPr>
              <a:t>:</a:t>
            </a:r>
            <a:r>
              <a:rPr lang="en-US" altLang="zh-CN" dirty="0">
                <a:solidFill>
                  <a:srgbClr val="CC0000"/>
                </a:solidFill>
                <a:ea typeface="楷体" pitchFamily="49" charset="-122"/>
              </a:rPr>
              <a:t>	</a:t>
            </a:r>
            <a:r>
              <a:rPr lang="en-US" altLang="zh-CN" dirty="0">
                <a:ea typeface="楷体" pitchFamily="49" charset="-122"/>
              </a:rPr>
              <a:t>	</a:t>
            </a:r>
          </a:p>
          <a:p>
            <a:pPr>
              <a:lnSpc>
                <a:spcPct val="100000"/>
              </a:lnSpc>
              <a:spcBef>
                <a:spcPct val="0"/>
              </a:spcBef>
            </a:pPr>
            <a:r>
              <a:rPr lang="en-US" altLang="zh-CN" dirty="0">
                <a:ea typeface="楷体" pitchFamily="49" charset="-122"/>
              </a:rPr>
              <a:t>    ① </a:t>
            </a:r>
            <a:r>
              <a:rPr lang="zh-CN" altLang="en-US" dirty="0">
                <a:ea typeface="楷体" pitchFamily="49" charset="-122"/>
              </a:rPr>
              <a:t>使程序简洁、紧凑、高效</a:t>
            </a:r>
          </a:p>
          <a:p>
            <a:pPr>
              <a:lnSpc>
                <a:spcPct val="100000"/>
              </a:lnSpc>
              <a:spcBef>
                <a:spcPct val="0"/>
              </a:spcBef>
            </a:pPr>
            <a:r>
              <a:rPr lang="zh-CN" altLang="en-US" dirty="0">
                <a:ea typeface="楷体" pitchFamily="49" charset="-122"/>
              </a:rPr>
              <a:t>    ② 有效地表示复杂的数据结构</a:t>
            </a:r>
          </a:p>
          <a:p>
            <a:pPr>
              <a:lnSpc>
                <a:spcPct val="100000"/>
              </a:lnSpc>
              <a:spcBef>
                <a:spcPct val="0"/>
              </a:spcBef>
            </a:pPr>
            <a:r>
              <a:rPr lang="zh-CN" altLang="en-US" dirty="0">
                <a:ea typeface="楷体" pitchFamily="49" charset="-122"/>
              </a:rPr>
              <a:t>    ③ 动态分配内存</a:t>
            </a:r>
          </a:p>
          <a:p>
            <a:pPr>
              <a:lnSpc>
                <a:spcPct val="100000"/>
              </a:lnSpc>
              <a:spcBef>
                <a:spcPct val="0"/>
              </a:spcBef>
            </a:pPr>
            <a:r>
              <a:rPr lang="zh-CN" altLang="en-US" dirty="0">
                <a:ea typeface="楷体" pitchFamily="49" charset="-122"/>
              </a:rPr>
              <a:t>    ④ 得到多于一个的函数返回值 </a:t>
            </a:r>
          </a:p>
          <a:p>
            <a:pPr>
              <a:lnSpc>
                <a:spcPct val="100000"/>
              </a:lnSpc>
              <a:spcBef>
                <a:spcPct val="0"/>
              </a:spcBef>
            </a:pPr>
            <a:r>
              <a:rPr lang="zh-CN" altLang="en-US" dirty="0">
                <a:ea typeface="楷体" pitchFamily="49" charset="-122"/>
              </a:rPr>
              <a:t>    ⑤ 能象汇编语言一样处理内存地址，从而编出精练而高效的程序</a:t>
            </a:r>
            <a:r>
              <a:rPr lang="zh-CN" altLang="en-US" b="0" dirty="0">
                <a:ea typeface="楷体" pitchFamily="49" charset="-122"/>
              </a:rPr>
              <a:t> </a:t>
            </a:r>
          </a:p>
        </p:txBody>
      </p:sp>
      <p:sp>
        <p:nvSpPr>
          <p:cNvPr id="48" name="Rectangle 8">
            <a:extLst>
              <a:ext uri="{FF2B5EF4-FFF2-40B4-BE49-F238E27FC236}">
                <a16:creationId xmlns:a16="http://schemas.microsoft.com/office/drawing/2014/main" id="{D4B03834-E783-41DC-9D6E-BD4FD09A4A4C}"/>
              </a:ext>
            </a:extLst>
          </p:cNvPr>
          <p:cNvSpPr>
            <a:spLocks noChangeArrowheads="1"/>
          </p:cNvSpPr>
          <p:nvPr/>
        </p:nvSpPr>
        <p:spPr bwMode="auto">
          <a:xfrm>
            <a:off x="1126381" y="5045075"/>
            <a:ext cx="10378157" cy="1225550"/>
          </a:xfrm>
          <a:prstGeom prst="rect">
            <a:avLst/>
          </a:prstGeom>
          <a:gradFill rotWithShape="1">
            <a:gsLst>
              <a:gs pos="0">
                <a:srgbClr val="CFCFD1"/>
              </a:gs>
              <a:gs pos="100000">
                <a:schemeClr val="bg1"/>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b="0" dirty="0">
                <a:ea typeface="宋体" pitchFamily="2" charset="-122"/>
              </a:rPr>
              <a:t>     </a:t>
            </a:r>
            <a:r>
              <a:rPr lang="zh-CN" altLang="en-US" dirty="0">
                <a:latin typeface="隶书" pitchFamily="49" charset="-122"/>
                <a:ea typeface="隶书" pitchFamily="49" charset="-122"/>
              </a:rPr>
              <a:t>学习指针是学习Ｃ语言中最重要的一环，</a:t>
            </a:r>
            <a:r>
              <a:rPr lang="zh-CN" altLang="en-US" dirty="0">
                <a:latin typeface="Times New Roman"/>
                <a:ea typeface="隶书" pitchFamily="49" charset="-122"/>
              </a:rPr>
              <a:t> </a:t>
            </a:r>
            <a:r>
              <a:rPr lang="zh-CN" altLang="en-US" dirty="0">
                <a:latin typeface="隶书" pitchFamily="49" charset="-122"/>
                <a:ea typeface="隶书" pitchFamily="49" charset="-122"/>
              </a:rPr>
              <a:t>能否正确理解和使用指针是我们是否掌握Ｃ语言的一个标志，可以说</a:t>
            </a:r>
            <a:r>
              <a:rPr lang="zh-CN" altLang="en-US" dirty="0">
                <a:solidFill>
                  <a:srgbClr val="C00000"/>
                </a:solidFill>
                <a:latin typeface="隶书" pitchFamily="49" charset="-122"/>
                <a:ea typeface="隶书" pitchFamily="49" charset="-122"/>
              </a:rPr>
              <a:t>不懂</a:t>
            </a:r>
            <a:r>
              <a:rPr lang="en-US" altLang="zh-CN" dirty="0">
                <a:solidFill>
                  <a:srgbClr val="C00000"/>
                </a:solidFill>
                <a:latin typeface="隶书" pitchFamily="49" charset="-122"/>
                <a:ea typeface="隶书" pitchFamily="49" charset="-122"/>
              </a:rPr>
              <a:t>C</a:t>
            </a:r>
            <a:r>
              <a:rPr lang="zh-CN" altLang="en-US" dirty="0">
                <a:solidFill>
                  <a:srgbClr val="C00000"/>
                </a:solidFill>
                <a:latin typeface="隶书" pitchFamily="49" charset="-122"/>
                <a:ea typeface="隶书" pitchFamily="49" charset="-122"/>
              </a:rPr>
              <a:t>语言中的指针就不懂什么是</a:t>
            </a:r>
            <a:r>
              <a:rPr lang="en-US" altLang="zh-CN" dirty="0">
                <a:solidFill>
                  <a:srgbClr val="C00000"/>
                </a:solidFill>
                <a:latin typeface="隶书" pitchFamily="49" charset="-122"/>
                <a:ea typeface="隶书" pitchFamily="49" charset="-122"/>
              </a:rPr>
              <a:t>C</a:t>
            </a:r>
            <a:r>
              <a:rPr lang="zh-CN" altLang="en-US" dirty="0">
                <a:solidFill>
                  <a:srgbClr val="C00000"/>
                </a:solidFill>
                <a:latin typeface="隶书" pitchFamily="49" charset="-122"/>
                <a:ea typeface="隶书" pitchFamily="49" charset="-122"/>
              </a:rPr>
              <a:t>语言</a:t>
            </a:r>
            <a:r>
              <a:rPr lang="zh-CN" altLang="en-US" dirty="0">
                <a:latin typeface="隶书" pitchFamily="49" charset="-122"/>
                <a:ea typeface="隶书" pitchFamily="49" charset="-122"/>
              </a:rPr>
              <a:t>。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box(out)">
                                      <p:cBhvr>
                                        <p:cTn id="13" dur="500"/>
                                        <p:tgtEl>
                                          <p:spTgt spid="47"/>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box(out)">
                                      <p:cBhvr>
                                        <p:cTn id="18" dur="500"/>
                                        <p:tgtEl>
                                          <p:spTgt spid="48"/>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117B0D8E-99A6-4182-945A-E285D63780EA}"/>
              </a:ext>
            </a:extLst>
          </p:cNvPr>
          <p:cNvGrpSpPr/>
          <p:nvPr/>
        </p:nvGrpSpPr>
        <p:grpSpPr>
          <a:xfrm>
            <a:off x="911225" y="980728"/>
            <a:ext cx="3267000" cy="630931"/>
            <a:chOff x="695400" y="1059424"/>
            <a:chExt cx="3267000" cy="630931"/>
          </a:xfrm>
        </p:grpSpPr>
        <p:grpSp>
          <p:nvGrpSpPr>
            <p:cNvPr id="8" name="组合 7">
              <a:extLst>
                <a:ext uri="{FF2B5EF4-FFF2-40B4-BE49-F238E27FC236}">
                  <a16:creationId xmlns:a16="http://schemas.microsoft.com/office/drawing/2014/main" id="{AD92270B-0536-403C-A45B-4110ADD31142}"/>
                </a:ext>
              </a:extLst>
            </p:cNvPr>
            <p:cNvGrpSpPr/>
            <p:nvPr/>
          </p:nvGrpSpPr>
          <p:grpSpPr>
            <a:xfrm>
              <a:off x="695400" y="1059424"/>
              <a:ext cx="833819" cy="557612"/>
              <a:chOff x="695400" y="1059424"/>
              <a:chExt cx="833819" cy="557612"/>
            </a:xfrm>
          </p:grpSpPr>
          <p:sp>
            <p:nvSpPr>
              <p:cNvPr id="10" name="菱形 9">
                <a:extLst>
                  <a:ext uri="{FF2B5EF4-FFF2-40B4-BE49-F238E27FC236}">
                    <a16:creationId xmlns:a16="http://schemas.microsoft.com/office/drawing/2014/main" id="{2D6DF7AE-61A0-4885-9E7F-BA1C202C603E}"/>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1" name="菱形 10">
                <a:extLst>
                  <a:ext uri="{FF2B5EF4-FFF2-40B4-BE49-F238E27FC236}">
                    <a16:creationId xmlns:a16="http://schemas.microsoft.com/office/drawing/2014/main" id="{6BA79E81-FD58-4684-8F36-24519104C644}"/>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9" name="Text Box 5">
              <a:extLst>
                <a:ext uri="{FF2B5EF4-FFF2-40B4-BE49-F238E27FC236}">
                  <a16:creationId xmlns:a16="http://schemas.microsoft.com/office/drawing/2014/main" id="{1CF1A9A6-A756-49C2-8C87-C31C4D50EDDA}"/>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学习目标</a:t>
              </a:r>
            </a:p>
          </p:txBody>
        </p:sp>
      </p:grpSp>
      <p:sp>
        <p:nvSpPr>
          <p:cNvPr id="13" name="Rectangle 4">
            <a:extLst>
              <a:ext uri="{FF2B5EF4-FFF2-40B4-BE49-F238E27FC236}">
                <a16:creationId xmlns:a16="http://schemas.microsoft.com/office/drawing/2014/main" id="{5013FBEE-CD10-4B3F-A50E-1CFC6D92A1C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章：指  针 </a:t>
            </a:r>
          </a:p>
        </p:txBody>
      </p:sp>
      <p:sp>
        <p:nvSpPr>
          <p:cNvPr id="14" name="Rectangle 3">
            <a:extLst>
              <a:ext uri="{FF2B5EF4-FFF2-40B4-BE49-F238E27FC236}">
                <a16:creationId xmlns:a16="http://schemas.microsoft.com/office/drawing/2014/main" id="{C4E6C8C6-E371-4DEE-805A-290C644BE42C}"/>
              </a:ext>
            </a:extLst>
          </p:cNvPr>
          <p:cNvSpPr>
            <a:spLocks noChangeArrowheads="1"/>
          </p:cNvSpPr>
          <p:nvPr/>
        </p:nvSpPr>
        <p:spPr bwMode="auto">
          <a:xfrm>
            <a:off x="2327588" y="2276872"/>
            <a:ext cx="7536823" cy="332975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192088">
              <a:lnSpc>
                <a:spcPct val="150000"/>
              </a:lnSpc>
              <a:spcBef>
                <a:spcPct val="0"/>
              </a:spcBef>
              <a:buClr>
                <a:srgbClr val="CC0000"/>
              </a:buClr>
              <a:buFont typeface="Wingdings" pitchFamily="2" charset="2"/>
              <a:buChar char="Ø"/>
            </a:pPr>
            <a:r>
              <a:rPr lang="en-US" altLang="zh-CN" dirty="0">
                <a:effectLst>
                  <a:outerShdw blurRad="38100" dist="38100" dir="2700000" algn="tl">
                    <a:srgbClr val="FFFFFF"/>
                  </a:outerShdw>
                </a:effectLst>
                <a:latin typeface="楷体" pitchFamily="49" charset="-122"/>
                <a:ea typeface="楷体" pitchFamily="49" charset="-122"/>
              </a:rPr>
              <a:t> </a:t>
            </a:r>
            <a:r>
              <a:rPr lang="zh-CN" altLang="en-US" dirty="0">
                <a:effectLst>
                  <a:outerShdw blurRad="38100" dist="38100" dir="2700000" algn="tl">
                    <a:srgbClr val="FFFFFF"/>
                  </a:outerShdw>
                </a:effectLst>
                <a:latin typeface="楷体" pitchFamily="49" charset="-122"/>
                <a:ea typeface="楷体" pitchFamily="49" charset="-122"/>
              </a:rPr>
              <a:t>理解指针的概念；</a:t>
            </a:r>
          </a:p>
          <a:p>
            <a:pPr marL="457200" indent="-192088">
              <a:lnSpc>
                <a:spcPct val="150000"/>
              </a:lnSpc>
              <a:spcBef>
                <a:spcPct val="0"/>
              </a:spcBef>
              <a:buClr>
                <a:srgbClr val="CC0000"/>
              </a:buClr>
              <a:buFont typeface="Wingdings" pitchFamily="2" charset="2"/>
              <a:buChar char="Ø"/>
            </a:pPr>
            <a:r>
              <a:rPr lang="zh-CN" altLang="en-US" dirty="0">
                <a:effectLst>
                  <a:outerShdw blurRad="38100" dist="38100" dir="2700000" algn="tl">
                    <a:srgbClr val="FFFFFF"/>
                  </a:outerShdw>
                </a:effectLst>
                <a:latin typeface="楷体" pitchFamily="49" charset="-122"/>
                <a:ea typeface="楷体" pitchFamily="49" charset="-122"/>
              </a:rPr>
              <a:t> 掌握指针变量的定义与引用方法；</a:t>
            </a:r>
          </a:p>
          <a:p>
            <a:pPr marL="457200" indent="-192088">
              <a:lnSpc>
                <a:spcPct val="150000"/>
              </a:lnSpc>
              <a:spcBef>
                <a:spcPct val="0"/>
              </a:spcBef>
              <a:buClr>
                <a:srgbClr val="CC0000"/>
              </a:buClr>
              <a:buFont typeface="Wingdings" pitchFamily="2" charset="2"/>
              <a:buChar char="Ø"/>
            </a:pPr>
            <a:r>
              <a:rPr lang="zh-CN" altLang="en-US" dirty="0">
                <a:effectLst>
                  <a:outerShdw blurRad="38100" dist="38100" dir="2700000" algn="tl">
                    <a:srgbClr val="FFFFFF"/>
                  </a:outerShdw>
                </a:effectLst>
                <a:latin typeface="楷体" pitchFamily="49" charset="-122"/>
                <a:ea typeface="楷体" pitchFamily="49" charset="-122"/>
              </a:rPr>
              <a:t> 掌握指针与数组、字符串之间的联系；</a:t>
            </a:r>
          </a:p>
          <a:p>
            <a:pPr marL="457200" indent="-192088">
              <a:lnSpc>
                <a:spcPct val="150000"/>
              </a:lnSpc>
              <a:spcBef>
                <a:spcPct val="0"/>
              </a:spcBef>
              <a:buClr>
                <a:srgbClr val="CC0000"/>
              </a:buClr>
              <a:buFont typeface="Wingdings" pitchFamily="2" charset="2"/>
              <a:buChar char="Ø"/>
            </a:pPr>
            <a:r>
              <a:rPr lang="zh-CN" altLang="en-US" dirty="0">
                <a:effectLst>
                  <a:outerShdw blurRad="38100" dist="38100" dir="2700000" algn="tl">
                    <a:srgbClr val="FFFFFF"/>
                  </a:outerShdw>
                </a:effectLst>
                <a:latin typeface="楷体" pitchFamily="49" charset="-122"/>
                <a:ea typeface="楷体" pitchFamily="49" charset="-122"/>
              </a:rPr>
              <a:t> 掌握动态内存分配和释放的方法；</a:t>
            </a:r>
          </a:p>
          <a:p>
            <a:pPr marL="457200" indent="-192088">
              <a:lnSpc>
                <a:spcPct val="150000"/>
              </a:lnSpc>
              <a:spcBef>
                <a:spcPct val="0"/>
              </a:spcBef>
              <a:buClr>
                <a:srgbClr val="CC0000"/>
              </a:buClr>
              <a:buFont typeface="Wingdings" pitchFamily="2" charset="2"/>
              <a:buChar char="Ø"/>
            </a:pPr>
            <a:r>
              <a:rPr lang="zh-CN" altLang="en-US" dirty="0">
                <a:effectLst>
                  <a:outerShdw blurRad="38100" dist="38100" dir="2700000" algn="tl">
                    <a:srgbClr val="FFFFFF"/>
                  </a:outerShdw>
                </a:effectLst>
                <a:latin typeface="楷体" pitchFamily="49" charset="-122"/>
                <a:ea typeface="楷体" pitchFamily="49" charset="-122"/>
              </a:rPr>
              <a:t> 掌握带指针型参数和返回指针的函数的定义方法；</a:t>
            </a:r>
          </a:p>
          <a:p>
            <a:pPr marL="457200" indent="-192088">
              <a:lnSpc>
                <a:spcPct val="150000"/>
              </a:lnSpc>
              <a:spcBef>
                <a:spcPct val="0"/>
              </a:spcBef>
              <a:buClr>
                <a:srgbClr val="CC0000"/>
              </a:buClr>
              <a:buFont typeface="Wingdings" pitchFamily="2" charset="2"/>
              <a:buChar char="Ø"/>
            </a:pPr>
            <a:r>
              <a:rPr lang="zh-CN" altLang="en-US" dirty="0">
                <a:effectLst>
                  <a:outerShdw blurRad="38100" dist="38100" dir="2700000" algn="tl">
                    <a:srgbClr val="FFFFFF"/>
                  </a:outerShdw>
                </a:effectLst>
                <a:latin typeface="楷体" pitchFamily="49" charset="-122"/>
                <a:ea typeface="楷体" pitchFamily="49" charset="-122"/>
              </a:rPr>
              <a:t> 掌握函数指针的用法；</a:t>
            </a:r>
            <a:r>
              <a:rPr lang="zh-CN" altLang="en-US" b="0" dirty="0">
                <a:effectLst/>
                <a:latin typeface="楷体" pitchFamily="49" charset="-122"/>
                <a:ea typeface="楷体" pitchFamily="49"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diamond(in)">
                                      <p:cBhvr>
                                        <p:cTn id="13" dur="2000"/>
                                        <p:tgtEl>
                                          <p:spTgt spid="14"/>
                                        </p:tgtEl>
                                      </p:cBhvr>
                                    </p:animEffect>
                                  </p:childTnLst>
                                  <p:subTnLst>
                                    <p:audio>
                                      <p:cMediaNode>
                                        <p:cTn display="0" masterRel="sameClick">
                                          <p:stCondLst>
                                            <p:cond evt="begin" delay="0">
                                              <p:tn val="11"/>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3B1E25CA-0223-468C-B940-E38434D2516A}"/>
              </a:ext>
            </a:extLst>
          </p:cNvPr>
          <p:cNvGrpSpPr/>
          <p:nvPr/>
        </p:nvGrpSpPr>
        <p:grpSpPr>
          <a:xfrm>
            <a:off x="911424" y="1013959"/>
            <a:ext cx="3267000" cy="630931"/>
            <a:chOff x="695400" y="1059424"/>
            <a:chExt cx="3267000" cy="630931"/>
          </a:xfrm>
        </p:grpSpPr>
        <p:grpSp>
          <p:nvGrpSpPr>
            <p:cNvPr id="14" name="组合 13">
              <a:extLst>
                <a:ext uri="{FF2B5EF4-FFF2-40B4-BE49-F238E27FC236}">
                  <a16:creationId xmlns:a16="http://schemas.microsoft.com/office/drawing/2014/main" id="{71D94850-0CBF-4B51-A804-AF5DE4D65261}"/>
                </a:ext>
              </a:extLst>
            </p:cNvPr>
            <p:cNvGrpSpPr/>
            <p:nvPr/>
          </p:nvGrpSpPr>
          <p:grpSpPr>
            <a:xfrm>
              <a:off x="695400" y="1059424"/>
              <a:ext cx="833819" cy="557612"/>
              <a:chOff x="695400" y="1059424"/>
              <a:chExt cx="833819" cy="557612"/>
            </a:xfrm>
          </p:grpSpPr>
          <p:sp>
            <p:nvSpPr>
              <p:cNvPr id="16" name="菱形 15">
                <a:extLst>
                  <a:ext uri="{FF2B5EF4-FFF2-40B4-BE49-F238E27FC236}">
                    <a16:creationId xmlns:a16="http://schemas.microsoft.com/office/drawing/2014/main" id="{13CFA76F-D415-4749-B59B-5784FF06B13A}"/>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7" name="菱形 16">
                <a:extLst>
                  <a:ext uri="{FF2B5EF4-FFF2-40B4-BE49-F238E27FC236}">
                    <a16:creationId xmlns:a16="http://schemas.microsoft.com/office/drawing/2014/main" id="{5B37427F-91BF-470F-8018-6B24A5379470}"/>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5" name="Text Box 5">
              <a:extLst>
                <a:ext uri="{FF2B5EF4-FFF2-40B4-BE49-F238E27FC236}">
                  <a16:creationId xmlns:a16="http://schemas.microsoft.com/office/drawing/2014/main" id="{E805DF49-9789-407F-BC8C-E1644392D969}"/>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学习内容</a:t>
              </a:r>
            </a:p>
          </p:txBody>
        </p:sp>
      </p:grpSp>
      <p:sp>
        <p:nvSpPr>
          <p:cNvPr id="9" name="Rectangle 3">
            <a:extLst>
              <a:ext uri="{FF2B5EF4-FFF2-40B4-BE49-F238E27FC236}">
                <a16:creationId xmlns:a16="http://schemas.microsoft.com/office/drawing/2014/main" id="{376A66BF-F13E-4691-B548-41973A69BF45}"/>
              </a:ext>
            </a:extLst>
          </p:cNvPr>
          <p:cNvSpPr>
            <a:spLocks noChangeArrowheads="1"/>
          </p:cNvSpPr>
          <p:nvPr/>
        </p:nvSpPr>
        <p:spPr bwMode="auto">
          <a:xfrm>
            <a:off x="3431704" y="1049033"/>
            <a:ext cx="6374142" cy="560705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180975">
              <a:lnSpc>
                <a:spcPct val="100000"/>
              </a:lnSpc>
              <a:spcBef>
                <a:spcPct val="0"/>
              </a:spcBef>
              <a:buClr>
                <a:srgbClr val="C00000"/>
              </a:buClr>
              <a:buFont typeface="Wingdings" pitchFamily="2" charset="2"/>
              <a:buChar char="ü"/>
            </a:pPr>
            <a:r>
              <a:rPr lang="en-US" altLang="zh-CN" dirty="0">
                <a:effectLst>
                  <a:outerShdw blurRad="38100" dist="38100" dir="2700000" algn="tl">
                    <a:srgbClr val="FFFFFF"/>
                  </a:outerShdw>
                </a:effectLst>
                <a:latin typeface="楷体" pitchFamily="49" charset="-122"/>
                <a:ea typeface="楷体" pitchFamily="49" charset="-122"/>
              </a:rPr>
              <a:t> </a:t>
            </a:r>
            <a:r>
              <a:rPr lang="zh-CN" altLang="en-US" dirty="0">
                <a:effectLst>
                  <a:outerShdw blurRad="38100" dist="38100" dir="2700000" algn="tl">
                    <a:srgbClr val="FFFFFF"/>
                  </a:outerShdw>
                </a:effectLst>
                <a:latin typeface="楷体" pitchFamily="49" charset="-122"/>
                <a:ea typeface="楷体" pitchFamily="49" charset="-122"/>
              </a:rPr>
              <a:t>指针与指针变量的概念</a:t>
            </a:r>
          </a:p>
          <a:p>
            <a:pPr marL="180975">
              <a:lnSpc>
                <a:spcPct val="100000"/>
              </a:lnSpc>
              <a:spcBef>
                <a:spcPct val="0"/>
              </a:spcBef>
              <a:buClr>
                <a:srgbClr val="C00000"/>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指针变量的定义和引用</a:t>
            </a:r>
          </a:p>
          <a:p>
            <a:pPr marL="180975">
              <a:lnSpc>
                <a:spcPct val="100000"/>
              </a:lnSpc>
              <a:spcBef>
                <a:spcPct val="0"/>
              </a:spcBef>
              <a:buClr>
                <a:srgbClr val="C00000"/>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指针和地址运算</a:t>
            </a:r>
          </a:p>
          <a:p>
            <a:pPr marL="180975">
              <a:lnSpc>
                <a:spcPct val="100000"/>
              </a:lnSpc>
              <a:spcBef>
                <a:spcPct val="0"/>
              </a:spcBef>
              <a:buClr>
                <a:srgbClr val="C00000"/>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指针与数组</a:t>
            </a:r>
          </a:p>
          <a:p>
            <a:pPr marL="638175" lvl="1">
              <a:lnSpc>
                <a:spcPct val="100000"/>
              </a:lnSpc>
              <a:spcBef>
                <a:spcPct val="0"/>
              </a:spcBef>
              <a:buClr>
                <a:srgbClr val="C00000"/>
              </a:buClr>
              <a:buFont typeface="Wingdings" pitchFamily="2" charset="2"/>
              <a:buChar char="l"/>
            </a:pPr>
            <a:r>
              <a:rPr lang="zh-CN" altLang="en-US" dirty="0">
                <a:effectLst>
                  <a:outerShdw blurRad="38100" dist="38100" dir="2700000" algn="tl">
                    <a:srgbClr val="FFFFFF"/>
                  </a:outerShdw>
                </a:effectLst>
                <a:latin typeface="楷体" pitchFamily="49" charset="-122"/>
                <a:ea typeface="楷体" pitchFamily="49" charset="-122"/>
              </a:rPr>
              <a:t> 数组的指针和指向数组的指针变量</a:t>
            </a:r>
          </a:p>
          <a:p>
            <a:pPr marL="638175" lvl="1">
              <a:lnSpc>
                <a:spcPct val="100000"/>
              </a:lnSpc>
              <a:spcBef>
                <a:spcPct val="0"/>
              </a:spcBef>
              <a:buClr>
                <a:srgbClr val="C00000"/>
              </a:buClr>
              <a:buFont typeface="Wingdings" pitchFamily="2" charset="2"/>
              <a:buChar char="l"/>
            </a:pPr>
            <a:r>
              <a:rPr lang="zh-CN" altLang="en-US" dirty="0">
                <a:effectLst>
                  <a:outerShdw blurRad="38100" dist="38100" dir="2700000" algn="tl">
                    <a:srgbClr val="FFFFFF"/>
                  </a:outerShdw>
                </a:effectLst>
                <a:latin typeface="楷体" pitchFamily="49" charset="-122"/>
                <a:ea typeface="楷体" pitchFamily="49" charset="-122"/>
              </a:rPr>
              <a:t> 指向多维数组的指针</a:t>
            </a:r>
            <a:r>
              <a:rPr lang="en-US" altLang="zh-CN" dirty="0">
                <a:effectLst>
                  <a:outerShdw blurRad="38100" dist="38100" dir="2700000" algn="tl">
                    <a:srgbClr val="FFFFFF"/>
                  </a:outerShdw>
                </a:effectLst>
                <a:latin typeface="楷体" pitchFamily="49" charset="-122"/>
                <a:ea typeface="楷体" pitchFamily="49" charset="-122"/>
              </a:rPr>
              <a:t>____</a:t>
            </a:r>
            <a:r>
              <a:rPr lang="zh-CN" altLang="en-US" dirty="0">
                <a:effectLst>
                  <a:outerShdw blurRad="38100" dist="38100" dir="2700000" algn="tl">
                    <a:srgbClr val="FFFFFF"/>
                  </a:outerShdw>
                </a:effectLst>
                <a:latin typeface="楷体" pitchFamily="49" charset="-122"/>
                <a:ea typeface="楷体" pitchFamily="49" charset="-122"/>
              </a:rPr>
              <a:t>数组指针</a:t>
            </a:r>
          </a:p>
          <a:p>
            <a:pPr marL="638175" lvl="1">
              <a:lnSpc>
                <a:spcPct val="100000"/>
              </a:lnSpc>
              <a:spcBef>
                <a:spcPct val="0"/>
              </a:spcBef>
              <a:buClr>
                <a:srgbClr val="C00000"/>
              </a:buClr>
              <a:buFont typeface="Wingdings" pitchFamily="2" charset="2"/>
              <a:buChar char="l"/>
            </a:pPr>
            <a:r>
              <a:rPr lang="zh-CN" altLang="en-US" dirty="0">
                <a:effectLst>
                  <a:outerShdw blurRad="38100" dist="38100" dir="2700000" algn="tl">
                    <a:srgbClr val="FFFFFF"/>
                  </a:outerShdw>
                </a:effectLst>
                <a:latin typeface="楷体" pitchFamily="49" charset="-122"/>
                <a:ea typeface="楷体" pitchFamily="49" charset="-122"/>
              </a:rPr>
              <a:t> 元素为指针的数组</a:t>
            </a:r>
            <a:r>
              <a:rPr lang="en-US" altLang="zh-CN" dirty="0">
                <a:effectLst>
                  <a:outerShdw blurRad="38100" dist="38100" dir="2700000" algn="tl">
                    <a:srgbClr val="FFFFFF"/>
                  </a:outerShdw>
                </a:effectLst>
                <a:latin typeface="楷体" pitchFamily="49" charset="-122"/>
                <a:ea typeface="楷体" pitchFamily="49" charset="-122"/>
              </a:rPr>
              <a:t>____</a:t>
            </a:r>
            <a:r>
              <a:rPr lang="zh-CN" altLang="en-US" dirty="0">
                <a:effectLst>
                  <a:outerShdw blurRad="38100" dist="38100" dir="2700000" algn="tl">
                    <a:srgbClr val="FFFFFF"/>
                  </a:outerShdw>
                </a:effectLst>
                <a:latin typeface="楷体" pitchFamily="49" charset="-122"/>
                <a:ea typeface="楷体" pitchFamily="49" charset="-122"/>
              </a:rPr>
              <a:t>指针数组</a:t>
            </a:r>
          </a:p>
          <a:p>
            <a:pPr marL="180975">
              <a:lnSpc>
                <a:spcPct val="100000"/>
              </a:lnSpc>
              <a:spcBef>
                <a:spcPct val="0"/>
              </a:spcBef>
              <a:buClr>
                <a:srgbClr val="C00000"/>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指针与字符串</a:t>
            </a:r>
          </a:p>
          <a:p>
            <a:pPr marL="180975">
              <a:lnSpc>
                <a:spcPct val="100000"/>
              </a:lnSpc>
              <a:spcBef>
                <a:spcPct val="0"/>
              </a:spcBef>
              <a:buClr>
                <a:srgbClr val="C00000"/>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指针与动态内存分配</a:t>
            </a:r>
          </a:p>
          <a:p>
            <a:pPr marL="180975">
              <a:lnSpc>
                <a:spcPct val="100000"/>
              </a:lnSpc>
              <a:spcBef>
                <a:spcPct val="0"/>
              </a:spcBef>
              <a:buClr>
                <a:srgbClr val="C00000"/>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多级指针</a:t>
            </a:r>
          </a:p>
          <a:p>
            <a:pPr marL="180975">
              <a:lnSpc>
                <a:spcPct val="100000"/>
              </a:lnSpc>
              <a:spcBef>
                <a:spcPct val="0"/>
              </a:spcBef>
              <a:buClr>
                <a:srgbClr val="C00000"/>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指针与数组作为函数的参数</a:t>
            </a:r>
          </a:p>
          <a:p>
            <a:pPr marL="180975">
              <a:lnSpc>
                <a:spcPct val="100000"/>
              </a:lnSpc>
              <a:spcBef>
                <a:spcPct val="0"/>
              </a:spcBef>
              <a:buClr>
                <a:srgbClr val="C00000"/>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指针作为函数的返回值</a:t>
            </a:r>
            <a:r>
              <a:rPr lang="en-US" altLang="zh-CN" dirty="0">
                <a:effectLst>
                  <a:outerShdw blurRad="38100" dist="38100" dir="2700000" algn="tl">
                    <a:srgbClr val="FFFFFF"/>
                  </a:outerShdw>
                </a:effectLst>
                <a:latin typeface="楷体" pitchFamily="49" charset="-122"/>
                <a:ea typeface="楷体" pitchFamily="49" charset="-122"/>
              </a:rPr>
              <a:t>____</a:t>
            </a:r>
            <a:r>
              <a:rPr lang="zh-CN" altLang="en-US" dirty="0">
                <a:effectLst>
                  <a:outerShdw blurRad="38100" dist="38100" dir="2700000" algn="tl">
                    <a:srgbClr val="FFFFFF"/>
                  </a:outerShdw>
                </a:effectLst>
                <a:latin typeface="楷体" pitchFamily="49" charset="-122"/>
                <a:ea typeface="楷体" pitchFamily="49" charset="-122"/>
              </a:rPr>
              <a:t>指针函数</a:t>
            </a:r>
          </a:p>
          <a:p>
            <a:pPr marL="180975">
              <a:lnSpc>
                <a:spcPct val="100000"/>
              </a:lnSpc>
              <a:spcBef>
                <a:spcPct val="0"/>
              </a:spcBef>
              <a:buClr>
                <a:srgbClr val="C00000"/>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指向函数的指针</a:t>
            </a:r>
            <a:r>
              <a:rPr lang="en-US" altLang="zh-CN" dirty="0">
                <a:effectLst>
                  <a:outerShdw blurRad="38100" dist="38100" dir="2700000" algn="tl">
                    <a:srgbClr val="FFFFFF"/>
                  </a:outerShdw>
                </a:effectLst>
                <a:latin typeface="楷体" pitchFamily="49" charset="-122"/>
                <a:ea typeface="楷体" pitchFamily="49" charset="-122"/>
              </a:rPr>
              <a:t>____</a:t>
            </a:r>
            <a:r>
              <a:rPr lang="zh-CN" altLang="en-US" dirty="0">
                <a:effectLst>
                  <a:outerShdw blurRad="38100" dist="38100" dir="2700000" algn="tl">
                    <a:srgbClr val="FFFFFF"/>
                  </a:outerShdw>
                </a:effectLst>
                <a:latin typeface="楷体" pitchFamily="49" charset="-122"/>
                <a:ea typeface="楷体" pitchFamily="49" charset="-122"/>
              </a:rPr>
              <a:t>函数指针</a:t>
            </a:r>
          </a:p>
          <a:p>
            <a:pPr marL="180975">
              <a:lnSpc>
                <a:spcPct val="100000"/>
              </a:lnSpc>
              <a:spcBef>
                <a:spcPct val="0"/>
              </a:spcBef>
              <a:buClr>
                <a:srgbClr val="C00000"/>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带参数的</a:t>
            </a:r>
            <a:r>
              <a:rPr lang="en-US" altLang="zh-CN" dirty="0">
                <a:effectLst>
                  <a:outerShdw blurRad="38100" dist="38100" dir="2700000" algn="tl">
                    <a:srgbClr val="FFFFFF"/>
                  </a:outerShdw>
                </a:effectLst>
                <a:latin typeface="楷体" pitchFamily="49" charset="-122"/>
                <a:ea typeface="楷体" pitchFamily="49" charset="-122"/>
              </a:rPr>
              <a:t>main</a:t>
            </a:r>
            <a:r>
              <a:rPr lang="zh-CN" altLang="en-US" dirty="0">
                <a:effectLst>
                  <a:outerShdw blurRad="38100" dist="38100" dir="2700000" algn="tl">
                    <a:srgbClr val="FFFFFF"/>
                  </a:outerShdw>
                </a:effectLst>
                <a:latin typeface="楷体" pitchFamily="49" charset="-122"/>
                <a:ea typeface="楷体" pitchFamily="49" charset="-122"/>
              </a:rPr>
              <a:t>函数</a:t>
            </a:r>
          </a:p>
          <a:p>
            <a:pPr marL="180975">
              <a:lnSpc>
                <a:spcPct val="100000"/>
              </a:lnSpc>
              <a:spcBef>
                <a:spcPct val="0"/>
              </a:spcBef>
              <a:buClr>
                <a:srgbClr val="C00000"/>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本章小结</a:t>
            </a:r>
            <a:r>
              <a:rPr lang="zh-CN" altLang="en-US" b="0" dirty="0">
                <a:effectLst/>
                <a:latin typeface="楷体" pitchFamily="49" charset="-122"/>
                <a:ea typeface="楷体" pitchFamily="49" charset="-122"/>
              </a:rPr>
              <a:t> </a:t>
            </a:r>
          </a:p>
        </p:txBody>
      </p:sp>
      <p:sp>
        <p:nvSpPr>
          <p:cNvPr id="10" name="Rectangle 4">
            <a:extLst>
              <a:ext uri="{FF2B5EF4-FFF2-40B4-BE49-F238E27FC236}">
                <a16:creationId xmlns:a16="http://schemas.microsoft.com/office/drawing/2014/main" id="{BC82C4AB-9DDD-4ECC-AE2C-522359C53F9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章：指  针 </a:t>
            </a:r>
          </a:p>
        </p:txBody>
      </p:sp>
    </p:spTree>
    <p:extLst>
      <p:ext uri="{BB962C8B-B14F-4D97-AF65-F5344CB8AC3E}">
        <p14:creationId xmlns:p14="http://schemas.microsoft.com/office/powerpoint/2010/main" val="20301852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diamond(in)">
                                      <p:cBhvr>
                                        <p:cTn id="13" dur="2000"/>
                                        <p:tgtEl>
                                          <p:spTgt spid="9"/>
                                        </p:tgtEl>
                                      </p:cBhvr>
                                    </p:animEffect>
                                  </p:childTnLst>
                                  <p:subTnLst>
                                    <p:audio>
                                      <p:cMediaNode>
                                        <p:cTn display="0" masterRel="sameClick">
                                          <p:stCondLst>
                                            <p:cond evt="begin" delay="0">
                                              <p:tn val="11"/>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29474" name="Group 2"/>
          <p:cNvGrpSpPr>
            <a:grpSpLocks/>
          </p:cNvGrpSpPr>
          <p:nvPr/>
        </p:nvGrpSpPr>
        <p:grpSpPr bwMode="auto">
          <a:xfrm>
            <a:off x="6873808" y="1095202"/>
            <a:ext cx="2736850" cy="5129213"/>
            <a:chOff x="3340" y="743"/>
            <a:chExt cx="1724" cy="3231"/>
          </a:xfrm>
        </p:grpSpPr>
        <p:grpSp>
          <p:nvGrpSpPr>
            <p:cNvPr id="1129475" name="Group 3"/>
            <p:cNvGrpSpPr>
              <a:grpSpLocks/>
            </p:cNvGrpSpPr>
            <p:nvPr/>
          </p:nvGrpSpPr>
          <p:grpSpPr bwMode="auto">
            <a:xfrm>
              <a:off x="3340" y="743"/>
              <a:ext cx="1724" cy="3231"/>
              <a:chOff x="3340" y="734"/>
              <a:chExt cx="1724" cy="3231"/>
            </a:xfrm>
          </p:grpSpPr>
          <p:sp>
            <p:nvSpPr>
              <p:cNvPr id="1129476" name="Rectangle 4"/>
              <p:cNvSpPr>
                <a:spLocks noChangeArrowheads="1"/>
              </p:cNvSpPr>
              <p:nvPr/>
            </p:nvSpPr>
            <p:spPr bwMode="auto">
              <a:xfrm>
                <a:off x="3852" y="1081"/>
                <a:ext cx="1211" cy="2212"/>
              </a:xfrm>
              <a:prstGeom prst="rect">
                <a:avLst/>
              </a:prstGeom>
              <a:solidFill>
                <a:srgbClr val="DDFAED"/>
              </a:solidFill>
              <a:ln w="38100">
                <a:solidFill>
                  <a:srgbClr val="800080"/>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29477" name="Line 5"/>
              <p:cNvSpPr>
                <a:spLocks noChangeShapeType="1"/>
              </p:cNvSpPr>
              <p:nvPr/>
            </p:nvSpPr>
            <p:spPr bwMode="auto">
              <a:xfrm>
                <a:off x="3852" y="133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29478" name="Line 6"/>
              <p:cNvSpPr>
                <a:spLocks noChangeShapeType="1"/>
              </p:cNvSpPr>
              <p:nvPr/>
            </p:nvSpPr>
            <p:spPr bwMode="auto">
              <a:xfrm>
                <a:off x="3852" y="1747"/>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29479" name="Line 7"/>
              <p:cNvSpPr>
                <a:spLocks noChangeShapeType="1"/>
              </p:cNvSpPr>
              <p:nvPr/>
            </p:nvSpPr>
            <p:spPr bwMode="auto">
              <a:xfrm>
                <a:off x="3852" y="2003"/>
                <a:ext cx="1211" cy="0"/>
              </a:xfrm>
              <a:prstGeom prst="line">
                <a:avLst/>
              </a:prstGeom>
              <a:noFill/>
              <a:ln w="9525">
                <a:solidFill>
                  <a:schemeClr val="tx1"/>
                </a:solidFill>
                <a:round/>
                <a:headEnd/>
                <a:tailEnd/>
              </a:ln>
              <a:effectLst/>
            </p:spPr>
            <p:txBody>
              <a:bodyPr wrap="none" anchor="ctr"/>
              <a:lstStyle/>
              <a:p>
                <a:endParaRPr lang="zh-CN" altLang="en-US"/>
              </a:p>
            </p:txBody>
          </p:sp>
          <p:sp>
            <p:nvSpPr>
              <p:cNvPr id="1129480" name="Line 8"/>
              <p:cNvSpPr>
                <a:spLocks noChangeShapeType="1"/>
              </p:cNvSpPr>
              <p:nvPr/>
            </p:nvSpPr>
            <p:spPr bwMode="auto">
              <a:xfrm>
                <a:off x="3852" y="223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29481" name="Line 9"/>
              <p:cNvSpPr>
                <a:spLocks noChangeShapeType="1"/>
              </p:cNvSpPr>
              <p:nvPr/>
            </p:nvSpPr>
            <p:spPr bwMode="auto">
              <a:xfrm>
                <a:off x="3852" y="2491"/>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29482" name="Text Box 10"/>
              <p:cNvSpPr txBox="1">
                <a:spLocks noChangeArrowheads="1"/>
              </p:cNvSpPr>
              <p:nvPr/>
            </p:nvSpPr>
            <p:spPr bwMode="auto">
              <a:xfrm>
                <a:off x="4330" y="1366"/>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sp>
            <p:nvSpPr>
              <p:cNvPr id="1129483" name="Text Box 11"/>
              <p:cNvSpPr txBox="1">
                <a:spLocks noChangeArrowheads="1"/>
              </p:cNvSpPr>
              <p:nvPr/>
            </p:nvSpPr>
            <p:spPr bwMode="auto">
              <a:xfrm>
                <a:off x="4160" y="734"/>
                <a:ext cx="506" cy="291"/>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u="sng" dirty="0">
                    <a:solidFill>
                      <a:srgbClr val="C00000"/>
                    </a:solidFill>
                    <a:ea typeface="隶书" pitchFamily="49" charset="-122"/>
                  </a:rPr>
                  <a:t>内存</a:t>
                </a:r>
              </a:p>
            </p:txBody>
          </p:sp>
          <p:sp>
            <p:nvSpPr>
              <p:cNvPr id="1129484" name="Line 12"/>
              <p:cNvSpPr>
                <a:spLocks noChangeShapeType="1"/>
              </p:cNvSpPr>
              <p:nvPr/>
            </p:nvSpPr>
            <p:spPr bwMode="auto">
              <a:xfrm>
                <a:off x="3852" y="3013"/>
                <a:ext cx="1211" cy="0"/>
              </a:xfrm>
              <a:prstGeom prst="line">
                <a:avLst/>
              </a:prstGeom>
              <a:noFill/>
              <a:ln w="9525">
                <a:solidFill>
                  <a:srgbClr val="000000"/>
                </a:solidFill>
                <a:round/>
                <a:headEnd/>
                <a:tailEnd/>
              </a:ln>
              <a:effectLst/>
            </p:spPr>
            <p:txBody>
              <a:bodyPr wrap="none" anchor="ctr"/>
              <a:lstStyle/>
              <a:p>
                <a:endParaRPr lang="zh-CN" altLang="en-US"/>
              </a:p>
            </p:txBody>
          </p:sp>
          <p:grpSp>
            <p:nvGrpSpPr>
              <p:cNvPr id="1129485" name="Group 13"/>
              <p:cNvGrpSpPr>
                <a:grpSpLocks/>
              </p:cNvGrpSpPr>
              <p:nvPr/>
            </p:nvGrpSpPr>
            <p:grpSpPr bwMode="auto">
              <a:xfrm>
                <a:off x="3340" y="1073"/>
                <a:ext cx="445" cy="2606"/>
                <a:chOff x="3340" y="1073"/>
                <a:chExt cx="445" cy="2606"/>
              </a:xfrm>
            </p:grpSpPr>
            <p:sp>
              <p:nvSpPr>
                <p:cNvPr id="1129486" name="Text Box 14"/>
                <p:cNvSpPr txBox="1">
                  <a:spLocks noChangeArrowheads="1"/>
                </p:cNvSpPr>
                <p:nvPr/>
              </p:nvSpPr>
              <p:spPr bwMode="auto">
                <a:xfrm>
                  <a:off x="3340" y="175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2000</a:t>
                  </a:r>
                </a:p>
              </p:txBody>
            </p:sp>
            <p:sp>
              <p:nvSpPr>
                <p:cNvPr id="1129487" name="Text Box 15"/>
                <p:cNvSpPr txBox="1">
                  <a:spLocks noChangeArrowheads="1"/>
                </p:cNvSpPr>
                <p:nvPr/>
              </p:nvSpPr>
              <p:spPr bwMode="auto">
                <a:xfrm>
                  <a:off x="3340" y="198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2001</a:t>
                  </a:r>
                </a:p>
              </p:txBody>
            </p:sp>
            <p:sp>
              <p:nvSpPr>
                <p:cNvPr id="1129488" name="Text Box 16"/>
                <p:cNvSpPr txBox="1">
                  <a:spLocks noChangeArrowheads="1"/>
                </p:cNvSpPr>
                <p:nvPr/>
              </p:nvSpPr>
              <p:spPr bwMode="auto">
                <a:xfrm>
                  <a:off x="3340" y="223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129489" name="Text Box 17"/>
                <p:cNvSpPr txBox="1">
                  <a:spLocks noChangeArrowheads="1"/>
                </p:cNvSpPr>
                <p:nvPr/>
              </p:nvSpPr>
              <p:spPr bwMode="auto">
                <a:xfrm>
                  <a:off x="3349" y="302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2005</a:t>
                  </a:r>
                </a:p>
              </p:txBody>
            </p:sp>
            <p:sp>
              <p:nvSpPr>
                <p:cNvPr id="1129490" name="Text Box 18"/>
                <p:cNvSpPr txBox="1">
                  <a:spLocks noChangeArrowheads="1"/>
                </p:cNvSpPr>
                <p:nvPr/>
              </p:nvSpPr>
              <p:spPr bwMode="auto">
                <a:xfrm>
                  <a:off x="3433" y="1073"/>
                  <a:ext cx="19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0</a:t>
                  </a:r>
                </a:p>
              </p:txBody>
            </p:sp>
            <p:sp>
              <p:nvSpPr>
                <p:cNvPr id="1129491" name="Text Box 19"/>
                <p:cNvSpPr txBox="1">
                  <a:spLocks noChangeArrowheads="1"/>
                </p:cNvSpPr>
                <p:nvPr/>
              </p:nvSpPr>
              <p:spPr bwMode="auto">
                <a:xfrm>
                  <a:off x="3340" y="248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2003</a:t>
                  </a:r>
                </a:p>
              </p:txBody>
            </p:sp>
            <p:sp>
              <p:nvSpPr>
                <p:cNvPr id="1129492" name="Text Box 20"/>
                <p:cNvSpPr txBox="1">
                  <a:spLocks noChangeArrowheads="1"/>
                </p:cNvSpPr>
                <p:nvPr/>
              </p:nvSpPr>
              <p:spPr bwMode="auto">
                <a:xfrm>
                  <a:off x="3341" y="274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129493" name="Text Box 21"/>
                <p:cNvSpPr txBox="1">
                  <a:spLocks noChangeArrowheads="1"/>
                </p:cNvSpPr>
                <p:nvPr/>
              </p:nvSpPr>
              <p:spPr bwMode="auto">
                <a:xfrm>
                  <a:off x="3423" y="134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sp>
              <p:nvSpPr>
                <p:cNvPr id="1129494" name="Text Box 22"/>
                <p:cNvSpPr txBox="1">
                  <a:spLocks noChangeArrowheads="1"/>
                </p:cNvSpPr>
                <p:nvPr/>
              </p:nvSpPr>
              <p:spPr bwMode="auto">
                <a:xfrm>
                  <a:off x="3450" y="3338"/>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grpSp>
            <p:nvGrpSpPr>
              <p:cNvPr id="1129495" name="Group 23"/>
              <p:cNvGrpSpPr>
                <a:grpSpLocks/>
              </p:cNvGrpSpPr>
              <p:nvPr/>
            </p:nvGrpSpPr>
            <p:grpSpPr bwMode="auto">
              <a:xfrm>
                <a:off x="3840" y="2749"/>
                <a:ext cx="1224" cy="1216"/>
                <a:chOff x="3840" y="2749"/>
                <a:chExt cx="1224" cy="1216"/>
              </a:xfrm>
            </p:grpSpPr>
            <p:sp>
              <p:nvSpPr>
                <p:cNvPr id="1129496" name="Line 24"/>
                <p:cNvSpPr>
                  <a:spLocks noChangeShapeType="1"/>
                </p:cNvSpPr>
                <p:nvPr/>
              </p:nvSpPr>
              <p:spPr bwMode="auto">
                <a:xfrm>
                  <a:off x="3840" y="2749"/>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29497" name="Freeform 25"/>
                <p:cNvSpPr>
                  <a:spLocks/>
                </p:cNvSpPr>
                <p:nvPr/>
              </p:nvSpPr>
              <p:spPr bwMode="auto">
                <a:xfrm>
                  <a:off x="3844" y="3293"/>
                  <a:ext cx="1220"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rgbClr val="800080"/>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grpSp>
        <p:sp>
          <p:nvSpPr>
            <p:cNvPr id="1129498" name="Text Box 26"/>
            <p:cNvSpPr txBox="1">
              <a:spLocks noChangeArrowheads="1"/>
            </p:cNvSpPr>
            <p:nvPr/>
          </p:nvSpPr>
          <p:spPr bwMode="auto">
            <a:xfrm>
              <a:off x="4341" y="334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sp>
        <p:nvSpPr>
          <p:cNvPr id="1129500" name="Rectangle 28"/>
          <p:cNvSpPr>
            <a:spLocks noChangeArrowheads="1"/>
          </p:cNvSpPr>
          <p:nvPr/>
        </p:nvSpPr>
        <p:spPr bwMode="auto">
          <a:xfrm>
            <a:off x="610196" y="811560"/>
            <a:ext cx="5629820" cy="457200"/>
          </a:xfrm>
          <a:prstGeom prst="rect">
            <a:avLst/>
          </a:prstGeom>
          <a:noFill/>
          <a:ln w="9525">
            <a:noFill/>
            <a:miter lim="800000"/>
            <a:headEnd/>
            <a:tailEnd/>
          </a:ln>
          <a:effectLst/>
        </p:spPr>
        <p:txBody>
          <a:bodyPr wrap="square">
            <a:spAutoFit/>
          </a:bodyPr>
          <a:lstStyle/>
          <a:p>
            <a:pPr marL="457200" indent="-457200">
              <a:lnSpc>
                <a:spcPct val="100000"/>
              </a:lnSpc>
              <a:spcBef>
                <a:spcPct val="0"/>
              </a:spcBef>
            </a:pPr>
            <a:r>
              <a:rPr lang="en-US" altLang="zh-CN" b="1" dirty="0">
                <a:solidFill>
                  <a:srgbClr val="C00000"/>
                </a:solidFill>
                <a:latin typeface="+mn-lt"/>
                <a:ea typeface="楷体" pitchFamily="49" charset="-122"/>
              </a:rPr>
              <a:t>1</a:t>
            </a:r>
            <a:r>
              <a:rPr lang="zh-CN" altLang="en-US" b="1" dirty="0">
                <a:solidFill>
                  <a:srgbClr val="C00000"/>
                </a:solidFill>
                <a:latin typeface="+mn-lt"/>
                <a:ea typeface="楷体" pitchFamily="49" charset="-122"/>
              </a:rPr>
              <a:t>、内存地址──内存中存储单元的编号</a:t>
            </a:r>
          </a:p>
        </p:txBody>
      </p:sp>
      <p:grpSp>
        <p:nvGrpSpPr>
          <p:cNvPr id="1129504" name="Group 32"/>
          <p:cNvGrpSpPr>
            <a:grpSpLocks/>
          </p:cNvGrpSpPr>
          <p:nvPr/>
        </p:nvGrpSpPr>
        <p:grpSpPr bwMode="auto">
          <a:xfrm>
            <a:off x="1239913" y="1098377"/>
            <a:ext cx="4249737" cy="4994275"/>
            <a:chOff x="350" y="601"/>
            <a:chExt cx="2677" cy="3146"/>
          </a:xfrm>
        </p:grpSpPr>
        <p:grpSp>
          <p:nvGrpSpPr>
            <p:cNvPr id="1129505" name="Group 33"/>
            <p:cNvGrpSpPr>
              <a:grpSpLocks/>
            </p:cNvGrpSpPr>
            <p:nvPr/>
          </p:nvGrpSpPr>
          <p:grpSpPr bwMode="auto">
            <a:xfrm>
              <a:off x="350" y="889"/>
              <a:ext cx="2677" cy="2858"/>
              <a:chOff x="458" y="754"/>
              <a:chExt cx="2677" cy="2858"/>
            </a:xfrm>
          </p:grpSpPr>
          <p:sp>
            <p:nvSpPr>
              <p:cNvPr id="1129506" name="Rectangle 34"/>
              <p:cNvSpPr>
                <a:spLocks noChangeArrowheads="1"/>
              </p:cNvSpPr>
              <p:nvPr/>
            </p:nvSpPr>
            <p:spPr bwMode="auto">
              <a:xfrm>
                <a:off x="775" y="1344"/>
                <a:ext cx="1950" cy="2268"/>
              </a:xfrm>
              <a:prstGeom prst="rect">
                <a:avLst/>
              </a:prstGeom>
              <a:solidFill>
                <a:srgbClr val="FFFFFF"/>
              </a:solidFill>
              <a:ln w="38100">
                <a:solidFill>
                  <a:srgbClr val="002060"/>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grpSp>
            <p:nvGrpSpPr>
              <p:cNvPr id="1129507" name="Group 35"/>
              <p:cNvGrpSpPr>
                <a:grpSpLocks/>
              </p:cNvGrpSpPr>
              <p:nvPr/>
            </p:nvGrpSpPr>
            <p:grpSpPr bwMode="auto">
              <a:xfrm>
                <a:off x="458" y="754"/>
                <a:ext cx="2677" cy="806"/>
                <a:chOff x="1177" y="1882"/>
                <a:chExt cx="2895" cy="503"/>
              </a:xfrm>
            </p:grpSpPr>
            <p:sp>
              <p:nvSpPr>
                <p:cNvPr id="1129508" name="Line 36"/>
                <p:cNvSpPr>
                  <a:spLocks noChangeShapeType="1"/>
                </p:cNvSpPr>
                <p:nvPr/>
              </p:nvSpPr>
              <p:spPr bwMode="auto">
                <a:xfrm flipH="1">
                  <a:off x="1177" y="1882"/>
                  <a:ext cx="1417" cy="472"/>
                </a:xfrm>
                <a:prstGeom prst="line">
                  <a:avLst/>
                </a:prstGeom>
                <a:noFill/>
                <a:ln w="38100">
                  <a:solidFill>
                    <a:srgbClr val="002060"/>
                  </a:solidFill>
                  <a:round/>
                  <a:headEnd/>
                  <a:tailEnd/>
                </a:ln>
                <a:effectLst>
                  <a:outerShdw dist="35921" dir="2700000" algn="ctr" rotWithShape="0">
                    <a:schemeClr val="bg2">
                      <a:alpha val="50000"/>
                    </a:schemeClr>
                  </a:outerShdw>
                </a:effectLst>
              </p:spPr>
              <p:txBody>
                <a:bodyPr wrap="none" anchor="ctr">
                  <a:spAutoFit/>
                </a:bodyPr>
                <a:lstStyle/>
                <a:p>
                  <a:endParaRPr lang="zh-CN" altLang="en-US"/>
                </a:p>
              </p:txBody>
            </p:sp>
            <p:sp>
              <p:nvSpPr>
                <p:cNvPr id="1129509" name="Line 37"/>
                <p:cNvSpPr>
                  <a:spLocks noChangeShapeType="1"/>
                </p:cNvSpPr>
                <p:nvPr/>
              </p:nvSpPr>
              <p:spPr bwMode="auto">
                <a:xfrm>
                  <a:off x="2586" y="1890"/>
                  <a:ext cx="1486" cy="495"/>
                </a:xfrm>
                <a:prstGeom prst="line">
                  <a:avLst/>
                </a:prstGeom>
                <a:noFill/>
                <a:ln w="38100">
                  <a:solidFill>
                    <a:srgbClr val="002060"/>
                  </a:solidFill>
                  <a:round/>
                  <a:headEnd/>
                  <a:tailEnd/>
                </a:ln>
                <a:effectLst>
                  <a:outerShdw dist="35921" dir="2700000" algn="ctr" rotWithShape="0">
                    <a:schemeClr val="bg2">
                      <a:alpha val="50000"/>
                    </a:schemeClr>
                  </a:outerShdw>
                </a:effectLst>
              </p:spPr>
              <p:txBody>
                <a:bodyPr anchor="ctr">
                  <a:spAutoFit/>
                </a:bodyPr>
                <a:lstStyle/>
                <a:p>
                  <a:endParaRPr lang="zh-CN" altLang="en-US"/>
                </a:p>
              </p:txBody>
            </p:sp>
          </p:grpSp>
          <p:grpSp>
            <p:nvGrpSpPr>
              <p:cNvPr id="1129510" name="Group 38"/>
              <p:cNvGrpSpPr>
                <a:grpSpLocks/>
              </p:cNvGrpSpPr>
              <p:nvPr/>
            </p:nvGrpSpPr>
            <p:grpSpPr bwMode="auto">
              <a:xfrm>
                <a:off x="785" y="3221"/>
                <a:ext cx="1717" cy="255"/>
                <a:chOff x="785" y="3221"/>
                <a:chExt cx="1717" cy="255"/>
              </a:xfrm>
            </p:grpSpPr>
            <p:grpSp>
              <p:nvGrpSpPr>
                <p:cNvPr id="1129511" name="Group 39"/>
                <p:cNvGrpSpPr>
                  <a:grpSpLocks/>
                </p:cNvGrpSpPr>
                <p:nvPr/>
              </p:nvGrpSpPr>
              <p:grpSpPr bwMode="auto">
                <a:xfrm>
                  <a:off x="785" y="3221"/>
                  <a:ext cx="816" cy="254"/>
                  <a:chOff x="785" y="3221"/>
                  <a:chExt cx="816" cy="254"/>
                </a:xfrm>
              </p:grpSpPr>
              <p:sp>
                <p:nvSpPr>
                  <p:cNvPr id="1129512" name="Rectangle 40"/>
                  <p:cNvSpPr>
                    <a:spLocks noChangeArrowheads="1"/>
                  </p:cNvSpPr>
                  <p:nvPr/>
                </p:nvSpPr>
                <p:spPr bwMode="auto">
                  <a:xfrm>
                    <a:off x="1102" y="3249"/>
                    <a:ext cx="499" cy="226"/>
                  </a:xfrm>
                  <a:prstGeom prst="rect">
                    <a:avLst/>
                  </a:prstGeom>
                  <a:solidFill>
                    <a:srgbClr val="F0E5B7"/>
                  </a:solidFill>
                  <a:ln w="9525">
                    <a:solidFill>
                      <a:schemeClr val="tx1"/>
                    </a:solidFill>
                    <a:miter lim="800000"/>
                    <a:headEnd/>
                    <a:tailEnd/>
                  </a:ln>
                  <a:effectLst/>
                </p:spPr>
                <p:txBody>
                  <a:bodyPr wrap="none" anchor="ctr"/>
                  <a:lstStyle/>
                  <a:p>
                    <a:endParaRPr lang="zh-CN" altLang="en-US"/>
                  </a:p>
                </p:txBody>
              </p:sp>
              <p:sp>
                <p:nvSpPr>
                  <p:cNvPr id="1129513" name="Text Box 41"/>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101</a:t>
                    </a:r>
                  </a:p>
                </p:txBody>
              </p:sp>
            </p:grpSp>
            <p:grpSp>
              <p:nvGrpSpPr>
                <p:cNvPr id="1129514" name="Group 42"/>
                <p:cNvGrpSpPr>
                  <a:grpSpLocks/>
                </p:cNvGrpSpPr>
                <p:nvPr/>
              </p:nvGrpSpPr>
              <p:grpSpPr bwMode="auto">
                <a:xfrm>
                  <a:off x="1686" y="3222"/>
                  <a:ext cx="816" cy="254"/>
                  <a:chOff x="785" y="3221"/>
                  <a:chExt cx="816" cy="254"/>
                </a:xfrm>
              </p:grpSpPr>
              <p:sp>
                <p:nvSpPr>
                  <p:cNvPr id="1129515" name="Rectangle 43"/>
                  <p:cNvSpPr>
                    <a:spLocks noChangeArrowheads="1"/>
                  </p:cNvSpPr>
                  <p:nvPr/>
                </p:nvSpPr>
                <p:spPr bwMode="auto">
                  <a:xfrm>
                    <a:off x="1102" y="3249"/>
                    <a:ext cx="499" cy="226"/>
                  </a:xfrm>
                  <a:prstGeom prst="rect">
                    <a:avLst/>
                  </a:prstGeom>
                  <a:solidFill>
                    <a:srgbClr val="FFCC99"/>
                  </a:solidFill>
                  <a:ln w="9525">
                    <a:solidFill>
                      <a:schemeClr val="tx1"/>
                    </a:solidFill>
                    <a:miter lim="800000"/>
                    <a:headEnd/>
                    <a:tailEnd/>
                  </a:ln>
                  <a:effectLst/>
                </p:spPr>
                <p:txBody>
                  <a:bodyPr wrap="none" anchor="ctr"/>
                  <a:lstStyle/>
                  <a:p>
                    <a:endParaRPr lang="zh-CN" altLang="en-US"/>
                  </a:p>
                </p:txBody>
              </p:sp>
              <p:sp>
                <p:nvSpPr>
                  <p:cNvPr id="1129516" name="Text Box 44"/>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dirty="0">
                        <a:effectLst/>
                        <a:ea typeface="宋体" pitchFamily="2" charset="-122"/>
                      </a:rPr>
                      <a:t>102</a:t>
                    </a:r>
                  </a:p>
                </p:txBody>
              </p:sp>
            </p:grpSp>
          </p:grpSp>
          <p:grpSp>
            <p:nvGrpSpPr>
              <p:cNvPr id="1129517" name="Group 45"/>
              <p:cNvGrpSpPr>
                <a:grpSpLocks/>
              </p:cNvGrpSpPr>
              <p:nvPr/>
            </p:nvGrpSpPr>
            <p:grpSpPr bwMode="auto">
              <a:xfrm>
                <a:off x="795" y="2889"/>
                <a:ext cx="1717" cy="255"/>
                <a:chOff x="785" y="3221"/>
                <a:chExt cx="1717" cy="255"/>
              </a:xfrm>
            </p:grpSpPr>
            <p:grpSp>
              <p:nvGrpSpPr>
                <p:cNvPr id="1129518" name="Group 46"/>
                <p:cNvGrpSpPr>
                  <a:grpSpLocks/>
                </p:cNvGrpSpPr>
                <p:nvPr/>
              </p:nvGrpSpPr>
              <p:grpSpPr bwMode="auto">
                <a:xfrm>
                  <a:off x="785" y="3221"/>
                  <a:ext cx="816" cy="254"/>
                  <a:chOff x="785" y="3221"/>
                  <a:chExt cx="816" cy="254"/>
                </a:xfrm>
              </p:grpSpPr>
              <p:sp>
                <p:nvSpPr>
                  <p:cNvPr id="1129519" name="Rectangle 47"/>
                  <p:cNvSpPr>
                    <a:spLocks noChangeArrowheads="1"/>
                  </p:cNvSpPr>
                  <p:nvPr/>
                </p:nvSpPr>
                <p:spPr bwMode="auto">
                  <a:xfrm>
                    <a:off x="1102" y="3249"/>
                    <a:ext cx="499" cy="226"/>
                  </a:xfrm>
                  <a:prstGeom prst="rect">
                    <a:avLst/>
                  </a:prstGeom>
                  <a:solidFill>
                    <a:srgbClr val="F0E5B7"/>
                  </a:solidFill>
                  <a:ln w="9525">
                    <a:solidFill>
                      <a:schemeClr val="tx1"/>
                    </a:solidFill>
                    <a:miter lim="800000"/>
                    <a:headEnd/>
                    <a:tailEnd/>
                  </a:ln>
                  <a:effectLst/>
                </p:spPr>
                <p:txBody>
                  <a:bodyPr wrap="none" anchor="ctr"/>
                  <a:lstStyle/>
                  <a:p>
                    <a:endParaRPr lang="zh-CN" altLang="en-US"/>
                  </a:p>
                </p:txBody>
              </p:sp>
              <p:sp>
                <p:nvSpPr>
                  <p:cNvPr id="1129520" name="Text Box 48"/>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201</a:t>
                    </a:r>
                  </a:p>
                </p:txBody>
              </p:sp>
            </p:grpSp>
            <p:grpSp>
              <p:nvGrpSpPr>
                <p:cNvPr id="1129521" name="Group 49"/>
                <p:cNvGrpSpPr>
                  <a:grpSpLocks/>
                </p:cNvGrpSpPr>
                <p:nvPr/>
              </p:nvGrpSpPr>
              <p:grpSpPr bwMode="auto">
                <a:xfrm>
                  <a:off x="1686" y="3222"/>
                  <a:ext cx="816" cy="254"/>
                  <a:chOff x="785" y="3221"/>
                  <a:chExt cx="816" cy="254"/>
                </a:xfrm>
              </p:grpSpPr>
              <p:sp>
                <p:nvSpPr>
                  <p:cNvPr id="1129522" name="Rectangle 50"/>
                  <p:cNvSpPr>
                    <a:spLocks noChangeArrowheads="1"/>
                  </p:cNvSpPr>
                  <p:nvPr/>
                </p:nvSpPr>
                <p:spPr bwMode="auto">
                  <a:xfrm>
                    <a:off x="1102" y="3249"/>
                    <a:ext cx="499" cy="226"/>
                  </a:xfrm>
                  <a:prstGeom prst="rect">
                    <a:avLst/>
                  </a:prstGeom>
                  <a:solidFill>
                    <a:srgbClr val="F0E5B7"/>
                  </a:solidFill>
                  <a:ln w="9525">
                    <a:solidFill>
                      <a:schemeClr val="tx1"/>
                    </a:solidFill>
                    <a:miter lim="800000"/>
                    <a:headEnd/>
                    <a:tailEnd/>
                  </a:ln>
                  <a:effectLst/>
                </p:spPr>
                <p:txBody>
                  <a:bodyPr wrap="none" anchor="ctr"/>
                  <a:lstStyle/>
                  <a:p>
                    <a:endParaRPr lang="zh-CN" altLang="en-US"/>
                  </a:p>
                </p:txBody>
              </p:sp>
              <p:sp>
                <p:nvSpPr>
                  <p:cNvPr id="1129523" name="Text Box 51"/>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202</a:t>
                    </a:r>
                  </a:p>
                </p:txBody>
              </p:sp>
            </p:grpSp>
          </p:grpSp>
          <p:grpSp>
            <p:nvGrpSpPr>
              <p:cNvPr id="1129524" name="Group 52"/>
              <p:cNvGrpSpPr>
                <a:grpSpLocks/>
              </p:cNvGrpSpPr>
              <p:nvPr/>
            </p:nvGrpSpPr>
            <p:grpSpPr bwMode="auto">
              <a:xfrm>
                <a:off x="805" y="2548"/>
                <a:ext cx="1717" cy="255"/>
                <a:chOff x="785" y="3221"/>
                <a:chExt cx="1717" cy="255"/>
              </a:xfrm>
            </p:grpSpPr>
            <p:grpSp>
              <p:nvGrpSpPr>
                <p:cNvPr id="1129525" name="Group 53"/>
                <p:cNvGrpSpPr>
                  <a:grpSpLocks/>
                </p:cNvGrpSpPr>
                <p:nvPr/>
              </p:nvGrpSpPr>
              <p:grpSpPr bwMode="auto">
                <a:xfrm>
                  <a:off x="785" y="3221"/>
                  <a:ext cx="816" cy="254"/>
                  <a:chOff x="785" y="3221"/>
                  <a:chExt cx="816" cy="254"/>
                </a:xfrm>
              </p:grpSpPr>
              <p:sp>
                <p:nvSpPr>
                  <p:cNvPr id="1129526" name="Rectangle 54"/>
                  <p:cNvSpPr>
                    <a:spLocks noChangeArrowheads="1"/>
                  </p:cNvSpPr>
                  <p:nvPr/>
                </p:nvSpPr>
                <p:spPr bwMode="auto">
                  <a:xfrm>
                    <a:off x="1102" y="3249"/>
                    <a:ext cx="499" cy="226"/>
                  </a:xfrm>
                  <a:prstGeom prst="rect">
                    <a:avLst/>
                  </a:prstGeom>
                  <a:solidFill>
                    <a:srgbClr val="F0E5B7"/>
                  </a:solidFill>
                  <a:ln w="9525">
                    <a:solidFill>
                      <a:schemeClr val="tx1"/>
                    </a:solidFill>
                    <a:miter lim="800000"/>
                    <a:headEnd/>
                    <a:tailEnd/>
                  </a:ln>
                  <a:effectLst/>
                </p:spPr>
                <p:txBody>
                  <a:bodyPr wrap="none" anchor="ctr"/>
                  <a:lstStyle/>
                  <a:p>
                    <a:endParaRPr lang="zh-CN" altLang="en-US"/>
                  </a:p>
                </p:txBody>
              </p:sp>
              <p:sp>
                <p:nvSpPr>
                  <p:cNvPr id="1129527" name="Text Box 55"/>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301</a:t>
                    </a:r>
                  </a:p>
                </p:txBody>
              </p:sp>
            </p:grpSp>
            <p:grpSp>
              <p:nvGrpSpPr>
                <p:cNvPr id="1129528" name="Group 56"/>
                <p:cNvGrpSpPr>
                  <a:grpSpLocks/>
                </p:cNvGrpSpPr>
                <p:nvPr/>
              </p:nvGrpSpPr>
              <p:grpSpPr bwMode="auto">
                <a:xfrm>
                  <a:off x="1686" y="3222"/>
                  <a:ext cx="816" cy="254"/>
                  <a:chOff x="785" y="3221"/>
                  <a:chExt cx="816" cy="254"/>
                </a:xfrm>
              </p:grpSpPr>
              <p:sp>
                <p:nvSpPr>
                  <p:cNvPr id="1129529" name="Rectangle 57"/>
                  <p:cNvSpPr>
                    <a:spLocks noChangeArrowheads="1"/>
                  </p:cNvSpPr>
                  <p:nvPr/>
                </p:nvSpPr>
                <p:spPr bwMode="auto">
                  <a:xfrm>
                    <a:off x="1102" y="3249"/>
                    <a:ext cx="499" cy="226"/>
                  </a:xfrm>
                  <a:prstGeom prst="rect">
                    <a:avLst/>
                  </a:prstGeom>
                  <a:solidFill>
                    <a:srgbClr val="F0E5B7"/>
                  </a:solidFill>
                  <a:ln w="9525">
                    <a:solidFill>
                      <a:schemeClr val="tx1"/>
                    </a:solidFill>
                    <a:miter lim="800000"/>
                    <a:headEnd/>
                    <a:tailEnd/>
                  </a:ln>
                  <a:effectLst/>
                </p:spPr>
                <p:txBody>
                  <a:bodyPr wrap="none" anchor="ctr"/>
                  <a:lstStyle/>
                  <a:p>
                    <a:endParaRPr lang="zh-CN" altLang="en-US"/>
                  </a:p>
                </p:txBody>
              </p:sp>
              <p:sp>
                <p:nvSpPr>
                  <p:cNvPr id="1129530" name="Text Box 58"/>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302</a:t>
                    </a:r>
                  </a:p>
                </p:txBody>
              </p:sp>
            </p:grpSp>
          </p:grpSp>
          <p:grpSp>
            <p:nvGrpSpPr>
              <p:cNvPr id="1129531" name="Group 59"/>
              <p:cNvGrpSpPr>
                <a:grpSpLocks/>
              </p:cNvGrpSpPr>
              <p:nvPr/>
            </p:nvGrpSpPr>
            <p:grpSpPr bwMode="auto">
              <a:xfrm>
                <a:off x="806" y="2189"/>
                <a:ext cx="1717" cy="255"/>
                <a:chOff x="785" y="3221"/>
                <a:chExt cx="1717" cy="255"/>
              </a:xfrm>
            </p:grpSpPr>
            <p:grpSp>
              <p:nvGrpSpPr>
                <p:cNvPr id="1129532" name="Group 60"/>
                <p:cNvGrpSpPr>
                  <a:grpSpLocks/>
                </p:cNvGrpSpPr>
                <p:nvPr/>
              </p:nvGrpSpPr>
              <p:grpSpPr bwMode="auto">
                <a:xfrm>
                  <a:off x="785" y="3221"/>
                  <a:ext cx="816" cy="254"/>
                  <a:chOff x="785" y="3221"/>
                  <a:chExt cx="816" cy="254"/>
                </a:xfrm>
              </p:grpSpPr>
              <p:sp>
                <p:nvSpPr>
                  <p:cNvPr id="1129533" name="Rectangle 61"/>
                  <p:cNvSpPr>
                    <a:spLocks noChangeArrowheads="1"/>
                  </p:cNvSpPr>
                  <p:nvPr/>
                </p:nvSpPr>
                <p:spPr bwMode="auto">
                  <a:xfrm>
                    <a:off x="1102" y="3249"/>
                    <a:ext cx="499" cy="226"/>
                  </a:xfrm>
                  <a:prstGeom prst="rect">
                    <a:avLst/>
                  </a:prstGeom>
                  <a:solidFill>
                    <a:srgbClr val="F0E5B7"/>
                  </a:solidFill>
                  <a:ln w="9525">
                    <a:solidFill>
                      <a:schemeClr val="tx1"/>
                    </a:solidFill>
                    <a:miter lim="800000"/>
                    <a:headEnd/>
                    <a:tailEnd/>
                  </a:ln>
                  <a:effectLst/>
                </p:spPr>
                <p:txBody>
                  <a:bodyPr wrap="none" anchor="ctr"/>
                  <a:lstStyle/>
                  <a:p>
                    <a:endParaRPr lang="zh-CN" altLang="en-US"/>
                  </a:p>
                </p:txBody>
              </p:sp>
              <p:sp>
                <p:nvSpPr>
                  <p:cNvPr id="1129534" name="Text Box 62"/>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401</a:t>
                    </a:r>
                  </a:p>
                </p:txBody>
              </p:sp>
            </p:grpSp>
            <p:grpSp>
              <p:nvGrpSpPr>
                <p:cNvPr id="1129535" name="Group 63"/>
                <p:cNvGrpSpPr>
                  <a:grpSpLocks/>
                </p:cNvGrpSpPr>
                <p:nvPr/>
              </p:nvGrpSpPr>
              <p:grpSpPr bwMode="auto">
                <a:xfrm>
                  <a:off x="1686" y="3222"/>
                  <a:ext cx="816" cy="254"/>
                  <a:chOff x="785" y="3221"/>
                  <a:chExt cx="816" cy="254"/>
                </a:xfrm>
              </p:grpSpPr>
              <p:sp>
                <p:nvSpPr>
                  <p:cNvPr id="1129536" name="Rectangle 64"/>
                  <p:cNvSpPr>
                    <a:spLocks noChangeArrowheads="1"/>
                  </p:cNvSpPr>
                  <p:nvPr/>
                </p:nvSpPr>
                <p:spPr bwMode="auto">
                  <a:xfrm>
                    <a:off x="1102" y="3249"/>
                    <a:ext cx="499" cy="226"/>
                  </a:xfrm>
                  <a:prstGeom prst="rect">
                    <a:avLst/>
                  </a:prstGeom>
                  <a:solidFill>
                    <a:srgbClr val="F0E5B7"/>
                  </a:solidFill>
                  <a:ln w="9525">
                    <a:solidFill>
                      <a:schemeClr val="tx1"/>
                    </a:solidFill>
                    <a:miter lim="800000"/>
                    <a:headEnd/>
                    <a:tailEnd/>
                  </a:ln>
                  <a:effectLst/>
                </p:spPr>
                <p:txBody>
                  <a:bodyPr wrap="none" anchor="ctr"/>
                  <a:lstStyle/>
                  <a:p>
                    <a:endParaRPr lang="zh-CN" altLang="en-US"/>
                  </a:p>
                </p:txBody>
              </p:sp>
              <p:sp>
                <p:nvSpPr>
                  <p:cNvPr id="1129537" name="Text Box 65"/>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402</a:t>
                    </a:r>
                  </a:p>
                </p:txBody>
              </p:sp>
            </p:grpSp>
          </p:grpSp>
          <p:grpSp>
            <p:nvGrpSpPr>
              <p:cNvPr id="1129538" name="Group 66"/>
              <p:cNvGrpSpPr>
                <a:grpSpLocks/>
              </p:cNvGrpSpPr>
              <p:nvPr/>
            </p:nvGrpSpPr>
            <p:grpSpPr bwMode="auto">
              <a:xfrm>
                <a:off x="798" y="1866"/>
                <a:ext cx="1717" cy="255"/>
                <a:chOff x="785" y="3221"/>
                <a:chExt cx="1717" cy="255"/>
              </a:xfrm>
            </p:grpSpPr>
            <p:grpSp>
              <p:nvGrpSpPr>
                <p:cNvPr id="1129539" name="Group 67"/>
                <p:cNvGrpSpPr>
                  <a:grpSpLocks/>
                </p:cNvGrpSpPr>
                <p:nvPr/>
              </p:nvGrpSpPr>
              <p:grpSpPr bwMode="auto">
                <a:xfrm>
                  <a:off x="785" y="3221"/>
                  <a:ext cx="816" cy="254"/>
                  <a:chOff x="785" y="3221"/>
                  <a:chExt cx="816" cy="254"/>
                </a:xfrm>
              </p:grpSpPr>
              <p:sp>
                <p:nvSpPr>
                  <p:cNvPr id="1129540" name="Rectangle 68"/>
                  <p:cNvSpPr>
                    <a:spLocks noChangeArrowheads="1"/>
                  </p:cNvSpPr>
                  <p:nvPr/>
                </p:nvSpPr>
                <p:spPr bwMode="auto">
                  <a:xfrm>
                    <a:off x="1102" y="3249"/>
                    <a:ext cx="499" cy="226"/>
                  </a:xfrm>
                  <a:prstGeom prst="rect">
                    <a:avLst/>
                  </a:prstGeom>
                  <a:solidFill>
                    <a:srgbClr val="F0E5B7"/>
                  </a:solidFill>
                  <a:ln w="9525">
                    <a:solidFill>
                      <a:schemeClr val="tx1"/>
                    </a:solidFill>
                    <a:miter lim="800000"/>
                    <a:headEnd/>
                    <a:tailEnd/>
                  </a:ln>
                  <a:effectLst/>
                </p:spPr>
                <p:txBody>
                  <a:bodyPr wrap="none" anchor="ctr"/>
                  <a:lstStyle/>
                  <a:p>
                    <a:endParaRPr lang="zh-CN" altLang="en-US"/>
                  </a:p>
                </p:txBody>
              </p:sp>
              <p:sp>
                <p:nvSpPr>
                  <p:cNvPr id="1129541" name="Text Box 69"/>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501</a:t>
                    </a:r>
                  </a:p>
                </p:txBody>
              </p:sp>
            </p:grpSp>
            <p:grpSp>
              <p:nvGrpSpPr>
                <p:cNvPr id="1129542" name="Group 70"/>
                <p:cNvGrpSpPr>
                  <a:grpSpLocks/>
                </p:cNvGrpSpPr>
                <p:nvPr/>
              </p:nvGrpSpPr>
              <p:grpSpPr bwMode="auto">
                <a:xfrm>
                  <a:off x="1686" y="3222"/>
                  <a:ext cx="816" cy="254"/>
                  <a:chOff x="785" y="3221"/>
                  <a:chExt cx="816" cy="254"/>
                </a:xfrm>
              </p:grpSpPr>
              <p:sp>
                <p:nvSpPr>
                  <p:cNvPr id="1129543" name="Rectangle 71"/>
                  <p:cNvSpPr>
                    <a:spLocks noChangeArrowheads="1"/>
                  </p:cNvSpPr>
                  <p:nvPr/>
                </p:nvSpPr>
                <p:spPr bwMode="auto">
                  <a:xfrm>
                    <a:off x="1102" y="3249"/>
                    <a:ext cx="499" cy="226"/>
                  </a:xfrm>
                  <a:prstGeom prst="rect">
                    <a:avLst/>
                  </a:prstGeom>
                  <a:solidFill>
                    <a:srgbClr val="F0E5B7"/>
                  </a:solidFill>
                  <a:ln w="9525">
                    <a:solidFill>
                      <a:schemeClr val="tx1"/>
                    </a:solidFill>
                    <a:miter lim="800000"/>
                    <a:headEnd/>
                    <a:tailEnd/>
                  </a:ln>
                  <a:effectLst/>
                </p:spPr>
                <p:txBody>
                  <a:bodyPr wrap="none" anchor="ctr"/>
                  <a:lstStyle/>
                  <a:p>
                    <a:endParaRPr lang="zh-CN" altLang="en-US"/>
                  </a:p>
                </p:txBody>
              </p:sp>
              <p:sp>
                <p:nvSpPr>
                  <p:cNvPr id="1129544" name="Text Box 72"/>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502</a:t>
                    </a:r>
                  </a:p>
                </p:txBody>
              </p:sp>
            </p:grpSp>
          </p:grpSp>
          <p:grpSp>
            <p:nvGrpSpPr>
              <p:cNvPr id="1129545" name="Group 73"/>
              <p:cNvGrpSpPr>
                <a:grpSpLocks/>
              </p:cNvGrpSpPr>
              <p:nvPr/>
            </p:nvGrpSpPr>
            <p:grpSpPr bwMode="auto">
              <a:xfrm>
                <a:off x="808" y="1534"/>
                <a:ext cx="1717" cy="255"/>
                <a:chOff x="785" y="3221"/>
                <a:chExt cx="1717" cy="255"/>
              </a:xfrm>
            </p:grpSpPr>
            <p:grpSp>
              <p:nvGrpSpPr>
                <p:cNvPr id="1129546" name="Group 74"/>
                <p:cNvGrpSpPr>
                  <a:grpSpLocks/>
                </p:cNvGrpSpPr>
                <p:nvPr/>
              </p:nvGrpSpPr>
              <p:grpSpPr bwMode="auto">
                <a:xfrm>
                  <a:off x="785" y="3221"/>
                  <a:ext cx="816" cy="254"/>
                  <a:chOff x="785" y="3221"/>
                  <a:chExt cx="816" cy="254"/>
                </a:xfrm>
              </p:grpSpPr>
              <p:sp>
                <p:nvSpPr>
                  <p:cNvPr id="1129547" name="Rectangle 75"/>
                  <p:cNvSpPr>
                    <a:spLocks noChangeArrowheads="1"/>
                  </p:cNvSpPr>
                  <p:nvPr/>
                </p:nvSpPr>
                <p:spPr bwMode="auto">
                  <a:xfrm>
                    <a:off x="1102" y="3249"/>
                    <a:ext cx="499" cy="226"/>
                  </a:xfrm>
                  <a:prstGeom prst="rect">
                    <a:avLst/>
                  </a:prstGeom>
                  <a:solidFill>
                    <a:srgbClr val="F0E5B7"/>
                  </a:solidFill>
                  <a:ln w="9525">
                    <a:solidFill>
                      <a:schemeClr val="tx1"/>
                    </a:solidFill>
                    <a:miter lim="800000"/>
                    <a:headEnd/>
                    <a:tailEnd/>
                  </a:ln>
                  <a:effectLst/>
                </p:spPr>
                <p:txBody>
                  <a:bodyPr wrap="none" anchor="ctr"/>
                  <a:lstStyle/>
                  <a:p>
                    <a:endParaRPr lang="zh-CN" altLang="en-US"/>
                  </a:p>
                </p:txBody>
              </p:sp>
              <p:sp>
                <p:nvSpPr>
                  <p:cNvPr id="1129548" name="Text Box 76"/>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601</a:t>
                    </a:r>
                  </a:p>
                </p:txBody>
              </p:sp>
            </p:grpSp>
            <p:grpSp>
              <p:nvGrpSpPr>
                <p:cNvPr id="1129549" name="Group 77"/>
                <p:cNvGrpSpPr>
                  <a:grpSpLocks/>
                </p:cNvGrpSpPr>
                <p:nvPr/>
              </p:nvGrpSpPr>
              <p:grpSpPr bwMode="auto">
                <a:xfrm>
                  <a:off x="1686" y="3222"/>
                  <a:ext cx="816" cy="254"/>
                  <a:chOff x="785" y="3221"/>
                  <a:chExt cx="816" cy="254"/>
                </a:xfrm>
              </p:grpSpPr>
              <p:sp>
                <p:nvSpPr>
                  <p:cNvPr id="1129550" name="Rectangle 78"/>
                  <p:cNvSpPr>
                    <a:spLocks noChangeArrowheads="1"/>
                  </p:cNvSpPr>
                  <p:nvPr/>
                </p:nvSpPr>
                <p:spPr bwMode="auto">
                  <a:xfrm>
                    <a:off x="1102" y="3249"/>
                    <a:ext cx="499" cy="226"/>
                  </a:xfrm>
                  <a:prstGeom prst="rect">
                    <a:avLst/>
                  </a:prstGeom>
                  <a:solidFill>
                    <a:srgbClr val="F0E5B7"/>
                  </a:solidFill>
                  <a:ln w="9525">
                    <a:solidFill>
                      <a:schemeClr val="tx1"/>
                    </a:solidFill>
                    <a:miter lim="800000"/>
                    <a:headEnd/>
                    <a:tailEnd/>
                  </a:ln>
                  <a:effectLst/>
                </p:spPr>
                <p:txBody>
                  <a:bodyPr wrap="none" anchor="ctr"/>
                  <a:lstStyle/>
                  <a:p>
                    <a:endParaRPr lang="zh-CN" altLang="en-US"/>
                  </a:p>
                </p:txBody>
              </p:sp>
              <p:sp>
                <p:nvSpPr>
                  <p:cNvPr id="1129551" name="Text Box 79"/>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602</a:t>
                    </a:r>
                  </a:p>
                </p:txBody>
              </p:sp>
            </p:grpSp>
          </p:grpSp>
        </p:grpSp>
        <p:sp>
          <p:nvSpPr>
            <p:cNvPr id="1129552" name="Text Box 80"/>
            <p:cNvSpPr txBox="1">
              <a:spLocks noChangeArrowheads="1"/>
            </p:cNvSpPr>
            <p:nvPr/>
          </p:nvSpPr>
          <p:spPr bwMode="auto">
            <a:xfrm>
              <a:off x="1257" y="601"/>
              <a:ext cx="817" cy="288"/>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zh-CN" altLang="en-US" u="sng" dirty="0">
                  <a:solidFill>
                    <a:srgbClr val="C00000"/>
                  </a:solidFill>
                  <a:ea typeface="隶书" pitchFamily="49" charset="-122"/>
                </a:rPr>
                <a:t>教学楼</a:t>
              </a:r>
            </a:p>
          </p:txBody>
        </p:sp>
      </p:grpSp>
      <p:grpSp>
        <p:nvGrpSpPr>
          <p:cNvPr id="1129553" name="Group 81"/>
          <p:cNvGrpSpPr>
            <a:grpSpLocks/>
          </p:cNvGrpSpPr>
          <p:nvPr/>
        </p:nvGrpSpPr>
        <p:grpSpPr bwMode="auto">
          <a:xfrm>
            <a:off x="1195463" y="5546552"/>
            <a:ext cx="2478087" cy="1195387"/>
            <a:chOff x="349" y="3403"/>
            <a:chExt cx="1561" cy="753"/>
          </a:xfrm>
        </p:grpSpPr>
        <p:sp>
          <p:nvSpPr>
            <p:cNvPr id="1129554" name="Oval 82"/>
            <p:cNvSpPr>
              <a:spLocks noChangeArrowheads="1"/>
            </p:cNvSpPr>
            <p:nvPr/>
          </p:nvSpPr>
          <p:spPr bwMode="auto">
            <a:xfrm>
              <a:off x="1638" y="3403"/>
              <a:ext cx="272" cy="181"/>
            </a:xfrm>
            <a:prstGeom prst="ellipse">
              <a:avLst/>
            </a:prstGeom>
            <a:noFill/>
            <a:ln w="28575">
              <a:solidFill>
                <a:srgbClr val="002060"/>
              </a:solidFill>
              <a:round/>
              <a:headEnd/>
              <a:tailEnd/>
            </a:ln>
            <a:effectLst>
              <a:outerShdw blurRad="50800" dist="38100" dir="2700000" algn="tl" rotWithShape="0">
                <a:prstClr val="black">
                  <a:alpha val="40000"/>
                </a:prstClr>
              </a:outerShdw>
            </a:effectLst>
          </p:spPr>
          <p:txBody>
            <a:bodyPr wrap="none" anchor="ctr"/>
            <a:lstStyle/>
            <a:p>
              <a:endParaRPr lang="zh-CN" altLang="en-US">
                <a:latin typeface="+mn-lt"/>
                <a:ea typeface="楷体" pitchFamily="49" charset="-122"/>
              </a:endParaRPr>
            </a:p>
          </p:txBody>
        </p:sp>
        <p:sp>
          <p:nvSpPr>
            <p:cNvPr id="1129555" name="AutoShape 83"/>
            <p:cNvSpPr>
              <a:spLocks/>
            </p:cNvSpPr>
            <p:nvPr/>
          </p:nvSpPr>
          <p:spPr bwMode="auto">
            <a:xfrm>
              <a:off x="349" y="3884"/>
              <a:ext cx="771" cy="272"/>
            </a:xfrm>
            <a:prstGeom prst="borderCallout2">
              <a:avLst>
                <a:gd name="adj1" fmla="val 26472"/>
                <a:gd name="adj2" fmla="val 106227"/>
                <a:gd name="adj3" fmla="val 26472"/>
                <a:gd name="adj4" fmla="val 138005"/>
                <a:gd name="adj5" fmla="val -120222"/>
                <a:gd name="adj6" fmla="val 169907"/>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b="1">
                  <a:solidFill>
                    <a:srgbClr val="C00000"/>
                  </a:solidFill>
                  <a:latin typeface="+mn-lt"/>
                  <a:ea typeface="楷体" pitchFamily="49" charset="-122"/>
                </a:rPr>
                <a:t>教室号码</a:t>
              </a:r>
            </a:p>
          </p:txBody>
        </p:sp>
      </p:grpSp>
      <p:grpSp>
        <p:nvGrpSpPr>
          <p:cNvPr id="1129556" name="Group 84"/>
          <p:cNvGrpSpPr>
            <a:grpSpLocks/>
          </p:cNvGrpSpPr>
          <p:nvPr/>
        </p:nvGrpSpPr>
        <p:grpSpPr bwMode="auto">
          <a:xfrm>
            <a:off x="5408547" y="1685751"/>
            <a:ext cx="2117725" cy="1371600"/>
            <a:chOff x="2417" y="971"/>
            <a:chExt cx="1334" cy="864"/>
          </a:xfrm>
        </p:grpSpPr>
        <p:sp>
          <p:nvSpPr>
            <p:cNvPr id="1129557" name="Oval 85"/>
            <p:cNvSpPr>
              <a:spLocks noChangeArrowheads="1"/>
            </p:cNvSpPr>
            <p:nvPr/>
          </p:nvSpPr>
          <p:spPr bwMode="auto">
            <a:xfrm>
              <a:off x="3343" y="1653"/>
              <a:ext cx="408" cy="182"/>
            </a:xfrm>
            <a:prstGeom prst="ellipse">
              <a:avLst/>
            </a:prstGeom>
            <a:noFill/>
            <a:ln w="28575">
              <a:solidFill>
                <a:srgbClr val="C00000"/>
              </a:solidFill>
              <a:round/>
              <a:headEnd/>
              <a:tailEnd/>
            </a:ln>
            <a:effectLst>
              <a:outerShdw blurRad="50800" dist="38100" dir="2700000" algn="tl" rotWithShape="0">
                <a:prstClr val="black">
                  <a:alpha val="40000"/>
                </a:prstClr>
              </a:outerShdw>
            </a:effectLst>
          </p:spPr>
          <p:txBody>
            <a:bodyPr wrap="none" anchor="ctr"/>
            <a:lstStyle/>
            <a:p>
              <a:endParaRPr lang="zh-CN" altLang="en-US">
                <a:latin typeface="+mn-lt"/>
                <a:ea typeface="楷体" pitchFamily="49" charset="-122"/>
              </a:endParaRPr>
            </a:p>
          </p:txBody>
        </p:sp>
        <p:sp>
          <p:nvSpPr>
            <p:cNvPr id="1129558" name="AutoShape 86"/>
            <p:cNvSpPr>
              <a:spLocks/>
            </p:cNvSpPr>
            <p:nvPr/>
          </p:nvSpPr>
          <p:spPr bwMode="auto">
            <a:xfrm>
              <a:off x="2417" y="971"/>
              <a:ext cx="771" cy="260"/>
            </a:xfrm>
            <a:prstGeom prst="borderCallout2">
              <a:avLst>
                <a:gd name="adj1" fmla="val 26472"/>
                <a:gd name="adj2" fmla="val 106227"/>
                <a:gd name="adj3" fmla="val 26472"/>
                <a:gd name="adj4" fmla="val 124255"/>
                <a:gd name="adj5" fmla="val 243750"/>
                <a:gd name="adj6" fmla="val 142412"/>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b="1" dirty="0">
                  <a:solidFill>
                    <a:srgbClr val="C00000"/>
                  </a:solidFill>
                  <a:latin typeface="+mn-lt"/>
                  <a:ea typeface="楷体" pitchFamily="49" charset="-122"/>
                </a:rPr>
                <a:t>存储地址</a:t>
              </a:r>
            </a:p>
          </p:txBody>
        </p:sp>
      </p:grpSp>
      <p:sp>
        <p:nvSpPr>
          <p:cNvPr id="1129559" name="Line 87"/>
          <p:cNvSpPr>
            <a:spLocks noChangeShapeType="1"/>
          </p:cNvSpPr>
          <p:nvPr/>
        </p:nvSpPr>
        <p:spPr bwMode="auto">
          <a:xfrm flipV="1">
            <a:off x="3586237" y="3033825"/>
            <a:ext cx="3341546" cy="2511138"/>
          </a:xfrm>
          <a:prstGeom prst="line">
            <a:avLst/>
          </a:prstGeom>
          <a:noFill/>
          <a:ln w="19050">
            <a:solidFill>
              <a:schemeClr val="accent1">
                <a:lumMod val="50000"/>
              </a:schemeClr>
            </a:solidFill>
            <a:round/>
            <a:headEnd type="triangle" w="med" len="med"/>
            <a:tailEnd type="stealth" w="lg" len="lg"/>
          </a:ln>
          <a:effectLst>
            <a:outerShdw dist="35921" dir="2700000" algn="ctr" rotWithShape="0">
              <a:schemeClr val="bg2"/>
            </a:outerShdw>
          </a:effectLst>
        </p:spPr>
        <p:txBody>
          <a:bodyPr/>
          <a:lstStyle/>
          <a:p>
            <a:endParaRPr lang="zh-CN" altLang="en-US"/>
          </a:p>
        </p:txBody>
      </p:sp>
      <p:sp>
        <p:nvSpPr>
          <p:cNvPr id="1129560" name="AutoShape 88"/>
          <p:cNvSpPr>
            <a:spLocks/>
          </p:cNvSpPr>
          <p:nvPr/>
        </p:nvSpPr>
        <p:spPr bwMode="auto">
          <a:xfrm>
            <a:off x="2960763" y="6381576"/>
            <a:ext cx="841375" cy="431800"/>
          </a:xfrm>
          <a:prstGeom prst="borderCallout2">
            <a:avLst>
              <a:gd name="adj1" fmla="val 26472"/>
              <a:gd name="adj2" fmla="val 109056"/>
              <a:gd name="adj3" fmla="val 26472"/>
              <a:gd name="adj4" fmla="val 126417"/>
              <a:gd name="adj5" fmla="val -155514"/>
              <a:gd name="adj6" fmla="val 144153"/>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b="1">
                <a:solidFill>
                  <a:srgbClr val="C00000"/>
                </a:solidFill>
                <a:latin typeface="+mn-lt"/>
                <a:ea typeface="楷体" pitchFamily="49" charset="-122"/>
              </a:rPr>
              <a:t>教室</a:t>
            </a:r>
          </a:p>
        </p:txBody>
      </p:sp>
      <p:grpSp>
        <p:nvGrpSpPr>
          <p:cNvPr id="1129561" name="Group 89"/>
          <p:cNvGrpSpPr>
            <a:grpSpLocks/>
          </p:cNvGrpSpPr>
          <p:nvPr/>
        </p:nvGrpSpPr>
        <p:grpSpPr bwMode="auto">
          <a:xfrm>
            <a:off x="7699308" y="1844501"/>
            <a:ext cx="2878138" cy="1257300"/>
            <a:chOff x="3860" y="1071"/>
            <a:chExt cx="1813" cy="792"/>
          </a:xfrm>
        </p:grpSpPr>
        <p:sp>
          <p:nvSpPr>
            <p:cNvPr id="1129562" name="Rectangle 90"/>
            <p:cNvSpPr>
              <a:spLocks noChangeArrowheads="1"/>
            </p:cNvSpPr>
            <p:nvPr/>
          </p:nvSpPr>
          <p:spPr bwMode="auto">
            <a:xfrm>
              <a:off x="3860" y="1616"/>
              <a:ext cx="1190" cy="247"/>
            </a:xfrm>
            <a:prstGeom prst="rect">
              <a:avLst/>
            </a:prstGeom>
            <a:solidFill>
              <a:srgbClr val="FFCC99"/>
            </a:solidFill>
            <a:ln w="9525">
              <a:solidFill>
                <a:schemeClr val="tx1"/>
              </a:solidFill>
              <a:miter lim="800000"/>
              <a:headEnd/>
              <a:tailEnd/>
            </a:ln>
            <a:effectLst/>
          </p:spPr>
          <p:txBody>
            <a:bodyPr wrap="none" anchor="ctr"/>
            <a:lstStyle/>
            <a:p>
              <a:endParaRPr lang="zh-CN" altLang="en-US">
                <a:latin typeface="+mn-lt"/>
                <a:ea typeface="楷体" pitchFamily="49" charset="-122"/>
              </a:endParaRPr>
            </a:p>
          </p:txBody>
        </p:sp>
        <p:sp>
          <p:nvSpPr>
            <p:cNvPr id="1129563" name="AutoShape 91"/>
            <p:cNvSpPr>
              <a:spLocks/>
            </p:cNvSpPr>
            <p:nvPr/>
          </p:nvSpPr>
          <p:spPr bwMode="auto">
            <a:xfrm>
              <a:off x="5175" y="1071"/>
              <a:ext cx="498" cy="408"/>
            </a:xfrm>
            <a:prstGeom prst="borderCallout2">
              <a:avLst>
                <a:gd name="adj1" fmla="val 17648"/>
                <a:gd name="adj2" fmla="val -9639"/>
                <a:gd name="adj3" fmla="val 17648"/>
                <a:gd name="adj4" fmla="val -39560"/>
                <a:gd name="adj5" fmla="val 155148"/>
                <a:gd name="adj6" fmla="val -70481"/>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b="1" dirty="0">
                  <a:solidFill>
                    <a:srgbClr val="C00000"/>
                  </a:solidFill>
                  <a:latin typeface="+mn-lt"/>
                  <a:ea typeface="楷体" pitchFamily="49" charset="-122"/>
                </a:rPr>
                <a:t>存储单元</a:t>
              </a:r>
            </a:p>
          </p:txBody>
        </p:sp>
      </p:grpSp>
      <p:sp>
        <p:nvSpPr>
          <p:cNvPr id="1129564" name="Line 92"/>
          <p:cNvSpPr>
            <a:spLocks noChangeShapeType="1"/>
          </p:cNvSpPr>
          <p:nvPr/>
        </p:nvSpPr>
        <p:spPr bwMode="auto">
          <a:xfrm>
            <a:off x="3954437" y="1366981"/>
            <a:ext cx="4221121" cy="0"/>
          </a:xfrm>
          <a:prstGeom prst="line">
            <a:avLst/>
          </a:prstGeom>
          <a:noFill/>
          <a:ln w="19050">
            <a:solidFill>
              <a:schemeClr val="accent1">
                <a:lumMod val="50000"/>
              </a:schemeClr>
            </a:solidFill>
            <a:round/>
            <a:headEnd type="triangle" w="med" len="med"/>
            <a:tailEnd type="stealth" w="lg" len="lg"/>
          </a:ln>
          <a:effectLst>
            <a:outerShdw dist="35921" dir="2700000" algn="ctr" rotWithShape="0">
              <a:schemeClr val="bg2"/>
            </a:outerShdw>
          </a:effectLst>
        </p:spPr>
        <p:txBody>
          <a:bodyPr/>
          <a:lstStyle/>
          <a:p>
            <a:endParaRPr lang="zh-CN" altLang="en-US"/>
          </a:p>
        </p:txBody>
      </p:sp>
      <p:sp>
        <p:nvSpPr>
          <p:cNvPr id="1129565" name="AutoShape 93"/>
          <p:cNvSpPr>
            <a:spLocks noChangeArrowheads="1"/>
          </p:cNvSpPr>
          <p:nvPr/>
        </p:nvSpPr>
        <p:spPr bwMode="auto">
          <a:xfrm>
            <a:off x="4963244" y="6165676"/>
            <a:ext cx="1943521" cy="576262"/>
          </a:xfrm>
          <a:prstGeom prst="wedgeEllipseCallout">
            <a:avLst>
              <a:gd name="adj1" fmla="val -86644"/>
              <a:gd name="adj2" fmla="val -126861"/>
            </a:avLst>
          </a:prstGeom>
          <a:gradFill rotWithShape="1">
            <a:gsLst>
              <a:gs pos="0">
                <a:srgbClr val="CFCFD1"/>
              </a:gs>
              <a:gs pos="100000">
                <a:schemeClr val="bg1"/>
              </a:gs>
            </a:gsLst>
            <a:lin ang="5400000" scaled="1"/>
          </a:gradFill>
          <a:ln w="19050">
            <a:solidFill>
              <a:srgbClr val="00206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b="1" dirty="0">
                <a:solidFill>
                  <a:srgbClr val="C00000"/>
                </a:solidFill>
                <a:latin typeface="+mn-lt"/>
                <a:ea typeface="楷体" pitchFamily="49" charset="-122"/>
              </a:rPr>
              <a:t>教室有容量</a:t>
            </a:r>
          </a:p>
        </p:txBody>
      </p:sp>
      <p:sp>
        <p:nvSpPr>
          <p:cNvPr id="1129566" name="AutoShape 94"/>
          <p:cNvSpPr>
            <a:spLocks noChangeArrowheads="1"/>
          </p:cNvSpPr>
          <p:nvPr/>
        </p:nvSpPr>
        <p:spPr bwMode="auto">
          <a:xfrm>
            <a:off x="9664947" y="3789189"/>
            <a:ext cx="2195512" cy="1247769"/>
          </a:xfrm>
          <a:prstGeom prst="wedgeEllipseCallout">
            <a:avLst>
              <a:gd name="adj1" fmla="val -71578"/>
              <a:gd name="adj2" fmla="val -117009"/>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p:spPr>
        <p:txBody>
          <a:bodyPr/>
          <a:lstStyle/>
          <a:p>
            <a:pPr>
              <a:lnSpc>
                <a:spcPct val="100000"/>
              </a:lnSpc>
              <a:spcBef>
                <a:spcPct val="0"/>
              </a:spcBef>
            </a:pPr>
            <a:r>
              <a:rPr lang="zh-CN" altLang="en-US" sz="1800" b="1">
                <a:solidFill>
                  <a:srgbClr val="C00000"/>
                </a:solidFill>
                <a:latin typeface="+mn-lt"/>
                <a:ea typeface="楷体" pitchFamily="49" charset="-122"/>
              </a:rPr>
              <a:t>存储单元有大小</a:t>
            </a:r>
            <a:r>
              <a:rPr lang="en-US" altLang="zh-CN" sz="1800" b="1">
                <a:solidFill>
                  <a:srgbClr val="C00000"/>
                </a:solidFill>
                <a:latin typeface="+mn-lt"/>
                <a:ea typeface="楷体" pitchFamily="49" charset="-122"/>
              </a:rPr>
              <a:t>(</a:t>
            </a:r>
            <a:r>
              <a:rPr lang="zh-CN" altLang="en-US" sz="1800" b="1">
                <a:solidFill>
                  <a:srgbClr val="C00000"/>
                </a:solidFill>
                <a:latin typeface="+mn-lt"/>
                <a:ea typeface="楷体" pitchFamily="49" charset="-122"/>
              </a:rPr>
              <a:t>字节单元、字单元</a:t>
            </a:r>
            <a:r>
              <a:rPr lang="en-US" altLang="zh-CN" sz="1800" b="1">
                <a:solidFill>
                  <a:srgbClr val="C00000"/>
                </a:solidFill>
                <a:latin typeface="+mn-lt"/>
                <a:ea typeface="楷体" pitchFamily="49" charset="-122"/>
              </a:rPr>
              <a:t>)</a:t>
            </a:r>
          </a:p>
        </p:txBody>
      </p:sp>
      <p:grpSp>
        <p:nvGrpSpPr>
          <p:cNvPr id="1129567" name="Group 95"/>
          <p:cNvGrpSpPr>
            <a:grpSpLocks/>
          </p:cNvGrpSpPr>
          <p:nvPr/>
        </p:nvGrpSpPr>
        <p:grpSpPr bwMode="auto">
          <a:xfrm>
            <a:off x="5683186" y="2695401"/>
            <a:ext cx="3287716" cy="2432050"/>
            <a:chOff x="2590" y="1607"/>
            <a:chExt cx="2071" cy="1532"/>
          </a:xfrm>
        </p:grpSpPr>
        <p:grpSp>
          <p:nvGrpSpPr>
            <p:cNvPr id="1129568" name="Group 96"/>
            <p:cNvGrpSpPr>
              <a:grpSpLocks/>
            </p:cNvGrpSpPr>
            <p:nvPr/>
          </p:nvGrpSpPr>
          <p:grpSpPr bwMode="auto">
            <a:xfrm>
              <a:off x="4253" y="1607"/>
              <a:ext cx="408" cy="250"/>
              <a:chOff x="4253" y="1607"/>
              <a:chExt cx="408" cy="250"/>
            </a:xfrm>
          </p:grpSpPr>
          <p:sp>
            <p:nvSpPr>
              <p:cNvPr id="1129569" name="Text Box 97"/>
              <p:cNvSpPr txBox="1">
                <a:spLocks noChangeArrowheads="1"/>
              </p:cNvSpPr>
              <p:nvPr/>
            </p:nvSpPr>
            <p:spPr bwMode="auto">
              <a:xfrm>
                <a:off x="4305" y="1607"/>
                <a:ext cx="318"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002060"/>
                    </a:solidFill>
                    <a:ea typeface="宋体" pitchFamily="2" charset="-122"/>
                  </a:rPr>
                  <a:t>50</a:t>
                </a:r>
              </a:p>
            </p:txBody>
          </p:sp>
          <p:sp>
            <p:nvSpPr>
              <p:cNvPr id="1129570" name="Oval 98"/>
              <p:cNvSpPr>
                <a:spLocks noChangeArrowheads="1"/>
              </p:cNvSpPr>
              <p:nvPr/>
            </p:nvSpPr>
            <p:spPr bwMode="auto">
              <a:xfrm>
                <a:off x="4253" y="1640"/>
                <a:ext cx="408" cy="182"/>
              </a:xfrm>
              <a:prstGeom prst="ellipse">
                <a:avLst/>
              </a:prstGeom>
              <a:noFill/>
              <a:ln w="28575">
                <a:solidFill>
                  <a:srgbClr val="C00000"/>
                </a:solidFill>
                <a:round/>
                <a:headEnd/>
                <a:tailEnd/>
              </a:ln>
              <a:effectLst>
                <a:outerShdw blurRad="50800" dist="38100" dir="2700000" algn="tl" rotWithShape="0">
                  <a:prstClr val="black">
                    <a:alpha val="40000"/>
                  </a:prstClr>
                </a:outerShdw>
              </a:effectLst>
            </p:spPr>
            <p:txBody>
              <a:bodyPr wrap="none" anchor="ctr"/>
              <a:lstStyle/>
              <a:p>
                <a:endParaRPr lang="zh-CN" altLang="en-US" dirty="0"/>
              </a:p>
            </p:txBody>
          </p:sp>
        </p:grpSp>
        <p:sp>
          <p:nvSpPr>
            <p:cNvPr id="1129571" name="AutoShape 99"/>
            <p:cNvSpPr>
              <a:spLocks/>
            </p:cNvSpPr>
            <p:nvPr/>
          </p:nvSpPr>
          <p:spPr bwMode="auto">
            <a:xfrm>
              <a:off x="2590" y="2889"/>
              <a:ext cx="748" cy="250"/>
            </a:xfrm>
            <a:prstGeom prst="borderCallout2">
              <a:avLst>
                <a:gd name="adj1" fmla="val 17648"/>
                <a:gd name="adj2" fmla="val 109639"/>
                <a:gd name="adj3" fmla="val 17648"/>
                <a:gd name="adj4" fmla="val 194579"/>
                <a:gd name="adj5" fmla="val -427640"/>
                <a:gd name="adj6" fmla="val 239573"/>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b="1" dirty="0">
                  <a:solidFill>
                    <a:srgbClr val="C00000"/>
                  </a:solidFill>
                  <a:latin typeface="+mn-lt"/>
                  <a:ea typeface="楷体" pitchFamily="49" charset="-122"/>
                </a:rPr>
                <a:t>存储数据</a:t>
              </a:r>
            </a:p>
          </p:txBody>
        </p:sp>
      </p:grpSp>
      <p:sp>
        <p:nvSpPr>
          <p:cNvPr id="1129572" name="Line 100"/>
          <p:cNvSpPr>
            <a:spLocks noChangeShapeType="1"/>
          </p:cNvSpPr>
          <p:nvPr/>
        </p:nvSpPr>
        <p:spPr bwMode="auto">
          <a:xfrm flipV="1">
            <a:off x="4242469" y="2922410"/>
            <a:ext cx="3816424" cy="2752728"/>
          </a:xfrm>
          <a:prstGeom prst="line">
            <a:avLst/>
          </a:prstGeom>
          <a:noFill/>
          <a:ln w="19050">
            <a:solidFill>
              <a:schemeClr val="accent1">
                <a:lumMod val="50000"/>
              </a:schemeClr>
            </a:solidFill>
            <a:round/>
            <a:headEnd type="triangle" w="med" len="med"/>
            <a:tailEnd type="stealth" w="lg" len="lg"/>
          </a:ln>
          <a:effectLst>
            <a:outerShdw dist="35921" dir="2700000" algn="ctr" rotWithShape="0">
              <a:schemeClr val="bg2"/>
            </a:outerShdw>
          </a:effectLst>
        </p:spPr>
        <p:txBody>
          <a:bodyPr/>
          <a:lstStyle/>
          <a:p>
            <a:endParaRPr lang="zh-CN" altLang="en-US"/>
          </a:p>
        </p:txBody>
      </p:sp>
      <p:sp>
        <p:nvSpPr>
          <p:cNvPr id="1129573" name="Rectangle 101"/>
          <p:cNvSpPr>
            <a:spLocks noChangeArrowheads="1"/>
          </p:cNvSpPr>
          <p:nvPr/>
        </p:nvSpPr>
        <p:spPr bwMode="auto">
          <a:xfrm>
            <a:off x="2625659" y="4304985"/>
            <a:ext cx="6983412" cy="860425"/>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50000"/>
              </a:spcBef>
            </a:pPr>
            <a:r>
              <a:rPr lang="en-US" altLang="zh-CN" b="0" dirty="0">
                <a:solidFill>
                  <a:srgbClr val="C00000"/>
                </a:solidFill>
                <a:ea typeface="隶书" pitchFamily="49" charset="-122"/>
              </a:rPr>
              <a:t>        </a:t>
            </a:r>
            <a:r>
              <a:rPr lang="zh-CN" altLang="en-US" b="0" dirty="0">
                <a:solidFill>
                  <a:srgbClr val="C00000"/>
                </a:solidFill>
                <a:ea typeface="隶书" pitchFamily="49" charset="-122"/>
              </a:rPr>
              <a:t>注意：</a:t>
            </a:r>
            <a:r>
              <a:rPr lang="zh-CN" altLang="en-US" b="0" dirty="0">
                <a:solidFill>
                  <a:srgbClr val="000000"/>
                </a:solidFill>
                <a:ea typeface="隶书" pitchFamily="49" charset="-122"/>
              </a:rPr>
              <a:t>内存单元的地址与内存单元中的数据是两个完全不同的概念。</a:t>
            </a:r>
            <a:endParaRPr lang="zh-CN" altLang="en-US" b="0" dirty="0">
              <a:ea typeface="隶书" pitchFamily="49" charset="-122"/>
            </a:endParaRPr>
          </a:p>
        </p:txBody>
      </p:sp>
      <p:sp>
        <p:nvSpPr>
          <p:cNvPr id="103" name="Rectangle 4">
            <a:extLst>
              <a:ext uri="{FF2B5EF4-FFF2-40B4-BE49-F238E27FC236}">
                <a16:creationId xmlns:a16="http://schemas.microsoft.com/office/drawing/2014/main" id="{4D654F63-1DFA-4FC8-8D2D-C443D93A774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指针与指针变量的概念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9500"/>
                                        </p:tgtEl>
                                        <p:attrNameLst>
                                          <p:attrName>style.visibility</p:attrName>
                                        </p:attrNameLst>
                                      </p:cBhvr>
                                      <p:to>
                                        <p:strVal val="visible"/>
                                      </p:to>
                                    </p:set>
                                    <p:anim calcmode="lin" valueType="num">
                                      <p:cBhvr additive="base">
                                        <p:cTn id="7" dur="500" fill="hold"/>
                                        <p:tgtEl>
                                          <p:spTgt spid="1129500"/>
                                        </p:tgtEl>
                                        <p:attrNameLst>
                                          <p:attrName>ppt_x</p:attrName>
                                        </p:attrNameLst>
                                      </p:cBhvr>
                                      <p:tavLst>
                                        <p:tav tm="0">
                                          <p:val>
                                            <p:strVal val="0-#ppt_w/2"/>
                                          </p:val>
                                        </p:tav>
                                        <p:tav tm="100000">
                                          <p:val>
                                            <p:strVal val="#ppt_x"/>
                                          </p:val>
                                        </p:tav>
                                      </p:tavLst>
                                    </p:anim>
                                    <p:anim calcmode="lin" valueType="num">
                                      <p:cBhvr additive="base">
                                        <p:cTn id="8" dur="500" fill="hold"/>
                                        <p:tgtEl>
                                          <p:spTgt spid="112950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29504"/>
                                        </p:tgtEl>
                                        <p:attrNameLst>
                                          <p:attrName>style.visibility</p:attrName>
                                        </p:attrNameLst>
                                      </p:cBhvr>
                                      <p:to>
                                        <p:strVal val="visible"/>
                                      </p:to>
                                    </p:set>
                                    <p:animEffect transition="in" filter="box(out)">
                                      <p:cBhvr>
                                        <p:cTn id="13" dur="500"/>
                                        <p:tgtEl>
                                          <p:spTgt spid="112950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29474"/>
                                        </p:tgtEl>
                                        <p:attrNameLst>
                                          <p:attrName>style.visibility</p:attrName>
                                        </p:attrNameLst>
                                      </p:cBhvr>
                                      <p:to>
                                        <p:strVal val="visible"/>
                                      </p:to>
                                    </p:set>
                                    <p:animEffect transition="in" filter="box(out)">
                                      <p:cBhvr>
                                        <p:cTn id="18" dur="500"/>
                                        <p:tgtEl>
                                          <p:spTgt spid="1129474"/>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3" fill="hold" grpId="0" nodeType="clickEffect">
                                  <p:stCondLst>
                                    <p:cond delay="0"/>
                                  </p:stCondLst>
                                  <p:childTnLst>
                                    <p:set>
                                      <p:cBhvr>
                                        <p:cTn id="22" dur="1" fill="hold">
                                          <p:stCondLst>
                                            <p:cond delay="0"/>
                                          </p:stCondLst>
                                        </p:cTn>
                                        <p:tgtEl>
                                          <p:spTgt spid="1129564"/>
                                        </p:tgtEl>
                                        <p:attrNameLst>
                                          <p:attrName>style.visibility</p:attrName>
                                        </p:attrNameLst>
                                      </p:cBhvr>
                                      <p:to>
                                        <p:strVal val="visible"/>
                                      </p:to>
                                    </p:set>
                                    <p:animEffect transition="in" filter="strips(upRight)">
                                      <p:cBhvr>
                                        <p:cTn id="23" dur="500"/>
                                        <p:tgtEl>
                                          <p:spTgt spid="1129564"/>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1129553"/>
                                        </p:tgtEl>
                                        <p:attrNameLst>
                                          <p:attrName>style.visibility</p:attrName>
                                        </p:attrNameLst>
                                      </p:cBhvr>
                                      <p:to>
                                        <p:strVal val="visible"/>
                                      </p:to>
                                    </p:set>
                                    <p:animEffect transition="in" filter="strips(downLeft)">
                                      <p:cBhvr>
                                        <p:cTn id="28" dur="500"/>
                                        <p:tgtEl>
                                          <p:spTgt spid="1129553"/>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29" fill="hold">
                            <p:stCondLst>
                              <p:cond delay="500"/>
                            </p:stCondLst>
                            <p:childTnLst>
                              <p:par>
                                <p:cTn id="30" presetID="18" presetClass="entr" presetSubtype="3" fill="hold" grpId="0" nodeType="afterEffect">
                                  <p:stCondLst>
                                    <p:cond delay="0"/>
                                  </p:stCondLst>
                                  <p:childTnLst>
                                    <p:set>
                                      <p:cBhvr>
                                        <p:cTn id="31" dur="1" fill="hold">
                                          <p:stCondLst>
                                            <p:cond delay="0"/>
                                          </p:stCondLst>
                                        </p:cTn>
                                        <p:tgtEl>
                                          <p:spTgt spid="1129559"/>
                                        </p:tgtEl>
                                        <p:attrNameLst>
                                          <p:attrName>style.visibility</p:attrName>
                                        </p:attrNameLst>
                                      </p:cBhvr>
                                      <p:to>
                                        <p:strVal val="visible"/>
                                      </p:to>
                                    </p:set>
                                    <p:animEffect transition="in" filter="strips(upRight)">
                                      <p:cBhvr>
                                        <p:cTn id="32" dur="500"/>
                                        <p:tgtEl>
                                          <p:spTgt spid="1129559"/>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1000"/>
                            </p:stCondLst>
                            <p:childTnLst>
                              <p:par>
                                <p:cTn id="34" presetID="18" presetClass="entr" presetSubtype="12" fill="hold" nodeType="afterEffect">
                                  <p:stCondLst>
                                    <p:cond delay="0"/>
                                  </p:stCondLst>
                                  <p:childTnLst>
                                    <p:set>
                                      <p:cBhvr>
                                        <p:cTn id="35" dur="1" fill="hold">
                                          <p:stCondLst>
                                            <p:cond delay="0"/>
                                          </p:stCondLst>
                                        </p:cTn>
                                        <p:tgtEl>
                                          <p:spTgt spid="1129556"/>
                                        </p:tgtEl>
                                        <p:attrNameLst>
                                          <p:attrName>style.visibility</p:attrName>
                                        </p:attrNameLst>
                                      </p:cBhvr>
                                      <p:to>
                                        <p:strVal val="visible"/>
                                      </p:to>
                                    </p:set>
                                    <p:animEffect transition="in" filter="strips(downLeft)">
                                      <p:cBhvr>
                                        <p:cTn id="36" dur="500"/>
                                        <p:tgtEl>
                                          <p:spTgt spid="1129556"/>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12" fill="hold" grpId="0" nodeType="clickEffect">
                                  <p:stCondLst>
                                    <p:cond delay="0"/>
                                  </p:stCondLst>
                                  <p:childTnLst>
                                    <p:set>
                                      <p:cBhvr>
                                        <p:cTn id="40" dur="1" fill="hold">
                                          <p:stCondLst>
                                            <p:cond delay="0"/>
                                          </p:stCondLst>
                                        </p:cTn>
                                        <p:tgtEl>
                                          <p:spTgt spid="1129560"/>
                                        </p:tgtEl>
                                        <p:attrNameLst>
                                          <p:attrName>style.visibility</p:attrName>
                                        </p:attrNameLst>
                                      </p:cBhvr>
                                      <p:to>
                                        <p:strVal val="visible"/>
                                      </p:to>
                                    </p:set>
                                    <p:animEffect transition="in" filter="strips(downLeft)">
                                      <p:cBhvr>
                                        <p:cTn id="41" dur="500"/>
                                        <p:tgtEl>
                                          <p:spTgt spid="1129560"/>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par>
                          <p:cTn id="42" fill="hold">
                            <p:stCondLst>
                              <p:cond delay="500"/>
                            </p:stCondLst>
                            <p:childTnLst>
                              <p:par>
                                <p:cTn id="43" presetID="18" presetClass="entr" presetSubtype="3" fill="hold" grpId="0" nodeType="afterEffect">
                                  <p:stCondLst>
                                    <p:cond delay="0"/>
                                  </p:stCondLst>
                                  <p:childTnLst>
                                    <p:set>
                                      <p:cBhvr>
                                        <p:cTn id="44" dur="1" fill="hold">
                                          <p:stCondLst>
                                            <p:cond delay="0"/>
                                          </p:stCondLst>
                                        </p:cTn>
                                        <p:tgtEl>
                                          <p:spTgt spid="1129572"/>
                                        </p:tgtEl>
                                        <p:attrNameLst>
                                          <p:attrName>style.visibility</p:attrName>
                                        </p:attrNameLst>
                                      </p:cBhvr>
                                      <p:to>
                                        <p:strVal val="visible"/>
                                      </p:to>
                                    </p:set>
                                    <p:animEffect transition="in" filter="strips(upRight)">
                                      <p:cBhvr>
                                        <p:cTn id="45" dur="500"/>
                                        <p:tgtEl>
                                          <p:spTgt spid="1129572"/>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par>
                          <p:cTn id="46" fill="hold">
                            <p:stCondLst>
                              <p:cond delay="1000"/>
                            </p:stCondLst>
                            <p:childTnLst>
                              <p:par>
                                <p:cTn id="47" presetID="18" presetClass="entr" presetSubtype="3" fill="hold" nodeType="afterEffect">
                                  <p:stCondLst>
                                    <p:cond delay="0"/>
                                  </p:stCondLst>
                                  <p:childTnLst>
                                    <p:set>
                                      <p:cBhvr>
                                        <p:cTn id="48" dur="1" fill="hold">
                                          <p:stCondLst>
                                            <p:cond delay="0"/>
                                          </p:stCondLst>
                                        </p:cTn>
                                        <p:tgtEl>
                                          <p:spTgt spid="1129561"/>
                                        </p:tgtEl>
                                        <p:attrNameLst>
                                          <p:attrName>style.visibility</p:attrName>
                                        </p:attrNameLst>
                                      </p:cBhvr>
                                      <p:to>
                                        <p:strVal val="visible"/>
                                      </p:to>
                                    </p:set>
                                    <p:animEffect transition="in" filter="strips(upRight)">
                                      <p:cBhvr>
                                        <p:cTn id="49" dur="500"/>
                                        <p:tgtEl>
                                          <p:spTgt spid="1129561"/>
                                        </p:tgtEl>
                                      </p:cBhvr>
                                    </p:animEffect>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childTnLst>
                    </p:cTn>
                  </p:par>
                  <p:par>
                    <p:cTn id="50" fill="hold">
                      <p:stCondLst>
                        <p:cond delay="indefinite"/>
                      </p:stCondLst>
                      <p:childTnLst>
                        <p:par>
                          <p:cTn id="51" fill="hold">
                            <p:stCondLst>
                              <p:cond delay="0"/>
                            </p:stCondLst>
                            <p:childTnLst>
                              <p:par>
                                <p:cTn id="52" presetID="18" presetClass="entr" presetSubtype="6" fill="hold" grpId="0" nodeType="clickEffect">
                                  <p:stCondLst>
                                    <p:cond delay="0"/>
                                  </p:stCondLst>
                                  <p:childTnLst>
                                    <p:set>
                                      <p:cBhvr>
                                        <p:cTn id="53" dur="1" fill="hold">
                                          <p:stCondLst>
                                            <p:cond delay="0"/>
                                          </p:stCondLst>
                                        </p:cTn>
                                        <p:tgtEl>
                                          <p:spTgt spid="1129565"/>
                                        </p:tgtEl>
                                        <p:attrNameLst>
                                          <p:attrName>style.visibility</p:attrName>
                                        </p:attrNameLst>
                                      </p:cBhvr>
                                      <p:to>
                                        <p:strVal val="visible"/>
                                      </p:to>
                                    </p:set>
                                    <p:animEffect transition="in" filter="strips(downRight)">
                                      <p:cBhvr>
                                        <p:cTn id="54" dur="500"/>
                                        <p:tgtEl>
                                          <p:spTgt spid="1129565"/>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par>
                          <p:cTn id="55" fill="hold">
                            <p:stCondLst>
                              <p:cond delay="500"/>
                            </p:stCondLst>
                            <p:childTnLst>
                              <p:par>
                                <p:cTn id="56" presetID="18" presetClass="entr" presetSubtype="6" fill="hold" grpId="0" nodeType="afterEffect">
                                  <p:stCondLst>
                                    <p:cond delay="0"/>
                                  </p:stCondLst>
                                  <p:childTnLst>
                                    <p:set>
                                      <p:cBhvr>
                                        <p:cTn id="57" dur="1" fill="hold">
                                          <p:stCondLst>
                                            <p:cond delay="0"/>
                                          </p:stCondLst>
                                        </p:cTn>
                                        <p:tgtEl>
                                          <p:spTgt spid="1129566"/>
                                        </p:tgtEl>
                                        <p:attrNameLst>
                                          <p:attrName>style.visibility</p:attrName>
                                        </p:attrNameLst>
                                      </p:cBhvr>
                                      <p:to>
                                        <p:strVal val="visible"/>
                                      </p:to>
                                    </p:set>
                                    <p:animEffect transition="in" filter="strips(downRight)">
                                      <p:cBhvr>
                                        <p:cTn id="58" dur="500"/>
                                        <p:tgtEl>
                                          <p:spTgt spid="1129566"/>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18" presetClass="entr" presetSubtype="12" fill="hold" nodeType="clickEffect">
                                  <p:stCondLst>
                                    <p:cond delay="0"/>
                                  </p:stCondLst>
                                  <p:childTnLst>
                                    <p:set>
                                      <p:cBhvr>
                                        <p:cTn id="62" dur="1" fill="hold">
                                          <p:stCondLst>
                                            <p:cond delay="0"/>
                                          </p:stCondLst>
                                        </p:cTn>
                                        <p:tgtEl>
                                          <p:spTgt spid="1129567"/>
                                        </p:tgtEl>
                                        <p:attrNameLst>
                                          <p:attrName>style.visibility</p:attrName>
                                        </p:attrNameLst>
                                      </p:cBhvr>
                                      <p:to>
                                        <p:strVal val="visible"/>
                                      </p:to>
                                    </p:set>
                                    <p:animEffect transition="in" filter="strips(downLeft)">
                                      <p:cBhvr>
                                        <p:cTn id="63" dur="500"/>
                                        <p:tgtEl>
                                          <p:spTgt spid="1129567"/>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1129573"/>
                                        </p:tgtEl>
                                        <p:attrNameLst>
                                          <p:attrName>style.visibility</p:attrName>
                                        </p:attrNameLst>
                                      </p:cBhvr>
                                      <p:to>
                                        <p:strVal val="visible"/>
                                      </p:to>
                                    </p:set>
                                    <p:animEffect transition="in" filter="box(out)">
                                      <p:cBhvr>
                                        <p:cTn id="68" dur="500"/>
                                        <p:tgtEl>
                                          <p:spTgt spid="1129573"/>
                                        </p:tgtEl>
                                      </p:cBhvr>
                                    </p:animEffect>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9500" grpId="0"/>
      <p:bldP spid="1129559" grpId="0" animBg="1"/>
      <p:bldP spid="1129560" grpId="0" animBg="1"/>
      <p:bldP spid="1129564" grpId="0" animBg="1"/>
      <p:bldP spid="1129565" grpId="0" animBg="1"/>
      <p:bldP spid="1129566" grpId="0" animBg="1"/>
      <p:bldP spid="1129572" grpId="0" animBg="1"/>
      <p:bldP spid="1129573"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31522" name="Group 2"/>
          <p:cNvGrpSpPr>
            <a:grpSpLocks/>
          </p:cNvGrpSpPr>
          <p:nvPr/>
        </p:nvGrpSpPr>
        <p:grpSpPr bwMode="auto">
          <a:xfrm>
            <a:off x="2363913" y="1786887"/>
            <a:ext cx="2720975" cy="5083175"/>
            <a:chOff x="720" y="890"/>
            <a:chExt cx="1714" cy="3202"/>
          </a:xfrm>
        </p:grpSpPr>
        <p:sp>
          <p:nvSpPr>
            <p:cNvPr id="1131523" name="Text Box 3"/>
            <p:cNvSpPr txBox="1">
              <a:spLocks noChangeArrowheads="1"/>
            </p:cNvSpPr>
            <p:nvPr/>
          </p:nvSpPr>
          <p:spPr bwMode="auto">
            <a:xfrm>
              <a:off x="1553" y="890"/>
              <a:ext cx="502"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u="sng" dirty="0">
                  <a:solidFill>
                    <a:srgbClr val="C00000"/>
                  </a:solidFill>
                  <a:ea typeface="隶书" pitchFamily="49" charset="-122"/>
                </a:rPr>
                <a:t>内存</a:t>
              </a:r>
            </a:p>
          </p:txBody>
        </p:sp>
        <p:grpSp>
          <p:nvGrpSpPr>
            <p:cNvPr id="1131524" name="Group 4"/>
            <p:cNvGrpSpPr>
              <a:grpSpLocks/>
            </p:cNvGrpSpPr>
            <p:nvPr/>
          </p:nvGrpSpPr>
          <p:grpSpPr bwMode="auto">
            <a:xfrm>
              <a:off x="720" y="1200"/>
              <a:ext cx="1714" cy="2892"/>
              <a:chOff x="720" y="1083"/>
              <a:chExt cx="1714" cy="2892"/>
            </a:xfrm>
          </p:grpSpPr>
          <p:grpSp>
            <p:nvGrpSpPr>
              <p:cNvPr id="1131525" name="Group 5"/>
              <p:cNvGrpSpPr>
                <a:grpSpLocks/>
              </p:cNvGrpSpPr>
              <p:nvPr/>
            </p:nvGrpSpPr>
            <p:grpSpPr bwMode="auto">
              <a:xfrm>
                <a:off x="1193" y="1091"/>
                <a:ext cx="1241" cy="2884"/>
                <a:chOff x="1193" y="1091"/>
                <a:chExt cx="1241" cy="2884"/>
              </a:xfrm>
            </p:grpSpPr>
            <p:sp>
              <p:nvSpPr>
                <p:cNvPr id="1131526" name="Rectangle 6"/>
                <p:cNvSpPr>
                  <a:spLocks noChangeArrowheads="1"/>
                </p:cNvSpPr>
                <p:nvPr/>
              </p:nvSpPr>
              <p:spPr bwMode="auto">
                <a:xfrm>
                  <a:off x="1202" y="1091"/>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a typeface="宋体" pitchFamily="2" charset="-122"/>
                  </a:endParaRPr>
                </a:p>
              </p:txBody>
            </p:sp>
            <p:sp>
              <p:nvSpPr>
                <p:cNvPr id="1131527" name="Line 7"/>
                <p:cNvSpPr>
                  <a:spLocks noChangeShapeType="1"/>
                </p:cNvSpPr>
                <p:nvPr/>
              </p:nvSpPr>
              <p:spPr bwMode="auto">
                <a:xfrm>
                  <a:off x="1202" y="13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1528" name="Line 8"/>
                <p:cNvSpPr>
                  <a:spLocks noChangeShapeType="1"/>
                </p:cNvSpPr>
                <p:nvPr/>
              </p:nvSpPr>
              <p:spPr bwMode="auto">
                <a:xfrm>
                  <a:off x="1202" y="1757"/>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1529" name="Line 9"/>
                <p:cNvSpPr>
                  <a:spLocks noChangeShapeType="1"/>
                </p:cNvSpPr>
                <p:nvPr/>
              </p:nvSpPr>
              <p:spPr bwMode="auto">
                <a:xfrm>
                  <a:off x="1202" y="2013"/>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31530" name="Line 10"/>
                <p:cNvSpPr>
                  <a:spLocks noChangeShapeType="1"/>
                </p:cNvSpPr>
                <p:nvPr/>
              </p:nvSpPr>
              <p:spPr bwMode="auto">
                <a:xfrm>
                  <a:off x="1202" y="2251"/>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1531" name="Line 11"/>
                <p:cNvSpPr>
                  <a:spLocks noChangeShapeType="1"/>
                </p:cNvSpPr>
                <p:nvPr/>
              </p:nvSpPr>
              <p:spPr bwMode="auto">
                <a:xfrm>
                  <a:off x="1223" y="2501"/>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1532" name="Line 12"/>
                <p:cNvSpPr>
                  <a:spLocks noChangeShapeType="1"/>
                </p:cNvSpPr>
                <p:nvPr/>
              </p:nvSpPr>
              <p:spPr bwMode="auto">
                <a:xfrm>
                  <a:off x="1211" y="2759"/>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1533" name="Text Box 13"/>
                <p:cNvSpPr txBox="1">
                  <a:spLocks noChangeArrowheads="1"/>
                </p:cNvSpPr>
                <p:nvPr/>
              </p:nvSpPr>
              <p:spPr bwMode="auto">
                <a:xfrm>
                  <a:off x="1680" y="1376"/>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grpSp>
              <p:nvGrpSpPr>
                <p:cNvPr id="1131534" name="Group 14"/>
                <p:cNvGrpSpPr>
                  <a:grpSpLocks/>
                </p:cNvGrpSpPr>
                <p:nvPr/>
              </p:nvGrpSpPr>
              <p:grpSpPr bwMode="auto">
                <a:xfrm>
                  <a:off x="1193" y="3303"/>
                  <a:ext cx="1220" cy="672"/>
                  <a:chOff x="1211" y="3303"/>
                  <a:chExt cx="1220" cy="672"/>
                </a:xfrm>
              </p:grpSpPr>
              <p:sp>
                <p:nvSpPr>
                  <p:cNvPr id="1131535" name="Freeform 15"/>
                  <p:cNvSpPr>
                    <a:spLocks/>
                  </p:cNvSpPr>
                  <p:nvPr/>
                </p:nvSpPr>
                <p:spPr bwMode="auto">
                  <a:xfrm>
                    <a:off x="1211" y="3303"/>
                    <a:ext cx="1220"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31536" name="Text Box 16"/>
                  <p:cNvSpPr txBox="1">
                    <a:spLocks noChangeArrowheads="1"/>
                  </p:cNvSpPr>
                  <p:nvPr/>
                </p:nvSpPr>
                <p:spPr bwMode="auto">
                  <a:xfrm>
                    <a:off x="1712" y="335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grpSp>
            <p:sp>
              <p:nvSpPr>
                <p:cNvPr id="1131537" name="Line 17"/>
                <p:cNvSpPr>
                  <a:spLocks noChangeShapeType="1"/>
                </p:cNvSpPr>
                <p:nvPr/>
              </p:nvSpPr>
              <p:spPr bwMode="auto">
                <a:xfrm>
                  <a:off x="1223" y="3023"/>
                  <a:ext cx="1211" cy="0"/>
                </a:xfrm>
                <a:prstGeom prst="line">
                  <a:avLst/>
                </a:prstGeom>
                <a:noFill/>
                <a:ln w="9525">
                  <a:solidFill>
                    <a:srgbClr val="000000"/>
                  </a:solidFill>
                  <a:prstDash val="dash"/>
                  <a:round/>
                  <a:headEnd/>
                  <a:tailEnd/>
                </a:ln>
                <a:effectLst/>
              </p:spPr>
              <p:txBody>
                <a:bodyPr wrap="none" anchor="ctr"/>
                <a:lstStyle/>
                <a:p>
                  <a:endParaRPr lang="zh-CN" altLang="en-US"/>
                </a:p>
              </p:txBody>
            </p:sp>
          </p:grpSp>
          <p:grpSp>
            <p:nvGrpSpPr>
              <p:cNvPr id="1131538" name="Group 18"/>
              <p:cNvGrpSpPr>
                <a:grpSpLocks/>
              </p:cNvGrpSpPr>
              <p:nvPr/>
            </p:nvGrpSpPr>
            <p:grpSpPr bwMode="auto">
              <a:xfrm>
                <a:off x="720" y="1083"/>
                <a:ext cx="446" cy="2580"/>
                <a:chOff x="720" y="1083"/>
                <a:chExt cx="446" cy="2580"/>
              </a:xfrm>
            </p:grpSpPr>
            <p:sp>
              <p:nvSpPr>
                <p:cNvPr id="1131539" name="Text Box 19"/>
                <p:cNvSpPr txBox="1">
                  <a:spLocks noChangeArrowheads="1"/>
                </p:cNvSpPr>
                <p:nvPr/>
              </p:nvSpPr>
              <p:spPr bwMode="auto">
                <a:xfrm>
                  <a:off x="804" y="1083"/>
                  <a:ext cx="19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0</a:t>
                  </a:r>
                </a:p>
              </p:txBody>
            </p:sp>
            <p:grpSp>
              <p:nvGrpSpPr>
                <p:cNvPr id="1131540" name="Group 20"/>
                <p:cNvGrpSpPr>
                  <a:grpSpLocks/>
                </p:cNvGrpSpPr>
                <p:nvPr/>
              </p:nvGrpSpPr>
              <p:grpSpPr bwMode="auto">
                <a:xfrm>
                  <a:off x="720" y="1769"/>
                  <a:ext cx="446" cy="1515"/>
                  <a:chOff x="720" y="1769"/>
                  <a:chExt cx="446" cy="1515"/>
                </a:xfrm>
              </p:grpSpPr>
              <p:sp>
                <p:nvSpPr>
                  <p:cNvPr id="1131541" name="Text Box 21"/>
                  <p:cNvSpPr txBox="1">
                    <a:spLocks noChangeArrowheads="1"/>
                  </p:cNvSpPr>
                  <p:nvPr/>
                </p:nvSpPr>
                <p:spPr bwMode="auto">
                  <a:xfrm>
                    <a:off x="720" y="1769"/>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2000</a:t>
                    </a:r>
                  </a:p>
                </p:txBody>
              </p:sp>
              <p:sp>
                <p:nvSpPr>
                  <p:cNvPr id="1131542" name="Text Box 22"/>
                  <p:cNvSpPr txBox="1">
                    <a:spLocks noChangeArrowheads="1"/>
                  </p:cNvSpPr>
                  <p:nvPr/>
                </p:nvSpPr>
                <p:spPr bwMode="auto">
                  <a:xfrm>
                    <a:off x="720" y="199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2001</a:t>
                    </a:r>
                  </a:p>
                </p:txBody>
              </p:sp>
              <p:sp>
                <p:nvSpPr>
                  <p:cNvPr id="1131543" name="Text Box 23"/>
                  <p:cNvSpPr txBox="1">
                    <a:spLocks noChangeArrowheads="1"/>
                  </p:cNvSpPr>
                  <p:nvPr/>
                </p:nvSpPr>
                <p:spPr bwMode="auto">
                  <a:xfrm>
                    <a:off x="720" y="22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2002</a:t>
                    </a:r>
                  </a:p>
                </p:txBody>
              </p:sp>
              <p:sp>
                <p:nvSpPr>
                  <p:cNvPr id="1131544" name="Text Box 24"/>
                  <p:cNvSpPr txBox="1">
                    <a:spLocks noChangeArrowheads="1"/>
                  </p:cNvSpPr>
                  <p:nvPr/>
                </p:nvSpPr>
                <p:spPr bwMode="auto">
                  <a:xfrm>
                    <a:off x="729" y="30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2005</a:t>
                    </a:r>
                  </a:p>
                </p:txBody>
              </p:sp>
              <p:sp>
                <p:nvSpPr>
                  <p:cNvPr id="1131545" name="Text Box 25"/>
                  <p:cNvSpPr txBox="1">
                    <a:spLocks noChangeArrowheads="1"/>
                  </p:cNvSpPr>
                  <p:nvPr/>
                </p:nvSpPr>
                <p:spPr bwMode="auto">
                  <a:xfrm>
                    <a:off x="729" y="250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2003</a:t>
                    </a:r>
                  </a:p>
                </p:txBody>
              </p:sp>
              <p:sp>
                <p:nvSpPr>
                  <p:cNvPr id="1131546" name="Text Box 26"/>
                  <p:cNvSpPr txBox="1">
                    <a:spLocks noChangeArrowheads="1"/>
                  </p:cNvSpPr>
                  <p:nvPr/>
                </p:nvSpPr>
                <p:spPr bwMode="auto">
                  <a:xfrm>
                    <a:off x="730" y="2766"/>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2004</a:t>
                    </a:r>
                  </a:p>
                </p:txBody>
              </p:sp>
            </p:grpSp>
            <p:sp>
              <p:nvSpPr>
                <p:cNvPr id="1131547" name="Text Box 27"/>
                <p:cNvSpPr txBox="1">
                  <a:spLocks noChangeArrowheads="1"/>
                </p:cNvSpPr>
                <p:nvPr/>
              </p:nvSpPr>
              <p:spPr bwMode="auto">
                <a:xfrm>
                  <a:off x="793" y="1359"/>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sp>
              <p:nvSpPr>
                <p:cNvPr id="1131548" name="Text Box 28"/>
                <p:cNvSpPr txBox="1">
                  <a:spLocks noChangeArrowheads="1"/>
                </p:cNvSpPr>
                <p:nvPr/>
              </p:nvSpPr>
              <p:spPr bwMode="auto">
                <a:xfrm>
                  <a:off x="803" y="3322"/>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grpSp>
        </p:grpSp>
      </p:grpSp>
      <p:sp>
        <p:nvSpPr>
          <p:cNvPr id="1131549" name="Rectangle 29"/>
          <p:cNvSpPr>
            <a:spLocks noGrp="1" noChangeArrowheads="1"/>
          </p:cNvSpPr>
          <p:nvPr>
            <p:ph type="body" idx="4294967295"/>
          </p:nvPr>
        </p:nvSpPr>
        <p:spPr>
          <a:xfrm>
            <a:off x="608657" y="836712"/>
            <a:ext cx="8885788" cy="530225"/>
          </a:xfrm>
        </p:spPr>
        <p:txBody>
          <a:bodyPr/>
          <a:lstStyle/>
          <a:p>
            <a:pPr marL="609600" indent="-609600">
              <a:buNone/>
            </a:pPr>
            <a:r>
              <a:rPr lang="en-US" altLang="zh-CN" sz="2800" dirty="0">
                <a:solidFill>
                  <a:srgbClr val="C00000"/>
                </a:solidFill>
                <a:effectLst/>
                <a:ea typeface="楷体" pitchFamily="49" charset="-122"/>
              </a:rPr>
              <a:t>2</a:t>
            </a:r>
            <a:r>
              <a:rPr lang="zh-CN" altLang="en-US" sz="2800" dirty="0">
                <a:solidFill>
                  <a:srgbClr val="C00000"/>
                </a:solidFill>
                <a:effectLst/>
                <a:ea typeface="楷体" pitchFamily="49" charset="-122"/>
              </a:rPr>
              <a:t>、变量地址──系统分配给变量的内存单元的起始地址</a:t>
            </a:r>
          </a:p>
        </p:txBody>
      </p:sp>
      <p:sp>
        <p:nvSpPr>
          <p:cNvPr id="1131550" name="Text Box 30" descr="信纸"/>
          <p:cNvSpPr txBox="1">
            <a:spLocks noChangeArrowheads="1"/>
          </p:cNvSpPr>
          <p:nvPr/>
        </p:nvSpPr>
        <p:spPr bwMode="auto">
          <a:xfrm>
            <a:off x="6559676" y="2580636"/>
            <a:ext cx="3543300" cy="1225550"/>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gn="ctr" eaLnBrk="0" hangingPunct="0">
              <a:lnSpc>
                <a:spcPct val="100000"/>
              </a:lnSpc>
              <a:spcBef>
                <a:spcPct val="0"/>
              </a:spcBef>
            </a:pPr>
            <a:r>
              <a:rPr lang="zh-CN" altLang="en-US" dirty="0">
                <a:solidFill>
                  <a:srgbClr val="C00000"/>
                </a:solidFill>
                <a:ea typeface="隶书" pitchFamily="49" charset="-122"/>
              </a:rPr>
              <a:t>程序中</a:t>
            </a:r>
            <a:r>
              <a:rPr lang="en-US" altLang="zh-CN" dirty="0">
                <a:solidFill>
                  <a:srgbClr val="C00000"/>
                </a:solidFill>
                <a:ea typeface="宋体" pitchFamily="2" charset="-122"/>
              </a:rPr>
              <a:t>:      </a:t>
            </a:r>
            <a:r>
              <a:rPr lang="en-US" altLang="zh-CN" dirty="0">
                <a:ea typeface="宋体" pitchFamily="2" charset="-122"/>
              </a:rPr>
              <a:t>short  </a:t>
            </a:r>
            <a:r>
              <a:rPr lang="en-US" altLang="zh-CN" dirty="0" err="1">
                <a:ea typeface="宋体" pitchFamily="2" charset="-122"/>
              </a:rPr>
              <a:t>i</a:t>
            </a:r>
            <a:r>
              <a:rPr lang="en-US" altLang="zh-CN" dirty="0">
                <a:ea typeface="宋体" pitchFamily="2" charset="-122"/>
              </a:rPr>
              <a:t>; </a:t>
            </a:r>
          </a:p>
          <a:p>
            <a:pPr algn="ctr" eaLnBrk="0" hangingPunct="0">
              <a:lnSpc>
                <a:spcPct val="100000"/>
              </a:lnSpc>
              <a:spcBef>
                <a:spcPct val="0"/>
              </a:spcBef>
            </a:pPr>
            <a:r>
              <a:rPr lang="en-US" altLang="zh-CN" dirty="0">
                <a:ea typeface="宋体" pitchFamily="2" charset="-122"/>
              </a:rPr>
              <a:t>                    </a:t>
            </a:r>
          </a:p>
          <a:p>
            <a:pPr algn="ctr" eaLnBrk="0" hangingPunct="0">
              <a:lnSpc>
                <a:spcPct val="100000"/>
              </a:lnSpc>
              <a:spcBef>
                <a:spcPct val="0"/>
              </a:spcBef>
            </a:pPr>
            <a:r>
              <a:rPr lang="en-US" altLang="zh-CN" dirty="0">
                <a:ea typeface="宋体" pitchFamily="2" charset="-122"/>
              </a:rPr>
              <a:t>                     float  k;</a:t>
            </a:r>
            <a:r>
              <a:rPr lang="en-US" altLang="zh-CN" sz="2000" b="0" dirty="0">
                <a:ea typeface="宋体" pitchFamily="2" charset="-122"/>
              </a:rPr>
              <a:t>  </a:t>
            </a:r>
          </a:p>
        </p:txBody>
      </p:sp>
      <p:sp>
        <p:nvSpPr>
          <p:cNvPr id="1131551" name="AutoShape 31"/>
          <p:cNvSpPr>
            <a:spLocks/>
          </p:cNvSpPr>
          <p:nvPr/>
        </p:nvSpPr>
        <p:spPr bwMode="auto">
          <a:xfrm>
            <a:off x="3720173" y="1340768"/>
            <a:ext cx="4222630" cy="400110"/>
          </a:xfrm>
          <a:prstGeom prst="borderCallout2">
            <a:avLst>
              <a:gd name="adj1" fmla="val 26278"/>
              <a:gd name="adj2" fmla="val -1815"/>
              <a:gd name="adj3" fmla="val 26278"/>
              <a:gd name="adj4" fmla="val -22343"/>
              <a:gd name="adj5" fmla="val 192699"/>
              <a:gd name="adj6" fmla="val -22495"/>
            </a:avLst>
          </a:prstGeom>
          <a:gradFill rotWithShape="1">
            <a:gsLst>
              <a:gs pos="0">
                <a:srgbClr val="CFCFD1"/>
              </a:gs>
              <a:gs pos="100000">
                <a:srgbClr val="FFFFFF"/>
              </a:gs>
            </a:gsLst>
            <a:lin ang="5400000" scaled="1"/>
          </a:gradFill>
          <a:ln w="25400">
            <a:solidFill>
              <a:srgbClr val="7030A0"/>
            </a:solidFill>
            <a:miter lim="800000"/>
            <a:headEnd/>
            <a:tailEnd/>
          </a:ln>
          <a:effectLst>
            <a:outerShdw blurRad="50800" dist="106680" dir="2700000" algn="tl" rotWithShape="0">
              <a:prstClr val="black">
                <a:alpha val="43000"/>
              </a:prstClr>
            </a:outerShdw>
          </a:effectLst>
        </p:spPr>
        <p:txBody>
          <a:bodyPr wrap="none" anchor="ctr">
            <a:spAutoFit/>
          </a:bodyPr>
          <a:lstStyle/>
          <a:p>
            <a:pPr algn="ctr" eaLnBrk="0" hangingPunct="0">
              <a:lnSpc>
                <a:spcPct val="100000"/>
              </a:lnSpc>
              <a:spcBef>
                <a:spcPct val="0"/>
              </a:spcBef>
            </a:pPr>
            <a:r>
              <a:rPr lang="zh-CN" altLang="en-US" sz="2000">
                <a:latin typeface="+mn-lt"/>
                <a:ea typeface="楷体" pitchFamily="49" charset="-122"/>
              </a:rPr>
              <a:t>内存中每个字节有一个编号</a:t>
            </a:r>
            <a:r>
              <a:rPr lang="en-US" altLang="zh-CN" sz="2000">
                <a:latin typeface="+mn-lt"/>
                <a:ea typeface="楷体" pitchFamily="49" charset="-122"/>
              </a:rPr>
              <a:t>-----</a:t>
            </a:r>
            <a:r>
              <a:rPr lang="zh-CN" altLang="en-US" sz="2000">
                <a:solidFill>
                  <a:srgbClr val="FF0000"/>
                </a:solidFill>
                <a:latin typeface="+mn-lt"/>
                <a:ea typeface="楷体" pitchFamily="49" charset="-122"/>
              </a:rPr>
              <a:t>地址</a:t>
            </a:r>
          </a:p>
        </p:txBody>
      </p:sp>
      <p:sp>
        <p:nvSpPr>
          <p:cNvPr id="1131552" name="Text Box 32"/>
          <p:cNvSpPr txBox="1">
            <a:spLocks noChangeArrowheads="1"/>
          </p:cNvSpPr>
          <p:nvPr/>
        </p:nvSpPr>
        <p:spPr bwMode="auto">
          <a:xfrm>
            <a:off x="3929188" y="3464874"/>
            <a:ext cx="282575" cy="51911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800">
                <a:solidFill>
                  <a:srgbClr val="002060"/>
                </a:solidFill>
                <a:ea typeface="宋体" pitchFamily="2" charset="-122"/>
              </a:rPr>
              <a:t>i</a:t>
            </a:r>
          </a:p>
        </p:txBody>
      </p:sp>
      <p:sp>
        <p:nvSpPr>
          <p:cNvPr id="1131553" name="Text Box 33"/>
          <p:cNvSpPr txBox="1">
            <a:spLocks noChangeArrowheads="1"/>
          </p:cNvSpPr>
          <p:nvPr/>
        </p:nvSpPr>
        <p:spPr bwMode="auto">
          <a:xfrm>
            <a:off x="3857751" y="4626924"/>
            <a:ext cx="364202" cy="52322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800" dirty="0">
                <a:solidFill>
                  <a:srgbClr val="7030A0"/>
                </a:solidFill>
                <a:ea typeface="宋体" pitchFamily="2" charset="-122"/>
              </a:rPr>
              <a:t>k</a:t>
            </a:r>
          </a:p>
        </p:txBody>
      </p:sp>
      <p:sp>
        <p:nvSpPr>
          <p:cNvPr id="1131554" name="Text Box 34"/>
          <p:cNvSpPr txBox="1">
            <a:spLocks noChangeArrowheads="1"/>
          </p:cNvSpPr>
          <p:nvPr/>
        </p:nvSpPr>
        <p:spPr bwMode="auto">
          <a:xfrm>
            <a:off x="5300787" y="4112575"/>
            <a:ext cx="4337050" cy="396875"/>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C00000"/>
                </a:solidFill>
                <a:ea typeface="宋体" pitchFamily="2" charset="-122"/>
              </a:rPr>
              <a:t> </a:t>
            </a:r>
            <a:r>
              <a:rPr lang="zh-CN" altLang="zh-CN" sz="2000">
                <a:solidFill>
                  <a:srgbClr val="C00000"/>
                </a:solidFill>
                <a:ea typeface="隶书" pitchFamily="49" charset="-122"/>
              </a:rPr>
              <a:t>编译或函数调用时为其分配内存单元</a:t>
            </a:r>
            <a:endParaRPr lang="zh-CN" altLang="en-US" sz="2000">
              <a:solidFill>
                <a:srgbClr val="C00000"/>
              </a:solidFill>
              <a:ea typeface="隶书" pitchFamily="49" charset="-122"/>
            </a:endParaRPr>
          </a:p>
        </p:txBody>
      </p:sp>
      <p:grpSp>
        <p:nvGrpSpPr>
          <p:cNvPr id="1131555" name="Group 35"/>
          <p:cNvGrpSpPr>
            <a:grpSpLocks/>
          </p:cNvGrpSpPr>
          <p:nvPr/>
        </p:nvGrpSpPr>
        <p:grpSpPr bwMode="auto">
          <a:xfrm>
            <a:off x="5066263" y="2974336"/>
            <a:ext cx="3819525" cy="400050"/>
            <a:chOff x="1902" y="1512"/>
            <a:chExt cx="2406" cy="252"/>
          </a:xfrm>
        </p:grpSpPr>
        <p:sp>
          <p:nvSpPr>
            <p:cNvPr id="1131556" name="Line 36"/>
            <p:cNvSpPr>
              <a:spLocks noChangeShapeType="1"/>
            </p:cNvSpPr>
            <p:nvPr/>
          </p:nvSpPr>
          <p:spPr bwMode="auto">
            <a:xfrm>
              <a:off x="4308" y="1512"/>
              <a:ext cx="0" cy="252"/>
            </a:xfrm>
            <a:prstGeom prst="line">
              <a:avLst/>
            </a:prstGeom>
            <a:noFill/>
            <a:ln w="1905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31557" name="Line 37"/>
            <p:cNvSpPr>
              <a:spLocks noChangeShapeType="1"/>
            </p:cNvSpPr>
            <p:nvPr/>
          </p:nvSpPr>
          <p:spPr bwMode="auto">
            <a:xfrm>
              <a:off x="1902" y="1764"/>
              <a:ext cx="2406" cy="0"/>
            </a:xfrm>
            <a:prstGeom prst="line">
              <a:avLst/>
            </a:prstGeom>
            <a:noFill/>
            <a:ln w="19050">
              <a:solidFill>
                <a:srgbClr val="002060"/>
              </a:solidFill>
              <a:round/>
              <a:headEnd type="stealth" w="lg" len="lg"/>
              <a:tailEnd/>
            </a:ln>
            <a:effectLst>
              <a:outerShdw dist="35921" dir="2700000" algn="ctr" rotWithShape="0">
                <a:schemeClr val="bg2"/>
              </a:outerShdw>
            </a:effectLst>
          </p:spPr>
          <p:txBody>
            <a:bodyPr wrap="none" anchor="ctr"/>
            <a:lstStyle/>
            <a:p>
              <a:endParaRPr lang="zh-CN" altLang="en-US" dirty="0"/>
            </a:p>
          </p:txBody>
        </p:sp>
      </p:grpSp>
      <p:grpSp>
        <p:nvGrpSpPr>
          <p:cNvPr id="1131558" name="Group 38"/>
          <p:cNvGrpSpPr>
            <a:grpSpLocks/>
          </p:cNvGrpSpPr>
          <p:nvPr/>
        </p:nvGrpSpPr>
        <p:grpSpPr bwMode="auto">
          <a:xfrm>
            <a:off x="5069012" y="3736336"/>
            <a:ext cx="3829050" cy="419100"/>
            <a:chOff x="2076" y="1992"/>
            <a:chExt cx="2412" cy="264"/>
          </a:xfrm>
        </p:grpSpPr>
        <p:sp>
          <p:nvSpPr>
            <p:cNvPr id="1131559" name="Line 39"/>
            <p:cNvSpPr>
              <a:spLocks noChangeShapeType="1"/>
            </p:cNvSpPr>
            <p:nvPr/>
          </p:nvSpPr>
          <p:spPr bwMode="auto">
            <a:xfrm>
              <a:off x="2076" y="2255"/>
              <a:ext cx="2412" cy="0"/>
            </a:xfrm>
            <a:prstGeom prst="line">
              <a:avLst/>
            </a:prstGeom>
            <a:noFill/>
            <a:ln w="19050">
              <a:solidFill>
                <a:srgbClr val="002060"/>
              </a:solidFill>
              <a:round/>
              <a:headEnd type="stealth" w="lg" len="lg"/>
              <a:tailEnd/>
            </a:ln>
            <a:effectLst>
              <a:outerShdw dist="35921" dir="2700000" algn="ctr" rotWithShape="0">
                <a:schemeClr val="bg2"/>
              </a:outerShdw>
            </a:effectLst>
          </p:spPr>
          <p:txBody>
            <a:bodyPr wrap="none" anchor="ctr"/>
            <a:lstStyle/>
            <a:p>
              <a:endParaRPr lang="zh-CN" altLang="en-US"/>
            </a:p>
          </p:txBody>
        </p:sp>
        <p:sp>
          <p:nvSpPr>
            <p:cNvPr id="1131560" name="Line 40"/>
            <p:cNvSpPr>
              <a:spLocks noChangeShapeType="1"/>
            </p:cNvSpPr>
            <p:nvPr/>
          </p:nvSpPr>
          <p:spPr bwMode="auto">
            <a:xfrm flipV="1">
              <a:off x="4488" y="1992"/>
              <a:ext cx="0" cy="264"/>
            </a:xfrm>
            <a:prstGeom prst="line">
              <a:avLst/>
            </a:prstGeom>
            <a:noFill/>
            <a:ln w="1905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grpSp>
      <p:sp>
        <p:nvSpPr>
          <p:cNvPr id="1131561" name="AutoShape 41"/>
          <p:cNvSpPr>
            <a:spLocks noChangeArrowheads="1"/>
          </p:cNvSpPr>
          <p:nvPr/>
        </p:nvSpPr>
        <p:spPr bwMode="auto">
          <a:xfrm>
            <a:off x="6293500" y="4685444"/>
            <a:ext cx="4519667" cy="1264980"/>
          </a:xfrm>
          <a:prstGeom prst="cloudCallout">
            <a:avLst>
              <a:gd name="adj1" fmla="val -97076"/>
              <a:gd name="adj2" fmla="val -101400"/>
            </a:avLst>
          </a:prstGeom>
          <a:gradFill rotWithShape="1">
            <a:gsLst>
              <a:gs pos="0">
                <a:srgbClr val="CFCFD1"/>
              </a:gs>
              <a:gs pos="100000">
                <a:schemeClr val="bg1"/>
              </a:gs>
            </a:gsLst>
            <a:lin ang="5400000" scaled="1"/>
          </a:gradFill>
          <a:ln w="38100">
            <a:solidFill>
              <a:srgbClr val="C01920"/>
            </a:solidFill>
            <a:round/>
            <a:headEnd type="none" w="lg" len="lg"/>
            <a:tailEnd/>
          </a:ln>
          <a:effectLst>
            <a:outerShdw blurRad="50800" dist="106680" dir="2700000" algn="tl" rotWithShape="0">
              <a:prstClr val="black">
                <a:alpha val="43000"/>
              </a:prstClr>
            </a:outerShdw>
          </a:effectLst>
          <a:scene3d>
            <a:camera prst="orthographicFront"/>
            <a:lightRig rig="threePt" dir="t"/>
          </a:scene3d>
          <a:sp3d>
            <a:bevelT/>
          </a:sp3d>
        </p:spPr>
        <p:txBody>
          <a:bodyPr wrap="none">
            <a:spAutoFit/>
          </a:bodyPr>
          <a:lstStyle/>
          <a:p>
            <a:pPr algn="ctr">
              <a:lnSpc>
                <a:spcPct val="100000"/>
              </a:lnSpc>
              <a:spcBef>
                <a:spcPct val="0"/>
              </a:spcBef>
            </a:pPr>
            <a:r>
              <a:rPr lang="zh-CN" altLang="en-US" dirty="0">
                <a:solidFill>
                  <a:srgbClr val="C00000"/>
                </a:solidFill>
                <a:ea typeface="隶书" pitchFamily="49" charset="-122"/>
              </a:rPr>
              <a:t>变量</a:t>
            </a:r>
            <a:r>
              <a:rPr lang="zh-CN" altLang="en-US" dirty="0">
                <a:ea typeface="隶书" pitchFamily="49" charset="-122"/>
              </a:rPr>
              <a:t>是对程序中数据</a:t>
            </a:r>
          </a:p>
          <a:p>
            <a:pPr algn="ctr">
              <a:lnSpc>
                <a:spcPct val="100000"/>
              </a:lnSpc>
              <a:spcBef>
                <a:spcPct val="0"/>
              </a:spcBef>
            </a:pPr>
            <a:r>
              <a:rPr lang="zh-CN" altLang="en-US" dirty="0">
                <a:ea typeface="隶书" pitchFamily="49" charset="-122"/>
              </a:rPr>
              <a:t>存储空间的抽象</a:t>
            </a:r>
            <a:endParaRPr lang="zh-CN" altLang="en-US" dirty="0"/>
          </a:p>
        </p:txBody>
      </p:sp>
      <p:grpSp>
        <p:nvGrpSpPr>
          <p:cNvPr id="1131565" name="Group 45"/>
          <p:cNvGrpSpPr>
            <a:grpSpLocks/>
          </p:cNvGrpSpPr>
          <p:nvPr/>
        </p:nvGrpSpPr>
        <p:grpSpPr bwMode="auto">
          <a:xfrm>
            <a:off x="1703513" y="2390136"/>
            <a:ext cx="1338263" cy="1352550"/>
            <a:chOff x="304" y="1270"/>
            <a:chExt cx="843" cy="852"/>
          </a:xfrm>
          <a:effectLst>
            <a:outerShdw blurRad="50800" dist="106680" dir="2700000" algn="tl" rotWithShape="0">
              <a:prstClr val="black">
                <a:alpha val="43000"/>
              </a:prstClr>
            </a:outerShdw>
          </a:effectLst>
        </p:grpSpPr>
        <p:sp>
          <p:nvSpPr>
            <p:cNvPr id="1131566" name="Oval 46"/>
            <p:cNvSpPr>
              <a:spLocks noChangeArrowheads="1"/>
            </p:cNvSpPr>
            <p:nvPr/>
          </p:nvSpPr>
          <p:spPr bwMode="auto">
            <a:xfrm>
              <a:off x="703" y="1906"/>
              <a:ext cx="444" cy="216"/>
            </a:xfrm>
            <a:prstGeom prst="ellipse">
              <a:avLst/>
            </a:prstGeom>
            <a:noFill/>
            <a:ln w="28575">
              <a:solidFill>
                <a:srgbClr val="C00000"/>
              </a:solidFill>
              <a:round/>
              <a:headEnd type="none" w="lg" len="lg"/>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latin typeface="+mn-lt"/>
                <a:ea typeface="楷体" pitchFamily="49" charset="-122"/>
              </a:endParaRPr>
            </a:p>
          </p:txBody>
        </p:sp>
        <p:sp>
          <p:nvSpPr>
            <p:cNvPr id="1131567" name="AutoShape 47"/>
            <p:cNvSpPr>
              <a:spLocks/>
            </p:cNvSpPr>
            <p:nvPr/>
          </p:nvSpPr>
          <p:spPr bwMode="auto">
            <a:xfrm>
              <a:off x="304" y="1270"/>
              <a:ext cx="444" cy="453"/>
            </a:xfrm>
            <a:prstGeom prst="borderCallout2">
              <a:avLst>
                <a:gd name="adj1" fmla="val 15894"/>
                <a:gd name="adj2" fmla="val 110810"/>
                <a:gd name="adj3" fmla="val 15894"/>
                <a:gd name="adj4" fmla="val 137389"/>
                <a:gd name="adj5" fmla="val 139954"/>
                <a:gd name="adj6" fmla="val 164190"/>
              </a:avLst>
            </a:prstGeom>
            <a:gradFill rotWithShape="1">
              <a:gsLst>
                <a:gs pos="0">
                  <a:srgbClr val="CFCFD1"/>
                </a:gs>
                <a:gs pos="100000">
                  <a:schemeClr val="bg1"/>
                </a:gs>
              </a:gsLst>
              <a:lin ang="5400000" scaled="1"/>
            </a:gradFill>
            <a:ln w="19050">
              <a:solidFill>
                <a:srgbClr val="C00000"/>
              </a:solidFill>
              <a:miter lim="800000"/>
              <a:headEnd/>
              <a:tailEnd/>
            </a:ln>
            <a:effectLst>
              <a:outerShdw dist="107763" dir="2700000" algn="ctr" rotWithShape="0">
                <a:schemeClr val="bg2">
                  <a:alpha val="50000"/>
                </a:schemeClr>
              </a:outerShdw>
            </a:effectLst>
          </p:spPr>
          <p:txBody>
            <a:bodyPr/>
            <a:lstStyle/>
            <a:p>
              <a:pPr>
                <a:lnSpc>
                  <a:spcPct val="100000"/>
                </a:lnSpc>
                <a:spcBef>
                  <a:spcPct val="0"/>
                </a:spcBef>
              </a:pPr>
              <a:r>
                <a:rPr lang="en-US" altLang="zh-CN" sz="1800" b="1" dirty="0" err="1">
                  <a:solidFill>
                    <a:srgbClr val="CC0000"/>
                  </a:solidFill>
                  <a:latin typeface="+mn-lt"/>
                  <a:ea typeface="楷体" pitchFamily="49" charset="-122"/>
                </a:rPr>
                <a:t>i</a:t>
              </a:r>
              <a:r>
                <a:rPr lang="zh-CN" altLang="en-US" sz="1800" b="1" dirty="0">
                  <a:solidFill>
                    <a:srgbClr val="CC0000"/>
                  </a:solidFill>
                  <a:latin typeface="+mn-lt"/>
                  <a:ea typeface="楷体" pitchFamily="49" charset="-122"/>
                </a:rPr>
                <a:t>的地址</a:t>
              </a:r>
            </a:p>
          </p:txBody>
        </p:sp>
      </p:grpSp>
      <p:grpSp>
        <p:nvGrpSpPr>
          <p:cNvPr id="1131568" name="Group 48"/>
          <p:cNvGrpSpPr>
            <a:grpSpLocks/>
          </p:cNvGrpSpPr>
          <p:nvPr/>
        </p:nvGrpSpPr>
        <p:grpSpPr bwMode="auto">
          <a:xfrm>
            <a:off x="1703512" y="4144324"/>
            <a:ext cx="1354138" cy="1771650"/>
            <a:chOff x="304" y="2375"/>
            <a:chExt cx="853" cy="1116"/>
          </a:xfrm>
          <a:effectLst>
            <a:outerShdw blurRad="50800" dist="106680" dir="2700000" algn="tl" rotWithShape="0">
              <a:prstClr val="black">
                <a:alpha val="43000"/>
              </a:prstClr>
            </a:outerShdw>
          </a:effectLst>
        </p:grpSpPr>
        <p:sp>
          <p:nvSpPr>
            <p:cNvPr id="1131569" name="Oval 49"/>
            <p:cNvSpPr>
              <a:spLocks noChangeArrowheads="1"/>
            </p:cNvSpPr>
            <p:nvPr/>
          </p:nvSpPr>
          <p:spPr bwMode="auto">
            <a:xfrm>
              <a:off x="713" y="2375"/>
              <a:ext cx="444" cy="216"/>
            </a:xfrm>
            <a:prstGeom prst="ellipse">
              <a:avLst/>
            </a:prstGeom>
            <a:noFill/>
            <a:ln w="28575">
              <a:solidFill>
                <a:srgbClr val="C00000"/>
              </a:solidFill>
              <a:round/>
              <a:headEnd type="none" w="lg" len="lg"/>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latin typeface="+mn-lt"/>
                <a:ea typeface="楷体" pitchFamily="49" charset="-122"/>
              </a:endParaRPr>
            </a:p>
          </p:txBody>
        </p:sp>
        <p:sp>
          <p:nvSpPr>
            <p:cNvPr id="1131570" name="AutoShape 50"/>
            <p:cNvSpPr>
              <a:spLocks/>
            </p:cNvSpPr>
            <p:nvPr/>
          </p:nvSpPr>
          <p:spPr bwMode="auto">
            <a:xfrm>
              <a:off x="304" y="3038"/>
              <a:ext cx="444" cy="453"/>
            </a:xfrm>
            <a:prstGeom prst="borderCallout2">
              <a:avLst>
                <a:gd name="adj1" fmla="val 15894"/>
                <a:gd name="adj2" fmla="val 110810"/>
                <a:gd name="adj3" fmla="val 15894"/>
                <a:gd name="adj4" fmla="val 141440"/>
                <a:gd name="adj5" fmla="val -108389"/>
                <a:gd name="adj6" fmla="val 172074"/>
              </a:avLst>
            </a:prstGeom>
            <a:gradFill rotWithShape="1">
              <a:gsLst>
                <a:gs pos="0">
                  <a:srgbClr val="CFCFD1"/>
                </a:gs>
                <a:gs pos="100000">
                  <a:schemeClr val="bg1"/>
                </a:gs>
              </a:gsLst>
              <a:lin ang="5400000" scaled="1"/>
            </a:gradFill>
            <a:ln w="19050">
              <a:solidFill>
                <a:srgbClr val="C00000"/>
              </a:solidFill>
              <a:miter lim="800000"/>
              <a:headEnd/>
              <a:tailEnd/>
            </a:ln>
            <a:effectLst>
              <a:outerShdw dist="107763" dir="2700000" algn="ctr" rotWithShape="0">
                <a:schemeClr val="bg2">
                  <a:alpha val="50000"/>
                </a:schemeClr>
              </a:outerShdw>
            </a:effectLst>
          </p:spPr>
          <p:txBody>
            <a:bodyPr/>
            <a:lstStyle/>
            <a:p>
              <a:pPr>
                <a:lnSpc>
                  <a:spcPct val="100000"/>
                </a:lnSpc>
                <a:spcBef>
                  <a:spcPct val="0"/>
                </a:spcBef>
              </a:pPr>
              <a:r>
                <a:rPr lang="en-US" altLang="zh-CN" sz="1800">
                  <a:solidFill>
                    <a:srgbClr val="CC0000"/>
                  </a:solidFill>
                  <a:latin typeface="+mn-lt"/>
                  <a:ea typeface="楷体" pitchFamily="49" charset="-122"/>
                </a:rPr>
                <a:t>k</a:t>
              </a:r>
              <a:r>
                <a:rPr lang="zh-CN" altLang="en-US" sz="1800">
                  <a:solidFill>
                    <a:srgbClr val="CC0000"/>
                  </a:solidFill>
                  <a:latin typeface="+mn-lt"/>
                  <a:ea typeface="楷体" pitchFamily="49" charset="-122"/>
                </a:rPr>
                <a:t>的地址</a:t>
              </a:r>
            </a:p>
          </p:txBody>
        </p:sp>
      </p:grpSp>
      <p:sp>
        <p:nvSpPr>
          <p:cNvPr id="1131571" name="AutoShape 51"/>
          <p:cNvSpPr>
            <a:spLocks/>
          </p:cNvSpPr>
          <p:nvPr/>
        </p:nvSpPr>
        <p:spPr bwMode="auto">
          <a:xfrm>
            <a:off x="6096000" y="6071549"/>
            <a:ext cx="4519667" cy="704851"/>
          </a:xfrm>
          <a:prstGeom prst="borderCallout2">
            <a:avLst>
              <a:gd name="adj1" fmla="val 12222"/>
              <a:gd name="adj2" fmla="val -2037"/>
              <a:gd name="adj3" fmla="val 12222"/>
              <a:gd name="adj4" fmla="val -26579"/>
              <a:gd name="adj5" fmla="val -226932"/>
              <a:gd name="adj6" fmla="val -50143"/>
            </a:avLst>
          </a:prstGeom>
          <a:gradFill rotWithShape="1">
            <a:gsLst>
              <a:gs pos="0">
                <a:srgbClr val="CFCFD1"/>
              </a:gs>
              <a:gs pos="100000">
                <a:schemeClr val="bg1"/>
              </a:gs>
            </a:gsLst>
            <a:lin ang="5400000" scaled="1"/>
          </a:gradFill>
          <a:ln w="19050">
            <a:solidFill>
              <a:srgbClr val="FF0000"/>
            </a:solidFill>
            <a:miter lim="800000"/>
            <a:headEnd/>
            <a:tailEnd/>
          </a:ln>
          <a:effectLst>
            <a:outerShdw blurRad="50800" dist="106680" dir="2700000" algn="tl" rotWithShape="0">
              <a:prstClr val="black">
                <a:alpha val="43000"/>
              </a:prstClr>
            </a:outerShdw>
          </a:effectLst>
        </p:spPr>
        <p:txBody>
          <a:bodyPr/>
          <a:lstStyle/>
          <a:p>
            <a:pPr>
              <a:lnSpc>
                <a:spcPct val="100000"/>
              </a:lnSpc>
              <a:spcBef>
                <a:spcPct val="0"/>
              </a:spcBef>
            </a:pPr>
            <a:r>
              <a:rPr lang="zh-CN" altLang="en-US" sz="1800" b="1" dirty="0">
                <a:solidFill>
                  <a:srgbClr val="C00000"/>
                </a:solidFill>
                <a:latin typeface="+mn-lt"/>
                <a:ea typeface="楷体" pitchFamily="49" charset="-122"/>
              </a:rPr>
              <a:t>注意：</a:t>
            </a:r>
            <a:r>
              <a:rPr lang="zh-CN" altLang="en-US" sz="1800" b="1" dirty="0">
                <a:solidFill>
                  <a:srgbClr val="002060"/>
                </a:solidFill>
                <a:latin typeface="+mn-lt"/>
                <a:ea typeface="楷体" pitchFamily="49" charset="-122"/>
              </a:rPr>
              <a:t>系统将给变量</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分配</a:t>
            </a:r>
            <a:r>
              <a:rPr lang="en-US" altLang="zh-CN" sz="1800" b="1" dirty="0">
                <a:solidFill>
                  <a:srgbClr val="C00000"/>
                </a:solidFill>
                <a:latin typeface="+mn-lt"/>
                <a:ea typeface="楷体" pitchFamily="49" charset="-122"/>
              </a:rPr>
              <a:t>2</a:t>
            </a:r>
            <a:r>
              <a:rPr lang="zh-CN" altLang="en-US" sz="1800" b="1" dirty="0">
                <a:solidFill>
                  <a:srgbClr val="C00000"/>
                </a:solidFill>
                <a:latin typeface="+mn-lt"/>
                <a:ea typeface="楷体" pitchFamily="49" charset="-122"/>
              </a:rPr>
              <a:t>个字节</a:t>
            </a:r>
            <a:r>
              <a:rPr lang="zh-CN" altLang="en-US" sz="1800" b="1" dirty="0">
                <a:solidFill>
                  <a:srgbClr val="002060"/>
                </a:solidFill>
                <a:latin typeface="+mn-lt"/>
                <a:ea typeface="楷体" pitchFamily="49" charset="-122"/>
              </a:rPr>
              <a:t>的内存单元，给变量</a:t>
            </a:r>
            <a:r>
              <a:rPr lang="en-US" altLang="zh-CN" sz="1800" b="1" dirty="0">
                <a:solidFill>
                  <a:srgbClr val="002060"/>
                </a:solidFill>
                <a:latin typeface="+mn-lt"/>
                <a:ea typeface="楷体" pitchFamily="49" charset="-122"/>
              </a:rPr>
              <a:t>k</a:t>
            </a:r>
            <a:r>
              <a:rPr lang="zh-CN" altLang="en-US" sz="1800" b="1" dirty="0">
                <a:solidFill>
                  <a:srgbClr val="002060"/>
                </a:solidFill>
                <a:latin typeface="+mn-lt"/>
                <a:ea typeface="楷体" pitchFamily="49" charset="-122"/>
              </a:rPr>
              <a:t>分配</a:t>
            </a:r>
            <a:r>
              <a:rPr lang="en-US" altLang="zh-CN" sz="1800" b="1" dirty="0">
                <a:solidFill>
                  <a:srgbClr val="C00000"/>
                </a:solidFill>
                <a:latin typeface="+mn-lt"/>
                <a:ea typeface="楷体" pitchFamily="49" charset="-122"/>
              </a:rPr>
              <a:t>4</a:t>
            </a:r>
            <a:r>
              <a:rPr lang="zh-CN" altLang="en-US" sz="1800" b="1" dirty="0">
                <a:solidFill>
                  <a:srgbClr val="C00000"/>
                </a:solidFill>
                <a:latin typeface="+mn-lt"/>
                <a:ea typeface="楷体" pitchFamily="49" charset="-122"/>
              </a:rPr>
              <a:t>个字节</a:t>
            </a:r>
            <a:r>
              <a:rPr lang="zh-CN" altLang="en-US" sz="1800" b="1" dirty="0">
                <a:solidFill>
                  <a:srgbClr val="002060"/>
                </a:solidFill>
                <a:latin typeface="+mn-lt"/>
                <a:ea typeface="楷体" pitchFamily="49" charset="-122"/>
              </a:rPr>
              <a:t>的内存单元！</a:t>
            </a:r>
          </a:p>
        </p:txBody>
      </p:sp>
      <p:sp>
        <p:nvSpPr>
          <p:cNvPr id="52" name="Rectangle 4">
            <a:extLst>
              <a:ext uri="{FF2B5EF4-FFF2-40B4-BE49-F238E27FC236}">
                <a16:creationId xmlns:a16="http://schemas.microsoft.com/office/drawing/2014/main" id="{B2FD3A81-F2FA-4E66-8ECE-EB09226834E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指针与指针变量的概念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31549">
                                            <p:txEl>
                                              <p:pRg st="0" end="0"/>
                                            </p:txEl>
                                          </p:spTgt>
                                        </p:tgtEl>
                                        <p:attrNameLst>
                                          <p:attrName>style.visibility</p:attrName>
                                        </p:attrNameLst>
                                      </p:cBhvr>
                                      <p:to>
                                        <p:strVal val="visible"/>
                                      </p:to>
                                    </p:set>
                                    <p:animEffect transition="in" filter="box(out)">
                                      <p:cBhvr>
                                        <p:cTn id="7" dur="500"/>
                                        <p:tgtEl>
                                          <p:spTgt spid="113154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131522"/>
                                        </p:tgtEl>
                                        <p:attrNameLst>
                                          <p:attrName>style.visibility</p:attrName>
                                        </p:attrNameLst>
                                      </p:cBhvr>
                                      <p:to>
                                        <p:strVal val="visible"/>
                                      </p:to>
                                    </p:set>
                                    <p:animEffect transition="in" filter="box(out)">
                                      <p:cBhvr>
                                        <p:cTn id="12" dur="500"/>
                                        <p:tgtEl>
                                          <p:spTgt spid="1131522"/>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131551"/>
                                        </p:tgtEl>
                                        <p:attrNameLst>
                                          <p:attrName>style.visibility</p:attrName>
                                        </p:attrNameLst>
                                      </p:cBhvr>
                                      <p:to>
                                        <p:strVal val="visible"/>
                                      </p:to>
                                    </p:set>
                                    <p:animEffect transition="in" filter="strips(upRight)">
                                      <p:cBhvr>
                                        <p:cTn id="17" dur="500"/>
                                        <p:tgtEl>
                                          <p:spTgt spid="1131551"/>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31550"/>
                                        </p:tgtEl>
                                        <p:attrNameLst>
                                          <p:attrName>style.visibility</p:attrName>
                                        </p:attrNameLst>
                                      </p:cBhvr>
                                      <p:to>
                                        <p:strVal val="visible"/>
                                      </p:to>
                                    </p:set>
                                    <p:animEffect transition="in" filter="box(out)">
                                      <p:cBhvr>
                                        <p:cTn id="22" dur="500"/>
                                        <p:tgtEl>
                                          <p:spTgt spid="1131550"/>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1131555"/>
                                        </p:tgtEl>
                                        <p:attrNameLst>
                                          <p:attrName>style.visibility</p:attrName>
                                        </p:attrNameLst>
                                      </p:cBhvr>
                                      <p:to>
                                        <p:strVal val="visible"/>
                                      </p:to>
                                    </p:set>
                                    <p:animEffect transition="in" filter="strips(downLeft)">
                                      <p:cBhvr>
                                        <p:cTn id="27" dur="500"/>
                                        <p:tgtEl>
                                          <p:spTgt spid="1131555"/>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par>
                          <p:cTn id="28" fill="hold">
                            <p:stCondLst>
                              <p:cond delay="500"/>
                            </p:stCondLst>
                            <p:childTnLst>
                              <p:par>
                                <p:cTn id="29" presetID="4" presetClass="entr" presetSubtype="16" fill="hold" grpId="0" nodeType="afterEffect">
                                  <p:stCondLst>
                                    <p:cond delay="0"/>
                                  </p:stCondLst>
                                  <p:childTnLst>
                                    <p:set>
                                      <p:cBhvr>
                                        <p:cTn id="30" dur="1" fill="hold">
                                          <p:stCondLst>
                                            <p:cond delay="0"/>
                                          </p:stCondLst>
                                        </p:cTn>
                                        <p:tgtEl>
                                          <p:spTgt spid="1131552"/>
                                        </p:tgtEl>
                                        <p:attrNameLst>
                                          <p:attrName>style.visibility</p:attrName>
                                        </p:attrNameLst>
                                      </p:cBhvr>
                                      <p:to>
                                        <p:strVal val="visible"/>
                                      </p:to>
                                    </p:set>
                                    <p:animEffect transition="in" filter="box(in)">
                                      <p:cBhvr>
                                        <p:cTn id="31" dur="500"/>
                                        <p:tgtEl>
                                          <p:spTgt spid="1131552"/>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par>
                          <p:cTn id="32" fill="hold">
                            <p:stCondLst>
                              <p:cond delay="1000"/>
                            </p:stCondLst>
                            <p:childTnLst>
                              <p:par>
                                <p:cTn id="33" presetID="18" presetClass="entr" presetSubtype="12" fill="hold" nodeType="afterEffect">
                                  <p:stCondLst>
                                    <p:cond delay="0"/>
                                  </p:stCondLst>
                                  <p:childTnLst>
                                    <p:set>
                                      <p:cBhvr>
                                        <p:cTn id="34" dur="1" fill="hold">
                                          <p:stCondLst>
                                            <p:cond delay="0"/>
                                          </p:stCondLst>
                                        </p:cTn>
                                        <p:tgtEl>
                                          <p:spTgt spid="1131565"/>
                                        </p:tgtEl>
                                        <p:attrNameLst>
                                          <p:attrName>style.visibility</p:attrName>
                                        </p:attrNameLst>
                                      </p:cBhvr>
                                      <p:to>
                                        <p:strVal val="visible"/>
                                      </p:to>
                                    </p:set>
                                    <p:animEffect transition="in" filter="strips(downLeft)">
                                      <p:cBhvr>
                                        <p:cTn id="35" dur="500"/>
                                        <p:tgtEl>
                                          <p:spTgt spid="1131565"/>
                                        </p:tgtEl>
                                      </p:cBhvr>
                                    </p:animEffect>
                                  </p:childTnLst>
                                  <p:subTnLst>
                                    <p:audio>
                                      <p:cMediaNode>
                                        <p:cTn display="0" masterRel="sameClick">
                                          <p:stCondLst>
                                            <p:cond evt="begin" delay="0">
                                              <p:tn val="33"/>
                                            </p:cond>
                                          </p:stCondLst>
                                          <p:endCondLst>
                                            <p:cond evt="onStopAudio" delay="0">
                                              <p:tgtEl>
                                                <p:sldTgt/>
                                              </p:tgtEl>
                                            </p:cond>
                                          </p:endCondLst>
                                        </p:cTn>
                                        <p:tgtEl>
                                          <p:sndTgt r:embed="rId3" name="laser.wav"/>
                                        </p:tgtEl>
                                      </p:cMediaNode>
                                    </p:audio>
                                  </p:subTnLst>
                                </p:cTn>
                              </p:par>
                            </p:childTnLst>
                          </p:cTn>
                        </p:par>
                      </p:childTnLst>
                    </p:cTn>
                  </p:par>
                  <p:par>
                    <p:cTn id="36" fill="hold">
                      <p:stCondLst>
                        <p:cond delay="indefinite"/>
                      </p:stCondLst>
                      <p:childTnLst>
                        <p:par>
                          <p:cTn id="37" fill="hold">
                            <p:stCondLst>
                              <p:cond delay="0"/>
                            </p:stCondLst>
                            <p:childTnLst>
                              <p:par>
                                <p:cTn id="38" presetID="18" presetClass="entr" presetSubtype="12" fill="hold" nodeType="clickEffect">
                                  <p:stCondLst>
                                    <p:cond delay="0"/>
                                  </p:stCondLst>
                                  <p:childTnLst>
                                    <p:set>
                                      <p:cBhvr>
                                        <p:cTn id="39" dur="1" fill="hold">
                                          <p:stCondLst>
                                            <p:cond delay="0"/>
                                          </p:stCondLst>
                                        </p:cTn>
                                        <p:tgtEl>
                                          <p:spTgt spid="1131558"/>
                                        </p:tgtEl>
                                        <p:attrNameLst>
                                          <p:attrName>style.visibility</p:attrName>
                                        </p:attrNameLst>
                                      </p:cBhvr>
                                      <p:to>
                                        <p:strVal val="visible"/>
                                      </p:to>
                                    </p:set>
                                    <p:animEffect transition="in" filter="strips(downLeft)">
                                      <p:cBhvr>
                                        <p:cTn id="40" dur="500"/>
                                        <p:tgtEl>
                                          <p:spTgt spid="1131558"/>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par>
                          <p:cTn id="41" fill="hold">
                            <p:stCondLst>
                              <p:cond delay="500"/>
                            </p:stCondLst>
                            <p:childTnLst>
                              <p:par>
                                <p:cTn id="42" presetID="4" presetClass="entr" presetSubtype="16" fill="hold" grpId="0" nodeType="afterEffect">
                                  <p:stCondLst>
                                    <p:cond delay="0"/>
                                  </p:stCondLst>
                                  <p:childTnLst>
                                    <p:set>
                                      <p:cBhvr>
                                        <p:cTn id="43" dur="1" fill="hold">
                                          <p:stCondLst>
                                            <p:cond delay="0"/>
                                          </p:stCondLst>
                                        </p:cTn>
                                        <p:tgtEl>
                                          <p:spTgt spid="1131553"/>
                                        </p:tgtEl>
                                        <p:attrNameLst>
                                          <p:attrName>style.visibility</p:attrName>
                                        </p:attrNameLst>
                                      </p:cBhvr>
                                      <p:to>
                                        <p:strVal val="visible"/>
                                      </p:to>
                                    </p:set>
                                    <p:animEffect transition="in" filter="box(in)">
                                      <p:cBhvr>
                                        <p:cTn id="44" dur="500"/>
                                        <p:tgtEl>
                                          <p:spTgt spid="1131553"/>
                                        </p:tgtEl>
                                      </p:cBhvr>
                                    </p:animEffect>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par>
                          <p:cTn id="45" fill="hold">
                            <p:stCondLst>
                              <p:cond delay="1000"/>
                            </p:stCondLst>
                            <p:childTnLst>
                              <p:par>
                                <p:cTn id="46" presetID="18" presetClass="entr" presetSubtype="12" fill="hold" nodeType="afterEffect">
                                  <p:stCondLst>
                                    <p:cond delay="0"/>
                                  </p:stCondLst>
                                  <p:childTnLst>
                                    <p:set>
                                      <p:cBhvr>
                                        <p:cTn id="47" dur="1" fill="hold">
                                          <p:stCondLst>
                                            <p:cond delay="0"/>
                                          </p:stCondLst>
                                        </p:cTn>
                                        <p:tgtEl>
                                          <p:spTgt spid="1131568"/>
                                        </p:tgtEl>
                                        <p:attrNameLst>
                                          <p:attrName>style.visibility</p:attrName>
                                        </p:attrNameLst>
                                      </p:cBhvr>
                                      <p:to>
                                        <p:strVal val="visible"/>
                                      </p:to>
                                    </p:set>
                                    <p:animEffect transition="in" filter="strips(downLeft)">
                                      <p:cBhvr>
                                        <p:cTn id="48" dur="500"/>
                                        <p:tgtEl>
                                          <p:spTgt spid="1131568"/>
                                        </p:tgtEl>
                                      </p:cBhvr>
                                    </p:animEffect>
                                  </p:childTnLst>
                                  <p:subTnLst>
                                    <p:audio>
                                      <p:cMediaNode>
                                        <p:cTn display="0" masterRel="sameClick">
                                          <p:stCondLst>
                                            <p:cond evt="begin" delay="0">
                                              <p:tn val="46"/>
                                            </p:cond>
                                          </p:stCondLst>
                                          <p:endCondLst>
                                            <p:cond evt="onStopAudio" delay="0">
                                              <p:tgtEl>
                                                <p:sldTgt/>
                                              </p:tgtEl>
                                            </p:cond>
                                          </p:endCondLst>
                                        </p:cTn>
                                        <p:tgtEl>
                                          <p:sndTgt r:embed="rId3" name="laser.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131554"/>
                                        </p:tgtEl>
                                        <p:attrNameLst>
                                          <p:attrName>style.visibility</p:attrName>
                                        </p:attrNameLst>
                                      </p:cBhvr>
                                      <p:to>
                                        <p:strVal val="visible"/>
                                      </p:to>
                                    </p:set>
                                    <p:animEffect transition="in" filter="box(out)">
                                      <p:cBhvr>
                                        <p:cTn id="53" dur="500"/>
                                        <p:tgtEl>
                                          <p:spTgt spid="1131554"/>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18" presetClass="entr" presetSubtype="6" fill="hold" grpId="0" nodeType="clickEffect">
                                  <p:stCondLst>
                                    <p:cond delay="0"/>
                                  </p:stCondLst>
                                  <p:childTnLst>
                                    <p:set>
                                      <p:cBhvr>
                                        <p:cTn id="57" dur="1" fill="hold">
                                          <p:stCondLst>
                                            <p:cond delay="0"/>
                                          </p:stCondLst>
                                        </p:cTn>
                                        <p:tgtEl>
                                          <p:spTgt spid="1131561"/>
                                        </p:tgtEl>
                                        <p:attrNameLst>
                                          <p:attrName>style.visibility</p:attrName>
                                        </p:attrNameLst>
                                      </p:cBhvr>
                                      <p:to>
                                        <p:strVal val="visible"/>
                                      </p:to>
                                    </p:set>
                                    <p:animEffect transition="in" filter="strips(downRight)">
                                      <p:cBhvr>
                                        <p:cTn id="58" dur="500"/>
                                        <p:tgtEl>
                                          <p:spTgt spid="1131561"/>
                                        </p:tgtEl>
                                      </p:cBhvr>
                                    </p:animEffect>
                                  </p:childTnLst>
                                  <p:subTnLst>
                                    <p:audio>
                                      <p:cMediaNode>
                                        <p:cTn display="0" masterRel="sameClick">
                                          <p:stCondLst>
                                            <p:cond evt="begin" delay="0">
                                              <p:tn val="56"/>
                                            </p:cond>
                                          </p:stCondLst>
                                          <p:endCondLst>
                                            <p:cond evt="onStopAudio" delay="0">
                                              <p:tgtEl>
                                                <p:sldTgt/>
                                              </p:tgtEl>
                                            </p:cond>
                                          </p:endCondLst>
                                        </p:cTn>
                                        <p:tgtEl>
                                          <p:sndTgt r:embed="rId4" name="chimes.wav"/>
                                        </p:tgtEl>
                                      </p:cMediaNode>
                                    </p:audio>
                                  </p:subTnLst>
                                </p:cTn>
                              </p:par>
                            </p:childTnLst>
                          </p:cTn>
                        </p:par>
                      </p:childTnLst>
                    </p:cTn>
                  </p:par>
                  <p:par>
                    <p:cTn id="59" fill="hold">
                      <p:stCondLst>
                        <p:cond delay="indefinite"/>
                      </p:stCondLst>
                      <p:childTnLst>
                        <p:par>
                          <p:cTn id="60" fill="hold">
                            <p:stCondLst>
                              <p:cond delay="0"/>
                            </p:stCondLst>
                            <p:childTnLst>
                              <p:par>
                                <p:cTn id="61" presetID="18" presetClass="entr" presetSubtype="6" fill="hold" grpId="0" nodeType="clickEffect">
                                  <p:stCondLst>
                                    <p:cond delay="0"/>
                                  </p:stCondLst>
                                  <p:childTnLst>
                                    <p:set>
                                      <p:cBhvr>
                                        <p:cTn id="62" dur="1" fill="hold">
                                          <p:stCondLst>
                                            <p:cond delay="0"/>
                                          </p:stCondLst>
                                        </p:cTn>
                                        <p:tgtEl>
                                          <p:spTgt spid="1131571"/>
                                        </p:tgtEl>
                                        <p:attrNameLst>
                                          <p:attrName>style.visibility</p:attrName>
                                        </p:attrNameLst>
                                      </p:cBhvr>
                                      <p:to>
                                        <p:strVal val="visible"/>
                                      </p:to>
                                    </p:set>
                                    <p:animEffect transition="in" filter="strips(downRight)">
                                      <p:cBhvr>
                                        <p:cTn id="63" dur="500"/>
                                        <p:tgtEl>
                                          <p:spTgt spid="1131571"/>
                                        </p:tgtEl>
                                      </p:cBhvr>
                                    </p:animEffect>
                                  </p:childTnLst>
                                  <p:subTnLst>
                                    <p:audio>
                                      <p:cMediaNode>
                                        <p:cTn display="0" masterRel="sameClick">
                                          <p:stCondLst>
                                            <p:cond evt="begin" delay="0">
                                              <p:tn val="61"/>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1549" grpId="0" build="p" bldLvl="5" autoUpdateAnimBg="0"/>
      <p:bldP spid="1131550" grpId="0" animBg="1"/>
      <p:bldP spid="1131551" grpId="0" animBg="1"/>
      <p:bldP spid="1131552" grpId="0"/>
      <p:bldP spid="1131553" grpId="0"/>
      <p:bldP spid="1131554" grpId="0"/>
      <p:bldP spid="1131561" grpId="0" animBg="1"/>
      <p:bldP spid="113157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2546" name="Group 2"/>
          <p:cNvGrpSpPr>
            <a:grpSpLocks/>
          </p:cNvGrpSpPr>
          <p:nvPr/>
        </p:nvGrpSpPr>
        <p:grpSpPr bwMode="auto">
          <a:xfrm>
            <a:off x="3363219" y="2345699"/>
            <a:ext cx="4833937" cy="4578350"/>
            <a:chOff x="1785" y="1187"/>
            <a:chExt cx="3045" cy="2884"/>
          </a:xfrm>
        </p:grpSpPr>
        <p:sp>
          <p:nvSpPr>
            <p:cNvPr id="1132547" name="Line 3"/>
            <p:cNvSpPr>
              <a:spLocks noChangeShapeType="1"/>
            </p:cNvSpPr>
            <p:nvPr/>
          </p:nvSpPr>
          <p:spPr bwMode="auto">
            <a:xfrm flipH="1">
              <a:off x="3525" y="1638"/>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2548" name="Text Box 4"/>
            <p:cNvSpPr txBox="1">
              <a:spLocks noChangeArrowheads="1"/>
            </p:cNvSpPr>
            <p:nvPr/>
          </p:nvSpPr>
          <p:spPr bwMode="auto">
            <a:xfrm>
              <a:off x="3732" y="1498"/>
              <a:ext cx="1098" cy="252"/>
            </a:xfrm>
            <a:prstGeom prst="rect">
              <a:avLst/>
            </a:prstGeom>
            <a:noFill/>
            <a:ln w="9525">
              <a:noFill/>
              <a:miter lim="800000"/>
              <a:headEnd type="none" w="lg" len="lg"/>
              <a:tailEnd/>
            </a:ln>
            <a:effectLst/>
          </p:spPr>
          <p:txBody>
            <a:bodyPr wrap="square">
              <a:spAutoFit/>
            </a:bodyPr>
            <a:lstStyle/>
            <a:p>
              <a:pPr>
                <a:lnSpc>
                  <a:spcPct val="100000"/>
                </a:lnSpc>
                <a:spcBef>
                  <a:spcPct val="0"/>
                </a:spcBef>
              </a:pPr>
              <a:r>
                <a:rPr lang="zh-CN" altLang="en-US" sz="2000" dirty="0">
                  <a:latin typeface="+mn-lt"/>
                  <a:ea typeface="楷体" pitchFamily="49" charset="-122"/>
                </a:rPr>
                <a:t>短整型变量</a:t>
              </a:r>
              <a:r>
                <a:rPr lang="en-US" altLang="zh-CN" sz="2000" dirty="0" err="1">
                  <a:solidFill>
                    <a:srgbClr val="002060"/>
                  </a:solidFill>
                  <a:latin typeface="+mn-lt"/>
                  <a:ea typeface="楷体" pitchFamily="49" charset="-122"/>
                </a:rPr>
                <a:t>i</a:t>
              </a:r>
              <a:endParaRPr lang="en-US" altLang="zh-CN" sz="2000" dirty="0">
                <a:solidFill>
                  <a:srgbClr val="002060"/>
                </a:solidFill>
                <a:latin typeface="+mn-lt"/>
                <a:ea typeface="楷体" pitchFamily="49" charset="-122"/>
              </a:endParaRPr>
            </a:p>
          </p:txBody>
        </p:sp>
        <p:sp>
          <p:nvSpPr>
            <p:cNvPr id="1132549" name="Line 5"/>
            <p:cNvSpPr>
              <a:spLocks noChangeShapeType="1"/>
            </p:cNvSpPr>
            <p:nvPr/>
          </p:nvSpPr>
          <p:spPr bwMode="auto">
            <a:xfrm flipH="1">
              <a:off x="3549" y="2530"/>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2550" name="Text Box 6"/>
            <p:cNvSpPr txBox="1">
              <a:spLocks noChangeArrowheads="1"/>
            </p:cNvSpPr>
            <p:nvPr/>
          </p:nvSpPr>
          <p:spPr bwMode="auto">
            <a:xfrm>
              <a:off x="3731" y="2407"/>
              <a:ext cx="1021"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latin typeface="+mn-lt"/>
                  <a:ea typeface="楷体" pitchFamily="49" charset="-122"/>
                </a:rPr>
                <a:t>变量</a:t>
              </a:r>
              <a:r>
                <a:rPr lang="en-US" altLang="zh-CN" sz="2000" dirty="0" err="1">
                  <a:solidFill>
                    <a:srgbClr val="002060"/>
                  </a:solidFill>
                  <a:latin typeface="+mn-lt"/>
                  <a:ea typeface="楷体" pitchFamily="49" charset="-122"/>
                </a:rPr>
                <a:t>i_pointer</a:t>
              </a:r>
              <a:endParaRPr lang="en-US" altLang="zh-CN" sz="2000" dirty="0">
                <a:solidFill>
                  <a:srgbClr val="002060"/>
                </a:solidFill>
                <a:latin typeface="+mn-lt"/>
                <a:ea typeface="楷体" pitchFamily="49" charset="-122"/>
              </a:endParaRPr>
            </a:p>
          </p:txBody>
        </p:sp>
        <p:grpSp>
          <p:nvGrpSpPr>
            <p:cNvPr id="1132551" name="Group 7"/>
            <p:cNvGrpSpPr>
              <a:grpSpLocks/>
            </p:cNvGrpSpPr>
            <p:nvPr/>
          </p:nvGrpSpPr>
          <p:grpSpPr bwMode="auto">
            <a:xfrm>
              <a:off x="1785" y="1187"/>
              <a:ext cx="1762" cy="2884"/>
              <a:chOff x="1785" y="1187"/>
              <a:chExt cx="1762" cy="2884"/>
            </a:xfrm>
          </p:grpSpPr>
          <p:grpSp>
            <p:nvGrpSpPr>
              <p:cNvPr id="1132552" name="Group 8"/>
              <p:cNvGrpSpPr>
                <a:grpSpLocks/>
              </p:cNvGrpSpPr>
              <p:nvPr/>
            </p:nvGrpSpPr>
            <p:grpSpPr bwMode="auto">
              <a:xfrm>
                <a:off x="2316" y="1187"/>
                <a:ext cx="1231" cy="2884"/>
                <a:chOff x="2316" y="1178"/>
                <a:chExt cx="1231" cy="2884"/>
              </a:xfrm>
            </p:grpSpPr>
            <p:sp>
              <p:nvSpPr>
                <p:cNvPr id="1132553" name="Rectangle 9"/>
                <p:cNvSpPr>
                  <a:spLocks noChangeArrowheads="1"/>
                </p:cNvSpPr>
                <p:nvPr/>
              </p:nvSpPr>
              <p:spPr bwMode="auto">
                <a:xfrm>
                  <a:off x="2324" y="1178"/>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dirty="0">
                    <a:ea typeface="宋体" pitchFamily="2" charset="-122"/>
                  </a:endParaRPr>
                </a:p>
              </p:txBody>
            </p:sp>
            <p:sp>
              <p:nvSpPr>
                <p:cNvPr id="1132554" name="Line 10"/>
                <p:cNvSpPr>
                  <a:spLocks noChangeShapeType="1"/>
                </p:cNvSpPr>
                <p:nvPr/>
              </p:nvSpPr>
              <p:spPr bwMode="auto">
                <a:xfrm>
                  <a:off x="2336" y="161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2555" name="Line 11"/>
                <p:cNvSpPr>
                  <a:spLocks noChangeShapeType="1"/>
                </p:cNvSpPr>
                <p:nvPr/>
              </p:nvSpPr>
              <p:spPr bwMode="auto">
                <a:xfrm>
                  <a:off x="2336" y="1872"/>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32556" name="Line 12"/>
                <p:cNvSpPr>
                  <a:spLocks noChangeShapeType="1"/>
                </p:cNvSpPr>
                <p:nvPr/>
              </p:nvSpPr>
              <p:spPr bwMode="auto">
                <a:xfrm>
                  <a:off x="2336" y="2105"/>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2557" name="Line 13"/>
                <p:cNvSpPr>
                  <a:spLocks noChangeShapeType="1"/>
                </p:cNvSpPr>
                <p:nvPr/>
              </p:nvSpPr>
              <p:spPr bwMode="auto">
                <a:xfrm>
                  <a:off x="2336" y="2360"/>
                  <a:ext cx="1211" cy="0"/>
                </a:xfrm>
                <a:prstGeom prst="line">
                  <a:avLst/>
                </a:prstGeom>
                <a:noFill/>
                <a:ln w="9525">
                  <a:solidFill>
                    <a:srgbClr val="000000"/>
                  </a:solidFill>
                  <a:prstDash val="solid"/>
                  <a:round/>
                  <a:headEnd/>
                  <a:tailEnd/>
                </a:ln>
                <a:effectLst/>
              </p:spPr>
              <p:txBody>
                <a:bodyPr wrap="none" anchor="ctr"/>
                <a:lstStyle/>
                <a:p>
                  <a:endParaRPr lang="zh-CN" altLang="en-US"/>
                </a:p>
              </p:txBody>
            </p:sp>
            <p:sp>
              <p:nvSpPr>
                <p:cNvPr id="1132558" name="Line 14"/>
                <p:cNvSpPr>
                  <a:spLocks noChangeShapeType="1"/>
                </p:cNvSpPr>
                <p:nvPr/>
              </p:nvSpPr>
              <p:spPr bwMode="auto">
                <a:xfrm>
                  <a:off x="2324" y="2618"/>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2559" name="Line 15"/>
                <p:cNvSpPr>
                  <a:spLocks noChangeShapeType="1"/>
                </p:cNvSpPr>
                <p:nvPr/>
              </p:nvSpPr>
              <p:spPr bwMode="auto">
                <a:xfrm>
                  <a:off x="2336" y="3160"/>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2560" name="Text Box 16"/>
                <p:cNvSpPr txBox="1">
                  <a:spLocks noChangeArrowheads="1"/>
                </p:cNvSpPr>
                <p:nvPr/>
              </p:nvSpPr>
              <p:spPr bwMode="auto">
                <a:xfrm>
                  <a:off x="2814" y="1235"/>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grpSp>
              <p:nvGrpSpPr>
                <p:cNvPr id="1132561" name="Group 17"/>
                <p:cNvGrpSpPr>
                  <a:grpSpLocks/>
                </p:cNvGrpSpPr>
                <p:nvPr/>
              </p:nvGrpSpPr>
              <p:grpSpPr bwMode="auto">
                <a:xfrm>
                  <a:off x="2316" y="3390"/>
                  <a:ext cx="1217" cy="672"/>
                  <a:chOff x="2316" y="3390"/>
                  <a:chExt cx="1217" cy="672"/>
                </a:xfrm>
              </p:grpSpPr>
              <p:sp>
                <p:nvSpPr>
                  <p:cNvPr id="1132562" name="Freeform 18"/>
                  <p:cNvSpPr>
                    <a:spLocks/>
                  </p:cNvSpPr>
                  <p:nvPr/>
                </p:nvSpPr>
                <p:spPr bwMode="auto">
                  <a:xfrm>
                    <a:off x="2316" y="3390"/>
                    <a:ext cx="1217"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32563" name="Text Box 19"/>
                  <p:cNvSpPr txBox="1">
                    <a:spLocks noChangeArrowheads="1"/>
                  </p:cNvSpPr>
                  <p:nvPr/>
                </p:nvSpPr>
                <p:spPr bwMode="auto">
                  <a:xfrm>
                    <a:off x="2813" y="3440"/>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grpSp>
            <p:sp>
              <p:nvSpPr>
                <p:cNvPr id="1132564" name="Line 20"/>
                <p:cNvSpPr>
                  <a:spLocks noChangeShapeType="1"/>
                </p:cNvSpPr>
                <p:nvPr/>
              </p:nvSpPr>
              <p:spPr bwMode="auto">
                <a:xfrm>
                  <a:off x="2336" y="2882"/>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2565" name="Text Box 21"/>
                <p:cNvSpPr txBox="1">
                  <a:spLocks noChangeArrowheads="1"/>
                </p:cNvSpPr>
                <p:nvPr/>
              </p:nvSpPr>
              <p:spPr bwMode="auto">
                <a:xfrm>
                  <a:off x="2725" y="1730"/>
                  <a:ext cx="308"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dirty="0">
                      <a:solidFill>
                        <a:srgbClr val="002060"/>
                      </a:solidFill>
                      <a:ea typeface="宋体" pitchFamily="2" charset="-122"/>
                    </a:rPr>
                    <a:t>10</a:t>
                  </a:r>
                </a:p>
              </p:txBody>
            </p:sp>
          </p:grpSp>
          <p:grpSp>
            <p:nvGrpSpPr>
              <p:cNvPr id="1132566" name="Group 22"/>
              <p:cNvGrpSpPr>
                <a:grpSpLocks/>
              </p:cNvGrpSpPr>
              <p:nvPr/>
            </p:nvGrpSpPr>
            <p:grpSpPr bwMode="auto">
              <a:xfrm>
                <a:off x="1785" y="1605"/>
                <a:ext cx="444" cy="1796"/>
                <a:chOff x="1785" y="1605"/>
                <a:chExt cx="444" cy="1796"/>
              </a:xfrm>
            </p:grpSpPr>
            <p:sp>
              <p:nvSpPr>
                <p:cNvPr id="1132567" name="Text Box 23"/>
                <p:cNvSpPr txBox="1">
                  <a:spLocks noChangeArrowheads="1"/>
                </p:cNvSpPr>
                <p:nvPr/>
              </p:nvSpPr>
              <p:spPr bwMode="auto">
                <a:xfrm>
                  <a:off x="1785" y="16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a typeface="宋体" pitchFamily="2" charset="-122"/>
                    </a:rPr>
                    <a:t>2000</a:t>
                  </a:r>
                </a:p>
              </p:txBody>
            </p:sp>
            <p:sp>
              <p:nvSpPr>
                <p:cNvPr id="1132568" name="Text Box 24"/>
                <p:cNvSpPr txBox="1">
                  <a:spLocks noChangeArrowheads="1"/>
                </p:cNvSpPr>
                <p:nvPr/>
              </p:nvSpPr>
              <p:spPr bwMode="auto">
                <a:xfrm>
                  <a:off x="1793" y="263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a typeface="宋体" pitchFamily="2" charset="-122"/>
                    </a:rPr>
                    <a:t>2004</a:t>
                  </a:r>
                </a:p>
              </p:txBody>
            </p:sp>
            <p:sp>
              <p:nvSpPr>
                <p:cNvPr id="1132569" name="Text Box 25"/>
                <p:cNvSpPr txBox="1">
                  <a:spLocks noChangeArrowheads="1"/>
                </p:cNvSpPr>
                <p:nvPr/>
              </p:nvSpPr>
              <p:spPr bwMode="auto">
                <a:xfrm>
                  <a:off x="1785" y="315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a typeface="宋体" pitchFamily="2" charset="-122"/>
                    </a:rPr>
                    <a:t>2006</a:t>
                  </a:r>
                </a:p>
              </p:txBody>
            </p:sp>
            <p:sp>
              <p:nvSpPr>
                <p:cNvPr id="1132570" name="Text Box 26"/>
                <p:cNvSpPr txBox="1">
                  <a:spLocks noChangeArrowheads="1"/>
                </p:cNvSpPr>
                <p:nvPr/>
              </p:nvSpPr>
              <p:spPr bwMode="auto">
                <a:xfrm>
                  <a:off x="1785" y="289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a typeface="宋体" pitchFamily="2" charset="-122"/>
                    </a:rPr>
                    <a:t>2005</a:t>
                  </a:r>
                </a:p>
              </p:txBody>
            </p:sp>
            <p:sp>
              <p:nvSpPr>
                <p:cNvPr id="1132571" name="Text Box 27"/>
                <p:cNvSpPr txBox="1">
                  <a:spLocks noChangeArrowheads="1"/>
                </p:cNvSpPr>
                <p:nvPr/>
              </p:nvSpPr>
              <p:spPr bwMode="auto">
                <a:xfrm>
                  <a:off x="1785" y="186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a typeface="宋体" pitchFamily="2" charset="-122"/>
                    </a:rPr>
                    <a:t>2001</a:t>
                  </a:r>
                </a:p>
              </p:txBody>
            </p:sp>
            <p:sp>
              <p:nvSpPr>
                <p:cNvPr id="1132572" name="Text Box 28"/>
                <p:cNvSpPr txBox="1">
                  <a:spLocks noChangeArrowheads="1"/>
                </p:cNvSpPr>
                <p:nvPr/>
              </p:nvSpPr>
              <p:spPr bwMode="auto">
                <a:xfrm>
                  <a:off x="1785" y="211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a typeface="宋体" pitchFamily="2" charset="-122"/>
                    </a:rPr>
                    <a:t>2002</a:t>
                  </a:r>
                </a:p>
              </p:txBody>
            </p:sp>
            <p:sp>
              <p:nvSpPr>
                <p:cNvPr id="1132573" name="Text Box 29"/>
                <p:cNvSpPr txBox="1">
                  <a:spLocks noChangeArrowheads="1"/>
                </p:cNvSpPr>
                <p:nvPr/>
              </p:nvSpPr>
              <p:spPr bwMode="auto">
                <a:xfrm>
                  <a:off x="1785" y="237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a typeface="宋体" pitchFamily="2" charset="-122"/>
                    </a:rPr>
                    <a:t>2003</a:t>
                  </a:r>
                </a:p>
              </p:txBody>
            </p:sp>
          </p:grpSp>
        </p:grpSp>
      </p:grpSp>
      <p:sp>
        <p:nvSpPr>
          <p:cNvPr id="1132574" name="Rectangle 30"/>
          <p:cNvSpPr>
            <a:spLocks noChangeArrowheads="1"/>
          </p:cNvSpPr>
          <p:nvPr/>
        </p:nvSpPr>
        <p:spPr bwMode="auto">
          <a:xfrm>
            <a:off x="636956" y="823185"/>
            <a:ext cx="7545388" cy="1474787"/>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rPr>
              <a:t>3</a:t>
            </a:r>
            <a:r>
              <a:rPr lang="zh-CN" altLang="en-US" sz="2800" b="1" dirty="0">
                <a:solidFill>
                  <a:srgbClr val="C00000"/>
                </a:solidFill>
                <a:latin typeface="+mn-lt"/>
                <a:ea typeface="楷体" pitchFamily="49" charset="-122"/>
              </a:rPr>
              <a:t>、指针与指针变量</a:t>
            </a:r>
          </a:p>
          <a:p>
            <a:pPr marL="742950" lvl="1" indent="-285750">
              <a:lnSpc>
                <a:spcPct val="100000"/>
              </a:lnSpc>
              <a:buClr>
                <a:srgbClr val="C01920"/>
              </a:buClr>
              <a:buFont typeface="Wingdings" pitchFamily="2" charset="2"/>
              <a:buChar char="l"/>
            </a:pPr>
            <a:r>
              <a:rPr lang="zh-CN" altLang="en-US" b="1" dirty="0">
                <a:solidFill>
                  <a:srgbClr val="C00000"/>
                </a:solidFill>
                <a:latin typeface="楷体" panose="02010609060101010101" pitchFamily="49" charset="-122"/>
                <a:ea typeface="楷体" panose="02010609060101010101" pitchFamily="49" charset="-122"/>
              </a:rPr>
              <a:t>指针：</a:t>
            </a:r>
            <a:r>
              <a:rPr lang="zh-CN" altLang="en-US" dirty="0">
                <a:latin typeface="隶书" pitchFamily="49" charset="-122"/>
                <a:ea typeface="隶书" pitchFamily="49" charset="-122"/>
              </a:rPr>
              <a:t>一个变量的地址</a:t>
            </a:r>
          </a:p>
          <a:p>
            <a:pPr marL="742950" lvl="1" indent="-285750">
              <a:lnSpc>
                <a:spcPct val="100000"/>
              </a:lnSpc>
              <a:buClr>
                <a:srgbClr val="C01920"/>
              </a:buClr>
              <a:buFont typeface="Wingdings" pitchFamily="2" charset="2"/>
              <a:buChar char="l"/>
            </a:pPr>
            <a:r>
              <a:rPr lang="zh-CN" altLang="en-US" b="1" dirty="0">
                <a:solidFill>
                  <a:srgbClr val="C00000"/>
                </a:solidFill>
                <a:latin typeface="楷体" panose="02010609060101010101" pitchFamily="49" charset="-122"/>
                <a:ea typeface="楷体" panose="02010609060101010101" pitchFamily="49" charset="-122"/>
              </a:rPr>
              <a:t>指针变量：</a:t>
            </a:r>
            <a:r>
              <a:rPr lang="zh-CN" altLang="en-US" dirty="0">
                <a:latin typeface="隶书" pitchFamily="49" charset="-122"/>
                <a:ea typeface="隶书" pitchFamily="49" charset="-122"/>
              </a:rPr>
              <a:t>专门存放变量地址的变量</a:t>
            </a:r>
          </a:p>
        </p:txBody>
      </p:sp>
      <p:sp>
        <p:nvSpPr>
          <p:cNvPr id="1132575" name="Text Box 31"/>
          <p:cNvSpPr txBox="1">
            <a:spLocks noChangeArrowheads="1"/>
          </p:cNvSpPr>
          <p:nvPr/>
        </p:nvSpPr>
        <p:spPr bwMode="auto">
          <a:xfrm>
            <a:off x="4811018" y="4833312"/>
            <a:ext cx="692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CC0000"/>
                </a:solidFill>
                <a:ea typeface="宋体" pitchFamily="2" charset="-122"/>
              </a:rPr>
              <a:t>2000</a:t>
            </a:r>
          </a:p>
        </p:txBody>
      </p:sp>
      <p:sp>
        <p:nvSpPr>
          <p:cNvPr id="1132576" name="AutoShape 32"/>
          <p:cNvSpPr>
            <a:spLocks noChangeArrowheads="1"/>
          </p:cNvSpPr>
          <p:nvPr/>
        </p:nvSpPr>
        <p:spPr bwMode="auto">
          <a:xfrm>
            <a:off x="6996109" y="4898449"/>
            <a:ext cx="1567068" cy="519351"/>
          </a:xfrm>
          <a:prstGeom prst="wedgeEllipseCallout">
            <a:avLst>
              <a:gd name="adj1" fmla="val -61838"/>
              <a:gd name="adj2" fmla="val -107185"/>
            </a:avLst>
          </a:prstGeom>
          <a:gradFill rotWithShape="1">
            <a:gsLst>
              <a:gs pos="0">
                <a:srgbClr val="CFCFD1"/>
              </a:gs>
              <a:gs pos="100000">
                <a:schemeClr val="bg1"/>
              </a:gs>
            </a:gsLst>
            <a:lin ang="5400000" scaled="1"/>
          </a:gradFill>
          <a:ln w="28575">
            <a:solidFill>
              <a:srgbClr val="C01920"/>
            </a:solidFill>
            <a:miter lim="800000"/>
            <a:headEnd type="none" w="lg" len="lg"/>
            <a:tailEnd/>
          </a:ln>
          <a:effectLst>
            <a:outerShdw blurRad="50800" dist="106680" dir="2700000" algn="tl" rotWithShape="0">
              <a:prstClr val="black">
                <a:alpha val="43000"/>
              </a:prstClr>
            </a:outerShdw>
          </a:effectLst>
        </p:spPr>
        <p:txBody>
          <a:bodyPr wrap="none" anchor="ctr">
            <a:spAutoFit/>
          </a:bodyPr>
          <a:lstStyle/>
          <a:p>
            <a:pPr algn="ctr">
              <a:lnSpc>
                <a:spcPct val="100000"/>
              </a:lnSpc>
              <a:spcBef>
                <a:spcPct val="0"/>
              </a:spcBef>
            </a:pPr>
            <a:r>
              <a:rPr lang="zh-CN" altLang="en-US" sz="1800">
                <a:solidFill>
                  <a:srgbClr val="002060"/>
                </a:solidFill>
                <a:latin typeface="+mn-lt"/>
                <a:ea typeface="楷体" pitchFamily="49" charset="-122"/>
              </a:rPr>
              <a:t>指针变量</a:t>
            </a:r>
          </a:p>
        </p:txBody>
      </p:sp>
      <p:grpSp>
        <p:nvGrpSpPr>
          <p:cNvPr id="1132577" name="Group 33"/>
          <p:cNvGrpSpPr>
            <a:grpSpLocks/>
          </p:cNvGrpSpPr>
          <p:nvPr/>
        </p:nvGrpSpPr>
        <p:grpSpPr bwMode="auto">
          <a:xfrm>
            <a:off x="3006031" y="3199774"/>
            <a:ext cx="1158875" cy="1770062"/>
            <a:chOff x="1560" y="1725"/>
            <a:chExt cx="730" cy="1115"/>
          </a:xfrm>
        </p:grpSpPr>
        <p:sp>
          <p:nvSpPr>
            <p:cNvPr id="1132578" name="Line 34"/>
            <p:cNvSpPr>
              <a:spLocks noChangeShapeType="1"/>
            </p:cNvSpPr>
            <p:nvPr/>
          </p:nvSpPr>
          <p:spPr bwMode="auto">
            <a:xfrm flipH="1">
              <a:off x="1560" y="1725"/>
              <a:ext cx="178" cy="0"/>
            </a:xfrm>
            <a:prstGeom prst="line">
              <a:avLst/>
            </a:prstGeom>
            <a:noFill/>
            <a:ln w="22225">
              <a:solidFill>
                <a:schemeClr val="accent1">
                  <a:lumMod val="50000"/>
                </a:schemeClr>
              </a:solidFill>
              <a:round/>
              <a:headEnd type="none" w="lg" len="lg"/>
              <a:tailEnd/>
            </a:ln>
            <a:effectLst/>
          </p:spPr>
          <p:txBody>
            <a:bodyPr wrap="none" anchor="ctr"/>
            <a:lstStyle/>
            <a:p>
              <a:endParaRPr lang="zh-CN" altLang="en-US"/>
            </a:p>
          </p:txBody>
        </p:sp>
        <p:sp>
          <p:nvSpPr>
            <p:cNvPr id="1132579" name="Line 35"/>
            <p:cNvSpPr>
              <a:spLocks noChangeShapeType="1"/>
            </p:cNvSpPr>
            <p:nvPr/>
          </p:nvSpPr>
          <p:spPr bwMode="auto">
            <a:xfrm>
              <a:off x="1564" y="1725"/>
              <a:ext cx="0" cy="1115"/>
            </a:xfrm>
            <a:prstGeom prst="line">
              <a:avLst/>
            </a:prstGeom>
            <a:noFill/>
            <a:ln w="22225">
              <a:solidFill>
                <a:schemeClr val="accent1">
                  <a:lumMod val="50000"/>
                </a:schemeClr>
              </a:solidFill>
              <a:round/>
              <a:headEnd type="none" w="lg" len="lg"/>
              <a:tailEnd/>
            </a:ln>
            <a:effectLst/>
          </p:spPr>
          <p:txBody>
            <a:bodyPr wrap="none" anchor="ctr"/>
            <a:lstStyle/>
            <a:p>
              <a:endParaRPr lang="zh-CN" altLang="en-US"/>
            </a:p>
          </p:txBody>
        </p:sp>
        <p:sp>
          <p:nvSpPr>
            <p:cNvPr id="1132580" name="Line 36"/>
            <p:cNvSpPr>
              <a:spLocks noChangeShapeType="1"/>
            </p:cNvSpPr>
            <p:nvPr/>
          </p:nvSpPr>
          <p:spPr bwMode="auto">
            <a:xfrm>
              <a:off x="1564" y="2840"/>
              <a:ext cx="726" cy="0"/>
            </a:xfrm>
            <a:prstGeom prst="line">
              <a:avLst/>
            </a:prstGeom>
            <a:noFill/>
            <a:ln w="22225">
              <a:solidFill>
                <a:schemeClr val="accent1">
                  <a:lumMod val="50000"/>
                </a:schemeClr>
              </a:solidFill>
              <a:round/>
              <a:headEnd type="none" w="lg" len="lg"/>
              <a:tailEnd type="stealth" w="lg" len="lg"/>
            </a:ln>
            <a:effectLst/>
          </p:spPr>
          <p:txBody>
            <a:bodyPr wrap="none" anchor="ctr"/>
            <a:lstStyle/>
            <a:p>
              <a:endParaRPr lang="zh-CN" altLang="en-US"/>
            </a:p>
          </p:txBody>
        </p:sp>
      </p:grpSp>
      <p:sp>
        <p:nvSpPr>
          <p:cNvPr id="1132581" name="Rectangle 37"/>
          <p:cNvSpPr>
            <a:spLocks noChangeArrowheads="1"/>
          </p:cNvSpPr>
          <p:nvPr/>
        </p:nvSpPr>
        <p:spPr bwMode="auto">
          <a:xfrm>
            <a:off x="1852736" y="6924154"/>
            <a:ext cx="181822" cy="463846"/>
          </a:xfrm>
          <a:prstGeom prst="rect">
            <a:avLst/>
          </a:prstGeom>
          <a:noFill/>
          <a:ln w="38100">
            <a:noFill/>
            <a:miter lim="800000"/>
            <a:headEnd/>
            <a:tailEnd/>
          </a:ln>
          <a:effectLst/>
        </p:spPr>
        <p:txBody>
          <a:bodyPr wrap="none" lIns="90000" tIns="46800" rIns="90000" bIns="46800" anchor="ctr">
            <a:spAutoFit/>
          </a:bodyPr>
          <a:lstStyle/>
          <a:p>
            <a:endParaRPr lang="zh-CN" altLang="en-US"/>
          </a:p>
        </p:txBody>
      </p:sp>
      <p:grpSp>
        <p:nvGrpSpPr>
          <p:cNvPr id="1132585" name="Group 41"/>
          <p:cNvGrpSpPr>
            <a:grpSpLocks/>
          </p:cNvGrpSpPr>
          <p:nvPr/>
        </p:nvGrpSpPr>
        <p:grpSpPr bwMode="auto">
          <a:xfrm>
            <a:off x="4626869" y="3314075"/>
            <a:ext cx="4291013" cy="847725"/>
            <a:chOff x="2581" y="1797"/>
            <a:chExt cx="2703" cy="534"/>
          </a:xfrm>
        </p:grpSpPr>
        <p:sp>
          <p:nvSpPr>
            <p:cNvPr id="1132586" name="Oval 42"/>
            <p:cNvSpPr>
              <a:spLocks noChangeArrowheads="1"/>
            </p:cNvSpPr>
            <p:nvPr/>
          </p:nvSpPr>
          <p:spPr bwMode="auto">
            <a:xfrm>
              <a:off x="2581" y="1797"/>
              <a:ext cx="644" cy="182"/>
            </a:xfrm>
            <a:prstGeom prst="ellipse">
              <a:avLst/>
            </a:prstGeom>
            <a:noFill/>
            <a:ln w="28575">
              <a:solidFill>
                <a:srgbClr val="7030A0"/>
              </a:solidFill>
              <a:round/>
              <a:headEnd/>
              <a:tailEnd/>
            </a:ln>
            <a:effectLst/>
          </p:spPr>
          <p:txBody>
            <a:bodyPr wrap="none" anchor="ctr"/>
            <a:lstStyle/>
            <a:p>
              <a:endParaRPr lang="zh-CN" altLang="en-US">
                <a:latin typeface="+mn-lt"/>
                <a:ea typeface="楷体" pitchFamily="49" charset="-122"/>
              </a:endParaRPr>
            </a:p>
          </p:txBody>
        </p:sp>
        <p:sp>
          <p:nvSpPr>
            <p:cNvPr id="1132587" name="AutoShape 43"/>
            <p:cNvSpPr>
              <a:spLocks/>
            </p:cNvSpPr>
            <p:nvPr/>
          </p:nvSpPr>
          <p:spPr bwMode="auto">
            <a:xfrm>
              <a:off x="3929" y="2104"/>
              <a:ext cx="1355" cy="227"/>
            </a:xfrm>
            <a:prstGeom prst="borderCallout2">
              <a:avLst>
                <a:gd name="adj1" fmla="val 31718"/>
                <a:gd name="adj2" fmla="val -3796"/>
                <a:gd name="adj3" fmla="val 31718"/>
                <a:gd name="adj4" fmla="val -32356"/>
                <a:gd name="adj5" fmla="val -71806"/>
                <a:gd name="adj6" fmla="val -61708"/>
              </a:avLst>
            </a:prstGeom>
            <a:gradFill rotWithShape="1">
              <a:gsLst>
                <a:gs pos="0">
                  <a:srgbClr val="CFCFD1"/>
                </a:gs>
                <a:gs pos="100000">
                  <a:schemeClr val="bg1"/>
                </a:gs>
              </a:gsLst>
              <a:lin ang="5400000" scaled="1"/>
            </a:gradFill>
            <a:ln w="19050">
              <a:solidFill>
                <a:srgbClr val="7030A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dirty="0">
                  <a:solidFill>
                    <a:srgbClr val="CC0000"/>
                  </a:solidFill>
                  <a:latin typeface="+mn-lt"/>
                  <a:ea typeface="楷体" pitchFamily="49" charset="-122"/>
                </a:rPr>
                <a:t>短整型变量</a:t>
              </a:r>
              <a:r>
                <a:rPr lang="en-US" altLang="zh-CN" sz="1800" dirty="0" err="1">
                  <a:solidFill>
                    <a:srgbClr val="CC0000"/>
                  </a:solidFill>
                  <a:latin typeface="+mn-lt"/>
                  <a:ea typeface="楷体" pitchFamily="49" charset="-122"/>
                </a:rPr>
                <a:t>i</a:t>
              </a:r>
              <a:r>
                <a:rPr lang="zh-CN" altLang="en-US" sz="1800" dirty="0">
                  <a:solidFill>
                    <a:srgbClr val="CC0000"/>
                  </a:solidFill>
                  <a:latin typeface="+mn-lt"/>
                  <a:ea typeface="楷体" pitchFamily="49" charset="-122"/>
                </a:rPr>
                <a:t>的内容</a:t>
              </a:r>
            </a:p>
          </p:txBody>
        </p:sp>
      </p:grpSp>
      <p:grpSp>
        <p:nvGrpSpPr>
          <p:cNvPr id="1132588" name="Group 44"/>
          <p:cNvGrpSpPr>
            <a:grpSpLocks/>
          </p:cNvGrpSpPr>
          <p:nvPr/>
        </p:nvGrpSpPr>
        <p:grpSpPr bwMode="auto">
          <a:xfrm>
            <a:off x="4685605" y="4901574"/>
            <a:ext cx="4592638" cy="1797050"/>
            <a:chOff x="2618" y="2797"/>
            <a:chExt cx="2893" cy="1132"/>
          </a:xfrm>
        </p:grpSpPr>
        <p:sp>
          <p:nvSpPr>
            <p:cNvPr id="1132589" name="Oval 45"/>
            <p:cNvSpPr>
              <a:spLocks noChangeArrowheads="1"/>
            </p:cNvSpPr>
            <p:nvPr/>
          </p:nvSpPr>
          <p:spPr bwMode="auto">
            <a:xfrm>
              <a:off x="2618" y="2797"/>
              <a:ext cx="644" cy="182"/>
            </a:xfrm>
            <a:prstGeom prst="ellipse">
              <a:avLst/>
            </a:prstGeom>
            <a:noFill/>
            <a:ln w="28575">
              <a:solidFill>
                <a:srgbClr val="C00000"/>
              </a:solidFill>
              <a:round/>
              <a:headEnd/>
              <a:tailEnd/>
            </a:ln>
            <a:effectLst>
              <a:outerShdw blurRad="50800" dist="38100" dir="2700000" algn="tl" rotWithShape="0">
                <a:prstClr val="black">
                  <a:alpha val="40000"/>
                </a:prstClr>
              </a:outerShdw>
            </a:effectLst>
          </p:spPr>
          <p:txBody>
            <a:bodyPr wrap="none" anchor="ctr"/>
            <a:lstStyle/>
            <a:p>
              <a:endParaRPr lang="zh-CN" altLang="en-US">
                <a:latin typeface="+mn-lt"/>
                <a:ea typeface="楷体" pitchFamily="49" charset="-122"/>
              </a:endParaRPr>
            </a:p>
          </p:txBody>
        </p:sp>
        <p:sp>
          <p:nvSpPr>
            <p:cNvPr id="1132590" name="AutoShape 46"/>
            <p:cNvSpPr>
              <a:spLocks/>
            </p:cNvSpPr>
            <p:nvPr/>
          </p:nvSpPr>
          <p:spPr bwMode="auto">
            <a:xfrm>
              <a:off x="3741" y="3491"/>
              <a:ext cx="1770" cy="438"/>
            </a:xfrm>
            <a:prstGeom prst="borderCallout2">
              <a:avLst>
                <a:gd name="adj1" fmla="val 16440"/>
                <a:gd name="adj2" fmla="val -2713"/>
                <a:gd name="adj3" fmla="val 16440"/>
                <a:gd name="adj4" fmla="val -18250"/>
                <a:gd name="adj5" fmla="val -122833"/>
                <a:gd name="adj6" fmla="val -34292"/>
              </a:avLst>
            </a:prstGeom>
            <a:gradFill rotWithShape="1">
              <a:gsLst>
                <a:gs pos="0">
                  <a:srgbClr val="CFCFD1"/>
                </a:gs>
                <a:gs pos="100000">
                  <a:schemeClr val="bg1"/>
                </a:gs>
              </a:gsLst>
              <a:lin ang="5400000" scaled="1"/>
            </a:gradFill>
            <a:ln w="19050">
              <a:solidFill>
                <a:srgbClr val="C0000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dirty="0">
                  <a:solidFill>
                    <a:srgbClr val="CC0000"/>
                  </a:solidFill>
                  <a:latin typeface="+mn-lt"/>
                  <a:ea typeface="楷体" pitchFamily="49" charset="-122"/>
                </a:rPr>
                <a:t>指针变量</a:t>
              </a:r>
              <a:r>
                <a:rPr lang="en-US" altLang="zh-CN" sz="1800" dirty="0" err="1">
                  <a:solidFill>
                    <a:srgbClr val="CC0000"/>
                  </a:solidFill>
                  <a:latin typeface="+mn-lt"/>
                  <a:ea typeface="楷体" pitchFamily="49" charset="-122"/>
                </a:rPr>
                <a:t>i_pointer</a:t>
              </a:r>
              <a:r>
                <a:rPr lang="zh-CN" altLang="en-US" sz="1800" dirty="0">
                  <a:solidFill>
                    <a:srgbClr val="CC0000"/>
                  </a:solidFill>
                  <a:latin typeface="+mn-lt"/>
                  <a:ea typeface="楷体" pitchFamily="49" charset="-122"/>
                </a:rPr>
                <a:t>的内容</a:t>
              </a:r>
            </a:p>
            <a:p>
              <a:pPr algn="ctr">
                <a:lnSpc>
                  <a:spcPct val="100000"/>
                </a:lnSpc>
                <a:spcBef>
                  <a:spcPct val="0"/>
                </a:spcBef>
              </a:pP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是地址</a:t>
              </a:r>
              <a:r>
                <a:rPr lang="en-US" altLang="zh-CN" sz="1800" dirty="0">
                  <a:solidFill>
                    <a:srgbClr val="002060"/>
                  </a:solidFill>
                  <a:latin typeface="+mn-lt"/>
                  <a:ea typeface="楷体" pitchFamily="49" charset="-122"/>
                </a:rPr>
                <a:t>)</a:t>
              </a:r>
            </a:p>
          </p:txBody>
        </p:sp>
      </p:grpSp>
      <p:grpSp>
        <p:nvGrpSpPr>
          <p:cNvPr id="1132591" name="Group 47"/>
          <p:cNvGrpSpPr>
            <a:grpSpLocks/>
          </p:cNvGrpSpPr>
          <p:nvPr/>
        </p:nvGrpSpPr>
        <p:grpSpPr bwMode="auto">
          <a:xfrm>
            <a:off x="1199456" y="2885449"/>
            <a:ext cx="2879725" cy="457200"/>
            <a:chOff x="422" y="1527"/>
            <a:chExt cx="1814" cy="288"/>
          </a:xfrm>
          <a:effectLst>
            <a:outerShdw blurRad="50800" dist="106680" dir="2700000" algn="tl" rotWithShape="0">
              <a:prstClr val="black">
                <a:alpha val="43000"/>
              </a:prstClr>
            </a:outerShdw>
          </a:effectLst>
        </p:grpSpPr>
        <p:sp>
          <p:nvSpPr>
            <p:cNvPr id="1132592" name="Oval 48"/>
            <p:cNvSpPr>
              <a:spLocks noChangeArrowheads="1"/>
            </p:cNvSpPr>
            <p:nvPr/>
          </p:nvSpPr>
          <p:spPr bwMode="auto">
            <a:xfrm>
              <a:off x="1745" y="1654"/>
              <a:ext cx="491" cy="161"/>
            </a:xfrm>
            <a:prstGeom prst="ellipse">
              <a:avLst/>
            </a:prstGeom>
            <a:noFill/>
            <a:ln w="28575">
              <a:solidFill>
                <a:srgbClr val="C00000"/>
              </a:solidFill>
              <a:round/>
              <a:headEnd/>
              <a:tailEnd/>
            </a:ln>
            <a:effectLst/>
          </p:spPr>
          <p:txBody>
            <a:bodyPr wrap="none" anchor="ctr"/>
            <a:lstStyle/>
            <a:p>
              <a:endParaRPr lang="zh-CN" altLang="en-US">
                <a:latin typeface="+mn-lt"/>
                <a:ea typeface="楷体" pitchFamily="49" charset="-122"/>
              </a:endParaRPr>
            </a:p>
          </p:txBody>
        </p:sp>
        <p:sp>
          <p:nvSpPr>
            <p:cNvPr id="1132593" name="AutoShape 49"/>
            <p:cNvSpPr>
              <a:spLocks/>
            </p:cNvSpPr>
            <p:nvPr/>
          </p:nvSpPr>
          <p:spPr bwMode="auto">
            <a:xfrm>
              <a:off x="422" y="1527"/>
              <a:ext cx="873" cy="273"/>
            </a:xfrm>
            <a:prstGeom prst="borderCallout2">
              <a:avLst>
                <a:gd name="adj1" fmla="val 26375"/>
                <a:gd name="adj2" fmla="val 105500"/>
                <a:gd name="adj3" fmla="val 26375"/>
                <a:gd name="adj4" fmla="val 105500"/>
                <a:gd name="adj5" fmla="val 57144"/>
                <a:gd name="adj6" fmla="val 157273"/>
              </a:avLst>
            </a:prstGeom>
            <a:gradFill rotWithShape="1">
              <a:gsLst>
                <a:gs pos="0">
                  <a:srgbClr val="CFCFD1"/>
                </a:gs>
                <a:gs pos="100000">
                  <a:schemeClr val="bg1"/>
                </a:gs>
              </a:gsLst>
              <a:lin ang="5400000" scaled="1"/>
            </a:gradFill>
            <a:ln w="19050">
              <a:solidFill>
                <a:srgbClr val="C00000"/>
              </a:solidFill>
              <a:miter lim="800000"/>
              <a:headEnd/>
              <a:tailEnd/>
            </a:ln>
            <a:effectLst>
              <a:outerShdw dist="107763" dir="2700000" algn="ctr" rotWithShape="0">
                <a:schemeClr val="bg2">
                  <a:alpha val="50000"/>
                </a:schemeClr>
              </a:outerShdw>
            </a:effectLst>
          </p:spPr>
          <p:txBody>
            <a:bodyPr/>
            <a:lstStyle/>
            <a:p>
              <a:pPr algn="ctr">
                <a:lnSpc>
                  <a:spcPct val="100000"/>
                </a:lnSpc>
                <a:spcBef>
                  <a:spcPct val="0"/>
                </a:spcBef>
              </a:pPr>
              <a:r>
                <a:rPr lang="zh-CN" altLang="en-US" sz="1800">
                  <a:solidFill>
                    <a:srgbClr val="CC0000"/>
                  </a:solidFill>
                  <a:latin typeface="+mn-lt"/>
                  <a:ea typeface="楷体" pitchFamily="49" charset="-122"/>
                </a:rPr>
                <a:t>变量的地址</a:t>
              </a:r>
            </a:p>
          </p:txBody>
        </p:sp>
      </p:grpSp>
      <p:sp>
        <p:nvSpPr>
          <p:cNvPr id="1132594" name="AutoShape 50"/>
          <p:cNvSpPr>
            <a:spLocks noChangeArrowheads="1"/>
          </p:cNvSpPr>
          <p:nvPr/>
        </p:nvSpPr>
        <p:spPr bwMode="auto">
          <a:xfrm>
            <a:off x="2293243" y="2132856"/>
            <a:ext cx="1295400" cy="519351"/>
          </a:xfrm>
          <a:prstGeom prst="wedgeEllipseCallout">
            <a:avLst>
              <a:gd name="adj1" fmla="val 50981"/>
              <a:gd name="adj2" fmla="val 132556"/>
            </a:avLst>
          </a:prstGeom>
          <a:gradFill rotWithShape="1">
            <a:gsLst>
              <a:gs pos="0">
                <a:srgbClr val="CFCFD1"/>
              </a:gs>
              <a:gs pos="100000">
                <a:schemeClr val="bg1"/>
              </a:gs>
            </a:gsLst>
            <a:lin ang="5400000" scaled="1"/>
          </a:gradFill>
          <a:ln w="28575">
            <a:solidFill>
              <a:srgbClr val="C00000"/>
            </a:solidFill>
            <a:miter lim="800000"/>
            <a:headEnd type="none" w="lg" len="lg"/>
            <a:tailEnd/>
          </a:ln>
          <a:effectLst>
            <a:outerShdw blurRad="50800" dist="106680" dir="2700000" algn="tl" rotWithShape="0">
              <a:prstClr val="black">
                <a:alpha val="43000"/>
              </a:prstClr>
            </a:outerShdw>
          </a:effectLst>
        </p:spPr>
        <p:txBody>
          <a:bodyPr anchor="ctr">
            <a:spAutoFit/>
          </a:bodyPr>
          <a:lstStyle/>
          <a:p>
            <a:pPr algn="ctr">
              <a:lnSpc>
                <a:spcPct val="100000"/>
              </a:lnSpc>
              <a:spcBef>
                <a:spcPct val="0"/>
              </a:spcBef>
            </a:pPr>
            <a:r>
              <a:rPr lang="zh-CN" altLang="en-US" sz="1800" dirty="0">
                <a:solidFill>
                  <a:srgbClr val="002060"/>
                </a:solidFill>
                <a:latin typeface="+mn-lt"/>
                <a:ea typeface="楷体" pitchFamily="49" charset="-122"/>
              </a:rPr>
              <a:t>指针</a:t>
            </a:r>
          </a:p>
        </p:txBody>
      </p:sp>
      <p:grpSp>
        <p:nvGrpSpPr>
          <p:cNvPr id="1132595" name="Group 51"/>
          <p:cNvGrpSpPr>
            <a:grpSpLocks/>
          </p:cNvGrpSpPr>
          <p:nvPr/>
        </p:nvGrpSpPr>
        <p:grpSpPr bwMode="auto">
          <a:xfrm>
            <a:off x="3229869" y="3415674"/>
            <a:ext cx="1582737" cy="1727200"/>
            <a:chOff x="1701" y="1861"/>
            <a:chExt cx="997" cy="1088"/>
          </a:xfrm>
        </p:grpSpPr>
        <p:sp>
          <p:nvSpPr>
            <p:cNvPr id="1132596" name="Line 52"/>
            <p:cNvSpPr>
              <a:spLocks noChangeShapeType="1"/>
            </p:cNvSpPr>
            <p:nvPr/>
          </p:nvSpPr>
          <p:spPr bwMode="auto">
            <a:xfrm>
              <a:off x="1701" y="1861"/>
              <a:ext cx="589" cy="0"/>
            </a:xfrm>
            <a:prstGeom prst="line">
              <a:avLst/>
            </a:prstGeom>
            <a:noFill/>
            <a:ln w="28575">
              <a:solidFill>
                <a:srgbClr val="C00000"/>
              </a:solidFill>
              <a:round/>
              <a:headEnd/>
              <a:tailEnd type="stealth" w="lg" len="lg"/>
            </a:ln>
            <a:effectLst/>
          </p:spPr>
          <p:txBody>
            <a:bodyPr/>
            <a:lstStyle/>
            <a:p>
              <a:endParaRPr lang="zh-CN" altLang="en-US"/>
            </a:p>
          </p:txBody>
        </p:sp>
        <p:sp>
          <p:nvSpPr>
            <p:cNvPr id="1132597" name="Line 53"/>
            <p:cNvSpPr>
              <a:spLocks noChangeShapeType="1"/>
            </p:cNvSpPr>
            <p:nvPr/>
          </p:nvSpPr>
          <p:spPr bwMode="auto">
            <a:xfrm>
              <a:off x="1701" y="1861"/>
              <a:ext cx="0" cy="1088"/>
            </a:xfrm>
            <a:prstGeom prst="line">
              <a:avLst/>
            </a:prstGeom>
            <a:noFill/>
            <a:ln w="28575">
              <a:solidFill>
                <a:srgbClr val="C00000"/>
              </a:solidFill>
              <a:round/>
              <a:headEnd/>
              <a:tailEnd/>
            </a:ln>
            <a:effectLst/>
          </p:spPr>
          <p:txBody>
            <a:bodyPr/>
            <a:lstStyle/>
            <a:p>
              <a:endParaRPr lang="zh-CN" altLang="en-US"/>
            </a:p>
          </p:txBody>
        </p:sp>
        <p:sp>
          <p:nvSpPr>
            <p:cNvPr id="1132598" name="Line 54"/>
            <p:cNvSpPr>
              <a:spLocks noChangeShapeType="1"/>
            </p:cNvSpPr>
            <p:nvPr/>
          </p:nvSpPr>
          <p:spPr bwMode="auto">
            <a:xfrm>
              <a:off x="1701" y="2949"/>
              <a:ext cx="997" cy="0"/>
            </a:xfrm>
            <a:prstGeom prst="line">
              <a:avLst/>
            </a:prstGeom>
            <a:noFill/>
            <a:ln w="28575">
              <a:solidFill>
                <a:srgbClr val="C00000"/>
              </a:solidFill>
              <a:round/>
              <a:headEnd/>
              <a:tailEnd/>
            </a:ln>
            <a:effectLst/>
          </p:spPr>
          <p:txBody>
            <a:bodyPr/>
            <a:lstStyle/>
            <a:p>
              <a:endParaRPr lang="zh-CN" altLang="en-US"/>
            </a:p>
          </p:txBody>
        </p:sp>
      </p:grpSp>
      <p:grpSp>
        <p:nvGrpSpPr>
          <p:cNvPr id="1132599" name="Group 55"/>
          <p:cNvGrpSpPr>
            <a:grpSpLocks/>
          </p:cNvGrpSpPr>
          <p:nvPr/>
        </p:nvGrpSpPr>
        <p:grpSpPr bwMode="auto">
          <a:xfrm>
            <a:off x="6427273" y="829766"/>
            <a:ext cx="5586413" cy="1735138"/>
            <a:chOff x="1111" y="2404"/>
            <a:chExt cx="3519" cy="1093"/>
          </a:xfrm>
        </p:grpSpPr>
        <p:sp>
          <p:nvSpPr>
            <p:cNvPr id="1132600" name="Rectangle 56"/>
            <p:cNvSpPr>
              <a:spLocks noChangeArrowheads="1"/>
            </p:cNvSpPr>
            <p:nvPr/>
          </p:nvSpPr>
          <p:spPr bwMode="auto">
            <a:xfrm>
              <a:off x="1111" y="2404"/>
              <a:ext cx="3519" cy="1093"/>
            </a:xfrm>
            <a:prstGeom prst="rect">
              <a:avLst/>
            </a:prstGeom>
            <a:gradFill rotWithShape="1">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endParaRPr lang="zh-CN" altLang="en-US"/>
            </a:p>
          </p:txBody>
        </p:sp>
        <p:grpSp>
          <p:nvGrpSpPr>
            <p:cNvPr id="1132601" name="Group 57"/>
            <p:cNvGrpSpPr>
              <a:grpSpLocks/>
            </p:cNvGrpSpPr>
            <p:nvPr/>
          </p:nvGrpSpPr>
          <p:grpSpPr bwMode="auto">
            <a:xfrm>
              <a:off x="1252" y="2495"/>
              <a:ext cx="3306" cy="928"/>
              <a:chOff x="1252" y="2495"/>
              <a:chExt cx="3306" cy="928"/>
            </a:xfrm>
          </p:grpSpPr>
          <p:sp>
            <p:nvSpPr>
              <p:cNvPr id="1132602" name="Text Box 58"/>
              <p:cNvSpPr txBox="1">
                <a:spLocks noChangeArrowheads="1"/>
              </p:cNvSpPr>
              <p:nvPr/>
            </p:nvSpPr>
            <p:spPr bwMode="auto">
              <a:xfrm>
                <a:off x="1252" y="2495"/>
                <a:ext cx="894" cy="292"/>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zh-CN" altLang="en-US">
                    <a:solidFill>
                      <a:srgbClr val="CC0000"/>
                    </a:solidFill>
                    <a:ea typeface="隶书" pitchFamily="49" charset="-122"/>
                  </a:rPr>
                  <a:t>指针变量</a:t>
                </a:r>
              </a:p>
            </p:txBody>
          </p:sp>
          <p:sp>
            <p:nvSpPr>
              <p:cNvPr id="1132603" name="Text Box 59"/>
              <p:cNvSpPr txBox="1">
                <a:spLocks noChangeArrowheads="1"/>
              </p:cNvSpPr>
              <p:nvPr/>
            </p:nvSpPr>
            <p:spPr bwMode="auto">
              <a:xfrm>
                <a:off x="1879" y="3083"/>
                <a:ext cx="504" cy="292"/>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zh-CN" altLang="en-US" dirty="0">
                    <a:solidFill>
                      <a:srgbClr val="339933"/>
                    </a:solidFill>
                    <a:ea typeface="隶书" pitchFamily="49" charset="-122"/>
                  </a:rPr>
                  <a:t>变量</a:t>
                </a:r>
              </a:p>
            </p:txBody>
          </p:sp>
          <p:sp>
            <p:nvSpPr>
              <p:cNvPr id="1132604" name="Rectangle 60"/>
              <p:cNvSpPr>
                <a:spLocks noChangeArrowheads="1"/>
              </p:cNvSpPr>
              <p:nvPr/>
            </p:nvSpPr>
            <p:spPr bwMode="auto">
              <a:xfrm>
                <a:off x="2117" y="2519"/>
                <a:ext cx="1413" cy="292"/>
              </a:xfrm>
              <a:prstGeom prst="rect">
                <a:avLst/>
              </a:prstGeom>
              <a:gradFill rotWithShape="1">
                <a:gsLst>
                  <a:gs pos="0">
                    <a:srgbClr val="DDFAED"/>
                  </a:gs>
                  <a:gs pos="100000">
                    <a:srgbClr val="FFFFFF"/>
                  </a:gs>
                </a:gsLst>
                <a:lin ang="5400000" scaled="1"/>
              </a:gradFill>
              <a:ln w="38100">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dirty="0">
                    <a:solidFill>
                      <a:srgbClr val="CC0000"/>
                    </a:solidFill>
                    <a:ea typeface="隶书" pitchFamily="49" charset="-122"/>
                  </a:rPr>
                  <a:t>变量地址</a:t>
                </a:r>
                <a:r>
                  <a:rPr lang="en-US" altLang="zh-CN" dirty="0">
                    <a:solidFill>
                      <a:srgbClr val="CC0000"/>
                    </a:solidFill>
                    <a:ea typeface="隶书" pitchFamily="49" charset="-122"/>
                  </a:rPr>
                  <a:t>(</a:t>
                </a:r>
                <a:r>
                  <a:rPr lang="zh-CN" altLang="en-US" dirty="0">
                    <a:solidFill>
                      <a:srgbClr val="CC0000"/>
                    </a:solidFill>
                    <a:ea typeface="隶书" pitchFamily="49" charset="-122"/>
                  </a:rPr>
                  <a:t>指针</a:t>
                </a:r>
                <a:r>
                  <a:rPr lang="en-US" altLang="zh-CN" dirty="0">
                    <a:solidFill>
                      <a:srgbClr val="CC0000"/>
                    </a:solidFill>
                    <a:ea typeface="隶书" pitchFamily="49" charset="-122"/>
                  </a:rPr>
                  <a:t>)</a:t>
                </a:r>
              </a:p>
            </p:txBody>
          </p:sp>
          <p:sp>
            <p:nvSpPr>
              <p:cNvPr id="1132605" name="Rectangle 61"/>
              <p:cNvSpPr>
                <a:spLocks noChangeArrowheads="1"/>
              </p:cNvSpPr>
              <p:nvPr/>
            </p:nvSpPr>
            <p:spPr bwMode="auto">
              <a:xfrm>
                <a:off x="2430" y="3131"/>
                <a:ext cx="699" cy="292"/>
              </a:xfrm>
              <a:prstGeom prst="rect">
                <a:avLst/>
              </a:prstGeom>
              <a:gradFill rotWithShape="1">
                <a:gsLst>
                  <a:gs pos="0">
                    <a:srgbClr val="DDFAED"/>
                  </a:gs>
                  <a:gs pos="100000">
                    <a:srgbClr val="FFFFFF"/>
                  </a:gs>
                </a:gsLst>
                <a:lin ang="5400000" scaled="1"/>
              </a:gradFill>
              <a:ln w="38100">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dirty="0">
                    <a:solidFill>
                      <a:srgbClr val="339933"/>
                    </a:solidFill>
                    <a:ea typeface="隶书" pitchFamily="49" charset="-122"/>
                  </a:rPr>
                  <a:t>变量值</a:t>
                </a:r>
              </a:p>
            </p:txBody>
          </p:sp>
          <p:grpSp>
            <p:nvGrpSpPr>
              <p:cNvPr id="1132606" name="Group 62"/>
              <p:cNvGrpSpPr>
                <a:grpSpLocks/>
              </p:cNvGrpSpPr>
              <p:nvPr/>
            </p:nvGrpSpPr>
            <p:grpSpPr bwMode="auto">
              <a:xfrm>
                <a:off x="2695" y="2795"/>
                <a:ext cx="564" cy="314"/>
                <a:chOff x="2695" y="2795"/>
                <a:chExt cx="564" cy="314"/>
              </a:xfrm>
            </p:grpSpPr>
            <p:sp>
              <p:nvSpPr>
                <p:cNvPr id="1132607" name="Line 63"/>
                <p:cNvSpPr>
                  <a:spLocks noChangeShapeType="1"/>
                </p:cNvSpPr>
                <p:nvPr/>
              </p:nvSpPr>
              <p:spPr bwMode="auto">
                <a:xfrm>
                  <a:off x="2695" y="2833"/>
                  <a:ext cx="0" cy="276"/>
                </a:xfrm>
                <a:prstGeom prst="line">
                  <a:avLst/>
                </a:prstGeom>
                <a:noFill/>
                <a:ln w="38100">
                  <a:solidFill>
                    <a:srgbClr val="FF0000"/>
                  </a:solidFill>
                  <a:round/>
                  <a:headEnd/>
                  <a:tailEnd type="stealth" w="lg" len="lg"/>
                </a:ln>
                <a:effectLst>
                  <a:outerShdw dist="35921" dir="2700000" algn="ctr" rotWithShape="0">
                    <a:schemeClr val="bg2"/>
                  </a:outerShdw>
                </a:effectLst>
              </p:spPr>
              <p:txBody>
                <a:bodyPr wrap="none" lIns="90000" tIns="46800" rIns="90000" bIns="46800" anchor="ctr">
                  <a:spAutoFit/>
                </a:bodyPr>
                <a:lstStyle/>
                <a:p>
                  <a:endParaRPr lang="zh-CN" altLang="en-US"/>
                </a:p>
              </p:txBody>
            </p:sp>
            <p:sp>
              <p:nvSpPr>
                <p:cNvPr id="1132608" name="Text Box 64"/>
                <p:cNvSpPr txBox="1">
                  <a:spLocks noChangeArrowheads="1"/>
                </p:cNvSpPr>
                <p:nvPr/>
              </p:nvSpPr>
              <p:spPr bwMode="auto">
                <a:xfrm>
                  <a:off x="2755" y="2795"/>
                  <a:ext cx="504" cy="292"/>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zh-CN" altLang="en-US" dirty="0">
                      <a:solidFill>
                        <a:srgbClr val="002060"/>
                      </a:solidFill>
                      <a:ea typeface="隶书" pitchFamily="49" charset="-122"/>
                    </a:rPr>
                    <a:t>指向</a:t>
                  </a:r>
                </a:p>
              </p:txBody>
            </p:sp>
          </p:grpSp>
          <p:cxnSp>
            <p:nvCxnSpPr>
              <p:cNvPr id="1132609" name="AutoShape 65"/>
              <p:cNvCxnSpPr>
                <a:cxnSpLocks noChangeShapeType="1"/>
                <a:stCxn id="1132605" idx="3"/>
                <a:endCxn id="1132604" idx="3"/>
              </p:cNvCxnSpPr>
              <p:nvPr/>
            </p:nvCxnSpPr>
            <p:spPr bwMode="auto">
              <a:xfrm flipV="1">
                <a:off x="3129" y="2665"/>
                <a:ext cx="401" cy="612"/>
              </a:xfrm>
              <a:prstGeom prst="curvedConnector3">
                <a:avLst>
                  <a:gd name="adj1" fmla="val 135910"/>
                </a:avLst>
              </a:prstGeom>
              <a:noFill/>
              <a:ln w="38100">
                <a:solidFill>
                  <a:srgbClr val="FF0000"/>
                </a:solidFill>
                <a:round/>
                <a:headEnd/>
                <a:tailEnd type="stealth" w="lg" len="lg"/>
              </a:ln>
              <a:effectLst>
                <a:outerShdw dist="35921" dir="2700000" algn="ctr" rotWithShape="0">
                  <a:schemeClr val="bg2"/>
                </a:outerShdw>
              </a:effectLst>
            </p:spPr>
          </p:cxnSp>
          <p:sp>
            <p:nvSpPr>
              <p:cNvPr id="1132610" name="Text Box 66"/>
              <p:cNvSpPr txBox="1">
                <a:spLocks noChangeArrowheads="1"/>
              </p:cNvSpPr>
              <p:nvPr/>
            </p:nvSpPr>
            <p:spPr bwMode="auto">
              <a:xfrm>
                <a:off x="3664" y="2763"/>
                <a:ext cx="894" cy="525"/>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zh-CN" altLang="en-US" dirty="0">
                    <a:ea typeface="隶书" pitchFamily="49" charset="-122"/>
                  </a:rPr>
                  <a:t>地址存入</a:t>
                </a:r>
              </a:p>
              <a:p>
                <a:pPr algn="ctr">
                  <a:lnSpc>
                    <a:spcPct val="100000"/>
                  </a:lnSpc>
                  <a:spcBef>
                    <a:spcPct val="0"/>
                  </a:spcBef>
                </a:pPr>
                <a:r>
                  <a:rPr lang="zh-CN" altLang="en-US" dirty="0">
                    <a:ea typeface="隶书" pitchFamily="49" charset="-122"/>
                  </a:rPr>
                  <a:t>指针变量</a:t>
                </a:r>
              </a:p>
            </p:txBody>
          </p:sp>
        </p:grpSp>
      </p:grpSp>
      <p:sp>
        <p:nvSpPr>
          <p:cNvPr id="67" name="Rectangle 4">
            <a:extLst>
              <a:ext uri="{FF2B5EF4-FFF2-40B4-BE49-F238E27FC236}">
                <a16:creationId xmlns:a16="http://schemas.microsoft.com/office/drawing/2014/main" id="{CB27215E-77D6-4094-B5DC-C3059366C580}"/>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指针与指针变量的概念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2574">
                                            <p:txEl>
                                              <p:pRg st="0" end="0"/>
                                            </p:txEl>
                                          </p:spTgt>
                                        </p:tgtEl>
                                        <p:attrNameLst>
                                          <p:attrName>style.visibility</p:attrName>
                                        </p:attrNameLst>
                                      </p:cBhvr>
                                      <p:to>
                                        <p:strVal val="visible"/>
                                      </p:to>
                                    </p:set>
                                    <p:anim calcmode="lin" valueType="num">
                                      <p:cBhvr additive="base">
                                        <p:cTn id="7" dur="500" fill="hold"/>
                                        <p:tgtEl>
                                          <p:spTgt spid="113257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3257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32574">
                                            <p:txEl>
                                              <p:pRg st="1" end="1"/>
                                            </p:txEl>
                                          </p:spTgt>
                                        </p:tgtEl>
                                        <p:attrNameLst>
                                          <p:attrName>style.visibility</p:attrName>
                                        </p:attrNameLst>
                                      </p:cBhvr>
                                      <p:to>
                                        <p:strVal val="visible"/>
                                      </p:to>
                                    </p:set>
                                    <p:anim calcmode="lin" valueType="num">
                                      <p:cBhvr additive="base">
                                        <p:cTn id="13" dur="500" fill="hold"/>
                                        <p:tgtEl>
                                          <p:spTgt spid="113257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3257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32574">
                                            <p:txEl>
                                              <p:pRg st="2" end="2"/>
                                            </p:txEl>
                                          </p:spTgt>
                                        </p:tgtEl>
                                        <p:attrNameLst>
                                          <p:attrName>style.visibility</p:attrName>
                                        </p:attrNameLst>
                                      </p:cBhvr>
                                      <p:to>
                                        <p:strVal val="visible"/>
                                      </p:to>
                                    </p:set>
                                    <p:anim calcmode="lin" valueType="num">
                                      <p:cBhvr additive="base">
                                        <p:cTn id="19" dur="500" fill="hold"/>
                                        <p:tgtEl>
                                          <p:spTgt spid="113257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3257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1132546"/>
                                        </p:tgtEl>
                                        <p:attrNameLst>
                                          <p:attrName>style.visibility</p:attrName>
                                        </p:attrNameLst>
                                      </p:cBhvr>
                                      <p:to>
                                        <p:strVal val="visible"/>
                                      </p:to>
                                    </p:set>
                                    <p:animEffect transition="in" filter="box(out)">
                                      <p:cBhvr>
                                        <p:cTn id="25" dur="500"/>
                                        <p:tgtEl>
                                          <p:spTgt spid="1132546"/>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6" fill="hold">
                      <p:stCondLst>
                        <p:cond delay="indefinite"/>
                      </p:stCondLst>
                      <p:childTnLst>
                        <p:par>
                          <p:cTn id="27" fill="hold">
                            <p:stCondLst>
                              <p:cond delay="0"/>
                            </p:stCondLst>
                            <p:childTnLst>
                              <p:par>
                                <p:cTn id="28" presetID="18" presetClass="entr" presetSubtype="12" fill="hold" nodeType="clickEffect">
                                  <p:stCondLst>
                                    <p:cond delay="0"/>
                                  </p:stCondLst>
                                  <p:childTnLst>
                                    <p:set>
                                      <p:cBhvr>
                                        <p:cTn id="29" dur="1" fill="hold">
                                          <p:stCondLst>
                                            <p:cond delay="0"/>
                                          </p:stCondLst>
                                        </p:cTn>
                                        <p:tgtEl>
                                          <p:spTgt spid="1132591"/>
                                        </p:tgtEl>
                                        <p:attrNameLst>
                                          <p:attrName>style.visibility</p:attrName>
                                        </p:attrNameLst>
                                      </p:cBhvr>
                                      <p:to>
                                        <p:strVal val="visible"/>
                                      </p:to>
                                    </p:set>
                                    <p:animEffect transition="in" filter="strips(downLeft)">
                                      <p:cBhvr>
                                        <p:cTn id="30" dur="500"/>
                                        <p:tgtEl>
                                          <p:spTgt spid="1132591"/>
                                        </p:tgtEl>
                                      </p:cBhvr>
                                    </p:animEffect>
                                  </p:childTnLst>
                                  <p:subTnLst>
                                    <p:audio>
                                      <p:cMediaNode>
                                        <p:cTn display="0" masterRel="sameClick">
                                          <p:stCondLst>
                                            <p:cond evt="begin" delay="0">
                                              <p:tn val="28"/>
                                            </p:cond>
                                          </p:stCondLst>
                                          <p:endCondLst>
                                            <p:cond evt="onStopAudio" delay="0">
                                              <p:tgtEl>
                                                <p:sldTgt/>
                                              </p:tgtEl>
                                            </p:cond>
                                          </p:endCondLst>
                                        </p:cTn>
                                        <p:tgtEl>
                                          <p:sndTgt r:embed="rId3" name="laser.wav"/>
                                        </p:tgtEl>
                                      </p:cMediaNode>
                                    </p:audio>
                                  </p:subTnLst>
                                </p:cTn>
                              </p:par>
                            </p:childTnLst>
                          </p:cTn>
                        </p:par>
                      </p:childTnLst>
                    </p:cTn>
                  </p:par>
                  <p:par>
                    <p:cTn id="31" fill="hold">
                      <p:stCondLst>
                        <p:cond delay="indefinite"/>
                      </p:stCondLst>
                      <p:childTnLst>
                        <p:par>
                          <p:cTn id="32" fill="hold">
                            <p:stCondLst>
                              <p:cond delay="0"/>
                            </p:stCondLst>
                            <p:childTnLst>
                              <p:par>
                                <p:cTn id="33" presetID="18" presetClass="entr" presetSubtype="6" fill="hold" nodeType="clickEffect">
                                  <p:stCondLst>
                                    <p:cond delay="0"/>
                                  </p:stCondLst>
                                  <p:childTnLst>
                                    <p:set>
                                      <p:cBhvr>
                                        <p:cTn id="34" dur="1" fill="hold">
                                          <p:stCondLst>
                                            <p:cond delay="0"/>
                                          </p:stCondLst>
                                        </p:cTn>
                                        <p:tgtEl>
                                          <p:spTgt spid="1132585"/>
                                        </p:tgtEl>
                                        <p:attrNameLst>
                                          <p:attrName>style.visibility</p:attrName>
                                        </p:attrNameLst>
                                      </p:cBhvr>
                                      <p:to>
                                        <p:strVal val="visible"/>
                                      </p:to>
                                    </p:set>
                                    <p:animEffect transition="in" filter="strips(downRight)">
                                      <p:cBhvr>
                                        <p:cTn id="35" dur="500"/>
                                        <p:tgtEl>
                                          <p:spTgt spid="1132585"/>
                                        </p:tgtEl>
                                      </p:cBhvr>
                                    </p:animEffect>
                                  </p:childTnLst>
                                  <p:subTnLst>
                                    <p:audio>
                                      <p:cMediaNode>
                                        <p:cTn display="0" masterRel="sameClick">
                                          <p:stCondLst>
                                            <p:cond evt="begin" delay="0">
                                              <p:tn val="33"/>
                                            </p:cond>
                                          </p:stCondLst>
                                          <p:endCondLst>
                                            <p:cond evt="onStopAudio" delay="0">
                                              <p:tgtEl>
                                                <p:sldTgt/>
                                              </p:tgtEl>
                                            </p:cond>
                                          </p:endCondLst>
                                        </p:cTn>
                                        <p:tgtEl>
                                          <p:sndTgt r:embed="rId3" name="laser.wav"/>
                                        </p:tgtEl>
                                      </p:cMediaNode>
                                    </p:audio>
                                  </p:subTnLst>
                                </p:cTn>
                              </p:par>
                            </p:childTnLst>
                          </p:cTn>
                        </p:par>
                      </p:childTnLst>
                    </p:cTn>
                  </p:par>
                  <p:par>
                    <p:cTn id="36" fill="hold">
                      <p:stCondLst>
                        <p:cond delay="indefinite"/>
                      </p:stCondLst>
                      <p:childTnLst>
                        <p:par>
                          <p:cTn id="37" fill="hold">
                            <p:stCondLst>
                              <p:cond delay="0"/>
                            </p:stCondLst>
                            <p:childTnLst>
                              <p:par>
                                <p:cTn id="38" presetID="18" presetClass="entr" presetSubtype="12" fill="hold" grpId="0" nodeType="clickEffect">
                                  <p:stCondLst>
                                    <p:cond delay="0"/>
                                  </p:stCondLst>
                                  <p:childTnLst>
                                    <p:set>
                                      <p:cBhvr>
                                        <p:cTn id="39" dur="1" fill="hold">
                                          <p:stCondLst>
                                            <p:cond delay="0"/>
                                          </p:stCondLst>
                                        </p:cTn>
                                        <p:tgtEl>
                                          <p:spTgt spid="1132594"/>
                                        </p:tgtEl>
                                        <p:attrNameLst>
                                          <p:attrName>style.visibility</p:attrName>
                                        </p:attrNameLst>
                                      </p:cBhvr>
                                      <p:to>
                                        <p:strVal val="visible"/>
                                      </p:to>
                                    </p:set>
                                    <p:animEffect transition="in" filter="strips(downLeft)">
                                      <p:cBhvr>
                                        <p:cTn id="40" dur="500"/>
                                        <p:tgtEl>
                                          <p:spTgt spid="1132594"/>
                                        </p:tgtEl>
                                      </p:cBhvr>
                                    </p:animEffect>
                                  </p:childTnLst>
                                  <p:subTnLst>
                                    <p:audio>
                                      <p:cMediaNode>
                                        <p:cTn display="0" masterRel="sameClick">
                                          <p:stCondLst>
                                            <p:cond evt="begin" delay="0">
                                              <p:tn val="38"/>
                                            </p:cond>
                                          </p:stCondLst>
                                          <p:endCondLst>
                                            <p:cond evt="onStopAudio" delay="0">
                                              <p:tgtEl>
                                                <p:sldTgt/>
                                              </p:tgtEl>
                                            </p:cond>
                                          </p:endCondLst>
                                        </p:cTn>
                                        <p:tgtEl>
                                          <p:sndTgt r:embed="rId3" name="laser.wav"/>
                                        </p:tgtEl>
                                      </p:cMediaNode>
                                    </p:audio>
                                  </p:subTnLst>
                                </p:cTn>
                              </p:par>
                            </p:childTnLst>
                          </p:cTn>
                        </p:par>
                      </p:childTnLst>
                    </p:cTn>
                  </p:par>
                  <p:par>
                    <p:cTn id="41" fill="hold">
                      <p:stCondLst>
                        <p:cond delay="indefinite"/>
                      </p:stCondLst>
                      <p:childTnLst>
                        <p:par>
                          <p:cTn id="42" fill="hold">
                            <p:stCondLst>
                              <p:cond delay="0"/>
                            </p:stCondLst>
                            <p:childTnLst>
                              <p:par>
                                <p:cTn id="43" presetID="18" presetClass="entr" presetSubtype="6" fill="hold" nodeType="clickEffect">
                                  <p:stCondLst>
                                    <p:cond delay="0"/>
                                  </p:stCondLst>
                                  <p:childTnLst>
                                    <p:set>
                                      <p:cBhvr>
                                        <p:cTn id="44" dur="1" fill="hold">
                                          <p:stCondLst>
                                            <p:cond delay="0"/>
                                          </p:stCondLst>
                                        </p:cTn>
                                        <p:tgtEl>
                                          <p:spTgt spid="1132577"/>
                                        </p:tgtEl>
                                        <p:attrNameLst>
                                          <p:attrName>style.visibility</p:attrName>
                                        </p:attrNameLst>
                                      </p:cBhvr>
                                      <p:to>
                                        <p:strVal val="visible"/>
                                      </p:to>
                                    </p:set>
                                    <p:animEffect transition="in" filter="strips(downRight)">
                                      <p:cBhvr>
                                        <p:cTn id="45" dur="500"/>
                                        <p:tgtEl>
                                          <p:spTgt spid="1132577"/>
                                        </p:tgtEl>
                                      </p:cBhvr>
                                    </p:animEffec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par>
                          <p:cTn id="46" fill="hold">
                            <p:stCondLst>
                              <p:cond delay="500"/>
                            </p:stCondLst>
                            <p:childTnLst>
                              <p:par>
                                <p:cTn id="47" presetID="4" presetClass="entr" presetSubtype="16" fill="hold" grpId="0" nodeType="afterEffect">
                                  <p:stCondLst>
                                    <p:cond delay="0"/>
                                  </p:stCondLst>
                                  <p:childTnLst>
                                    <p:set>
                                      <p:cBhvr>
                                        <p:cTn id="48" dur="1" fill="hold">
                                          <p:stCondLst>
                                            <p:cond delay="0"/>
                                          </p:stCondLst>
                                        </p:cTn>
                                        <p:tgtEl>
                                          <p:spTgt spid="1132575"/>
                                        </p:tgtEl>
                                        <p:attrNameLst>
                                          <p:attrName>style.visibility</p:attrName>
                                        </p:attrNameLst>
                                      </p:cBhvr>
                                      <p:to>
                                        <p:strVal val="visible"/>
                                      </p:to>
                                    </p:set>
                                    <p:animEffect transition="in" filter="box(in)">
                                      <p:cBhvr>
                                        <p:cTn id="49" dur="500"/>
                                        <p:tgtEl>
                                          <p:spTgt spid="1132575"/>
                                        </p:tgtEl>
                                      </p:cBhvr>
                                    </p:animEffect>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50" fill="hold">
                      <p:stCondLst>
                        <p:cond delay="indefinite"/>
                      </p:stCondLst>
                      <p:childTnLst>
                        <p:par>
                          <p:cTn id="51" fill="hold">
                            <p:stCondLst>
                              <p:cond delay="0"/>
                            </p:stCondLst>
                            <p:childTnLst>
                              <p:par>
                                <p:cTn id="52" presetID="18" presetClass="entr" presetSubtype="6" fill="hold" nodeType="clickEffect">
                                  <p:stCondLst>
                                    <p:cond delay="0"/>
                                  </p:stCondLst>
                                  <p:childTnLst>
                                    <p:set>
                                      <p:cBhvr>
                                        <p:cTn id="53" dur="1" fill="hold">
                                          <p:stCondLst>
                                            <p:cond delay="0"/>
                                          </p:stCondLst>
                                        </p:cTn>
                                        <p:tgtEl>
                                          <p:spTgt spid="1132588"/>
                                        </p:tgtEl>
                                        <p:attrNameLst>
                                          <p:attrName>style.visibility</p:attrName>
                                        </p:attrNameLst>
                                      </p:cBhvr>
                                      <p:to>
                                        <p:strVal val="visible"/>
                                      </p:to>
                                    </p:set>
                                    <p:animEffect transition="in" filter="strips(downRight)">
                                      <p:cBhvr>
                                        <p:cTn id="54" dur="500"/>
                                        <p:tgtEl>
                                          <p:spTgt spid="1132588"/>
                                        </p:tgtEl>
                                      </p:cBhvr>
                                    </p:animEffect>
                                  </p:childTnLst>
                                  <p:subTnLst>
                                    <p:audio>
                                      <p:cMediaNode>
                                        <p:cTn display="0" masterRel="sameClick">
                                          <p:stCondLst>
                                            <p:cond evt="begin" delay="0">
                                              <p:tn val="52"/>
                                            </p:cond>
                                          </p:stCondLst>
                                          <p:endCondLst>
                                            <p:cond evt="onStopAudio" delay="0">
                                              <p:tgtEl>
                                                <p:sldTgt/>
                                              </p:tgtEl>
                                            </p:cond>
                                          </p:endCondLst>
                                        </p:cTn>
                                        <p:tgtEl>
                                          <p:sndTgt r:embed="rId3" name="laser.wav"/>
                                        </p:tgtEl>
                                      </p:cMediaNode>
                                    </p:audio>
                                  </p:subTnLst>
                                </p:cTn>
                              </p:par>
                            </p:childTnLst>
                          </p:cTn>
                        </p:par>
                      </p:childTnLst>
                    </p:cTn>
                  </p:par>
                  <p:par>
                    <p:cTn id="55" fill="hold">
                      <p:stCondLst>
                        <p:cond delay="indefinite"/>
                      </p:stCondLst>
                      <p:childTnLst>
                        <p:par>
                          <p:cTn id="56" fill="hold">
                            <p:stCondLst>
                              <p:cond delay="0"/>
                            </p:stCondLst>
                            <p:childTnLst>
                              <p:par>
                                <p:cTn id="57" presetID="18" presetClass="entr" presetSubtype="6" fill="hold" grpId="0" nodeType="clickEffect">
                                  <p:stCondLst>
                                    <p:cond delay="0"/>
                                  </p:stCondLst>
                                  <p:childTnLst>
                                    <p:set>
                                      <p:cBhvr>
                                        <p:cTn id="58" dur="1" fill="hold">
                                          <p:stCondLst>
                                            <p:cond delay="0"/>
                                          </p:stCondLst>
                                        </p:cTn>
                                        <p:tgtEl>
                                          <p:spTgt spid="1132576"/>
                                        </p:tgtEl>
                                        <p:attrNameLst>
                                          <p:attrName>style.visibility</p:attrName>
                                        </p:attrNameLst>
                                      </p:cBhvr>
                                      <p:to>
                                        <p:strVal val="visible"/>
                                      </p:to>
                                    </p:set>
                                    <p:animEffect transition="in" filter="strips(downRight)">
                                      <p:cBhvr>
                                        <p:cTn id="59" dur="500"/>
                                        <p:tgtEl>
                                          <p:spTgt spid="1132576"/>
                                        </p:tgtEl>
                                      </p:cBhvr>
                                    </p:animEffect>
                                  </p:childTnLst>
                                  <p:subTnLst>
                                    <p:audio>
                                      <p:cMediaNode>
                                        <p:cTn display="0" masterRel="sameClick">
                                          <p:stCondLst>
                                            <p:cond evt="begin" delay="0">
                                              <p:tn val="57"/>
                                            </p:cond>
                                          </p:stCondLst>
                                          <p:endCondLst>
                                            <p:cond evt="onStopAudio" delay="0">
                                              <p:tgtEl>
                                                <p:sldTgt/>
                                              </p:tgtEl>
                                            </p:cond>
                                          </p:endCondLst>
                                        </p:cTn>
                                        <p:tgtEl>
                                          <p:sndTgt r:embed="rId3" name="laser.wav"/>
                                        </p:tgtEl>
                                      </p:cMediaNode>
                                    </p:audio>
                                  </p:subTnLst>
                                </p:cTn>
                              </p:par>
                            </p:childTnLst>
                          </p:cTn>
                        </p:par>
                      </p:childTnLst>
                    </p:cTn>
                  </p:par>
                  <p:par>
                    <p:cTn id="60" fill="hold">
                      <p:stCondLst>
                        <p:cond delay="indefinite"/>
                      </p:stCondLst>
                      <p:childTnLst>
                        <p:par>
                          <p:cTn id="61" fill="hold">
                            <p:stCondLst>
                              <p:cond delay="0"/>
                            </p:stCondLst>
                            <p:childTnLst>
                              <p:par>
                                <p:cTn id="62" presetID="18" presetClass="entr" presetSubtype="3" fill="hold" nodeType="clickEffect">
                                  <p:stCondLst>
                                    <p:cond delay="0"/>
                                  </p:stCondLst>
                                  <p:childTnLst>
                                    <p:set>
                                      <p:cBhvr>
                                        <p:cTn id="63" dur="1" fill="hold">
                                          <p:stCondLst>
                                            <p:cond delay="0"/>
                                          </p:stCondLst>
                                        </p:cTn>
                                        <p:tgtEl>
                                          <p:spTgt spid="1132595"/>
                                        </p:tgtEl>
                                        <p:attrNameLst>
                                          <p:attrName>style.visibility</p:attrName>
                                        </p:attrNameLst>
                                      </p:cBhvr>
                                      <p:to>
                                        <p:strVal val="visible"/>
                                      </p:to>
                                    </p:set>
                                    <p:animEffect transition="in" filter="strips(upRight)">
                                      <p:cBhvr>
                                        <p:cTn id="64" dur="500"/>
                                        <p:tgtEl>
                                          <p:spTgt spid="1132595"/>
                                        </p:tgtEl>
                                      </p:cBhvr>
                                    </p:animEffect>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nodeType="clickEffect">
                                  <p:stCondLst>
                                    <p:cond delay="0"/>
                                  </p:stCondLst>
                                  <p:childTnLst>
                                    <p:set>
                                      <p:cBhvr>
                                        <p:cTn id="68" dur="1" fill="hold">
                                          <p:stCondLst>
                                            <p:cond delay="0"/>
                                          </p:stCondLst>
                                        </p:cTn>
                                        <p:tgtEl>
                                          <p:spTgt spid="1132599"/>
                                        </p:tgtEl>
                                        <p:attrNameLst>
                                          <p:attrName>style.visibility</p:attrName>
                                        </p:attrNameLst>
                                      </p:cBhvr>
                                      <p:to>
                                        <p:strVal val="visible"/>
                                      </p:to>
                                    </p:set>
                                    <p:animEffect transition="in" filter="box(out)">
                                      <p:cBhvr>
                                        <p:cTn id="69" dur="500"/>
                                        <p:tgtEl>
                                          <p:spTgt spid="1132599"/>
                                        </p:tgtEl>
                                      </p:cBhvr>
                                    </p:animEffect>
                                  </p:childTnLst>
                                  <p:subTnLst>
                                    <p:audio>
                                      <p:cMediaNode>
                                        <p:cTn display="0" masterRel="sameClick">
                                          <p:stCondLst>
                                            <p:cond evt="begin" delay="0">
                                              <p:tn val="6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74" grpId="0" build="p" bldLvl="3" autoUpdateAnimBg="0"/>
      <p:bldP spid="1132575" grpId="0"/>
      <p:bldP spid="1132576" grpId="0" animBg="1"/>
      <p:bldP spid="113259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3570" name="Rectangle 2"/>
          <p:cNvSpPr>
            <a:spLocks noGrp="1" noChangeArrowheads="1"/>
          </p:cNvSpPr>
          <p:nvPr>
            <p:ph type="body" idx="4294967295"/>
          </p:nvPr>
        </p:nvSpPr>
        <p:spPr>
          <a:xfrm>
            <a:off x="638373" y="792588"/>
            <a:ext cx="3009355" cy="908220"/>
          </a:xfrm>
        </p:spPr>
        <p:txBody>
          <a:bodyPr/>
          <a:lstStyle/>
          <a:p>
            <a:pPr>
              <a:buFontTx/>
              <a:buNone/>
            </a:pPr>
            <a:r>
              <a:rPr lang="en-US" altLang="zh-CN" sz="2800" dirty="0">
                <a:solidFill>
                  <a:srgbClr val="C00000"/>
                </a:solidFill>
                <a:effectLst/>
                <a:ea typeface="楷体" pitchFamily="49" charset="-122"/>
              </a:rPr>
              <a:t>4</a:t>
            </a:r>
            <a:r>
              <a:rPr lang="zh-CN" altLang="en-US" sz="2800" dirty="0">
                <a:solidFill>
                  <a:srgbClr val="C00000"/>
                </a:solidFill>
                <a:effectLst/>
                <a:ea typeface="楷体" pitchFamily="49" charset="-122"/>
              </a:rPr>
              <a:t>、</a:t>
            </a:r>
            <a:r>
              <a:rPr lang="en-US" altLang="zh-CN" sz="2800" dirty="0">
                <a:solidFill>
                  <a:srgbClr val="C00000"/>
                </a:solidFill>
                <a:effectLst/>
                <a:ea typeface="楷体" pitchFamily="49" charset="-122"/>
              </a:rPr>
              <a:t>&amp;</a:t>
            </a:r>
            <a:r>
              <a:rPr lang="zh-CN" altLang="en-US" sz="2800" dirty="0">
                <a:solidFill>
                  <a:srgbClr val="C00000"/>
                </a:solidFill>
                <a:effectLst/>
                <a:ea typeface="楷体" pitchFamily="49" charset="-122"/>
              </a:rPr>
              <a:t>与*运算符</a:t>
            </a:r>
          </a:p>
          <a:p>
            <a:pPr lvl="1">
              <a:buFont typeface="Wingdings" pitchFamily="2" charset="2"/>
              <a:buChar char="l"/>
            </a:pPr>
            <a:r>
              <a:rPr lang="zh-CN" altLang="en-US" sz="2400" dirty="0">
                <a:solidFill>
                  <a:srgbClr val="C00000"/>
                </a:solidFill>
                <a:effectLst/>
                <a:ea typeface="楷体" pitchFamily="49" charset="-122"/>
              </a:rPr>
              <a:t> </a:t>
            </a:r>
            <a:r>
              <a:rPr lang="zh-CN" altLang="en-US" sz="2400" dirty="0">
                <a:solidFill>
                  <a:srgbClr val="C00000"/>
                </a:solidFill>
                <a:effectLst/>
                <a:latin typeface="楷体" panose="02010609060101010101" pitchFamily="49" charset="-122"/>
                <a:ea typeface="楷体" panose="02010609060101010101" pitchFamily="49" charset="-122"/>
              </a:rPr>
              <a:t>含义</a:t>
            </a:r>
          </a:p>
        </p:txBody>
      </p:sp>
      <p:sp>
        <p:nvSpPr>
          <p:cNvPr id="1133571" name="AutoShape 3"/>
          <p:cNvSpPr>
            <a:spLocks noChangeArrowheads="1"/>
          </p:cNvSpPr>
          <p:nvPr/>
        </p:nvSpPr>
        <p:spPr bwMode="auto">
          <a:xfrm>
            <a:off x="3522565" y="927390"/>
            <a:ext cx="2398413" cy="1015663"/>
          </a:xfrm>
          <a:prstGeom prst="wedgeRectCallout">
            <a:avLst>
              <a:gd name="adj1" fmla="val -127926"/>
              <a:gd name="adj2" fmla="val -32923"/>
            </a:avLst>
          </a:prstGeom>
          <a:gradFill rotWithShape="1">
            <a:gsLst>
              <a:gs pos="0">
                <a:srgbClr val="CFCFD1"/>
              </a:gs>
              <a:gs pos="100000">
                <a:srgbClr val="FFFFFF"/>
              </a:gs>
            </a:gsLst>
            <a:lin ang="5400000" scaled="1"/>
          </a:gra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nSpc>
                <a:spcPct val="100000"/>
              </a:lnSpc>
              <a:spcBef>
                <a:spcPct val="0"/>
              </a:spcBef>
            </a:pPr>
            <a:r>
              <a:rPr lang="zh-CN" altLang="en-US" sz="2000" dirty="0">
                <a:latin typeface="+mn-lt"/>
                <a:ea typeface="楷体" pitchFamily="49" charset="-122"/>
              </a:rPr>
              <a:t>含义</a:t>
            </a:r>
            <a:r>
              <a:rPr lang="en-US" altLang="zh-CN" sz="2000" dirty="0">
                <a:latin typeface="+mn-lt"/>
                <a:ea typeface="楷体" pitchFamily="49" charset="-122"/>
              </a:rPr>
              <a:t>: </a:t>
            </a:r>
            <a:r>
              <a:rPr lang="zh-CN" altLang="en-US" sz="2000" dirty="0">
                <a:solidFill>
                  <a:srgbClr val="002060"/>
                </a:solidFill>
                <a:latin typeface="+mn-lt"/>
                <a:ea typeface="楷体" pitchFamily="49" charset="-122"/>
              </a:rPr>
              <a:t>取变量的地址</a:t>
            </a:r>
          </a:p>
          <a:p>
            <a:pPr>
              <a:lnSpc>
                <a:spcPct val="100000"/>
              </a:lnSpc>
              <a:spcBef>
                <a:spcPct val="0"/>
              </a:spcBef>
            </a:pPr>
            <a:r>
              <a:rPr lang="zh-CN" altLang="en-US" sz="2000" dirty="0">
                <a:latin typeface="+mn-lt"/>
                <a:ea typeface="楷体" pitchFamily="49" charset="-122"/>
              </a:rPr>
              <a:t>单目运算符</a:t>
            </a:r>
          </a:p>
          <a:p>
            <a:pPr>
              <a:lnSpc>
                <a:spcPct val="100000"/>
              </a:lnSpc>
              <a:spcBef>
                <a:spcPct val="0"/>
              </a:spcBef>
            </a:pPr>
            <a:r>
              <a:rPr lang="zh-CN" altLang="en-US" sz="2000" dirty="0">
                <a:latin typeface="+mn-lt"/>
                <a:ea typeface="楷体" pitchFamily="49" charset="-122"/>
              </a:rPr>
              <a:t>结合性</a:t>
            </a:r>
            <a:r>
              <a:rPr lang="en-US" altLang="zh-CN" sz="2000" dirty="0">
                <a:latin typeface="+mn-lt"/>
                <a:ea typeface="楷体" pitchFamily="49" charset="-122"/>
              </a:rPr>
              <a:t>:</a:t>
            </a:r>
            <a:r>
              <a:rPr lang="zh-CN" altLang="en-US" sz="2000" dirty="0">
                <a:solidFill>
                  <a:srgbClr val="002060"/>
                </a:solidFill>
                <a:latin typeface="+mn-lt"/>
                <a:ea typeface="楷体" pitchFamily="49" charset="-122"/>
              </a:rPr>
              <a:t>自右向左</a:t>
            </a:r>
          </a:p>
        </p:txBody>
      </p:sp>
      <p:sp>
        <p:nvSpPr>
          <p:cNvPr id="1133572" name="AutoShape 4"/>
          <p:cNvSpPr>
            <a:spLocks noChangeArrowheads="1"/>
          </p:cNvSpPr>
          <p:nvPr/>
        </p:nvSpPr>
        <p:spPr bwMode="auto">
          <a:xfrm>
            <a:off x="7030554" y="780301"/>
            <a:ext cx="3653564" cy="1015663"/>
          </a:xfrm>
          <a:prstGeom prst="wedgeRectCallout">
            <a:avLst>
              <a:gd name="adj1" fmla="val -182786"/>
              <a:gd name="adj2" fmla="val -28136"/>
            </a:avLst>
          </a:prstGeom>
          <a:gradFill rotWithShape="1">
            <a:gsLst>
              <a:gs pos="0">
                <a:srgbClr val="CFCFD1"/>
              </a:gs>
              <a:gs pos="100000">
                <a:srgbClr val="FFFFFF"/>
              </a:gs>
            </a:gsLst>
            <a:lin ang="5400000" scaled="1"/>
          </a:gra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nSpc>
                <a:spcPct val="100000"/>
              </a:lnSpc>
              <a:spcBef>
                <a:spcPct val="0"/>
              </a:spcBef>
            </a:pPr>
            <a:r>
              <a:rPr lang="zh-CN" altLang="en-US" sz="2000" dirty="0">
                <a:latin typeface="+mn-lt"/>
                <a:ea typeface="楷体" pitchFamily="49" charset="-122"/>
              </a:rPr>
              <a:t>含义</a:t>
            </a:r>
            <a:r>
              <a:rPr lang="en-US" altLang="zh-CN" sz="2000" dirty="0">
                <a:latin typeface="+mn-lt"/>
                <a:ea typeface="楷体" pitchFamily="49" charset="-122"/>
              </a:rPr>
              <a:t>:</a:t>
            </a:r>
            <a:r>
              <a:rPr lang="en-US" altLang="zh-CN" sz="2000" dirty="0">
                <a:solidFill>
                  <a:srgbClr val="0000FF"/>
                </a:solidFill>
                <a:latin typeface="+mn-lt"/>
                <a:ea typeface="楷体" pitchFamily="49" charset="-122"/>
              </a:rPr>
              <a:t> </a:t>
            </a:r>
            <a:r>
              <a:rPr lang="zh-CN" altLang="en-US" sz="2000" dirty="0">
                <a:solidFill>
                  <a:srgbClr val="002060"/>
                </a:solidFill>
                <a:latin typeface="+mn-lt"/>
                <a:ea typeface="楷体" pitchFamily="49" charset="-122"/>
              </a:rPr>
              <a:t>取指针所指向变量的内容</a:t>
            </a:r>
          </a:p>
          <a:p>
            <a:pPr>
              <a:lnSpc>
                <a:spcPct val="100000"/>
              </a:lnSpc>
              <a:spcBef>
                <a:spcPct val="0"/>
              </a:spcBef>
            </a:pPr>
            <a:r>
              <a:rPr lang="zh-CN" altLang="en-US" sz="2000" dirty="0">
                <a:latin typeface="+mn-lt"/>
                <a:ea typeface="楷体" pitchFamily="49" charset="-122"/>
              </a:rPr>
              <a:t>单目运算符</a:t>
            </a:r>
          </a:p>
          <a:p>
            <a:pPr>
              <a:lnSpc>
                <a:spcPct val="100000"/>
              </a:lnSpc>
              <a:spcBef>
                <a:spcPct val="0"/>
              </a:spcBef>
            </a:pPr>
            <a:r>
              <a:rPr lang="zh-CN" altLang="en-US" sz="2000" dirty="0">
                <a:latin typeface="+mn-lt"/>
                <a:ea typeface="楷体" pitchFamily="49" charset="-122"/>
              </a:rPr>
              <a:t>结合性</a:t>
            </a:r>
            <a:r>
              <a:rPr lang="en-US" altLang="zh-CN" sz="2000" dirty="0">
                <a:latin typeface="+mn-lt"/>
                <a:ea typeface="楷体" pitchFamily="49" charset="-122"/>
              </a:rPr>
              <a:t>:</a:t>
            </a:r>
            <a:r>
              <a:rPr lang="zh-CN" altLang="en-US" sz="2000" dirty="0">
                <a:solidFill>
                  <a:srgbClr val="002060"/>
                </a:solidFill>
                <a:latin typeface="+mn-lt"/>
                <a:ea typeface="楷体" pitchFamily="49" charset="-122"/>
              </a:rPr>
              <a:t>自右向左</a:t>
            </a:r>
          </a:p>
        </p:txBody>
      </p:sp>
      <p:sp>
        <p:nvSpPr>
          <p:cNvPr id="1133573" name="Rectangle 5"/>
          <p:cNvSpPr>
            <a:spLocks noChangeArrowheads="1"/>
          </p:cNvSpPr>
          <p:nvPr/>
        </p:nvSpPr>
        <p:spPr bwMode="auto">
          <a:xfrm>
            <a:off x="1089803" y="1783967"/>
            <a:ext cx="7491413" cy="952500"/>
          </a:xfrm>
          <a:prstGeom prst="rect">
            <a:avLst/>
          </a:prstGeom>
          <a:noFill/>
          <a:ln w="9525">
            <a:noFill/>
            <a:miter lim="800000"/>
            <a:headEnd/>
            <a:tailEnd/>
          </a:ln>
          <a:effectLst/>
        </p:spPr>
        <p:txBody>
          <a:bodyPr/>
          <a:lstStyle/>
          <a:p>
            <a:pPr marL="342900" indent="-342900">
              <a:lnSpc>
                <a:spcPct val="100000"/>
              </a:lnSpc>
              <a:buFont typeface="Wingdings" pitchFamily="2" charset="2"/>
              <a:buChar char="l"/>
            </a:pPr>
            <a:r>
              <a:rPr lang="zh-CN" altLang="en-US" b="1" dirty="0">
                <a:solidFill>
                  <a:srgbClr val="C00000"/>
                </a:solidFill>
                <a:latin typeface="楷体" panose="02010609060101010101" pitchFamily="49" charset="-122"/>
                <a:ea typeface="楷体" panose="02010609060101010101" pitchFamily="49" charset="-122"/>
              </a:rPr>
              <a:t>两者关系：互为</a:t>
            </a:r>
            <a:r>
              <a:rPr lang="zh-CN" altLang="en-US" b="1" dirty="0">
                <a:solidFill>
                  <a:srgbClr val="002060"/>
                </a:solidFill>
                <a:latin typeface="楷体" panose="02010609060101010101" pitchFamily="49" charset="-122"/>
                <a:ea typeface="楷体" panose="02010609060101010101" pitchFamily="49" charset="-122"/>
              </a:rPr>
              <a:t>逆运算</a:t>
            </a:r>
            <a:endParaRPr lang="en-US" altLang="zh-CN" b="1" dirty="0">
              <a:solidFill>
                <a:srgbClr val="002060"/>
              </a:solidFill>
              <a:latin typeface="楷体" panose="02010609060101010101" pitchFamily="49" charset="-122"/>
              <a:ea typeface="楷体" panose="02010609060101010101" pitchFamily="49" charset="-122"/>
            </a:endParaRPr>
          </a:p>
          <a:p>
            <a:pPr marL="342900" indent="-342900">
              <a:lnSpc>
                <a:spcPct val="100000"/>
              </a:lnSpc>
              <a:buFont typeface="Wingdings" pitchFamily="2" charset="2"/>
              <a:buChar char="l"/>
            </a:pPr>
            <a:endParaRPr lang="zh-CN" altLang="en-US" sz="600" b="1" dirty="0">
              <a:solidFill>
                <a:srgbClr val="002060"/>
              </a:solidFill>
              <a:latin typeface="楷体" panose="02010609060101010101" pitchFamily="49" charset="-122"/>
              <a:ea typeface="楷体" panose="02010609060101010101" pitchFamily="49" charset="-122"/>
            </a:endParaRPr>
          </a:p>
          <a:p>
            <a:pPr marL="342900" indent="-342900">
              <a:lnSpc>
                <a:spcPct val="100000"/>
              </a:lnSpc>
              <a:buFont typeface="Wingdings" pitchFamily="2" charset="2"/>
              <a:buChar char="l"/>
            </a:pPr>
            <a:r>
              <a:rPr lang="zh-CN" altLang="en-US" b="1" dirty="0">
                <a:solidFill>
                  <a:srgbClr val="C00000"/>
                </a:solidFill>
                <a:latin typeface="楷体" panose="02010609060101010101" pitchFamily="49" charset="-122"/>
                <a:ea typeface="楷体" panose="02010609060101010101" pitchFamily="49" charset="-122"/>
              </a:rPr>
              <a:t>理解</a:t>
            </a:r>
          </a:p>
        </p:txBody>
      </p:sp>
      <p:grpSp>
        <p:nvGrpSpPr>
          <p:cNvPr id="1133574" name="Group 6"/>
          <p:cNvGrpSpPr>
            <a:grpSpLocks/>
          </p:cNvGrpSpPr>
          <p:nvPr/>
        </p:nvGrpSpPr>
        <p:grpSpPr bwMode="auto">
          <a:xfrm>
            <a:off x="7315977" y="2030611"/>
            <a:ext cx="4083052" cy="1211264"/>
            <a:chOff x="2909" y="887"/>
            <a:chExt cx="2572" cy="763"/>
          </a:xfrm>
        </p:grpSpPr>
        <p:sp>
          <p:nvSpPr>
            <p:cNvPr id="1133575" name="Rectangle 7"/>
            <p:cNvSpPr>
              <a:spLocks noChangeArrowheads="1"/>
            </p:cNvSpPr>
            <p:nvPr/>
          </p:nvSpPr>
          <p:spPr bwMode="auto">
            <a:xfrm>
              <a:off x="3737" y="1173"/>
              <a:ext cx="611" cy="255"/>
            </a:xfrm>
            <a:prstGeom prst="rect">
              <a:avLst/>
            </a:prstGeom>
            <a:gradFill rotWithShape="1">
              <a:gsLst>
                <a:gs pos="0">
                  <a:srgbClr val="DDFAED"/>
                </a:gs>
                <a:gs pos="100000">
                  <a:srgbClr val="FFFFFF"/>
                </a:gs>
              </a:gsLst>
              <a:lin ang="5400000" scaled="1"/>
            </a:gradFill>
            <a:ln w="28575">
              <a:solidFill>
                <a:srgbClr val="BEDFC4"/>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pPr algn="ctr">
                <a:lnSpc>
                  <a:spcPct val="100000"/>
                </a:lnSpc>
                <a:spcBef>
                  <a:spcPct val="0"/>
                </a:spcBef>
              </a:pPr>
              <a:r>
                <a:rPr lang="en-US" altLang="zh-CN" sz="2000" dirty="0">
                  <a:solidFill>
                    <a:srgbClr val="C01920"/>
                  </a:solidFill>
                  <a:ea typeface="宋体" pitchFamily="2" charset="-122"/>
                </a:rPr>
                <a:t>2000</a:t>
              </a:r>
            </a:p>
          </p:txBody>
        </p:sp>
        <p:sp>
          <p:nvSpPr>
            <p:cNvPr id="1133576" name="Rectangle 8"/>
            <p:cNvSpPr>
              <a:spLocks noChangeArrowheads="1"/>
            </p:cNvSpPr>
            <p:nvPr/>
          </p:nvSpPr>
          <p:spPr bwMode="auto">
            <a:xfrm>
              <a:off x="4790" y="1158"/>
              <a:ext cx="611" cy="255"/>
            </a:xfrm>
            <a:prstGeom prst="rect">
              <a:avLst/>
            </a:prstGeom>
            <a:gradFill rotWithShape="1">
              <a:gsLst>
                <a:gs pos="0">
                  <a:srgbClr val="DDFAED"/>
                </a:gs>
                <a:gs pos="100000">
                  <a:srgbClr val="FFFFFF"/>
                </a:gs>
              </a:gsLst>
              <a:lin ang="5400000" scaled="1"/>
            </a:gradFill>
            <a:ln w="28575">
              <a:solidFill>
                <a:srgbClr val="BEDFC4"/>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pPr algn="ctr">
                <a:lnSpc>
                  <a:spcPct val="100000"/>
                </a:lnSpc>
                <a:spcBef>
                  <a:spcPct val="0"/>
                </a:spcBef>
              </a:pPr>
              <a:r>
                <a:rPr lang="en-US" altLang="zh-CN" sz="2000" dirty="0">
                  <a:solidFill>
                    <a:srgbClr val="002060"/>
                  </a:solidFill>
                  <a:ea typeface="宋体" pitchFamily="2" charset="-122"/>
                </a:rPr>
                <a:t>10</a:t>
              </a:r>
            </a:p>
          </p:txBody>
        </p:sp>
        <p:sp>
          <p:nvSpPr>
            <p:cNvPr id="1133577" name="Line 9"/>
            <p:cNvSpPr>
              <a:spLocks noChangeShapeType="1"/>
            </p:cNvSpPr>
            <p:nvPr/>
          </p:nvSpPr>
          <p:spPr bwMode="auto">
            <a:xfrm>
              <a:off x="4348" y="1290"/>
              <a:ext cx="411" cy="0"/>
            </a:xfrm>
            <a:prstGeom prst="line">
              <a:avLst/>
            </a:prstGeom>
            <a:noFill/>
            <a:ln w="28575">
              <a:solidFill>
                <a:srgbClr val="CC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33578" name="Text Box 10"/>
            <p:cNvSpPr txBox="1">
              <a:spLocks noChangeArrowheads="1"/>
            </p:cNvSpPr>
            <p:nvPr/>
          </p:nvSpPr>
          <p:spPr bwMode="auto">
            <a:xfrm>
              <a:off x="3689" y="913"/>
              <a:ext cx="698"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err="1">
                  <a:solidFill>
                    <a:srgbClr val="002060"/>
                  </a:solidFill>
                  <a:ea typeface="宋体" pitchFamily="2" charset="-122"/>
                </a:rPr>
                <a:t>i_pointer</a:t>
              </a:r>
              <a:endParaRPr lang="en-US" altLang="zh-CN" sz="2000" dirty="0">
                <a:solidFill>
                  <a:srgbClr val="002060"/>
                </a:solidFill>
                <a:ea typeface="宋体" pitchFamily="2" charset="-122"/>
              </a:endParaRPr>
            </a:p>
          </p:txBody>
        </p:sp>
        <p:sp>
          <p:nvSpPr>
            <p:cNvPr id="1133579" name="Text Box 11"/>
            <p:cNvSpPr txBox="1">
              <a:spLocks noChangeArrowheads="1"/>
            </p:cNvSpPr>
            <p:nvPr/>
          </p:nvSpPr>
          <p:spPr bwMode="auto">
            <a:xfrm>
              <a:off x="4702" y="887"/>
              <a:ext cx="779"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chemeClr val="accent1">
                      <a:lumMod val="50000"/>
                    </a:schemeClr>
                  </a:solidFill>
                  <a:ea typeface="宋体" pitchFamily="2" charset="-122"/>
                </a:rPr>
                <a:t>*</a:t>
              </a:r>
              <a:r>
                <a:rPr lang="en-US" altLang="zh-CN" sz="2000" dirty="0" err="1">
                  <a:solidFill>
                    <a:schemeClr val="accent1">
                      <a:lumMod val="50000"/>
                    </a:schemeClr>
                  </a:solidFill>
                  <a:ea typeface="宋体" pitchFamily="2" charset="-122"/>
                </a:rPr>
                <a:t>i_pointer</a:t>
              </a:r>
              <a:endParaRPr lang="en-US" altLang="zh-CN" sz="2000" dirty="0">
                <a:solidFill>
                  <a:schemeClr val="accent1">
                    <a:lumMod val="50000"/>
                  </a:schemeClr>
                </a:solidFill>
                <a:ea typeface="宋体" pitchFamily="2" charset="-122"/>
              </a:endParaRPr>
            </a:p>
          </p:txBody>
        </p:sp>
        <p:sp>
          <p:nvSpPr>
            <p:cNvPr id="1133580" name="Text Box 12"/>
            <p:cNvSpPr txBox="1">
              <a:spLocks noChangeArrowheads="1"/>
            </p:cNvSpPr>
            <p:nvPr/>
          </p:nvSpPr>
          <p:spPr bwMode="auto">
            <a:xfrm>
              <a:off x="2909" y="1152"/>
              <a:ext cx="82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002060"/>
                  </a:solidFill>
                  <a:ea typeface="宋体" pitchFamily="2" charset="-122"/>
                </a:rPr>
                <a:t>&amp;</a:t>
              </a:r>
              <a:r>
                <a:rPr lang="en-US" altLang="zh-CN" sz="2000" dirty="0" err="1">
                  <a:solidFill>
                    <a:srgbClr val="002060"/>
                  </a:solidFill>
                  <a:ea typeface="宋体" pitchFamily="2" charset="-122"/>
                </a:rPr>
                <a:t>i_pointer</a:t>
              </a:r>
              <a:endParaRPr lang="en-US" altLang="zh-CN" sz="2000" dirty="0">
                <a:solidFill>
                  <a:srgbClr val="002060"/>
                </a:solidFill>
                <a:ea typeface="宋体" pitchFamily="2" charset="-122"/>
              </a:endParaRPr>
            </a:p>
          </p:txBody>
        </p:sp>
        <p:sp>
          <p:nvSpPr>
            <p:cNvPr id="1133581" name="Text Box 13"/>
            <p:cNvSpPr txBox="1">
              <a:spLocks noChangeArrowheads="1"/>
            </p:cNvSpPr>
            <p:nvPr/>
          </p:nvSpPr>
          <p:spPr bwMode="auto">
            <a:xfrm>
              <a:off x="5032" y="1397"/>
              <a:ext cx="159"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dirty="0" err="1">
                  <a:solidFill>
                    <a:srgbClr val="002060"/>
                  </a:solidFill>
                  <a:ea typeface="宋体" pitchFamily="2" charset="-122"/>
                </a:rPr>
                <a:t>i</a:t>
              </a:r>
              <a:endParaRPr lang="en-US" altLang="zh-CN" sz="2000" dirty="0">
                <a:solidFill>
                  <a:srgbClr val="002060"/>
                </a:solidFill>
                <a:ea typeface="宋体" pitchFamily="2" charset="-122"/>
              </a:endParaRPr>
            </a:p>
          </p:txBody>
        </p:sp>
      </p:grpSp>
      <p:sp>
        <p:nvSpPr>
          <p:cNvPr id="1133582" name="Rectangle 14"/>
          <p:cNvSpPr>
            <a:spLocks noChangeArrowheads="1"/>
          </p:cNvSpPr>
          <p:nvPr/>
        </p:nvSpPr>
        <p:spPr bwMode="auto">
          <a:xfrm>
            <a:off x="6678761" y="3329691"/>
            <a:ext cx="4491037" cy="860425"/>
          </a:xfrm>
          <a:prstGeom prst="rect">
            <a:avLst/>
          </a:prstGeom>
          <a:gradFill rotWithShape="1">
            <a:gsLst>
              <a:gs pos="0">
                <a:srgbClr val="CFCFD1"/>
              </a:gs>
              <a:gs pos="100000">
                <a:srgbClr val="FFFFFF"/>
              </a:gs>
            </a:gsLst>
            <a:lin ang="5400000" scaled="1"/>
          </a:gradFill>
          <a:ln w="38100">
            <a:solidFill>
              <a:srgbClr val="C0192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dirty="0" err="1">
                <a:solidFill>
                  <a:srgbClr val="002060"/>
                </a:solidFill>
                <a:ea typeface="宋体" pitchFamily="2" charset="-122"/>
              </a:rPr>
              <a:t>i_pointer</a:t>
            </a:r>
            <a:r>
              <a:rPr lang="en-US" altLang="zh-CN" dirty="0">
                <a:solidFill>
                  <a:srgbClr val="002060"/>
                </a:solidFill>
                <a:ea typeface="宋体" pitchFamily="2" charset="-122"/>
              </a:rPr>
              <a:t>     &amp;</a:t>
            </a:r>
            <a:r>
              <a:rPr lang="en-US" altLang="zh-CN" dirty="0" err="1">
                <a:solidFill>
                  <a:srgbClr val="002060"/>
                </a:solidFill>
                <a:ea typeface="宋体" pitchFamily="2" charset="-122"/>
              </a:rPr>
              <a:t>i</a:t>
            </a:r>
            <a:r>
              <a:rPr lang="en-US" altLang="zh-CN" dirty="0">
                <a:solidFill>
                  <a:srgbClr val="002060"/>
                </a:solidFill>
                <a:ea typeface="宋体" pitchFamily="2" charset="-122"/>
              </a:rPr>
              <a:t>     &amp;(*</a:t>
            </a:r>
            <a:r>
              <a:rPr lang="en-US" altLang="zh-CN" dirty="0" err="1">
                <a:solidFill>
                  <a:srgbClr val="002060"/>
                </a:solidFill>
                <a:ea typeface="宋体" pitchFamily="2" charset="-122"/>
              </a:rPr>
              <a:t>i_pointer</a:t>
            </a:r>
            <a:r>
              <a:rPr lang="en-US" altLang="zh-CN" dirty="0">
                <a:solidFill>
                  <a:srgbClr val="002060"/>
                </a:solidFill>
                <a:ea typeface="宋体" pitchFamily="2" charset="-122"/>
              </a:rPr>
              <a:t>)</a:t>
            </a:r>
          </a:p>
          <a:p>
            <a:pPr>
              <a:lnSpc>
                <a:spcPct val="100000"/>
              </a:lnSpc>
              <a:spcBef>
                <a:spcPct val="0"/>
              </a:spcBef>
            </a:pPr>
            <a:r>
              <a:rPr lang="en-US" altLang="zh-CN" dirty="0" err="1">
                <a:solidFill>
                  <a:schemeClr val="accent1">
                    <a:lumMod val="50000"/>
                  </a:schemeClr>
                </a:solidFill>
                <a:ea typeface="宋体" pitchFamily="2" charset="-122"/>
              </a:rPr>
              <a:t>i</a:t>
            </a:r>
            <a:r>
              <a:rPr lang="en-US" altLang="zh-CN" dirty="0">
                <a:solidFill>
                  <a:schemeClr val="accent1">
                    <a:lumMod val="50000"/>
                  </a:schemeClr>
                </a:solidFill>
                <a:ea typeface="宋体" pitchFamily="2" charset="-122"/>
              </a:rPr>
              <a:t>       *</a:t>
            </a:r>
            <a:r>
              <a:rPr lang="en-US" altLang="zh-CN" dirty="0" err="1">
                <a:solidFill>
                  <a:schemeClr val="accent1">
                    <a:lumMod val="50000"/>
                  </a:schemeClr>
                </a:solidFill>
                <a:ea typeface="宋体" pitchFamily="2" charset="-122"/>
              </a:rPr>
              <a:t>i_pointer</a:t>
            </a:r>
            <a:r>
              <a:rPr lang="en-US" altLang="zh-CN" dirty="0">
                <a:solidFill>
                  <a:schemeClr val="accent1">
                    <a:lumMod val="50000"/>
                  </a:schemeClr>
                </a:solidFill>
                <a:ea typeface="宋体" pitchFamily="2" charset="-122"/>
              </a:rPr>
              <a:t>      *(&amp;</a:t>
            </a:r>
            <a:r>
              <a:rPr lang="en-US" altLang="zh-CN" dirty="0" err="1">
                <a:solidFill>
                  <a:schemeClr val="accent1">
                    <a:lumMod val="50000"/>
                  </a:schemeClr>
                </a:solidFill>
                <a:ea typeface="宋体" pitchFamily="2" charset="-122"/>
              </a:rPr>
              <a:t>i</a:t>
            </a:r>
            <a:r>
              <a:rPr lang="en-US" altLang="zh-CN" dirty="0">
                <a:solidFill>
                  <a:schemeClr val="accent1">
                    <a:lumMod val="50000"/>
                  </a:schemeClr>
                </a:solidFill>
                <a:ea typeface="宋体" pitchFamily="2" charset="-122"/>
              </a:rPr>
              <a:t>)</a:t>
            </a:r>
          </a:p>
        </p:txBody>
      </p:sp>
      <p:sp>
        <p:nvSpPr>
          <p:cNvPr id="1133583" name="Rectangle 15"/>
          <p:cNvSpPr>
            <a:spLocks noChangeArrowheads="1"/>
          </p:cNvSpPr>
          <p:nvPr/>
        </p:nvSpPr>
        <p:spPr bwMode="auto">
          <a:xfrm>
            <a:off x="6697811" y="3323458"/>
            <a:ext cx="4438502" cy="833178"/>
          </a:xfrm>
          <a:prstGeom prst="rect">
            <a:avLst/>
          </a:prstGeom>
          <a:gradFill rotWithShape="1">
            <a:gsLst>
              <a:gs pos="0">
                <a:srgbClr val="CFCFD1"/>
              </a:gs>
              <a:gs pos="100000">
                <a:srgbClr val="FFFFFF"/>
              </a:gs>
            </a:gsLst>
            <a:lin ang="5400000" scaled="1"/>
          </a:gradFill>
          <a:ln w="38100">
            <a:solidFill>
              <a:srgbClr val="C0192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dirty="0" err="1">
                <a:solidFill>
                  <a:srgbClr val="002060"/>
                </a:solidFill>
                <a:ea typeface="宋体" pitchFamily="2" charset="-122"/>
              </a:rPr>
              <a:t>i_pointer</a:t>
            </a:r>
            <a:r>
              <a:rPr lang="en-US" altLang="zh-CN" dirty="0">
                <a:solidFill>
                  <a:srgbClr val="002060"/>
                </a:solidFill>
                <a:ea typeface="宋体" pitchFamily="2" charset="-122"/>
              </a:rPr>
              <a:t> </a:t>
            </a:r>
            <a:r>
              <a:rPr lang="en-US" altLang="zh-CN" dirty="0">
                <a:solidFill>
                  <a:srgbClr val="C01920"/>
                </a:solidFill>
                <a:ea typeface="宋体" pitchFamily="2" charset="-122"/>
              </a:rPr>
              <a:t> =  </a:t>
            </a:r>
            <a:r>
              <a:rPr lang="en-US" altLang="zh-CN" dirty="0">
                <a:solidFill>
                  <a:srgbClr val="002060"/>
                </a:solidFill>
                <a:ea typeface="宋体" pitchFamily="2" charset="-122"/>
              </a:rPr>
              <a:t>&amp;</a:t>
            </a:r>
            <a:r>
              <a:rPr lang="en-US" altLang="zh-CN" dirty="0" err="1">
                <a:solidFill>
                  <a:srgbClr val="002060"/>
                </a:solidFill>
                <a:ea typeface="宋体" pitchFamily="2" charset="-122"/>
              </a:rPr>
              <a:t>i</a:t>
            </a:r>
            <a:r>
              <a:rPr lang="en-US" altLang="zh-CN" dirty="0">
                <a:solidFill>
                  <a:srgbClr val="002060"/>
                </a:solidFill>
                <a:ea typeface="宋体" pitchFamily="2" charset="-122"/>
              </a:rPr>
              <a:t>  </a:t>
            </a:r>
            <a:r>
              <a:rPr lang="en-US" altLang="zh-CN" dirty="0">
                <a:solidFill>
                  <a:srgbClr val="C01920"/>
                </a:solidFill>
              </a:rPr>
              <a:t>= </a:t>
            </a:r>
            <a:r>
              <a:rPr lang="en-US" altLang="zh-CN" dirty="0">
                <a:ea typeface="宋体" pitchFamily="2" charset="-122"/>
              </a:rPr>
              <a:t> </a:t>
            </a:r>
            <a:r>
              <a:rPr lang="en-US" altLang="zh-CN" dirty="0">
                <a:solidFill>
                  <a:srgbClr val="002060"/>
                </a:solidFill>
                <a:ea typeface="宋体" pitchFamily="2" charset="-122"/>
              </a:rPr>
              <a:t>&amp;(*</a:t>
            </a:r>
            <a:r>
              <a:rPr lang="en-US" altLang="zh-CN" dirty="0" err="1">
                <a:solidFill>
                  <a:srgbClr val="002060"/>
                </a:solidFill>
                <a:ea typeface="宋体" pitchFamily="2" charset="-122"/>
              </a:rPr>
              <a:t>i_pointer</a:t>
            </a:r>
            <a:r>
              <a:rPr lang="en-US" altLang="zh-CN" dirty="0">
                <a:solidFill>
                  <a:srgbClr val="002060"/>
                </a:solidFill>
                <a:ea typeface="宋体" pitchFamily="2" charset="-122"/>
              </a:rPr>
              <a:t>)</a:t>
            </a:r>
          </a:p>
          <a:p>
            <a:pPr>
              <a:lnSpc>
                <a:spcPct val="100000"/>
              </a:lnSpc>
              <a:spcBef>
                <a:spcPct val="0"/>
              </a:spcBef>
            </a:pPr>
            <a:r>
              <a:rPr lang="en-US" altLang="zh-CN" dirty="0" err="1">
                <a:solidFill>
                  <a:schemeClr val="accent1">
                    <a:lumMod val="50000"/>
                  </a:schemeClr>
                </a:solidFill>
                <a:ea typeface="宋体" pitchFamily="2" charset="-122"/>
              </a:rPr>
              <a:t>i</a:t>
            </a:r>
            <a:r>
              <a:rPr lang="en-US" altLang="zh-CN" dirty="0">
                <a:solidFill>
                  <a:schemeClr val="accent1">
                    <a:lumMod val="50000"/>
                  </a:schemeClr>
                </a:solidFill>
                <a:ea typeface="宋体" pitchFamily="2" charset="-122"/>
              </a:rPr>
              <a:t>  </a:t>
            </a:r>
            <a:r>
              <a:rPr lang="en-US" altLang="zh-CN" dirty="0">
                <a:solidFill>
                  <a:srgbClr val="C01920"/>
                </a:solidFill>
              </a:rPr>
              <a:t>=</a:t>
            </a:r>
            <a:r>
              <a:rPr lang="en-US" altLang="zh-CN" dirty="0">
                <a:ea typeface="宋体" pitchFamily="2" charset="-122"/>
              </a:rPr>
              <a:t>    </a:t>
            </a:r>
            <a:r>
              <a:rPr lang="en-US" altLang="zh-CN" dirty="0">
                <a:solidFill>
                  <a:schemeClr val="accent1">
                    <a:lumMod val="50000"/>
                  </a:schemeClr>
                </a:solidFill>
                <a:ea typeface="宋体" pitchFamily="2" charset="-122"/>
              </a:rPr>
              <a:t>*</a:t>
            </a:r>
            <a:r>
              <a:rPr lang="en-US" altLang="zh-CN" dirty="0" err="1">
                <a:solidFill>
                  <a:schemeClr val="accent1">
                    <a:lumMod val="50000"/>
                  </a:schemeClr>
                </a:solidFill>
                <a:ea typeface="宋体" pitchFamily="2" charset="-122"/>
              </a:rPr>
              <a:t>i_pointer</a:t>
            </a:r>
            <a:r>
              <a:rPr lang="en-US" altLang="zh-CN" dirty="0">
                <a:solidFill>
                  <a:schemeClr val="accent1">
                    <a:lumMod val="50000"/>
                  </a:schemeClr>
                </a:solidFill>
                <a:ea typeface="宋体" pitchFamily="2" charset="-122"/>
              </a:rPr>
              <a:t>  </a:t>
            </a:r>
            <a:r>
              <a:rPr lang="en-US" altLang="zh-CN" dirty="0">
                <a:solidFill>
                  <a:srgbClr val="C01920"/>
                </a:solidFill>
              </a:rPr>
              <a:t>=</a:t>
            </a:r>
            <a:r>
              <a:rPr lang="en-US" altLang="zh-CN" dirty="0">
                <a:ea typeface="宋体" pitchFamily="2" charset="-122"/>
              </a:rPr>
              <a:t>    </a:t>
            </a:r>
            <a:r>
              <a:rPr lang="en-US" altLang="zh-CN" dirty="0">
                <a:solidFill>
                  <a:schemeClr val="accent1">
                    <a:lumMod val="50000"/>
                  </a:schemeClr>
                </a:solidFill>
                <a:ea typeface="宋体" pitchFamily="2" charset="-122"/>
              </a:rPr>
              <a:t>*(&amp;</a:t>
            </a:r>
            <a:r>
              <a:rPr lang="en-US" altLang="zh-CN" dirty="0" err="1">
                <a:solidFill>
                  <a:schemeClr val="accent1">
                    <a:lumMod val="50000"/>
                  </a:schemeClr>
                </a:solidFill>
                <a:ea typeface="宋体" pitchFamily="2" charset="-122"/>
              </a:rPr>
              <a:t>i</a:t>
            </a:r>
            <a:r>
              <a:rPr lang="en-US" altLang="zh-CN" dirty="0">
                <a:solidFill>
                  <a:schemeClr val="accent1">
                    <a:lumMod val="50000"/>
                  </a:schemeClr>
                </a:solidFill>
                <a:ea typeface="宋体" pitchFamily="2" charset="-122"/>
              </a:rPr>
              <a:t>)</a:t>
            </a:r>
          </a:p>
        </p:txBody>
      </p:sp>
      <p:grpSp>
        <p:nvGrpSpPr>
          <p:cNvPr id="1133587" name="Group 19"/>
          <p:cNvGrpSpPr>
            <a:grpSpLocks/>
          </p:cNvGrpSpPr>
          <p:nvPr/>
        </p:nvGrpSpPr>
        <p:grpSpPr bwMode="auto">
          <a:xfrm>
            <a:off x="2063552" y="2348880"/>
            <a:ext cx="5216524" cy="4625975"/>
            <a:chOff x="873" y="1406"/>
            <a:chExt cx="3286" cy="2914"/>
          </a:xfrm>
        </p:grpSpPr>
        <p:sp>
          <p:nvSpPr>
            <p:cNvPr id="1133588" name="Freeform 20"/>
            <p:cNvSpPr>
              <a:spLocks/>
            </p:cNvSpPr>
            <p:nvPr/>
          </p:nvSpPr>
          <p:spPr bwMode="auto">
            <a:xfrm>
              <a:off x="1051" y="2603"/>
              <a:ext cx="413" cy="241"/>
            </a:xfrm>
            <a:custGeom>
              <a:avLst/>
              <a:gdLst/>
              <a:ahLst/>
              <a:cxnLst>
                <a:cxn ang="0">
                  <a:pos x="3" y="37"/>
                </a:cxn>
                <a:cxn ang="0">
                  <a:pos x="291" y="25"/>
                </a:cxn>
                <a:cxn ang="0">
                  <a:pos x="411" y="85"/>
                </a:cxn>
                <a:cxn ang="0">
                  <a:pos x="399" y="157"/>
                </a:cxn>
                <a:cxn ang="0">
                  <a:pos x="255" y="241"/>
                </a:cxn>
                <a:cxn ang="0">
                  <a:pos x="51" y="205"/>
                </a:cxn>
                <a:cxn ang="0">
                  <a:pos x="3" y="133"/>
                </a:cxn>
                <a:cxn ang="0">
                  <a:pos x="27" y="61"/>
                </a:cxn>
                <a:cxn ang="0">
                  <a:pos x="3" y="37"/>
                </a:cxn>
              </a:cxnLst>
              <a:rect l="0" t="0" r="r" b="b"/>
              <a:pathLst>
                <a:path w="413" h="241">
                  <a:moveTo>
                    <a:pt x="3" y="37"/>
                  </a:moveTo>
                  <a:cubicBezTo>
                    <a:pt x="113" y="0"/>
                    <a:pt x="145" y="16"/>
                    <a:pt x="291" y="25"/>
                  </a:cubicBezTo>
                  <a:cubicBezTo>
                    <a:pt x="357" y="36"/>
                    <a:pt x="390" y="22"/>
                    <a:pt x="411" y="85"/>
                  </a:cubicBezTo>
                  <a:cubicBezTo>
                    <a:pt x="407" y="109"/>
                    <a:pt x="413" y="137"/>
                    <a:pt x="399" y="157"/>
                  </a:cubicBezTo>
                  <a:cubicBezTo>
                    <a:pt x="371" y="197"/>
                    <a:pt x="294" y="215"/>
                    <a:pt x="255" y="241"/>
                  </a:cubicBezTo>
                  <a:cubicBezTo>
                    <a:pt x="177" y="233"/>
                    <a:pt x="122" y="229"/>
                    <a:pt x="51" y="205"/>
                  </a:cubicBezTo>
                  <a:cubicBezTo>
                    <a:pt x="34" y="188"/>
                    <a:pt x="0" y="164"/>
                    <a:pt x="3" y="133"/>
                  </a:cubicBezTo>
                  <a:cubicBezTo>
                    <a:pt x="6" y="108"/>
                    <a:pt x="27" y="61"/>
                    <a:pt x="27" y="61"/>
                  </a:cubicBezTo>
                  <a:cubicBezTo>
                    <a:pt x="13" y="20"/>
                    <a:pt x="24" y="16"/>
                    <a:pt x="3" y="37"/>
                  </a:cubicBezTo>
                  <a:close/>
                </a:path>
              </a:pathLst>
            </a:custGeom>
            <a:solidFill>
              <a:schemeClr val="bg1"/>
            </a:solidFill>
            <a:ln w="38100" cap="flat" cmpd="sng">
              <a:solidFill>
                <a:srgbClr val="FF9900"/>
              </a:solidFill>
              <a:prstDash val="solid"/>
              <a:round/>
              <a:headEnd type="none" w="lg" len="lg"/>
              <a:tailEnd type="none" w="med" len="med"/>
            </a:ln>
            <a:effectLst/>
          </p:spPr>
          <p:txBody>
            <a:bodyPr wrap="none" lIns="90000" tIns="46800" rIns="90000" bIns="46800" anchor="ctr"/>
            <a:lstStyle/>
            <a:p>
              <a:endParaRPr lang="zh-CN" altLang="en-US"/>
            </a:p>
          </p:txBody>
        </p:sp>
        <p:grpSp>
          <p:nvGrpSpPr>
            <p:cNvPr id="1133589" name="Group 21"/>
            <p:cNvGrpSpPr>
              <a:grpSpLocks/>
            </p:cNvGrpSpPr>
            <p:nvPr/>
          </p:nvGrpSpPr>
          <p:grpSpPr bwMode="auto">
            <a:xfrm>
              <a:off x="873" y="1406"/>
              <a:ext cx="3286" cy="2914"/>
              <a:chOff x="1629" y="1178"/>
              <a:chExt cx="3286" cy="2914"/>
            </a:xfrm>
          </p:grpSpPr>
          <p:grpSp>
            <p:nvGrpSpPr>
              <p:cNvPr id="1133590" name="Group 22"/>
              <p:cNvGrpSpPr>
                <a:grpSpLocks/>
              </p:cNvGrpSpPr>
              <p:nvPr/>
            </p:nvGrpSpPr>
            <p:grpSpPr bwMode="auto">
              <a:xfrm>
                <a:off x="1785" y="1178"/>
                <a:ext cx="3075" cy="2914"/>
                <a:chOff x="984" y="1406"/>
                <a:chExt cx="3075" cy="2914"/>
              </a:xfrm>
            </p:grpSpPr>
            <p:sp>
              <p:nvSpPr>
                <p:cNvPr id="1133591" name="Freeform 23"/>
                <p:cNvSpPr>
                  <a:spLocks/>
                </p:cNvSpPr>
                <p:nvPr/>
              </p:nvSpPr>
              <p:spPr bwMode="auto">
                <a:xfrm>
                  <a:off x="1523" y="39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33593" name="Rectangle 25"/>
                <p:cNvSpPr>
                  <a:spLocks noChangeArrowheads="1"/>
                </p:cNvSpPr>
                <p:nvPr/>
              </p:nvSpPr>
              <p:spPr bwMode="auto">
                <a:xfrm>
                  <a:off x="1523" y="1406"/>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dirty="0">
                    <a:ea typeface="宋体" pitchFamily="2" charset="-122"/>
                  </a:endParaRPr>
                </a:p>
              </p:txBody>
            </p:sp>
            <p:sp>
              <p:nvSpPr>
                <p:cNvPr id="1133594" name="Line 26"/>
                <p:cNvSpPr>
                  <a:spLocks noChangeShapeType="1"/>
                </p:cNvSpPr>
                <p:nvPr/>
              </p:nvSpPr>
              <p:spPr bwMode="auto">
                <a:xfrm>
                  <a:off x="1535" y="18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3595" name="Line 27"/>
                <p:cNvSpPr>
                  <a:spLocks noChangeShapeType="1"/>
                </p:cNvSpPr>
                <p:nvPr/>
              </p:nvSpPr>
              <p:spPr bwMode="auto">
                <a:xfrm>
                  <a:off x="1535" y="2085"/>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33596" name="Line 28"/>
                <p:cNvSpPr>
                  <a:spLocks noChangeShapeType="1"/>
                </p:cNvSpPr>
                <p:nvPr/>
              </p:nvSpPr>
              <p:spPr bwMode="auto">
                <a:xfrm>
                  <a:off x="1535" y="23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3597" name="Line 29"/>
                <p:cNvSpPr>
                  <a:spLocks noChangeShapeType="1"/>
                </p:cNvSpPr>
                <p:nvPr/>
              </p:nvSpPr>
              <p:spPr bwMode="auto">
                <a:xfrm>
                  <a:off x="1535" y="2588"/>
                  <a:ext cx="1211" cy="0"/>
                </a:xfrm>
                <a:prstGeom prst="line">
                  <a:avLst/>
                </a:prstGeom>
                <a:noFill/>
                <a:ln w="9525">
                  <a:solidFill>
                    <a:srgbClr val="000000"/>
                  </a:solidFill>
                  <a:prstDash val="solid"/>
                  <a:round/>
                  <a:headEnd/>
                  <a:tailEnd/>
                </a:ln>
                <a:effectLst/>
              </p:spPr>
              <p:txBody>
                <a:bodyPr wrap="none" anchor="ctr"/>
                <a:lstStyle/>
                <a:p>
                  <a:endParaRPr lang="zh-CN" altLang="en-US"/>
                </a:p>
              </p:txBody>
            </p:sp>
            <p:sp>
              <p:nvSpPr>
                <p:cNvPr id="1133598" name="Line 30"/>
                <p:cNvSpPr>
                  <a:spLocks noChangeShapeType="1"/>
                </p:cNvSpPr>
                <p:nvPr/>
              </p:nvSpPr>
              <p:spPr bwMode="auto">
                <a:xfrm>
                  <a:off x="1523" y="2846"/>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3599" name="Line 31"/>
                <p:cNvSpPr>
                  <a:spLocks noChangeShapeType="1"/>
                </p:cNvSpPr>
                <p:nvPr/>
              </p:nvSpPr>
              <p:spPr bwMode="auto">
                <a:xfrm>
                  <a:off x="1535" y="3388"/>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3600" name="Line 32"/>
                <p:cNvSpPr>
                  <a:spLocks noChangeShapeType="1"/>
                </p:cNvSpPr>
                <p:nvPr/>
              </p:nvSpPr>
              <p:spPr bwMode="auto">
                <a:xfrm>
                  <a:off x="1515" y="36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33601" name="Line 33"/>
                <p:cNvSpPr>
                  <a:spLocks noChangeShapeType="1"/>
                </p:cNvSpPr>
                <p:nvPr/>
              </p:nvSpPr>
              <p:spPr bwMode="auto">
                <a:xfrm>
                  <a:off x="2734" y="3627"/>
                  <a:ext cx="0" cy="600"/>
                </a:xfrm>
                <a:prstGeom prst="line">
                  <a:avLst/>
                </a:prstGeom>
                <a:noFill/>
                <a:ln w="9525">
                  <a:solidFill>
                    <a:srgbClr val="000000"/>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33602" name="Text Box 34"/>
                <p:cNvSpPr txBox="1">
                  <a:spLocks noChangeArrowheads="1"/>
                </p:cNvSpPr>
                <p:nvPr/>
              </p:nvSpPr>
              <p:spPr bwMode="auto">
                <a:xfrm>
                  <a:off x="2013" y="14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sp>
              <p:nvSpPr>
                <p:cNvPr id="1133603" name="Text Box 35"/>
                <p:cNvSpPr txBox="1">
                  <a:spLocks noChangeArrowheads="1"/>
                </p:cNvSpPr>
                <p:nvPr/>
              </p:nvSpPr>
              <p:spPr bwMode="auto">
                <a:xfrm>
                  <a:off x="2012" y="3668"/>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sp>
              <p:nvSpPr>
                <p:cNvPr id="1133604" name="Text Box 36"/>
                <p:cNvSpPr txBox="1">
                  <a:spLocks noChangeArrowheads="1"/>
                </p:cNvSpPr>
                <p:nvPr/>
              </p:nvSpPr>
              <p:spPr bwMode="auto">
                <a:xfrm>
                  <a:off x="992" y="183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a typeface="宋体" pitchFamily="2" charset="-122"/>
                    </a:rPr>
                    <a:t>2000</a:t>
                  </a:r>
                </a:p>
              </p:txBody>
            </p:sp>
            <p:sp>
              <p:nvSpPr>
                <p:cNvPr id="1133605" name="Text Box 37"/>
                <p:cNvSpPr txBox="1">
                  <a:spLocks noChangeArrowheads="1"/>
                </p:cNvSpPr>
                <p:nvPr/>
              </p:nvSpPr>
              <p:spPr bwMode="auto">
                <a:xfrm>
                  <a:off x="984" y="286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a typeface="宋体" pitchFamily="2" charset="-122"/>
                    </a:rPr>
                    <a:t>2004</a:t>
                  </a:r>
                </a:p>
              </p:txBody>
            </p:sp>
            <p:sp>
              <p:nvSpPr>
                <p:cNvPr id="1133606" name="Text Box 38"/>
                <p:cNvSpPr txBox="1">
                  <a:spLocks noChangeArrowheads="1"/>
                </p:cNvSpPr>
                <p:nvPr/>
              </p:nvSpPr>
              <p:spPr bwMode="auto">
                <a:xfrm>
                  <a:off x="984" y="337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a typeface="宋体" pitchFamily="2" charset="-122"/>
                    </a:rPr>
                    <a:t>2006</a:t>
                  </a:r>
                </a:p>
              </p:txBody>
            </p:sp>
            <p:sp>
              <p:nvSpPr>
                <p:cNvPr id="1133607" name="Text Box 39"/>
                <p:cNvSpPr txBox="1">
                  <a:spLocks noChangeArrowheads="1"/>
                </p:cNvSpPr>
                <p:nvPr/>
              </p:nvSpPr>
              <p:spPr bwMode="auto">
                <a:xfrm>
                  <a:off x="984" y="312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a typeface="宋体" pitchFamily="2" charset="-122"/>
                    </a:rPr>
                    <a:t>2005</a:t>
                  </a:r>
                </a:p>
              </p:txBody>
            </p:sp>
            <p:sp>
              <p:nvSpPr>
                <p:cNvPr id="1133608" name="Line 40"/>
                <p:cNvSpPr>
                  <a:spLocks noChangeShapeType="1"/>
                </p:cNvSpPr>
                <p:nvPr/>
              </p:nvSpPr>
              <p:spPr bwMode="auto">
                <a:xfrm>
                  <a:off x="1535" y="3110"/>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3609" name="Line 41"/>
                <p:cNvSpPr>
                  <a:spLocks noChangeShapeType="1"/>
                </p:cNvSpPr>
                <p:nvPr/>
              </p:nvSpPr>
              <p:spPr bwMode="auto">
                <a:xfrm flipH="1">
                  <a:off x="2724" y="1848"/>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dirty="0"/>
                </a:p>
              </p:txBody>
            </p:sp>
            <p:sp>
              <p:nvSpPr>
                <p:cNvPr id="1133610" name="Text Box 42"/>
                <p:cNvSpPr txBox="1">
                  <a:spLocks noChangeArrowheads="1"/>
                </p:cNvSpPr>
                <p:nvPr/>
              </p:nvSpPr>
              <p:spPr bwMode="auto">
                <a:xfrm>
                  <a:off x="2906" y="1694"/>
                  <a:ext cx="1011" cy="291"/>
                </a:xfrm>
                <a:prstGeom prst="rect">
                  <a:avLst/>
                </a:prstGeom>
                <a:noFill/>
                <a:ln w="9525">
                  <a:noFill/>
                  <a:miter lim="800000"/>
                  <a:headEnd type="none" w="lg" len="lg"/>
                  <a:tailEnd/>
                </a:ln>
                <a:effectLst/>
              </p:spPr>
              <p:txBody>
                <a:bodyPr wrap="square">
                  <a:spAutoFit/>
                </a:bodyPr>
                <a:lstStyle/>
                <a:p>
                  <a:pPr>
                    <a:lnSpc>
                      <a:spcPct val="100000"/>
                    </a:lnSpc>
                    <a:spcBef>
                      <a:spcPct val="0"/>
                    </a:spcBef>
                  </a:pPr>
                  <a:r>
                    <a:rPr lang="zh-CN" altLang="en-US" sz="2000" dirty="0">
                      <a:latin typeface="+mn-lt"/>
                      <a:ea typeface="楷体" pitchFamily="49" charset="-122"/>
                    </a:rPr>
                    <a:t>短整型变量</a:t>
                  </a:r>
                  <a:r>
                    <a:rPr lang="en-US" altLang="zh-CN" dirty="0" err="1">
                      <a:solidFill>
                        <a:srgbClr val="002060"/>
                      </a:solidFill>
                      <a:latin typeface="+mn-lt"/>
                      <a:ea typeface="楷体" pitchFamily="49" charset="-122"/>
                    </a:rPr>
                    <a:t>i</a:t>
                  </a:r>
                  <a:endParaRPr lang="en-US" altLang="zh-CN" sz="2000" dirty="0">
                    <a:solidFill>
                      <a:srgbClr val="002060"/>
                    </a:solidFill>
                    <a:latin typeface="+mn-lt"/>
                    <a:ea typeface="楷体" pitchFamily="49" charset="-122"/>
                  </a:endParaRPr>
                </a:p>
              </p:txBody>
            </p:sp>
            <p:sp>
              <p:nvSpPr>
                <p:cNvPr id="1133611" name="Text Box 43"/>
                <p:cNvSpPr txBox="1">
                  <a:spLocks noChangeArrowheads="1"/>
                </p:cNvSpPr>
                <p:nvPr/>
              </p:nvSpPr>
              <p:spPr bwMode="auto">
                <a:xfrm>
                  <a:off x="1940" y="1977"/>
                  <a:ext cx="27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002060"/>
                      </a:solidFill>
                      <a:ea typeface="宋体" pitchFamily="2" charset="-122"/>
                    </a:rPr>
                    <a:t>10</a:t>
                  </a:r>
                </a:p>
              </p:txBody>
            </p:sp>
            <p:sp>
              <p:nvSpPr>
                <p:cNvPr id="1133612" name="Line 44"/>
                <p:cNvSpPr>
                  <a:spLocks noChangeShapeType="1"/>
                </p:cNvSpPr>
                <p:nvPr/>
              </p:nvSpPr>
              <p:spPr bwMode="auto">
                <a:xfrm flipH="1">
                  <a:off x="2748" y="2683"/>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3613" name="Text Box 45"/>
                <p:cNvSpPr txBox="1">
                  <a:spLocks noChangeArrowheads="1"/>
                </p:cNvSpPr>
                <p:nvPr/>
              </p:nvSpPr>
              <p:spPr bwMode="auto">
                <a:xfrm>
                  <a:off x="2930" y="2529"/>
                  <a:ext cx="1129" cy="291"/>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latin typeface="+mn-lt"/>
                      <a:ea typeface="楷体" pitchFamily="49" charset="-122"/>
                    </a:rPr>
                    <a:t>变量</a:t>
                  </a:r>
                  <a:r>
                    <a:rPr lang="en-US" altLang="zh-CN" sz="2000" dirty="0" err="1">
                      <a:solidFill>
                        <a:srgbClr val="C01920"/>
                      </a:solidFill>
                      <a:latin typeface="+mn-lt"/>
                      <a:ea typeface="楷体" pitchFamily="49" charset="-122"/>
                    </a:rPr>
                    <a:t>i</a:t>
                  </a:r>
                  <a:r>
                    <a:rPr lang="en-US" altLang="zh-CN" dirty="0" err="1">
                      <a:solidFill>
                        <a:srgbClr val="C01920"/>
                      </a:solidFill>
                      <a:latin typeface="+mn-lt"/>
                      <a:ea typeface="楷体" pitchFamily="49" charset="-122"/>
                    </a:rPr>
                    <a:t>_pointer</a:t>
                  </a:r>
                  <a:endParaRPr lang="en-US" altLang="zh-CN" sz="2000" dirty="0">
                    <a:solidFill>
                      <a:srgbClr val="C01920"/>
                    </a:solidFill>
                    <a:latin typeface="+mn-lt"/>
                    <a:ea typeface="楷体" pitchFamily="49" charset="-122"/>
                  </a:endParaRPr>
                </a:p>
              </p:txBody>
            </p:sp>
            <p:sp>
              <p:nvSpPr>
                <p:cNvPr id="1133614" name="Text Box 46"/>
                <p:cNvSpPr txBox="1">
                  <a:spLocks noChangeArrowheads="1"/>
                </p:cNvSpPr>
                <p:nvPr/>
              </p:nvSpPr>
              <p:spPr bwMode="auto">
                <a:xfrm>
                  <a:off x="986" y="208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a typeface="宋体" pitchFamily="2" charset="-122"/>
                    </a:rPr>
                    <a:t>2001</a:t>
                  </a:r>
                </a:p>
              </p:txBody>
            </p:sp>
            <p:sp>
              <p:nvSpPr>
                <p:cNvPr id="1133615" name="Text Box 47"/>
                <p:cNvSpPr txBox="1">
                  <a:spLocks noChangeArrowheads="1"/>
                </p:cNvSpPr>
                <p:nvPr/>
              </p:nvSpPr>
              <p:spPr bwMode="auto">
                <a:xfrm>
                  <a:off x="984" y="23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a typeface="宋体" pitchFamily="2" charset="-122"/>
                    </a:rPr>
                    <a:t>2002</a:t>
                  </a:r>
                </a:p>
              </p:txBody>
            </p:sp>
            <p:sp>
              <p:nvSpPr>
                <p:cNvPr id="1133616" name="Text Box 48"/>
                <p:cNvSpPr txBox="1">
                  <a:spLocks noChangeArrowheads="1"/>
                </p:cNvSpPr>
                <p:nvPr/>
              </p:nvSpPr>
              <p:spPr bwMode="auto">
                <a:xfrm>
                  <a:off x="984" y="259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a typeface="宋体" pitchFamily="2" charset="-122"/>
                    </a:rPr>
                    <a:t>2003</a:t>
                  </a:r>
                </a:p>
              </p:txBody>
            </p:sp>
            <p:sp>
              <p:nvSpPr>
                <p:cNvPr id="1133592" name="Freeform 24"/>
                <p:cNvSpPr>
                  <a:spLocks/>
                </p:cNvSpPr>
                <p:nvPr/>
              </p:nvSpPr>
              <p:spPr bwMode="auto">
                <a:xfrm>
                  <a:off x="1516" y="3618"/>
                  <a:ext cx="1221"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133617" name="Text Box 49"/>
              <p:cNvSpPr txBox="1">
                <a:spLocks noChangeArrowheads="1"/>
              </p:cNvSpPr>
              <p:nvPr/>
            </p:nvSpPr>
            <p:spPr bwMode="auto">
              <a:xfrm>
                <a:off x="2697" y="275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002060"/>
                    </a:solidFill>
                    <a:ea typeface="宋体" pitchFamily="2" charset="-122"/>
                  </a:rPr>
                  <a:t>2000</a:t>
                </a:r>
              </a:p>
            </p:txBody>
          </p:sp>
          <p:sp>
            <p:nvSpPr>
              <p:cNvPr id="1133618" name="AutoShape 50"/>
              <p:cNvSpPr>
                <a:spLocks noChangeArrowheads="1"/>
              </p:cNvSpPr>
              <p:nvPr/>
            </p:nvSpPr>
            <p:spPr bwMode="auto">
              <a:xfrm>
                <a:off x="3837" y="2626"/>
                <a:ext cx="1078" cy="354"/>
              </a:xfrm>
              <a:prstGeom prst="wedgeEllipseCallout">
                <a:avLst>
                  <a:gd name="adj1" fmla="val -50958"/>
                  <a:gd name="adj2" fmla="val -74574"/>
                </a:avLst>
              </a:prstGeom>
              <a:gradFill rotWithShape="1">
                <a:gsLst>
                  <a:gs pos="0">
                    <a:srgbClr val="CFCFD1"/>
                  </a:gs>
                  <a:gs pos="100000">
                    <a:schemeClr val="bg1"/>
                  </a:gs>
                </a:gsLst>
                <a:lin ang="5400000" scaled="1"/>
              </a:gradFill>
              <a:ln w="38100">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gn="ctr">
                  <a:lnSpc>
                    <a:spcPct val="100000"/>
                  </a:lnSpc>
                  <a:spcBef>
                    <a:spcPct val="0"/>
                  </a:spcBef>
                </a:pPr>
                <a:r>
                  <a:rPr lang="zh-CN" altLang="en-US" sz="2000">
                    <a:latin typeface="+mn-lt"/>
                    <a:ea typeface="楷体" pitchFamily="49" charset="-122"/>
                  </a:rPr>
                  <a:t>指针变量</a:t>
                </a:r>
              </a:p>
            </p:txBody>
          </p:sp>
          <p:grpSp>
            <p:nvGrpSpPr>
              <p:cNvPr id="1133619" name="Group 51"/>
              <p:cNvGrpSpPr>
                <a:grpSpLocks/>
              </p:cNvGrpSpPr>
              <p:nvPr/>
            </p:nvGrpSpPr>
            <p:grpSpPr bwMode="auto">
              <a:xfrm>
                <a:off x="1629" y="1583"/>
                <a:ext cx="636" cy="1321"/>
                <a:chOff x="828" y="1811"/>
                <a:chExt cx="636" cy="1321"/>
              </a:xfrm>
            </p:grpSpPr>
            <p:grpSp>
              <p:nvGrpSpPr>
                <p:cNvPr id="1133620" name="Group 52"/>
                <p:cNvGrpSpPr>
                  <a:grpSpLocks/>
                </p:cNvGrpSpPr>
                <p:nvPr/>
              </p:nvGrpSpPr>
              <p:grpSpPr bwMode="auto">
                <a:xfrm>
                  <a:off x="828" y="1860"/>
                  <a:ext cx="636" cy="1272"/>
                  <a:chOff x="828" y="1860"/>
                  <a:chExt cx="636" cy="1272"/>
                </a:xfrm>
              </p:grpSpPr>
              <p:sp>
                <p:nvSpPr>
                  <p:cNvPr id="1133621" name="Line 53"/>
                  <p:cNvSpPr>
                    <a:spLocks noChangeShapeType="1"/>
                  </p:cNvSpPr>
                  <p:nvPr/>
                </p:nvSpPr>
                <p:spPr bwMode="auto">
                  <a:xfrm flipH="1">
                    <a:off x="840" y="1860"/>
                    <a:ext cx="156" cy="0"/>
                  </a:xfrm>
                  <a:prstGeom prst="line">
                    <a:avLst/>
                  </a:prstGeom>
                  <a:noFill/>
                  <a:ln w="38100">
                    <a:solidFill>
                      <a:schemeClr val="accent1">
                        <a:lumMod val="50000"/>
                      </a:schemeClr>
                    </a:solidFill>
                    <a:round/>
                    <a:headEnd type="none" w="lg" len="lg"/>
                    <a:tailEnd/>
                  </a:ln>
                  <a:effectLst>
                    <a:outerShdw dist="35921" dir="2700000" algn="ctr" rotWithShape="0">
                      <a:schemeClr val="bg2"/>
                    </a:outerShdw>
                  </a:effectLst>
                </p:spPr>
                <p:txBody>
                  <a:bodyPr wrap="none" anchor="ctr"/>
                  <a:lstStyle/>
                  <a:p>
                    <a:endParaRPr lang="zh-CN" altLang="en-US"/>
                  </a:p>
                </p:txBody>
              </p:sp>
              <p:sp>
                <p:nvSpPr>
                  <p:cNvPr id="1133622" name="Line 54"/>
                  <p:cNvSpPr>
                    <a:spLocks noChangeShapeType="1"/>
                  </p:cNvSpPr>
                  <p:nvPr/>
                </p:nvSpPr>
                <p:spPr bwMode="auto">
                  <a:xfrm>
                    <a:off x="828" y="1860"/>
                    <a:ext cx="0" cy="1272"/>
                  </a:xfrm>
                  <a:prstGeom prst="line">
                    <a:avLst/>
                  </a:prstGeom>
                  <a:noFill/>
                  <a:ln w="38100">
                    <a:solidFill>
                      <a:schemeClr val="accent1">
                        <a:lumMod val="50000"/>
                      </a:schemeClr>
                    </a:solidFill>
                    <a:round/>
                    <a:headEnd type="none" w="lg" len="lg"/>
                    <a:tailEnd/>
                  </a:ln>
                  <a:effectLst>
                    <a:outerShdw dist="35921" dir="2700000" algn="ctr" rotWithShape="0">
                      <a:schemeClr val="bg2"/>
                    </a:outerShdw>
                  </a:effectLst>
                </p:spPr>
                <p:txBody>
                  <a:bodyPr wrap="none" anchor="ctr"/>
                  <a:lstStyle/>
                  <a:p>
                    <a:endParaRPr lang="zh-CN" altLang="en-US"/>
                  </a:p>
                </p:txBody>
              </p:sp>
              <p:sp>
                <p:nvSpPr>
                  <p:cNvPr id="1133623" name="Line 55"/>
                  <p:cNvSpPr>
                    <a:spLocks noChangeShapeType="1"/>
                  </p:cNvSpPr>
                  <p:nvPr/>
                </p:nvSpPr>
                <p:spPr bwMode="auto">
                  <a:xfrm>
                    <a:off x="828" y="3132"/>
                    <a:ext cx="636" cy="0"/>
                  </a:xfrm>
                  <a:prstGeom prst="line">
                    <a:avLst/>
                  </a:prstGeom>
                  <a:noFill/>
                  <a:ln w="38100">
                    <a:solidFill>
                      <a:schemeClr val="accent1">
                        <a:lumMod val="50000"/>
                      </a:schemeClr>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grpSp>
            <p:sp>
              <p:nvSpPr>
                <p:cNvPr id="1133624" name="Freeform 56"/>
                <p:cNvSpPr>
                  <a:spLocks/>
                </p:cNvSpPr>
                <p:nvPr/>
              </p:nvSpPr>
              <p:spPr bwMode="auto">
                <a:xfrm>
                  <a:off x="990" y="1811"/>
                  <a:ext cx="426" cy="279"/>
                </a:xfrm>
                <a:custGeom>
                  <a:avLst/>
                  <a:gdLst/>
                  <a:ahLst/>
                  <a:cxnLst>
                    <a:cxn ang="0">
                      <a:pos x="294" y="24"/>
                    </a:cxn>
                    <a:cxn ang="0">
                      <a:pos x="18" y="36"/>
                    </a:cxn>
                    <a:cxn ang="0">
                      <a:pos x="18" y="144"/>
                    </a:cxn>
                    <a:cxn ang="0">
                      <a:pos x="42" y="216"/>
                    </a:cxn>
                    <a:cxn ang="0">
                      <a:pos x="258" y="276"/>
                    </a:cxn>
                    <a:cxn ang="0">
                      <a:pos x="402" y="240"/>
                    </a:cxn>
                    <a:cxn ang="0">
                      <a:pos x="426" y="168"/>
                    </a:cxn>
                    <a:cxn ang="0">
                      <a:pos x="342" y="48"/>
                    </a:cxn>
                    <a:cxn ang="0">
                      <a:pos x="294" y="24"/>
                    </a:cxn>
                  </a:cxnLst>
                  <a:rect l="0" t="0" r="r" b="b"/>
                  <a:pathLst>
                    <a:path w="426" h="279">
                      <a:moveTo>
                        <a:pt x="294" y="24"/>
                      </a:moveTo>
                      <a:cubicBezTo>
                        <a:pt x="200" y="11"/>
                        <a:pt x="110" y="5"/>
                        <a:pt x="18" y="36"/>
                      </a:cubicBezTo>
                      <a:cubicBezTo>
                        <a:pt x="0" y="89"/>
                        <a:pt x="0" y="72"/>
                        <a:pt x="18" y="144"/>
                      </a:cubicBezTo>
                      <a:cubicBezTo>
                        <a:pt x="24" y="169"/>
                        <a:pt x="18" y="208"/>
                        <a:pt x="42" y="216"/>
                      </a:cubicBezTo>
                      <a:cubicBezTo>
                        <a:pt x="115" y="240"/>
                        <a:pt x="182" y="261"/>
                        <a:pt x="258" y="276"/>
                      </a:cubicBezTo>
                      <a:cubicBezTo>
                        <a:pt x="276" y="274"/>
                        <a:pt x="377" y="279"/>
                        <a:pt x="402" y="240"/>
                      </a:cubicBezTo>
                      <a:cubicBezTo>
                        <a:pt x="415" y="219"/>
                        <a:pt x="426" y="168"/>
                        <a:pt x="426" y="168"/>
                      </a:cubicBezTo>
                      <a:cubicBezTo>
                        <a:pt x="405" y="104"/>
                        <a:pt x="409" y="70"/>
                        <a:pt x="342" y="48"/>
                      </a:cubicBezTo>
                      <a:cubicBezTo>
                        <a:pt x="326" y="0"/>
                        <a:pt x="342" y="8"/>
                        <a:pt x="294" y="24"/>
                      </a:cubicBezTo>
                      <a:close/>
                    </a:path>
                  </a:pathLst>
                </a:custGeom>
                <a:noFill/>
                <a:ln w="38100" cap="flat" cmpd="sng">
                  <a:solidFill>
                    <a:srgbClr val="002060"/>
                  </a:solidFill>
                  <a:prstDash val="solid"/>
                  <a:round/>
                  <a:headEnd type="none" w="lg" len="lg"/>
                  <a:tailEnd type="none" w="med" len="med"/>
                </a:ln>
                <a:effectLst/>
              </p:spPr>
              <p:txBody>
                <a:bodyPr wrap="none" anchor="ctr"/>
                <a:lstStyle/>
                <a:p>
                  <a:endParaRPr lang="zh-CN" altLang="en-US"/>
                </a:p>
              </p:txBody>
            </p:sp>
          </p:grpSp>
        </p:grpSp>
      </p:grpSp>
      <p:sp>
        <p:nvSpPr>
          <p:cNvPr id="1133625" name="Rectangle 57"/>
          <p:cNvSpPr>
            <a:spLocks noChangeArrowheads="1"/>
          </p:cNvSpPr>
          <p:nvPr/>
        </p:nvSpPr>
        <p:spPr bwMode="auto">
          <a:xfrm>
            <a:off x="5292527" y="5348414"/>
            <a:ext cx="6624712" cy="1225550"/>
          </a:xfrm>
          <a:prstGeom prst="rect">
            <a:avLst/>
          </a:prstGeom>
          <a:gradFill rotWithShape="1">
            <a:gsLst>
              <a:gs pos="0">
                <a:srgbClr val="CFCFD1"/>
              </a:gs>
              <a:gs pos="100000">
                <a:srgbClr val="FFFFFF"/>
              </a:gs>
            </a:gsLst>
            <a:lin ang="5400000" scaled="1"/>
          </a:gradFill>
          <a:ln w="38100">
            <a:solidFill>
              <a:schemeClr val="accent1">
                <a:lumMod val="50000"/>
              </a:schemeClr>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dirty="0" err="1">
                <a:solidFill>
                  <a:srgbClr val="002060"/>
                </a:solidFill>
                <a:ea typeface="隶书" pitchFamily="49" charset="-122"/>
              </a:rPr>
              <a:t>i_pointer</a:t>
            </a:r>
            <a:r>
              <a:rPr lang="en-US" altLang="zh-CN" dirty="0">
                <a:solidFill>
                  <a:srgbClr val="002060"/>
                </a:solidFill>
                <a:ea typeface="隶书" pitchFamily="49" charset="-122"/>
              </a:rPr>
              <a:t>-</a:t>
            </a:r>
            <a:r>
              <a:rPr lang="en-US" altLang="zh-CN" dirty="0">
                <a:ea typeface="隶书" pitchFamily="49" charset="-122"/>
              </a:rPr>
              <a:t>----</a:t>
            </a:r>
            <a:r>
              <a:rPr lang="zh-CN" altLang="zh-CN" dirty="0">
                <a:ea typeface="隶书" pitchFamily="49" charset="-122"/>
              </a:rPr>
              <a:t>指针变量，它的内容是地址量</a:t>
            </a:r>
            <a:endParaRPr lang="zh-CN" altLang="en-US" dirty="0">
              <a:ea typeface="隶书" pitchFamily="49" charset="-122"/>
            </a:endParaRPr>
          </a:p>
          <a:p>
            <a:pPr>
              <a:lnSpc>
                <a:spcPct val="100000"/>
              </a:lnSpc>
              <a:spcBef>
                <a:spcPct val="0"/>
              </a:spcBef>
            </a:pPr>
            <a:r>
              <a:rPr lang="zh-CN" altLang="zh-CN" dirty="0">
                <a:solidFill>
                  <a:srgbClr val="339933"/>
                </a:solidFill>
                <a:ea typeface="隶书" pitchFamily="49" charset="-122"/>
              </a:rPr>
              <a:t>*</a:t>
            </a:r>
            <a:r>
              <a:rPr lang="en-US" altLang="zh-CN" dirty="0" err="1">
                <a:solidFill>
                  <a:srgbClr val="339933"/>
                </a:solidFill>
                <a:ea typeface="隶书" pitchFamily="49" charset="-122"/>
              </a:rPr>
              <a:t>i_pointer</a:t>
            </a:r>
            <a:r>
              <a:rPr lang="en-US" altLang="zh-CN" dirty="0">
                <a:ea typeface="隶书" pitchFamily="49" charset="-122"/>
              </a:rPr>
              <a:t>----</a:t>
            </a:r>
            <a:r>
              <a:rPr lang="zh-CN" altLang="zh-CN" dirty="0">
                <a:ea typeface="隶书" pitchFamily="49" charset="-122"/>
              </a:rPr>
              <a:t>指针的</a:t>
            </a:r>
            <a:r>
              <a:rPr lang="zh-CN" altLang="zh-CN" dirty="0">
                <a:solidFill>
                  <a:srgbClr val="002060"/>
                </a:solidFill>
                <a:ea typeface="隶书" pitchFamily="49" charset="-122"/>
              </a:rPr>
              <a:t>目标变量</a:t>
            </a:r>
            <a:r>
              <a:rPr lang="zh-CN" altLang="zh-CN" dirty="0">
                <a:ea typeface="隶书" pitchFamily="49" charset="-122"/>
              </a:rPr>
              <a:t>，它的内容是数据</a:t>
            </a:r>
          </a:p>
          <a:p>
            <a:pPr>
              <a:lnSpc>
                <a:spcPct val="100000"/>
              </a:lnSpc>
              <a:spcBef>
                <a:spcPct val="0"/>
              </a:spcBef>
            </a:pPr>
            <a:r>
              <a:rPr lang="zh-CN" altLang="zh-CN" dirty="0">
                <a:solidFill>
                  <a:srgbClr val="002060"/>
                </a:solidFill>
                <a:ea typeface="隶书" pitchFamily="49" charset="-122"/>
              </a:rPr>
              <a:t>&amp;</a:t>
            </a:r>
            <a:r>
              <a:rPr lang="en-US" altLang="zh-CN" dirty="0" err="1">
                <a:solidFill>
                  <a:srgbClr val="002060"/>
                </a:solidFill>
                <a:ea typeface="隶书" pitchFamily="49" charset="-122"/>
              </a:rPr>
              <a:t>i_pointer</a:t>
            </a:r>
            <a:r>
              <a:rPr lang="en-US" altLang="zh-CN" dirty="0">
                <a:ea typeface="隶书" pitchFamily="49" charset="-122"/>
              </a:rPr>
              <a:t>---</a:t>
            </a:r>
            <a:r>
              <a:rPr lang="zh-CN" altLang="zh-CN" dirty="0">
                <a:ea typeface="隶书" pitchFamily="49" charset="-122"/>
              </a:rPr>
              <a:t>指针变量占用内存的地址</a:t>
            </a:r>
            <a:endParaRPr lang="zh-CN" altLang="en-US" dirty="0">
              <a:ea typeface="隶书" pitchFamily="49" charset="-122"/>
            </a:endParaRPr>
          </a:p>
        </p:txBody>
      </p:sp>
      <p:sp>
        <p:nvSpPr>
          <p:cNvPr id="58" name="Rectangle 4">
            <a:extLst>
              <a:ext uri="{FF2B5EF4-FFF2-40B4-BE49-F238E27FC236}">
                <a16:creationId xmlns:a16="http://schemas.microsoft.com/office/drawing/2014/main" id="{D32175FB-241B-49A9-9D6F-C9251771F7E3}"/>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指针与指针变量的概念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3570">
                                            <p:txEl>
                                              <p:pRg st="0" end="0"/>
                                            </p:txEl>
                                          </p:spTgt>
                                        </p:tgtEl>
                                        <p:attrNameLst>
                                          <p:attrName>style.visibility</p:attrName>
                                        </p:attrNameLst>
                                      </p:cBhvr>
                                      <p:to>
                                        <p:strVal val="visible"/>
                                      </p:to>
                                    </p:set>
                                    <p:anim calcmode="lin" valueType="num">
                                      <p:cBhvr additive="base">
                                        <p:cTn id="7" dur="500" fill="hold"/>
                                        <p:tgtEl>
                                          <p:spTgt spid="113357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3357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33570">
                                            <p:txEl>
                                              <p:pRg st="1" end="1"/>
                                            </p:txEl>
                                          </p:spTgt>
                                        </p:tgtEl>
                                        <p:attrNameLst>
                                          <p:attrName>style.visibility</p:attrName>
                                        </p:attrNameLst>
                                      </p:cBhvr>
                                      <p:to>
                                        <p:strVal val="visible"/>
                                      </p:to>
                                    </p:set>
                                    <p:anim calcmode="lin" valueType="num">
                                      <p:cBhvr additive="base">
                                        <p:cTn id="13" dur="500" fill="hold"/>
                                        <p:tgtEl>
                                          <p:spTgt spid="113357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3357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133571"/>
                                        </p:tgtEl>
                                        <p:attrNameLst>
                                          <p:attrName>style.visibility</p:attrName>
                                        </p:attrNameLst>
                                      </p:cBhvr>
                                      <p:to>
                                        <p:strVal val="visible"/>
                                      </p:to>
                                    </p:set>
                                    <p:animEffect transition="in" filter="box(out)">
                                      <p:cBhvr>
                                        <p:cTn id="19" dur="500"/>
                                        <p:tgtEl>
                                          <p:spTgt spid="1133571"/>
                                        </p:tgtEl>
                                      </p:cBhvr>
                                    </p:animEffect>
                                  </p:childTnLst>
                                  <p:subTnLst>
                                    <p:set>
                                      <p:cBhvr override="childStyle">
                                        <p:cTn dur="1" fill="hold" display="0" masterRel="nextClick" afterEffect="1"/>
                                        <p:tgtEl>
                                          <p:spTgt spid="1133571"/>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33572"/>
                                        </p:tgtEl>
                                        <p:attrNameLst>
                                          <p:attrName>style.visibility</p:attrName>
                                        </p:attrNameLst>
                                      </p:cBhvr>
                                      <p:to>
                                        <p:strVal val="visible"/>
                                      </p:to>
                                    </p:set>
                                    <p:animEffect transition="in" filter="box(out)">
                                      <p:cBhvr>
                                        <p:cTn id="24" dur="500"/>
                                        <p:tgtEl>
                                          <p:spTgt spid="1133572"/>
                                        </p:tgtEl>
                                      </p:cBhvr>
                                    </p:animEffect>
                                  </p:childTnLst>
                                  <p:subTnLst>
                                    <p:set>
                                      <p:cBhvr override="childStyle">
                                        <p:cTn dur="1" fill="hold" display="0" masterRel="nextClick" afterEffect="1"/>
                                        <p:tgtEl>
                                          <p:spTgt spid="1133572"/>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133573">
                                            <p:txEl>
                                              <p:pRg st="0" end="0"/>
                                            </p:txEl>
                                          </p:spTgt>
                                        </p:tgtEl>
                                        <p:attrNameLst>
                                          <p:attrName>style.visibility</p:attrName>
                                        </p:attrNameLst>
                                      </p:cBhvr>
                                      <p:to>
                                        <p:strVal val="visible"/>
                                      </p:to>
                                    </p:set>
                                    <p:anim calcmode="lin" valueType="num">
                                      <p:cBhvr additive="base">
                                        <p:cTn id="29" dur="500" fill="hold"/>
                                        <p:tgtEl>
                                          <p:spTgt spid="1133573">
                                            <p:txEl>
                                              <p:pRg st="0" end="0"/>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13357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133573">
                                            <p:txEl>
                                              <p:pRg st="2" end="2"/>
                                            </p:txEl>
                                          </p:spTgt>
                                        </p:tgtEl>
                                        <p:attrNameLst>
                                          <p:attrName>style.visibility</p:attrName>
                                        </p:attrNameLst>
                                      </p:cBhvr>
                                      <p:to>
                                        <p:strVal val="visible"/>
                                      </p:to>
                                    </p:set>
                                    <p:anim calcmode="lin" valueType="num">
                                      <p:cBhvr additive="base">
                                        <p:cTn id="35" dur="500" fill="hold"/>
                                        <p:tgtEl>
                                          <p:spTgt spid="1133573">
                                            <p:txEl>
                                              <p:pRg st="2" end="2"/>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13357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WHOOSH.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1133587"/>
                                        </p:tgtEl>
                                        <p:attrNameLst>
                                          <p:attrName>style.visibility</p:attrName>
                                        </p:attrNameLst>
                                      </p:cBhvr>
                                      <p:to>
                                        <p:strVal val="visible"/>
                                      </p:to>
                                    </p:set>
                                    <p:animEffect transition="in" filter="box(out)">
                                      <p:cBhvr>
                                        <p:cTn id="41" dur="500"/>
                                        <p:tgtEl>
                                          <p:spTgt spid="1133587"/>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133582"/>
                                        </p:tgtEl>
                                        <p:attrNameLst>
                                          <p:attrName>style.visibility</p:attrName>
                                        </p:attrNameLst>
                                      </p:cBhvr>
                                      <p:to>
                                        <p:strVal val="visible"/>
                                      </p:to>
                                    </p:set>
                                    <p:animEffect transition="in" filter="box(out)">
                                      <p:cBhvr>
                                        <p:cTn id="46" dur="500"/>
                                        <p:tgtEl>
                                          <p:spTgt spid="1133582"/>
                                        </p:tgtEl>
                                      </p:cBhvr>
                                    </p:animEffect>
                                  </p:childTnLst>
                                  <p:subTnLst>
                                    <p:set>
                                      <p:cBhvr override="childStyle">
                                        <p:cTn dur="1" fill="hold" display="0" masterRel="nextClick" afterEffect="1"/>
                                        <p:tgtEl>
                                          <p:spTgt spid="1133582"/>
                                        </p:tgtEl>
                                        <p:attrNameLst>
                                          <p:attrName>style.visibility</p:attrName>
                                        </p:attrNameLst>
                                      </p:cBhvr>
                                      <p:to>
                                        <p:strVal val="hidden"/>
                                      </p:to>
                                    </p:se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1133583"/>
                                        </p:tgtEl>
                                        <p:attrNameLst>
                                          <p:attrName>style.visibility</p:attrName>
                                        </p:attrNameLst>
                                      </p:cBhvr>
                                      <p:to>
                                        <p:strVal val="visible"/>
                                      </p:to>
                                    </p:set>
                                    <p:animEffect transition="in" filter="box(out)">
                                      <p:cBhvr>
                                        <p:cTn id="51" dur="500"/>
                                        <p:tgtEl>
                                          <p:spTgt spid="1133583"/>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1133625"/>
                                        </p:tgtEl>
                                        <p:attrNameLst>
                                          <p:attrName>style.visibility</p:attrName>
                                        </p:attrNameLst>
                                      </p:cBhvr>
                                      <p:to>
                                        <p:strVal val="visible"/>
                                      </p:to>
                                    </p:set>
                                    <p:animEffect transition="in" filter="box(out)">
                                      <p:cBhvr>
                                        <p:cTn id="56" dur="500"/>
                                        <p:tgtEl>
                                          <p:spTgt spid="1133625"/>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1133574"/>
                                        </p:tgtEl>
                                        <p:attrNameLst>
                                          <p:attrName>style.visibility</p:attrName>
                                        </p:attrNameLst>
                                      </p:cBhvr>
                                      <p:to>
                                        <p:strVal val="visible"/>
                                      </p:to>
                                    </p:set>
                                    <p:animEffect transition="in" filter="box(out)">
                                      <p:cBhvr>
                                        <p:cTn id="61" dur="500"/>
                                        <p:tgtEl>
                                          <p:spTgt spid="1133574"/>
                                        </p:tgtEl>
                                      </p:cBhvr>
                                    </p:animEffect>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3570" grpId="0" build="p" bldLvl="5" autoUpdateAnimBg="0"/>
      <p:bldP spid="1133571" grpId="0" animBg="1" autoUpdateAnimBg="0"/>
      <p:bldP spid="1133572" grpId="0" animBg="1" autoUpdateAnimBg="0"/>
      <p:bldP spid="1133573" grpId="0" build="p" bldLvl="5" autoUpdateAnimBg="0"/>
      <p:bldP spid="1133582" grpId="0" animBg="1" autoUpdateAnimBg="0"/>
      <p:bldP spid="1133583" grpId="0" animBg="1" autoUpdateAnimBg="0"/>
      <p:bldP spid="1133625"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4594" name="Rectangle 2"/>
          <p:cNvSpPr>
            <a:spLocks noGrp="1" noChangeArrowheads="1"/>
          </p:cNvSpPr>
          <p:nvPr>
            <p:ph type="body" idx="4294967295"/>
          </p:nvPr>
        </p:nvSpPr>
        <p:spPr>
          <a:xfrm>
            <a:off x="1191138" y="1411348"/>
            <a:ext cx="7100888" cy="895350"/>
          </a:xfrm>
        </p:spPr>
        <p:txBody>
          <a:bodyPr/>
          <a:lstStyle/>
          <a:p>
            <a:pPr>
              <a:lnSpc>
                <a:spcPct val="90000"/>
              </a:lnSpc>
              <a:buFont typeface="Wingdings" pitchFamily="2" charset="2"/>
              <a:buChar char="l"/>
            </a:pPr>
            <a:r>
              <a:rPr lang="zh-CN" altLang="en-US" sz="2400" dirty="0">
                <a:solidFill>
                  <a:srgbClr val="C01920"/>
                </a:solidFill>
                <a:effectLst/>
                <a:latin typeface="楷体" panose="02010609060101010101" pitchFamily="49" charset="-122"/>
                <a:ea typeface="楷体" panose="02010609060101010101" pitchFamily="49" charset="-122"/>
              </a:rPr>
              <a:t>直接访问：按变量名来存取变量值</a:t>
            </a:r>
          </a:p>
          <a:p>
            <a:pPr>
              <a:lnSpc>
                <a:spcPct val="90000"/>
              </a:lnSpc>
              <a:buFont typeface="Wingdings" pitchFamily="2" charset="2"/>
              <a:buChar char="l"/>
            </a:pPr>
            <a:r>
              <a:rPr lang="zh-CN" altLang="en-US" sz="2400" dirty="0">
                <a:solidFill>
                  <a:srgbClr val="C01920"/>
                </a:solidFill>
                <a:effectLst/>
                <a:latin typeface="楷体" panose="02010609060101010101" pitchFamily="49" charset="-122"/>
                <a:ea typeface="楷体" panose="02010609060101010101" pitchFamily="49" charset="-122"/>
              </a:rPr>
              <a:t>间接访问：通过存放变量地址的变量去访问变量</a:t>
            </a:r>
          </a:p>
        </p:txBody>
      </p:sp>
      <p:sp>
        <p:nvSpPr>
          <p:cNvPr id="1134595" name="Text Box 3"/>
          <p:cNvSpPr txBox="1">
            <a:spLocks noChangeArrowheads="1"/>
          </p:cNvSpPr>
          <p:nvPr/>
        </p:nvSpPr>
        <p:spPr bwMode="auto">
          <a:xfrm>
            <a:off x="7166271" y="2339357"/>
            <a:ext cx="3945609" cy="463846"/>
          </a:xfrm>
          <a:prstGeom prst="rect">
            <a:avLst/>
          </a:prstGeom>
          <a:solidFill>
            <a:schemeClr val="bg1">
              <a:lumMod val="95000"/>
            </a:schemeClr>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zh-CN" altLang="en-US" dirty="0">
                <a:solidFill>
                  <a:srgbClr val="C01920"/>
                </a:solidFill>
                <a:ea typeface="隶书" pitchFamily="49" charset="-122"/>
              </a:rPr>
              <a:t>例</a:t>
            </a:r>
            <a:r>
              <a:rPr lang="zh-CN" altLang="en-US" dirty="0">
                <a:solidFill>
                  <a:srgbClr val="C01920"/>
                </a:solidFill>
                <a:ea typeface="宋体" pitchFamily="2" charset="-122"/>
              </a:rPr>
              <a:t>  </a:t>
            </a:r>
            <a:r>
              <a:rPr lang="zh-CN" altLang="en-US" dirty="0">
                <a:ea typeface="宋体" pitchFamily="2" charset="-122"/>
              </a:rPr>
              <a:t>  </a:t>
            </a:r>
            <a:r>
              <a:rPr lang="en-US" altLang="zh-CN" dirty="0" err="1">
                <a:ea typeface="宋体" pitchFamily="2" charset="-122"/>
              </a:rPr>
              <a:t>i</a:t>
            </a:r>
            <a:r>
              <a:rPr lang="en-US" altLang="zh-CN" dirty="0">
                <a:ea typeface="宋体" pitchFamily="2" charset="-122"/>
              </a:rPr>
              <a:t> = </a:t>
            </a:r>
            <a:r>
              <a:rPr lang="en-US" altLang="zh-CN" dirty="0">
                <a:solidFill>
                  <a:srgbClr val="002060"/>
                </a:solidFill>
                <a:ea typeface="宋体" pitchFamily="2" charset="-122"/>
              </a:rPr>
              <a:t>3;      </a:t>
            </a:r>
            <a:r>
              <a:rPr lang="en-US" altLang="zh-CN" dirty="0">
                <a:solidFill>
                  <a:srgbClr val="002060"/>
                </a:solidFill>
                <a:latin typeface="隶书" pitchFamily="49" charset="-122"/>
                <a:ea typeface="隶书" pitchFamily="49" charset="-122"/>
              </a:rPr>
              <a:t>-----</a:t>
            </a:r>
            <a:r>
              <a:rPr lang="zh-CN" altLang="zh-CN" dirty="0">
                <a:solidFill>
                  <a:srgbClr val="002060"/>
                </a:solidFill>
                <a:latin typeface="隶书" pitchFamily="49" charset="-122"/>
                <a:ea typeface="隶书" pitchFamily="49" charset="-122"/>
              </a:rPr>
              <a:t>直接访问</a:t>
            </a:r>
            <a:endParaRPr lang="zh-CN" altLang="en-US" dirty="0">
              <a:solidFill>
                <a:srgbClr val="002060"/>
              </a:solidFill>
            </a:endParaRPr>
          </a:p>
        </p:txBody>
      </p:sp>
      <p:grpSp>
        <p:nvGrpSpPr>
          <p:cNvPr id="1134596" name="Group 4"/>
          <p:cNvGrpSpPr>
            <a:grpSpLocks/>
          </p:cNvGrpSpPr>
          <p:nvPr/>
        </p:nvGrpSpPr>
        <p:grpSpPr bwMode="auto">
          <a:xfrm>
            <a:off x="2813345" y="2331417"/>
            <a:ext cx="4968875" cy="4625975"/>
            <a:chOff x="381" y="1190"/>
            <a:chExt cx="3130" cy="2914"/>
          </a:xfrm>
        </p:grpSpPr>
        <p:grpSp>
          <p:nvGrpSpPr>
            <p:cNvPr id="1134597" name="Group 5"/>
            <p:cNvGrpSpPr>
              <a:grpSpLocks/>
            </p:cNvGrpSpPr>
            <p:nvPr/>
          </p:nvGrpSpPr>
          <p:grpSpPr bwMode="auto">
            <a:xfrm>
              <a:off x="381" y="1190"/>
              <a:ext cx="3130" cy="2914"/>
              <a:chOff x="381" y="1190"/>
              <a:chExt cx="3130" cy="2914"/>
            </a:xfrm>
          </p:grpSpPr>
          <p:sp>
            <p:nvSpPr>
              <p:cNvPr id="1134598" name="AutoShape 6"/>
              <p:cNvSpPr>
                <a:spLocks noChangeArrowheads="1"/>
              </p:cNvSpPr>
              <p:nvPr/>
            </p:nvSpPr>
            <p:spPr bwMode="auto">
              <a:xfrm>
                <a:off x="2433" y="2576"/>
                <a:ext cx="1078" cy="354"/>
              </a:xfrm>
              <a:prstGeom prst="wedgeEllipseCallout">
                <a:avLst>
                  <a:gd name="adj1" fmla="val -50958"/>
                  <a:gd name="adj2" fmla="val -74574"/>
                </a:avLst>
              </a:prstGeom>
              <a:gradFill rotWithShape="1">
                <a:gsLst>
                  <a:gs pos="0">
                    <a:srgbClr val="CFCFD1"/>
                  </a:gs>
                  <a:gs pos="100000">
                    <a:schemeClr val="bg1"/>
                  </a:gs>
                </a:gsLst>
                <a:lin ang="5400000" scaled="1"/>
              </a:gradFill>
              <a:ln w="38100">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gn="ctr">
                  <a:lnSpc>
                    <a:spcPct val="100000"/>
                  </a:lnSpc>
                  <a:spcBef>
                    <a:spcPct val="0"/>
                  </a:spcBef>
                </a:pPr>
                <a:r>
                  <a:rPr lang="zh-CN" altLang="en-US" sz="2000">
                    <a:solidFill>
                      <a:srgbClr val="C00000"/>
                    </a:solidFill>
                    <a:latin typeface="+mn-lt"/>
                    <a:ea typeface="楷体" pitchFamily="49" charset="-122"/>
                  </a:rPr>
                  <a:t>指针变量</a:t>
                </a:r>
              </a:p>
            </p:txBody>
          </p:sp>
          <p:grpSp>
            <p:nvGrpSpPr>
              <p:cNvPr id="1134599" name="Group 7"/>
              <p:cNvGrpSpPr>
                <a:grpSpLocks/>
              </p:cNvGrpSpPr>
              <p:nvPr/>
            </p:nvGrpSpPr>
            <p:grpSpPr bwMode="auto">
              <a:xfrm>
                <a:off x="381" y="1190"/>
                <a:ext cx="3075" cy="2914"/>
                <a:chOff x="381" y="1190"/>
                <a:chExt cx="3075" cy="2914"/>
              </a:xfrm>
            </p:grpSpPr>
            <p:grpSp>
              <p:nvGrpSpPr>
                <p:cNvPr id="1134600" name="Group 8"/>
                <p:cNvGrpSpPr>
                  <a:grpSpLocks/>
                </p:cNvGrpSpPr>
                <p:nvPr/>
              </p:nvGrpSpPr>
              <p:grpSpPr bwMode="auto">
                <a:xfrm>
                  <a:off x="381" y="1190"/>
                  <a:ext cx="3075" cy="2914"/>
                  <a:chOff x="984" y="1406"/>
                  <a:chExt cx="3075" cy="2914"/>
                </a:xfrm>
              </p:grpSpPr>
              <p:sp>
                <p:nvSpPr>
                  <p:cNvPr id="1134601" name="Freeform 9"/>
                  <p:cNvSpPr>
                    <a:spLocks/>
                  </p:cNvSpPr>
                  <p:nvPr/>
                </p:nvSpPr>
                <p:spPr bwMode="auto">
                  <a:xfrm>
                    <a:off x="1523" y="39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solidFill>
                        <a:srgbClr val="C01920"/>
                      </a:solidFill>
                    </a:endParaRPr>
                  </a:p>
                </p:txBody>
              </p:sp>
              <p:sp>
                <p:nvSpPr>
                  <p:cNvPr id="1134603" name="Rectangle 11"/>
                  <p:cNvSpPr>
                    <a:spLocks noChangeArrowheads="1"/>
                  </p:cNvSpPr>
                  <p:nvPr/>
                </p:nvSpPr>
                <p:spPr bwMode="auto">
                  <a:xfrm>
                    <a:off x="1523" y="1406"/>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solidFill>
                        <a:srgbClr val="C01920"/>
                      </a:solidFill>
                      <a:ea typeface="宋体" pitchFamily="2" charset="-122"/>
                    </a:endParaRPr>
                  </a:p>
                </p:txBody>
              </p:sp>
              <p:sp>
                <p:nvSpPr>
                  <p:cNvPr id="1134604" name="Line 12"/>
                  <p:cNvSpPr>
                    <a:spLocks noChangeShapeType="1"/>
                  </p:cNvSpPr>
                  <p:nvPr/>
                </p:nvSpPr>
                <p:spPr bwMode="auto">
                  <a:xfrm>
                    <a:off x="1535" y="1844"/>
                    <a:ext cx="1211" cy="0"/>
                  </a:xfrm>
                  <a:prstGeom prst="line">
                    <a:avLst/>
                  </a:prstGeom>
                  <a:noFill/>
                  <a:ln w="9525">
                    <a:solidFill>
                      <a:srgbClr val="000000"/>
                    </a:solidFill>
                    <a:round/>
                    <a:headEnd/>
                    <a:tailEnd/>
                  </a:ln>
                  <a:effectLst/>
                </p:spPr>
                <p:txBody>
                  <a:bodyPr wrap="none" anchor="ctr"/>
                  <a:lstStyle/>
                  <a:p>
                    <a:endParaRPr lang="zh-CN" altLang="en-US">
                      <a:solidFill>
                        <a:srgbClr val="C01920"/>
                      </a:solidFill>
                    </a:endParaRPr>
                  </a:p>
                </p:txBody>
              </p:sp>
              <p:sp>
                <p:nvSpPr>
                  <p:cNvPr id="1134605" name="Line 13"/>
                  <p:cNvSpPr>
                    <a:spLocks noChangeShapeType="1"/>
                  </p:cNvSpPr>
                  <p:nvPr/>
                </p:nvSpPr>
                <p:spPr bwMode="auto">
                  <a:xfrm>
                    <a:off x="1535" y="2100"/>
                    <a:ext cx="1211" cy="0"/>
                  </a:xfrm>
                  <a:prstGeom prst="line">
                    <a:avLst/>
                  </a:prstGeom>
                  <a:noFill/>
                  <a:ln w="9525">
                    <a:solidFill>
                      <a:schemeClr val="bg2"/>
                    </a:solidFill>
                    <a:prstDash val="dash"/>
                    <a:round/>
                    <a:headEnd/>
                    <a:tailEnd/>
                  </a:ln>
                  <a:effectLst/>
                </p:spPr>
                <p:txBody>
                  <a:bodyPr wrap="none" anchor="ctr"/>
                  <a:lstStyle/>
                  <a:p>
                    <a:endParaRPr lang="zh-CN" altLang="en-US">
                      <a:solidFill>
                        <a:srgbClr val="C01920"/>
                      </a:solidFill>
                    </a:endParaRPr>
                  </a:p>
                </p:txBody>
              </p:sp>
              <p:sp>
                <p:nvSpPr>
                  <p:cNvPr id="1134606" name="Line 14"/>
                  <p:cNvSpPr>
                    <a:spLocks noChangeShapeType="1"/>
                  </p:cNvSpPr>
                  <p:nvPr/>
                </p:nvSpPr>
                <p:spPr bwMode="auto">
                  <a:xfrm>
                    <a:off x="1535" y="2333"/>
                    <a:ext cx="1211" cy="0"/>
                  </a:xfrm>
                  <a:prstGeom prst="line">
                    <a:avLst/>
                  </a:prstGeom>
                  <a:noFill/>
                  <a:ln w="9525">
                    <a:solidFill>
                      <a:srgbClr val="000000"/>
                    </a:solidFill>
                    <a:round/>
                    <a:headEnd/>
                    <a:tailEnd/>
                  </a:ln>
                  <a:effectLst/>
                </p:spPr>
                <p:txBody>
                  <a:bodyPr wrap="none" anchor="ctr"/>
                  <a:lstStyle/>
                  <a:p>
                    <a:endParaRPr lang="zh-CN" altLang="en-US">
                      <a:solidFill>
                        <a:srgbClr val="C01920"/>
                      </a:solidFill>
                    </a:endParaRPr>
                  </a:p>
                </p:txBody>
              </p:sp>
              <p:sp>
                <p:nvSpPr>
                  <p:cNvPr id="1134607" name="Line 15"/>
                  <p:cNvSpPr>
                    <a:spLocks noChangeShapeType="1"/>
                  </p:cNvSpPr>
                  <p:nvPr/>
                </p:nvSpPr>
                <p:spPr bwMode="auto">
                  <a:xfrm>
                    <a:off x="1535" y="2588"/>
                    <a:ext cx="1211" cy="0"/>
                  </a:xfrm>
                  <a:prstGeom prst="line">
                    <a:avLst/>
                  </a:prstGeom>
                  <a:noFill/>
                  <a:ln w="9525">
                    <a:solidFill>
                      <a:srgbClr val="000000"/>
                    </a:solidFill>
                    <a:prstDash val="solid"/>
                    <a:round/>
                    <a:headEnd/>
                    <a:tailEnd/>
                  </a:ln>
                  <a:effectLst/>
                </p:spPr>
                <p:txBody>
                  <a:bodyPr wrap="none" anchor="ctr"/>
                  <a:lstStyle/>
                  <a:p>
                    <a:endParaRPr lang="zh-CN" altLang="en-US">
                      <a:solidFill>
                        <a:srgbClr val="C01920"/>
                      </a:solidFill>
                    </a:endParaRPr>
                  </a:p>
                </p:txBody>
              </p:sp>
              <p:sp>
                <p:nvSpPr>
                  <p:cNvPr id="1134608" name="Line 16"/>
                  <p:cNvSpPr>
                    <a:spLocks noChangeShapeType="1"/>
                  </p:cNvSpPr>
                  <p:nvPr/>
                </p:nvSpPr>
                <p:spPr bwMode="auto">
                  <a:xfrm>
                    <a:off x="1523" y="2846"/>
                    <a:ext cx="1211" cy="0"/>
                  </a:xfrm>
                  <a:prstGeom prst="line">
                    <a:avLst/>
                  </a:prstGeom>
                  <a:noFill/>
                  <a:ln w="9525">
                    <a:solidFill>
                      <a:srgbClr val="000000"/>
                    </a:solidFill>
                    <a:prstDash val="dash"/>
                    <a:round/>
                    <a:headEnd/>
                    <a:tailEnd/>
                  </a:ln>
                  <a:effectLst/>
                </p:spPr>
                <p:txBody>
                  <a:bodyPr wrap="none" anchor="ctr"/>
                  <a:lstStyle/>
                  <a:p>
                    <a:endParaRPr lang="zh-CN" altLang="en-US">
                      <a:solidFill>
                        <a:srgbClr val="C01920"/>
                      </a:solidFill>
                    </a:endParaRPr>
                  </a:p>
                </p:txBody>
              </p:sp>
              <p:sp>
                <p:nvSpPr>
                  <p:cNvPr id="1134609" name="Line 17"/>
                  <p:cNvSpPr>
                    <a:spLocks noChangeShapeType="1"/>
                  </p:cNvSpPr>
                  <p:nvPr/>
                </p:nvSpPr>
                <p:spPr bwMode="auto">
                  <a:xfrm>
                    <a:off x="1535" y="3388"/>
                    <a:ext cx="1211" cy="0"/>
                  </a:xfrm>
                  <a:prstGeom prst="line">
                    <a:avLst/>
                  </a:prstGeom>
                  <a:noFill/>
                  <a:ln w="9525">
                    <a:solidFill>
                      <a:srgbClr val="000000"/>
                    </a:solidFill>
                    <a:prstDash val="dash"/>
                    <a:round/>
                    <a:headEnd/>
                    <a:tailEnd/>
                  </a:ln>
                  <a:effectLst/>
                </p:spPr>
                <p:txBody>
                  <a:bodyPr wrap="none" anchor="ctr"/>
                  <a:lstStyle/>
                  <a:p>
                    <a:endParaRPr lang="zh-CN" altLang="en-US">
                      <a:solidFill>
                        <a:srgbClr val="C01920"/>
                      </a:solidFill>
                    </a:endParaRPr>
                  </a:p>
                </p:txBody>
              </p:sp>
              <p:sp>
                <p:nvSpPr>
                  <p:cNvPr id="1134610" name="Line 18"/>
                  <p:cNvSpPr>
                    <a:spLocks noChangeShapeType="1"/>
                  </p:cNvSpPr>
                  <p:nvPr/>
                </p:nvSpPr>
                <p:spPr bwMode="auto">
                  <a:xfrm>
                    <a:off x="1523" y="3627"/>
                    <a:ext cx="0" cy="456"/>
                  </a:xfrm>
                  <a:prstGeom prst="line">
                    <a:avLst/>
                  </a:prstGeom>
                  <a:noFill/>
                  <a:ln w="9525">
                    <a:solidFill>
                      <a:srgbClr val="000000"/>
                    </a:solidFill>
                    <a:round/>
                    <a:headEnd/>
                    <a:tailEnd/>
                  </a:ln>
                  <a:effectLst/>
                </p:spPr>
                <p:txBody>
                  <a:bodyPr wrap="none" anchor="ctr"/>
                  <a:lstStyle/>
                  <a:p>
                    <a:endParaRPr lang="zh-CN" altLang="en-US">
                      <a:solidFill>
                        <a:srgbClr val="C01920"/>
                      </a:solidFill>
                    </a:endParaRPr>
                  </a:p>
                </p:txBody>
              </p:sp>
              <p:sp>
                <p:nvSpPr>
                  <p:cNvPr id="1134611" name="Line 19"/>
                  <p:cNvSpPr>
                    <a:spLocks noChangeShapeType="1"/>
                  </p:cNvSpPr>
                  <p:nvPr/>
                </p:nvSpPr>
                <p:spPr bwMode="auto">
                  <a:xfrm>
                    <a:off x="2734" y="3627"/>
                    <a:ext cx="0" cy="600"/>
                  </a:xfrm>
                  <a:prstGeom prst="line">
                    <a:avLst/>
                  </a:prstGeom>
                  <a:noFill/>
                  <a:ln w="9525">
                    <a:solidFill>
                      <a:srgbClr val="000000"/>
                    </a:solidFill>
                    <a:round/>
                    <a:headEnd/>
                    <a:tailEnd/>
                  </a:ln>
                  <a:effectLst/>
                </p:spPr>
                <p:txBody>
                  <a:bodyPr wrap="none" anchor="ctr"/>
                  <a:lstStyle/>
                  <a:p>
                    <a:endParaRPr lang="zh-CN" altLang="en-US">
                      <a:solidFill>
                        <a:srgbClr val="C01920"/>
                      </a:solidFill>
                    </a:endParaRPr>
                  </a:p>
                </p:txBody>
              </p:sp>
              <p:sp>
                <p:nvSpPr>
                  <p:cNvPr id="1134612" name="Text Box 20"/>
                  <p:cNvSpPr txBox="1">
                    <a:spLocks noChangeArrowheads="1"/>
                  </p:cNvSpPr>
                  <p:nvPr/>
                </p:nvSpPr>
                <p:spPr bwMode="auto">
                  <a:xfrm>
                    <a:off x="2013" y="14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solidFill>
                          <a:srgbClr val="C01920"/>
                        </a:solidFill>
                        <a:ea typeface="宋体" pitchFamily="2" charset="-122"/>
                      </a:rPr>
                      <a:t>…...</a:t>
                    </a:r>
                  </a:p>
                </p:txBody>
              </p:sp>
              <p:sp>
                <p:nvSpPr>
                  <p:cNvPr id="1134613" name="Text Box 21"/>
                  <p:cNvSpPr txBox="1">
                    <a:spLocks noChangeArrowheads="1"/>
                  </p:cNvSpPr>
                  <p:nvPr/>
                </p:nvSpPr>
                <p:spPr bwMode="auto">
                  <a:xfrm>
                    <a:off x="2012" y="3668"/>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solidFill>
                          <a:srgbClr val="C01920"/>
                        </a:solidFill>
                        <a:ea typeface="宋体" pitchFamily="2" charset="-122"/>
                      </a:rPr>
                      <a:t>…...</a:t>
                    </a:r>
                  </a:p>
                </p:txBody>
              </p:sp>
              <p:sp>
                <p:nvSpPr>
                  <p:cNvPr id="1134614" name="Text Box 22"/>
                  <p:cNvSpPr txBox="1">
                    <a:spLocks noChangeArrowheads="1"/>
                  </p:cNvSpPr>
                  <p:nvPr/>
                </p:nvSpPr>
                <p:spPr bwMode="auto">
                  <a:xfrm>
                    <a:off x="984" y="18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solidFill>
                          <a:srgbClr val="C01920"/>
                        </a:solidFill>
                        <a:ea typeface="宋体" pitchFamily="2" charset="-122"/>
                      </a:rPr>
                      <a:t>2000</a:t>
                    </a:r>
                  </a:p>
                </p:txBody>
              </p:sp>
              <p:sp>
                <p:nvSpPr>
                  <p:cNvPr id="1134615" name="Text Box 23"/>
                  <p:cNvSpPr txBox="1">
                    <a:spLocks noChangeArrowheads="1"/>
                  </p:cNvSpPr>
                  <p:nvPr/>
                </p:nvSpPr>
                <p:spPr bwMode="auto">
                  <a:xfrm>
                    <a:off x="984" y="285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solidFill>
                          <a:srgbClr val="C01920"/>
                        </a:solidFill>
                        <a:ea typeface="宋体" pitchFamily="2" charset="-122"/>
                      </a:rPr>
                      <a:t>2004</a:t>
                    </a:r>
                  </a:p>
                </p:txBody>
              </p:sp>
              <p:sp>
                <p:nvSpPr>
                  <p:cNvPr id="1134616" name="Text Box 24"/>
                  <p:cNvSpPr txBox="1">
                    <a:spLocks noChangeArrowheads="1"/>
                  </p:cNvSpPr>
                  <p:nvPr/>
                </p:nvSpPr>
                <p:spPr bwMode="auto">
                  <a:xfrm>
                    <a:off x="984" y="338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solidFill>
                          <a:srgbClr val="C01920"/>
                        </a:solidFill>
                        <a:ea typeface="宋体" pitchFamily="2" charset="-122"/>
                      </a:rPr>
                      <a:t>2006</a:t>
                    </a:r>
                  </a:p>
                </p:txBody>
              </p:sp>
              <p:sp>
                <p:nvSpPr>
                  <p:cNvPr id="1134617" name="Text Box 25"/>
                  <p:cNvSpPr txBox="1">
                    <a:spLocks noChangeArrowheads="1"/>
                  </p:cNvSpPr>
                  <p:nvPr/>
                </p:nvSpPr>
                <p:spPr bwMode="auto">
                  <a:xfrm>
                    <a:off x="984" y="312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solidFill>
                          <a:srgbClr val="C01920"/>
                        </a:solidFill>
                        <a:ea typeface="宋体" pitchFamily="2" charset="-122"/>
                      </a:rPr>
                      <a:t>2005</a:t>
                    </a:r>
                  </a:p>
                </p:txBody>
              </p:sp>
              <p:sp>
                <p:nvSpPr>
                  <p:cNvPr id="1134618" name="Line 26"/>
                  <p:cNvSpPr>
                    <a:spLocks noChangeShapeType="1"/>
                  </p:cNvSpPr>
                  <p:nvPr/>
                </p:nvSpPr>
                <p:spPr bwMode="auto">
                  <a:xfrm>
                    <a:off x="1535" y="3110"/>
                    <a:ext cx="1211" cy="0"/>
                  </a:xfrm>
                  <a:prstGeom prst="line">
                    <a:avLst/>
                  </a:prstGeom>
                  <a:noFill/>
                  <a:ln w="9525">
                    <a:solidFill>
                      <a:srgbClr val="000000"/>
                    </a:solidFill>
                    <a:prstDash val="dash"/>
                    <a:round/>
                    <a:headEnd/>
                    <a:tailEnd/>
                  </a:ln>
                  <a:effectLst/>
                </p:spPr>
                <p:txBody>
                  <a:bodyPr wrap="none" anchor="ctr"/>
                  <a:lstStyle/>
                  <a:p>
                    <a:endParaRPr lang="zh-CN" altLang="en-US">
                      <a:solidFill>
                        <a:srgbClr val="C01920"/>
                      </a:solidFill>
                    </a:endParaRPr>
                  </a:p>
                </p:txBody>
              </p:sp>
              <p:sp>
                <p:nvSpPr>
                  <p:cNvPr id="1134619" name="Line 27"/>
                  <p:cNvSpPr>
                    <a:spLocks noChangeShapeType="1"/>
                  </p:cNvSpPr>
                  <p:nvPr/>
                </p:nvSpPr>
                <p:spPr bwMode="auto">
                  <a:xfrm flipH="1">
                    <a:off x="2724" y="1848"/>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solidFill>
                        <a:srgbClr val="C01920"/>
                      </a:solidFill>
                    </a:endParaRPr>
                  </a:p>
                </p:txBody>
              </p:sp>
              <p:sp>
                <p:nvSpPr>
                  <p:cNvPr id="1134620" name="Text Box 28"/>
                  <p:cNvSpPr txBox="1">
                    <a:spLocks noChangeArrowheads="1"/>
                  </p:cNvSpPr>
                  <p:nvPr/>
                </p:nvSpPr>
                <p:spPr bwMode="auto">
                  <a:xfrm>
                    <a:off x="2906" y="1694"/>
                    <a:ext cx="983" cy="291"/>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solidFill>
                          <a:srgbClr val="C01920"/>
                        </a:solidFill>
                        <a:latin typeface="+mn-lt"/>
                        <a:ea typeface="楷体" pitchFamily="49" charset="-122"/>
                      </a:rPr>
                      <a:t>短整型变量</a:t>
                    </a:r>
                    <a:r>
                      <a:rPr lang="en-US" altLang="zh-CN" dirty="0" err="1">
                        <a:solidFill>
                          <a:srgbClr val="C01920"/>
                        </a:solidFill>
                        <a:latin typeface="+mn-lt"/>
                        <a:ea typeface="楷体" pitchFamily="49" charset="-122"/>
                      </a:rPr>
                      <a:t>i</a:t>
                    </a:r>
                    <a:endParaRPr lang="en-US" altLang="zh-CN" sz="2000" dirty="0">
                      <a:solidFill>
                        <a:srgbClr val="C01920"/>
                      </a:solidFill>
                      <a:latin typeface="+mn-lt"/>
                      <a:ea typeface="楷体" pitchFamily="49" charset="-122"/>
                    </a:endParaRPr>
                  </a:p>
                </p:txBody>
              </p:sp>
              <p:sp>
                <p:nvSpPr>
                  <p:cNvPr id="1134621" name="Text Box 29"/>
                  <p:cNvSpPr txBox="1">
                    <a:spLocks noChangeArrowheads="1"/>
                  </p:cNvSpPr>
                  <p:nvPr/>
                </p:nvSpPr>
                <p:spPr bwMode="auto">
                  <a:xfrm>
                    <a:off x="1940" y="1977"/>
                    <a:ext cx="27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C00000"/>
                        </a:solidFill>
                        <a:ea typeface="宋体" pitchFamily="2" charset="-122"/>
                      </a:rPr>
                      <a:t>10</a:t>
                    </a:r>
                  </a:p>
                </p:txBody>
              </p:sp>
              <p:sp>
                <p:nvSpPr>
                  <p:cNvPr id="1134622" name="Line 30"/>
                  <p:cNvSpPr>
                    <a:spLocks noChangeShapeType="1"/>
                  </p:cNvSpPr>
                  <p:nvPr/>
                </p:nvSpPr>
                <p:spPr bwMode="auto">
                  <a:xfrm flipH="1">
                    <a:off x="2748" y="2621"/>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solidFill>
                        <a:srgbClr val="C01920"/>
                      </a:solidFill>
                    </a:endParaRPr>
                  </a:p>
                </p:txBody>
              </p:sp>
              <p:sp>
                <p:nvSpPr>
                  <p:cNvPr id="1134623" name="Text Box 31"/>
                  <p:cNvSpPr txBox="1">
                    <a:spLocks noChangeArrowheads="1"/>
                  </p:cNvSpPr>
                  <p:nvPr/>
                </p:nvSpPr>
                <p:spPr bwMode="auto">
                  <a:xfrm>
                    <a:off x="2930" y="2467"/>
                    <a:ext cx="1129" cy="291"/>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solidFill>
                          <a:srgbClr val="C01920"/>
                        </a:solidFill>
                        <a:latin typeface="+mn-lt"/>
                        <a:ea typeface="楷体" pitchFamily="49" charset="-122"/>
                      </a:rPr>
                      <a:t>变量</a:t>
                    </a:r>
                    <a:r>
                      <a:rPr lang="en-US" altLang="zh-CN" sz="2000" dirty="0" err="1">
                        <a:solidFill>
                          <a:srgbClr val="C01920"/>
                        </a:solidFill>
                        <a:latin typeface="+mn-lt"/>
                        <a:ea typeface="楷体" pitchFamily="49" charset="-122"/>
                      </a:rPr>
                      <a:t>i</a:t>
                    </a:r>
                    <a:r>
                      <a:rPr lang="en-US" altLang="zh-CN" dirty="0" err="1">
                        <a:solidFill>
                          <a:srgbClr val="C01920"/>
                        </a:solidFill>
                        <a:latin typeface="+mn-lt"/>
                        <a:ea typeface="楷体" pitchFamily="49" charset="-122"/>
                      </a:rPr>
                      <a:t>_pointer</a:t>
                    </a:r>
                    <a:endParaRPr lang="en-US" altLang="zh-CN" sz="2000" dirty="0">
                      <a:solidFill>
                        <a:srgbClr val="C01920"/>
                      </a:solidFill>
                      <a:latin typeface="+mn-lt"/>
                      <a:ea typeface="楷体" pitchFamily="49" charset="-122"/>
                    </a:endParaRPr>
                  </a:p>
                </p:txBody>
              </p:sp>
              <p:sp>
                <p:nvSpPr>
                  <p:cNvPr id="1134624" name="Text Box 32"/>
                  <p:cNvSpPr txBox="1">
                    <a:spLocks noChangeArrowheads="1"/>
                  </p:cNvSpPr>
                  <p:nvPr/>
                </p:nvSpPr>
                <p:spPr bwMode="auto">
                  <a:xfrm>
                    <a:off x="984" y="20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solidFill>
                          <a:srgbClr val="C01920"/>
                        </a:solidFill>
                        <a:ea typeface="宋体" pitchFamily="2" charset="-122"/>
                      </a:rPr>
                      <a:t>2001</a:t>
                    </a:r>
                  </a:p>
                </p:txBody>
              </p:sp>
              <p:sp>
                <p:nvSpPr>
                  <p:cNvPr id="1134625" name="Text Box 33"/>
                  <p:cNvSpPr txBox="1">
                    <a:spLocks noChangeArrowheads="1"/>
                  </p:cNvSpPr>
                  <p:nvPr/>
                </p:nvSpPr>
                <p:spPr bwMode="auto">
                  <a:xfrm>
                    <a:off x="984" y="233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solidFill>
                          <a:srgbClr val="C01920"/>
                        </a:solidFill>
                        <a:ea typeface="宋体" pitchFamily="2" charset="-122"/>
                      </a:rPr>
                      <a:t>2002</a:t>
                    </a:r>
                  </a:p>
                </p:txBody>
              </p:sp>
              <p:sp>
                <p:nvSpPr>
                  <p:cNvPr id="1134626" name="Text Box 34"/>
                  <p:cNvSpPr txBox="1">
                    <a:spLocks noChangeArrowheads="1"/>
                  </p:cNvSpPr>
                  <p:nvPr/>
                </p:nvSpPr>
                <p:spPr bwMode="auto">
                  <a:xfrm>
                    <a:off x="984" y="25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solidFill>
                          <a:srgbClr val="C01920"/>
                        </a:solidFill>
                        <a:ea typeface="宋体" pitchFamily="2" charset="-122"/>
                      </a:rPr>
                      <a:t>2003</a:t>
                    </a:r>
                  </a:p>
                </p:txBody>
              </p:sp>
              <p:sp>
                <p:nvSpPr>
                  <p:cNvPr id="1134602" name="Freeform 10"/>
                  <p:cNvSpPr>
                    <a:spLocks/>
                  </p:cNvSpPr>
                  <p:nvPr/>
                </p:nvSpPr>
                <p:spPr bwMode="auto">
                  <a:xfrm>
                    <a:off x="1524" y="36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solidFill>
                        <a:srgbClr val="C01920"/>
                      </a:solidFill>
                    </a:endParaRPr>
                  </a:p>
                </p:txBody>
              </p:sp>
            </p:grpSp>
            <p:sp>
              <p:nvSpPr>
                <p:cNvPr id="1134627" name="Oval 35"/>
                <p:cNvSpPr>
                  <a:spLocks noChangeArrowheads="1"/>
                </p:cNvSpPr>
                <p:nvPr/>
              </p:nvSpPr>
              <p:spPr bwMode="auto">
                <a:xfrm>
                  <a:off x="384" y="1625"/>
                  <a:ext cx="420" cy="240"/>
                </a:xfrm>
                <a:prstGeom prst="ellipse">
                  <a:avLst/>
                </a:prstGeom>
                <a:noFill/>
                <a:ln w="38100">
                  <a:solidFill>
                    <a:srgbClr val="C00000"/>
                  </a:solidFill>
                  <a:round/>
                  <a:headEnd type="none" w="lg" len="lg"/>
                  <a:tailEnd/>
                </a:ln>
                <a:effectLst/>
              </p:spPr>
              <p:txBody>
                <a:bodyPr wrap="none" lIns="90000" tIns="46800" rIns="90000" bIns="46800" anchor="ctr"/>
                <a:lstStyle/>
                <a:p>
                  <a:endParaRPr lang="zh-CN" altLang="en-US">
                    <a:solidFill>
                      <a:srgbClr val="C01920"/>
                    </a:solidFill>
                  </a:endParaRPr>
                </a:p>
              </p:txBody>
            </p:sp>
          </p:grpSp>
        </p:grpSp>
        <p:sp>
          <p:nvSpPr>
            <p:cNvPr id="1134628" name="Text Box 36"/>
            <p:cNvSpPr txBox="1">
              <a:spLocks noChangeArrowheads="1"/>
            </p:cNvSpPr>
            <p:nvPr/>
          </p:nvSpPr>
          <p:spPr bwMode="auto">
            <a:xfrm>
              <a:off x="1293" y="2766"/>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C01920"/>
                  </a:solidFill>
                  <a:ea typeface="宋体" pitchFamily="2" charset="-122"/>
                </a:rPr>
                <a:t>2000</a:t>
              </a:r>
            </a:p>
          </p:txBody>
        </p:sp>
      </p:grpSp>
      <p:sp>
        <p:nvSpPr>
          <p:cNvPr id="1134629" name="Text Box 37"/>
          <p:cNvSpPr txBox="1">
            <a:spLocks noChangeArrowheads="1"/>
          </p:cNvSpPr>
          <p:nvPr/>
        </p:nvSpPr>
        <p:spPr bwMode="auto">
          <a:xfrm>
            <a:off x="4431584" y="3242733"/>
            <a:ext cx="309998" cy="402291"/>
          </a:xfrm>
          <a:prstGeom prst="rect">
            <a:avLst/>
          </a:prstGeom>
          <a:solidFill>
            <a:srgbClr val="DDFAED"/>
          </a:solid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solidFill>
                  <a:srgbClr val="002060"/>
                </a:solidFill>
                <a:ea typeface="宋体" pitchFamily="2" charset="-122"/>
              </a:rPr>
              <a:t>3</a:t>
            </a:r>
          </a:p>
        </p:txBody>
      </p:sp>
      <p:sp>
        <p:nvSpPr>
          <p:cNvPr id="1134630" name="Text Box 38"/>
          <p:cNvSpPr txBox="1">
            <a:spLocks noChangeArrowheads="1"/>
          </p:cNvSpPr>
          <p:nvPr/>
        </p:nvSpPr>
        <p:spPr bwMode="auto">
          <a:xfrm>
            <a:off x="5783562" y="5985545"/>
            <a:ext cx="5328318" cy="463846"/>
          </a:xfrm>
          <a:prstGeom prst="rect">
            <a:avLst/>
          </a:prstGeom>
          <a:solidFill>
            <a:schemeClr val="bg1"/>
          </a:solidFill>
          <a:ln w="38100">
            <a:solidFill>
              <a:srgbClr val="FF99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1920"/>
                </a:solidFill>
                <a:ea typeface="隶书" pitchFamily="49" charset="-122"/>
              </a:rPr>
              <a:t>例</a:t>
            </a:r>
            <a:r>
              <a:rPr lang="zh-CN" altLang="en-US" dirty="0">
                <a:solidFill>
                  <a:srgbClr val="C01920"/>
                </a:solidFill>
                <a:ea typeface="宋体" pitchFamily="2" charset="-122"/>
              </a:rPr>
              <a:t> </a:t>
            </a:r>
            <a:r>
              <a:rPr lang="zh-CN" altLang="en-US" dirty="0">
                <a:ea typeface="宋体" pitchFamily="2" charset="-122"/>
              </a:rPr>
              <a:t>  *</a:t>
            </a:r>
            <a:r>
              <a:rPr lang="en-US" altLang="zh-CN" dirty="0" err="1">
                <a:ea typeface="宋体" pitchFamily="2" charset="-122"/>
              </a:rPr>
              <a:t>i_pointer</a:t>
            </a:r>
            <a:r>
              <a:rPr lang="en-US" altLang="zh-CN" dirty="0">
                <a:ea typeface="宋体" pitchFamily="2" charset="-122"/>
              </a:rPr>
              <a:t> = </a:t>
            </a:r>
            <a:r>
              <a:rPr lang="en-US" altLang="zh-CN" dirty="0">
                <a:solidFill>
                  <a:srgbClr val="C01920"/>
                </a:solidFill>
                <a:ea typeface="宋体" pitchFamily="2" charset="-122"/>
              </a:rPr>
              <a:t>20;       </a:t>
            </a:r>
            <a:r>
              <a:rPr lang="en-US" altLang="zh-CN" dirty="0">
                <a:solidFill>
                  <a:srgbClr val="C01920"/>
                </a:solidFill>
                <a:latin typeface="隶书" pitchFamily="49" charset="-122"/>
                <a:ea typeface="隶书" pitchFamily="49" charset="-122"/>
              </a:rPr>
              <a:t>-----</a:t>
            </a:r>
            <a:r>
              <a:rPr lang="zh-CN" altLang="zh-CN" dirty="0">
                <a:solidFill>
                  <a:srgbClr val="C01920"/>
                </a:solidFill>
                <a:latin typeface="隶书" pitchFamily="49" charset="-122"/>
                <a:ea typeface="隶书" pitchFamily="49" charset="-122"/>
              </a:rPr>
              <a:t>间接访问</a:t>
            </a:r>
            <a:endParaRPr lang="zh-CN" altLang="en-US" dirty="0">
              <a:solidFill>
                <a:srgbClr val="C01920"/>
              </a:solidFill>
            </a:endParaRPr>
          </a:p>
        </p:txBody>
      </p:sp>
      <p:sp>
        <p:nvSpPr>
          <p:cNvPr id="1134631" name="Oval 39"/>
          <p:cNvSpPr>
            <a:spLocks noChangeArrowheads="1"/>
          </p:cNvSpPr>
          <p:nvPr/>
        </p:nvSpPr>
        <p:spPr bwMode="auto">
          <a:xfrm>
            <a:off x="4265907" y="4842841"/>
            <a:ext cx="666750" cy="381000"/>
          </a:xfrm>
          <a:prstGeom prst="ellipse">
            <a:avLst/>
          </a:prstGeom>
          <a:noFill/>
          <a:ln w="38100">
            <a:solidFill>
              <a:srgbClr val="FF9900"/>
            </a:solidFill>
            <a:round/>
            <a:headEnd type="none" w="lg" len="lg"/>
            <a:tailEnd/>
          </a:ln>
          <a:effectLst/>
        </p:spPr>
        <p:txBody>
          <a:bodyPr wrap="none" lIns="90000" tIns="46800" rIns="90000" bIns="46800" anchor="ctr"/>
          <a:lstStyle/>
          <a:p>
            <a:endParaRPr lang="zh-CN" altLang="en-US">
              <a:solidFill>
                <a:srgbClr val="C01920"/>
              </a:solidFill>
            </a:endParaRPr>
          </a:p>
        </p:txBody>
      </p:sp>
      <p:sp>
        <p:nvSpPr>
          <p:cNvPr id="1134632" name="Line 40"/>
          <p:cNvSpPr>
            <a:spLocks noChangeShapeType="1"/>
          </p:cNvSpPr>
          <p:nvPr/>
        </p:nvSpPr>
        <p:spPr bwMode="auto">
          <a:xfrm flipH="1">
            <a:off x="2780007" y="5109541"/>
            <a:ext cx="1485900" cy="0"/>
          </a:xfrm>
          <a:prstGeom prst="line">
            <a:avLst/>
          </a:prstGeom>
          <a:noFill/>
          <a:ln w="38100">
            <a:solidFill>
              <a:srgbClr val="FF9900"/>
            </a:solidFill>
            <a:round/>
            <a:headEnd type="none" w="lg" len="lg"/>
            <a:tailEnd/>
          </a:ln>
          <a:effectLst/>
        </p:spPr>
        <p:txBody>
          <a:bodyPr wrap="none" lIns="90000" tIns="46800" rIns="90000" bIns="46800" anchor="ctr"/>
          <a:lstStyle/>
          <a:p>
            <a:endParaRPr lang="zh-CN" altLang="en-US"/>
          </a:p>
        </p:txBody>
      </p:sp>
      <p:sp>
        <p:nvSpPr>
          <p:cNvPr id="1134633" name="Line 41"/>
          <p:cNvSpPr>
            <a:spLocks noChangeShapeType="1"/>
          </p:cNvSpPr>
          <p:nvPr/>
        </p:nvSpPr>
        <p:spPr bwMode="auto">
          <a:xfrm flipV="1">
            <a:off x="2818107" y="3071191"/>
            <a:ext cx="0" cy="2038350"/>
          </a:xfrm>
          <a:prstGeom prst="line">
            <a:avLst/>
          </a:prstGeom>
          <a:noFill/>
          <a:ln w="38100">
            <a:solidFill>
              <a:srgbClr val="FF9900"/>
            </a:solidFill>
            <a:round/>
            <a:headEnd type="none" w="lg" len="lg"/>
            <a:tailEnd type="stealth" w="lg" len="lg"/>
          </a:ln>
          <a:effectLst/>
        </p:spPr>
        <p:txBody>
          <a:bodyPr wrap="none" lIns="90000" tIns="46800" rIns="90000" bIns="46800" anchor="ctr"/>
          <a:lstStyle/>
          <a:p>
            <a:endParaRPr lang="zh-CN" altLang="en-US"/>
          </a:p>
        </p:txBody>
      </p:sp>
      <p:sp>
        <p:nvSpPr>
          <p:cNvPr id="1134634" name="Line 42"/>
          <p:cNvSpPr>
            <a:spLocks noChangeShapeType="1"/>
          </p:cNvSpPr>
          <p:nvPr/>
        </p:nvSpPr>
        <p:spPr bwMode="auto">
          <a:xfrm flipV="1">
            <a:off x="8261645" y="3509341"/>
            <a:ext cx="0" cy="2438400"/>
          </a:xfrm>
          <a:prstGeom prst="line">
            <a:avLst/>
          </a:prstGeom>
          <a:noFill/>
          <a:ln w="38100">
            <a:solidFill>
              <a:srgbClr val="FF9900"/>
            </a:solidFill>
            <a:round/>
            <a:headEnd type="none" w="lg" len="lg"/>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p>
        </p:txBody>
      </p:sp>
      <p:sp>
        <p:nvSpPr>
          <p:cNvPr id="1134635" name="Text Box 43"/>
          <p:cNvSpPr txBox="1">
            <a:spLocks noChangeArrowheads="1"/>
          </p:cNvSpPr>
          <p:nvPr/>
        </p:nvSpPr>
        <p:spPr bwMode="auto">
          <a:xfrm>
            <a:off x="4326233" y="3140968"/>
            <a:ext cx="438238" cy="402291"/>
          </a:xfrm>
          <a:prstGeom prst="rect">
            <a:avLst/>
          </a:prstGeom>
          <a:solidFill>
            <a:srgbClr val="DDFAED"/>
          </a:solid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dirty="0">
                <a:solidFill>
                  <a:srgbClr val="C01920"/>
                </a:solidFill>
                <a:ea typeface="宋体" pitchFamily="2" charset="-122"/>
              </a:rPr>
              <a:t>20</a:t>
            </a:r>
          </a:p>
        </p:txBody>
      </p:sp>
      <p:grpSp>
        <p:nvGrpSpPr>
          <p:cNvPr id="1134636" name="Group 44"/>
          <p:cNvGrpSpPr>
            <a:grpSpLocks/>
          </p:cNvGrpSpPr>
          <p:nvPr/>
        </p:nvGrpSpPr>
        <p:grpSpPr bwMode="auto">
          <a:xfrm>
            <a:off x="5018382" y="2885454"/>
            <a:ext cx="3371850" cy="495300"/>
            <a:chOff x="1752" y="1548"/>
            <a:chExt cx="2124" cy="312"/>
          </a:xfrm>
          <a:effectLst>
            <a:outerShdw blurRad="50800" dist="38100" dir="2700000" algn="tl" rotWithShape="0">
              <a:prstClr val="black">
                <a:alpha val="40000"/>
              </a:prstClr>
            </a:outerShdw>
          </a:effectLst>
        </p:grpSpPr>
        <p:sp>
          <p:nvSpPr>
            <p:cNvPr id="1134637" name="Line 45"/>
            <p:cNvSpPr>
              <a:spLocks noChangeShapeType="1"/>
            </p:cNvSpPr>
            <p:nvPr/>
          </p:nvSpPr>
          <p:spPr bwMode="auto">
            <a:xfrm>
              <a:off x="3876" y="1548"/>
              <a:ext cx="0" cy="300"/>
            </a:xfrm>
            <a:prstGeom prst="line">
              <a:avLst/>
            </a:prstGeom>
            <a:noFill/>
            <a:ln w="38100">
              <a:solidFill>
                <a:schemeClr val="accent1">
                  <a:lumMod val="50000"/>
                </a:schemeClr>
              </a:solidFill>
              <a:round/>
              <a:headEnd type="none" w="lg" len="lg"/>
              <a:tailEnd/>
            </a:ln>
            <a:effectLst/>
          </p:spPr>
          <p:txBody>
            <a:bodyPr wrap="none" lIns="90000" tIns="46800" rIns="90000" bIns="46800" anchor="ctr"/>
            <a:lstStyle/>
            <a:p>
              <a:endParaRPr lang="zh-CN" altLang="en-US"/>
            </a:p>
          </p:txBody>
        </p:sp>
        <p:sp>
          <p:nvSpPr>
            <p:cNvPr id="1134638" name="Line 46"/>
            <p:cNvSpPr>
              <a:spLocks noChangeShapeType="1"/>
            </p:cNvSpPr>
            <p:nvPr/>
          </p:nvSpPr>
          <p:spPr bwMode="auto">
            <a:xfrm flipH="1">
              <a:off x="1752" y="1860"/>
              <a:ext cx="2124" cy="0"/>
            </a:xfrm>
            <a:prstGeom prst="line">
              <a:avLst/>
            </a:prstGeom>
            <a:noFill/>
            <a:ln w="38100">
              <a:solidFill>
                <a:schemeClr val="accent1">
                  <a:lumMod val="50000"/>
                </a:schemeClr>
              </a:solidFill>
              <a:round/>
              <a:headEnd type="none" w="lg" len="lg"/>
              <a:tailEnd type="stealth" w="lg" len="lg"/>
            </a:ln>
            <a:effectLst/>
          </p:spPr>
          <p:txBody>
            <a:bodyPr wrap="none" lIns="90000" tIns="46800" rIns="90000" bIns="46800" anchor="ctr"/>
            <a:lstStyle/>
            <a:p>
              <a:endParaRPr lang="zh-CN" altLang="en-US"/>
            </a:p>
          </p:txBody>
        </p:sp>
      </p:grpSp>
      <p:sp>
        <p:nvSpPr>
          <p:cNvPr id="1134639" name="Line 47"/>
          <p:cNvSpPr>
            <a:spLocks noChangeShapeType="1"/>
          </p:cNvSpPr>
          <p:nvPr/>
        </p:nvSpPr>
        <p:spPr bwMode="auto">
          <a:xfrm flipH="1">
            <a:off x="5027908" y="3528391"/>
            <a:ext cx="3228975" cy="0"/>
          </a:xfrm>
          <a:prstGeom prst="line">
            <a:avLst/>
          </a:prstGeom>
          <a:noFill/>
          <a:ln w="38100">
            <a:solidFill>
              <a:srgbClr val="FF9900"/>
            </a:solidFill>
            <a:round/>
            <a:headEnd type="none" w="lg" len="lg"/>
            <a:tailEnd type="stealth" w="lg" len="lg"/>
          </a:ln>
          <a:effectLst>
            <a:outerShdw blurRad="50800" dist="38100" dir="2700000" algn="tl" rotWithShape="0">
              <a:prstClr val="black">
                <a:alpha val="40000"/>
              </a:prstClr>
            </a:outerShdw>
          </a:effectLst>
        </p:spPr>
        <p:txBody>
          <a:bodyPr wrap="none" lIns="90000" tIns="46800" rIns="90000" bIns="46800" anchor="ctr"/>
          <a:lstStyle/>
          <a:p>
            <a:endParaRPr lang="zh-CN" altLang="en-US"/>
          </a:p>
        </p:txBody>
      </p:sp>
      <p:sp>
        <p:nvSpPr>
          <p:cNvPr id="1134644" name="Rectangle 52"/>
          <p:cNvSpPr>
            <a:spLocks noChangeArrowheads="1"/>
          </p:cNvSpPr>
          <p:nvPr/>
        </p:nvSpPr>
        <p:spPr bwMode="auto">
          <a:xfrm>
            <a:off x="623392" y="832817"/>
            <a:ext cx="3959919" cy="523220"/>
          </a:xfrm>
          <a:prstGeom prst="rect">
            <a:avLst/>
          </a:prstGeom>
          <a:noFill/>
          <a:ln w="9525">
            <a:noFill/>
            <a:miter lim="800000"/>
            <a:headEnd/>
            <a:tailEnd/>
          </a:ln>
          <a:effectLst/>
        </p:spPr>
        <p:txBody>
          <a:bodyPr wrap="square">
            <a:spAutoFit/>
          </a:bodyPr>
          <a:lstStyle/>
          <a:p>
            <a:pPr marL="457200" indent="-457200">
              <a:lnSpc>
                <a:spcPct val="100000"/>
              </a:lnSpc>
              <a:spcBef>
                <a:spcPct val="0"/>
              </a:spcBef>
            </a:pPr>
            <a:r>
              <a:rPr lang="en-US" altLang="zh-CN" sz="2800" b="1" dirty="0">
                <a:solidFill>
                  <a:srgbClr val="C01920"/>
                </a:solidFill>
                <a:latin typeface="+mn-lt"/>
                <a:ea typeface="楷体" pitchFamily="49" charset="-122"/>
              </a:rPr>
              <a:t>1</a:t>
            </a:r>
            <a:r>
              <a:rPr lang="zh-CN" altLang="en-US" sz="2800" b="1" dirty="0">
                <a:solidFill>
                  <a:srgbClr val="C01920"/>
                </a:solidFill>
                <a:latin typeface="+mn-lt"/>
                <a:ea typeface="楷体" pitchFamily="49" charset="-122"/>
              </a:rPr>
              <a:t>、变量值的存取方法</a:t>
            </a:r>
          </a:p>
        </p:txBody>
      </p:sp>
      <p:sp>
        <p:nvSpPr>
          <p:cNvPr id="53" name="Rectangle 4">
            <a:extLst>
              <a:ext uri="{FF2B5EF4-FFF2-40B4-BE49-F238E27FC236}">
                <a16:creationId xmlns:a16="http://schemas.microsoft.com/office/drawing/2014/main" id="{A9AE2266-2A54-4023-92A5-2D1000BBA5D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指针变量的定义和引用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4644"/>
                                        </p:tgtEl>
                                        <p:attrNameLst>
                                          <p:attrName>style.visibility</p:attrName>
                                        </p:attrNameLst>
                                      </p:cBhvr>
                                      <p:to>
                                        <p:strVal val="visible"/>
                                      </p:to>
                                    </p:set>
                                    <p:anim calcmode="lin" valueType="num">
                                      <p:cBhvr additive="base">
                                        <p:cTn id="7" dur="500" fill="hold"/>
                                        <p:tgtEl>
                                          <p:spTgt spid="1134644"/>
                                        </p:tgtEl>
                                        <p:attrNameLst>
                                          <p:attrName>ppt_x</p:attrName>
                                        </p:attrNameLst>
                                      </p:cBhvr>
                                      <p:tavLst>
                                        <p:tav tm="0">
                                          <p:val>
                                            <p:strVal val="0-#ppt_w/2"/>
                                          </p:val>
                                        </p:tav>
                                        <p:tav tm="100000">
                                          <p:val>
                                            <p:strVal val="#ppt_x"/>
                                          </p:val>
                                        </p:tav>
                                      </p:tavLst>
                                    </p:anim>
                                    <p:anim calcmode="lin" valueType="num">
                                      <p:cBhvr additive="base">
                                        <p:cTn id="8" dur="500" fill="hold"/>
                                        <p:tgtEl>
                                          <p:spTgt spid="113464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34594">
                                            <p:txEl>
                                              <p:pRg st="0" end="0"/>
                                            </p:txEl>
                                          </p:spTgt>
                                        </p:tgtEl>
                                        <p:attrNameLst>
                                          <p:attrName>style.visibility</p:attrName>
                                        </p:attrNameLst>
                                      </p:cBhvr>
                                      <p:to>
                                        <p:strVal val="visible"/>
                                      </p:to>
                                    </p:set>
                                    <p:anim calcmode="lin" valueType="num">
                                      <p:cBhvr additive="base">
                                        <p:cTn id="13" dur="500" fill="hold"/>
                                        <p:tgtEl>
                                          <p:spTgt spid="1134594">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3459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34594">
                                            <p:txEl>
                                              <p:pRg st="1" end="1"/>
                                            </p:txEl>
                                          </p:spTgt>
                                        </p:tgtEl>
                                        <p:attrNameLst>
                                          <p:attrName>style.visibility</p:attrName>
                                        </p:attrNameLst>
                                      </p:cBhvr>
                                      <p:to>
                                        <p:strVal val="visible"/>
                                      </p:to>
                                    </p:set>
                                    <p:anim calcmode="lin" valueType="num">
                                      <p:cBhvr additive="base">
                                        <p:cTn id="19" dur="500" fill="hold"/>
                                        <p:tgtEl>
                                          <p:spTgt spid="1134594">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3459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1134596"/>
                                        </p:tgtEl>
                                        <p:attrNameLst>
                                          <p:attrName>style.visibility</p:attrName>
                                        </p:attrNameLst>
                                      </p:cBhvr>
                                      <p:to>
                                        <p:strVal val="visible"/>
                                      </p:to>
                                    </p:set>
                                    <p:animEffect transition="in" filter="box(out)">
                                      <p:cBhvr>
                                        <p:cTn id="25" dur="500"/>
                                        <p:tgtEl>
                                          <p:spTgt spid="1134596"/>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1134595"/>
                                        </p:tgtEl>
                                        <p:attrNameLst>
                                          <p:attrName>style.visibility</p:attrName>
                                        </p:attrNameLst>
                                      </p:cBhvr>
                                      <p:to>
                                        <p:strVal val="visible"/>
                                      </p:to>
                                    </p:set>
                                    <p:animEffect transition="in" filter="box(out)">
                                      <p:cBhvr>
                                        <p:cTn id="30" dur="500"/>
                                        <p:tgtEl>
                                          <p:spTgt spid="1134595"/>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17" presetClass="entr" presetSubtype="2" fill="hold" nodeType="clickEffect">
                                  <p:stCondLst>
                                    <p:cond delay="0"/>
                                  </p:stCondLst>
                                  <p:childTnLst>
                                    <p:set>
                                      <p:cBhvr>
                                        <p:cTn id="34" dur="1" fill="hold">
                                          <p:stCondLst>
                                            <p:cond delay="0"/>
                                          </p:stCondLst>
                                        </p:cTn>
                                        <p:tgtEl>
                                          <p:spTgt spid="1134636"/>
                                        </p:tgtEl>
                                        <p:attrNameLst>
                                          <p:attrName>style.visibility</p:attrName>
                                        </p:attrNameLst>
                                      </p:cBhvr>
                                      <p:to>
                                        <p:strVal val="visible"/>
                                      </p:to>
                                    </p:set>
                                    <p:anim calcmode="lin" valueType="num">
                                      <p:cBhvr>
                                        <p:cTn id="35" dur="500" fill="hold"/>
                                        <p:tgtEl>
                                          <p:spTgt spid="1134636"/>
                                        </p:tgtEl>
                                        <p:attrNameLst>
                                          <p:attrName>ppt_x</p:attrName>
                                        </p:attrNameLst>
                                      </p:cBhvr>
                                      <p:tavLst>
                                        <p:tav tm="0">
                                          <p:val>
                                            <p:strVal val="#ppt_x+#ppt_w/2"/>
                                          </p:val>
                                        </p:tav>
                                        <p:tav tm="100000">
                                          <p:val>
                                            <p:strVal val="#ppt_x"/>
                                          </p:val>
                                        </p:tav>
                                      </p:tavLst>
                                    </p:anim>
                                    <p:anim calcmode="lin" valueType="num">
                                      <p:cBhvr>
                                        <p:cTn id="36" dur="500" fill="hold"/>
                                        <p:tgtEl>
                                          <p:spTgt spid="1134636"/>
                                        </p:tgtEl>
                                        <p:attrNameLst>
                                          <p:attrName>ppt_y</p:attrName>
                                        </p:attrNameLst>
                                      </p:cBhvr>
                                      <p:tavLst>
                                        <p:tav tm="0">
                                          <p:val>
                                            <p:strVal val="#ppt_y"/>
                                          </p:val>
                                        </p:tav>
                                        <p:tav tm="100000">
                                          <p:val>
                                            <p:strVal val="#ppt_y"/>
                                          </p:val>
                                        </p:tav>
                                      </p:tavLst>
                                    </p:anim>
                                    <p:anim calcmode="lin" valueType="num">
                                      <p:cBhvr>
                                        <p:cTn id="37" dur="500" fill="hold"/>
                                        <p:tgtEl>
                                          <p:spTgt spid="1134636"/>
                                        </p:tgtEl>
                                        <p:attrNameLst>
                                          <p:attrName>ppt_w</p:attrName>
                                        </p:attrNameLst>
                                      </p:cBhvr>
                                      <p:tavLst>
                                        <p:tav tm="0">
                                          <p:val>
                                            <p:fltVal val="0"/>
                                          </p:val>
                                        </p:tav>
                                        <p:tav tm="100000">
                                          <p:val>
                                            <p:strVal val="#ppt_w"/>
                                          </p:val>
                                        </p:tav>
                                      </p:tavLst>
                                    </p:anim>
                                    <p:anim calcmode="lin" valueType="num">
                                      <p:cBhvr>
                                        <p:cTn id="38" dur="500" fill="hold"/>
                                        <p:tgtEl>
                                          <p:spTgt spid="11346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9" fill="hold">
                            <p:stCondLst>
                              <p:cond delay="500"/>
                            </p:stCondLst>
                            <p:childTnLst>
                              <p:par>
                                <p:cTn id="40" presetID="1" presetClass="entr" presetSubtype="0" fill="hold" grpId="0" nodeType="afterEffect">
                                  <p:stCondLst>
                                    <p:cond delay="0"/>
                                  </p:stCondLst>
                                  <p:childTnLst>
                                    <p:set>
                                      <p:cBhvr>
                                        <p:cTn id="41" dur="1" fill="hold">
                                          <p:stCondLst>
                                            <p:cond delay="499"/>
                                          </p:stCondLst>
                                        </p:cTn>
                                        <p:tgtEl>
                                          <p:spTgt spid="1134629"/>
                                        </p:tgtEl>
                                        <p:attrNameLst>
                                          <p:attrName>style.visibility</p:attrName>
                                        </p:attrNameLst>
                                      </p:cBhvr>
                                      <p:to>
                                        <p:strVal val="visible"/>
                                      </p:to>
                                    </p:set>
                                  </p:childTnLst>
                                  <p:subTnLst>
                                    <p:audio>
                                      <p:cMediaNode>
                                        <p:cTn display="0" masterRel="sameClick">
                                          <p:stCondLst>
                                            <p:cond evt="begin" delay="0">
                                              <p:tn val="40"/>
                                            </p:cond>
                                          </p:stCondLst>
                                          <p:endCondLst>
                                            <p:cond evt="onStopAudio" delay="0">
                                              <p:tgtEl>
                                                <p:sldTgt/>
                                              </p:tgtEl>
                                            </p:cond>
                                          </p:endCondLst>
                                        </p:cTn>
                                        <p:tgtEl>
                                          <p:sndTgt r:embed="rId4" name="laser.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134630"/>
                                        </p:tgtEl>
                                        <p:attrNameLst>
                                          <p:attrName>style.visibility</p:attrName>
                                        </p:attrNameLst>
                                      </p:cBhvr>
                                      <p:to>
                                        <p:strVal val="visible"/>
                                      </p:to>
                                    </p:set>
                                    <p:animEffect transition="in" filter="box(out)">
                                      <p:cBhvr>
                                        <p:cTn id="46" dur="500"/>
                                        <p:tgtEl>
                                          <p:spTgt spid="1134630"/>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134631"/>
                                        </p:tgtEl>
                                        <p:attrNameLst>
                                          <p:attrName>style.visibility</p:attrName>
                                        </p:attrNameLst>
                                      </p:cBhvr>
                                      <p:to>
                                        <p:strVal val="visible"/>
                                      </p:to>
                                    </p:set>
                                  </p:childTnLst>
                                </p:cTn>
                              </p:par>
                            </p:childTnLst>
                          </p:cTn>
                        </p:par>
                        <p:par>
                          <p:cTn id="51" fill="hold">
                            <p:stCondLst>
                              <p:cond delay="500"/>
                            </p:stCondLst>
                            <p:childTnLst>
                              <p:par>
                                <p:cTn id="52" presetID="17" presetClass="entr" presetSubtype="2" fill="hold" grpId="0" nodeType="afterEffect">
                                  <p:stCondLst>
                                    <p:cond delay="0"/>
                                  </p:stCondLst>
                                  <p:childTnLst>
                                    <p:set>
                                      <p:cBhvr>
                                        <p:cTn id="53" dur="1" fill="hold">
                                          <p:stCondLst>
                                            <p:cond delay="0"/>
                                          </p:stCondLst>
                                        </p:cTn>
                                        <p:tgtEl>
                                          <p:spTgt spid="1134632"/>
                                        </p:tgtEl>
                                        <p:attrNameLst>
                                          <p:attrName>style.visibility</p:attrName>
                                        </p:attrNameLst>
                                      </p:cBhvr>
                                      <p:to>
                                        <p:strVal val="visible"/>
                                      </p:to>
                                    </p:set>
                                    <p:anim calcmode="lin" valueType="num">
                                      <p:cBhvr>
                                        <p:cTn id="54" dur="500" fill="hold"/>
                                        <p:tgtEl>
                                          <p:spTgt spid="1134632"/>
                                        </p:tgtEl>
                                        <p:attrNameLst>
                                          <p:attrName>ppt_x</p:attrName>
                                        </p:attrNameLst>
                                      </p:cBhvr>
                                      <p:tavLst>
                                        <p:tav tm="0">
                                          <p:val>
                                            <p:strVal val="#ppt_x+#ppt_w/2"/>
                                          </p:val>
                                        </p:tav>
                                        <p:tav tm="100000">
                                          <p:val>
                                            <p:strVal val="#ppt_x"/>
                                          </p:val>
                                        </p:tav>
                                      </p:tavLst>
                                    </p:anim>
                                    <p:anim calcmode="lin" valueType="num">
                                      <p:cBhvr>
                                        <p:cTn id="55" dur="500" fill="hold"/>
                                        <p:tgtEl>
                                          <p:spTgt spid="1134632"/>
                                        </p:tgtEl>
                                        <p:attrNameLst>
                                          <p:attrName>ppt_y</p:attrName>
                                        </p:attrNameLst>
                                      </p:cBhvr>
                                      <p:tavLst>
                                        <p:tav tm="0">
                                          <p:val>
                                            <p:strVal val="#ppt_y"/>
                                          </p:val>
                                        </p:tav>
                                        <p:tav tm="100000">
                                          <p:val>
                                            <p:strVal val="#ppt_y"/>
                                          </p:val>
                                        </p:tav>
                                      </p:tavLst>
                                    </p:anim>
                                    <p:anim calcmode="lin" valueType="num">
                                      <p:cBhvr>
                                        <p:cTn id="56" dur="500" fill="hold"/>
                                        <p:tgtEl>
                                          <p:spTgt spid="1134632"/>
                                        </p:tgtEl>
                                        <p:attrNameLst>
                                          <p:attrName>ppt_w</p:attrName>
                                        </p:attrNameLst>
                                      </p:cBhvr>
                                      <p:tavLst>
                                        <p:tav tm="0">
                                          <p:val>
                                            <p:fltVal val="0"/>
                                          </p:val>
                                        </p:tav>
                                        <p:tav tm="100000">
                                          <p:val>
                                            <p:strVal val="#ppt_w"/>
                                          </p:val>
                                        </p:tav>
                                      </p:tavLst>
                                    </p:anim>
                                    <p:anim calcmode="lin" valueType="num">
                                      <p:cBhvr>
                                        <p:cTn id="57" dur="500" fill="hold"/>
                                        <p:tgtEl>
                                          <p:spTgt spid="1134632"/>
                                        </p:tgtEl>
                                        <p:attrNameLst>
                                          <p:attrName>ppt_h</p:attrName>
                                        </p:attrNameLst>
                                      </p:cBhvr>
                                      <p:tavLst>
                                        <p:tav tm="0">
                                          <p:val>
                                            <p:strVal val="#ppt_h"/>
                                          </p:val>
                                        </p:tav>
                                        <p:tav tm="100000">
                                          <p:val>
                                            <p:strVal val="#ppt_h"/>
                                          </p:val>
                                        </p:tav>
                                      </p:tavLst>
                                    </p:anim>
                                  </p:childTnLst>
                                </p:cTn>
                              </p:par>
                            </p:childTnLst>
                          </p:cTn>
                        </p:par>
                        <p:par>
                          <p:cTn id="58" fill="hold">
                            <p:stCondLst>
                              <p:cond delay="1000"/>
                            </p:stCondLst>
                            <p:childTnLst>
                              <p:par>
                                <p:cTn id="59" presetID="17" presetClass="entr" presetSubtype="4" fill="hold" grpId="0" nodeType="afterEffect">
                                  <p:stCondLst>
                                    <p:cond delay="0"/>
                                  </p:stCondLst>
                                  <p:childTnLst>
                                    <p:set>
                                      <p:cBhvr>
                                        <p:cTn id="60" dur="1" fill="hold">
                                          <p:stCondLst>
                                            <p:cond delay="0"/>
                                          </p:stCondLst>
                                        </p:cTn>
                                        <p:tgtEl>
                                          <p:spTgt spid="1134633"/>
                                        </p:tgtEl>
                                        <p:attrNameLst>
                                          <p:attrName>style.visibility</p:attrName>
                                        </p:attrNameLst>
                                      </p:cBhvr>
                                      <p:to>
                                        <p:strVal val="visible"/>
                                      </p:to>
                                    </p:set>
                                    <p:anim calcmode="lin" valueType="num">
                                      <p:cBhvr>
                                        <p:cTn id="61" dur="500" fill="hold"/>
                                        <p:tgtEl>
                                          <p:spTgt spid="1134633"/>
                                        </p:tgtEl>
                                        <p:attrNameLst>
                                          <p:attrName>ppt_x</p:attrName>
                                        </p:attrNameLst>
                                      </p:cBhvr>
                                      <p:tavLst>
                                        <p:tav tm="0">
                                          <p:val>
                                            <p:strVal val="#ppt_x"/>
                                          </p:val>
                                        </p:tav>
                                        <p:tav tm="100000">
                                          <p:val>
                                            <p:strVal val="#ppt_x"/>
                                          </p:val>
                                        </p:tav>
                                      </p:tavLst>
                                    </p:anim>
                                    <p:anim calcmode="lin" valueType="num">
                                      <p:cBhvr>
                                        <p:cTn id="62" dur="500" fill="hold"/>
                                        <p:tgtEl>
                                          <p:spTgt spid="1134633"/>
                                        </p:tgtEl>
                                        <p:attrNameLst>
                                          <p:attrName>ppt_y</p:attrName>
                                        </p:attrNameLst>
                                      </p:cBhvr>
                                      <p:tavLst>
                                        <p:tav tm="0">
                                          <p:val>
                                            <p:strVal val="#ppt_y+#ppt_h/2"/>
                                          </p:val>
                                        </p:tav>
                                        <p:tav tm="100000">
                                          <p:val>
                                            <p:strVal val="#ppt_y"/>
                                          </p:val>
                                        </p:tav>
                                      </p:tavLst>
                                    </p:anim>
                                    <p:anim calcmode="lin" valueType="num">
                                      <p:cBhvr>
                                        <p:cTn id="63" dur="500" fill="hold"/>
                                        <p:tgtEl>
                                          <p:spTgt spid="1134633"/>
                                        </p:tgtEl>
                                        <p:attrNameLst>
                                          <p:attrName>ppt_w</p:attrName>
                                        </p:attrNameLst>
                                      </p:cBhvr>
                                      <p:tavLst>
                                        <p:tav tm="0">
                                          <p:val>
                                            <p:strVal val="#ppt_w"/>
                                          </p:val>
                                        </p:tav>
                                        <p:tav tm="100000">
                                          <p:val>
                                            <p:strVal val="#ppt_w"/>
                                          </p:val>
                                        </p:tav>
                                      </p:tavLst>
                                    </p:anim>
                                    <p:anim calcmode="lin" valueType="num">
                                      <p:cBhvr>
                                        <p:cTn id="64" dur="500" fill="hold"/>
                                        <p:tgtEl>
                                          <p:spTgt spid="1134633"/>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17" presetClass="entr" presetSubtype="4" fill="hold" grpId="0" nodeType="clickEffect">
                                  <p:stCondLst>
                                    <p:cond delay="0"/>
                                  </p:stCondLst>
                                  <p:childTnLst>
                                    <p:set>
                                      <p:cBhvr>
                                        <p:cTn id="68" dur="1" fill="hold">
                                          <p:stCondLst>
                                            <p:cond delay="0"/>
                                          </p:stCondLst>
                                        </p:cTn>
                                        <p:tgtEl>
                                          <p:spTgt spid="1134634"/>
                                        </p:tgtEl>
                                        <p:attrNameLst>
                                          <p:attrName>style.visibility</p:attrName>
                                        </p:attrNameLst>
                                      </p:cBhvr>
                                      <p:to>
                                        <p:strVal val="visible"/>
                                      </p:to>
                                    </p:set>
                                    <p:anim calcmode="lin" valueType="num">
                                      <p:cBhvr>
                                        <p:cTn id="69" dur="500" fill="hold"/>
                                        <p:tgtEl>
                                          <p:spTgt spid="1134634"/>
                                        </p:tgtEl>
                                        <p:attrNameLst>
                                          <p:attrName>ppt_x</p:attrName>
                                        </p:attrNameLst>
                                      </p:cBhvr>
                                      <p:tavLst>
                                        <p:tav tm="0">
                                          <p:val>
                                            <p:strVal val="#ppt_x"/>
                                          </p:val>
                                        </p:tav>
                                        <p:tav tm="100000">
                                          <p:val>
                                            <p:strVal val="#ppt_x"/>
                                          </p:val>
                                        </p:tav>
                                      </p:tavLst>
                                    </p:anim>
                                    <p:anim calcmode="lin" valueType="num">
                                      <p:cBhvr>
                                        <p:cTn id="70" dur="500" fill="hold"/>
                                        <p:tgtEl>
                                          <p:spTgt spid="1134634"/>
                                        </p:tgtEl>
                                        <p:attrNameLst>
                                          <p:attrName>ppt_y</p:attrName>
                                        </p:attrNameLst>
                                      </p:cBhvr>
                                      <p:tavLst>
                                        <p:tav tm="0">
                                          <p:val>
                                            <p:strVal val="#ppt_y+#ppt_h/2"/>
                                          </p:val>
                                        </p:tav>
                                        <p:tav tm="100000">
                                          <p:val>
                                            <p:strVal val="#ppt_y"/>
                                          </p:val>
                                        </p:tav>
                                      </p:tavLst>
                                    </p:anim>
                                    <p:anim calcmode="lin" valueType="num">
                                      <p:cBhvr>
                                        <p:cTn id="71" dur="500" fill="hold"/>
                                        <p:tgtEl>
                                          <p:spTgt spid="1134634"/>
                                        </p:tgtEl>
                                        <p:attrNameLst>
                                          <p:attrName>ppt_w</p:attrName>
                                        </p:attrNameLst>
                                      </p:cBhvr>
                                      <p:tavLst>
                                        <p:tav tm="0">
                                          <p:val>
                                            <p:strVal val="#ppt_w"/>
                                          </p:val>
                                        </p:tav>
                                        <p:tav tm="100000">
                                          <p:val>
                                            <p:strVal val="#ppt_w"/>
                                          </p:val>
                                        </p:tav>
                                      </p:tavLst>
                                    </p:anim>
                                    <p:anim calcmode="lin" valueType="num">
                                      <p:cBhvr>
                                        <p:cTn id="72" dur="500" fill="hold"/>
                                        <p:tgtEl>
                                          <p:spTgt spid="1134634"/>
                                        </p:tgtEl>
                                        <p:attrNameLst>
                                          <p:attrName>ppt_h</p:attrName>
                                        </p:attrNameLst>
                                      </p:cBhvr>
                                      <p:tavLst>
                                        <p:tav tm="0">
                                          <p:val>
                                            <p:fltVal val="0"/>
                                          </p:val>
                                        </p:tav>
                                        <p:tav tm="100000">
                                          <p:val>
                                            <p:strVal val="#ppt_h"/>
                                          </p:val>
                                        </p:tav>
                                      </p:tavLst>
                                    </p:anim>
                                  </p:childTnLst>
                                </p:cTn>
                              </p:par>
                            </p:childTnLst>
                          </p:cTn>
                        </p:par>
                        <p:par>
                          <p:cTn id="73" fill="hold">
                            <p:stCondLst>
                              <p:cond delay="500"/>
                            </p:stCondLst>
                            <p:childTnLst>
                              <p:par>
                                <p:cTn id="74" presetID="17" presetClass="entr" presetSubtype="2" fill="hold" grpId="0" nodeType="afterEffect">
                                  <p:stCondLst>
                                    <p:cond delay="0"/>
                                  </p:stCondLst>
                                  <p:childTnLst>
                                    <p:set>
                                      <p:cBhvr>
                                        <p:cTn id="75" dur="1" fill="hold">
                                          <p:stCondLst>
                                            <p:cond delay="0"/>
                                          </p:stCondLst>
                                        </p:cTn>
                                        <p:tgtEl>
                                          <p:spTgt spid="1134639"/>
                                        </p:tgtEl>
                                        <p:attrNameLst>
                                          <p:attrName>style.visibility</p:attrName>
                                        </p:attrNameLst>
                                      </p:cBhvr>
                                      <p:to>
                                        <p:strVal val="visible"/>
                                      </p:to>
                                    </p:set>
                                    <p:anim calcmode="lin" valueType="num">
                                      <p:cBhvr>
                                        <p:cTn id="76" dur="500" fill="hold"/>
                                        <p:tgtEl>
                                          <p:spTgt spid="1134639"/>
                                        </p:tgtEl>
                                        <p:attrNameLst>
                                          <p:attrName>ppt_x</p:attrName>
                                        </p:attrNameLst>
                                      </p:cBhvr>
                                      <p:tavLst>
                                        <p:tav tm="0">
                                          <p:val>
                                            <p:strVal val="#ppt_x+#ppt_w/2"/>
                                          </p:val>
                                        </p:tav>
                                        <p:tav tm="100000">
                                          <p:val>
                                            <p:strVal val="#ppt_x"/>
                                          </p:val>
                                        </p:tav>
                                      </p:tavLst>
                                    </p:anim>
                                    <p:anim calcmode="lin" valueType="num">
                                      <p:cBhvr>
                                        <p:cTn id="77" dur="500" fill="hold"/>
                                        <p:tgtEl>
                                          <p:spTgt spid="1134639"/>
                                        </p:tgtEl>
                                        <p:attrNameLst>
                                          <p:attrName>ppt_y</p:attrName>
                                        </p:attrNameLst>
                                      </p:cBhvr>
                                      <p:tavLst>
                                        <p:tav tm="0">
                                          <p:val>
                                            <p:strVal val="#ppt_y"/>
                                          </p:val>
                                        </p:tav>
                                        <p:tav tm="100000">
                                          <p:val>
                                            <p:strVal val="#ppt_y"/>
                                          </p:val>
                                        </p:tav>
                                      </p:tavLst>
                                    </p:anim>
                                    <p:anim calcmode="lin" valueType="num">
                                      <p:cBhvr>
                                        <p:cTn id="78" dur="500" fill="hold"/>
                                        <p:tgtEl>
                                          <p:spTgt spid="1134639"/>
                                        </p:tgtEl>
                                        <p:attrNameLst>
                                          <p:attrName>ppt_w</p:attrName>
                                        </p:attrNameLst>
                                      </p:cBhvr>
                                      <p:tavLst>
                                        <p:tav tm="0">
                                          <p:val>
                                            <p:fltVal val="0"/>
                                          </p:val>
                                        </p:tav>
                                        <p:tav tm="100000">
                                          <p:val>
                                            <p:strVal val="#ppt_w"/>
                                          </p:val>
                                        </p:tav>
                                      </p:tavLst>
                                    </p:anim>
                                    <p:anim calcmode="lin" valueType="num">
                                      <p:cBhvr>
                                        <p:cTn id="79" dur="500" fill="hold"/>
                                        <p:tgtEl>
                                          <p:spTgt spid="1134639"/>
                                        </p:tgtEl>
                                        <p:attrNameLst>
                                          <p:attrName>ppt_h</p:attrName>
                                        </p:attrNameLst>
                                      </p:cBhvr>
                                      <p:tavLst>
                                        <p:tav tm="0">
                                          <p:val>
                                            <p:strVal val="#ppt_h"/>
                                          </p:val>
                                        </p:tav>
                                        <p:tav tm="100000">
                                          <p:val>
                                            <p:strVal val="#ppt_h"/>
                                          </p:val>
                                        </p:tav>
                                      </p:tavLst>
                                    </p:anim>
                                  </p:childTnLst>
                                </p:cTn>
                              </p:par>
                            </p:childTnLst>
                          </p:cTn>
                        </p:par>
                        <p:par>
                          <p:cTn id="80" fill="hold">
                            <p:stCondLst>
                              <p:cond delay="1000"/>
                            </p:stCondLst>
                            <p:childTnLst>
                              <p:par>
                                <p:cTn id="81" presetID="1" presetClass="entr" presetSubtype="0" fill="hold" grpId="0" nodeType="afterEffect">
                                  <p:stCondLst>
                                    <p:cond delay="0"/>
                                  </p:stCondLst>
                                  <p:childTnLst>
                                    <p:set>
                                      <p:cBhvr>
                                        <p:cTn id="82" dur="1" fill="hold">
                                          <p:stCondLst>
                                            <p:cond delay="499"/>
                                          </p:stCondLst>
                                        </p:cTn>
                                        <p:tgtEl>
                                          <p:spTgt spid="1134635"/>
                                        </p:tgtEl>
                                        <p:attrNameLst>
                                          <p:attrName>style.visibility</p:attrName>
                                        </p:attrNameLst>
                                      </p:cBhvr>
                                      <p:to>
                                        <p:strVal val="visible"/>
                                      </p:to>
                                    </p:set>
                                  </p:childTnLst>
                                  <p:subTnLst>
                                    <p:audio>
                                      <p:cMediaNode>
                                        <p:cTn display="0" masterRel="sameClick">
                                          <p:stCondLst>
                                            <p:cond evt="begin" delay="0">
                                              <p:tn val="8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4594" grpId="0" build="p" bldLvl="5" autoUpdateAnimBg="0"/>
      <p:bldP spid="1134595" grpId="0" animBg="1" autoUpdateAnimBg="0"/>
      <p:bldP spid="1134629" grpId="0" animBg="1" autoUpdateAnimBg="0"/>
      <p:bldP spid="1134630" grpId="0" animBg="1" autoUpdateAnimBg="0"/>
      <p:bldP spid="1134631" grpId="0" animBg="1"/>
      <p:bldP spid="1134632" grpId="0" animBg="1"/>
      <p:bldP spid="1134633" grpId="0" animBg="1"/>
      <p:bldP spid="1134634" grpId="0" animBg="1"/>
      <p:bldP spid="1134635" grpId="0" animBg="1" autoUpdateAnimBg="0"/>
      <p:bldP spid="1134639" grpId="0" animBg="1"/>
      <p:bldP spid="11346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nvGrpSpPr>
        <p:grpSpPr>
          <a:xfrm>
            <a:off x="3289936" y="1916832"/>
            <a:ext cx="5531209" cy="5040314"/>
            <a:chOff x="2265005" y="1628775"/>
            <a:chExt cx="5531209" cy="5040314"/>
          </a:xfrm>
        </p:grpSpPr>
        <p:grpSp>
          <p:nvGrpSpPr>
            <p:cNvPr id="1136642" name="Group 2"/>
            <p:cNvGrpSpPr>
              <a:grpSpLocks/>
            </p:cNvGrpSpPr>
            <p:nvPr/>
          </p:nvGrpSpPr>
          <p:grpSpPr bwMode="auto">
            <a:xfrm>
              <a:off x="2268538" y="1628775"/>
              <a:ext cx="5527676" cy="5040314"/>
              <a:chOff x="1413" y="1010"/>
              <a:chExt cx="3482" cy="3175"/>
            </a:xfrm>
          </p:grpSpPr>
          <p:sp>
            <p:nvSpPr>
              <p:cNvPr id="1136643" name="AutoShape 3"/>
              <p:cNvSpPr>
                <a:spLocks noChangeArrowheads="1"/>
              </p:cNvSpPr>
              <p:nvPr/>
            </p:nvSpPr>
            <p:spPr bwMode="auto">
              <a:xfrm>
                <a:off x="3817" y="2779"/>
                <a:ext cx="1078" cy="354"/>
              </a:xfrm>
              <a:prstGeom prst="wedgeEllipseCallout">
                <a:avLst>
                  <a:gd name="adj1" fmla="val -69237"/>
                  <a:gd name="adj2" fmla="val -119482"/>
                </a:avLst>
              </a:prstGeom>
              <a:gradFill rotWithShape="1">
                <a:gsLst>
                  <a:gs pos="0">
                    <a:srgbClr val="CFCFD1"/>
                  </a:gs>
                  <a:gs pos="100000">
                    <a:schemeClr val="bg1"/>
                  </a:gs>
                </a:gsLst>
                <a:lin ang="5400000" scaled="1"/>
              </a:gradFill>
              <a:ln w="38100">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gn="ctr">
                  <a:lnSpc>
                    <a:spcPct val="100000"/>
                  </a:lnSpc>
                  <a:spcBef>
                    <a:spcPct val="0"/>
                  </a:spcBef>
                </a:pPr>
                <a:r>
                  <a:rPr lang="zh-CN" altLang="en-US" sz="2000">
                    <a:solidFill>
                      <a:srgbClr val="C00000"/>
                    </a:solidFill>
                    <a:latin typeface="+mn-lt"/>
                    <a:ea typeface="楷体" pitchFamily="49" charset="-122"/>
                  </a:rPr>
                  <a:t>指针变量</a:t>
                </a:r>
              </a:p>
            </p:txBody>
          </p:sp>
          <p:sp>
            <p:nvSpPr>
              <p:cNvPr id="1136644" name="Freeform 4"/>
              <p:cNvSpPr>
                <a:spLocks/>
              </p:cNvSpPr>
              <p:nvPr/>
            </p:nvSpPr>
            <p:spPr bwMode="auto">
              <a:xfrm>
                <a:off x="1952" y="3568"/>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36646" name="Rectangle 6"/>
              <p:cNvSpPr>
                <a:spLocks noChangeArrowheads="1"/>
              </p:cNvSpPr>
              <p:nvPr/>
            </p:nvSpPr>
            <p:spPr bwMode="auto">
              <a:xfrm>
                <a:off x="1952" y="1010"/>
                <a:ext cx="1211" cy="2449"/>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36647" name="Line 7"/>
              <p:cNvSpPr>
                <a:spLocks noChangeShapeType="1"/>
              </p:cNvSpPr>
              <p:nvPr/>
            </p:nvSpPr>
            <p:spPr bwMode="auto">
              <a:xfrm>
                <a:off x="1964" y="144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6648" name="Line 8"/>
              <p:cNvSpPr>
                <a:spLocks noChangeShapeType="1"/>
              </p:cNvSpPr>
              <p:nvPr/>
            </p:nvSpPr>
            <p:spPr bwMode="auto">
              <a:xfrm>
                <a:off x="1964" y="1704"/>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36649" name="Line 9"/>
              <p:cNvSpPr>
                <a:spLocks noChangeShapeType="1"/>
              </p:cNvSpPr>
              <p:nvPr/>
            </p:nvSpPr>
            <p:spPr bwMode="auto">
              <a:xfrm>
                <a:off x="1964" y="1937"/>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6650" name="Line 10"/>
              <p:cNvSpPr>
                <a:spLocks noChangeShapeType="1"/>
              </p:cNvSpPr>
              <p:nvPr/>
            </p:nvSpPr>
            <p:spPr bwMode="auto">
              <a:xfrm>
                <a:off x="1964" y="2192"/>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6651" name="Line 11"/>
              <p:cNvSpPr>
                <a:spLocks noChangeShapeType="1"/>
              </p:cNvSpPr>
              <p:nvPr/>
            </p:nvSpPr>
            <p:spPr bwMode="auto">
              <a:xfrm>
                <a:off x="1952" y="245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6652" name="Line 12"/>
              <p:cNvSpPr>
                <a:spLocks noChangeShapeType="1"/>
              </p:cNvSpPr>
              <p:nvPr/>
            </p:nvSpPr>
            <p:spPr bwMode="auto">
              <a:xfrm>
                <a:off x="1964" y="2960"/>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6653" name="Line 13"/>
              <p:cNvSpPr>
                <a:spLocks noChangeShapeType="1"/>
              </p:cNvSpPr>
              <p:nvPr/>
            </p:nvSpPr>
            <p:spPr bwMode="auto">
              <a:xfrm>
                <a:off x="1952" y="3231"/>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36654" name="Line 14"/>
              <p:cNvSpPr>
                <a:spLocks noChangeShapeType="1"/>
              </p:cNvSpPr>
              <p:nvPr/>
            </p:nvSpPr>
            <p:spPr bwMode="auto">
              <a:xfrm>
                <a:off x="3163" y="3231"/>
                <a:ext cx="0" cy="600"/>
              </a:xfrm>
              <a:prstGeom prst="line">
                <a:avLst/>
              </a:prstGeom>
              <a:noFill/>
              <a:ln w="9525">
                <a:solidFill>
                  <a:srgbClr val="000000"/>
                </a:solidFill>
                <a:round/>
                <a:headEnd/>
                <a:tailEnd/>
              </a:ln>
              <a:effectLst/>
            </p:spPr>
            <p:txBody>
              <a:bodyPr wrap="none" anchor="ctr"/>
              <a:lstStyle/>
              <a:p>
                <a:endParaRPr lang="zh-CN" altLang="en-US"/>
              </a:p>
            </p:txBody>
          </p:sp>
          <p:sp>
            <p:nvSpPr>
              <p:cNvPr id="1136655" name="Text Box 15"/>
              <p:cNvSpPr txBox="1">
                <a:spLocks noChangeArrowheads="1"/>
              </p:cNvSpPr>
              <p:nvPr/>
            </p:nvSpPr>
            <p:spPr bwMode="auto">
              <a:xfrm>
                <a:off x="2442" y="1067"/>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36657" name="Text Box 17"/>
              <p:cNvSpPr txBox="1">
                <a:spLocks noChangeArrowheads="1"/>
              </p:cNvSpPr>
              <p:nvPr/>
            </p:nvSpPr>
            <p:spPr bwMode="auto">
              <a:xfrm>
                <a:off x="1413" y="143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2000</a:t>
                </a:r>
              </a:p>
            </p:txBody>
          </p:sp>
          <p:sp>
            <p:nvSpPr>
              <p:cNvPr id="1136658" name="Text Box 18"/>
              <p:cNvSpPr txBox="1">
                <a:spLocks noChangeArrowheads="1"/>
              </p:cNvSpPr>
              <p:nvPr/>
            </p:nvSpPr>
            <p:spPr bwMode="auto">
              <a:xfrm>
                <a:off x="1413" y="243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2004</a:t>
                </a:r>
              </a:p>
            </p:txBody>
          </p:sp>
          <p:sp>
            <p:nvSpPr>
              <p:cNvPr id="1136659" name="Text Box 19"/>
              <p:cNvSpPr txBox="1">
                <a:spLocks noChangeArrowheads="1"/>
              </p:cNvSpPr>
              <p:nvPr/>
            </p:nvSpPr>
            <p:spPr bwMode="auto">
              <a:xfrm>
                <a:off x="1413" y="294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2006</a:t>
                </a:r>
              </a:p>
            </p:txBody>
          </p:sp>
          <p:sp>
            <p:nvSpPr>
              <p:cNvPr id="1136660" name="Text Box 20"/>
              <p:cNvSpPr txBox="1">
                <a:spLocks noChangeArrowheads="1"/>
              </p:cNvSpPr>
              <p:nvPr/>
            </p:nvSpPr>
            <p:spPr bwMode="auto">
              <a:xfrm>
                <a:off x="1413" y="270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2005</a:t>
                </a:r>
              </a:p>
            </p:txBody>
          </p:sp>
          <p:sp>
            <p:nvSpPr>
              <p:cNvPr id="1136661" name="Line 21"/>
              <p:cNvSpPr>
                <a:spLocks noChangeShapeType="1"/>
              </p:cNvSpPr>
              <p:nvPr/>
            </p:nvSpPr>
            <p:spPr bwMode="auto">
              <a:xfrm>
                <a:off x="1964" y="2714"/>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6662" name="Line 22"/>
              <p:cNvSpPr>
                <a:spLocks noChangeShapeType="1"/>
              </p:cNvSpPr>
              <p:nvPr/>
            </p:nvSpPr>
            <p:spPr bwMode="auto">
              <a:xfrm flipH="1">
                <a:off x="3153" y="1452"/>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6663" name="Text Box 23"/>
              <p:cNvSpPr txBox="1">
                <a:spLocks noChangeArrowheads="1"/>
              </p:cNvSpPr>
              <p:nvPr/>
            </p:nvSpPr>
            <p:spPr bwMode="auto">
              <a:xfrm>
                <a:off x="3335" y="1298"/>
                <a:ext cx="983" cy="291"/>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短整型变量</a:t>
                </a:r>
                <a:r>
                  <a:rPr lang="en-US" altLang="zh-CN" dirty="0" err="1">
                    <a:solidFill>
                      <a:schemeClr val="accent2">
                        <a:lumMod val="50000"/>
                      </a:schemeClr>
                    </a:solidFill>
                    <a:latin typeface="+mn-lt"/>
                    <a:ea typeface="楷体" pitchFamily="49" charset="-122"/>
                  </a:rPr>
                  <a:t>i</a:t>
                </a:r>
                <a:endParaRPr lang="en-US" altLang="zh-CN" sz="2000" dirty="0">
                  <a:solidFill>
                    <a:schemeClr val="accent2">
                      <a:lumMod val="50000"/>
                    </a:schemeClr>
                  </a:solidFill>
                  <a:latin typeface="+mn-lt"/>
                  <a:ea typeface="楷体" pitchFamily="49" charset="-122"/>
                </a:endParaRPr>
              </a:p>
            </p:txBody>
          </p:sp>
          <p:sp>
            <p:nvSpPr>
              <p:cNvPr id="1136664" name="Text Box 24"/>
              <p:cNvSpPr txBox="1">
                <a:spLocks noChangeArrowheads="1"/>
              </p:cNvSpPr>
              <p:nvPr/>
            </p:nvSpPr>
            <p:spPr bwMode="auto">
              <a:xfrm>
                <a:off x="2353" y="1562"/>
                <a:ext cx="308"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dirty="0">
                    <a:solidFill>
                      <a:srgbClr val="002060"/>
                    </a:solidFill>
                    <a:ea typeface="宋体" pitchFamily="2" charset="-122"/>
                  </a:rPr>
                  <a:t>10</a:t>
                </a:r>
              </a:p>
            </p:txBody>
          </p:sp>
          <p:sp>
            <p:nvSpPr>
              <p:cNvPr id="1136665" name="Line 25"/>
              <p:cNvSpPr>
                <a:spLocks noChangeShapeType="1"/>
              </p:cNvSpPr>
              <p:nvPr/>
            </p:nvSpPr>
            <p:spPr bwMode="auto">
              <a:xfrm flipH="1">
                <a:off x="3177" y="2448"/>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6666" name="Text Box 26"/>
              <p:cNvSpPr txBox="1">
                <a:spLocks noChangeArrowheads="1"/>
              </p:cNvSpPr>
              <p:nvPr/>
            </p:nvSpPr>
            <p:spPr bwMode="auto">
              <a:xfrm>
                <a:off x="3359" y="2294"/>
                <a:ext cx="1129" cy="291"/>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变量</a:t>
                </a:r>
                <a:r>
                  <a:rPr lang="en-US" altLang="zh-CN" sz="2000" dirty="0" err="1">
                    <a:solidFill>
                      <a:srgbClr val="C00000"/>
                    </a:solidFill>
                    <a:latin typeface="+mn-lt"/>
                    <a:ea typeface="楷体" pitchFamily="49" charset="-122"/>
                  </a:rPr>
                  <a:t>i</a:t>
                </a:r>
                <a:r>
                  <a:rPr lang="en-US" altLang="zh-CN" dirty="0" err="1">
                    <a:solidFill>
                      <a:srgbClr val="C00000"/>
                    </a:solidFill>
                    <a:latin typeface="+mn-lt"/>
                    <a:ea typeface="楷体" pitchFamily="49" charset="-122"/>
                  </a:rPr>
                  <a:t>_pointer</a:t>
                </a:r>
                <a:endParaRPr lang="en-US" altLang="zh-CN" sz="2000" dirty="0">
                  <a:solidFill>
                    <a:srgbClr val="C00000"/>
                  </a:solidFill>
                  <a:latin typeface="+mn-lt"/>
                  <a:ea typeface="楷体" pitchFamily="49" charset="-122"/>
                </a:endParaRPr>
              </a:p>
            </p:txBody>
          </p:sp>
          <p:sp>
            <p:nvSpPr>
              <p:cNvPr id="1136667" name="Text Box 27"/>
              <p:cNvSpPr txBox="1">
                <a:spLocks noChangeArrowheads="1"/>
              </p:cNvSpPr>
              <p:nvPr/>
            </p:nvSpPr>
            <p:spPr bwMode="auto">
              <a:xfrm>
                <a:off x="1413" y="168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2001</a:t>
                </a:r>
              </a:p>
            </p:txBody>
          </p:sp>
          <p:sp>
            <p:nvSpPr>
              <p:cNvPr id="1136668" name="Text Box 28"/>
              <p:cNvSpPr txBox="1">
                <a:spLocks noChangeArrowheads="1"/>
              </p:cNvSpPr>
              <p:nvPr/>
            </p:nvSpPr>
            <p:spPr bwMode="auto">
              <a:xfrm>
                <a:off x="1413" y="193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2002</a:t>
                </a:r>
              </a:p>
            </p:txBody>
          </p:sp>
          <p:sp>
            <p:nvSpPr>
              <p:cNvPr id="1136669" name="Text Box 29"/>
              <p:cNvSpPr txBox="1">
                <a:spLocks noChangeArrowheads="1"/>
              </p:cNvSpPr>
              <p:nvPr/>
            </p:nvSpPr>
            <p:spPr bwMode="auto">
              <a:xfrm>
                <a:off x="1413" y="218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2003</a:t>
                </a:r>
              </a:p>
            </p:txBody>
          </p:sp>
          <p:sp>
            <p:nvSpPr>
              <p:cNvPr id="1136670" name="Oval 30"/>
              <p:cNvSpPr>
                <a:spLocks noChangeArrowheads="1"/>
              </p:cNvSpPr>
              <p:nvPr/>
            </p:nvSpPr>
            <p:spPr bwMode="auto">
              <a:xfrm>
                <a:off x="1416" y="1435"/>
                <a:ext cx="420" cy="240"/>
              </a:xfrm>
              <a:prstGeom prst="ellipse">
                <a:avLst/>
              </a:prstGeom>
              <a:noFill/>
              <a:ln w="38100">
                <a:solidFill>
                  <a:srgbClr val="C00000"/>
                </a:solidFill>
                <a:round/>
                <a:headEnd type="none" w="lg" len="lg"/>
                <a:tailEnd/>
              </a:ln>
              <a:effectLst/>
            </p:spPr>
            <p:txBody>
              <a:bodyPr wrap="none" lIns="90000" tIns="46800" rIns="90000" bIns="46800" anchor="ctr"/>
              <a:lstStyle/>
              <a:p>
                <a:endParaRPr lang="zh-CN" altLang="en-US"/>
              </a:p>
            </p:txBody>
          </p:sp>
          <p:sp>
            <p:nvSpPr>
              <p:cNvPr id="1136671" name="Text Box 31"/>
              <p:cNvSpPr txBox="1">
                <a:spLocks noChangeArrowheads="1"/>
              </p:cNvSpPr>
              <p:nvPr/>
            </p:nvSpPr>
            <p:spPr bwMode="auto">
              <a:xfrm>
                <a:off x="2325" y="2586"/>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C00000"/>
                    </a:solidFill>
                    <a:ea typeface="宋体" pitchFamily="2" charset="-122"/>
                  </a:rPr>
                  <a:t>2000</a:t>
                </a:r>
              </a:p>
            </p:txBody>
          </p:sp>
          <p:sp>
            <p:nvSpPr>
              <p:cNvPr id="1136672" name="Line 32"/>
              <p:cNvSpPr>
                <a:spLocks noChangeShapeType="1"/>
              </p:cNvSpPr>
              <p:nvPr/>
            </p:nvSpPr>
            <p:spPr bwMode="auto">
              <a:xfrm flipH="1">
                <a:off x="3177" y="1944"/>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6673" name="Text Box 33"/>
              <p:cNvSpPr txBox="1">
                <a:spLocks noChangeArrowheads="1"/>
              </p:cNvSpPr>
              <p:nvPr/>
            </p:nvSpPr>
            <p:spPr bwMode="auto">
              <a:xfrm>
                <a:off x="3359" y="1790"/>
                <a:ext cx="1037" cy="291"/>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短整型变量</a:t>
                </a:r>
                <a:r>
                  <a:rPr lang="en-US" altLang="zh-CN" dirty="0">
                    <a:solidFill>
                      <a:schemeClr val="accent1">
                        <a:lumMod val="50000"/>
                      </a:schemeClr>
                    </a:solidFill>
                    <a:latin typeface="+mn-lt"/>
                    <a:ea typeface="楷体" pitchFamily="49" charset="-122"/>
                  </a:rPr>
                  <a:t>k</a:t>
                </a:r>
                <a:endParaRPr lang="en-US" altLang="zh-CN" sz="2000" dirty="0">
                  <a:solidFill>
                    <a:schemeClr val="accent1">
                      <a:lumMod val="50000"/>
                    </a:schemeClr>
                  </a:solidFill>
                  <a:latin typeface="+mn-lt"/>
                  <a:ea typeface="楷体" pitchFamily="49" charset="-122"/>
                </a:endParaRPr>
              </a:p>
            </p:txBody>
          </p:sp>
          <p:sp>
            <p:nvSpPr>
              <p:cNvPr id="1136645" name="Freeform 5"/>
              <p:cNvSpPr>
                <a:spLocks/>
              </p:cNvSpPr>
              <p:nvPr/>
            </p:nvSpPr>
            <p:spPr bwMode="auto">
              <a:xfrm>
                <a:off x="1945" y="3459"/>
                <a:ext cx="1212" cy="726"/>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36656" name="Text Box 16"/>
              <p:cNvSpPr txBox="1">
                <a:spLocks noChangeArrowheads="1"/>
              </p:cNvSpPr>
              <p:nvPr/>
            </p:nvSpPr>
            <p:spPr bwMode="auto">
              <a:xfrm>
                <a:off x="2441" y="3574"/>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dirty="0">
                    <a:effectLst/>
                    <a:ea typeface="宋体" pitchFamily="2" charset="-122"/>
                  </a:rPr>
                  <a:t>…...</a:t>
                </a:r>
              </a:p>
            </p:txBody>
          </p:sp>
        </p:grpSp>
        <p:sp>
          <p:nvSpPr>
            <p:cNvPr id="46" name="Line 12"/>
            <p:cNvSpPr>
              <a:spLocks noChangeShapeType="1"/>
            </p:cNvSpPr>
            <p:nvPr/>
          </p:nvSpPr>
          <p:spPr bwMode="auto">
            <a:xfrm>
              <a:off x="3131840" y="5097032"/>
              <a:ext cx="1922463"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47" name="Text Box 19"/>
            <p:cNvSpPr txBox="1">
              <a:spLocks noChangeArrowheads="1"/>
            </p:cNvSpPr>
            <p:nvPr/>
          </p:nvSpPr>
          <p:spPr bwMode="auto">
            <a:xfrm>
              <a:off x="2265005" y="5118740"/>
              <a:ext cx="697627" cy="40011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2007</a:t>
              </a:r>
            </a:p>
          </p:txBody>
        </p:sp>
      </p:grpSp>
      <p:sp>
        <p:nvSpPr>
          <p:cNvPr id="1136674" name="Line 34"/>
          <p:cNvSpPr>
            <a:spLocks noChangeShapeType="1"/>
          </p:cNvSpPr>
          <p:nvPr/>
        </p:nvSpPr>
        <p:spPr bwMode="auto">
          <a:xfrm>
            <a:off x="5049243" y="3193182"/>
            <a:ext cx="0" cy="495300"/>
          </a:xfrm>
          <a:prstGeom prst="line">
            <a:avLst/>
          </a:prstGeom>
          <a:noFill/>
          <a:ln w="38100">
            <a:solidFill>
              <a:schemeClr val="accent1">
                <a:lumMod val="50000"/>
              </a:schemeClr>
            </a:solidFill>
            <a:round/>
            <a:headEnd type="none" w="lg" len="lg"/>
            <a:tailEnd type="stealth" w="lg" len="lg"/>
          </a:ln>
          <a:effectLst/>
        </p:spPr>
        <p:txBody>
          <a:bodyPr wrap="none" lIns="90000" tIns="46800" rIns="90000" bIns="46800" anchor="ctr"/>
          <a:lstStyle/>
          <a:p>
            <a:endParaRPr lang="zh-CN" altLang="en-US"/>
          </a:p>
        </p:txBody>
      </p:sp>
      <p:sp>
        <p:nvSpPr>
          <p:cNvPr id="1136675" name="Oval 35"/>
          <p:cNvSpPr>
            <a:spLocks noChangeArrowheads="1"/>
          </p:cNvSpPr>
          <p:nvPr/>
        </p:nvSpPr>
        <p:spPr bwMode="auto">
          <a:xfrm>
            <a:off x="4739680" y="4431432"/>
            <a:ext cx="666750" cy="381000"/>
          </a:xfrm>
          <a:prstGeom prst="ellipse">
            <a:avLst/>
          </a:prstGeom>
          <a:noFill/>
          <a:ln w="38100">
            <a:solidFill>
              <a:srgbClr val="FF9900"/>
            </a:solidFill>
            <a:round/>
            <a:headEnd type="none" w="lg" len="lg"/>
            <a:tailEnd/>
          </a:ln>
          <a:effectLst/>
        </p:spPr>
        <p:txBody>
          <a:bodyPr wrap="none" lIns="90000" tIns="46800" rIns="90000" bIns="46800" anchor="ctr"/>
          <a:lstStyle/>
          <a:p>
            <a:endParaRPr lang="zh-CN" altLang="en-US"/>
          </a:p>
        </p:txBody>
      </p:sp>
      <p:sp>
        <p:nvSpPr>
          <p:cNvPr id="1136676" name="Line 36"/>
          <p:cNvSpPr>
            <a:spLocks noChangeShapeType="1"/>
          </p:cNvSpPr>
          <p:nvPr/>
        </p:nvSpPr>
        <p:spPr bwMode="auto">
          <a:xfrm flipH="1">
            <a:off x="3215680" y="4669557"/>
            <a:ext cx="1485900" cy="0"/>
          </a:xfrm>
          <a:prstGeom prst="line">
            <a:avLst/>
          </a:prstGeom>
          <a:noFill/>
          <a:ln w="38100">
            <a:solidFill>
              <a:srgbClr val="FF9900"/>
            </a:solidFill>
            <a:round/>
            <a:headEnd type="none" w="lg" len="lg"/>
            <a:tailEnd/>
          </a:ln>
          <a:effectLst/>
        </p:spPr>
        <p:txBody>
          <a:bodyPr wrap="none" lIns="90000" tIns="46800" rIns="90000" bIns="46800" anchor="ctr"/>
          <a:lstStyle/>
          <a:p>
            <a:endParaRPr lang="zh-CN" altLang="en-US"/>
          </a:p>
        </p:txBody>
      </p:sp>
      <p:sp>
        <p:nvSpPr>
          <p:cNvPr id="1136677" name="Line 37"/>
          <p:cNvSpPr>
            <a:spLocks noChangeShapeType="1"/>
          </p:cNvSpPr>
          <p:nvPr/>
        </p:nvSpPr>
        <p:spPr bwMode="auto">
          <a:xfrm flipV="1">
            <a:off x="3253780" y="2631207"/>
            <a:ext cx="0" cy="2038350"/>
          </a:xfrm>
          <a:prstGeom prst="line">
            <a:avLst/>
          </a:prstGeom>
          <a:noFill/>
          <a:ln w="38100">
            <a:solidFill>
              <a:srgbClr val="FF9900"/>
            </a:solidFill>
            <a:round/>
            <a:headEnd type="none" w="lg" len="lg"/>
            <a:tailEnd type="stealth" w="lg" len="lg"/>
          </a:ln>
          <a:effectLst/>
        </p:spPr>
        <p:txBody>
          <a:bodyPr wrap="none" lIns="90000" tIns="46800" rIns="90000" bIns="46800" anchor="ctr"/>
          <a:lstStyle/>
          <a:p>
            <a:endParaRPr lang="zh-CN" altLang="en-US"/>
          </a:p>
        </p:txBody>
      </p:sp>
      <p:sp>
        <p:nvSpPr>
          <p:cNvPr id="1136678" name="Oval 38"/>
          <p:cNvSpPr>
            <a:spLocks noChangeArrowheads="1"/>
          </p:cNvSpPr>
          <p:nvPr/>
        </p:nvSpPr>
        <p:spPr bwMode="auto">
          <a:xfrm>
            <a:off x="4717455" y="2823295"/>
            <a:ext cx="666750" cy="381000"/>
          </a:xfrm>
          <a:prstGeom prst="ellipse">
            <a:avLst/>
          </a:prstGeom>
          <a:noFill/>
          <a:ln w="38100">
            <a:solidFill>
              <a:schemeClr val="accent1">
                <a:lumMod val="50000"/>
              </a:schemeClr>
            </a:solidFill>
            <a:round/>
            <a:headEnd type="none" w="lg" len="lg"/>
            <a:tailEnd/>
          </a:ln>
          <a:effectLst/>
        </p:spPr>
        <p:txBody>
          <a:bodyPr wrap="none" lIns="90000" tIns="46800" rIns="90000" bIns="46800" anchor="ctr"/>
          <a:lstStyle/>
          <a:p>
            <a:pPr algn="ctr">
              <a:lnSpc>
                <a:spcPct val="100000"/>
              </a:lnSpc>
              <a:spcBef>
                <a:spcPct val="0"/>
              </a:spcBef>
            </a:pPr>
            <a:endParaRPr lang="zh-CN" altLang="zh-CN" sz="2000" b="0">
              <a:solidFill>
                <a:srgbClr val="339933"/>
              </a:solidFill>
              <a:effectLst/>
              <a:ea typeface="宋体" pitchFamily="2" charset="-122"/>
            </a:endParaRPr>
          </a:p>
        </p:txBody>
      </p:sp>
      <p:sp>
        <p:nvSpPr>
          <p:cNvPr id="1136679" name="Text Box 39"/>
          <p:cNvSpPr txBox="1">
            <a:spLocks noChangeArrowheads="1"/>
          </p:cNvSpPr>
          <p:nvPr/>
        </p:nvSpPr>
        <p:spPr bwMode="auto">
          <a:xfrm>
            <a:off x="4775901" y="3551809"/>
            <a:ext cx="489534" cy="463846"/>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dirty="0">
                <a:solidFill>
                  <a:schemeClr val="accent1">
                    <a:lumMod val="50000"/>
                  </a:schemeClr>
                </a:solidFill>
                <a:ea typeface="宋体" pitchFamily="2" charset="-122"/>
              </a:rPr>
              <a:t>10</a:t>
            </a:r>
          </a:p>
        </p:txBody>
      </p:sp>
      <p:sp>
        <p:nvSpPr>
          <p:cNvPr id="1136680" name="Text Box 40"/>
          <p:cNvSpPr txBox="1">
            <a:spLocks noChangeArrowheads="1"/>
          </p:cNvSpPr>
          <p:nvPr/>
        </p:nvSpPr>
        <p:spPr bwMode="auto">
          <a:xfrm>
            <a:off x="714837" y="908720"/>
            <a:ext cx="6405562" cy="860425"/>
          </a:xfrm>
          <a:prstGeom prst="rect">
            <a:avLst/>
          </a:prstGeom>
          <a:gradFill rotWithShape="1">
            <a:gsLst>
              <a:gs pos="0">
                <a:srgbClr val="CFCFD1"/>
              </a:gs>
              <a:gs pos="100000">
                <a:srgbClr val="FFFFFF"/>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zh-CN" altLang="en-US" dirty="0">
                <a:solidFill>
                  <a:srgbClr val="C00000"/>
                </a:solidFill>
                <a:ea typeface="隶书" pitchFamily="49" charset="-122"/>
              </a:rPr>
              <a:t>例</a:t>
            </a:r>
            <a:r>
              <a:rPr lang="zh-CN" altLang="en-US" dirty="0">
                <a:solidFill>
                  <a:srgbClr val="FF0000"/>
                </a:solidFill>
                <a:ea typeface="宋体" pitchFamily="2" charset="-122"/>
              </a:rPr>
              <a:t> </a:t>
            </a:r>
            <a:r>
              <a:rPr lang="zh-CN" altLang="en-US" dirty="0">
                <a:ea typeface="宋体" pitchFamily="2" charset="-122"/>
              </a:rPr>
              <a:t>     </a:t>
            </a:r>
            <a:r>
              <a:rPr lang="en-US" altLang="zh-CN" dirty="0">
                <a:ea typeface="宋体" pitchFamily="2" charset="-122"/>
              </a:rPr>
              <a:t>k = </a:t>
            </a:r>
            <a:r>
              <a:rPr lang="en-US" altLang="zh-CN" dirty="0" err="1">
                <a:ea typeface="宋体" pitchFamily="2" charset="-122"/>
              </a:rPr>
              <a:t>i</a:t>
            </a:r>
            <a:r>
              <a:rPr lang="en-US" altLang="zh-CN" dirty="0">
                <a:ea typeface="宋体" pitchFamily="2" charset="-122"/>
              </a:rPr>
              <a:t>;                       </a:t>
            </a:r>
            <a:endParaRPr lang="en-US" altLang="zh-CN" dirty="0">
              <a:solidFill>
                <a:srgbClr val="339933"/>
              </a:solidFill>
              <a:ea typeface="宋体" pitchFamily="2" charset="-122"/>
            </a:endParaRPr>
          </a:p>
          <a:p>
            <a:pPr>
              <a:lnSpc>
                <a:spcPct val="100000"/>
              </a:lnSpc>
              <a:spcBef>
                <a:spcPct val="0"/>
              </a:spcBef>
            </a:pPr>
            <a:r>
              <a:rPr lang="en-US" altLang="zh-CN" dirty="0">
                <a:ea typeface="宋体" pitchFamily="2" charset="-122"/>
              </a:rPr>
              <a:t>          k = *</a:t>
            </a:r>
            <a:r>
              <a:rPr lang="en-US" altLang="zh-CN" dirty="0" err="1">
                <a:ea typeface="宋体" pitchFamily="2" charset="-122"/>
              </a:rPr>
              <a:t>i_pointer</a:t>
            </a:r>
            <a:r>
              <a:rPr lang="en-US" altLang="zh-CN" dirty="0"/>
              <a:t>;       </a:t>
            </a:r>
            <a:endParaRPr lang="en-US" altLang="zh-CN" dirty="0">
              <a:solidFill>
                <a:srgbClr val="0000FF"/>
              </a:solidFill>
              <a:latin typeface="隶书" pitchFamily="49" charset="-122"/>
              <a:ea typeface="隶书" pitchFamily="49" charset="-122"/>
            </a:endParaRPr>
          </a:p>
        </p:txBody>
      </p:sp>
      <p:sp>
        <p:nvSpPr>
          <p:cNvPr id="1136684" name="Rectangle 44"/>
          <p:cNvSpPr>
            <a:spLocks noChangeArrowheads="1"/>
          </p:cNvSpPr>
          <p:nvPr/>
        </p:nvSpPr>
        <p:spPr bwMode="auto">
          <a:xfrm>
            <a:off x="5295510" y="961677"/>
            <a:ext cx="1717675"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dirty="0">
                <a:latin typeface="隶书" pitchFamily="49" charset="-122"/>
                <a:ea typeface="隶书" pitchFamily="49" charset="-122"/>
              </a:rPr>
              <a:t>--</a:t>
            </a:r>
            <a:r>
              <a:rPr lang="zh-CN" altLang="zh-CN" dirty="0">
                <a:solidFill>
                  <a:schemeClr val="accent1">
                    <a:lumMod val="50000"/>
                  </a:schemeClr>
                </a:solidFill>
                <a:latin typeface="隶书" pitchFamily="49" charset="-122"/>
                <a:ea typeface="隶书" pitchFamily="49" charset="-122"/>
              </a:rPr>
              <a:t>直接访问</a:t>
            </a:r>
            <a:endParaRPr lang="zh-CN" altLang="en-US" dirty="0">
              <a:solidFill>
                <a:schemeClr val="accent1">
                  <a:lumMod val="50000"/>
                </a:schemeClr>
              </a:solidFill>
              <a:latin typeface="隶书" pitchFamily="49" charset="-122"/>
              <a:ea typeface="隶书" pitchFamily="49" charset="-122"/>
            </a:endParaRPr>
          </a:p>
        </p:txBody>
      </p:sp>
      <p:sp>
        <p:nvSpPr>
          <p:cNvPr id="1136685" name="Rectangle 45"/>
          <p:cNvSpPr>
            <a:spLocks noChangeArrowheads="1"/>
          </p:cNvSpPr>
          <p:nvPr/>
        </p:nvSpPr>
        <p:spPr bwMode="auto">
          <a:xfrm>
            <a:off x="5325673" y="1379190"/>
            <a:ext cx="1717675"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dirty="0">
                <a:latin typeface="隶书" pitchFamily="49" charset="-122"/>
                <a:ea typeface="隶书" pitchFamily="49" charset="-122"/>
              </a:rPr>
              <a:t>--</a:t>
            </a:r>
            <a:r>
              <a:rPr lang="zh-CN" altLang="zh-CN" dirty="0">
                <a:solidFill>
                  <a:schemeClr val="accent2">
                    <a:lumMod val="50000"/>
                  </a:schemeClr>
                </a:solidFill>
                <a:latin typeface="隶书" pitchFamily="49" charset="-122"/>
                <a:ea typeface="隶书" pitchFamily="49" charset="-122"/>
              </a:rPr>
              <a:t>间接访问</a:t>
            </a:r>
            <a:endParaRPr lang="zh-CN" altLang="en-US" dirty="0">
              <a:solidFill>
                <a:schemeClr val="accent2">
                  <a:lumMod val="50000"/>
                </a:schemeClr>
              </a:solidFill>
              <a:latin typeface="隶书" pitchFamily="49" charset="-122"/>
              <a:ea typeface="隶书" pitchFamily="49" charset="-122"/>
            </a:endParaRPr>
          </a:p>
        </p:txBody>
      </p:sp>
      <p:sp>
        <p:nvSpPr>
          <p:cNvPr id="49" name="Rectangle 4">
            <a:extLst>
              <a:ext uri="{FF2B5EF4-FFF2-40B4-BE49-F238E27FC236}">
                <a16:creationId xmlns:a16="http://schemas.microsoft.com/office/drawing/2014/main" id="{8D478C01-E86A-4304-8560-A9EA59228CD4}"/>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指针变量的定义和引用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36680"/>
                                        </p:tgtEl>
                                        <p:attrNameLst>
                                          <p:attrName>style.visibility</p:attrName>
                                        </p:attrNameLst>
                                      </p:cBhvr>
                                      <p:to>
                                        <p:strVal val="visible"/>
                                      </p:to>
                                    </p:set>
                                    <p:animEffect transition="in" filter="box(out)">
                                      <p:cBhvr>
                                        <p:cTn id="7" dur="500"/>
                                        <p:tgtEl>
                                          <p:spTgt spid="113668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36684"/>
                                        </p:tgtEl>
                                        <p:attrNameLst>
                                          <p:attrName>style.visibility</p:attrName>
                                        </p:attrNameLst>
                                      </p:cBhvr>
                                      <p:to>
                                        <p:strVal val="visible"/>
                                      </p:to>
                                    </p:set>
                                    <p:animEffect transition="in" filter="box(out)">
                                      <p:cBhvr>
                                        <p:cTn id="12" dur="500"/>
                                        <p:tgtEl>
                                          <p:spTgt spid="1136684"/>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36685"/>
                                        </p:tgtEl>
                                        <p:attrNameLst>
                                          <p:attrName>style.visibility</p:attrName>
                                        </p:attrNameLst>
                                      </p:cBhvr>
                                      <p:to>
                                        <p:strVal val="visible"/>
                                      </p:to>
                                    </p:set>
                                    <p:animEffect transition="in" filter="box(out)">
                                      <p:cBhvr>
                                        <p:cTn id="17" dur="500"/>
                                        <p:tgtEl>
                                          <p:spTgt spid="1136685"/>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box(in)">
                                      <p:cBhvr>
                                        <p:cTn id="22" dur="500"/>
                                        <p:tgtEl>
                                          <p:spTgt spid="48"/>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36675"/>
                                        </p:tgtEl>
                                        <p:attrNameLst>
                                          <p:attrName>style.visibility</p:attrName>
                                        </p:attrNameLst>
                                      </p:cBhvr>
                                      <p:to>
                                        <p:strVal val="visible"/>
                                      </p:to>
                                    </p:set>
                                    <p:animEffect transition="in" filter="box(out)">
                                      <p:cBhvr>
                                        <p:cTn id="27" dur="500"/>
                                        <p:tgtEl>
                                          <p:spTgt spid="1136675"/>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7" presetClass="entr" presetSubtype="2" fill="hold" grpId="0" nodeType="clickEffect">
                                  <p:stCondLst>
                                    <p:cond delay="0"/>
                                  </p:stCondLst>
                                  <p:childTnLst>
                                    <p:set>
                                      <p:cBhvr>
                                        <p:cTn id="31" dur="1" fill="hold">
                                          <p:stCondLst>
                                            <p:cond delay="0"/>
                                          </p:stCondLst>
                                        </p:cTn>
                                        <p:tgtEl>
                                          <p:spTgt spid="1136676"/>
                                        </p:tgtEl>
                                        <p:attrNameLst>
                                          <p:attrName>style.visibility</p:attrName>
                                        </p:attrNameLst>
                                      </p:cBhvr>
                                      <p:to>
                                        <p:strVal val="visible"/>
                                      </p:to>
                                    </p:set>
                                    <p:anim calcmode="lin" valueType="num">
                                      <p:cBhvr>
                                        <p:cTn id="32" dur="500" fill="hold"/>
                                        <p:tgtEl>
                                          <p:spTgt spid="1136676"/>
                                        </p:tgtEl>
                                        <p:attrNameLst>
                                          <p:attrName>ppt_x</p:attrName>
                                        </p:attrNameLst>
                                      </p:cBhvr>
                                      <p:tavLst>
                                        <p:tav tm="0">
                                          <p:val>
                                            <p:strVal val="#ppt_x+#ppt_w/2"/>
                                          </p:val>
                                        </p:tav>
                                        <p:tav tm="100000">
                                          <p:val>
                                            <p:strVal val="#ppt_x"/>
                                          </p:val>
                                        </p:tav>
                                      </p:tavLst>
                                    </p:anim>
                                    <p:anim calcmode="lin" valueType="num">
                                      <p:cBhvr>
                                        <p:cTn id="33" dur="500" fill="hold"/>
                                        <p:tgtEl>
                                          <p:spTgt spid="1136676"/>
                                        </p:tgtEl>
                                        <p:attrNameLst>
                                          <p:attrName>ppt_y</p:attrName>
                                        </p:attrNameLst>
                                      </p:cBhvr>
                                      <p:tavLst>
                                        <p:tav tm="0">
                                          <p:val>
                                            <p:strVal val="#ppt_y"/>
                                          </p:val>
                                        </p:tav>
                                        <p:tav tm="100000">
                                          <p:val>
                                            <p:strVal val="#ppt_y"/>
                                          </p:val>
                                        </p:tav>
                                      </p:tavLst>
                                    </p:anim>
                                    <p:anim calcmode="lin" valueType="num">
                                      <p:cBhvr>
                                        <p:cTn id="34" dur="500" fill="hold"/>
                                        <p:tgtEl>
                                          <p:spTgt spid="1136676"/>
                                        </p:tgtEl>
                                        <p:attrNameLst>
                                          <p:attrName>ppt_w</p:attrName>
                                        </p:attrNameLst>
                                      </p:cBhvr>
                                      <p:tavLst>
                                        <p:tav tm="0">
                                          <p:val>
                                            <p:fltVal val="0"/>
                                          </p:val>
                                        </p:tav>
                                        <p:tav tm="100000">
                                          <p:val>
                                            <p:strVal val="#ppt_w"/>
                                          </p:val>
                                        </p:tav>
                                      </p:tavLst>
                                    </p:anim>
                                    <p:anim calcmode="lin" valueType="num">
                                      <p:cBhvr>
                                        <p:cTn id="35" dur="500" fill="hold"/>
                                        <p:tgtEl>
                                          <p:spTgt spid="11366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6" fill="hold">
                            <p:stCondLst>
                              <p:cond delay="500"/>
                            </p:stCondLst>
                            <p:childTnLst>
                              <p:par>
                                <p:cTn id="37" presetID="17" presetClass="entr" presetSubtype="4" fill="hold" grpId="0" nodeType="afterEffect">
                                  <p:stCondLst>
                                    <p:cond delay="0"/>
                                  </p:stCondLst>
                                  <p:childTnLst>
                                    <p:set>
                                      <p:cBhvr>
                                        <p:cTn id="38" dur="1" fill="hold">
                                          <p:stCondLst>
                                            <p:cond delay="0"/>
                                          </p:stCondLst>
                                        </p:cTn>
                                        <p:tgtEl>
                                          <p:spTgt spid="1136677"/>
                                        </p:tgtEl>
                                        <p:attrNameLst>
                                          <p:attrName>style.visibility</p:attrName>
                                        </p:attrNameLst>
                                      </p:cBhvr>
                                      <p:to>
                                        <p:strVal val="visible"/>
                                      </p:to>
                                    </p:set>
                                    <p:anim calcmode="lin" valueType="num">
                                      <p:cBhvr>
                                        <p:cTn id="39" dur="500" fill="hold"/>
                                        <p:tgtEl>
                                          <p:spTgt spid="1136677"/>
                                        </p:tgtEl>
                                        <p:attrNameLst>
                                          <p:attrName>ppt_x</p:attrName>
                                        </p:attrNameLst>
                                      </p:cBhvr>
                                      <p:tavLst>
                                        <p:tav tm="0">
                                          <p:val>
                                            <p:strVal val="#ppt_x"/>
                                          </p:val>
                                        </p:tav>
                                        <p:tav tm="100000">
                                          <p:val>
                                            <p:strVal val="#ppt_x"/>
                                          </p:val>
                                        </p:tav>
                                      </p:tavLst>
                                    </p:anim>
                                    <p:anim calcmode="lin" valueType="num">
                                      <p:cBhvr>
                                        <p:cTn id="40" dur="500" fill="hold"/>
                                        <p:tgtEl>
                                          <p:spTgt spid="1136677"/>
                                        </p:tgtEl>
                                        <p:attrNameLst>
                                          <p:attrName>ppt_y</p:attrName>
                                        </p:attrNameLst>
                                      </p:cBhvr>
                                      <p:tavLst>
                                        <p:tav tm="0">
                                          <p:val>
                                            <p:strVal val="#ppt_y+#ppt_h/2"/>
                                          </p:val>
                                        </p:tav>
                                        <p:tav tm="100000">
                                          <p:val>
                                            <p:strVal val="#ppt_y"/>
                                          </p:val>
                                        </p:tav>
                                      </p:tavLst>
                                    </p:anim>
                                    <p:anim calcmode="lin" valueType="num">
                                      <p:cBhvr>
                                        <p:cTn id="41" dur="500" fill="hold"/>
                                        <p:tgtEl>
                                          <p:spTgt spid="1136677"/>
                                        </p:tgtEl>
                                        <p:attrNameLst>
                                          <p:attrName>ppt_w</p:attrName>
                                        </p:attrNameLst>
                                      </p:cBhvr>
                                      <p:tavLst>
                                        <p:tav tm="0">
                                          <p:val>
                                            <p:strVal val="#ppt_w"/>
                                          </p:val>
                                        </p:tav>
                                        <p:tav tm="100000">
                                          <p:val>
                                            <p:strVal val="#ppt_w"/>
                                          </p:val>
                                        </p:tav>
                                      </p:tavLst>
                                    </p:anim>
                                    <p:anim calcmode="lin" valueType="num">
                                      <p:cBhvr>
                                        <p:cTn id="42" dur="500" fill="hold"/>
                                        <p:tgtEl>
                                          <p:spTgt spid="113667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136678"/>
                                        </p:tgtEl>
                                        <p:attrNameLst>
                                          <p:attrName>style.visibility</p:attrName>
                                        </p:attrNameLst>
                                      </p:cBhvr>
                                      <p:to>
                                        <p:strVal val="visible"/>
                                      </p:to>
                                    </p:set>
                                    <p:animEffect transition="in" filter="box(out)">
                                      <p:cBhvr>
                                        <p:cTn id="47" dur="500"/>
                                        <p:tgtEl>
                                          <p:spTgt spid="1136678"/>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17" presetClass="entr" presetSubtype="1" fill="hold" grpId="0" nodeType="clickEffect">
                                  <p:stCondLst>
                                    <p:cond delay="0"/>
                                  </p:stCondLst>
                                  <p:childTnLst>
                                    <p:set>
                                      <p:cBhvr>
                                        <p:cTn id="51" dur="1" fill="hold">
                                          <p:stCondLst>
                                            <p:cond delay="0"/>
                                          </p:stCondLst>
                                        </p:cTn>
                                        <p:tgtEl>
                                          <p:spTgt spid="1136674"/>
                                        </p:tgtEl>
                                        <p:attrNameLst>
                                          <p:attrName>style.visibility</p:attrName>
                                        </p:attrNameLst>
                                      </p:cBhvr>
                                      <p:to>
                                        <p:strVal val="visible"/>
                                      </p:to>
                                    </p:set>
                                    <p:anim calcmode="lin" valueType="num">
                                      <p:cBhvr>
                                        <p:cTn id="52" dur="500" fill="hold"/>
                                        <p:tgtEl>
                                          <p:spTgt spid="1136674"/>
                                        </p:tgtEl>
                                        <p:attrNameLst>
                                          <p:attrName>ppt_x</p:attrName>
                                        </p:attrNameLst>
                                      </p:cBhvr>
                                      <p:tavLst>
                                        <p:tav tm="0">
                                          <p:val>
                                            <p:strVal val="#ppt_x"/>
                                          </p:val>
                                        </p:tav>
                                        <p:tav tm="100000">
                                          <p:val>
                                            <p:strVal val="#ppt_x"/>
                                          </p:val>
                                        </p:tav>
                                      </p:tavLst>
                                    </p:anim>
                                    <p:anim calcmode="lin" valueType="num">
                                      <p:cBhvr>
                                        <p:cTn id="53" dur="500" fill="hold"/>
                                        <p:tgtEl>
                                          <p:spTgt spid="1136674"/>
                                        </p:tgtEl>
                                        <p:attrNameLst>
                                          <p:attrName>ppt_y</p:attrName>
                                        </p:attrNameLst>
                                      </p:cBhvr>
                                      <p:tavLst>
                                        <p:tav tm="0">
                                          <p:val>
                                            <p:strVal val="#ppt_y-#ppt_h/2"/>
                                          </p:val>
                                        </p:tav>
                                        <p:tav tm="100000">
                                          <p:val>
                                            <p:strVal val="#ppt_y"/>
                                          </p:val>
                                        </p:tav>
                                      </p:tavLst>
                                    </p:anim>
                                    <p:anim calcmode="lin" valueType="num">
                                      <p:cBhvr>
                                        <p:cTn id="54" dur="500" fill="hold"/>
                                        <p:tgtEl>
                                          <p:spTgt spid="1136674"/>
                                        </p:tgtEl>
                                        <p:attrNameLst>
                                          <p:attrName>ppt_w</p:attrName>
                                        </p:attrNameLst>
                                      </p:cBhvr>
                                      <p:tavLst>
                                        <p:tav tm="0">
                                          <p:val>
                                            <p:strVal val="#ppt_w"/>
                                          </p:val>
                                        </p:tav>
                                        <p:tav tm="100000">
                                          <p:val>
                                            <p:strVal val="#ppt_w"/>
                                          </p:val>
                                        </p:tav>
                                      </p:tavLst>
                                    </p:anim>
                                    <p:anim calcmode="lin" valueType="num">
                                      <p:cBhvr>
                                        <p:cTn id="55" dur="500" fill="hold"/>
                                        <p:tgtEl>
                                          <p:spTgt spid="1136674"/>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6" fill="hold">
                            <p:stCondLst>
                              <p:cond delay="500"/>
                            </p:stCondLst>
                            <p:childTnLst>
                              <p:par>
                                <p:cTn id="57" presetID="4" presetClass="entr" presetSubtype="32" fill="hold" grpId="0" nodeType="afterEffect">
                                  <p:stCondLst>
                                    <p:cond delay="0"/>
                                  </p:stCondLst>
                                  <p:childTnLst>
                                    <p:set>
                                      <p:cBhvr>
                                        <p:cTn id="58" dur="1" fill="hold">
                                          <p:stCondLst>
                                            <p:cond delay="0"/>
                                          </p:stCondLst>
                                        </p:cTn>
                                        <p:tgtEl>
                                          <p:spTgt spid="1136679">
                                            <p:txEl>
                                              <p:pRg st="0" end="0"/>
                                            </p:txEl>
                                          </p:spTgt>
                                        </p:tgtEl>
                                        <p:attrNameLst>
                                          <p:attrName>style.visibility</p:attrName>
                                        </p:attrNameLst>
                                      </p:cBhvr>
                                      <p:to>
                                        <p:strVal val="visible"/>
                                      </p:to>
                                    </p:set>
                                    <p:animEffect transition="in" filter="box(out)">
                                      <p:cBhvr>
                                        <p:cTn id="59" dur="500"/>
                                        <p:tgtEl>
                                          <p:spTgt spid="1136679">
                                            <p:txEl>
                                              <p:pRg st="0" end="0"/>
                                            </p:txEl>
                                          </p:spTgt>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4" grpId="0" animBg="1"/>
      <p:bldP spid="1136675" grpId="0" animBg="1"/>
      <p:bldP spid="1136676" grpId="0" animBg="1"/>
      <p:bldP spid="1136677" grpId="0" animBg="1"/>
      <p:bldP spid="1136678" grpId="0" animBg="1" autoUpdateAnimBg="0"/>
      <p:bldP spid="1136679" grpId="0" build="p" autoUpdateAnimBg="0" advAuto="0"/>
      <p:bldP spid="1136680" grpId="0" animBg="1" autoUpdateAnimBg="0"/>
      <p:bldP spid="1136684" grpId="0"/>
      <p:bldP spid="1136685"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7669" name="Rectangle 5"/>
          <p:cNvSpPr>
            <a:spLocks noChangeArrowheads="1"/>
          </p:cNvSpPr>
          <p:nvPr/>
        </p:nvSpPr>
        <p:spPr bwMode="auto">
          <a:xfrm>
            <a:off x="623392" y="916186"/>
            <a:ext cx="6880566" cy="523220"/>
          </a:xfrm>
          <a:prstGeom prst="rect">
            <a:avLst/>
          </a:prstGeom>
          <a:noFill/>
          <a:ln w="9525">
            <a:noFill/>
            <a:miter lim="800000"/>
            <a:headEnd/>
            <a:tailEnd/>
          </a:ln>
          <a:effectLst/>
        </p:spPr>
        <p:txBody>
          <a:bodyPr wrap="square">
            <a:spAutoFit/>
          </a:bodyPr>
          <a:lstStyle/>
          <a:p>
            <a:pPr marL="457200" indent="-457200">
              <a:lnSpc>
                <a:spcPct val="100000"/>
              </a:lnSpc>
              <a:spcBef>
                <a:spcPct val="0"/>
              </a:spcBef>
            </a:pPr>
            <a:r>
              <a:rPr lang="en-US" altLang="zh-CN" sz="2800" b="1" dirty="0">
                <a:solidFill>
                  <a:srgbClr val="C00000"/>
                </a:solidFill>
                <a:latin typeface="+mn-lt"/>
                <a:ea typeface="楷体" pitchFamily="49" charset="-122"/>
              </a:rPr>
              <a:t>2</a:t>
            </a:r>
            <a:r>
              <a:rPr lang="zh-CN" altLang="en-US" sz="2800" b="1" dirty="0">
                <a:solidFill>
                  <a:srgbClr val="C00000"/>
                </a:solidFill>
                <a:latin typeface="+mn-lt"/>
                <a:ea typeface="楷体" pitchFamily="49" charset="-122"/>
              </a:rPr>
              <a:t>、指针变量与其所指向的变量之间的关系</a:t>
            </a:r>
          </a:p>
        </p:txBody>
      </p:sp>
      <p:sp>
        <p:nvSpPr>
          <p:cNvPr id="1137670" name="AutoShape 6"/>
          <p:cNvSpPr>
            <a:spLocks noChangeArrowheads="1"/>
          </p:cNvSpPr>
          <p:nvPr/>
        </p:nvSpPr>
        <p:spPr bwMode="auto">
          <a:xfrm>
            <a:off x="7015929" y="1757562"/>
            <a:ext cx="863600" cy="141287"/>
          </a:xfrm>
          <a:prstGeom prst="leftRightArrow">
            <a:avLst>
              <a:gd name="adj1" fmla="val 50000"/>
              <a:gd name="adj2" fmla="val 122248"/>
            </a:avLst>
          </a:prstGeom>
          <a:solidFill>
            <a:srgbClr val="FFFFFF"/>
          </a:solidFill>
          <a:ln w="9525">
            <a:solidFill>
              <a:srgbClr val="C00000"/>
            </a:solidFill>
            <a:miter lim="800000"/>
            <a:headEnd/>
            <a:tailEnd/>
          </a:ln>
          <a:effectLst>
            <a:outerShdw dist="35921" dir="2700000" algn="ctr" rotWithShape="0">
              <a:schemeClr val="bg2"/>
            </a:outerShdw>
          </a:effectLst>
          <a:scene3d>
            <a:camera prst="orthographicFront"/>
            <a:lightRig rig="threePt" dir="t"/>
          </a:scene3d>
          <a:sp3d>
            <a:bevelT w="114300" prst="hardEdge"/>
          </a:sp3d>
        </p:spPr>
        <p:txBody>
          <a:bodyPr wrap="none" anchor="ctr"/>
          <a:lstStyle/>
          <a:p>
            <a:endParaRPr lang="zh-CN" altLang="en-US"/>
          </a:p>
        </p:txBody>
      </p:sp>
      <p:sp>
        <p:nvSpPr>
          <p:cNvPr id="1137671" name="AutoShape 7"/>
          <p:cNvSpPr>
            <a:spLocks noChangeArrowheads="1"/>
          </p:cNvSpPr>
          <p:nvPr/>
        </p:nvSpPr>
        <p:spPr bwMode="auto">
          <a:xfrm>
            <a:off x="7009579" y="2125862"/>
            <a:ext cx="863600" cy="141287"/>
          </a:xfrm>
          <a:prstGeom prst="leftRightArrow">
            <a:avLst>
              <a:gd name="adj1" fmla="val 50000"/>
              <a:gd name="adj2" fmla="val 122248"/>
            </a:avLst>
          </a:prstGeom>
          <a:solidFill>
            <a:srgbClr val="FFFFFF"/>
          </a:solidFill>
          <a:ln w="9525">
            <a:solidFill>
              <a:srgbClr val="C00000"/>
            </a:solidFill>
            <a:miter lim="800000"/>
            <a:headEnd/>
            <a:tailEnd/>
          </a:ln>
          <a:effectLst>
            <a:outerShdw dist="35921" dir="2700000" algn="ctr" rotWithShape="0">
              <a:schemeClr val="bg2"/>
            </a:outerShdw>
          </a:effectLst>
          <a:scene3d>
            <a:camera prst="orthographicFront"/>
            <a:lightRig rig="threePt" dir="t"/>
          </a:scene3d>
          <a:sp3d>
            <a:bevelT w="114300" prst="hardEdge"/>
          </a:sp3d>
        </p:spPr>
        <p:txBody>
          <a:bodyPr wrap="none" anchor="ctr"/>
          <a:lstStyle/>
          <a:p>
            <a:endParaRPr lang="zh-CN" altLang="en-US"/>
          </a:p>
        </p:txBody>
      </p:sp>
      <p:sp>
        <p:nvSpPr>
          <p:cNvPr id="1137672" name="AutoShape 8"/>
          <p:cNvSpPr>
            <a:spLocks noChangeArrowheads="1"/>
          </p:cNvSpPr>
          <p:nvPr/>
        </p:nvSpPr>
        <p:spPr bwMode="auto">
          <a:xfrm>
            <a:off x="7031804" y="2460823"/>
            <a:ext cx="863600" cy="141288"/>
          </a:xfrm>
          <a:prstGeom prst="leftRightArrow">
            <a:avLst>
              <a:gd name="adj1" fmla="val 50000"/>
              <a:gd name="adj2" fmla="val 122247"/>
            </a:avLst>
          </a:prstGeom>
          <a:solidFill>
            <a:srgbClr val="FFFFFF"/>
          </a:solidFill>
          <a:ln w="9525">
            <a:solidFill>
              <a:srgbClr val="C00000"/>
            </a:solidFill>
            <a:miter lim="800000"/>
            <a:headEnd/>
            <a:tailEnd/>
          </a:ln>
          <a:effectLst>
            <a:outerShdw dist="35921" dir="2700000" algn="ctr" rotWithShape="0">
              <a:schemeClr val="bg2"/>
            </a:outerShdw>
          </a:effectLst>
          <a:scene3d>
            <a:camera prst="orthographicFront"/>
            <a:lightRig rig="threePt" dir="t"/>
          </a:scene3d>
          <a:sp3d>
            <a:bevelT w="114300" prst="hardEdge"/>
          </a:sp3d>
        </p:spPr>
        <p:txBody>
          <a:bodyPr wrap="none" anchor="ctr"/>
          <a:lstStyle/>
          <a:p>
            <a:endParaRPr lang="zh-CN" altLang="en-US"/>
          </a:p>
        </p:txBody>
      </p:sp>
      <p:grpSp>
        <p:nvGrpSpPr>
          <p:cNvPr id="1137673" name="Group 9"/>
          <p:cNvGrpSpPr>
            <a:grpSpLocks/>
          </p:cNvGrpSpPr>
          <p:nvPr/>
        </p:nvGrpSpPr>
        <p:grpSpPr bwMode="auto">
          <a:xfrm>
            <a:off x="2561629" y="1578273"/>
            <a:ext cx="2963863" cy="1281111"/>
            <a:chOff x="1131" y="753"/>
            <a:chExt cx="1867" cy="807"/>
          </a:xfrm>
        </p:grpSpPr>
        <p:sp>
          <p:nvSpPr>
            <p:cNvPr id="1137674" name="Rectangle 10"/>
            <p:cNvSpPr>
              <a:spLocks noChangeArrowheads="1"/>
            </p:cNvSpPr>
            <p:nvPr/>
          </p:nvSpPr>
          <p:spPr bwMode="auto">
            <a:xfrm>
              <a:off x="1196" y="1024"/>
              <a:ext cx="600" cy="267"/>
            </a:xfrm>
            <a:prstGeom prst="rect">
              <a:avLst/>
            </a:prstGeom>
            <a:gradFill rotWithShape="1">
              <a:gsLst>
                <a:gs pos="0">
                  <a:srgbClr val="DDFAED"/>
                </a:gs>
                <a:gs pos="100000">
                  <a:srgbClr val="FFFFFF"/>
                </a:gs>
              </a:gsLst>
              <a:lin ang="5400000" scaled="1"/>
            </a:gradFill>
            <a:ln w="28575">
              <a:solidFill>
                <a:srgbClr val="BEDFC4"/>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dirty="0">
                <a:solidFill>
                  <a:srgbClr val="C00000"/>
                </a:solidFill>
              </a:endParaRPr>
            </a:p>
          </p:txBody>
        </p:sp>
        <p:sp>
          <p:nvSpPr>
            <p:cNvPr id="1137675" name="Rectangle 11"/>
            <p:cNvSpPr>
              <a:spLocks noChangeArrowheads="1"/>
            </p:cNvSpPr>
            <p:nvPr/>
          </p:nvSpPr>
          <p:spPr bwMode="auto">
            <a:xfrm>
              <a:off x="2323" y="1024"/>
              <a:ext cx="600" cy="267"/>
            </a:xfrm>
            <a:prstGeom prst="rect">
              <a:avLst/>
            </a:prstGeom>
            <a:gradFill rotWithShape="1">
              <a:gsLst>
                <a:gs pos="0">
                  <a:srgbClr val="DDFAED"/>
                </a:gs>
                <a:gs pos="100000">
                  <a:srgbClr val="FFFFFF"/>
                </a:gs>
              </a:gsLst>
              <a:lin ang="5400000" scaled="1"/>
            </a:gradFill>
            <a:ln w="28575">
              <a:solidFill>
                <a:srgbClr val="BEDFC4"/>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pPr algn="ctr" eaLnBrk="0" hangingPunct="0">
                <a:lnSpc>
                  <a:spcPct val="100000"/>
                </a:lnSpc>
                <a:spcBef>
                  <a:spcPct val="0"/>
                </a:spcBef>
              </a:pPr>
              <a:r>
                <a:rPr lang="en-US" altLang="zh-CN" sz="2000">
                  <a:ea typeface="宋体" pitchFamily="2" charset="-122"/>
                </a:rPr>
                <a:t>3</a:t>
              </a:r>
            </a:p>
          </p:txBody>
        </p:sp>
        <p:sp>
          <p:nvSpPr>
            <p:cNvPr id="1137676" name="Text Box 12"/>
            <p:cNvSpPr txBox="1">
              <a:spLocks noChangeArrowheads="1"/>
            </p:cNvSpPr>
            <p:nvPr/>
          </p:nvSpPr>
          <p:spPr bwMode="auto">
            <a:xfrm>
              <a:off x="2352" y="790"/>
              <a:ext cx="486"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dirty="0">
                  <a:latin typeface="+mn-lt"/>
                  <a:ea typeface="楷体" pitchFamily="49" charset="-122"/>
                </a:rPr>
                <a:t>变量</a:t>
              </a:r>
              <a:r>
                <a:rPr lang="en-US" altLang="zh-CN" sz="2000" dirty="0" err="1">
                  <a:latin typeface="+mn-lt"/>
                  <a:ea typeface="楷体" pitchFamily="49" charset="-122"/>
                </a:rPr>
                <a:t>i</a:t>
              </a:r>
              <a:endParaRPr lang="en-US" altLang="zh-CN" sz="2000" dirty="0">
                <a:latin typeface="+mn-lt"/>
                <a:ea typeface="楷体" pitchFamily="49" charset="-122"/>
              </a:endParaRPr>
            </a:p>
          </p:txBody>
        </p:sp>
        <p:sp>
          <p:nvSpPr>
            <p:cNvPr id="1137677" name="Text Box 13"/>
            <p:cNvSpPr txBox="1">
              <a:spLocks noChangeArrowheads="1"/>
            </p:cNvSpPr>
            <p:nvPr/>
          </p:nvSpPr>
          <p:spPr bwMode="auto">
            <a:xfrm>
              <a:off x="1277" y="10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C00000"/>
                  </a:solidFill>
                  <a:ea typeface="宋体" pitchFamily="2" charset="-122"/>
                </a:rPr>
                <a:t>2000</a:t>
              </a:r>
            </a:p>
          </p:txBody>
        </p:sp>
        <p:sp>
          <p:nvSpPr>
            <p:cNvPr id="1137678" name="Text Box 14"/>
            <p:cNvSpPr txBox="1">
              <a:spLocks noChangeArrowheads="1"/>
            </p:cNvSpPr>
            <p:nvPr/>
          </p:nvSpPr>
          <p:spPr bwMode="auto">
            <a:xfrm>
              <a:off x="1131" y="753"/>
              <a:ext cx="698"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C00000"/>
                  </a:solidFill>
                  <a:ea typeface="宋体" pitchFamily="2" charset="-122"/>
                </a:rPr>
                <a:t>i_pointer</a:t>
              </a:r>
            </a:p>
          </p:txBody>
        </p:sp>
        <p:sp>
          <p:nvSpPr>
            <p:cNvPr id="1137679" name="Line 15"/>
            <p:cNvSpPr>
              <a:spLocks noChangeShapeType="1"/>
            </p:cNvSpPr>
            <p:nvPr/>
          </p:nvSpPr>
          <p:spPr bwMode="auto">
            <a:xfrm>
              <a:off x="1829" y="1155"/>
              <a:ext cx="466"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37680" name="Text Box 16"/>
            <p:cNvSpPr txBox="1">
              <a:spLocks noChangeArrowheads="1"/>
            </p:cNvSpPr>
            <p:nvPr/>
          </p:nvSpPr>
          <p:spPr bwMode="auto">
            <a:xfrm>
              <a:off x="2219" y="1308"/>
              <a:ext cx="779"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*i_pointer</a:t>
              </a:r>
            </a:p>
          </p:txBody>
        </p:sp>
      </p:grpSp>
      <p:sp>
        <p:nvSpPr>
          <p:cNvPr id="1137681" name="Text Box 17"/>
          <p:cNvSpPr txBox="1">
            <a:spLocks noChangeArrowheads="1"/>
          </p:cNvSpPr>
          <p:nvPr/>
        </p:nvSpPr>
        <p:spPr bwMode="auto">
          <a:xfrm>
            <a:off x="6547617" y="1611512"/>
            <a:ext cx="25400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i</a:t>
            </a:r>
          </a:p>
        </p:txBody>
      </p:sp>
      <p:sp>
        <p:nvSpPr>
          <p:cNvPr id="1137682" name="Text Box 18"/>
          <p:cNvSpPr txBox="1">
            <a:spLocks noChangeArrowheads="1"/>
          </p:cNvSpPr>
          <p:nvPr/>
        </p:nvSpPr>
        <p:spPr bwMode="auto">
          <a:xfrm>
            <a:off x="7901968" y="1609895"/>
            <a:ext cx="1236236" cy="40011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*i_pointer</a:t>
            </a:r>
          </a:p>
        </p:txBody>
      </p:sp>
      <p:sp>
        <p:nvSpPr>
          <p:cNvPr id="1137683" name="Text Box 19"/>
          <p:cNvSpPr txBox="1">
            <a:spLocks noChangeArrowheads="1"/>
          </p:cNvSpPr>
          <p:nvPr/>
        </p:nvSpPr>
        <p:spPr bwMode="auto">
          <a:xfrm>
            <a:off x="6436493" y="1979812"/>
            <a:ext cx="465137"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&amp;i</a:t>
            </a:r>
          </a:p>
        </p:txBody>
      </p:sp>
      <p:sp>
        <p:nvSpPr>
          <p:cNvPr id="1137684" name="Text Box 20"/>
          <p:cNvSpPr txBox="1">
            <a:spLocks noChangeArrowheads="1"/>
          </p:cNvSpPr>
          <p:nvPr/>
        </p:nvSpPr>
        <p:spPr bwMode="auto">
          <a:xfrm>
            <a:off x="8020063" y="1968670"/>
            <a:ext cx="1107996" cy="40011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i_pointer</a:t>
            </a:r>
          </a:p>
        </p:txBody>
      </p:sp>
      <p:sp>
        <p:nvSpPr>
          <p:cNvPr id="1137685" name="Text Box 21"/>
          <p:cNvSpPr txBox="1">
            <a:spLocks noChangeArrowheads="1"/>
          </p:cNvSpPr>
          <p:nvPr/>
        </p:nvSpPr>
        <p:spPr bwMode="auto">
          <a:xfrm>
            <a:off x="6385692" y="2314774"/>
            <a:ext cx="60960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i=3;</a:t>
            </a:r>
          </a:p>
        </p:txBody>
      </p:sp>
      <p:sp>
        <p:nvSpPr>
          <p:cNvPr id="1137686" name="Text Box 22"/>
          <p:cNvSpPr txBox="1">
            <a:spLocks noChangeArrowheads="1"/>
          </p:cNvSpPr>
          <p:nvPr/>
        </p:nvSpPr>
        <p:spPr bwMode="auto">
          <a:xfrm>
            <a:off x="7898722" y="2341732"/>
            <a:ext cx="1579278" cy="40011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*i_pointer=3;</a:t>
            </a:r>
          </a:p>
        </p:txBody>
      </p:sp>
      <p:sp>
        <p:nvSpPr>
          <p:cNvPr id="1137687" name="Rectangle 23"/>
          <p:cNvSpPr>
            <a:spLocks noChangeArrowheads="1"/>
          </p:cNvSpPr>
          <p:nvPr/>
        </p:nvSpPr>
        <p:spPr bwMode="auto">
          <a:xfrm>
            <a:off x="623392" y="3417499"/>
            <a:ext cx="6880566" cy="523220"/>
          </a:xfrm>
          <a:prstGeom prst="rect">
            <a:avLst/>
          </a:prstGeom>
          <a:noFill/>
          <a:ln w="9525">
            <a:noFill/>
            <a:miter lim="800000"/>
            <a:headEnd/>
            <a:tailEnd/>
          </a:ln>
          <a:effectLst/>
        </p:spPr>
        <p:txBody>
          <a:bodyPr wrap="square">
            <a:spAutoFit/>
          </a:bodyPr>
          <a:lstStyle/>
          <a:p>
            <a:pPr marL="457200" indent="-457200">
              <a:lnSpc>
                <a:spcPct val="100000"/>
              </a:lnSpc>
              <a:spcBef>
                <a:spcPct val="0"/>
              </a:spcBef>
            </a:pPr>
            <a:r>
              <a:rPr lang="en-US" altLang="zh-CN" sz="2800" b="1">
                <a:solidFill>
                  <a:srgbClr val="C00000"/>
                </a:solidFill>
                <a:latin typeface="+mn-lt"/>
                <a:ea typeface="楷体" pitchFamily="49" charset="-122"/>
              </a:rPr>
              <a:t>3</a:t>
            </a:r>
            <a:r>
              <a:rPr lang="zh-CN" altLang="en-US" sz="2800" b="1">
                <a:solidFill>
                  <a:srgbClr val="C00000"/>
                </a:solidFill>
                <a:latin typeface="+mn-lt"/>
                <a:ea typeface="楷体" pitchFamily="49" charset="-122"/>
              </a:rPr>
              <a:t>、指针变量的定义</a:t>
            </a:r>
          </a:p>
        </p:txBody>
      </p:sp>
      <p:sp>
        <p:nvSpPr>
          <p:cNvPr id="1137688" name="Rectangle 24"/>
          <p:cNvSpPr>
            <a:spLocks noChangeArrowheads="1"/>
          </p:cNvSpPr>
          <p:nvPr/>
        </p:nvSpPr>
        <p:spPr bwMode="auto">
          <a:xfrm>
            <a:off x="1053604" y="3962012"/>
            <a:ext cx="1771650" cy="457200"/>
          </a:xfrm>
          <a:prstGeom prst="rect">
            <a:avLst/>
          </a:prstGeom>
          <a:noFill/>
          <a:ln w="9525">
            <a:noFill/>
            <a:miter lim="800000"/>
            <a:headEnd/>
            <a:tailEnd/>
          </a:ln>
          <a:effectLst/>
        </p:spPr>
        <p:txBody>
          <a:bodyPr>
            <a:spAutoFit/>
          </a:bodyPr>
          <a:lstStyle/>
          <a:p>
            <a:pPr marL="457200" indent="-457200">
              <a:lnSpc>
                <a:spcPct val="100000"/>
              </a:lnSpc>
              <a:spcBef>
                <a:spcPct val="0"/>
              </a:spcBef>
            </a:pPr>
            <a:r>
              <a:rPr lang="zh-CN" altLang="en-US">
                <a:latin typeface="+mn-lt"/>
                <a:ea typeface="楷体" pitchFamily="49" charset="-122"/>
              </a:rPr>
              <a:t>一般形式：</a:t>
            </a:r>
          </a:p>
        </p:txBody>
      </p:sp>
      <p:sp>
        <p:nvSpPr>
          <p:cNvPr id="1137689" name="Text Box 25"/>
          <p:cNvSpPr txBox="1">
            <a:spLocks noChangeArrowheads="1"/>
          </p:cNvSpPr>
          <p:nvPr/>
        </p:nvSpPr>
        <p:spPr bwMode="auto">
          <a:xfrm>
            <a:off x="2631579" y="3992175"/>
            <a:ext cx="6654352" cy="474663"/>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en-US" altLang="zh-CN" sz="2000" dirty="0">
                <a:latin typeface="+mn-lt"/>
                <a:ea typeface="隶书" pitchFamily="49" charset="-122"/>
              </a:rPr>
              <a:t>[</a:t>
            </a:r>
            <a:r>
              <a:rPr lang="zh-CN" altLang="en-US" sz="2000" dirty="0">
                <a:latin typeface="+mn-lt"/>
                <a:ea typeface="隶书" pitchFamily="49" charset="-122"/>
              </a:rPr>
              <a:t>存储类型</a:t>
            </a:r>
            <a:r>
              <a:rPr lang="en-US" altLang="zh-CN" sz="2000" dirty="0">
                <a:latin typeface="+mn-lt"/>
                <a:ea typeface="隶书" pitchFamily="49" charset="-122"/>
              </a:rPr>
              <a:t>]       </a:t>
            </a:r>
            <a:r>
              <a:rPr lang="zh-CN" altLang="en-US" sz="2000" dirty="0">
                <a:latin typeface="+mn-lt"/>
                <a:ea typeface="隶书" pitchFamily="49" charset="-122"/>
              </a:rPr>
              <a:t>数据类型符        </a:t>
            </a:r>
            <a:r>
              <a:rPr lang="zh-CN" altLang="en-US" sz="2000" dirty="0">
                <a:solidFill>
                  <a:srgbClr val="C00000"/>
                </a:solidFill>
                <a:latin typeface="+mn-lt"/>
                <a:ea typeface="隶书" pitchFamily="49" charset="-122"/>
              </a:rPr>
              <a:t>*</a:t>
            </a:r>
            <a:r>
              <a:rPr lang="zh-CN" altLang="en-US" sz="2000" dirty="0">
                <a:latin typeface="+mn-lt"/>
                <a:ea typeface="隶书" pitchFamily="49" charset="-122"/>
              </a:rPr>
              <a:t>变量名；</a:t>
            </a:r>
          </a:p>
        </p:txBody>
      </p:sp>
      <p:sp>
        <p:nvSpPr>
          <p:cNvPr id="1137693" name="AutoShape 29"/>
          <p:cNvSpPr>
            <a:spLocks noChangeArrowheads="1"/>
          </p:cNvSpPr>
          <p:nvPr/>
        </p:nvSpPr>
        <p:spPr bwMode="auto">
          <a:xfrm>
            <a:off x="2707650" y="4930887"/>
            <a:ext cx="3049889" cy="445088"/>
          </a:xfrm>
          <a:prstGeom prst="wedgeRoundRectCallout">
            <a:avLst>
              <a:gd name="adj1" fmla="val -7319"/>
              <a:gd name="adj2" fmla="val -183134"/>
              <a:gd name="adj3" fmla="val 16667"/>
            </a:avLst>
          </a:prstGeom>
          <a:gradFill rotWithShape="1">
            <a:gsLst>
              <a:gs pos="0">
                <a:srgbClr val="CFCFD1"/>
              </a:gs>
              <a:gs pos="100000">
                <a:srgbClr val="FFFFFF"/>
              </a:gs>
            </a:gsLst>
            <a:lin ang="5400000" scaled="1"/>
          </a:gradFill>
          <a:ln w="28575">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00000"/>
                </a:solidFill>
                <a:ea typeface="隶书" pitchFamily="49" charset="-122"/>
              </a:rPr>
              <a:t>指针变量本身的存储类型</a:t>
            </a:r>
          </a:p>
        </p:txBody>
      </p:sp>
      <p:sp>
        <p:nvSpPr>
          <p:cNvPr id="1137692" name="AutoShape 28"/>
          <p:cNvSpPr>
            <a:spLocks noChangeArrowheads="1"/>
          </p:cNvSpPr>
          <p:nvPr/>
        </p:nvSpPr>
        <p:spPr bwMode="auto">
          <a:xfrm>
            <a:off x="4391286" y="4930887"/>
            <a:ext cx="3310469" cy="445088"/>
          </a:xfrm>
          <a:prstGeom prst="wedgeRoundRectCallout">
            <a:avLst>
              <a:gd name="adj1" fmla="val -5787"/>
              <a:gd name="adj2" fmla="val -179519"/>
              <a:gd name="adj3" fmla="val 16667"/>
            </a:avLst>
          </a:prstGeom>
          <a:gradFill rotWithShape="1">
            <a:gsLst>
              <a:gs pos="0">
                <a:srgbClr val="CFCFD1"/>
              </a:gs>
              <a:gs pos="100000">
                <a:srgbClr val="FFFFFF"/>
              </a:gs>
            </a:gsLst>
            <a:lin ang="5400000" scaled="1"/>
          </a:gradFill>
          <a:ln w="28575">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00000"/>
                </a:solidFill>
                <a:ea typeface="隶书" pitchFamily="49" charset="-122"/>
              </a:rPr>
              <a:t>指针的目标变量的数据类型</a:t>
            </a:r>
          </a:p>
        </p:txBody>
      </p:sp>
      <p:sp>
        <p:nvSpPr>
          <p:cNvPr id="1137691" name="AutoShape 27"/>
          <p:cNvSpPr>
            <a:spLocks noChangeArrowheads="1"/>
          </p:cNvSpPr>
          <p:nvPr/>
        </p:nvSpPr>
        <p:spPr bwMode="auto">
          <a:xfrm>
            <a:off x="5212752" y="4928923"/>
            <a:ext cx="2311602" cy="785606"/>
          </a:xfrm>
          <a:prstGeom prst="wedgeRoundRectCallout">
            <a:avLst>
              <a:gd name="adj1" fmla="val 33049"/>
              <a:gd name="adj2" fmla="val -136241"/>
              <a:gd name="adj3" fmla="val 16667"/>
            </a:avLst>
          </a:prstGeom>
          <a:gradFill rotWithShape="1">
            <a:gsLst>
              <a:gs pos="0">
                <a:srgbClr val="CFCFD1"/>
              </a:gs>
              <a:gs pos="100000">
                <a:srgbClr val="FFFFFF"/>
              </a:gs>
            </a:gsLst>
            <a:lin ang="5400000" scaled="1"/>
          </a:gradFill>
          <a:ln w="28575">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00000"/>
                </a:solidFill>
                <a:latin typeface="隶书" pitchFamily="49" charset="-122"/>
                <a:ea typeface="隶书" pitchFamily="49" charset="-122"/>
              </a:rPr>
              <a:t>表示定义指针变量</a:t>
            </a:r>
          </a:p>
          <a:p>
            <a:pPr algn="ctr">
              <a:lnSpc>
                <a:spcPct val="100000"/>
              </a:lnSpc>
              <a:spcBef>
                <a:spcPct val="0"/>
              </a:spcBef>
            </a:pPr>
            <a:r>
              <a:rPr lang="zh-CN" altLang="en-US" sz="2000">
                <a:solidFill>
                  <a:srgbClr val="C00000"/>
                </a:solidFill>
                <a:latin typeface="隶书" pitchFamily="49" charset="-122"/>
                <a:ea typeface="隶书" pitchFamily="49" charset="-122"/>
              </a:rPr>
              <a:t>不是</a:t>
            </a:r>
            <a:r>
              <a:rPr lang="zh-CN" altLang="en-US" sz="2000">
                <a:solidFill>
                  <a:srgbClr val="C00000"/>
                </a:solidFill>
                <a:latin typeface="Times New Roman"/>
                <a:ea typeface="隶书" pitchFamily="49" charset="-122"/>
              </a:rPr>
              <a:t>‘</a:t>
            </a:r>
            <a:r>
              <a:rPr lang="zh-CN" altLang="en-US" sz="2000">
                <a:solidFill>
                  <a:srgbClr val="C00000"/>
                </a:solidFill>
                <a:latin typeface="隶书" pitchFamily="49" charset="-122"/>
                <a:ea typeface="隶书" pitchFamily="49" charset="-122"/>
              </a:rPr>
              <a:t>*</a:t>
            </a:r>
            <a:r>
              <a:rPr lang="zh-CN" altLang="en-US" sz="2000">
                <a:solidFill>
                  <a:srgbClr val="C00000"/>
                </a:solidFill>
                <a:latin typeface="Times New Roman"/>
                <a:ea typeface="隶书" pitchFamily="49" charset="-122"/>
              </a:rPr>
              <a:t>’</a:t>
            </a:r>
            <a:r>
              <a:rPr lang="zh-CN" altLang="en-US" sz="2000">
                <a:solidFill>
                  <a:srgbClr val="C00000"/>
                </a:solidFill>
                <a:latin typeface="隶书" pitchFamily="49" charset="-122"/>
                <a:ea typeface="隶书" pitchFamily="49" charset="-122"/>
              </a:rPr>
              <a:t>运算符</a:t>
            </a:r>
          </a:p>
        </p:txBody>
      </p:sp>
      <p:sp>
        <p:nvSpPr>
          <p:cNvPr id="1137690" name="AutoShape 26"/>
          <p:cNvSpPr>
            <a:spLocks noChangeArrowheads="1"/>
          </p:cNvSpPr>
          <p:nvPr/>
        </p:nvSpPr>
        <p:spPr bwMode="auto">
          <a:xfrm>
            <a:off x="7491258" y="4968034"/>
            <a:ext cx="1506641" cy="445088"/>
          </a:xfrm>
          <a:prstGeom prst="wedgeRoundRectCallout">
            <a:avLst>
              <a:gd name="adj1" fmla="val -39449"/>
              <a:gd name="adj2" fmla="val -185690"/>
              <a:gd name="adj3" fmla="val 16667"/>
            </a:avLst>
          </a:prstGeom>
          <a:gradFill rotWithShape="1">
            <a:gsLst>
              <a:gs pos="0">
                <a:srgbClr val="CFCFD1"/>
              </a:gs>
              <a:gs pos="100000">
                <a:srgbClr val="FFFFFF"/>
              </a:gs>
            </a:gsLst>
            <a:lin ang="5400000" scaled="1"/>
          </a:gradFill>
          <a:ln w="28575">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b="0">
                <a:solidFill>
                  <a:srgbClr val="C00000"/>
                </a:solidFill>
                <a:ea typeface="隶书" pitchFamily="49" charset="-122"/>
              </a:rPr>
              <a:t>合法标识符</a:t>
            </a:r>
          </a:p>
        </p:txBody>
      </p:sp>
      <p:sp>
        <p:nvSpPr>
          <p:cNvPr id="1137695" name="Text Box 31" descr="信纸"/>
          <p:cNvSpPr txBox="1">
            <a:spLocks noChangeArrowheads="1"/>
          </p:cNvSpPr>
          <p:nvPr/>
        </p:nvSpPr>
        <p:spPr bwMode="auto">
          <a:xfrm>
            <a:off x="3262082" y="4800347"/>
            <a:ext cx="5307682" cy="1225550"/>
          </a:xfrm>
          <a:prstGeom prst="rect">
            <a:avLst/>
          </a:prstGeom>
          <a:solidFill>
            <a:schemeClr val="bg1"/>
          </a:soli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 </a:t>
            </a:r>
            <a:r>
              <a:rPr lang="zh-CN" altLang="en-US" dirty="0">
                <a:latin typeface="隶书" pitchFamily="49" charset="-122"/>
                <a:ea typeface="隶书" pitchFamily="49" charset="-122"/>
              </a:rPr>
              <a:t>  </a:t>
            </a:r>
            <a:r>
              <a:rPr lang="en-US" altLang="zh-CN" dirty="0">
                <a:ea typeface="隶书" pitchFamily="49" charset="-122"/>
              </a:rPr>
              <a:t>int</a:t>
            </a:r>
            <a:r>
              <a:rPr lang="en-US" altLang="zh-CN" dirty="0">
                <a:ea typeface="宋体" pitchFamily="2" charset="-122"/>
              </a:rPr>
              <a:t>      </a:t>
            </a:r>
            <a:r>
              <a:rPr lang="en-US" altLang="zh-CN" dirty="0">
                <a:solidFill>
                  <a:srgbClr val="C00000"/>
                </a:solidFill>
                <a:ea typeface="宋体" pitchFamily="2" charset="-122"/>
              </a:rPr>
              <a:t>*</a:t>
            </a:r>
            <a:r>
              <a:rPr lang="en-US" altLang="zh-CN" dirty="0">
                <a:ea typeface="宋体" pitchFamily="2" charset="-122"/>
              </a:rPr>
              <a:t>p1, </a:t>
            </a:r>
            <a:r>
              <a:rPr lang="en-US" altLang="zh-CN" dirty="0">
                <a:solidFill>
                  <a:srgbClr val="C00000"/>
                </a:solidFill>
                <a:ea typeface="宋体" pitchFamily="2" charset="-122"/>
              </a:rPr>
              <a:t>*</a:t>
            </a:r>
            <a:r>
              <a:rPr lang="en-US" altLang="zh-CN" dirty="0">
                <a:ea typeface="宋体" pitchFamily="2" charset="-122"/>
              </a:rPr>
              <a:t>p2;</a:t>
            </a:r>
          </a:p>
          <a:p>
            <a:pPr>
              <a:lnSpc>
                <a:spcPct val="100000"/>
              </a:lnSpc>
              <a:spcBef>
                <a:spcPct val="0"/>
              </a:spcBef>
            </a:pPr>
            <a:r>
              <a:rPr lang="en-US" altLang="zh-CN" dirty="0">
                <a:ea typeface="宋体" pitchFamily="2" charset="-122"/>
              </a:rPr>
              <a:t>          float   </a:t>
            </a:r>
            <a:r>
              <a:rPr lang="en-US" altLang="zh-CN" dirty="0">
                <a:solidFill>
                  <a:srgbClr val="C00000"/>
                </a:solidFill>
                <a:ea typeface="宋体" pitchFamily="2" charset="-122"/>
              </a:rPr>
              <a:t>*</a:t>
            </a:r>
            <a:r>
              <a:rPr lang="en-US" altLang="zh-CN" dirty="0">
                <a:ea typeface="宋体" pitchFamily="2" charset="-122"/>
              </a:rPr>
              <a:t>q;</a:t>
            </a:r>
          </a:p>
          <a:p>
            <a:pPr>
              <a:lnSpc>
                <a:spcPct val="100000"/>
              </a:lnSpc>
              <a:spcBef>
                <a:spcPct val="0"/>
              </a:spcBef>
            </a:pPr>
            <a:r>
              <a:rPr lang="en-US" altLang="zh-CN" dirty="0">
                <a:ea typeface="宋体" pitchFamily="2" charset="-122"/>
              </a:rPr>
              <a:t>          static  char </a:t>
            </a:r>
            <a:r>
              <a:rPr lang="en-US" altLang="zh-CN" dirty="0">
                <a:solidFill>
                  <a:srgbClr val="C00000"/>
                </a:solidFill>
                <a:ea typeface="宋体" pitchFamily="2" charset="-122"/>
              </a:rPr>
              <a:t> *</a:t>
            </a:r>
            <a:r>
              <a:rPr lang="en-US" altLang="zh-CN" dirty="0">
                <a:ea typeface="宋体" pitchFamily="2" charset="-122"/>
              </a:rPr>
              <a:t>name;</a:t>
            </a:r>
          </a:p>
        </p:txBody>
      </p:sp>
      <p:sp>
        <p:nvSpPr>
          <p:cNvPr id="32" name="Rectangle 4">
            <a:extLst>
              <a:ext uri="{FF2B5EF4-FFF2-40B4-BE49-F238E27FC236}">
                <a16:creationId xmlns:a16="http://schemas.microsoft.com/office/drawing/2014/main" id="{3885C836-6BCF-417F-8D56-2F62287778D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指针变量的定义和引用 </a:t>
            </a:r>
          </a:p>
        </p:txBody>
      </p:sp>
      <p:sp>
        <p:nvSpPr>
          <p:cNvPr id="1137694" name="Text Box 30"/>
          <p:cNvSpPr txBox="1">
            <a:spLocks noChangeArrowheads="1"/>
          </p:cNvSpPr>
          <p:nvPr/>
        </p:nvSpPr>
        <p:spPr bwMode="auto">
          <a:xfrm>
            <a:off x="1091444" y="3052468"/>
            <a:ext cx="10009112" cy="1955800"/>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ea typeface="隶书" pitchFamily="49" charset="-122"/>
              </a:rPr>
              <a:t>注意：</a:t>
            </a:r>
          </a:p>
          <a:p>
            <a:pPr lvl="1">
              <a:lnSpc>
                <a:spcPct val="100000"/>
              </a:lnSpc>
              <a:spcBef>
                <a:spcPct val="0"/>
              </a:spcBef>
              <a:buFont typeface="Wingdings" pitchFamily="2" charset="2"/>
              <a:buChar char="Ø"/>
            </a:pPr>
            <a:r>
              <a:rPr lang="zh-CN" altLang="en-US" dirty="0">
                <a:ea typeface="隶书" pitchFamily="49" charset="-122"/>
              </a:rPr>
              <a:t> </a:t>
            </a:r>
            <a:r>
              <a:rPr lang="en-US" altLang="zh-CN" dirty="0" err="1">
                <a:ea typeface="隶书" pitchFamily="49" charset="-122"/>
              </a:rPr>
              <a:t>int</a:t>
            </a:r>
            <a:r>
              <a:rPr lang="en-US" altLang="zh-CN" dirty="0">
                <a:ea typeface="隶书" pitchFamily="49" charset="-122"/>
              </a:rPr>
              <a:t>   *p1, *p2;   </a:t>
            </a:r>
            <a:r>
              <a:rPr lang="zh-CN" altLang="zh-CN" dirty="0">
                <a:ea typeface="隶书" pitchFamily="49" charset="-122"/>
              </a:rPr>
              <a:t>与   </a:t>
            </a:r>
            <a:r>
              <a:rPr lang="en-US" altLang="zh-CN" dirty="0" err="1">
                <a:ea typeface="隶书" pitchFamily="49" charset="-122"/>
              </a:rPr>
              <a:t>int</a:t>
            </a:r>
            <a:r>
              <a:rPr lang="en-US" altLang="zh-CN" dirty="0">
                <a:ea typeface="隶书" pitchFamily="49" charset="-122"/>
              </a:rPr>
              <a:t>   *p1, p2;</a:t>
            </a:r>
          </a:p>
          <a:p>
            <a:pPr lvl="1">
              <a:lnSpc>
                <a:spcPct val="100000"/>
              </a:lnSpc>
              <a:spcBef>
                <a:spcPct val="0"/>
              </a:spcBef>
              <a:buFont typeface="Wingdings" pitchFamily="2" charset="2"/>
              <a:buChar char="Ø"/>
            </a:pPr>
            <a:r>
              <a:rPr lang="en-US" altLang="zh-CN" dirty="0">
                <a:ea typeface="隶书" pitchFamily="49" charset="-122"/>
              </a:rPr>
              <a:t> </a:t>
            </a:r>
            <a:r>
              <a:rPr lang="zh-CN" altLang="zh-CN" dirty="0">
                <a:ea typeface="隶书" pitchFamily="49" charset="-122"/>
              </a:rPr>
              <a:t>指针变量名是</a:t>
            </a:r>
            <a:r>
              <a:rPr lang="en-US" altLang="zh-CN" dirty="0">
                <a:ea typeface="隶书" pitchFamily="49" charset="-122"/>
              </a:rPr>
              <a:t>p1</a:t>
            </a:r>
            <a:r>
              <a:rPr lang="zh-CN" altLang="en-US" dirty="0">
                <a:ea typeface="隶书" pitchFamily="49" charset="-122"/>
              </a:rPr>
              <a:t>，</a:t>
            </a:r>
            <a:r>
              <a:rPr lang="en-US" altLang="zh-CN" dirty="0">
                <a:ea typeface="隶书" pitchFamily="49" charset="-122"/>
              </a:rPr>
              <a:t>p2 </a:t>
            </a:r>
            <a:r>
              <a:rPr lang="zh-CN" altLang="en-US" dirty="0">
                <a:ea typeface="隶书" pitchFamily="49" charset="-122"/>
              </a:rPr>
              <a:t>，</a:t>
            </a:r>
            <a:r>
              <a:rPr lang="zh-CN" altLang="zh-CN" dirty="0">
                <a:ea typeface="隶书" pitchFamily="49" charset="-122"/>
              </a:rPr>
              <a:t>不是*</a:t>
            </a:r>
            <a:r>
              <a:rPr lang="en-US" altLang="zh-CN" dirty="0">
                <a:ea typeface="隶书" pitchFamily="49" charset="-122"/>
              </a:rPr>
              <a:t>p1</a:t>
            </a:r>
            <a:r>
              <a:rPr lang="zh-CN" altLang="en-US" dirty="0">
                <a:ea typeface="隶书" pitchFamily="49" charset="-122"/>
              </a:rPr>
              <a:t>，</a:t>
            </a:r>
            <a:r>
              <a:rPr lang="en-US" altLang="zh-CN" dirty="0">
                <a:ea typeface="隶书" pitchFamily="49" charset="-122"/>
              </a:rPr>
              <a:t>*p2</a:t>
            </a:r>
          </a:p>
          <a:p>
            <a:pPr lvl="1">
              <a:lnSpc>
                <a:spcPct val="100000"/>
              </a:lnSpc>
              <a:spcBef>
                <a:spcPct val="0"/>
              </a:spcBef>
              <a:buFont typeface="Wingdings" pitchFamily="2" charset="2"/>
              <a:buChar char="Ø"/>
            </a:pPr>
            <a:r>
              <a:rPr lang="en-US" altLang="zh-CN" dirty="0">
                <a:ea typeface="隶书" pitchFamily="49" charset="-122"/>
              </a:rPr>
              <a:t> </a:t>
            </a:r>
            <a:r>
              <a:rPr lang="zh-CN" altLang="zh-CN" dirty="0">
                <a:ea typeface="隶书" pitchFamily="49" charset="-122"/>
              </a:rPr>
              <a:t>指针变量只能指向定义时所规定类型的变量</a:t>
            </a:r>
          </a:p>
          <a:p>
            <a:pPr lvl="1">
              <a:lnSpc>
                <a:spcPct val="100000"/>
              </a:lnSpc>
              <a:spcBef>
                <a:spcPct val="0"/>
              </a:spcBef>
              <a:buFont typeface="Wingdings" pitchFamily="2" charset="2"/>
              <a:buChar char="Ø"/>
            </a:pPr>
            <a:r>
              <a:rPr lang="zh-CN" altLang="en-US" dirty="0">
                <a:ea typeface="隶书" pitchFamily="49" charset="-122"/>
              </a:rPr>
              <a:t> </a:t>
            </a:r>
            <a:r>
              <a:rPr lang="zh-CN" altLang="zh-CN" dirty="0">
                <a:ea typeface="隶书" pitchFamily="49" charset="-122"/>
              </a:rPr>
              <a:t>指针变量定义后，变量值不确定，应用前必须先赋值</a:t>
            </a:r>
            <a:endParaRPr lang="zh-CN" altLang="en-US" dirty="0">
              <a:ea typeface="隶书" pitchFamily="49" charset="-122"/>
            </a:endParaRP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7669"/>
                                        </p:tgtEl>
                                        <p:attrNameLst>
                                          <p:attrName>style.visibility</p:attrName>
                                        </p:attrNameLst>
                                      </p:cBhvr>
                                      <p:to>
                                        <p:strVal val="visible"/>
                                      </p:to>
                                    </p:set>
                                    <p:anim calcmode="lin" valueType="num">
                                      <p:cBhvr additive="base">
                                        <p:cTn id="7" dur="500" fill="hold"/>
                                        <p:tgtEl>
                                          <p:spTgt spid="1137669"/>
                                        </p:tgtEl>
                                        <p:attrNameLst>
                                          <p:attrName>ppt_x</p:attrName>
                                        </p:attrNameLst>
                                      </p:cBhvr>
                                      <p:tavLst>
                                        <p:tav tm="0">
                                          <p:val>
                                            <p:strVal val="0-#ppt_w/2"/>
                                          </p:val>
                                        </p:tav>
                                        <p:tav tm="100000">
                                          <p:val>
                                            <p:strVal val="#ppt_x"/>
                                          </p:val>
                                        </p:tav>
                                      </p:tavLst>
                                    </p:anim>
                                    <p:anim calcmode="lin" valueType="num">
                                      <p:cBhvr additive="base">
                                        <p:cTn id="8" dur="500" fill="hold"/>
                                        <p:tgtEl>
                                          <p:spTgt spid="113766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37673"/>
                                        </p:tgtEl>
                                        <p:attrNameLst>
                                          <p:attrName>style.visibility</p:attrName>
                                        </p:attrNameLst>
                                      </p:cBhvr>
                                      <p:to>
                                        <p:strVal val="visible"/>
                                      </p:to>
                                    </p:set>
                                    <p:animEffect transition="in" filter="box(out)">
                                      <p:cBhvr>
                                        <p:cTn id="13" dur="500"/>
                                        <p:tgtEl>
                                          <p:spTgt spid="1137673"/>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137681"/>
                                        </p:tgtEl>
                                        <p:attrNameLst>
                                          <p:attrName>style.visibility</p:attrName>
                                        </p:attrNameLst>
                                      </p:cBhvr>
                                      <p:to>
                                        <p:strVal val="visible"/>
                                      </p:to>
                                    </p:set>
                                    <p:animEffect transition="in" filter="box(in)">
                                      <p:cBhvr>
                                        <p:cTn id="18" dur="500"/>
                                        <p:tgtEl>
                                          <p:spTgt spid="1137681"/>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par>
                          <p:cTn id="19" fill="hold">
                            <p:stCondLst>
                              <p:cond delay="500"/>
                            </p:stCondLst>
                            <p:childTnLst>
                              <p:par>
                                <p:cTn id="20" presetID="18" presetClass="entr" presetSubtype="6" fill="hold" grpId="0" nodeType="afterEffect">
                                  <p:stCondLst>
                                    <p:cond delay="0"/>
                                  </p:stCondLst>
                                  <p:childTnLst>
                                    <p:set>
                                      <p:cBhvr>
                                        <p:cTn id="21" dur="1" fill="hold">
                                          <p:stCondLst>
                                            <p:cond delay="0"/>
                                          </p:stCondLst>
                                        </p:cTn>
                                        <p:tgtEl>
                                          <p:spTgt spid="1137670"/>
                                        </p:tgtEl>
                                        <p:attrNameLst>
                                          <p:attrName>style.visibility</p:attrName>
                                        </p:attrNameLst>
                                      </p:cBhvr>
                                      <p:to>
                                        <p:strVal val="visible"/>
                                      </p:to>
                                    </p:set>
                                    <p:animEffect transition="in" filter="strips(downRight)">
                                      <p:cBhvr>
                                        <p:cTn id="22" dur="500"/>
                                        <p:tgtEl>
                                          <p:spTgt spid="1137670"/>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3" fill="hold">
                            <p:stCondLst>
                              <p:cond delay="1000"/>
                            </p:stCondLst>
                            <p:childTnLst>
                              <p:par>
                                <p:cTn id="24" presetID="4" presetClass="entr" presetSubtype="32" fill="hold" grpId="0" nodeType="afterEffect">
                                  <p:stCondLst>
                                    <p:cond delay="0"/>
                                  </p:stCondLst>
                                  <p:childTnLst>
                                    <p:set>
                                      <p:cBhvr>
                                        <p:cTn id="25" dur="1" fill="hold">
                                          <p:stCondLst>
                                            <p:cond delay="0"/>
                                          </p:stCondLst>
                                        </p:cTn>
                                        <p:tgtEl>
                                          <p:spTgt spid="1137682"/>
                                        </p:tgtEl>
                                        <p:attrNameLst>
                                          <p:attrName>style.visibility</p:attrName>
                                        </p:attrNameLst>
                                      </p:cBhvr>
                                      <p:to>
                                        <p:strVal val="visible"/>
                                      </p:to>
                                    </p:set>
                                    <p:animEffect transition="in" filter="box(out)">
                                      <p:cBhvr>
                                        <p:cTn id="26" dur="500"/>
                                        <p:tgtEl>
                                          <p:spTgt spid="1137682"/>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137683"/>
                                        </p:tgtEl>
                                        <p:attrNameLst>
                                          <p:attrName>style.visibility</p:attrName>
                                        </p:attrNameLst>
                                      </p:cBhvr>
                                      <p:to>
                                        <p:strVal val="visible"/>
                                      </p:to>
                                    </p:set>
                                    <p:animEffect transition="in" filter="box(out)">
                                      <p:cBhvr>
                                        <p:cTn id="31" dur="500"/>
                                        <p:tgtEl>
                                          <p:spTgt spid="1137683"/>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500"/>
                            </p:stCondLst>
                            <p:childTnLst>
                              <p:par>
                                <p:cTn id="33" presetID="18" presetClass="entr" presetSubtype="6" fill="hold" grpId="0" nodeType="afterEffect">
                                  <p:stCondLst>
                                    <p:cond delay="0"/>
                                  </p:stCondLst>
                                  <p:childTnLst>
                                    <p:set>
                                      <p:cBhvr>
                                        <p:cTn id="34" dur="1" fill="hold">
                                          <p:stCondLst>
                                            <p:cond delay="0"/>
                                          </p:stCondLst>
                                        </p:cTn>
                                        <p:tgtEl>
                                          <p:spTgt spid="1137671"/>
                                        </p:tgtEl>
                                        <p:attrNameLst>
                                          <p:attrName>style.visibility</p:attrName>
                                        </p:attrNameLst>
                                      </p:cBhvr>
                                      <p:to>
                                        <p:strVal val="visible"/>
                                      </p:to>
                                    </p:set>
                                    <p:animEffect transition="in" filter="strips(downRight)">
                                      <p:cBhvr>
                                        <p:cTn id="35" dur="500"/>
                                        <p:tgtEl>
                                          <p:spTgt spid="1137671"/>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1000"/>
                            </p:stCondLst>
                            <p:childTnLst>
                              <p:par>
                                <p:cTn id="37" presetID="4" presetClass="entr" presetSubtype="32" fill="hold" grpId="0" nodeType="afterEffect">
                                  <p:stCondLst>
                                    <p:cond delay="0"/>
                                  </p:stCondLst>
                                  <p:childTnLst>
                                    <p:set>
                                      <p:cBhvr>
                                        <p:cTn id="38" dur="1" fill="hold">
                                          <p:stCondLst>
                                            <p:cond delay="0"/>
                                          </p:stCondLst>
                                        </p:cTn>
                                        <p:tgtEl>
                                          <p:spTgt spid="1137684"/>
                                        </p:tgtEl>
                                        <p:attrNameLst>
                                          <p:attrName>style.visibility</p:attrName>
                                        </p:attrNameLst>
                                      </p:cBhvr>
                                      <p:to>
                                        <p:strVal val="visible"/>
                                      </p:to>
                                    </p:set>
                                    <p:animEffect transition="in" filter="box(out)">
                                      <p:cBhvr>
                                        <p:cTn id="39" dur="500"/>
                                        <p:tgtEl>
                                          <p:spTgt spid="1137684"/>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1137685"/>
                                        </p:tgtEl>
                                        <p:attrNameLst>
                                          <p:attrName>style.visibility</p:attrName>
                                        </p:attrNameLst>
                                      </p:cBhvr>
                                      <p:to>
                                        <p:strVal val="visible"/>
                                      </p:to>
                                    </p:set>
                                    <p:animEffect transition="in" filter="box(out)">
                                      <p:cBhvr>
                                        <p:cTn id="44" dur="500"/>
                                        <p:tgtEl>
                                          <p:spTgt spid="1137685"/>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5" fill="hold">
                            <p:stCondLst>
                              <p:cond delay="500"/>
                            </p:stCondLst>
                            <p:childTnLst>
                              <p:par>
                                <p:cTn id="46" presetID="18" presetClass="entr" presetSubtype="6" fill="hold" grpId="0" nodeType="afterEffect">
                                  <p:stCondLst>
                                    <p:cond delay="0"/>
                                  </p:stCondLst>
                                  <p:childTnLst>
                                    <p:set>
                                      <p:cBhvr>
                                        <p:cTn id="47" dur="1" fill="hold">
                                          <p:stCondLst>
                                            <p:cond delay="0"/>
                                          </p:stCondLst>
                                        </p:cTn>
                                        <p:tgtEl>
                                          <p:spTgt spid="1137672"/>
                                        </p:tgtEl>
                                        <p:attrNameLst>
                                          <p:attrName>style.visibility</p:attrName>
                                        </p:attrNameLst>
                                      </p:cBhvr>
                                      <p:to>
                                        <p:strVal val="visible"/>
                                      </p:to>
                                    </p:set>
                                    <p:animEffect transition="in" filter="strips(downRight)">
                                      <p:cBhvr>
                                        <p:cTn id="48" dur="500"/>
                                        <p:tgtEl>
                                          <p:spTgt spid="1137672"/>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49" fill="hold">
                            <p:stCondLst>
                              <p:cond delay="1000"/>
                            </p:stCondLst>
                            <p:childTnLst>
                              <p:par>
                                <p:cTn id="50" presetID="4" presetClass="entr" presetSubtype="32" fill="hold" grpId="0" nodeType="afterEffect">
                                  <p:stCondLst>
                                    <p:cond delay="0"/>
                                  </p:stCondLst>
                                  <p:childTnLst>
                                    <p:set>
                                      <p:cBhvr>
                                        <p:cTn id="51" dur="1" fill="hold">
                                          <p:stCondLst>
                                            <p:cond delay="0"/>
                                          </p:stCondLst>
                                        </p:cTn>
                                        <p:tgtEl>
                                          <p:spTgt spid="1137686"/>
                                        </p:tgtEl>
                                        <p:attrNameLst>
                                          <p:attrName>style.visibility</p:attrName>
                                        </p:attrNameLst>
                                      </p:cBhvr>
                                      <p:to>
                                        <p:strVal val="visible"/>
                                      </p:to>
                                    </p:set>
                                    <p:animEffect transition="in" filter="box(out)">
                                      <p:cBhvr>
                                        <p:cTn id="52" dur="500"/>
                                        <p:tgtEl>
                                          <p:spTgt spid="1137686"/>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1137687"/>
                                        </p:tgtEl>
                                        <p:attrNameLst>
                                          <p:attrName>style.visibility</p:attrName>
                                        </p:attrNameLst>
                                      </p:cBhvr>
                                      <p:to>
                                        <p:strVal val="visible"/>
                                      </p:to>
                                    </p:set>
                                    <p:anim calcmode="lin" valueType="num">
                                      <p:cBhvr additive="base">
                                        <p:cTn id="57" dur="500" fill="hold"/>
                                        <p:tgtEl>
                                          <p:spTgt spid="1137687"/>
                                        </p:tgtEl>
                                        <p:attrNameLst>
                                          <p:attrName>ppt_x</p:attrName>
                                        </p:attrNameLst>
                                      </p:cBhvr>
                                      <p:tavLst>
                                        <p:tav tm="0">
                                          <p:val>
                                            <p:strVal val="0-#ppt_w/2"/>
                                          </p:val>
                                        </p:tav>
                                        <p:tav tm="100000">
                                          <p:val>
                                            <p:strVal val="#ppt_x"/>
                                          </p:val>
                                        </p:tav>
                                      </p:tavLst>
                                    </p:anim>
                                    <p:anim calcmode="lin" valueType="num">
                                      <p:cBhvr additive="base">
                                        <p:cTn id="58" dur="500" fill="hold"/>
                                        <p:tgtEl>
                                          <p:spTgt spid="113768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1137688"/>
                                        </p:tgtEl>
                                        <p:attrNameLst>
                                          <p:attrName>style.visibility</p:attrName>
                                        </p:attrNameLst>
                                      </p:cBhvr>
                                      <p:to>
                                        <p:strVal val="visible"/>
                                      </p:to>
                                    </p:set>
                                    <p:anim calcmode="lin" valueType="num">
                                      <p:cBhvr additive="base">
                                        <p:cTn id="63" dur="500" fill="hold"/>
                                        <p:tgtEl>
                                          <p:spTgt spid="1137688"/>
                                        </p:tgtEl>
                                        <p:attrNameLst>
                                          <p:attrName>ppt_x</p:attrName>
                                        </p:attrNameLst>
                                      </p:cBhvr>
                                      <p:tavLst>
                                        <p:tav tm="0">
                                          <p:val>
                                            <p:strVal val="0-#ppt_w/2"/>
                                          </p:val>
                                        </p:tav>
                                        <p:tav tm="100000">
                                          <p:val>
                                            <p:strVal val="#ppt_x"/>
                                          </p:val>
                                        </p:tav>
                                      </p:tavLst>
                                    </p:anim>
                                    <p:anim calcmode="lin" valueType="num">
                                      <p:cBhvr additive="base">
                                        <p:cTn id="64" dur="500" fill="hold"/>
                                        <p:tgtEl>
                                          <p:spTgt spid="113768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 fill="hold">
                                          <p:stCondLst>
                                            <p:cond delay="0"/>
                                          </p:stCondLst>
                                        </p:cTn>
                                        <p:tgtEl>
                                          <p:spTgt spid="1137689"/>
                                        </p:tgtEl>
                                        <p:attrNameLst>
                                          <p:attrName>style.visibility</p:attrName>
                                        </p:attrNameLst>
                                      </p:cBhvr>
                                      <p:to>
                                        <p:strVal val="visible"/>
                                      </p:to>
                                    </p:set>
                                    <p:animEffect transition="in" filter="box(out)">
                                      <p:cBhvr>
                                        <p:cTn id="69" dur="500"/>
                                        <p:tgtEl>
                                          <p:spTgt spid="1137689"/>
                                        </p:tgtEl>
                                      </p:cBhvr>
                                    </p:animEffect>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32" fill="hold" grpId="0" nodeType="clickEffect">
                                  <p:stCondLst>
                                    <p:cond delay="0"/>
                                  </p:stCondLst>
                                  <p:childTnLst>
                                    <p:set>
                                      <p:cBhvr>
                                        <p:cTn id="73" dur="1" fill="hold">
                                          <p:stCondLst>
                                            <p:cond delay="0"/>
                                          </p:stCondLst>
                                        </p:cTn>
                                        <p:tgtEl>
                                          <p:spTgt spid="1137690"/>
                                        </p:tgtEl>
                                        <p:attrNameLst>
                                          <p:attrName>style.visibility</p:attrName>
                                        </p:attrNameLst>
                                      </p:cBhvr>
                                      <p:to>
                                        <p:strVal val="visible"/>
                                      </p:to>
                                    </p:set>
                                    <p:animEffect transition="in" filter="box(out)">
                                      <p:cBhvr>
                                        <p:cTn id="74" dur="500"/>
                                        <p:tgtEl>
                                          <p:spTgt spid="1137690"/>
                                        </p:tgtEl>
                                      </p:cBhvr>
                                    </p:animEffect>
                                  </p:childTnLst>
                                  <p:subTnLst>
                                    <p:set>
                                      <p:cBhvr override="childStyle">
                                        <p:cTn dur="1" fill="hold" display="0" masterRel="nextClick" afterEffect="1"/>
                                        <p:tgtEl>
                                          <p:spTgt spid="1137690"/>
                                        </p:tgtEl>
                                        <p:attrNameLst>
                                          <p:attrName>style.visibility</p:attrName>
                                        </p:attrNameLst>
                                      </p:cBhvr>
                                      <p:to>
                                        <p:strVal val="hidden"/>
                                      </p:to>
                                    </p:se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5" fill="hold">
                      <p:stCondLst>
                        <p:cond delay="indefinite"/>
                      </p:stCondLst>
                      <p:childTnLst>
                        <p:par>
                          <p:cTn id="76" fill="hold">
                            <p:stCondLst>
                              <p:cond delay="0"/>
                            </p:stCondLst>
                            <p:childTnLst>
                              <p:par>
                                <p:cTn id="77" presetID="4" presetClass="entr" presetSubtype="32" fill="hold" grpId="0" nodeType="clickEffect">
                                  <p:stCondLst>
                                    <p:cond delay="0"/>
                                  </p:stCondLst>
                                  <p:childTnLst>
                                    <p:set>
                                      <p:cBhvr>
                                        <p:cTn id="78" dur="1" fill="hold">
                                          <p:stCondLst>
                                            <p:cond delay="0"/>
                                          </p:stCondLst>
                                        </p:cTn>
                                        <p:tgtEl>
                                          <p:spTgt spid="1137691"/>
                                        </p:tgtEl>
                                        <p:attrNameLst>
                                          <p:attrName>style.visibility</p:attrName>
                                        </p:attrNameLst>
                                      </p:cBhvr>
                                      <p:to>
                                        <p:strVal val="visible"/>
                                      </p:to>
                                    </p:set>
                                    <p:animEffect transition="in" filter="box(out)">
                                      <p:cBhvr>
                                        <p:cTn id="79" dur="500"/>
                                        <p:tgtEl>
                                          <p:spTgt spid="1137691"/>
                                        </p:tgtEl>
                                      </p:cBhvr>
                                    </p:animEffect>
                                  </p:childTnLst>
                                  <p:subTnLst>
                                    <p:set>
                                      <p:cBhvr override="childStyle">
                                        <p:cTn dur="1" fill="hold" display="0" masterRel="nextClick" afterEffect="1"/>
                                        <p:tgtEl>
                                          <p:spTgt spid="1137691"/>
                                        </p:tgtEl>
                                        <p:attrNameLst>
                                          <p:attrName>style.visibility</p:attrName>
                                        </p:attrNameLst>
                                      </p:cBhvr>
                                      <p:to>
                                        <p:strVal val="hidden"/>
                                      </p:to>
                                    </p:se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4" presetClass="entr" presetSubtype="32" fill="hold" grpId="0" nodeType="clickEffect">
                                  <p:stCondLst>
                                    <p:cond delay="0"/>
                                  </p:stCondLst>
                                  <p:childTnLst>
                                    <p:set>
                                      <p:cBhvr>
                                        <p:cTn id="83" dur="1" fill="hold">
                                          <p:stCondLst>
                                            <p:cond delay="0"/>
                                          </p:stCondLst>
                                        </p:cTn>
                                        <p:tgtEl>
                                          <p:spTgt spid="1137692"/>
                                        </p:tgtEl>
                                        <p:attrNameLst>
                                          <p:attrName>style.visibility</p:attrName>
                                        </p:attrNameLst>
                                      </p:cBhvr>
                                      <p:to>
                                        <p:strVal val="visible"/>
                                      </p:to>
                                    </p:set>
                                    <p:animEffect transition="in" filter="box(out)">
                                      <p:cBhvr>
                                        <p:cTn id="84" dur="500"/>
                                        <p:tgtEl>
                                          <p:spTgt spid="1137692"/>
                                        </p:tgtEl>
                                      </p:cBhvr>
                                    </p:animEffect>
                                  </p:childTnLst>
                                  <p:subTnLst>
                                    <p:set>
                                      <p:cBhvr override="childStyle">
                                        <p:cTn dur="1" fill="hold" display="0" masterRel="nextClick" afterEffect="1"/>
                                        <p:tgtEl>
                                          <p:spTgt spid="1137692"/>
                                        </p:tgtEl>
                                        <p:attrNameLst>
                                          <p:attrName>style.visibility</p:attrName>
                                        </p:attrNameLst>
                                      </p:cBhvr>
                                      <p:to>
                                        <p:strVal val="hidden"/>
                                      </p:to>
                                    </p:se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childTnLst>
                    </p:cTn>
                  </p:par>
                  <p:par>
                    <p:cTn id="85" fill="hold">
                      <p:stCondLst>
                        <p:cond delay="indefinite"/>
                      </p:stCondLst>
                      <p:childTnLst>
                        <p:par>
                          <p:cTn id="86" fill="hold">
                            <p:stCondLst>
                              <p:cond delay="0"/>
                            </p:stCondLst>
                            <p:childTnLst>
                              <p:par>
                                <p:cTn id="87" presetID="4" presetClass="entr" presetSubtype="32" fill="hold" grpId="0" nodeType="clickEffect">
                                  <p:stCondLst>
                                    <p:cond delay="0"/>
                                  </p:stCondLst>
                                  <p:childTnLst>
                                    <p:set>
                                      <p:cBhvr>
                                        <p:cTn id="88" dur="1" fill="hold">
                                          <p:stCondLst>
                                            <p:cond delay="0"/>
                                          </p:stCondLst>
                                        </p:cTn>
                                        <p:tgtEl>
                                          <p:spTgt spid="1137693"/>
                                        </p:tgtEl>
                                        <p:attrNameLst>
                                          <p:attrName>style.visibility</p:attrName>
                                        </p:attrNameLst>
                                      </p:cBhvr>
                                      <p:to>
                                        <p:strVal val="visible"/>
                                      </p:to>
                                    </p:set>
                                    <p:animEffect transition="in" filter="box(out)">
                                      <p:cBhvr>
                                        <p:cTn id="89" dur="500"/>
                                        <p:tgtEl>
                                          <p:spTgt spid="1137693"/>
                                        </p:tgtEl>
                                      </p:cBhvr>
                                    </p:animEffect>
                                  </p:childTnLst>
                                  <p:subTnLst>
                                    <p:set>
                                      <p:cBhvr override="childStyle">
                                        <p:cTn dur="1" fill="hold" display="0" masterRel="nextClick" afterEffect="1"/>
                                        <p:tgtEl>
                                          <p:spTgt spid="1137693"/>
                                        </p:tgtEl>
                                        <p:attrNameLst>
                                          <p:attrName>style.visibility</p:attrName>
                                        </p:attrNameLst>
                                      </p:cBhvr>
                                      <p:to>
                                        <p:strVal val="hidden"/>
                                      </p:to>
                                    </p:se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childTnLst>
                    </p:cTn>
                  </p:par>
                  <p:par>
                    <p:cTn id="90" fill="hold">
                      <p:stCondLst>
                        <p:cond delay="indefinite"/>
                      </p:stCondLst>
                      <p:childTnLst>
                        <p:par>
                          <p:cTn id="91" fill="hold">
                            <p:stCondLst>
                              <p:cond delay="0"/>
                            </p:stCondLst>
                            <p:childTnLst>
                              <p:par>
                                <p:cTn id="92" presetID="4" presetClass="entr" presetSubtype="32" fill="hold" grpId="0" nodeType="clickEffect">
                                  <p:stCondLst>
                                    <p:cond delay="0"/>
                                  </p:stCondLst>
                                  <p:childTnLst>
                                    <p:set>
                                      <p:cBhvr>
                                        <p:cTn id="93" dur="1" fill="hold">
                                          <p:stCondLst>
                                            <p:cond delay="0"/>
                                          </p:stCondLst>
                                        </p:cTn>
                                        <p:tgtEl>
                                          <p:spTgt spid="1137695"/>
                                        </p:tgtEl>
                                        <p:attrNameLst>
                                          <p:attrName>style.visibility</p:attrName>
                                        </p:attrNameLst>
                                      </p:cBhvr>
                                      <p:to>
                                        <p:strVal val="visible"/>
                                      </p:to>
                                    </p:set>
                                    <p:animEffect transition="in" filter="box(out)">
                                      <p:cBhvr>
                                        <p:cTn id="94" dur="500"/>
                                        <p:tgtEl>
                                          <p:spTgt spid="1137695"/>
                                        </p:tgtEl>
                                      </p:cBhvr>
                                    </p:animEffect>
                                  </p:childTnLst>
                                  <p:subTnLst>
                                    <p:audio>
                                      <p:cMediaNode>
                                        <p:cTn display="0" masterRel="sameClick">
                                          <p:stCondLst>
                                            <p:cond evt="begin" delay="0">
                                              <p:tn val="92"/>
                                            </p:cond>
                                          </p:stCondLst>
                                          <p:endCondLst>
                                            <p:cond evt="onStopAudio" delay="0">
                                              <p:tgtEl>
                                                <p:sldTgt/>
                                              </p:tgtEl>
                                            </p:cond>
                                          </p:endCondLst>
                                        </p:cTn>
                                        <p:tgtEl>
                                          <p:sndTgt r:embed="rId3" name="CAMERA.WAV"/>
                                        </p:tgtEl>
                                      </p:cMediaNode>
                                    </p:audio>
                                  </p:subTnLst>
                                </p:cTn>
                              </p:par>
                            </p:childTnLst>
                          </p:cTn>
                        </p:par>
                      </p:childTnLst>
                    </p:cTn>
                  </p:par>
                  <p:par>
                    <p:cTn id="95" fill="hold">
                      <p:stCondLst>
                        <p:cond delay="indefinite"/>
                      </p:stCondLst>
                      <p:childTnLst>
                        <p:par>
                          <p:cTn id="96" fill="hold">
                            <p:stCondLst>
                              <p:cond delay="0"/>
                            </p:stCondLst>
                            <p:childTnLst>
                              <p:par>
                                <p:cTn id="97" presetID="4" presetClass="entr" presetSubtype="32" fill="hold" grpId="0" nodeType="clickEffect">
                                  <p:stCondLst>
                                    <p:cond delay="0"/>
                                  </p:stCondLst>
                                  <p:childTnLst>
                                    <p:set>
                                      <p:cBhvr>
                                        <p:cTn id="98" dur="1" fill="hold">
                                          <p:stCondLst>
                                            <p:cond delay="0"/>
                                          </p:stCondLst>
                                        </p:cTn>
                                        <p:tgtEl>
                                          <p:spTgt spid="1137694"/>
                                        </p:tgtEl>
                                        <p:attrNameLst>
                                          <p:attrName>style.visibility</p:attrName>
                                        </p:attrNameLst>
                                      </p:cBhvr>
                                      <p:to>
                                        <p:strVal val="visible"/>
                                      </p:to>
                                    </p:set>
                                    <p:animEffect transition="in" filter="box(out)">
                                      <p:cBhvr>
                                        <p:cTn id="99" dur="500"/>
                                        <p:tgtEl>
                                          <p:spTgt spid="1137694"/>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7669" grpId="0"/>
      <p:bldP spid="1137670" grpId="0" animBg="1"/>
      <p:bldP spid="1137671" grpId="0" animBg="1"/>
      <p:bldP spid="1137672" grpId="0" animBg="1"/>
      <p:bldP spid="1137681" grpId="0"/>
      <p:bldP spid="1137682" grpId="0"/>
      <p:bldP spid="1137683" grpId="0"/>
      <p:bldP spid="1137684" grpId="0"/>
      <p:bldP spid="1137685" grpId="0"/>
      <p:bldP spid="1137686" grpId="0"/>
      <p:bldP spid="1137687" grpId="0"/>
      <p:bldP spid="1137688" grpId="0"/>
      <p:bldP spid="1137689" grpId="0" animBg="1"/>
      <p:bldP spid="1137693" grpId="0" animBg="1" autoUpdateAnimBg="0"/>
      <p:bldP spid="1137692" grpId="0" animBg="1" autoUpdateAnimBg="0"/>
      <p:bldP spid="1137691" grpId="0" animBg="1" autoUpdateAnimBg="0"/>
      <p:bldP spid="1137690" grpId="0" animBg="1" autoUpdateAnimBg="0"/>
      <p:bldP spid="1137695" grpId="0" animBg="1" autoUpdateAnimBg="0"/>
      <p:bldP spid="1137694"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9719" name="Text Box 7" descr="信纸"/>
          <p:cNvSpPr txBox="1">
            <a:spLocks noChangeArrowheads="1"/>
          </p:cNvSpPr>
          <p:nvPr/>
        </p:nvSpPr>
        <p:spPr bwMode="auto">
          <a:xfrm>
            <a:off x="1547137" y="4445302"/>
            <a:ext cx="4608513" cy="244316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ea typeface="隶书" pitchFamily="49" charset="-122"/>
              </a:rPr>
              <a:t>例</a:t>
            </a:r>
            <a:r>
              <a:rPr lang="zh-CN" altLang="en-US" dirty="0">
                <a:ea typeface="宋体" pitchFamily="2" charset="-122"/>
              </a:rPr>
              <a:t>  </a:t>
            </a:r>
            <a:r>
              <a:rPr lang="en-US" altLang="zh-CN" dirty="0">
                <a:ea typeface="宋体" pitchFamily="2" charset="-122"/>
              </a:rPr>
              <a:t>void main (  )</a:t>
            </a:r>
          </a:p>
          <a:p>
            <a:pPr>
              <a:lnSpc>
                <a:spcPct val="100000"/>
              </a:lnSpc>
              <a:spcBef>
                <a:spcPct val="0"/>
              </a:spcBef>
            </a:pPr>
            <a:r>
              <a:rPr lang="en-US" altLang="zh-CN" dirty="0">
                <a:ea typeface="宋体" pitchFamily="2" charset="-122"/>
              </a:rPr>
              <a:t>      {    </a:t>
            </a:r>
          </a:p>
          <a:p>
            <a:pPr>
              <a:lnSpc>
                <a:spcPct val="100000"/>
              </a:lnSpc>
              <a:spcBef>
                <a:spcPct val="0"/>
              </a:spcBef>
            </a:pPr>
            <a:r>
              <a:rPr lang="en-US" altLang="zh-CN" dirty="0">
                <a:ea typeface="宋体" pitchFamily="2" charset="-122"/>
              </a:rPr>
              <a:t>         int   </a:t>
            </a:r>
            <a:r>
              <a:rPr lang="en-US" altLang="zh-CN" dirty="0" err="1">
                <a:ea typeface="宋体" pitchFamily="2" charset="-122"/>
              </a:rPr>
              <a:t>i</a:t>
            </a:r>
            <a:r>
              <a:rPr lang="en-US" altLang="zh-CN" dirty="0">
                <a:ea typeface="宋体" pitchFamily="2" charset="-122"/>
              </a:rPr>
              <a:t>;</a:t>
            </a:r>
          </a:p>
          <a:p>
            <a:pPr>
              <a:lnSpc>
                <a:spcPct val="100000"/>
              </a:lnSpc>
              <a:spcBef>
                <a:spcPct val="0"/>
              </a:spcBef>
            </a:pPr>
            <a:r>
              <a:rPr lang="en-US" altLang="zh-CN" dirty="0">
                <a:ea typeface="宋体" pitchFamily="2" charset="-122"/>
              </a:rPr>
              <a:t>         static  int    *p = &amp;</a:t>
            </a:r>
            <a:r>
              <a:rPr lang="en-US" altLang="zh-CN" dirty="0" err="1">
                <a:ea typeface="宋体" pitchFamily="2" charset="-122"/>
              </a:rPr>
              <a:t>i</a:t>
            </a:r>
            <a:r>
              <a:rPr lang="en-US" altLang="zh-CN" dirty="0">
                <a:ea typeface="宋体" pitchFamily="2" charset="-122"/>
              </a:rPr>
              <a:t>;</a:t>
            </a:r>
          </a:p>
          <a:p>
            <a:pPr>
              <a:lnSpc>
                <a:spcPct val="100000"/>
              </a:lnSpc>
              <a:spcBef>
                <a:spcPct val="0"/>
              </a:spcBef>
            </a:pPr>
            <a:r>
              <a:rPr lang="en-US" altLang="zh-CN" dirty="0">
                <a:ea typeface="宋体" pitchFamily="2" charset="-122"/>
              </a:rPr>
              <a:t>         ..............</a:t>
            </a:r>
          </a:p>
          <a:p>
            <a:pPr>
              <a:lnSpc>
                <a:spcPct val="100000"/>
              </a:lnSpc>
              <a:spcBef>
                <a:spcPct val="0"/>
              </a:spcBef>
            </a:pPr>
            <a:r>
              <a:rPr lang="en-US" altLang="zh-CN" dirty="0">
                <a:ea typeface="宋体" pitchFamily="2" charset="-122"/>
              </a:rPr>
              <a:t>      }                (</a:t>
            </a:r>
            <a:r>
              <a:rPr lang="en-US" altLang="zh-CN" sz="3200" dirty="0">
                <a:solidFill>
                  <a:srgbClr val="C00000"/>
                </a:solidFill>
                <a:ea typeface="宋体" pitchFamily="2" charset="-122"/>
                <a:sym typeface="Symbol" pitchFamily="18" charset="2"/>
              </a:rPr>
              <a:t></a:t>
            </a:r>
            <a:r>
              <a:rPr lang="en-US" altLang="zh-CN" dirty="0">
                <a:ea typeface="宋体" pitchFamily="2" charset="-122"/>
                <a:sym typeface="Symbol" pitchFamily="18" charset="2"/>
              </a:rPr>
              <a:t>)</a:t>
            </a:r>
            <a:endParaRPr lang="en-US" altLang="zh-CN" dirty="0">
              <a:ea typeface="宋体" pitchFamily="2" charset="-122"/>
            </a:endParaRPr>
          </a:p>
        </p:txBody>
      </p:sp>
      <p:sp>
        <p:nvSpPr>
          <p:cNvPr id="1139720" name="AutoShape 8"/>
          <p:cNvSpPr>
            <a:spLocks noChangeArrowheads="1"/>
          </p:cNvSpPr>
          <p:nvPr/>
        </p:nvSpPr>
        <p:spPr bwMode="auto">
          <a:xfrm>
            <a:off x="6744072" y="5271425"/>
            <a:ext cx="4896544" cy="833178"/>
          </a:xfrm>
          <a:prstGeom prst="wedgeRectCallout">
            <a:avLst>
              <a:gd name="adj1" fmla="val -71560"/>
              <a:gd name="adj2" fmla="val -47124"/>
            </a:avLst>
          </a:prstGeom>
          <a:gradFill rotWithShape="1">
            <a:gsLst>
              <a:gs pos="0">
                <a:srgbClr val="CFCFD1"/>
              </a:gs>
              <a:gs pos="100000">
                <a:schemeClr val="bg1"/>
              </a:gs>
            </a:gsLst>
            <a:lin ang="5400000" scaled="1"/>
          </a:gradFill>
          <a:ln w="28575">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sz="2000" dirty="0">
                <a:latin typeface="+mn-lt"/>
                <a:ea typeface="楷体" pitchFamily="49" charset="-122"/>
              </a:rPr>
              <a:t>标准</a:t>
            </a:r>
            <a:r>
              <a:rPr lang="en-US" altLang="zh-CN" sz="2000" dirty="0">
                <a:latin typeface="+mn-lt"/>
                <a:ea typeface="楷体" pitchFamily="49" charset="-122"/>
              </a:rPr>
              <a:t>C</a:t>
            </a:r>
            <a:r>
              <a:rPr lang="zh-CN" altLang="en-US" sz="2000" dirty="0">
                <a:latin typeface="+mn-lt"/>
                <a:ea typeface="楷体" pitchFamily="49" charset="-122"/>
              </a:rPr>
              <a:t>下不能用</a:t>
            </a:r>
            <a:r>
              <a:rPr lang="en-US" altLang="zh-CN" dirty="0">
                <a:solidFill>
                  <a:srgbClr val="002060"/>
                </a:solidFill>
              </a:rPr>
              <a:t>auto</a:t>
            </a:r>
            <a:r>
              <a:rPr lang="zh-CN" altLang="en-US" sz="2000" dirty="0">
                <a:latin typeface="+mn-lt"/>
                <a:ea typeface="楷体" pitchFamily="49" charset="-122"/>
              </a:rPr>
              <a:t>变量的地址去初始化</a:t>
            </a:r>
            <a:r>
              <a:rPr lang="en-US" altLang="zh-CN" dirty="0">
                <a:solidFill>
                  <a:srgbClr val="002060"/>
                </a:solidFill>
              </a:rPr>
              <a:t>static</a:t>
            </a:r>
            <a:r>
              <a:rPr lang="zh-CN" altLang="en-US" sz="2000" dirty="0">
                <a:latin typeface="+mn-lt"/>
                <a:ea typeface="楷体" pitchFamily="49" charset="-122"/>
              </a:rPr>
              <a:t>型指针（</a:t>
            </a:r>
            <a:r>
              <a:rPr lang="zh-CN" altLang="en-US" sz="2000" dirty="0">
                <a:solidFill>
                  <a:srgbClr val="C00000"/>
                </a:solidFill>
                <a:latin typeface="+mn-lt"/>
                <a:ea typeface="楷体" pitchFamily="49" charset="-122"/>
              </a:rPr>
              <a:t>但在</a:t>
            </a:r>
            <a:r>
              <a:rPr lang="en-US" altLang="zh-CN" sz="2000" dirty="0">
                <a:solidFill>
                  <a:srgbClr val="C00000"/>
                </a:solidFill>
                <a:latin typeface="+mn-lt"/>
                <a:ea typeface="楷体" pitchFamily="49" charset="-122"/>
              </a:rPr>
              <a:t>C++</a:t>
            </a:r>
            <a:r>
              <a:rPr lang="zh-CN" altLang="en-US" sz="2000" dirty="0">
                <a:solidFill>
                  <a:srgbClr val="C00000"/>
                </a:solidFill>
                <a:latin typeface="+mn-lt"/>
                <a:ea typeface="楷体" pitchFamily="49" charset="-122"/>
              </a:rPr>
              <a:t>程序中可以</a:t>
            </a:r>
            <a:r>
              <a:rPr lang="zh-CN" altLang="en-US" sz="2000" dirty="0">
                <a:latin typeface="+mn-lt"/>
                <a:ea typeface="楷体" pitchFamily="49" charset="-122"/>
              </a:rPr>
              <a:t>）</a:t>
            </a:r>
            <a:r>
              <a:rPr lang="zh-CN" altLang="en-US" dirty="0">
                <a:latin typeface="+mn-lt"/>
                <a:ea typeface="楷体" pitchFamily="49" charset="-122"/>
              </a:rPr>
              <a:t> </a:t>
            </a:r>
          </a:p>
        </p:txBody>
      </p:sp>
      <p:sp>
        <p:nvSpPr>
          <p:cNvPr id="1139724" name="Rectangle 12"/>
          <p:cNvSpPr>
            <a:spLocks noChangeArrowheads="1"/>
          </p:cNvSpPr>
          <p:nvPr/>
        </p:nvSpPr>
        <p:spPr bwMode="auto">
          <a:xfrm>
            <a:off x="672042" y="764704"/>
            <a:ext cx="6494462" cy="523220"/>
          </a:xfrm>
          <a:prstGeom prst="rect">
            <a:avLst/>
          </a:prstGeom>
          <a:noFill/>
          <a:ln w="9525">
            <a:noFill/>
            <a:miter lim="800000"/>
            <a:headEnd/>
            <a:tailEnd/>
          </a:ln>
          <a:effectLst/>
        </p:spPr>
        <p:txBody>
          <a:bodyPr>
            <a:spAutoFit/>
          </a:bodyPr>
          <a:lstStyle/>
          <a:p>
            <a:pPr marL="457200" indent="-457200">
              <a:lnSpc>
                <a:spcPct val="100000"/>
              </a:lnSpc>
              <a:spcBef>
                <a:spcPct val="0"/>
              </a:spcBef>
            </a:pPr>
            <a:r>
              <a:rPr lang="en-US" altLang="zh-CN" sz="2800" b="1" dirty="0">
                <a:solidFill>
                  <a:srgbClr val="C00000"/>
                </a:solidFill>
                <a:latin typeface="+mn-lt"/>
                <a:ea typeface="楷体" pitchFamily="49" charset="-122"/>
              </a:rPr>
              <a:t>4</a:t>
            </a:r>
            <a:r>
              <a:rPr lang="zh-CN" altLang="en-US" sz="2800" b="1" dirty="0">
                <a:solidFill>
                  <a:srgbClr val="C00000"/>
                </a:solidFill>
                <a:latin typeface="+mn-lt"/>
                <a:ea typeface="楷体" pitchFamily="49" charset="-122"/>
              </a:rPr>
              <a:t>、指针变量的赋值</a:t>
            </a:r>
          </a:p>
        </p:txBody>
      </p:sp>
      <p:sp>
        <p:nvSpPr>
          <p:cNvPr id="1139725" name="Rectangle 13"/>
          <p:cNvSpPr>
            <a:spLocks noChangeArrowheads="1"/>
          </p:cNvSpPr>
          <p:nvPr/>
        </p:nvSpPr>
        <p:spPr bwMode="auto">
          <a:xfrm>
            <a:off x="1169927" y="1196752"/>
            <a:ext cx="2045753" cy="461665"/>
          </a:xfrm>
          <a:prstGeom prst="rect">
            <a:avLst/>
          </a:prstGeom>
          <a:noFill/>
          <a:ln w="9525">
            <a:noFill/>
            <a:miter lim="800000"/>
            <a:headEnd/>
            <a:tailEnd/>
          </a:ln>
          <a:effectLst/>
        </p:spPr>
        <p:txBody>
          <a:bodyPr wrap="none">
            <a:spAutoFit/>
          </a:bodyPr>
          <a:lstStyle/>
          <a:p>
            <a:pPr>
              <a:lnSpc>
                <a:spcPct val="100000"/>
              </a:lnSpc>
              <a:buFont typeface="Wingdings" pitchFamily="2" charset="2"/>
              <a:buChar char="Ø"/>
            </a:pPr>
            <a:r>
              <a:rPr lang="en-US" altLang="zh-CN" dirty="0">
                <a:solidFill>
                  <a:srgbClr val="C00000"/>
                </a:solidFill>
                <a:latin typeface="+mn-lt"/>
                <a:ea typeface="楷体" pitchFamily="49" charset="-122"/>
              </a:rPr>
              <a:t> </a:t>
            </a:r>
            <a:r>
              <a:rPr lang="zh-CN" altLang="en-US" dirty="0">
                <a:solidFill>
                  <a:srgbClr val="C00000"/>
                </a:solidFill>
                <a:latin typeface="+mn-lt"/>
                <a:ea typeface="楷体" pitchFamily="49" charset="-122"/>
              </a:rPr>
              <a:t>初始化赋值</a:t>
            </a:r>
          </a:p>
        </p:txBody>
      </p:sp>
      <p:sp>
        <p:nvSpPr>
          <p:cNvPr id="1139726" name="Text Box 14"/>
          <p:cNvSpPr txBox="1">
            <a:spLocks noChangeArrowheads="1"/>
          </p:cNvSpPr>
          <p:nvPr/>
        </p:nvSpPr>
        <p:spPr bwMode="auto">
          <a:xfrm>
            <a:off x="1559966" y="1655787"/>
            <a:ext cx="9072538" cy="474663"/>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en-US" altLang="zh-CN" sz="2000" dirty="0">
                <a:latin typeface="隶书" pitchFamily="49" charset="-122"/>
                <a:ea typeface="隶书" pitchFamily="49" charset="-122"/>
              </a:rPr>
              <a:t>[</a:t>
            </a:r>
            <a:r>
              <a:rPr lang="zh-CN" altLang="en-US" sz="2000" dirty="0">
                <a:solidFill>
                  <a:schemeClr val="tx2"/>
                </a:solidFill>
                <a:latin typeface="隶书" pitchFamily="49" charset="-122"/>
                <a:ea typeface="隶书" pitchFamily="49" charset="-122"/>
              </a:rPr>
              <a:t>存储类型</a:t>
            </a:r>
            <a:r>
              <a:rPr lang="en-US" altLang="zh-CN" sz="2000" dirty="0">
                <a:latin typeface="隶书" pitchFamily="49" charset="-122"/>
                <a:ea typeface="隶书" pitchFamily="49" charset="-122"/>
              </a:rPr>
              <a:t>]</a:t>
            </a:r>
            <a:r>
              <a:rPr lang="en-US" altLang="zh-CN" sz="2000" dirty="0">
                <a:solidFill>
                  <a:schemeClr val="tx2"/>
                </a:solidFill>
                <a:latin typeface="隶书" pitchFamily="49" charset="-122"/>
                <a:ea typeface="隶书" pitchFamily="49" charset="-122"/>
              </a:rPr>
              <a:t> </a:t>
            </a:r>
            <a:r>
              <a:rPr lang="zh-CN" altLang="en-US" sz="2000" dirty="0">
                <a:solidFill>
                  <a:schemeClr val="tx2"/>
                </a:solidFill>
                <a:latin typeface="隶书" pitchFamily="49" charset="-122"/>
                <a:ea typeface="隶书" pitchFamily="49" charset="-122"/>
              </a:rPr>
              <a:t>数据类型  </a:t>
            </a:r>
            <a:r>
              <a:rPr lang="zh-CN" altLang="en-US" sz="2000" dirty="0">
                <a:solidFill>
                  <a:srgbClr val="002060"/>
                </a:solidFill>
                <a:latin typeface="隶书" pitchFamily="49" charset="-122"/>
                <a:ea typeface="隶书" pitchFamily="49" charset="-122"/>
              </a:rPr>
              <a:t>*</a:t>
            </a:r>
            <a:r>
              <a:rPr lang="zh-CN" altLang="en-US" sz="2000" dirty="0">
                <a:solidFill>
                  <a:schemeClr val="tx2"/>
                </a:solidFill>
                <a:latin typeface="隶书" pitchFamily="49" charset="-122"/>
                <a:ea typeface="隶书" pitchFamily="49" charset="-122"/>
              </a:rPr>
              <a:t>指针名 </a:t>
            </a:r>
            <a:r>
              <a:rPr lang="en-US" altLang="zh-CN" sz="2000" dirty="0">
                <a:solidFill>
                  <a:schemeClr val="tx2"/>
                </a:solidFill>
                <a:latin typeface="隶书" pitchFamily="49" charset="-122"/>
                <a:ea typeface="隶书" pitchFamily="49" charset="-122"/>
              </a:rPr>
              <a:t>= </a:t>
            </a:r>
            <a:r>
              <a:rPr lang="zh-CN" altLang="en-US" sz="2000" dirty="0">
                <a:solidFill>
                  <a:srgbClr val="C00000"/>
                </a:solidFill>
                <a:latin typeface="隶书" pitchFamily="49" charset="-122"/>
                <a:ea typeface="隶书" pitchFamily="49" charset="-122"/>
              </a:rPr>
              <a:t>初始地址值</a:t>
            </a:r>
            <a:r>
              <a:rPr lang="zh-CN" altLang="en-US" sz="2000" dirty="0">
                <a:solidFill>
                  <a:schemeClr val="tx2"/>
                </a:solidFill>
                <a:latin typeface="隶书" pitchFamily="49" charset="-122"/>
                <a:ea typeface="隶书" pitchFamily="49" charset="-122"/>
              </a:rPr>
              <a:t>；</a:t>
            </a:r>
          </a:p>
        </p:txBody>
      </p:sp>
      <p:sp>
        <p:nvSpPr>
          <p:cNvPr id="1139727" name="AutoShape 15"/>
          <p:cNvSpPr>
            <a:spLocks noChangeArrowheads="1"/>
          </p:cNvSpPr>
          <p:nvPr/>
        </p:nvSpPr>
        <p:spPr bwMode="auto">
          <a:xfrm>
            <a:off x="7664389" y="651848"/>
            <a:ext cx="2470274" cy="730250"/>
          </a:xfrm>
          <a:prstGeom prst="wedgeRectCallout">
            <a:avLst>
              <a:gd name="adj1" fmla="val -42877"/>
              <a:gd name="adj2" fmla="val 97728"/>
            </a:avLst>
          </a:prstGeom>
          <a:gradFill rotWithShape="1">
            <a:gsLst>
              <a:gs pos="0">
                <a:srgbClr val="CFCFD1"/>
              </a:gs>
              <a:gs pos="100000">
                <a:schemeClr val="bg1"/>
              </a:gs>
            </a:gsLst>
            <a:lin ang="5400000" scaled="1"/>
          </a:gradFill>
          <a:ln w="28575">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sz="2000" dirty="0">
                <a:solidFill>
                  <a:srgbClr val="C00000"/>
                </a:solidFill>
                <a:ea typeface="隶书" pitchFamily="49" charset="-122"/>
              </a:rPr>
              <a:t>赋给指针变量，</a:t>
            </a:r>
          </a:p>
          <a:p>
            <a:pPr>
              <a:lnSpc>
                <a:spcPct val="100000"/>
              </a:lnSpc>
              <a:spcBef>
                <a:spcPct val="0"/>
              </a:spcBef>
            </a:pPr>
            <a:r>
              <a:rPr lang="zh-CN" altLang="en-US" sz="2000" dirty="0">
                <a:solidFill>
                  <a:srgbClr val="C00000"/>
                </a:solidFill>
                <a:ea typeface="隶书" pitchFamily="49" charset="-122"/>
              </a:rPr>
              <a:t>不是赋给目标变量</a:t>
            </a:r>
            <a:endParaRPr lang="zh-CN" altLang="en-US" sz="2000" dirty="0">
              <a:solidFill>
                <a:srgbClr val="C00000"/>
              </a:solidFill>
            </a:endParaRPr>
          </a:p>
        </p:txBody>
      </p:sp>
      <p:sp>
        <p:nvSpPr>
          <p:cNvPr id="1139729" name="Text Box 17" descr="信纸"/>
          <p:cNvSpPr txBox="1">
            <a:spLocks noChangeArrowheads="1"/>
          </p:cNvSpPr>
          <p:nvPr/>
        </p:nvSpPr>
        <p:spPr bwMode="auto">
          <a:xfrm>
            <a:off x="1547138" y="3142616"/>
            <a:ext cx="4608513" cy="1225550"/>
          </a:xfrm>
          <a:prstGeom prst="rect">
            <a:avLst/>
          </a:prstGeom>
          <a:solidFill>
            <a:schemeClr val="bg1"/>
          </a:soli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 </a:t>
            </a:r>
            <a:r>
              <a:rPr lang="zh-CN" altLang="en-US" dirty="0">
                <a:latin typeface="隶书" pitchFamily="49" charset="-122"/>
                <a:ea typeface="隶书" pitchFamily="49" charset="-122"/>
              </a:rPr>
              <a:t>  </a:t>
            </a:r>
            <a:r>
              <a:rPr lang="en-US" altLang="zh-CN" dirty="0">
                <a:ea typeface="隶书" pitchFamily="49" charset="-122"/>
              </a:rPr>
              <a:t>int</a:t>
            </a:r>
            <a:r>
              <a:rPr lang="en-US" altLang="zh-CN" dirty="0">
                <a:ea typeface="宋体" pitchFamily="2" charset="-122"/>
              </a:rPr>
              <a:t> </a:t>
            </a:r>
            <a:r>
              <a:rPr lang="en-US" altLang="zh-CN" dirty="0" err="1">
                <a:ea typeface="宋体" pitchFamily="2" charset="-122"/>
              </a:rPr>
              <a:t>i</a:t>
            </a:r>
            <a:r>
              <a:rPr lang="en-US" altLang="zh-CN" dirty="0">
                <a:ea typeface="宋体" pitchFamily="2" charset="-122"/>
              </a:rPr>
              <a:t>;</a:t>
            </a:r>
          </a:p>
          <a:p>
            <a:pPr>
              <a:lnSpc>
                <a:spcPct val="100000"/>
              </a:lnSpc>
              <a:spcBef>
                <a:spcPct val="0"/>
              </a:spcBef>
            </a:pPr>
            <a:r>
              <a:rPr lang="en-US" altLang="zh-CN" dirty="0">
                <a:ea typeface="宋体" pitchFamily="2" charset="-122"/>
              </a:rPr>
              <a:t>          int   *p = </a:t>
            </a:r>
            <a:r>
              <a:rPr lang="en-US" altLang="zh-CN" dirty="0">
                <a:solidFill>
                  <a:srgbClr val="002060"/>
                </a:solidFill>
              </a:rPr>
              <a:t>&amp;</a:t>
            </a:r>
            <a:r>
              <a:rPr lang="en-US" altLang="zh-CN" dirty="0" err="1">
                <a:solidFill>
                  <a:srgbClr val="002060"/>
                </a:solidFill>
              </a:rPr>
              <a:t>i</a:t>
            </a:r>
            <a:r>
              <a:rPr lang="en-US" altLang="zh-CN" dirty="0">
                <a:ea typeface="宋体" pitchFamily="2" charset="-122"/>
              </a:rPr>
              <a:t>;</a:t>
            </a:r>
          </a:p>
          <a:p>
            <a:pPr>
              <a:lnSpc>
                <a:spcPct val="100000"/>
              </a:lnSpc>
              <a:spcBef>
                <a:spcPct val="0"/>
              </a:spcBef>
            </a:pPr>
            <a:r>
              <a:rPr lang="en-US" altLang="zh-CN" dirty="0">
                <a:ea typeface="宋体" pitchFamily="2" charset="-122"/>
              </a:rPr>
              <a:t>          int   *q = </a:t>
            </a:r>
            <a:r>
              <a:rPr lang="en-US" altLang="zh-CN" dirty="0">
                <a:solidFill>
                  <a:schemeClr val="accent1">
                    <a:lumMod val="50000"/>
                  </a:schemeClr>
                </a:solidFill>
                <a:ea typeface="宋体" pitchFamily="2" charset="-122"/>
              </a:rPr>
              <a:t>p</a:t>
            </a:r>
            <a:r>
              <a:rPr lang="en-US" altLang="zh-CN" dirty="0">
                <a:ea typeface="宋体" pitchFamily="2" charset="-122"/>
              </a:rPr>
              <a:t>;</a:t>
            </a:r>
          </a:p>
        </p:txBody>
      </p:sp>
      <p:sp>
        <p:nvSpPr>
          <p:cNvPr id="1139730" name="AutoShape 18"/>
          <p:cNvSpPr>
            <a:spLocks noChangeArrowheads="1"/>
          </p:cNvSpPr>
          <p:nvPr/>
        </p:nvSpPr>
        <p:spPr bwMode="auto">
          <a:xfrm>
            <a:off x="6653928" y="4102400"/>
            <a:ext cx="3313113" cy="402291"/>
          </a:xfrm>
          <a:prstGeom prst="wedgeRectCallout">
            <a:avLst>
              <a:gd name="adj1" fmla="val -88351"/>
              <a:gd name="adj2" fmla="val -32908"/>
            </a:avLst>
          </a:prstGeom>
          <a:gradFill rotWithShape="1">
            <a:gsLst>
              <a:gs pos="0">
                <a:srgbClr val="CFCFD1"/>
              </a:gs>
              <a:gs pos="100000">
                <a:schemeClr val="bg1"/>
              </a:gs>
            </a:gsLst>
            <a:lin ang="5400000" scaled="1"/>
          </a:gradFill>
          <a:ln w="28575">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sz="2000">
                <a:solidFill>
                  <a:srgbClr val="C00000"/>
                </a:solidFill>
                <a:ea typeface="隶书" pitchFamily="49" charset="-122"/>
              </a:rPr>
              <a:t>用已初始化指针变量作初值</a:t>
            </a:r>
          </a:p>
        </p:txBody>
      </p:sp>
      <p:grpSp>
        <p:nvGrpSpPr>
          <p:cNvPr id="1139715" name="Group 3"/>
          <p:cNvGrpSpPr>
            <a:grpSpLocks/>
          </p:cNvGrpSpPr>
          <p:nvPr/>
        </p:nvGrpSpPr>
        <p:grpSpPr bwMode="auto">
          <a:xfrm>
            <a:off x="6539049" y="2208535"/>
            <a:ext cx="4325938" cy="860425"/>
            <a:chOff x="3067" y="1129"/>
            <a:chExt cx="2725" cy="542"/>
          </a:xfrm>
          <a:solidFill>
            <a:schemeClr val="bg1"/>
          </a:solidFill>
          <a:effectLst>
            <a:outerShdw blurRad="50800" dist="106680" dir="2700000" algn="tl" rotWithShape="0">
              <a:prstClr val="black">
                <a:alpha val="43000"/>
              </a:prstClr>
            </a:outerShdw>
          </a:effectLst>
        </p:grpSpPr>
        <p:sp>
          <p:nvSpPr>
            <p:cNvPr id="1139716" name="Text Box 4" descr="信纸"/>
            <p:cNvSpPr txBox="1">
              <a:spLocks noChangeArrowheads="1"/>
            </p:cNvSpPr>
            <p:nvPr/>
          </p:nvSpPr>
          <p:spPr bwMode="auto">
            <a:xfrm>
              <a:off x="3067" y="1129"/>
              <a:ext cx="2725" cy="542"/>
            </a:xfrm>
            <a:prstGeom prst="rect">
              <a:avLst/>
            </a:prstGeom>
            <a:grpFill/>
            <a:ln w="38100">
              <a:solidFill>
                <a:srgbClr val="002060"/>
              </a:solidFill>
              <a:miter lim="800000"/>
              <a:headEnd type="none" w="lg" len="lg"/>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a:t>
              </a:r>
              <a:r>
                <a:rPr lang="zh-CN" altLang="en-US" dirty="0">
                  <a:solidFill>
                    <a:srgbClr val="C00000"/>
                  </a:solidFill>
                  <a:ea typeface="宋体" pitchFamily="2" charset="-122"/>
                </a:rPr>
                <a:t> </a:t>
              </a:r>
              <a:r>
                <a:rPr lang="zh-CN" altLang="en-US" dirty="0">
                  <a:ea typeface="宋体" pitchFamily="2" charset="-122"/>
                </a:rPr>
                <a:t>         </a:t>
              </a:r>
              <a:r>
                <a:rPr lang="en-US" altLang="zh-CN" dirty="0">
                  <a:ea typeface="宋体" pitchFamily="2" charset="-122"/>
                </a:rPr>
                <a:t>int   *p = </a:t>
              </a:r>
              <a:r>
                <a:rPr lang="en-US" altLang="zh-CN" dirty="0">
                  <a:solidFill>
                    <a:srgbClr val="002060"/>
                  </a:solidFill>
                </a:rPr>
                <a:t>&amp;</a:t>
              </a:r>
              <a:r>
                <a:rPr lang="en-US" altLang="zh-CN" dirty="0" err="1">
                  <a:solidFill>
                    <a:srgbClr val="002060"/>
                  </a:solidFill>
                </a:rPr>
                <a:t>i</a:t>
              </a:r>
              <a:r>
                <a:rPr lang="en-US" altLang="zh-CN" dirty="0">
                  <a:ea typeface="宋体" pitchFamily="2" charset="-122"/>
                </a:rPr>
                <a:t>;</a:t>
              </a:r>
            </a:p>
            <a:p>
              <a:pPr>
                <a:lnSpc>
                  <a:spcPct val="100000"/>
                </a:lnSpc>
                <a:spcBef>
                  <a:spcPct val="0"/>
                </a:spcBef>
              </a:pPr>
              <a:r>
                <a:rPr lang="en-US" altLang="zh-CN" dirty="0">
                  <a:ea typeface="宋体" pitchFamily="2" charset="-122"/>
                </a:rPr>
                <a:t>              </a:t>
              </a:r>
              <a:r>
                <a:rPr lang="en-US" altLang="zh-CN" dirty="0">
                  <a:ea typeface="隶书" pitchFamily="49" charset="-122"/>
                </a:rPr>
                <a:t>int</a:t>
              </a:r>
              <a:r>
                <a:rPr lang="en-US" altLang="zh-CN" dirty="0">
                  <a:ea typeface="宋体" pitchFamily="2" charset="-122"/>
                </a:rPr>
                <a:t> </a:t>
              </a:r>
              <a:r>
                <a:rPr lang="en-US" altLang="zh-CN" dirty="0" err="1">
                  <a:ea typeface="宋体" pitchFamily="2" charset="-122"/>
                </a:rPr>
                <a:t>i</a:t>
              </a:r>
              <a:r>
                <a:rPr lang="en-US" altLang="zh-CN" dirty="0">
                  <a:ea typeface="宋体" pitchFamily="2" charset="-122"/>
                </a:rPr>
                <a:t>;</a:t>
              </a:r>
            </a:p>
          </p:txBody>
        </p:sp>
        <p:sp>
          <p:nvSpPr>
            <p:cNvPr id="1139717" name="Line 5"/>
            <p:cNvSpPr>
              <a:spLocks noChangeShapeType="1"/>
            </p:cNvSpPr>
            <p:nvPr/>
          </p:nvSpPr>
          <p:spPr bwMode="auto">
            <a:xfrm flipH="1">
              <a:off x="5362" y="1388"/>
              <a:ext cx="192" cy="204"/>
            </a:xfrm>
            <a:prstGeom prst="line">
              <a:avLst/>
            </a:prstGeom>
            <a:grpFill/>
            <a:ln w="38100">
              <a:solidFill>
                <a:srgbClr val="C00000"/>
              </a:solidFill>
              <a:round/>
              <a:headEnd type="none" w="lg" len="lg"/>
              <a:tailEnd/>
            </a:ln>
            <a:effectLst/>
            <a:scene3d>
              <a:camera prst="orthographicFront"/>
              <a:lightRig rig="threePt" dir="t"/>
            </a:scene3d>
            <a:sp3d>
              <a:bevelT w="114300" prst="hardEdge"/>
            </a:sp3d>
          </p:spPr>
          <p:txBody>
            <a:bodyPr wrap="none" lIns="90000" tIns="46800" rIns="90000" bIns="46800" anchor="ctr">
              <a:spAutoFit/>
            </a:bodyPr>
            <a:lstStyle/>
            <a:p>
              <a:endParaRPr lang="zh-CN" altLang="en-US"/>
            </a:p>
          </p:txBody>
        </p:sp>
        <p:sp>
          <p:nvSpPr>
            <p:cNvPr id="1139718" name="Line 6"/>
            <p:cNvSpPr>
              <a:spLocks noChangeShapeType="1"/>
            </p:cNvSpPr>
            <p:nvPr/>
          </p:nvSpPr>
          <p:spPr bwMode="auto">
            <a:xfrm>
              <a:off x="5386" y="1412"/>
              <a:ext cx="168" cy="168"/>
            </a:xfrm>
            <a:prstGeom prst="line">
              <a:avLst/>
            </a:prstGeom>
            <a:grpFill/>
            <a:ln w="38100">
              <a:solidFill>
                <a:srgbClr val="C00000"/>
              </a:solidFill>
              <a:round/>
              <a:headEnd type="none" w="lg" len="lg"/>
              <a:tailEnd/>
            </a:ln>
            <a:effectLst/>
            <a:scene3d>
              <a:camera prst="orthographicFront"/>
              <a:lightRig rig="threePt" dir="t"/>
            </a:scene3d>
            <a:sp3d>
              <a:bevelT w="114300" prst="hardEdge"/>
            </a:sp3d>
          </p:spPr>
          <p:txBody>
            <a:bodyPr wrap="none" lIns="90000" tIns="46800" rIns="90000" bIns="46800" anchor="ctr">
              <a:spAutoFit/>
            </a:bodyPr>
            <a:lstStyle/>
            <a:p>
              <a:endParaRPr lang="zh-CN" altLang="en-US"/>
            </a:p>
          </p:txBody>
        </p:sp>
      </p:grpSp>
      <p:sp>
        <p:nvSpPr>
          <p:cNvPr id="1139714" name="Text Box 2" descr="信纸"/>
          <p:cNvSpPr txBox="1">
            <a:spLocks noChangeArrowheads="1"/>
          </p:cNvSpPr>
          <p:nvPr/>
        </p:nvSpPr>
        <p:spPr bwMode="auto">
          <a:xfrm>
            <a:off x="1558925" y="2208535"/>
            <a:ext cx="4608513" cy="860425"/>
          </a:xfrm>
          <a:prstGeom prst="rect">
            <a:avLst/>
          </a:prstGeom>
          <a:solidFill>
            <a:schemeClr val="bg1"/>
          </a:soli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 </a:t>
            </a:r>
            <a:r>
              <a:rPr lang="zh-CN" altLang="en-US" dirty="0">
                <a:latin typeface="隶书" pitchFamily="49" charset="-122"/>
                <a:ea typeface="隶书" pitchFamily="49" charset="-122"/>
              </a:rPr>
              <a:t>  </a:t>
            </a:r>
            <a:r>
              <a:rPr lang="en-US" altLang="zh-CN" dirty="0">
                <a:ea typeface="隶书" pitchFamily="49" charset="-122"/>
              </a:rPr>
              <a:t>int</a:t>
            </a:r>
            <a:r>
              <a:rPr lang="en-US" altLang="zh-CN" dirty="0">
                <a:ea typeface="宋体" pitchFamily="2" charset="-122"/>
              </a:rPr>
              <a:t> </a:t>
            </a:r>
            <a:r>
              <a:rPr lang="en-US" altLang="zh-CN" dirty="0" err="1">
                <a:ea typeface="宋体" pitchFamily="2" charset="-122"/>
              </a:rPr>
              <a:t>i</a:t>
            </a:r>
            <a:r>
              <a:rPr lang="en-US" altLang="zh-CN" dirty="0">
                <a:ea typeface="宋体" pitchFamily="2" charset="-122"/>
              </a:rPr>
              <a:t>;</a:t>
            </a:r>
          </a:p>
          <a:p>
            <a:pPr>
              <a:lnSpc>
                <a:spcPct val="100000"/>
              </a:lnSpc>
              <a:spcBef>
                <a:spcPct val="0"/>
              </a:spcBef>
            </a:pPr>
            <a:r>
              <a:rPr lang="en-US" altLang="zh-CN" dirty="0">
                <a:ea typeface="宋体" pitchFamily="2" charset="-122"/>
              </a:rPr>
              <a:t>          int   *p = </a:t>
            </a:r>
            <a:r>
              <a:rPr lang="en-US" altLang="zh-CN" dirty="0">
                <a:solidFill>
                  <a:srgbClr val="002060"/>
                </a:solidFill>
                <a:ea typeface="宋体" pitchFamily="2" charset="-122"/>
              </a:rPr>
              <a:t>&amp;</a:t>
            </a:r>
            <a:r>
              <a:rPr lang="en-US" altLang="zh-CN" dirty="0" err="1">
                <a:solidFill>
                  <a:srgbClr val="002060"/>
                </a:solidFill>
                <a:ea typeface="宋体" pitchFamily="2" charset="-122"/>
              </a:rPr>
              <a:t>i</a:t>
            </a:r>
            <a:r>
              <a:rPr lang="en-US" altLang="zh-CN" dirty="0">
                <a:ea typeface="宋体" pitchFamily="2" charset="-122"/>
              </a:rPr>
              <a:t>;</a:t>
            </a:r>
          </a:p>
        </p:txBody>
      </p:sp>
      <p:sp>
        <p:nvSpPr>
          <p:cNvPr id="1139728" name="AutoShape 16"/>
          <p:cNvSpPr>
            <a:spLocks noChangeArrowheads="1"/>
          </p:cNvSpPr>
          <p:nvPr/>
        </p:nvSpPr>
        <p:spPr bwMode="auto">
          <a:xfrm>
            <a:off x="6505079" y="3137476"/>
            <a:ext cx="2254250" cy="730250"/>
          </a:xfrm>
          <a:prstGeom prst="wedgeRectCallout">
            <a:avLst>
              <a:gd name="adj1" fmla="val -83639"/>
              <a:gd name="adj2" fmla="val -97850"/>
            </a:avLst>
          </a:prstGeom>
          <a:gradFill rotWithShape="1">
            <a:gsLst>
              <a:gs pos="0">
                <a:srgbClr val="CFCFD1"/>
              </a:gs>
              <a:gs pos="100000">
                <a:schemeClr val="bg1"/>
              </a:gs>
            </a:gsLst>
            <a:lin ang="5400000" scaled="1"/>
          </a:gradFill>
          <a:ln w="28575">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zh-CN" altLang="en-US" sz="2000" dirty="0">
                <a:solidFill>
                  <a:srgbClr val="C00000"/>
                </a:solidFill>
                <a:ea typeface="隶书" pitchFamily="49" charset="-122"/>
              </a:rPr>
              <a:t>变量必须</a:t>
            </a:r>
            <a:r>
              <a:rPr lang="zh-CN" altLang="en-US" sz="2000" dirty="0">
                <a:solidFill>
                  <a:srgbClr val="002060"/>
                </a:solidFill>
                <a:ea typeface="隶书" pitchFamily="49" charset="-122"/>
              </a:rPr>
              <a:t>已说明过</a:t>
            </a:r>
          </a:p>
          <a:p>
            <a:pPr>
              <a:lnSpc>
                <a:spcPct val="100000"/>
              </a:lnSpc>
              <a:spcBef>
                <a:spcPct val="0"/>
              </a:spcBef>
            </a:pPr>
            <a:r>
              <a:rPr lang="zh-CN" altLang="en-US" sz="2000" dirty="0">
                <a:solidFill>
                  <a:srgbClr val="002060"/>
                </a:solidFill>
                <a:ea typeface="隶书" pitchFamily="49" charset="-122"/>
              </a:rPr>
              <a:t>类型</a:t>
            </a:r>
            <a:r>
              <a:rPr lang="zh-CN" altLang="en-US" sz="2000" dirty="0">
                <a:solidFill>
                  <a:srgbClr val="C00000"/>
                </a:solidFill>
                <a:ea typeface="隶书" pitchFamily="49" charset="-122"/>
              </a:rPr>
              <a:t>应一致</a:t>
            </a:r>
            <a:endParaRPr lang="zh-CN" altLang="en-US" sz="2000" dirty="0">
              <a:solidFill>
                <a:srgbClr val="C00000"/>
              </a:solidFill>
            </a:endParaRPr>
          </a:p>
        </p:txBody>
      </p:sp>
      <p:sp>
        <p:nvSpPr>
          <p:cNvPr id="19" name="Rectangle 4">
            <a:extLst>
              <a:ext uri="{FF2B5EF4-FFF2-40B4-BE49-F238E27FC236}">
                <a16:creationId xmlns:a16="http://schemas.microsoft.com/office/drawing/2014/main" id="{48FAD718-C460-4FC5-9069-8FD33E8A544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指针变量的定义和引用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9724"/>
                                        </p:tgtEl>
                                        <p:attrNameLst>
                                          <p:attrName>style.visibility</p:attrName>
                                        </p:attrNameLst>
                                      </p:cBhvr>
                                      <p:to>
                                        <p:strVal val="visible"/>
                                      </p:to>
                                    </p:set>
                                    <p:anim calcmode="lin" valueType="num">
                                      <p:cBhvr additive="base">
                                        <p:cTn id="7" dur="500" fill="hold"/>
                                        <p:tgtEl>
                                          <p:spTgt spid="1139724"/>
                                        </p:tgtEl>
                                        <p:attrNameLst>
                                          <p:attrName>ppt_x</p:attrName>
                                        </p:attrNameLst>
                                      </p:cBhvr>
                                      <p:tavLst>
                                        <p:tav tm="0">
                                          <p:val>
                                            <p:strVal val="0-#ppt_w/2"/>
                                          </p:val>
                                        </p:tav>
                                        <p:tav tm="100000">
                                          <p:val>
                                            <p:strVal val="#ppt_x"/>
                                          </p:val>
                                        </p:tav>
                                      </p:tavLst>
                                    </p:anim>
                                    <p:anim calcmode="lin" valueType="num">
                                      <p:cBhvr additive="base">
                                        <p:cTn id="8" dur="500" fill="hold"/>
                                        <p:tgtEl>
                                          <p:spTgt spid="113972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39725"/>
                                        </p:tgtEl>
                                        <p:attrNameLst>
                                          <p:attrName>style.visibility</p:attrName>
                                        </p:attrNameLst>
                                      </p:cBhvr>
                                      <p:to>
                                        <p:strVal val="visible"/>
                                      </p:to>
                                    </p:set>
                                    <p:anim calcmode="lin" valueType="num">
                                      <p:cBhvr additive="base">
                                        <p:cTn id="13" dur="500" fill="hold"/>
                                        <p:tgtEl>
                                          <p:spTgt spid="1139725"/>
                                        </p:tgtEl>
                                        <p:attrNameLst>
                                          <p:attrName>ppt_x</p:attrName>
                                        </p:attrNameLst>
                                      </p:cBhvr>
                                      <p:tavLst>
                                        <p:tav tm="0">
                                          <p:val>
                                            <p:strVal val="0-#ppt_w/2"/>
                                          </p:val>
                                        </p:tav>
                                        <p:tav tm="100000">
                                          <p:val>
                                            <p:strVal val="#ppt_x"/>
                                          </p:val>
                                        </p:tav>
                                      </p:tavLst>
                                    </p:anim>
                                    <p:anim calcmode="lin" valueType="num">
                                      <p:cBhvr additive="base">
                                        <p:cTn id="14" dur="500" fill="hold"/>
                                        <p:tgtEl>
                                          <p:spTgt spid="11397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139726"/>
                                        </p:tgtEl>
                                        <p:attrNameLst>
                                          <p:attrName>style.visibility</p:attrName>
                                        </p:attrNameLst>
                                      </p:cBhvr>
                                      <p:to>
                                        <p:strVal val="visible"/>
                                      </p:to>
                                    </p:set>
                                    <p:animEffect transition="in" filter="box(out)">
                                      <p:cBhvr>
                                        <p:cTn id="19" dur="500"/>
                                        <p:tgtEl>
                                          <p:spTgt spid="1139726"/>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39727"/>
                                        </p:tgtEl>
                                        <p:attrNameLst>
                                          <p:attrName>style.visibility</p:attrName>
                                        </p:attrNameLst>
                                      </p:cBhvr>
                                      <p:to>
                                        <p:strVal val="visible"/>
                                      </p:to>
                                    </p:set>
                                    <p:animEffect transition="in" filter="box(out)">
                                      <p:cBhvr>
                                        <p:cTn id="24" dur="500"/>
                                        <p:tgtEl>
                                          <p:spTgt spid="1139727"/>
                                        </p:tgtEl>
                                      </p:cBhvr>
                                    </p:animEffect>
                                  </p:childTnLst>
                                  <p:subTnLst>
                                    <p:set>
                                      <p:cBhvr override="childStyle">
                                        <p:cTn dur="1" fill="hold" display="0" masterRel="nextClick" afterEffect="1"/>
                                        <p:tgtEl>
                                          <p:spTgt spid="1139727"/>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139714"/>
                                        </p:tgtEl>
                                        <p:attrNameLst>
                                          <p:attrName>style.visibility</p:attrName>
                                        </p:attrNameLst>
                                      </p:cBhvr>
                                      <p:to>
                                        <p:strVal val="visible"/>
                                      </p:to>
                                    </p:set>
                                    <p:animEffect transition="in" filter="box(out)">
                                      <p:cBhvr>
                                        <p:cTn id="29" dur="500"/>
                                        <p:tgtEl>
                                          <p:spTgt spid="1139714"/>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par>
                          <p:cTn id="30" fill="hold">
                            <p:stCondLst>
                              <p:cond delay="500"/>
                            </p:stCondLst>
                            <p:childTnLst>
                              <p:par>
                                <p:cTn id="31" presetID="4" presetClass="entr" presetSubtype="32" fill="hold" grpId="0" nodeType="afterEffect">
                                  <p:stCondLst>
                                    <p:cond delay="0"/>
                                  </p:stCondLst>
                                  <p:childTnLst>
                                    <p:set>
                                      <p:cBhvr>
                                        <p:cTn id="32" dur="1" fill="hold">
                                          <p:stCondLst>
                                            <p:cond delay="0"/>
                                          </p:stCondLst>
                                        </p:cTn>
                                        <p:tgtEl>
                                          <p:spTgt spid="1139728"/>
                                        </p:tgtEl>
                                        <p:attrNameLst>
                                          <p:attrName>style.visibility</p:attrName>
                                        </p:attrNameLst>
                                      </p:cBhvr>
                                      <p:to>
                                        <p:strVal val="visible"/>
                                      </p:to>
                                    </p:set>
                                    <p:animEffect transition="in" filter="box(out)">
                                      <p:cBhvr>
                                        <p:cTn id="33" dur="500"/>
                                        <p:tgtEl>
                                          <p:spTgt spid="1139728"/>
                                        </p:tgtEl>
                                      </p:cBhvr>
                                    </p:animEffect>
                                  </p:childTnLst>
                                  <p:subTnLst>
                                    <p:set>
                                      <p:cBhvr override="childStyle">
                                        <p:cTn dur="1" fill="hold" display="0" masterRel="nextClick" afterEffect="1"/>
                                        <p:tgtEl>
                                          <p:spTgt spid="1139728"/>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1139715"/>
                                        </p:tgtEl>
                                        <p:attrNameLst>
                                          <p:attrName>style.visibility</p:attrName>
                                        </p:attrNameLst>
                                      </p:cBhvr>
                                      <p:to>
                                        <p:strVal val="visible"/>
                                      </p:to>
                                    </p:set>
                                    <p:animEffect transition="in" filter="box(out)">
                                      <p:cBhvr>
                                        <p:cTn id="38" dur="500"/>
                                        <p:tgtEl>
                                          <p:spTgt spid="1139715"/>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139729"/>
                                        </p:tgtEl>
                                        <p:attrNameLst>
                                          <p:attrName>style.visibility</p:attrName>
                                        </p:attrNameLst>
                                      </p:cBhvr>
                                      <p:to>
                                        <p:strVal val="visible"/>
                                      </p:to>
                                    </p:set>
                                    <p:animEffect transition="in" filter="box(out)">
                                      <p:cBhvr>
                                        <p:cTn id="43" dur="500"/>
                                        <p:tgtEl>
                                          <p:spTgt spid="1139729"/>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par>
                          <p:cTn id="44" fill="hold">
                            <p:stCondLst>
                              <p:cond delay="500"/>
                            </p:stCondLst>
                            <p:childTnLst>
                              <p:par>
                                <p:cTn id="45" presetID="4" presetClass="entr" presetSubtype="32" fill="hold" grpId="0" nodeType="afterEffect">
                                  <p:stCondLst>
                                    <p:cond delay="0"/>
                                  </p:stCondLst>
                                  <p:childTnLst>
                                    <p:set>
                                      <p:cBhvr>
                                        <p:cTn id="46" dur="1" fill="hold">
                                          <p:stCondLst>
                                            <p:cond delay="0"/>
                                          </p:stCondLst>
                                        </p:cTn>
                                        <p:tgtEl>
                                          <p:spTgt spid="1139730"/>
                                        </p:tgtEl>
                                        <p:attrNameLst>
                                          <p:attrName>style.visibility</p:attrName>
                                        </p:attrNameLst>
                                      </p:cBhvr>
                                      <p:to>
                                        <p:strVal val="visible"/>
                                      </p:to>
                                    </p:set>
                                    <p:animEffect transition="in" filter="box(out)">
                                      <p:cBhvr>
                                        <p:cTn id="47" dur="500"/>
                                        <p:tgtEl>
                                          <p:spTgt spid="1139730"/>
                                        </p:tgtEl>
                                      </p:cBhvr>
                                    </p:animEffect>
                                  </p:childTnLst>
                                  <p:subTnLst>
                                    <p:set>
                                      <p:cBhvr override="childStyle">
                                        <p:cTn dur="1" fill="hold" display="0" masterRel="nextClick" afterEffect="1"/>
                                        <p:tgtEl>
                                          <p:spTgt spid="1139730"/>
                                        </p:tgtEl>
                                        <p:attrNameLst>
                                          <p:attrName>style.visibility</p:attrName>
                                        </p:attrNameLst>
                                      </p:cBhvr>
                                      <p:to>
                                        <p:strVal val="hidden"/>
                                      </p:to>
                                    </p:se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139719"/>
                                        </p:tgtEl>
                                        <p:attrNameLst>
                                          <p:attrName>style.visibility</p:attrName>
                                        </p:attrNameLst>
                                      </p:cBhvr>
                                      <p:to>
                                        <p:strVal val="visible"/>
                                      </p:to>
                                    </p:set>
                                    <p:animEffect transition="in" filter="box(out)">
                                      <p:cBhvr>
                                        <p:cTn id="52" dur="500"/>
                                        <p:tgtEl>
                                          <p:spTgt spid="1139719"/>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par>
                          <p:cTn id="53" fill="hold">
                            <p:stCondLst>
                              <p:cond delay="500"/>
                            </p:stCondLst>
                            <p:childTnLst>
                              <p:par>
                                <p:cTn id="54" presetID="4" presetClass="entr" presetSubtype="32" fill="hold" grpId="0" nodeType="afterEffect">
                                  <p:stCondLst>
                                    <p:cond delay="0"/>
                                  </p:stCondLst>
                                  <p:childTnLst>
                                    <p:set>
                                      <p:cBhvr>
                                        <p:cTn id="55" dur="1" fill="hold">
                                          <p:stCondLst>
                                            <p:cond delay="0"/>
                                          </p:stCondLst>
                                        </p:cTn>
                                        <p:tgtEl>
                                          <p:spTgt spid="1139720"/>
                                        </p:tgtEl>
                                        <p:attrNameLst>
                                          <p:attrName>style.visibility</p:attrName>
                                        </p:attrNameLst>
                                      </p:cBhvr>
                                      <p:to>
                                        <p:strVal val="visible"/>
                                      </p:to>
                                    </p:set>
                                    <p:animEffect transition="in" filter="box(out)">
                                      <p:cBhvr>
                                        <p:cTn id="56" dur="500"/>
                                        <p:tgtEl>
                                          <p:spTgt spid="1139720"/>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9719" grpId="0" animBg="1" autoUpdateAnimBg="0"/>
      <p:bldP spid="1139720" grpId="0" animBg="1" autoUpdateAnimBg="0"/>
      <p:bldP spid="1139724" grpId="0"/>
      <p:bldP spid="1139725" grpId="0"/>
      <p:bldP spid="1139726" grpId="0" animBg="1"/>
      <p:bldP spid="1139727" grpId="0" animBg="1" autoUpdateAnimBg="0"/>
      <p:bldP spid="1139729" grpId="0" animBg="1" autoUpdateAnimBg="0"/>
      <p:bldP spid="1139730" grpId="0" animBg="1" autoUpdateAnimBg="0"/>
      <p:bldP spid="1139714" grpId="0" animBg="1" autoUpdateAnimBg="0"/>
      <p:bldP spid="1139728"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61" name="组合 60"/>
          <p:cNvGrpSpPr/>
          <p:nvPr/>
        </p:nvGrpSpPr>
        <p:grpSpPr>
          <a:xfrm>
            <a:off x="5975672" y="1196752"/>
            <a:ext cx="2685976" cy="5459415"/>
            <a:chOff x="4600575" y="620713"/>
            <a:chExt cx="2685976" cy="5459415"/>
          </a:xfrm>
        </p:grpSpPr>
        <p:grpSp>
          <p:nvGrpSpPr>
            <p:cNvPr id="1140757" name="Group 21"/>
            <p:cNvGrpSpPr>
              <a:grpSpLocks/>
            </p:cNvGrpSpPr>
            <p:nvPr/>
          </p:nvGrpSpPr>
          <p:grpSpPr bwMode="auto">
            <a:xfrm>
              <a:off x="4600575" y="620713"/>
              <a:ext cx="2668588" cy="5459415"/>
              <a:chOff x="2900" y="402"/>
              <a:chExt cx="1681" cy="3439"/>
            </a:xfrm>
          </p:grpSpPr>
          <p:sp>
            <p:nvSpPr>
              <p:cNvPr id="1140758" name="Rectangle 22"/>
              <p:cNvSpPr>
                <a:spLocks noChangeArrowheads="1"/>
              </p:cNvSpPr>
              <p:nvPr/>
            </p:nvSpPr>
            <p:spPr bwMode="auto">
              <a:xfrm>
                <a:off x="3358" y="402"/>
                <a:ext cx="1211" cy="2767"/>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a typeface="宋体" pitchFamily="2" charset="-122"/>
                </a:endParaRPr>
              </a:p>
            </p:txBody>
          </p:sp>
          <p:sp>
            <p:nvSpPr>
              <p:cNvPr id="1140759" name="Line 23"/>
              <p:cNvSpPr>
                <a:spLocks noChangeShapeType="1"/>
              </p:cNvSpPr>
              <p:nvPr/>
            </p:nvSpPr>
            <p:spPr bwMode="auto">
              <a:xfrm>
                <a:off x="3370" y="719"/>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0760" name="Line 24"/>
              <p:cNvSpPr>
                <a:spLocks noChangeShapeType="1"/>
              </p:cNvSpPr>
              <p:nvPr/>
            </p:nvSpPr>
            <p:spPr bwMode="auto">
              <a:xfrm>
                <a:off x="3370" y="901"/>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40761" name="Line 25"/>
              <p:cNvSpPr>
                <a:spLocks noChangeShapeType="1"/>
              </p:cNvSpPr>
              <p:nvPr/>
            </p:nvSpPr>
            <p:spPr bwMode="auto">
              <a:xfrm>
                <a:off x="3370" y="1445"/>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0762" name="Line 26"/>
              <p:cNvSpPr>
                <a:spLocks noChangeShapeType="1"/>
              </p:cNvSpPr>
              <p:nvPr/>
            </p:nvSpPr>
            <p:spPr bwMode="auto">
              <a:xfrm>
                <a:off x="3358" y="1717"/>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0764" name="Text Box 28"/>
              <p:cNvSpPr txBox="1">
                <a:spLocks noChangeArrowheads="1"/>
              </p:cNvSpPr>
              <p:nvPr/>
            </p:nvSpPr>
            <p:spPr bwMode="auto">
              <a:xfrm>
                <a:off x="3848" y="455"/>
                <a:ext cx="310" cy="220"/>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dirty="0">
                    <a:ea typeface="宋体" pitchFamily="2" charset="-122"/>
                  </a:rPr>
                  <a:t>…</a:t>
                </a:r>
              </a:p>
            </p:txBody>
          </p:sp>
          <p:grpSp>
            <p:nvGrpSpPr>
              <p:cNvPr id="1140765" name="Group 29"/>
              <p:cNvGrpSpPr>
                <a:grpSpLocks/>
              </p:cNvGrpSpPr>
              <p:nvPr/>
            </p:nvGrpSpPr>
            <p:grpSpPr bwMode="auto">
              <a:xfrm>
                <a:off x="3358" y="3169"/>
                <a:ext cx="1217" cy="672"/>
                <a:chOff x="2322" y="3673"/>
                <a:chExt cx="1217" cy="672"/>
              </a:xfrm>
            </p:grpSpPr>
            <p:sp>
              <p:nvSpPr>
                <p:cNvPr id="1140766" name="Freeform 30"/>
                <p:cNvSpPr>
                  <a:spLocks/>
                </p:cNvSpPr>
                <p:nvPr/>
              </p:nvSpPr>
              <p:spPr bwMode="auto">
                <a:xfrm>
                  <a:off x="2322" y="3673"/>
                  <a:ext cx="1217"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40767" name="Text Box 31"/>
                <p:cNvSpPr txBox="1">
                  <a:spLocks noChangeArrowheads="1"/>
                </p:cNvSpPr>
                <p:nvPr/>
              </p:nvSpPr>
              <p:spPr bwMode="auto">
                <a:xfrm>
                  <a:off x="2828" y="3757"/>
                  <a:ext cx="310" cy="220"/>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dirty="0">
                      <a:ea typeface="宋体" pitchFamily="2" charset="-122"/>
                    </a:rPr>
                    <a:t>…</a:t>
                  </a:r>
                </a:p>
              </p:txBody>
            </p:sp>
          </p:grpSp>
          <p:sp>
            <p:nvSpPr>
              <p:cNvPr id="1140768" name="Line 32"/>
              <p:cNvSpPr>
                <a:spLocks noChangeShapeType="1"/>
              </p:cNvSpPr>
              <p:nvPr/>
            </p:nvSpPr>
            <p:spPr bwMode="auto">
              <a:xfrm>
                <a:off x="3370" y="1899"/>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40769" name="Text Box 33"/>
              <p:cNvSpPr txBox="1">
                <a:spLocks noChangeArrowheads="1"/>
              </p:cNvSpPr>
              <p:nvPr/>
            </p:nvSpPr>
            <p:spPr bwMode="auto">
              <a:xfrm>
                <a:off x="2900" y="68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7030A0"/>
                    </a:solidFill>
                    <a:ea typeface="宋体" pitchFamily="2" charset="-122"/>
                  </a:rPr>
                  <a:t>2000</a:t>
                </a:r>
              </a:p>
            </p:txBody>
          </p:sp>
          <p:sp>
            <p:nvSpPr>
              <p:cNvPr id="1140771" name="Line 35"/>
              <p:cNvSpPr>
                <a:spLocks noChangeShapeType="1"/>
              </p:cNvSpPr>
              <p:nvPr/>
            </p:nvSpPr>
            <p:spPr bwMode="auto">
              <a:xfrm>
                <a:off x="3353" y="2262"/>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40772" name="Line 36"/>
              <p:cNvSpPr>
                <a:spLocks noChangeShapeType="1"/>
              </p:cNvSpPr>
              <p:nvPr/>
            </p:nvSpPr>
            <p:spPr bwMode="auto">
              <a:xfrm>
                <a:off x="3353" y="2451"/>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0773" name="Text Box 37"/>
              <p:cNvSpPr txBox="1">
                <a:spLocks noChangeArrowheads="1"/>
              </p:cNvSpPr>
              <p:nvPr/>
            </p:nvSpPr>
            <p:spPr bwMode="auto">
              <a:xfrm>
                <a:off x="3015" y="1293"/>
                <a:ext cx="310" cy="220"/>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dirty="0">
                    <a:ea typeface="宋体" pitchFamily="2" charset="-122"/>
                  </a:rPr>
                  <a:t>…</a:t>
                </a:r>
              </a:p>
            </p:txBody>
          </p:sp>
        </p:grpSp>
        <p:sp>
          <p:nvSpPr>
            <p:cNvPr id="54" name="Line 24"/>
            <p:cNvSpPr>
              <a:spLocks noChangeShapeType="1"/>
            </p:cNvSpPr>
            <p:nvPr/>
          </p:nvSpPr>
          <p:spPr bwMode="auto">
            <a:xfrm>
              <a:off x="5352056" y="1700808"/>
              <a:ext cx="1922463"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55" name="Line 24"/>
            <p:cNvSpPr>
              <a:spLocks noChangeShapeType="1"/>
            </p:cNvSpPr>
            <p:nvPr/>
          </p:nvSpPr>
          <p:spPr bwMode="auto">
            <a:xfrm>
              <a:off x="5364088" y="1988840"/>
              <a:ext cx="1922463"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56" name="Text Box 28"/>
            <p:cNvSpPr txBox="1">
              <a:spLocks noChangeArrowheads="1"/>
            </p:cNvSpPr>
            <p:nvPr/>
          </p:nvSpPr>
          <p:spPr bwMode="auto">
            <a:xfrm>
              <a:off x="6106486" y="2313532"/>
              <a:ext cx="492443" cy="348813"/>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dirty="0">
                  <a:ea typeface="宋体" pitchFamily="2" charset="-122"/>
                </a:rPr>
                <a:t>…</a:t>
              </a:r>
            </a:p>
          </p:txBody>
        </p:sp>
        <p:sp>
          <p:nvSpPr>
            <p:cNvPr id="57" name="Line 32"/>
            <p:cNvSpPr>
              <a:spLocks noChangeShapeType="1"/>
            </p:cNvSpPr>
            <p:nvPr/>
          </p:nvSpPr>
          <p:spPr bwMode="auto">
            <a:xfrm>
              <a:off x="5364088" y="3284984"/>
              <a:ext cx="1922463"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58" name="Line 35"/>
            <p:cNvSpPr>
              <a:spLocks noChangeShapeType="1"/>
            </p:cNvSpPr>
            <p:nvPr/>
          </p:nvSpPr>
          <p:spPr bwMode="auto">
            <a:xfrm>
              <a:off x="5352056" y="4161112"/>
              <a:ext cx="1922463"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59" name="Line 35"/>
            <p:cNvSpPr>
              <a:spLocks noChangeShapeType="1"/>
            </p:cNvSpPr>
            <p:nvPr/>
          </p:nvSpPr>
          <p:spPr bwMode="auto">
            <a:xfrm>
              <a:off x="5352056" y="4449144"/>
              <a:ext cx="1922463"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60" name="Line 35"/>
            <p:cNvSpPr>
              <a:spLocks noChangeShapeType="1"/>
            </p:cNvSpPr>
            <p:nvPr/>
          </p:nvSpPr>
          <p:spPr bwMode="auto">
            <a:xfrm>
              <a:off x="5340024" y="4725144"/>
              <a:ext cx="1922463" cy="0"/>
            </a:xfrm>
            <a:prstGeom prst="line">
              <a:avLst/>
            </a:prstGeom>
            <a:noFill/>
            <a:ln w="9525">
              <a:solidFill>
                <a:srgbClr val="000000"/>
              </a:solidFill>
              <a:prstDash val="dash"/>
              <a:round/>
              <a:headEnd/>
              <a:tailEnd/>
            </a:ln>
            <a:effectLst/>
          </p:spPr>
          <p:txBody>
            <a:bodyPr wrap="none" anchor="ctr"/>
            <a:lstStyle/>
            <a:p>
              <a:endParaRPr lang="zh-CN" altLang="en-US"/>
            </a:p>
          </p:txBody>
        </p:sp>
      </p:grpSp>
      <p:sp>
        <p:nvSpPr>
          <p:cNvPr id="1140738" name="Text Box 2" descr="信纸"/>
          <p:cNvSpPr txBox="1">
            <a:spLocks noChangeArrowheads="1"/>
          </p:cNvSpPr>
          <p:nvPr/>
        </p:nvSpPr>
        <p:spPr bwMode="auto">
          <a:xfrm>
            <a:off x="1559497" y="1944758"/>
            <a:ext cx="3451744" cy="1225550"/>
          </a:xfrm>
          <a:prstGeom prst="rect">
            <a:avLst/>
          </a:prstGeom>
          <a:solidFill>
            <a:schemeClr val="bg1"/>
          </a:soli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 </a:t>
            </a:r>
            <a:r>
              <a:rPr lang="zh-CN" altLang="en-US" dirty="0">
                <a:latin typeface="隶书" pitchFamily="49" charset="-122"/>
                <a:ea typeface="隶书" pitchFamily="49" charset="-122"/>
              </a:rPr>
              <a:t>  </a:t>
            </a:r>
            <a:r>
              <a:rPr lang="en-US" altLang="zh-CN" dirty="0">
                <a:ea typeface="隶书" pitchFamily="49" charset="-122"/>
              </a:rPr>
              <a:t>int </a:t>
            </a:r>
            <a:r>
              <a:rPr lang="en-US" altLang="zh-CN" dirty="0">
                <a:ea typeface="宋体" pitchFamily="2" charset="-122"/>
              </a:rPr>
              <a:t> a;</a:t>
            </a:r>
          </a:p>
          <a:p>
            <a:pPr>
              <a:lnSpc>
                <a:spcPct val="100000"/>
              </a:lnSpc>
              <a:spcBef>
                <a:spcPct val="0"/>
              </a:spcBef>
            </a:pPr>
            <a:r>
              <a:rPr lang="en-US" altLang="zh-CN" dirty="0">
                <a:ea typeface="宋体" pitchFamily="2" charset="-122"/>
              </a:rPr>
              <a:t>          int  *p;</a:t>
            </a:r>
          </a:p>
          <a:p>
            <a:pPr>
              <a:lnSpc>
                <a:spcPct val="100000"/>
              </a:lnSpc>
              <a:spcBef>
                <a:spcPct val="0"/>
              </a:spcBef>
            </a:pPr>
            <a:r>
              <a:rPr lang="en-US" altLang="zh-CN" dirty="0">
                <a:solidFill>
                  <a:srgbClr val="C00000"/>
                </a:solidFill>
                <a:ea typeface="宋体" pitchFamily="2" charset="-122"/>
              </a:rPr>
              <a:t>          p = &amp;a;</a:t>
            </a:r>
          </a:p>
        </p:txBody>
      </p:sp>
      <p:sp>
        <p:nvSpPr>
          <p:cNvPr id="1140742" name="Rectangle 6"/>
          <p:cNvSpPr>
            <a:spLocks noChangeArrowheads="1"/>
          </p:cNvSpPr>
          <p:nvPr/>
        </p:nvSpPr>
        <p:spPr bwMode="auto">
          <a:xfrm>
            <a:off x="932640" y="1348800"/>
            <a:ext cx="2441694" cy="461665"/>
          </a:xfrm>
          <a:prstGeom prst="rect">
            <a:avLst/>
          </a:prstGeom>
          <a:noFill/>
          <a:ln w="9525">
            <a:noFill/>
            <a:miter lim="800000"/>
            <a:headEnd/>
            <a:tailEnd/>
          </a:ln>
          <a:effectLst/>
        </p:spPr>
        <p:txBody>
          <a:bodyPr wrap="none">
            <a:spAutoFit/>
          </a:bodyPr>
          <a:lstStyle/>
          <a:p>
            <a:pPr>
              <a:lnSpc>
                <a:spcPct val="100000"/>
              </a:lnSpc>
              <a:buFont typeface="Wingdings" pitchFamily="2" charset="2"/>
              <a:buChar char="Ø"/>
            </a:pPr>
            <a:r>
              <a:rPr lang="en-US" altLang="zh-CN" dirty="0">
                <a:solidFill>
                  <a:srgbClr val="C00000"/>
                </a:solidFill>
                <a:latin typeface="+mn-lt"/>
                <a:ea typeface="楷体" pitchFamily="49" charset="-122"/>
              </a:rPr>
              <a:t> </a:t>
            </a:r>
            <a:r>
              <a:rPr lang="zh-CN" altLang="en-US" dirty="0">
                <a:solidFill>
                  <a:srgbClr val="C00000"/>
                </a:solidFill>
                <a:latin typeface="+mn-lt"/>
                <a:ea typeface="楷体" pitchFamily="49" charset="-122"/>
              </a:rPr>
              <a:t>赋值语句赋值</a:t>
            </a:r>
          </a:p>
        </p:txBody>
      </p:sp>
      <p:sp>
        <p:nvSpPr>
          <p:cNvPr id="1140743" name="Text Box 7" descr="信纸"/>
          <p:cNvSpPr txBox="1">
            <a:spLocks noChangeArrowheads="1"/>
          </p:cNvSpPr>
          <p:nvPr/>
        </p:nvSpPr>
        <p:spPr bwMode="auto">
          <a:xfrm>
            <a:off x="1559498" y="3438596"/>
            <a:ext cx="3450158" cy="2320925"/>
          </a:xfrm>
          <a:prstGeom prst="rect">
            <a:avLst/>
          </a:prstGeom>
          <a:solidFill>
            <a:schemeClr val="bg1"/>
          </a:soli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a:t>
            </a:r>
            <a:r>
              <a:rPr lang="zh-CN" altLang="en-US" dirty="0">
                <a:latin typeface="隶书" pitchFamily="49" charset="-122"/>
                <a:ea typeface="隶书" pitchFamily="49" charset="-122"/>
              </a:rPr>
              <a:t> </a:t>
            </a:r>
          </a:p>
          <a:p>
            <a:pPr>
              <a:lnSpc>
                <a:spcPct val="100000"/>
              </a:lnSpc>
              <a:spcBef>
                <a:spcPct val="0"/>
              </a:spcBef>
            </a:pPr>
            <a:r>
              <a:rPr lang="zh-CN" altLang="en-US" dirty="0">
                <a:latin typeface="隶书" pitchFamily="49" charset="-122"/>
                <a:ea typeface="隶书" pitchFamily="49" charset="-122"/>
              </a:rPr>
              <a:t>   </a:t>
            </a:r>
          </a:p>
          <a:p>
            <a:pPr>
              <a:lnSpc>
                <a:spcPct val="100000"/>
              </a:lnSpc>
              <a:spcBef>
                <a:spcPct val="0"/>
              </a:spcBef>
            </a:pPr>
            <a:endParaRPr lang="zh-CN" altLang="en-US" dirty="0">
              <a:latin typeface="隶书" pitchFamily="49" charset="-122"/>
              <a:ea typeface="隶书" pitchFamily="49" charset="-122"/>
            </a:endParaRPr>
          </a:p>
          <a:p>
            <a:pPr>
              <a:lnSpc>
                <a:spcPct val="100000"/>
              </a:lnSpc>
              <a:spcBef>
                <a:spcPct val="0"/>
              </a:spcBef>
            </a:pPr>
            <a:endParaRPr lang="zh-CN" altLang="en-US" dirty="0">
              <a:latin typeface="隶书" pitchFamily="49" charset="-122"/>
              <a:ea typeface="隶书" pitchFamily="49" charset="-122"/>
            </a:endParaRPr>
          </a:p>
          <a:p>
            <a:pPr>
              <a:lnSpc>
                <a:spcPct val="100000"/>
              </a:lnSpc>
              <a:spcBef>
                <a:spcPct val="0"/>
              </a:spcBef>
            </a:pPr>
            <a:endParaRPr lang="zh-CN" altLang="en-US" dirty="0">
              <a:latin typeface="隶书" pitchFamily="49" charset="-122"/>
              <a:ea typeface="隶书" pitchFamily="49" charset="-122"/>
            </a:endParaRPr>
          </a:p>
          <a:p>
            <a:pPr>
              <a:lnSpc>
                <a:spcPct val="100000"/>
              </a:lnSpc>
              <a:spcBef>
                <a:spcPct val="0"/>
              </a:spcBef>
            </a:pPr>
            <a:endParaRPr lang="en-US" altLang="zh-CN" dirty="0">
              <a:solidFill>
                <a:srgbClr val="CC0099"/>
              </a:solidFill>
              <a:ea typeface="宋体" pitchFamily="2" charset="-122"/>
            </a:endParaRPr>
          </a:p>
        </p:txBody>
      </p:sp>
      <p:sp>
        <p:nvSpPr>
          <p:cNvPr id="1140744" name="Rectangle 8"/>
          <p:cNvSpPr>
            <a:spLocks noChangeArrowheads="1"/>
          </p:cNvSpPr>
          <p:nvPr/>
        </p:nvSpPr>
        <p:spPr bwMode="auto">
          <a:xfrm>
            <a:off x="2331541" y="3759270"/>
            <a:ext cx="2109788" cy="457200"/>
          </a:xfrm>
          <a:prstGeom prst="rect">
            <a:avLst/>
          </a:prstGeom>
          <a:noFill/>
          <a:ln w="9525" algn="ctr">
            <a:noFill/>
            <a:miter lim="800000"/>
            <a:headEnd/>
            <a:tailEnd/>
          </a:ln>
          <a:effectLst/>
        </p:spPr>
        <p:txBody>
          <a:bodyPr wrap="none">
            <a:spAutoFit/>
          </a:bodyPr>
          <a:lstStyle/>
          <a:p>
            <a:pPr marL="742950" indent="-285750">
              <a:lnSpc>
                <a:spcPct val="100000"/>
              </a:lnSpc>
              <a:spcBef>
                <a:spcPct val="0"/>
              </a:spcBef>
            </a:pPr>
            <a:r>
              <a:rPr lang="en-US" altLang="zh-CN"/>
              <a:t>int  a = 20 ;</a:t>
            </a:r>
          </a:p>
        </p:txBody>
      </p:sp>
      <p:sp>
        <p:nvSpPr>
          <p:cNvPr id="1140745" name="Rectangle 9"/>
          <p:cNvSpPr>
            <a:spLocks noChangeArrowheads="1"/>
          </p:cNvSpPr>
          <p:nvPr/>
        </p:nvSpPr>
        <p:spPr bwMode="auto">
          <a:xfrm>
            <a:off x="2234705" y="4191070"/>
            <a:ext cx="2124075" cy="457200"/>
          </a:xfrm>
          <a:prstGeom prst="rect">
            <a:avLst/>
          </a:prstGeom>
          <a:noFill/>
          <a:ln w="9525" algn="ctr">
            <a:noFill/>
            <a:miter lim="800000"/>
            <a:headEnd/>
            <a:tailEnd/>
          </a:ln>
          <a:effectLst/>
        </p:spPr>
        <p:txBody>
          <a:bodyPr wrap="none">
            <a:spAutoFit/>
          </a:bodyPr>
          <a:lstStyle/>
          <a:p>
            <a:pPr marL="742950" indent="-285750">
              <a:lnSpc>
                <a:spcPct val="100000"/>
              </a:lnSpc>
              <a:spcBef>
                <a:spcPct val="0"/>
              </a:spcBef>
            </a:pPr>
            <a:r>
              <a:rPr lang="en-US" altLang="zh-CN"/>
              <a:t> int  *p, *q;</a:t>
            </a:r>
          </a:p>
        </p:txBody>
      </p:sp>
      <p:sp>
        <p:nvSpPr>
          <p:cNvPr id="1140746" name="Rectangle 10"/>
          <p:cNvSpPr>
            <a:spLocks noChangeArrowheads="1"/>
          </p:cNvSpPr>
          <p:nvPr/>
        </p:nvSpPr>
        <p:spPr bwMode="auto">
          <a:xfrm>
            <a:off x="2307729" y="4581595"/>
            <a:ext cx="1644650" cy="457200"/>
          </a:xfrm>
          <a:prstGeom prst="rect">
            <a:avLst/>
          </a:prstGeom>
          <a:noFill/>
          <a:ln w="9525" algn="ctr">
            <a:noFill/>
            <a:miter lim="800000"/>
            <a:headEnd/>
            <a:tailEnd/>
          </a:ln>
          <a:effectLst/>
        </p:spPr>
        <p:txBody>
          <a:bodyPr wrap="none">
            <a:spAutoFit/>
          </a:bodyPr>
          <a:lstStyle/>
          <a:p>
            <a:pPr marL="742950" indent="-285750">
              <a:lnSpc>
                <a:spcPct val="100000"/>
              </a:lnSpc>
              <a:spcBef>
                <a:spcPct val="0"/>
              </a:spcBef>
            </a:pPr>
            <a:r>
              <a:rPr lang="en-US" altLang="zh-CN" dirty="0">
                <a:solidFill>
                  <a:srgbClr val="C00000"/>
                </a:solidFill>
              </a:rPr>
              <a:t>p = &amp;a;</a:t>
            </a:r>
          </a:p>
        </p:txBody>
      </p:sp>
      <p:sp>
        <p:nvSpPr>
          <p:cNvPr id="1140747" name="Rectangle 11"/>
          <p:cNvSpPr>
            <a:spLocks noChangeArrowheads="1"/>
          </p:cNvSpPr>
          <p:nvPr/>
        </p:nvSpPr>
        <p:spPr bwMode="auto">
          <a:xfrm>
            <a:off x="2204542" y="5013395"/>
            <a:ext cx="1484313" cy="457200"/>
          </a:xfrm>
          <a:prstGeom prst="rect">
            <a:avLst/>
          </a:prstGeom>
          <a:noFill/>
          <a:ln w="9525" algn="ctr">
            <a:noFill/>
            <a:miter lim="800000"/>
            <a:headEnd/>
            <a:tailEnd/>
          </a:ln>
          <a:effectLst/>
        </p:spPr>
        <p:txBody>
          <a:bodyPr wrap="none">
            <a:spAutoFit/>
          </a:bodyPr>
          <a:lstStyle/>
          <a:p>
            <a:pPr marL="742950" indent="-285750">
              <a:lnSpc>
                <a:spcPct val="100000"/>
              </a:lnSpc>
              <a:spcBef>
                <a:spcPct val="0"/>
              </a:spcBef>
            </a:pPr>
            <a:r>
              <a:rPr lang="en-US" altLang="zh-CN" dirty="0">
                <a:solidFill>
                  <a:srgbClr val="C00000"/>
                </a:solidFill>
              </a:rPr>
              <a:t> q = p;</a:t>
            </a:r>
          </a:p>
        </p:txBody>
      </p:sp>
      <p:grpSp>
        <p:nvGrpSpPr>
          <p:cNvPr id="1140748" name="Group 12"/>
          <p:cNvGrpSpPr>
            <a:grpSpLocks/>
          </p:cNvGrpSpPr>
          <p:nvPr/>
        </p:nvGrpSpPr>
        <p:grpSpPr bwMode="auto">
          <a:xfrm>
            <a:off x="8669660" y="1641252"/>
            <a:ext cx="1674812" cy="400050"/>
            <a:chOff x="4595" y="671"/>
            <a:chExt cx="1055" cy="252"/>
          </a:xfrm>
        </p:grpSpPr>
        <p:sp>
          <p:nvSpPr>
            <p:cNvPr id="1140749" name="Line 13"/>
            <p:cNvSpPr>
              <a:spLocks noChangeShapeType="1"/>
            </p:cNvSpPr>
            <p:nvPr/>
          </p:nvSpPr>
          <p:spPr bwMode="auto">
            <a:xfrm flipH="1">
              <a:off x="4595" y="799"/>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sp>
          <p:nvSpPr>
            <p:cNvPr id="1140750" name="Text Box 14"/>
            <p:cNvSpPr txBox="1">
              <a:spLocks noChangeArrowheads="1"/>
            </p:cNvSpPr>
            <p:nvPr/>
          </p:nvSpPr>
          <p:spPr bwMode="auto">
            <a:xfrm>
              <a:off x="4802" y="671"/>
              <a:ext cx="848"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latin typeface="+mn-lt"/>
                  <a:ea typeface="楷体" pitchFamily="49" charset="-122"/>
                </a:rPr>
                <a:t>整型变量</a:t>
              </a:r>
              <a:r>
                <a:rPr lang="en-US" altLang="zh-CN" sz="2000" dirty="0">
                  <a:solidFill>
                    <a:schemeClr val="accent2">
                      <a:lumMod val="50000"/>
                    </a:schemeClr>
                  </a:solidFill>
                  <a:latin typeface="+mn-lt"/>
                  <a:ea typeface="楷体" pitchFamily="49" charset="-122"/>
                </a:rPr>
                <a:t>a</a:t>
              </a:r>
            </a:p>
          </p:txBody>
        </p:sp>
      </p:grpSp>
      <p:grpSp>
        <p:nvGrpSpPr>
          <p:cNvPr id="1140751" name="Group 15"/>
          <p:cNvGrpSpPr>
            <a:grpSpLocks/>
          </p:cNvGrpSpPr>
          <p:nvPr/>
        </p:nvGrpSpPr>
        <p:grpSpPr bwMode="auto">
          <a:xfrm>
            <a:off x="8650610" y="3214466"/>
            <a:ext cx="1636712" cy="396875"/>
            <a:chOff x="4583" y="1662"/>
            <a:chExt cx="1031" cy="250"/>
          </a:xfrm>
        </p:grpSpPr>
        <p:sp>
          <p:nvSpPr>
            <p:cNvPr id="1140752" name="Line 16"/>
            <p:cNvSpPr>
              <a:spLocks noChangeShapeType="1"/>
            </p:cNvSpPr>
            <p:nvPr/>
          </p:nvSpPr>
          <p:spPr bwMode="auto">
            <a:xfrm flipH="1">
              <a:off x="4583" y="1785"/>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sp>
          <p:nvSpPr>
            <p:cNvPr id="1140753" name="Text Box 17"/>
            <p:cNvSpPr txBox="1">
              <a:spLocks noChangeArrowheads="1"/>
            </p:cNvSpPr>
            <p:nvPr/>
          </p:nvSpPr>
          <p:spPr bwMode="auto">
            <a:xfrm>
              <a:off x="4765" y="1662"/>
              <a:ext cx="849"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latin typeface="+mn-lt"/>
                  <a:ea typeface="楷体" pitchFamily="49" charset="-122"/>
                </a:rPr>
                <a:t>指针变量</a:t>
              </a:r>
              <a:r>
                <a:rPr lang="en-US" altLang="zh-CN" sz="2000" dirty="0">
                  <a:solidFill>
                    <a:srgbClr val="C00000"/>
                  </a:solidFill>
                  <a:latin typeface="+mn-lt"/>
                  <a:ea typeface="楷体" pitchFamily="49" charset="-122"/>
                </a:rPr>
                <a:t>p</a:t>
              </a:r>
            </a:p>
          </p:txBody>
        </p:sp>
      </p:grpSp>
      <p:grpSp>
        <p:nvGrpSpPr>
          <p:cNvPr id="1140754" name="Group 18"/>
          <p:cNvGrpSpPr>
            <a:grpSpLocks/>
          </p:cNvGrpSpPr>
          <p:nvPr/>
        </p:nvGrpSpPr>
        <p:grpSpPr bwMode="auto">
          <a:xfrm>
            <a:off x="8666485" y="4363816"/>
            <a:ext cx="1636712" cy="396875"/>
            <a:chOff x="4593" y="2386"/>
            <a:chExt cx="1031" cy="250"/>
          </a:xfrm>
        </p:grpSpPr>
        <p:sp>
          <p:nvSpPr>
            <p:cNvPr id="1140755" name="Line 19"/>
            <p:cNvSpPr>
              <a:spLocks noChangeShapeType="1"/>
            </p:cNvSpPr>
            <p:nvPr/>
          </p:nvSpPr>
          <p:spPr bwMode="auto">
            <a:xfrm flipH="1">
              <a:off x="4593" y="2523"/>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sp>
          <p:nvSpPr>
            <p:cNvPr id="1140756" name="Text Box 20"/>
            <p:cNvSpPr txBox="1">
              <a:spLocks noChangeArrowheads="1"/>
            </p:cNvSpPr>
            <p:nvPr/>
          </p:nvSpPr>
          <p:spPr bwMode="auto">
            <a:xfrm>
              <a:off x="4775" y="2386"/>
              <a:ext cx="849"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latin typeface="+mn-lt"/>
                  <a:ea typeface="楷体" pitchFamily="49" charset="-122"/>
                </a:rPr>
                <a:t>指针变量</a:t>
              </a:r>
              <a:r>
                <a:rPr lang="en-US" altLang="zh-CN" sz="2000" dirty="0">
                  <a:solidFill>
                    <a:srgbClr val="C00000"/>
                  </a:solidFill>
                  <a:latin typeface="+mn-lt"/>
                  <a:ea typeface="楷体" pitchFamily="49" charset="-122"/>
                </a:rPr>
                <a:t>q</a:t>
              </a:r>
            </a:p>
          </p:txBody>
        </p:sp>
      </p:grpSp>
      <p:sp>
        <p:nvSpPr>
          <p:cNvPr id="1140774" name="Text Box 38"/>
          <p:cNvSpPr txBox="1">
            <a:spLocks noChangeArrowheads="1"/>
          </p:cNvSpPr>
          <p:nvPr/>
        </p:nvSpPr>
        <p:spPr bwMode="auto">
          <a:xfrm>
            <a:off x="7410772" y="2024911"/>
            <a:ext cx="438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chemeClr val="accent2">
                    <a:lumMod val="50000"/>
                  </a:schemeClr>
                </a:solidFill>
                <a:ea typeface="宋体" pitchFamily="2" charset="-122"/>
              </a:rPr>
              <a:t>20</a:t>
            </a:r>
          </a:p>
        </p:txBody>
      </p:sp>
      <p:grpSp>
        <p:nvGrpSpPr>
          <p:cNvPr id="1140775" name="Group 39"/>
          <p:cNvGrpSpPr>
            <a:grpSpLocks/>
          </p:cNvGrpSpPr>
          <p:nvPr/>
        </p:nvGrpSpPr>
        <p:grpSpPr bwMode="auto">
          <a:xfrm>
            <a:off x="5932810" y="1677765"/>
            <a:ext cx="1238250" cy="2184402"/>
            <a:chOff x="2871" y="694"/>
            <a:chExt cx="780" cy="1376"/>
          </a:xfrm>
        </p:grpSpPr>
        <p:sp>
          <p:nvSpPr>
            <p:cNvPr id="1140776" name="Oval 40"/>
            <p:cNvSpPr>
              <a:spLocks noChangeArrowheads="1"/>
            </p:cNvSpPr>
            <p:nvPr/>
          </p:nvSpPr>
          <p:spPr bwMode="auto">
            <a:xfrm>
              <a:off x="2871" y="694"/>
              <a:ext cx="454" cy="226"/>
            </a:xfrm>
            <a:prstGeom prst="ellipse">
              <a:avLst/>
            </a:prstGeom>
            <a:noFill/>
            <a:ln w="28575" algn="ctr">
              <a:solidFill>
                <a:srgbClr val="C00000"/>
              </a:solidFill>
              <a:round/>
              <a:headEnd/>
              <a:tailEnd/>
            </a:ln>
            <a:effectLst/>
          </p:spPr>
          <p:txBody>
            <a:bodyPr wrap="none" anchor="ctr"/>
            <a:lstStyle/>
            <a:p>
              <a:endParaRPr lang="zh-CN" altLang="en-US" dirty="0"/>
            </a:p>
          </p:txBody>
        </p:sp>
        <p:sp>
          <p:nvSpPr>
            <p:cNvPr id="1140777" name="Line 41"/>
            <p:cNvSpPr>
              <a:spLocks noChangeShapeType="1"/>
            </p:cNvSpPr>
            <p:nvPr/>
          </p:nvSpPr>
          <p:spPr bwMode="auto">
            <a:xfrm>
              <a:off x="3016" y="921"/>
              <a:ext cx="0" cy="1149"/>
            </a:xfrm>
            <a:prstGeom prst="line">
              <a:avLst/>
            </a:prstGeom>
            <a:noFill/>
            <a:ln w="28575">
              <a:solidFill>
                <a:srgbClr val="C00000"/>
              </a:solidFill>
              <a:round/>
              <a:headEnd/>
              <a:tailEnd/>
            </a:ln>
            <a:effectLst/>
          </p:spPr>
          <p:txBody>
            <a:bodyPr/>
            <a:lstStyle/>
            <a:p>
              <a:endParaRPr lang="zh-CN" altLang="en-US" dirty="0"/>
            </a:p>
          </p:txBody>
        </p:sp>
        <p:sp>
          <p:nvSpPr>
            <p:cNvPr id="1140778" name="Line 42"/>
            <p:cNvSpPr>
              <a:spLocks noChangeShapeType="1"/>
            </p:cNvSpPr>
            <p:nvPr/>
          </p:nvSpPr>
          <p:spPr bwMode="auto">
            <a:xfrm>
              <a:off x="3016" y="2060"/>
              <a:ext cx="635" cy="0"/>
            </a:xfrm>
            <a:prstGeom prst="line">
              <a:avLst/>
            </a:prstGeom>
            <a:noFill/>
            <a:ln w="28575">
              <a:solidFill>
                <a:srgbClr val="C00000"/>
              </a:solidFill>
              <a:round/>
              <a:headEnd/>
              <a:tailEnd type="stealth" w="lg" len="lg"/>
            </a:ln>
            <a:effectLst/>
          </p:spPr>
          <p:txBody>
            <a:bodyPr/>
            <a:lstStyle/>
            <a:p>
              <a:endParaRPr lang="zh-CN" altLang="en-US" dirty="0"/>
            </a:p>
          </p:txBody>
        </p:sp>
      </p:grpSp>
      <p:sp>
        <p:nvSpPr>
          <p:cNvPr id="1140779" name="Text Box 43"/>
          <p:cNvSpPr txBox="1">
            <a:spLocks noChangeArrowheads="1"/>
          </p:cNvSpPr>
          <p:nvPr/>
        </p:nvSpPr>
        <p:spPr bwMode="auto">
          <a:xfrm>
            <a:off x="7171234" y="3644076"/>
            <a:ext cx="1008063" cy="396875"/>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en-US" altLang="zh-CN" sz="2000" dirty="0">
                <a:solidFill>
                  <a:srgbClr val="C00000"/>
                </a:solidFill>
                <a:ea typeface="宋体" pitchFamily="2" charset="-122"/>
              </a:rPr>
              <a:t>2000</a:t>
            </a:r>
          </a:p>
        </p:txBody>
      </p:sp>
      <p:grpSp>
        <p:nvGrpSpPr>
          <p:cNvPr id="1140780" name="Group 44"/>
          <p:cNvGrpSpPr>
            <a:grpSpLocks/>
          </p:cNvGrpSpPr>
          <p:nvPr/>
        </p:nvGrpSpPr>
        <p:grpSpPr bwMode="auto">
          <a:xfrm>
            <a:off x="6004247" y="1988923"/>
            <a:ext cx="1295400" cy="1871669"/>
            <a:chOff x="2916" y="890"/>
            <a:chExt cx="816" cy="1179"/>
          </a:xfrm>
        </p:grpSpPr>
        <p:sp>
          <p:nvSpPr>
            <p:cNvPr id="1140781" name="Line 45"/>
            <p:cNvSpPr>
              <a:spLocks noChangeShapeType="1"/>
            </p:cNvSpPr>
            <p:nvPr/>
          </p:nvSpPr>
          <p:spPr bwMode="auto">
            <a:xfrm flipH="1">
              <a:off x="2916" y="2069"/>
              <a:ext cx="816" cy="0"/>
            </a:xfrm>
            <a:prstGeom prst="line">
              <a:avLst/>
            </a:prstGeom>
            <a:noFill/>
            <a:ln w="28575">
              <a:solidFill>
                <a:srgbClr val="C00000"/>
              </a:solidFill>
              <a:round/>
              <a:headEnd/>
              <a:tailEnd/>
            </a:ln>
            <a:effectLst/>
          </p:spPr>
          <p:txBody>
            <a:bodyPr/>
            <a:lstStyle/>
            <a:p>
              <a:endParaRPr lang="zh-CN" altLang="en-US"/>
            </a:p>
          </p:txBody>
        </p:sp>
        <p:sp>
          <p:nvSpPr>
            <p:cNvPr id="1140782" name="Line 46"/>
            <p:cNvSpPr>
              <a:spLocks noChangeShapeType="1"/>
            </p:cNvSpPr>
            <p:nvPr/>
          </p:nvSpPr>
          <p:spPr bwMode="auto">
            <a:xfrm>
              <a:off x="2925" y="890"/>
              <a:ext cx="409" cy="0"/>
            </a:xfrm>
            <a:prstGeom prst="line">
              <a:avLst/>
            </a:prstGeom>
            <a:noFill/>
            <a:ln w="28575">
              <a:solidFill>
                <a:srgbClr val="C00000"/>
              </a:solidFill>
              <a:round/>
              <a:headEnd/>
              <a:tailEnd type="stealth" w="lg" len="lg"/>
            </a:ln>
            <a:effectLst/>
          </p:spPr>
          <p:txBody>
            <a:bodyPr/>
            <a:lstStyle/>
            <a:p>
              <a:endParaRPr lang="zh-CN" altLang="en-US"/>
            </a:p>
          </p:txBody>
        </p:sp>
        <p:sp>
          <p:nvSpPr>
            <p:cNvPr id="1140783" name="Line 47"/>
            <p:cNvSpPr>
              <a:spLocks noChangeShapeType="1"/>
            </p:cNvSpPr>
            <p:nvPr/>
          </p:nvSpPr>
          <p:spPr bwMode="auto">
            <a:xfrm>
              <a:off x="2925" y="890"/>
              <a:ext cx="0" cy="1179"/>
            </a:xfrm>
            <a:prstGeom prst="line">
              <a:avLst/>
            </a:prstGeom>
            <a:noFill/>
            <a:ln w="28575">
              <a:solidFill>
                <a:srgbClr val="C00000"/>
              </a:solidFill>
              <a:round/>
              <a:headEnd/>
              <a:tailEnd/>
            </a:ln>
            <a:effectLst/>
          </p:spPr>
          <p:txBody>
            <a:bodyPr/>
            <a:lstStyle/>
            <a:p>
              <a:endParaRPr lang="zh-CN" altLang="en-US"/>
            </a:p>
          </p:txBody>
        </p:sp>
      </p:grpSp>
      <p:sp>
        <p:nvSpPr>
          <p:cNvPr id="1140785" name="Text Box 49"/>
          <p:cNvSpPr txBox="1">
            <a:spLocks noChangeArrowheads="1"/>
          </p:cNvSpPr>
          <p:nvPr/>
        </p:nvSpPr>
        <p:spPr bwMode="auto">
          <a:xfrm>
            <a:off x="7159202" y="4797127"/>
            <a:ext cx="1008063" cy="396875"/>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en-US" altLang="zh-CN" sz="2000" dirty="0">
                <a:solidFill>
                  <a:srgbClr val="7030A0"/>
                </a:solidFill>
                <a:ea typeface="宋体" pitchFamily="2" charset="-122"/>
              </a:rPr>
              <a:t>2000</a:t>
            </a:r>
          </a:p>
        </p:txBody>
      </p:sp>
      <p:grpSp>
        <p:nvGrpSpPr>
          <p:cNvPr id="1140786" name="Group 50"/>
          <p:cNvGrpSpPr>
            <a:grpSpLocks/>
          </p:cNvGrpSpPr>
          <p:nvPr/>
        </p:nvGrpSpPr>
        <p:grpSpPr bwMode="auto">
          <a:xfrm>
            <a:off x="5929547" y="1723864"/>
            <a:ext cx="1470025" cy="3289284"/>
            <a:chOff x="2923" y="1132"/>
            <a:chExt cx="816" cy="855"/>
          </a:xfrm>
        </p:grpSpPr>
        <p:sp>
          <p:nvSpPr>
            <p:cNvPr id="1140787" name="Line 51"/>
            <p:cNvSpPr>
              <a:spLocks noChangeShapeType="1"/>
            </p:cNvSpPr>
            <p:nvPr/>
          </p:nvSpPr>
          <p:spPr bwMode="auto">
            <a:xfrm flipH="1">
              <a:off x="2923" y="1985"/>
              <a:ext cx="816" cy="0"/>
            </a:xfrm>
            <a:prstGeom prst="line">
              <a:avLst/>
            </a:prstGeom>
            <a:noFill/>
            <a:ln w="28575">
              <a:solidFill>
                <a:srgbClr val="7030A0"/>
              </a:solidFill>
              <a:round/>
              <a:headEnd/>
              <a:tailEnd/>
            </a:ln>
            <a:effectLst/>
          </p:spPr>
          <p:txBody>
            <a:bodyPr/>
            <a:lstStyle/>
            <a:p>
              <a:endParaRPr lang="zh-CN" altLang="en-US"/>
            </a:p>
          </p:txBody>
        </p:sp>
        <p:sp>
          <p:nvSpPr>
            <p:cNvPr id="1140788" name="Line 52"/>
            <p:cNvSpPr>
              <a:spLocks noChangeShapeType="1"/>
            </p:cNvSpPr>
            <p:nvPr/>
          </p:nvSpPr>
          <p:spPr bwMode="auto">
            <a:xfrm>
              <a:off x="2933" y="1134"/>
              <a:ext cx="409" cy="0"/>
            </a:xfrm>
            <a:prstGeom prst="line">
              <a:avLst/>
            </a:prstGeom>
            <a:noFill/>
            <a:ln w="28575">
              <a:solidFill>
                <a:srgbClr val="7030A0"/>
              </a:solidFill>
              <a:round/>
              <a:headEnd/>
              <a:tailEnd type="stealth" w="lg" len="lg"/>
            </a:ln>
            <a:effectLst/>
          </p:spPr>
          <p:txBody>
            <a:bodyPr/>
            <a:lstStyle/>
            <a:p>
              <a:endParaRPr lang="zh-CN" altLang="en-US"/>
            </a:p>
          </p:txBody>
        </p:sp>
        <p:sp>
          <p:nvSpPr>
            <p:cNvPr id="1140789" name="Line 53"/>
            <p:cNvSpPr>
              <a:spLocks noChangeShapeType="1"/>
            </p:cNvSpPr>
            <p:nvPr/>
          </p:nvSpPr>
          <p:spPr bwMode="auto">
            <a:xfrm>
              <a:off x="2925" y="1132"/>
              <a:ext cx="0" cy="855"/>
            </a:xfrm>
            <a:prstGeom prst="line">
              <a:avLst/>
            </a:prstGeom>
            <a:noFill/>
            <a:ln w="28575">
              <a:solidFill>
                <a:srgbClr val="7030A0"/>
              </a:solidFill>
              <a:round/>
              <a:headEnd/>
              <a:tailEnd/>
            </a:ln>
            <a:effectLst/>
          </p:spPr>
          <p:txBody>
            <a:bodyPr/>
            <a:lstStyle/>
            <a:p>
              <a:endParaRPr lang="zh-CN" altLang="en-US"/>
            </a:p>
          </p:txBody>
        </p:sp>
      </p:grpSp>
      <p:sp>
        <p:nvSpPr>
          <p:cNvPr id="1140784" name="Line 48"/>
          <p:cNvSpPr>
            <a:spLocks noChangeShapeType="1"/>
          </p:cNvSpPr>
          <p:nvPr/>
        </p:nvSpPr>
        <p:spPr bwMode="auto">
          <a:xfrm>
            <a:off x="7663257" y="4028780"/>
            <a:ext cx="0" cy="792410"/>
          </a:xfrm>
          <a:prstGeom prst="line">
            <a:avLst/>
          </a:prstGeom>
          <a:noFill/>
          <a:ln w="28575">
            <a:solidFill>
              <a:srgbClr val="002060"/>
            </a:solidFill>
            <a:round/>
            <a:headEnd/>
            <a:tailEnd type="stealth" w="lg" len="lg"/>
          </a:ln>
          <a:effectLst/>
        </p:spPr>
        <p:txBody>
          <a:bodyPr/>
          <a:lstStyle/>
          <a:p>
            <a:endParaRPr lang="zh-CN" altLang="en-US"/>
          </a:p>
        </p:txBody>
      </p:sp>
      <p:sp>
        <p:nvSpPr>
          <p:cNvPr id="62" name="Rectangle 4">
            <a:extLst>
              <a:ext uri="{FF2B5EF4-FFF2-40B4-BE49-F238E27FC236}">
                <a16:creationId xmlns:a16="http://schemas.microsoft.com/office/drawing/2014/main" id="{1F0AB414-4D26-4865-8627-A4ACA9BE2F4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指针变量的定义和引用 </a:t>
            </a:r>
          </a:p>
        </p:txBody>
      </p:sp>
      <p:sp>
        <p:nvSpPr>
          <p:cNvPr id="63" name="Rectangle 12">
            <a:extLst>
              <a:ext uri="{FF2B5EF4-FFF2-40B4-BE49-F238E27FC236}">
                <a16:creationId xmlns:a16="http://schemas.microsoft.com/office/drawing/2014/main" id="{51D541EA-6FBF-443A-A854-4A7FF6249180}"/>
              </a:ext>
            </a:extLst>
          </p:cNvPr>
          <p:cNvSpPr>
            <a:spLocks noChangeArrowheads="1"/>
          </p:cNvSpPr>
          <p:nvPr/>
        </p:nvSpPr>
        <p:spPr bwMode="auto">
          <a:xfrm>
            <a:off x="672042" y="817548"/>
            <a:ext cx="6494462" cy="523220"/>
          </a:xfrm>
          <a:prstGeom prst="rect">
            <a:avLst/>
          </a:prstGeom>
          <a:noFill/>
          <a:ln w="9525">
            <a:noFill/>
            <a:miter lim="800000"/>
            <a:headEnd/>
            <a:tailEnd/>
          </a:ln>
          <a:effectLst/>
        </p:spPr>
        <p:txBody>
          <a:bodyPr>
            <a:spAutoFit/>
          </a:bodyPr>
          <a:lstStyle/>
          <a:p>
            <a:pPr marL="457200" indent="-457200">
              <a:lnSpc>
                <a:spcPct val="100000"/>
              </a:lnSpc>
              <a:spcBef>
                <a:spcPct val="0"/>
              </a:spcBef>
            </a:pPr>
            <a:r>
              <a:rPr lang="en-US" altLang="zh-CN" sz="2800" b="1" dirty="0">
                <a:solidFill>
                  <a:srgbClr val="C00000"/>
                </a:solidFill>
                <a:latin typeface="+mn-lt"/>
                <a:ea typeface="楷体" pitchFamily="49" charset="-122"/>
              </a:rPr>
              <a:t>4</a:t>
            </a:r>
            <a:r>
              <a:rPr lang="zh-CN" altLang="en-US" sz="2800" b="1" dirty="0">
                <a:solidFill>
                  <a:srgbClr val="C00000"/>
                </a:solidFill>
                <a:latin typeface="+mn-lt"/>
                <a:ea typeface="楷体" pitchFamily="49" charset="-122"/>
              </a:rPr>
              <a:t>、指针变量的赋值</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additive="base">
                                        <p:cTn id="7" dur="500" fill="hold"/>
                                        <p:tgtEl>
                                          <p:spTgt spid="63"/>
                                        </p:tgtEl>
                                        <p:attrNameLst>
                                          <p:attrName>ppt_x</p:attrName>
                                        </p:attrNameLst>
                                      </p:cBhvr>
                                      <p:tavLst>
                                        <p:tav tm="0">
                                          <p:val>
                                            <p:strVal val="0-#ppt_w/2"/>
                                          </p:val>
                                        </p:tav>
                                        <p:tav tm="100000">
                                          <p:val>
                                            <p:strVal val="#ppt_x"/>
                                          </p:val>
                                        </p:tav>
                                      </p:tavLst>
                                    </p:anim>
                                    <p:anim calcmode="lin" valueType="num">
                                      <p:cBhvr additive="base">
                                        <p:cTn id="8" dur="500" fill="hold"/>
                                        <p:tgtEl>
                                          <p:spTgt spid="6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40742"/>
                                        </p:tgtEl>
                                        <p:attrNameLst>
                                          <p:attrName>style.visibility</p:attrName>
                                        </p:attrNameLst>
                                      </p:cBhvr>
                                      <p:to>
                                        <p:strVal val="visible"/>
                                      </p:to>
                                    </p:set>
                                    <p:anim calcmode="lin" valueType="num">
                                      <p:cBhvr additive="base">
                                        <p:cTn id="13" dur="500" fill="hold"/>
                                        <p:tgtEl>
                                          <p:spTgt spid="1140742"/>
                                        </p:tgtEl>
                                        <p:attrNameLst>
                                          <p:attrName>ppt_x</p:attrName>
                                        </p:attrNameLst>
                                      </p:cBhvr>
                                      <p:tavLst>
                                        <p:tav tm="0">
                                          <p:val>
                                            <p:strVal val="0-#ppt_w/2"/>
                                          </p:val>
                                        </p:tav>
                                        <p:tav tm="100000">
                                          <p:val>
                                            <p:strVal val="#ppt_x"/>
                                          </p:val>
                                        </p:tav>
                                      </p:tavLst>
                                    </p:anim>
                                    <p:anim calcmode="lin" valueType="num">
                                      <p:cBhvr additive="base">
                                        <p:cTn id="14" dur="500" fill="hold"/>
                                        <p:tgtEl>
                                          <p:spTgt spid="114074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140738"/>
                                        </p:tgtEl>
                                        <p:attrNameLst>
                                          <p:attrName>style.visibility</p:attrName>
                                        </p:attrNameLst>
                                      </p:cBhvr>
                                      <p:to>
                                        <p:strVal val="visible"/>
                                      </p:to>
                                    </p:set>
                                    <p:animEffect transition="in" filter="box(out)">
                                      <p:cBhvr>
                                        <p:cTn id="19" dur="500"/>
                                        <p:tgtEl>
                                          <p:spTgt spid="1140738"/>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40743"/>
                                        </p:tgtEl>
                                        <p:attrNameLst>
                                          <p:attrName>style.visibility</p:attrName>
                                        </p:attrNameLst>
                                      </p:cBhvr>
                                      <p:to>
                                        <p:strVal val="visible"/>
                                      </p:to>
                                    </p:set>
                                    <p:animEffect transition="in" filter="box(out)">
                                      <p:cBhvr>
                                        <p:cTn id="24" dur="500"/>
                                        <p:tgtEl>
                                          <p:spTgt spid="1140743"/>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par>
                          <p:cTn id="25" fill="hold">
                            <p:stCondLst>
                              <p:cond delay="500"/>
                            </p:stCondLst>
                            <p:childTnLst>
                              <p:par>
                                <p:cTn id="26" presetID="4" presetClass="entr" presetSubtype="16" fill="hold" nodeType="after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box(in)">
                                      <p:cBhvr>
                                        <p:cTn id="28" dur="500"/>
                                        <p:tgtEl>
                                          <p:spTgt spid="61"/>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40744"/>
                                        </p:tgtEl>
                                        <p:attrNameLst>
                                          <p:attrName>style.visibility</p:attrName>
                                        </p:attrNameLst>
                                      </p:cBhvr>
                                      <p:to>
                                        <p:strVal val="visible"/>
                                      </p:to>
                                    </p:set>
                                    <p:anim calcmode="lin" valueType="num">
                                      <p:cBhvr additive="base">
                                        <p:cTn id="33" dur="500" fill="hold"/>
                                        <p:tgtEl>
                                          <p:spTgt spid="1140744"/>
                                        </p:tgtEl>
                                        <p:attrNameLst>
                                          <p:attrName>ppt_x</p:attrName>
                                        </p:attrNameLst>
                                      </p:cBhvr>
                                      <p:tavLst>
                                        <p:tav tm="0">
                                          <p:val>
                                            <p:strVal val="#ppt_x"/>
                                          </p:val>
                                        </p:tav>
                                        <p:tav tm="100000">
                                          <p:val>
                                            <p:strVal val="#ppt_x"/>
                                          </p:val>
                                        </p:tav>
                                      </p:tavLst>
                                    </p:anim>
                                    <p:anim calcmode="lin" valueType="num">
                                      <p:cBhvr additive="base">
                                        <p:cTn id="34" dur="500" fill="hold"/>
                                        <p:tgtEl>
                                          <p:spTgt spid="114074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par>
                          <p:cTn id="35" fill="hold">
                            <p:stCondLst>
                              <p:cond delay="500"/>
                            </p:stCondLst>
                            <p:childTnLst>
                              <p:par>
                                <p:cTn id="36" presetID="2" presetClass="entr" presetSubtype="2" fill="hold" nodeType="afterEffect">
                                  <p:stCondLst>
                                    <p:cond delay="0"/>
                                  </p:stCondLst>
                                  <p:childTnLst>
                                    <p:set>
                                      <p:cBhvr>
                                        <p:cTn id="37" dur="1" fill="hold">
                                          <p:stCondLst>
                                            <p:cond delay="0"/>
                                          </p:stCondLst>
                                        </p:cTn>
                                        <p:tgtEl>
                                          <p:spTgt spid="1140748"/>
                                        </p:tgtEl>
                                        <p:attrNameLst>
                                          <p:attrName>style.visibility</p:attrName>
                                        </p:attrNameLst>
                                      </p:cBhvr>
                                      <p:to>
                                        <p:strVal val="visible"/>
                                      </p:to>
                                    </p:set>
                                    <p:anim calcmode="lin" valueType="num">
                                      <p:cBhvr additive="base">
                                        <p:cTn id="38" dur="500" fill="hold"/>
                                        <p:tgtEl>
                                          <p:spTgt spid="1140748"/>
                                        </p:tgtEl>
                                        <p:attrNameLst>
                                          <p:attrName>ppt_x</p:attrName>
                                        </p:attrNameLst>
                                      </p:cBhvr>
                                      <p:tavLst>
                                        <p:tav tm="0">
                                          <p:val>
                                            <p:strVal val="1+#ppt_w/2"/>
                                          </p:val>
                                        </p:tav>
                                        <p:tav tm="100000">
                                          <p:val>
                                            <p:strVal val="#ppt_x"/>
                                          </p:val>
                                        </p:tav>
                                      </p:tavLst>
                                    </p:anim>
                                    <p:anim calcmode="lin" valueType="num">
                                      <p:cBhvr additive="base">
                                        <p:cTn id="39" dur="500" fill="hold"/>
                                        <p:tgtEl>
                                          <p:spTgt spid="114074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par>
                          <p:cTn id="40" fill="hold">
                            <p:stCondLst>
                              <p:cond delay="1000"/>
                            </p:stCondLst>
                            <p:childTnLst>
                              <p:par>
                                <p:cTn id="41" presetID="4" presetClass="entr" presetSubtype="16" fill="hold" grpId="0" nodeType="afterEffect">
                                  <p:stCondLst>
                                    <p:cond delay="0"/>
                                  </p:stCondLst>
                                  <p:childTnLst>
                                    <p:set>
                                      <p:cBhvr>
                                        <p:cTn id="42" dur="1" fill="hold">
                                          <p:stCondLst>
                                            <p:cond delay="0"/>
                                          </p:stCondLst>
                                        </p:cTn>
                                        <p:tgtEl>
                                          <p:spTgt spid="1140774"/>
                                        </p:tgtEl>
                                        <p:attrNameLst>
                                          <p:attrName>style.visibility</p:attrName>
                                        </p:attrNameLst>
                                      </p:cBhvr>
                                      <p:to>
                                        <p:strVal val="visible"/>
                                      </p:to>
                                    </p:set>
                                    <p:animEffect transition="in" filter="box(in)">
                                      <p:cBhvr>
                                        <p:cTn id="43" dur="500"/>
                                        <p:tgtEl>
                                          <p:spTgt spid="1140774"/>
                                        </p:tgtEl>
                                      </p:cBhvr>
                                    </p:animEffect>
                                  </p:childTnLst>
                                  <p:subTnLst>
                                    <p:audio>
                                      <p:cMediaNode>
                                        <p:cTn display="0" masterRel="sameClick">
                                          <p:stCondLst>
                                            <p:cond evt="begin" delay="0">
                                              <p:tn val="41"/>
                                            </p:cond>
                                          </p:stCondLst>
                                          <p:endCondLst>
                                            <p:cond evt="onStopAudio" delay="0">
                                              <p:tgtEl>
                                                <p:sldTgt/>
                                              </p:tgtEl>
                                            </p:cond>
                                          </p:endCondLst>
                                        </p:cTn>
                                        <p:tgtEl>
                                          <p:sndTgt r:embed="rId4" name="laser.wav"/>
                                        </p:tgtEl>
                                      </p:cMediaNode>
                                    </p:audio>
                                  </p:sub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140745"/>
                                        </p:tgtEl>
                                        <p:attrNameLst>
                                          <p:attrName>style.visibility</p:attrName>
                                        </p:attrNameLst>
                                      </p:cBhvr>
                                      <p:to>
                                        <p:strVal val="visible"/>
                                      </p:to>
                                    </p:set>
                                    <p:anim calcmode="lin" valueType="num">
                                      <p:cBhvr additive="base">
                                        <p:cTn id="48" dur="500" fill="hold"/>
                                        <p:tgtEl>
                                          <p:spTgt spid="1140745"/>
                                        </p:tgtEl>
                                        <p:attrNameLst>
                                          <p:attrName>ppt_x</p:attrName>
                                        </p:attrNameLst>
                                      </p:cBhvr>
                                      <p:tavLst>
                                        <p:tav tm="0">
                                          <p:val>
                                            <p:strVal val="#ppt_x"/>
                                          </p:val>
                                        </p:tav>
                                        <p:tav tm="100000">
                                          <p:val>
                                            <p:strVal val="#ppt_x"/>
                                          </p:val>
                                        </p:tav>
                                      </p:tavLst>
                                    </p:anim>
                                    <p:anim calcmode="lin" valueType="num">
                                      <p:cBhvr additive="base">
                                        <p:cTn id="49" dur="500" fill="hold"/>
                                        <p:tgtEl>
                                          <p:spTgt spid="114074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par>
                          <p:cTn id="50" fill="hold">
                            <p:stCondLst>
                              <p:cond delay="500"/>
                            </p:stCondLst>
                            <p:childTnLst>
                              <p:par>
                                <p:cTn id="51" presetID="2" presetClass="entr" presetSubtype="2" fill="hold" nodeType="afterEffect">
                                  <p:stCondLst>
                                    <p:cond delay="0"/>
                                  </p:stCondLst>
                                  <p:childTnLst>
                                    <p:set>
                                      <p:cBhvr>
                                        <p:cTn id="52" dur="1" fill="hold">
                                          <p:stCondLst>
                                            <p:cond delay="0"/>
                                          </p:stCondLst>
                                        </p:cTn>
                                        <p:tgtEl>
                                          <p:spTgt spid="1140751"/>
                                        </p:tgtEl>
                                        <p:attrNameLst>
                                          <p:attrName>style.visibility</p:attrName>
                                        </p:attrNameLst>
                                      </p:cBhvr>
                                      <p:to>
                                        <p:strVal val="visible"/>
                                      </p:to>
                                    </p:set>
                                    <p:anim calcmode="lin" valueType="num">
                                      <p:cBhvr additive="base">
                                        <p:cTn id="53" dur="500" fill="hold"/>
                                        <p:tgtEl>
                                          <p:spTgt spid="1140751"/>
                                        </p:tgtEl>
                                        <p:attrNameLst>
                                          <p:attrName>ppt_x</p:attrName>
                                        </p:attrNameLst>
                                      </p:cBhvr>
                                      <p:tavLst>
                                        <p:tav tm="0">
                                          <p:val>
                                            <p:strVal val="1+#ppt_w/2"/>
                                          </p:val>
                                        </p:tav>
                                        <p:tav tm="100000">
                                          <p:val>
                                            <p:strVal val="#ppt_x"/>
                                          </p:val>
                                        </p:tav>
                                      </p:tavLst>
                                    </p:anim>
                                    <p:anim calcmode="lin" valueType="num">
                                      <p:cBhvr additive="base">
                                        <p:cTn id="54" dur="500" fill="hold"/>
                                        <p:tgtEl>
                                          <p:spTgt spid="114075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par>
                          <p:cTn id="55" fill="hold">
                            <p:stCondLst>
                              <p:cond delay="1000"/>
                            </p:stCondLst>
                            <p:childTnLst>
                              <p:par>
                                <p:cTn id="56" presetID="2" presetClass="entr" presetSubtype="2" fill="hold" nodeType="afterEffect">
                                  <p:stCondLst>
                                    <p:cond delay="0"/>
                                  </p:stCondLst>
                                  <p:childTnLst>
                                    <p:set>
                                      <p:cBhvr>
                                        <p:cTn id="57" dur="1" fill="hold">
                                          <p:stCondLst>
                                            <p:cond delay="0"/>
                                          </p:stCondLst>
                                        </p:cTn>
                                        <p:tgtEl>
                                          <p:spTgt spid="1140754"/>
                                        </p:tgtEl>
                                        <p:attrNameLst>
                                          <p:attrName>style.visibility</p:attrName>
                                        </p:attrNameLst>
                                      </p:cBhvr>
                                      <p:to>
                                        <p:strVal val="visible"/>
                                      </p:to>
                                    </p:set>
                                    <p:anim calcmode="lin" valueType="num">
                                      <p:cBhvr additive="base">
                                        <p:cTn id="58" dur="500" fill="hold"/>
                                        <p:tgtEl>
                                          <p:spTgt spid="1140754"/>
                                        </p:tgtEl>
                                        <p:attrNameLst>
                                          <p:attrName>ppt_x</p:attrName>
                                        </p:attrNameLst>
                                      </p:cBhvr>
                                      <p:tavLst>
                                        <p:tav tm="0">
                                          <p:val>
                                            <p:strVal val="1+#ppt_w/2"/>
                                          </p:val>
                                        </p:tav>
                                        <p:tav tm="100000">
                                          <p:val>
                                            <p:strVal val="#ppt_x"/>
                                          </p:val>
                                        </p:tav>
                                      </p:tavLst>
                                    </p:anim>
                                    <p:anim calcmode="lin" valueType="num">
                                      <p:cBhvr additive="base">
                                        <p:cTn id="59" dur="500" fill="hold"/>
                                        <p:tgtEl>
                                          <p:spTgt spid="114075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140746"/>
                                        </p:tgtEl>
                                        <p:attrNameLst>
                                          <p:attrName>style.visibility</p:attrName>
                                        </p:attrNameLst>
                                      </p:cBhvr>
                                      <p:to>
                                        <p:strVal val="visible"/>
                                      </p:to>
                                    </p:set>
                                    <p:anim calcmode="lin" valueType="num">
                                      <p:cBhvr additive="base">
                                        <p:cTn id="64" dur="500" fill="hold"/>
                                        <p:tgtEl>
                                          <p:spTgt spid="1140746"/>
                                        </p:tgtEl>
                                        <p:attrNameLst>
                                          <p:attrName>ppt_x</p:attrName>
                                        </p:attrNameLst>
                                      </p:cBhvr>
                                      <p:tavLst>
                                        <p:tav tm="0">
                                          <p:val>
                                            <p:strVal val="#ppt_x"/>
                                          </p:val>
                                        </p:tav>
                                        <p:tav tm="100000">
                                          <p:val>
                                            <p:strVal val="#ppt_x"/>
                                          </p:val>
                                        </p:tav>
                                      </p:tavLst>
                                    </p:anim>
                                    <p:anim calcmode="lin" valueType="num">
                                      <p:cBhvr additive="base">
                                        <p:cTn id="65" dur="500" fill="hold"/>
                                        <p:tgtEl>
                                          <p:spTgt spid="114074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par>
                          <p:cTn id="66" fill="hold">
                            <p:stCondLst>
                              <p:cond delay="500"/>
                            </p:stCondLst>
                            <p:childTnLst>
                              <p:par>
                                <p:cTn id="67" presetID="18" presetClass="entr" presetSubtype="6" fill="hold" nodeType="afterEffect">
                                  <p:stCondLst>
                                    <p:cond delay="0"/>
                                  </p:stCondLst>
                                  <p:childTnLst>
                                    <p:set>
                                      <p:cBhvr>
                                        <p:cTn id="68" dur="1" fill="hold">
                                          <p:stCondLst>
                                            <p:cond delay="0"/>
                                          </p:stCondLst>
                                        </p:cTn>
                                        <p:tgtEl>
                                          <p:spTgt spid="1140775"/>
                                        </p:tgtEl>
                                        <p:attrNameLst>
                                          <p:attrName>style.visibility</p:attrName>
                                        </p:attrNameLst>
                                      </p:cBhvr>
                                      <p:to>
                                        <p:strVal val="visible"/>
                                      </p:to>
                                    </p:set>
                                    <p:animEffect transition="in" filter="strips(downRight)">
                                      <p:cBhvr>
                                        <p:cTn id="69" dur="1000"/>
                                        <p:tgtEl>
                                          <p:spTgt spid="1140775"/>
                                        </p:tgtEl>
                                      </p:cBhvr>
                                    </p:animEffect>
                                  </p:childTnLst>
                                  <p:subTnLst>
                                    <p:set>
                                      <p:cBhvr override="childStyle">
                                        <p:cTn dur="1" fill="hold" display="0" masterRel="sameClick" afterEffect="1">
                                          <p:stCondLst>
                                            <p:cond evt="end" delay="0">
                                              <p:tn val="67"/>
                                            </p:cond>
                                          </p:stCondLst>
                                        </p:cTn>
                                        <p:tgtEl>
                                          <p:spTgt spid="1140775"/>
                                        </p:tgtEl>
                                        <p:attrNameLst>
                                          <p:attrName>style.visibility</p:attrName>
                                        </p:attrNameLst>
                                      </p:cBhvr>
                                      <p:to>
                                        <p:strVal val="hidden"/>
                                      </p:to>
                                    </p:set>
                                    <p:audio>
                                      <p:cMediaNode>
                                        <p:cTn display="0" masterRel="sameClick">
                                          <p:stCondLst>
                                            <p:cond evt="begin" delay="0">
                                              <p:tn val="67"/>
                                            </p:cond>
                                          </p:stCondLst>
                                          <p:endCondLst>
                                            <p:cond evt="onStopAudio" delay="0">
                                              <p:tgtEl>
                                                <p:sldTgt/>
                                              </p:tgtEl>
                                            </p:cond>
                                          </p:endCondLst>
                                        </p:cTn>
                                        <p:tgtEl>
                                          <p:sndTgt r:embed="rId2" name="camera.wav"/>
                                        </p:tgtEl>
                                      </p:cMediaNode>
                                    </p:audio>
                                  </p:subTnLst>
                                </p:cTn>
                              </p:par>
                            </p:childTnLst>
                          </p:cTn>
                        </p:par>
                        <p:par>
                          <p:cTn id="70" fill="hold">
                            <p:stCondLst>
                              <p:cond delay="1500"/>
                            </p:stCondLst>
                            <p:childTnLst>
                              <p:par>
                                <p:cTn id="71" presetID="4" presetClass="entr" presetSubtype="16" fill="hold" grpId="0" nodeType="afterEffect">
                                  <p:stCondLst>
                                    <p:cond delay="0"/>
                                  </p:stCondLst>
                                  <p:childTnLst>
                                    <p:set>
                                      <p:cBhvr>
                                        <p:cTn id="72" dur="1" fill="hold">
                                          <p:stCondLst>
                                            <p:cond delay="0"/>
                                          </p:stCondLst>
                                        </p:cTn>
                                        <p:tgtEl>
                                          <p:spTgt spid="1140779"/>
                                        </p:tgtEl>
                                        <p:attrNameLst>
                                          <p:attrName>style.visibility</p:attrName>
                                        </p:attrNameLst>
                                      </p:cBhvr>
                                      <p:to>
                                        <p:strVal val="visible"/>
                                      </p:to>
                                    </p:set>
                                    <p:animEffect transition="in" filter="box(in)">
                                      <p:cBhvr>
                                        <p:cTn id="73" dur="500"/>
                                        <p:tgtEl>
                                          <p:spTgt spid="1140779"/>
                                        </p:tgtEl>
                                      </p:cBhvr>
                                    </p:animEffect>
                                  </p:childTnLst>
                                  <p:subTnLst>
                                    <p:audio>
                                      <p:cMediaNode>
                                        <p:cTn display="0" masterRel="sameClick">
                                          <p:stCondLst>
                                            <p:cond evt="begin" delay="0">
                                              <p:tn val="71"/>
                                            </p:cond>
                                          </p:stCondLst>
                                          <p:endCondLst>
                                            <p:cond evt="onStopAudio" delay="0">
                                              <p:tgtEl>
                                                <p:sldTgt/>
                                              </p:tgtEl>
                                            </p:cond>
                                          </p:endCondLst>
                                        </p:cTn>
                                        <p:tgtEl>
                                          <p:sndTgt r:embed="rId4" name="laser.wav"/>
                                        </p:tgtEl>
                                      </p:cMediaNode>
                                    </p:audio>
                                  </p:subTnLst>
                                </p:cTn>
                              </p:par>
                            </p:childTnLst>
                          </p:cTn>
                        </p:par>
                        <p:par>
                          <p:cTn id="74" fill="hold">
                            <p:stCondLst>
                              <p:cond delay="2000"/>
                            </p:stCondLst>
                            <p:childTnLst>
                              <p:par>
                                <p:cTn id="75" presetID="18" presetClass="entr" presetSubtype="3" fill="hold" nodeType="afterEffect">
                                  <p:stCondLst>
                                    <p:cond delay="0"/>
                                  </p:stCondLst>
                                  <p:childTnLst>
                                    <p:set>
                                      <p:cBhvr>
                                        <p:cTn id="76" dur="1" fill="hold">
                                          <p:stCondLst>
                                            <p:cond delay="0"/>
                                          </p:stCondLst>
                                        </p:cTn>
                                        <p:tgtEl>
                                          <p:spTgt spid="1140780"/>
                                        </p:tgtEl>
                                        <p:attrNameLst>
                                          <p:attrName>style.visibility</p:attrName>
                                        </p:attrNameLst>
                                      </p:cBhvr>
                                      <p:to>
                                        <p:strVal val="visible"/>
                                      </p:to>
                                    </p:set>
                                    <p:animEffect transition="in" filter="strips(upRight)">
                                      <p:cBhvr>
                                        <p:cTn id="77" dur="500"/>
                                        <p:tgtEl>
                                          <p:spTgt spid="1140780"/>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1140747"/>
                                        </p:tgtEl>
                                        <p:attrNameLst>
                                          <p:attrName>style.visibility</p:attrName>
                                        </p:attrNameLst>
                                      </p:cBhvr>
                                      <p:to>
                                        <p:strVal val="visible"/>
                                      </p:to>
                                    </p:set>
                                    <p:anim calcmode="lin" valueType="num">
                                      <p:cBhvr additive="base">
                                        <p:cTn id="82" dur="500" fill="hold"/>
                                        <p:tgtEl>
                                          <p:spTgt spid="1140747"/>
                                        </p:tgtEl>
                                        <p:attrNameLst>
                                          <p:attrName>ppt_x</p:attrName>
                                        </p:attrNameLst>
                                      </p:cBhvr>
                                      <p:tavLst>
                                        <p:tav tm="0">
                                          <p:val>
                                            <p:strVal val="#ppt_x"/>
                                          </p:val>
                                        </p:tav>
                                        <p:tav tm="100000">
                                          <p:val>
                                            <p:strVal val="#ppt_x"/>
                                          </p:val>
                                        </p:tav>
                                      </p:tavLst>
                                    </p:anim>
                                    <p:anim calcmode="lin" valueType="num">
                                      <p:cBhvr additive="base">
                                        <p:cTn id="83" dur="500" fill="hold"/>
                                        <p:tgtEl>
                                          <p:spTgt spid="114074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par>
                          <p:cTn id="84" fill="hold">
                            <p:stCondLst>
                              <p:cond delay="500"/>
                            </p:stCondLst>
                            <p:childTnLst>
                              <p:par>
                                <p:cTn id="85" presetID="18" presetClass="entr" presetSubtype="12" fill="hold" grpId="0" nodeType="afterEffect">
                                  <p:stCondLst>
                                    <p:cond delay="0"/>
                                  </p:stCondLst>
                                  <p:childTnLst>
                                    <p:set>
                                      <p:cBhvr>
                                        <p:cTn id="86" dur="1" fill="hold">
                                          <p:stCondLst>
                                            <p:cond delay="0"/>
                                          </p:stCondLst>
                                        </p:cTn>
                                        <p:tgtEl>
                                          <p:spTgt spid="1140784"/>
                                        </p:tgtEl>
                                        <p:attrNameLst>
                                          <p:attrName>style.visibility</p:attrName>
                                        </p:attrNameLst>
                                      </p:cBhvr>
                                      <p:to>
                                        <p:strVal val="visible"/>
                                      </p:to>
                                    </p:set>
                                    <p:animEffect transition="in" filter="strips(downLeft)">
                                      <p:cBhvr>
                                        <p:cTn id="87" dur="1000"/>
                                        <p:tgtEl>
                                          <p:spTgt spid="1140784"/>
                                        </p:tgtEl>
                                      </p:cBhvr>
                                    </p:animEffect>
                                  </p:childTnLst>
                                  <p:subTnLst>
                                    <p:set>
                                      <p:cBhvr override="childStyle">
                                        <p:cTn dur="1" fill="hold" display="0" masterRel="sameClick" afterEffect="1">
                                          <p:stCondLst>
                                            <p:cond evt="end" delay="0">
                                              <p:tn val="85"/>
                                            </p:cond>
                                          </p:stCondLst>
                                        </p:cTn>
                                        <p:tgtEl>
                                          <p:spTgt spid="1140784"/>
                                        </p:tgtEl>
                                        <p:attrNameLst>
                                          <p:attrName>style.visibility</p:attrName>
                                        </p:attrNameLst>
                                      </p:cBhvr>
                                      <p:to>
                                        <p:strVal val="hidden"/>
                                      </p:to>
                                    </p:se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par>
                          <p:cTn id="88" fill="hold">
                            <p:stCondLst>
                              <p:cond delay="1500"/>
                            </p:stCondLst>
                            <p:childTnLst>
                              <p:par>
                                <p:cTn id="89" presetID="4" presetClass="entr" presetSubtype="16" fill="hold" grpId="0" nodeType="afterEffect">
                                  <p:stCondLst>
                                    <p:cond delay="0"/>
                                  </p:stCondLst>
                                  <p:childTnLst>
                                    <p:set>
                                      <p:cBhvr>
                                        <p:cTn id="90" dur="1" fill="hold">
                                          <p:stCondLst>
                                            <p:cond delay="0"/>
                                          </p:stCondLst>
                                        </p:cTn>
                                        <p:tgtEl>
                                          <p:spTgt spid="1140785"/>
                                        </p:tgtEl>
                                        <p:attrNameLst>
                                          <p:attrName>style.visibility</p:attrName>
                                        </p:attrNameLst>
                                      </p:cBhvr>
                                      <p:to>
                                        <p:strVal val="visible"/>
                                      </p:to>
                                    </p:set>
                                    <p:animEffect transition="in" filter="box(in)">
                                      <p:cBhvr>
                                        <p:cTn id="91" dur="500"/>
                                        <p:tgtEl>
                                          <p:spTgt spid="1140785"/>
                                        </p:tgtEl>
                                      </p:cBhvr>
                                    </p:animEffect>
                                  </p:childTnLst>
                                  <p:subTnLst>
                                    <p:audio>
                                      <p:cMediaNode>
                                        <p:cTn display="0" masterRel="sameClick">
                                          <p:stCondLst>
                                            <p:cond evt="begin" delay="0">
                                              <p:tn val="89"/>
                                            </p:cond>
                                          </p:stCondLst>
                                          <p:endCondLst>
                                            <p:cond evt="onStopAudio" delay="0">
                                              <p:tgtEl>
                                                <p:sldTgt/>
                                              </p:tgtEl>
                                            </p:cond>
                                          </p:endCondLst>
                                        </p:cTn>
                                        <p:tgtEl>
                                          <p:sndTgt r:embed="rId4" name="laser.wav"/>
                                        </p:tgtEl>
                                      </p:cMediaNode>
                                    </p:audio>
                                  </p:subTnLst>
                                </p:cTn>
                              </p:par>
                            </p:childTnLst>
                          </p:cTn>
                        </p:par>
                        <p:par>
                          <p:cTn id="92" fill="hold">
                            <p:stCondLst>
                              <p:cond delay="2000"/>
                            </p:stCondLst>
                            <p:childTnLst>
                              <p:par>
                                <p:cTn id="93" presetID="18" presetClass="entr" presetSubtype="3" fill="hold" nodeType="afterEffect">
                                  <p:stCondLst>
                                    <p:cond delay="0"/>
                                  </p:stCondLst>
                                  <p:childTnLst>
                                    <p:set>
                                      <p:cBhvr>
                                        <p:cTn id="94" dur="1" fill="hold">
                                          <p:stCondLst>
                                            <p:cond delay="0"/>
                                          </p:stCondLst>
                                        </p:cTn>
                                        <p:tgtEl>
                                          <p:spTgt spid="1140786"/>
                                        </p:tgtEl>
                                        <p:attrNameLst>
                                          <p:attrName>style.visibility</p:attrName>
                                        </p:attrNameLst>
                                      </p:cBhvr>
                                      <p:to>
                                        <p:strVal val="visible"/>
                                      </p:to>
                                    </p:set>
                                    <p:animEffect transition="in" filter="strips(upRight)">
                                      <p:cBhvr>
                                        <p:cTn id="95" dur="500"/>
                                        <p:tgtEl>
                                          <p:spTgt spid="1140786"/>
                                        </p:tgtEl>
                                      </p:cBhvr>
                                    </p:animEffect>
                                  </p:childTnLst>
                                  <p:subTnLst>
                                    <p:audio>
                                      <p:cMediaNode>
                                        <p:cTn display="0" masterRel="sameClick">
                                          <p:stCondLst>
                                            <p:cond evt="begin" delay="0">
                                              <p:tn val="9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0738" grpId="0" animBg="1" autoUpdateAnimBg="0"/>
      <p:bldP spid="1140742" grpId="0"/>
      <p:bldP spid="1140743" grpId="0" animBg="1"/>
      <p:bldP spid="1140744" grpId="0"/>
      <p:bldP spid="1140745" grpId="0"/>
      <p:bldP spid="1140746" grpId="0"/>
      <p:bldP spid="1140747" grpId="0"/>
      <p:bldP spid="1140774" grpId="0"/>
      <p:bldP spid="1140779" grpId="0"/>
      <p:bldP spid="1140785" grpId="0"/>
      <p:bldP spid="1140784" grpId="0" animBg="1"/>
      <p:bldP spid="63"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1762" name="Text Box 2" descr="信纸"/>
          <p:cNvSpPr txBox="1">
            <a:spLocks noChangeArrowheads="1"/>
          </p:cNvSpPr>
          <p:nvPr/>
        </p:nvSpPr>
        <p:spPr bwMode="auto">
          <a:xfrm>
            <a:off x="1977035" y="1340768"/>
            <a:ext cx="4105275" cy="860425"/>
          </a:xfrm>
          <a:prstGeom prst="rect">
            <a:avLst/>
          </a:prstGeom>
          <a:solidFill>
            <a:schemeClr val="bg1"/>
          </a:soli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a:t>
            </a:r>
            <a:r>
              <a:rPr lang="zh-CN" altLang="en-US" dirty="0">
                <a:latin typeface="隶书" pitchFamily="49" charset="-122"/>
                <a:ea typeface="隶书" pitchFamily="49" charset="-122"/>
              </a:rPr>
              <a:t>  </a:t>
            </a:r>
            <a:r>
              <a:rPr lang="en-US" altLang="zh-CN" dirty="0"/>
              <a:t>int *p = &amp;a;</a:t>
            </a:r>
          </a:p>
          <a:p>
            <a:pPr>
              <a:lnSpc>
                <a:spcPct val="100000"/>
              </a:lnSpc>
              <a:spcBef>
                <a:spcPct val="0"/>
              </a:spcBef>
            </a:pPr>
            <a:r>
              <a:rPr lang="en-US" altLang="zh-CN" dirty="0"/>
              <a:t>        int a;</a:t>
            </a:r>
          </a:p>
        </p:txBody>
      </p:sp>
      <p:sp>
        <p:nvSpPr>
          <p:cNvPr id="1141766" name="Rectangle 6"/>
          <p:cNvSpPr>
            <a:spLocks noChangeArrowheads="1"/>
          </p:cNvSpPr>
          <p:nvPr/>
        </p:nvSpPr>
        <p:spPr bwMode="auto">
          <a:xfrm>
            <a:off x="911424" y="852853"/>
            <a:ext cx="4475162" cy="45720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none">
            <a:spAutoFit/>
          </a:bodyPr>
          <a:lstStyle/>
          <a:p>
            <a:pPr>
              <a:lnSpc>
                <a:spcPct val="100000"/>
              </a:lnSpc>
              <a:buFont typeface="Wingdings" pitchFamily="2" charset="2"/>
              <a:buNone/>
            </a:pPr>
            <a:r>
              <a:rPr lang="zh-CN" altLang="en-US" b="1" dirty="0">
                <a:solidFill>
                  <a:srgbClr val="C00000"/>
                </a:solidFill>
                <a:latin typeface="+mn-lt"/>
                <a:ea typeface="楷体" pitchFamily="49" charset="-122"/>
              </a:rPr>
              <a:t>指针变量赋值的几种错误方法</a:t>
            </a:r>
            <a:r>
              <a:rPr lang="en-US" altLang="zh-CN" b="1" dirty="0">
                <a:solidFill>
                  <a:srgbClr val="C00000"/>
                </a:solidFill>
                <a:latin typeface="+mn-lt"/>
                <a:ea typeface="楷体" pitchFamily="49" charset="-122"/>
              </a:rPr>
              <a:t>: </a:t>
            </a:r>
          </a:p>
        </p:txBody>
      </p:sp>
      <p:sp>
        <p:nvSpPr>
          <p:cNvPr id="1141767" name="AutoShape 7"/>
          <p:cNvSpPr>
            <a:spLocks noChangeArrowheads="1"/>
          </p:cNvSpPr>
          <p:nvPr/>
        </p:nvSpPr>
        <p:spPr bwMode="auto">
          <a:xfrm>
            <a:off x="6874896" y="1551421"/>
            <a:ext cx="3386137" cy="785606"/>
          </a:xfrm>
          <a:prstGeom prst="wedgeRoundRectCallout">
            <a:avLst>
              <a:gd name="adj1" fmla="val -98287"/>
              <a:gd name="adj2" fmla="val -40204"/>
              <a:gd name="adj3" fmla="val 16667"/>
            </a:avLst>
          </a:prstGeom>
          <a:gradFill flip="none" rotWithShape="1">
            <a:gsLst>
              <a:gs pos="0">
                <a:srgbClr val="CFCFD1"/>
              </a:gs>
              <a:gs pos="100000">
                <a:srgbClr val="FFFFFF"/>
              </a:gs>
            </a:gsLst>
            <a:lin ang="10800000" scaled="1"/>
            <a:tileRect/>
          </a:gradFill>
          <a:ln w="28575">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zh-CN" altLang="en-US" sz="2000" dirty="0">
                <a:solidFill>
                  <a:srgbClr val="C00000"/>
                </a:solidFill>
                <a:latin typeface="+mn-lt"/>
                <a:ea typeface="楷体" pitchFamily="49" charset="-122"/>
              </a:rPr>
              <a:t>变量</a:t>
            </a:r>
            <a:r>
              <a:rPr lang="en-US" altLang="zh-CN" sz="2000" dirty="0">
                <a:solidFill>
                  <a:srgbClr val="C00000"/>
                </a:solidFill>
                <a:latin typeface="+mn-lt"/>
                <a:ea typeface="楷体" pitchFamily="49" charset="-122"/>
              </a:rPr>
              <a:t>a</a:t>
            </a:r>
            <a:r>
              <a:rPr lang="zh-CN" altLang="en-US" sz="2000" dirty="0">
                <a:solidFill>
                  <a:srgbClr val="C00000"/>
                </a:solidFill>
                <a:latin typeface="+mn-lt"/>
                <a:ea typeface="楷体" pitchFamily="49" charset="-122"/>
              </a:rPr>
              <a:t>的定义在后，对</a:t>
            </a:r>
            <a:r>
              <a:rPr lang="en-US" altLang="zh-CN" sz="2000" dirty="0">
                <a:solidFill>
                  <a:srgbClr val="C00000"/>
                </a:solidFill>
                <a:latin typeface="+mn-lt"/>
                <a:ea typeface="楷体" pitchFamily="49" charset="-122"/>
              </a:rPr>
              <a:t>a</a:t>
            </a:r>
            <a:r>
              <a:rPr lang="zh-CN" altLang="en-US" sz="2000" dirty="0">
                <a:solidFill>
                  <a:srgbClr val="C00000"/>
                </a:solidFill>
                <a:latin typeface="+mn-lt"/>
                <a:ea typeface="楷体" pitchFamily="49" charset="-122"/>
              </a:rPr>
              <a:t>的引用超出了</a:t>
            </a:r>
            <a:r>
              <a:rPr lang="en-US" altLang="zh-CN" sz="2000" dirty="0">
                <a:solidFill>
                  <a:srgbClr val="C00000"/>
                </a:solidFill>
                <a:latin typeface="+mn-lt"/>
                <a:ea typeface="楷体" pitchFamily="49" charset="-122"/>
              </a:rPr>
              <a:t>a</a:t>
            </a:r>
            <a:r>
              <a:rPr lang="zh-CN" altLang="en-US" sz="2000" dirty="0">
                <a:solidFill>
                  <a:srgbClr val="C00000"/>
                </a:solidFill>
                <a:latin typeface="+mn-lt"/>
                <a:ea typeface="楷体" pitchFamily="49" charset="-122"/>
              </a:rPr>
              <a:t>的作用域</a:t>
            </a:r>
          </a:p>
        </p:txBody>
      </p:sp>
      <p:sp>
        <p:nvSpPr>
          <p:cNvPr id="1141768" name="Text Box 8" descr="信纸"/>
          <p:cNvSpPr txBox="1">
            <a:spLocks noChangeArrowheads="1"/>
          </p:cNvSpPr>
          <p:nvPr/>
        </p:nvSpPr>
        <p:spPr bwMode="auto">
          <a:xfrm>
            <a:off x="1977035" y="2347466"/>
            <a:ext cx="4105275" cy="1225550"/>
          </a:xfrm>
          <a:prstGeom prst="rect">
            <a:avLst/>
          </a:prstGeom>
          <a:solidFill>
            <a:schemeClr val="bg1"/>
          </a:soli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a:t>
            </a:r>
            <a:r>
              <a:rPr lang="zh-CN" altLang="en-US" dirty="0">
                <a:latin typeface="隶书" pitchFamily="49" charset="-122"/>
                <a:ea typeface="隶书" pitchFamily="49" charset="-122"/>
              </a:rPr>
              <a:t>  </a:t>
            </a:r>
            <a:r>
              <a:rPr lang="en-US" altLang="zh-CN" dirty="0">
                <a:ea typeface="宋体" pitchFamily="2" charset="-122"/>
              </a:rPr>
              <a:t>int  a;</a:t>
            </a:r>
          </a:p>
          <a:p>
            <a:pPr>
              <a:lnSpc>
                <a:spcPct val="100000"/>
              </a:lnSpc>
              <a:spcBef>
                <a:spcPct val="0"/>
              </a:spcBef>
            </a:pPr>
            <a:r>
              <a:rPr lang="en-US" altLang="zh-CN" dirty="0">
                <a:ea typeface="宋体" pitchFamily="2" charset="-122"/>
              </a:rPr>
              <a:t>        int  *pi = &amp;a;</a:t>
            </a:r>
          </a:p>
          <a:p>
            <a:pPr>
              <a:lnSpc>
                <a:spcPct val="100000"/>
              </a:lnSpc>
              <a:spcBef>
                <a:spcPct val="0"/>
              </a:spcBef>
            </a:pPr>
            <a:r>
              <a:rPr lang="en-US" altLang="zh-CN" dirty="0">
                <a:ea typeface="宋体" pitchFamily="2" charset="-122"/>
              </a:rPr>
              <a:t>        char *pc = &amp;a; </a:t>
            </a:r>
          </a:p>
        </p:txBody>
      </p:sp>
      <p:sp>
        <p:nvSpPr>
          <p:cNvPr id="1141769" name="AutoShape 9"/>
          <p:cNvSpPr>
            <a:spLocks noChangeArrowheads="1"/>
          </p:cNvSpPr>
          <p:nvPr/>
        </p:nvSpPr>
        <p:spPr bwMode="auto">
          <a:xfrm>
            <a:off x="6886326" y="2766567"/>
            <a:ext cx="3386138" cy="449263"/>
          </a:xfrm>
          <a:prstGeom prst="wedgeRoundRectCallout">
            <a:avLst>
              <a:gd name="adj1" fmla="val -111696"/>
              <a:gd name="adj2" fmla="val 68020"/>
              <a:gd name="adj3" fmla="val 16667"/>
            </a:avLst>
          </a:prstGeom>
          <a:gradFill flip="none" rotWithShape="1">
            <a:gsLst>
              <a:gs pos="0">
                <a:srgbClr val="CFCFD1"/>
              </a:gs>
              <a:gs pos="100000">
                <a:srgbClr val="FFFFFF"/>
              </a:gs>
            </a:gsLst>
            <a:lin ang="10800000" scaled="1"/>
            <a:tileRect/>
          </a:gradFill>
          <a:ln w="28575">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en-US" altLang="zh-CN" sz="2000">
                <a:solidFill>
                  <a:srgbClr val="C00000"/>
                </a:solidFill>
                <a:latin typeface="+mn-lt"/>
                <a:ea typeface="楷体" pitchFamily="49" charset="-122"/>
              </a:rPr>
              <a:t>pc</a:t>
            </a:r>
            <a:r>
              <a:rPr lang="zh-CN" altLang="en-US" sz="2000">
                <a:solidFill>
                  <a:srgbClr val="C00000"/>
                </a:solidFill>
                <a:latin typeface="+mn-lt"/>
                <a:ea typeface="楷体" pitchFamily="49" charset="-122"/>
              </a:rPr>
              <a:t>不能指向非字符型变量 </a:t>
            </a:r>
          </a:p>
        </p:txBody>
      </p:sp>
      <p:sp>
        <p:nvSpPr>
          <p:cNvPr id="1141770" name="Text Box 10" descr="信纸"/>
          <p:cNvSpPr txBox="1">
            <a:spLocks noChangeArrowheads="1"/>
          </p:cNvSpPr>
          <p:nvPr/>
        </p:nvSpPr>
        <p:spPr bwMode="auto">
          <a:xfrm>
            <a:off x="1977035" y="3643610"/>
            <a:ext cx="4105275" cy="1225550"/>
          </a:xfrm>
          <a:prstGeom prst="rect">
            <a:avLst/>
          </a:prstGeom>
          <a:solidFill>
            <a:schemeClr val="bg1"/>
          </a:soli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a:t>
            </a:r>
            <a:r>
              <a:rPr lang="zh-CN" altLang="en-US" dirty="0">
                <a:latin typeface="隶书" pitchFamily="49" charset="-122"/>
                <a:ea typeface="隶书" pitchFamily="49" charset="-122"/>
              </a:rPr>
              <a:t>  </a:t>
            </a:r>
            <a:r>
              <a:rPr lang="en-US" altLang="zh-CN" dirty="0"/>
              <a:t>int a;</a:t>
            </a:r>
          </a:p>
          <a:p>
            <a:pPr>
              <a:lnSpc>
                <a:spcPct val="100000"/>
              </a:lnSpc>
              <a:spcBef>
                <a:spcPct val="0"/>
              </a:spcBef>
            </a:pPr>
            <a:r>
              <a:rPr lang="en-US" altLang="zh-CN" dirty="0"/>
              <a:t>        int *p;</a:t>
            </a:r>
          </a:p>
          <a:p>
            <a:pPr>
              <a:lnSpc>
                <a:spcPct val="100000"/>
              </a:lnSpc>
              <a:spcBef>
                <a:spcPct val="0"/>
              </a:spcBef>
            </a:pPr>
            <a:r>
              <a:rPr lang="en-US" altLang="zh-CN" dirty="0"/>
              <a:t>        *p = &amp;a; </a:t>
            </a:r>
          </a:p>
        </p:txBody>
      </p:sp>
      <p:sp>
        <p:nvSpPr>
          <p:cNvPr id="1141771" name="AutoShape 11"/>
          <p:cNvSpPr>
            <a:spLocks noChangeArrowheads="1"/>
          </p:cNvSpPr>
          <p:nvPr/>
        </p:nvSpPr>
        <p:spPr bwMode="auto">
          <a:xfrm>
            <a:off x="6873134" y="3445674"/>
            <a:ext cx="3386138" cy="1126125"/>
          </a:xfrm>
          <a:prstGeom prst="wedgeRoundRectCallout">
            <a:avLst>
              <a:gd name="adj1" fmla="val -134284"/>
              <a:gd name="adj2" fmla="val 54860"/>
              <a:gd name="adj3" fmla="val 16667"/>
            </a:avLst>
          </a:prstGeom>
          <a:gradFill flip="none" rotWithShape="1">
            <a:gsLst>
              <a:gs pos="0">
                <a:srgbClr val="CFCFD1"/>
              </a:gs>
              <a:gs pos="100000">
                <a:srgbClr val="FFFFFF"/>
              </a:gs>
            </a:gsLst>
            <a:lin ang="10800000" scaled="1"/>
            <a:tileRect/>
          </a:gradFill>
          <a:ln w="28575">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zh-CN" altLang="en-US" sz="2000">
                <a:solidFill>
                  <a:srgbClr val="C00000"/>
                </a:solidFill>
                <a:latin typeface="+mn-lt"/>
                <a:ea typeface="楷体" pitchFamily="49" charset="-122"/>
              </a:rPr>
              <a:t>赋值语句中，被赋值的指针变量</a:t>
            </a:r>
            <a:r>
              <a:rPr lang="en-US" altLang="zh-CN" sz="2000">
                <a:solidFill>
                  <a:srgbClr val="C00000"/>
                </a:solidFill>
                <a:latin typeface="+mn-lt"/>
                <a:ea typeface="楷体" pitchFamily="49" charset="-122"/>
              </a:rPr>
              <a:t>p</a:t>
            </a:r>
            <a:r>
              <a:rPr lang="zh-CN" altLang="en-US" sz="2000">
                <a:solidFill>
                  <a:srgbClr val="C00000"/>
                </a:solidFill>
                <a:latin typeface="+mn-lt"/>
                <a:ea typeface="楷体" pitchFamily="49" charset="-122"/>
              </a:rPr>
              <a:t>的前面不能再加“*”说明符 </a:t>
            </a:r>
          </a:p>
        </p:txBody>
      </p:sp>
      <p:sp>
        <p:nvSpPr>
          <p:cNvPr id="1141772" name="Text Box 12" descr="信纸"/>
          <p:cNvSpPr txBox="1">
            <a:spLocks noChangeArrowheads="1"/>
          </p:cNvSpPr>
          <p:nvPr/>
        </p:nvSpPr>
        <p:spPr bwMode="auto">
          <a:xfrm>
            <a:off x="1977035" y="4944839"/>
            <a:ext cx="4105275" cy="860425"/>
          </a:xfrm>
          <a:prstGeom prst="rect">
            <a:avLst/>
          </a:prstGeom>
          <a:solidFill>
            <a:schemeClr val="bg1"/>
          </a:soli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a:t>
            </a:r>
            <a:r>
              <a:rPr lang="zh-CN" altLang="en-US" dirty="0">
                <a:latin typeface="隶书" pitchFamily="49" charset="-122"/>
                <a:ea typeface="隶书" pitchFamily="49" charset="-122"/>
              </a:rPr>
              <a:t>  </a:t>
            </a:r>
            <a:r>
              <a:rPr lang="en-US" altLang="zh-CN" dirty="0"/>
              <a:t>int *p;</a:t>
            </a:r>
          </a:p>
          <a:p>
            <a:pPr>
              <a:lnSpc>
                <a:spcPct val="100000"/>
              </a:lnSpc>
              <a:spcBef>
                <a:spcPct val="0"/>
              </a:spcBef>
            </a:pPr>
            <a:r>
              <a:rPr lang="en-US" altLang="zh-CN" dirty="0"/>
              <a:t>        p = 2000; </a:t>
            </a:r>
          </a:p>
        </p:txBody>
      </p:sp>
      <p:sp>
        <p:nvSpPr>
          <p:cNvPr id="1141773" name="AutoShape 13"/>
          <p:cNvSpPr>
            <a:spLocks noChangeArrowheads="1"/>
          </p:cNvSpPr>
          <p:nvPr/>
        </p:nvSpPr>
        <p:spPr bwMode="auto">
          <a:xfrm>
            <a:off x="6874896" y="4904461"/>
            <a:ext cx="3386137" cy="785606"/>
          </a:xfrm>
          <a:prstGeom prst="wedgeRoundRectCallout">
            <a:avLst>
              <a:gd name="adj1" fmla="val -133393"/>
              <a:gd name="adj2" fmla="val 38545"/>
              <a:gd name="adj3" fmla="val 16667"/>
            </a:avLst>
          </a:prstGeom>
          <a:gradFill flip="none" rotWithShape="1">
            <a:gsLst>
              <a:gs pos="0">
                <a:srgbClr val="CFCFD1"/>
              </a:gs>
              <a:gs pos="100000">
                <a:srgbClr val="FFFFFF"/>
              </a:gs>
            </a:gsLst>
            <a:lin ang="10800000" scaled="1"/>
            <a:tileRect/>
          </a:gradFill>
          <a:ln w="28575">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zh-CN" altLang="en-US" sz="2000">
                <a:solidFill>
                  <a:srgbClr val="C00000"/>
                </a:solidFill>
                <a:latin typeface="+mn-lt"/>
                <a:ea typeface="楷体" pitchFamily="49" charset="-122"/>
              </a:rPr>
              <a:t>不允许直接把一个数赋值给指针变量 </a:t>
            </a:r>
          </a:p>
        </p:txBody>
      </p:sp>
      <p:sp>
        <p:nvSpPr>
          <p:cNvPr id="1141774" name="Text Box 14" descr="信纸"/>
          <p:cNvSpPr txBox="1">
            <a:spLocks noChangeArrowheads="1"/>
          </p:cNvSpPr>
          <p:nvPr/>
        </p:nvSpPr>
        <p:spPr bwMode="auto">
          <a:xfrm>
            <a:off x="1973863" y="5880943"/>
            <a:ext cx="4105274" cy="860425"/>
          </a:xfrm>
          <a:prstGeom prst="rect">
            <a:avLst/>
          </a:prstGeom>
          <a:solidFill>
            <a:schemeClr val="bg1"/>
          </a:soli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a:t>
            </a:r>
            <a:r>
              <a:rPr lang="zh-CN" altLang="en-US" dirty="0">
                <a:latin typeface="隶书" pitchFamily="49" charset="-122"/>
                <a:ea typeface="隶书" pitchFamily="49" charset="-122"/>
              </a:rPr>
              <a:t>  </a:t>
            </a:r>
            <a:r>
              <a:rPr lang="en-US" altLang="zh-CN" dirty="0"/>
              <a:t>int a;</a:t>
            </a:r>
          </a:p>
          <a:p>
            <a:pPr>
              <a:lnSpc>
                <a:spcPct val="100000"/>
              </a:lnSpc>
              <a:spcBef>
                <a:spcPct val="0"/>
              </a:spcBef>
            </a:pPr>
            <a:r>
              <a:rPr lang="en-US" altLang="zh-CN" dirty="0"/>
              <a:t>        static int *p = &amp;a;</a:t>
            </a:r>
          </a:p>
        </p:txBody>
      </p:sp>
      <p:sp>
        <p:nvSpPr>
          <p:cNvPr id="1141775" name="AutoShape 15"/>
          <p:cNvSpPr>
            <a:spLocks noChangeArrowheads="1"/>
          </p:cNvSpPr>
          <p:nvPr/>
        </p:nvSpPr>
        <p:spPr bwMode="auto">
          <a:xfrm>
            <a:off x="6873134" y="5877077"/>
            <a:ext cx="3386138" cy="785606"/>
          </a:xfrm>
          <a:prstGeom prst="wedgeRoundRectCallout">
            <a:avLst>
              <a:gd name="adj1" fmla="val -100119"/>
              <a:gd name="adj2" fmla="val 30640"/>
              <a:gd name="adj3" fmla="val 16667"/>
            </a:avLst>
          </a:prstGeom>
          <a:gradFill flip="none" rotWithShape="1">
            <a:gsLst>
              <a:gs pos="0">
                <a:srgbClr val="CFCFD1"/>
              </a:gs>
              <a:gs pos="100000">
                <a:srgbClr val="FFFFFF"/>
              </a:gs>
            </a:gsLst>
            <a:lin ang="10800000" scaled="1"/>
            <a:tileRect/>
          </a:gradFill>
          <a:ln w="28575">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zh-CN" altLang="en-US" sz="2000">
                <a:solidFill>
                  <a:srgbClr val="C00000"/>
                </a:solidFill>
                <a:latin typeface="+mn-lt"/>
                <a:ea typeface="楷体" pitchFamily="49" charset="-122"/>
              </a:rPr>
              <a:t>不能用</a:t>
            </a:r>
            <a:r>
              <a:rPr lang="en-US" altLang="zh-CN" sz="2000">
                <a:solidFill>
                  <a:srgbClr val="C00000"/>
                </a:solidFill>
                <a:latin typeface="+mn-lt"/>
                <a:ea typeface="楷体" pitchFamily="49" charset="-122"/>
              </a:rPr>
              <a:t>auto</a:t>
            </a:r>
            <a:r>
              <a:rPr lang="zh-CN" altLang="en-US" sz="2000">
                <a:solidFill>
                  <a:srgbClr val="C00000"/>
                </a:solidFill>
                <a:latin typeface="+mn-lt"/>
                <a:ea typeface="楷体" pitchFamily="49" charset="-122"/>
              </a:rPr>
              <a:t>变量的地址去初始化</a:t>
            </a:r>
            <a:r>
              <a:rPr lang="en-US" altLang="zh-CN" sz="2000">
                <a:solidFill>
                  <a:srgbClr val="C00000"/>
                </a:solidFill>
                <a:latin typeface="+mn-lt"/>
                <a:ea typeface="楷体" pitchFamily="49" charset="-122"/>
              </a:rPr>
              <a:t>static</a:t>
            </a:r>
            <a:r>
              <a:rPr lang="zh-CN" altLang="en-US" sz="2000">
                <a:solidFill>
                  <a:srgbClr val="C00000"/>
                </a:solidFill>
                <a:latin typeface="+mn-lt"/>
                <a:ea typeface="楷体" pitchFamily="49" charset="-122"/>
              </a:rPr>
              <a:t>型指针 </a:t>
            </a:r>
          </a:p>
        </p:txBody>
      </p:sp>
      <p:sp>
        <p:nvSpPr>
          <p:cNvPr id="1141776" name="Text Box 16"/>
          <p:cNvSpPr txBox="1">
            <a:spLocks noChangeArrowheads="1"/>
          </p:cNvSpPr>
          <p:nvPr/>
        </p:nvSpPr>
        <p:spPr bwMode="auto">
          <a:xfrm>
            <a:off x="1415480" y="2937561"/>
            <a:ext cx="9649071" cy="2679837"/>
          </a:xfrm>
          <a:prstGeom prst="rect">
            <a:avLst/>
          </a:prstGeom>
          <a:gradFill flip="none" rotWithShape="1">
            <a:gsLst>
              <a:gs pos="0">
                <a:srgbClr val="CFCFD1"/>
              </a:gs>
              <a:gs pos="100000">
                <a:schemeClr val="bg1">
                  <a:lumMod val="9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dirty="0">
                <a:solidFill>
                  <a:srgbClr val="C00000"/>
                </a:solidFill>
                <a:ea typeface="隶书" pitchFamily="49" charset="-122"/>
              </a:rPr>
              <a:t>    </a:t>
            </a:r>
            <a:r>
              <a:rPr lang="zh-CN" altLang="en-US" dirty="0">
                <a:solidFill>
                  <a:srgbClr val="C00000"/>
                </a:solidFill>
                <a:ea typeface="隶书" pitchFamily="49" charset="-122"/>
              </a:rPr>
              <a:t>注意：</a:t>
            </a:r>
            <a:r>
              <a:rPr lang="zh-CN" altLang="en-US" dirty="0">
                <a:latin typeface="隶书" pitchFamily="49" charset="-122"/>
                <a:ea typeface="隶书" pitchFamily="49" charset="-122"/>
              </a:rPr>
              <a:t>一个指针变量只能指向同类型的变量。如果给指针赋值时，</a:t>
            </a:r>
            <a:r>
              <a:rPr lang="en-US" altLang="zh-CN" dirty="0">
                <a:latin typeface="隶书" pitchFamily="49" charset="-122"/>
                <a:ea typeface="隶书" pitchFamily="49" charset="-122"/>
              </a:rPr>
              <a:t>=</a:t>
            </a:r>
            <a:r>
              <a:rPr lang="zh-CN" altLang="en-US" dirty="0">
                <a:latin typeface="隶书" pitchFamily="49" charset="-122"/>
                <a:ea typeface="隶书" pitchFamily="49" charset="-122"/>
              </a:rPr>
              <a:t>号右边的指针类型与左边的指针类型不同，则需要进行类型强制转换。  </a:t>
            </a:r>
          </a:p>
          <a:p>
            <a:pPr>
              <a:lnSpc>
                <a:spcPct val="100000"/>
              </a:lnSpc>
            </a:pPr>
            <a:r>
              <a:rPr lang="zh-CN" altLang="en-US" dirty="0"/>
              <a:t>    </a:t>
            </a:r>
            <a:r>
              <a:rPr lang="en-US" altLang="zh-CN" dirty="0" err="1"/>
              <a:t>int</a:t>
            </a:r>
            <a:r>
              <a:rPr lang="en-US" altLang="zh-CN" dirty="0"/>
              <a:t>  a;</a:t>
            </a:r>
          </a:p>
          <a:p>
            <a:pPr>
              <a:lnSpc>
                <a:spcPct val="100000"/>
              </a:lnSpc>
            </a:pPr>
            <a:r>
              <a:rPr lang="en-US" altLang="zh-CN" dirty="0"/>
              <a:t>    </a:t>
            </a:r>
            <a:r>
              <a:rPr lang="en-US" altLang="zh-CN" dirty="0" err="1"/>
              <a:t>int</a:t>
            </a:r>
            <a:r>
              <a:rPr lang="en-US" altLang="zh-CN" dirty="0"/>
              <a:t>  *pi;</a:t>
            </a:r>
          </a:p>
          <a:p>
            <a:pPr>
              <a:lnSpc>
                <a:spcPct val="100000"/>
              </a:lnSpc>
            </a:pPr>
            <a:r>
              <a:rPr lang="en-US" altLang="zh-CN" dirty="0"/>
              <a:t>    char *pc;</a:t>
            </a:r>
          </a:p>
          <a:p>
            <a:pPr>
              <a:lnSpc>
                <a:spcPct val="100000"/>
              </a:lnSpc>
            </a:pPr>
            <a:r>
              <a:rPr lang="en-US" altLang="zh-CN" dirty="0"/>
              <a:t>    pi = &amp;a;                </a:t>
            </a:r>
            <a:r>
              <a:rPr lang="en-US" altLang="zh-CN" sz="2000" dirty="0">
                <a:solidFill>
                  <a:srgbClr val="002060"/>
                </a:solidFill>
                <a:latin typeface="+mn-lt"/>
                <a:ea typeface="楷体" pitchFamily="49" charset="-122"/>
              </a:rPr>
              <a:t>//pi</a:t>
            </a:r>
            <a:r>
              <a:rPr lang="zh-CN" altLang="en-US" sz="2000" dirty="0">
                <a:solidFill>
                  <a:srgbClr val="002060"/>
                </a:solidFill>
                <a:latin typeface="+mn-lt"/>
                <a:ea typeface="楷体" pitchFamily="49" charset="-122"/>
              </a:rPr>
              <a:t>指向</a:t>
            </a:r>
            <a:r>
              <a:rPr lang="en-US" altLang="zh-CN" sz="2000" dirty="0">
                <a:solidFill>
                  <a:srgbClr val="002060"/>
                </a:solidFill>
                <a:latin typeface="+mn-lt"/>
                <a:ea typeface="楷体" pitchFamily="49" charset="-122"/>
              </a:rPr>
              <a:t>a</a:t>
            </a:r>
          </a:p>
          <a:p>
            <a:pPr>
              <a:lnSpc>
                <a:spcPct val="100000"/>
              </a:lnSpc>
            </a:pPr>
            <a:r>
              <a:rPr lang="en-US" altLang="zh-CN" dirty="0"/>
              <a:t>    pc = </a:t>
            </a:r>
            <a:r>
              <a:rPr lang="en-US" altLang="zh-CN" dirty="0">
                <a:solidFill>
                  <a:srgbClr val="C00000"/>
                </a:solidFill>
              </a:rPr>
              <a:t>(char *)</a:t>
            </a:r>
            <a:r>
              <a:rPr lang="en-US" altLang="zh-CN" dirty="0"/>
              <a:t>pi;    </a:t>
            </a:r>
            <a:r>
              <a:rPr lang="en-US" altLang="zh-CN" sz="2000" dirty="0">
                <a:solidFill>
                  <a:srgbClr val="002060"/>
                </a:solidFill>
                <a:latin typeface="+mn-lt"/>
                <a:ea typeface="楷体" pitchFamily="49" charset="-122"/>
              </a:rPr>
              <a:t>//pc</a:t>
            </a:r>
            <a:r>
              <a:rPr lang="zh-CN" altLang="en-US" sz="2000" dirty="0">
                <a:solidFill>
                  <a:srgbClr val="002060"/>
                </a:solidFill>
                <a:latin typeface="+mn-lt"/>
                <a:ea typeface="楷体" pitchFamily="49" charset="-122"/>
              </a:rPr>
              <a:t>也指向了</a:t>
            </a:r>
            <a:r>
              <a:rPr lang="en-US" altLang="zh-CN" sz="2000" dirty="0">
                <a:solidFill>
                  <a:srgbClr val="002060"/>
                </a:solidFill>
                <a:latin typeface="+mn-lt"/>
                <a:ea typeface="楷体" pitchFamily="49" charset="-122"/>
              </a:rPr>
              <a:t>a</a:t>
            </a:r>
            <a:r>
              <a:rPr lang="zh-CN" altLang="en-US" sz="2000" dirty="0">
                <a:solidFill>
                  <a:srgbClr val="002060"/>
                </a:solidFill>
                <a:latin typeface="+mn-lt"/>
                <a:ea typeface="楷体" pitchFamily="49" charset="-122"/>
              </a:rPr>
              <a:t>，即</a:t>
            </a:r>
            <a:r>
              <a:rPr lang="en-US" altLang="zh-CN" sz="2000" dirty="0">
                <a:solidFill>
                  <a:srgbClr val="002060"/>
                </a:solidFill>
                <a:latin typeface="+mn-lt"/>
                <a:ea typeface="楷体" pitchFamily="49" charset="-122"/>
              </a:rPr>
              <a:t>pi</a:t>
            </a:r>
            <a:r>
              <a:rPr lang="zh-CN" altLang="en-US" sz="2000" dirty="0">
                <a:solidFill>
                  <a:srgbClr val="002060"/>
                </a:solidFill>
                <a:latin typeface="+mn-lt"/>
                <a:ea typeface="楷体" pitchFamily="49" charset="-122"/>
              </a:rPr>
              <a:t>和</a:t>
            </a:r>
            <a:r>
              <a:rPr lang="en-US" altLang="zh-CN" sz="2000" dirty="0">
                <a:solidFill>
                  <a:srgbClr val="002060"/>
                </a:solidFill>
                <a:latin typeface="+mn-lt"/>
                <a:ea typeface="楷体" pitchFamily="49" charset="-122"/>
              </a:rPr>
              <a:t>pc</a:t>
            </a:r>
            <a:r>
              <a:rPr lang="zh-CN" altLang="en-US" sz="2000" dirty="0">
                <a:solidFill>
                  <a:srgbClr val="002060"/>
                </a:solidFill>
                <a:latin typeface="+mn-lt"/>
                <a:ea typeface="楷体" pitchFamily="49" charset="-122"/>
              </a:rPr>
              <a:t>的值都是</a:t>
            </a:r>
            <a:r>
              <a:rPr lang="en-US" altLang="zh-CN" sz="2000" dirty="0">
                <a:solidFill>
                  <a:srgbClr val="002060"/>
                </a:solidFill>
                <a:latin typeface="+mn-lt"/>
                <a:ea typeface="楷体" pitchFamily="49" charset="-122"/>
              </a:rPr>
              <a:t>a</a:t>
            </a:r>
            <a:r>
              <a:rPr lang="zh-CN" altLang="en-US" sz="2000" dirty="0">
                <a:solidFill>
                  <a:srgbClr val="002060"/>
                </a:solidFill>
                <a:latin typeface="+mn-lt"/>
                <a:ea typeface="楷体" pitchFamily="49" charset="-122"/>
              </a:rPr>
              <a:t>的地址</a:t>
            </a:r>
          </a:p>
        </p:txBody>
      </p:sp>
      <p:sp>
        <p:nvSpPr>
          <p:cNvPr id="17" name="Rectangle 4">
            <a:extLst>
              <a:ext uri="{FF2B5EF4-FFF2-40B4-BE49-F238E27FC236}">
                <a16:creationId xmlns:a16="http://schemas.microsoft.com/office/drawing/2014/main" id="{E943074F-7D00-4405-AD3A-EA914E875923}"/>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指针变量的定义和引用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1766"/>
                                        </p:tgtEl>
                                        <p:attrNameLst>
                                          <p:attrName>style.visibility</p:attrName>
                                        </p:attrNameLst>
                                      </p:cBhvr>
                                      <p:to>
                                        <p:strVal val="visible"/>
                                      </p:to>
                                    </p:set>
                                    <p:anim calcmode="lin" valueType="num">
                                      <p:cBhvr additive="base">
                                        <p:cTn id="7" dur="500" fill="hold"/>
                                        <p:tgtEl>
                                          <p:spTgt spid="1141766"/>
                                        </p:tgtEl>
                                        <p:attrNameLst>
                                          <p:attrName>ppt_x</p:attrName>
                                        </p:attrNameLst>
                                      </p:cBhvr>
                                      <p:tavLst>
                                        <p:tav tm="0">
                                          <p:val>
                                            <p:strVal val="0-#ppt_w/2"/>
                                          </p:val>
                                        </p:tav>
                                        <p:tav tm="100000">
                                          <p:val>
                                            <p:strVal val="#ppt_x"/>
                                          </p:val>
                                        </p:tav>
                                      </p:tavLst>
                                    </p:anim>
                                    <p:anim calcmode="lin" valueType="num">
                                      <p:cBhvr additive="base">
                                        <p:cTn id="8" dur="500" fill="hold"/>
                                        <p:tgtEl>
                                          <p:spTgt spid="114176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41762"/>
                                        </p:tgtEl>
                                        <p:attrNameLst>
                                          <p:attrName>style.visibility</p:attrName>
                                        </p:attrNameLst>
                                      </p:cBhvr>
                                      <p:to>
                                        <p:strVal val="visible"/>
                                      </p:to>
                                    </p:set>
                                    <p:animEffect transition="in" filter="box(out)">
                                      <p:cBhvr>
                                        <p:cTn id="13" dur="500"/>
                                        <p:tgtEl>
                                          <p:spTgt spid="1141762"/>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41767"/>
                                        </p:tgtEl>
                                        <p:attrNameLst>
                                          <p:attrName>style.visibility</p:attrName>
                                        </p:attrNameLst>
                                      </p:cBhvr>
                                      <p:to>
                                        <p:strVal val="visible"/>
                                      </p:to>
                                    </p:set>
                                    <p:animEffect transition="in" filter="box(out)">
                                      <p:cBhvr>
                                        <p:cTn id="18" dur="500"/>
                                        <p:tgtEl>
                                          <p:spTgt spid="1141767"/>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41768"/>
                                        </p:tgtEl>
                                        <p:attrNameLst>
                                          <p:attrName>style.visibility</p:attrName>
                                        </p:attrNameLst>
                                      </p:cBhvr>
                                      <p:to>
                                        <p:strVal val="visible"/>
                                      </p:to>
                                    </p:set>
                                    <p:animEffect transition="in" filter="box(out)">
                                      <p:cBhvr>
                                        <p:cTn id="23" dur="500"/>
                                        <p:tgtEl>
                                          <p:spTgt spid="1141768"/>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41769"/>
                                        </p:tgtEl>
                                        <p:attrNameLst>
                                          <p:attrName>style.visibility</p:attrName>
                                        </p:attrNameLst>
                                      </p:cBhvr>
                                      <p:to>
                                        <p:strVal val="visible"/>
                                      </p:to>
                                    </p:set>
                                    <p:animEffect transition="in" filter="box(out)">
                                      <p:cBhvr>
                                        <p:cTn id="28" dur="500"/>
                                        <p:tgtEl>
                                          <p:spTgt spid="1141769"/>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141770"/>
                                        </p:tgtEl>
                                        <p:attrNameLst>
                                          <p:attrName>style.visibility</p:attrName>
                                        </p:attrNameLst>
                                      </p:cBhvr>
                                      <p:to>
                                        <p:strVal val="visible"/>
                                      </p:to>
                                    </p:set>
                                    <p:animEffect transition="in" filter="box(out)">
                                      <p:cBhvr>
                                        <p:cTn id="33" dur="500"/>
                                        <p:tgtEl>
                                          <p:spTgt spid="1141770"/>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141771"/>
                                        </p:tgtEl>
                                        <p:attrNameLst>
                                          <p:attrName>style.visibility</p:attrName>
                                        </p:attrNameLst>
                                      </p:cBhvr>
                                      <p:to>
                                        <p:strVal val="visible"/>
                                      </p:to>
                                    </p:set>
                                    <p:animEffect transition="in" filter="box(out)">
                                      <p:cBhvr>
                                        <p:cTn id="38" dur="500"/>
                                        <p:tgtEl>
                                          <p:spTgt spid="1141771"/>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141772"/>
                                        </p:tgtEl>
                                        <p:attrNameLst>
                                          <p:attrName>style.visibility</p:attrName>
                                        </p:attrNameLst>
                                      </p:cBhvr>
                                      <p:to>
                                        <p:strVal val="visible"/>
                                      </p:to>
                                    </p:set>
                                    <p:animEffect transition="in" filter="box(out)">
                                      <p:cBhvr>
                                        <p:cTn id="43" dur="500"/>
                                        <p:tgtEl>
                                          <p:spTgt spid="1141772"/>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1141773"/>
                                        </p:tgtEl>
                                        <p:attrNameLst>
                                          <p:attrName>style.visibility</p:attrName>
                                        </p:attrNameLst>
                                      </p:cBhvr>
                                      <p:to>
                                        <p:strVal val="visible"/>
                                      </p:to>
                                    </p:set>
                                    <p:animEffect transition="in" filter="box(out)">
                                      <p:cBhvr>
                                        <p:cTn id="48" dur="500"/>
                                        <p:tgtEl>
                                          <p:spTgt spid="1141773"/>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141774"/>
                                        </p:tgtEl>
                                        <p:attrNameLst>
                                          <p:attrName>style.visibility</p:attrName>
                                        </p:attrNameLst>
                                      </p:cBhvr>
                                      <p:to>
                                        <p:strVal val="visible"/>
                                      </p:to>
                                    </p:set>
                                    <p:animEffect transition="in" filter="box(out)">
                                      <p:cBhvr>
                                        <p:cTn id="53" dur="500"/>
                                        <p:tgtEl>
                                          <p:spTgt spid="1141774"/>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1141775"/>
                                        </p:tgtEl>
                                        <p:attrNameLst>
                                          <p:attrName>style.visibility</p:attrName>
                                        </p:attrNameLst>
                                      </p:cBhvr>
                                      <p:to>
                                        <p:strVal val="visible"/>
                                      </p:to>
                                    </p:set>
                                    <p:animEffect transition="in" filter="box(out)">
                                      <p:cBhvr>
                                        <p:cTn id="58" dur="500"/>
                                        <p:tgtEl>
                                          <p:spTgt spid="1141775"/>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1141776"/>
                                        </p:tgtEl>
                                        <p:attrNameLst>
                                          <p:attrName>style.visibility</p:attrName>
                                        </p:attrNameLst>
                                      </p:cBhvr>
                                      <p:to>
                                        <p:strVal val="visible"/>
                                      </p:to>
                                    </p:set>
                                    <p:animEffect transition="in" filter="box(out)">
                                      <p:cBhvr>
                                        <p:cTn id="63" dur="500"/>
                                        <p:tgtEl>
                                          <p:spTgt spid="1141776"/>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1762" grpId="0" animBg="1" autoUpdateAnimBg="0"/>
      <p:bldP spid="1141766" grpId="0"/>
      <p:bldP spid="1141767" grpId="0" animBg="1" autoUpdateAnimBg="0"/>
      <p:bldP spid="1141768" grpId="0" animBg="1" autoUpdateAnimBg="0"/>
      <p:bldP spid="1141769" grpId="0" animBg="1" autoUpdateAnimBg="0"/>
      <p:bldP spid="1141770" grpId="0" animBg="1" autoUpdateAnimBg="0"/>
      <p:bldP spid="1141771" grpId="0" animBg="1" autoUpdateAnimBg="0"/>
      <p:bldP spid="1141772" grpId="0" animBg="1" autoUpdateAnimBg="0"/>
      <p:bldP spid="1141773" grpId="0" animBg="1" autoUpdateAnimBg="0"/>
      <p:bldP spid="1141774" grpId="0" animBg="1" autoUpdateAnimBg="0"/>
      <p:bldP spid="1141775" grpId="0" animBg="1" autoUpdateAnimBg="0"/>
      <p:bldP spid="114177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2786" name="Rectangle 2"/>
          <p:cNvSpPr>
            <a:spLocks noChangeArrowheads="1"/>
          </p:cNvSpPr>
          <p:nvPr/>
        </p:nvSpPr>
        <p:spPr bwMode="auto">
          <a:xfrm>
            <a:off x="610692" y="831723"/>
            <a:ext cx="8148637" cy="1774825"/>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5</a:t>
            </a:r>
            <a:r>
              <a:rPr lang="zh-CN" altLang="en-US" sz="2800" b="1" dirty="0">
                <a:solidFill>
                  <a:srgbClr val="C00000"/>
                </a:solidFill>
                <a:latin typeface="+mn-lt"/>
                <a:ea typeface="楷体" pitchFamily="49" charset="-122"/>
                <a:sym typeface="Symbol" pitchFamily="18" charset="2"/>
              </a:rPr>
              <a:t>、零指针与空类型指针</a:t>
            </a:r>
            <a:endParaRPr lang="en-US" altLang="zh-CN" sz="2800" b="1" dirty="0">
              <a:solidFill>
                <a:srgbClr val="C00000"/>
              </a:solidFill>
              <a:latin typeface="+mn-lt"/>
              <a:ea typeface="楷体" pitchFamily="49" charset="-122"/>
              <a:sym typeface="Symbol" pitchFamily="18" charset="2"/>
            </a:endParaRPr>
          </a:p>
          <a:p>
            <a:pPr marL="342900" indent="-342900">
              <a:lnSpc>
                <a:spcPct val="100000"/>
              </a:lnSpc>
            </a:pPr>
            <a:endParaRPr lang="zh-CN" altLang="en-US" sz="900" b="1" dirty="0">
              <a:solidFill>
                <a:srgbClr val="C00000"/>
              </a:solidFill>
              <a:latin typeface="+mn-lt"/>
              <a:ea typeface="楷体" pitchFamily="49" charset="-122"/>
              <a:sym typeface="Symbol" pitchFamily="18" charset="2"/>
            </a:endParaRPr>
          </a:p>
          <a:p>
            <a:pPr marL="742950" lvl="1" indent="-285750">
              <a:lnSpc>
                <a:spcPct val="100000"/>
              </a:lnSpc>
              <a:buFont typeface="Wingdings" pitchFamily="2" charset="2"/>
              <a:buChar char="Ø"/>
            </a:pPr>
            <a:r>
              <a:rPr lang="zh-CN" altLang="en-US" dirty="0">
                <a:solidFill>
                  <a:srgbClr val="C00000"/>
                </a:solidFill>
                <a:latin typeface="+mn-lt"/>
                <a:ea typeface="楷体" pitchFamily="49" charset="-122"/>
                <a:sym typeface="Symbol" pitchFamily="18" charset="2"/>
              </a:rPr>
              <a:t> 零指针：</a:t>
            </a:r>
            <a:r>
              <a:rPr lang="en-US" altLang="zh-CN" dirty="0">
                <a:solidFill>
                  <a:srgbClr val="C00000"/>
                </a:solidFill>
                <a:latin typeface="+mn-lt"/>
                <a:ea typeface="楷体" pitchFamily="49" charset="-122"/>
                <a:sym typeface="Symbol" pitchFamily="18" charset="2"/>
              </a:rPr>
              <a:t>(</a:t>
            </a:r>
            <a:r>
              <a:rPr lang="zh-CN" altLang="en-US" dirty="0">
                <a:solidFill>
                  <a:srgbClr val="C00000"/>
                </a:solidFill>
                <a:latin typeface="+mn-lt"/>
                <a:ea typeface="楷体" pitchFamily="49" charset="-122"/>
                <a:sym typeface="Symbol" pitchFamily="18" charset="2"/>
              </a:rPr>
              <a:t>空指针</a:t>
            </a:r>
            <a:r>
              <a:rPr lang="en-US" altLang="zh-CN" dirty="0">
                <a:solidFill>
                  <a:srgbClr val="C00000"/>
                </a:solidFill>
                <a:latin typeface="+mn-lt"/>
                <a:ea typeface="楷体" pitchFamily="49" charset="-122"/>
                <a:sym typeface="Symbol" pitchFamily="18" charset="2"/>
              </a:rPr>
              <a:t>)</a:t>
            </a:r>
          </a:p>
          <a:p>
            <a:pPr marL="742950" lvl="1" indent="-285750">
              <a:lnSpc>
                <a:spcPct val="100000"/>
              </a:lnSpc>
              <a:buFont typeface="Wingdings" pitchFamily="2" charset="2"/>
              <a:buChar char="Ø"/>
            </a:pPr>
            <a:endParaRPr lang="en-US" altLang="zh-CN" sz="400" dirty="0">
              <a:solidFill>
                <a:srgbClr val="C00000"/>
              </a:solidFill>
              <a:latin typeface="+mn-lt"/>
              <a:ea typeface="楷体" pitchFamily="49" charset="-122"/>
              <a:sym typeface="Symbol" pitchFamily="18" charset="2"/>
            </a:endParaRPr>
          </a:p>
          <a:p>
            <a:pPr marL="1143000" lvl="2" indent="-228600">
              <a:lnSpc>
                <a:spcPct val="100000"/>
              </a:lnSpc>
              <a:buFont typeface="Wingdings" pitchFamily="2" charset="2"/>
              <a:buChar char="l"/>
            </a:pPr>
            <a:r>
              <a:rPr lang="en-US" altLang="zh-CN" sz="2000" dirty="0">
                <a:latin typeface="楷体" panose="02010609060101010101" pitchFamily="49" charset="-122"/>
                <a:ea typeface="楷体" panose="02010609060101010101" pitchFamily="49" charset="-122"/>
                <a:sym typeface="Symbol" pitchFamily="18" charset="2"/>
              </a:rPr>
              <a:t> </a:t>
            </a:r>
            <a:r>
              <a:rPr lang="zh-CN" altLang="en-US" sz="2000" dirty="0">
                <a:latin typeface="楷体" panose="02010609060101010101" pitchFamily="49" charset="-122"/>
                <a:ea typeface="楷体" panose="02010609060101010101" pitchFamily="49" charset="-122"/>
                <a:sym typeface="Symbol" pitchFamily="18" charset="2"/>
              </a:rPr>
              <a:t>定义</a:t>
            </a:r>
            <a:r>
              <a:rPr lang="en-US" altLang="zh-CN" sz="2000" dirty="0">
                <a:latin typeface="楷体" panose="02010609060101010101" pitchFamily="49" charset="-122"/>
                <a:ea typeface="楷体" panose="02010609060101010101" pitchFamily="49" charset="-122"/>
                <a:sym typeface="Symbol" pitchFamily="18" charset="2"/>
              </a:rPr>
              <a:t>: </a:t>
            </a:r>
            <a:r>
              <a:rPr lang="zh-CN" altLang="en-US" sz="2000" dirty="0">
                <a:latin typeface="楷体" panose="02010609060101010101" pitchFamily="49" charset="-122"/>
                <a:ea typeface="楷体" panose="02010609060101010101" pitchFamily="49" charset="-122"/>
                <a:sym typeface="Symbol" pitchFamily="18" charset="2"/>
              </a:rPr>
              <a:t>指针变量值为零</a:t>
            </a:r>
          </a:p>
          <a:p>
            <a:pPr marL="1143000" lvl="2" indent="-228600">
              <a:lnSpc>
                <a:spcPct val="100000"/>
              </a:lnSpc>
              <a:buFont typeface="Wingdings" pitchFamily="2" charset="2"/>
              <a:buChar char="l"/>
            </a:pPr>
            <a:r>
              <a:rPr lang="zh-CN" altLang="en-US" sz="2000" dirty="0">
                <a:latin typeface="楷体" panose="02010609060101010101" pitchFamily="49" charset="-122"/>
                <a:ea typeface="楷体" panose="02010609060101010101" pitchFamily="49" charset="-122"/>
                <a:sym typeface="Symbol" pitchFamily="18" charset="2"/>
              </a:rPr>
              <a:t> 表示： </a:t>
            </a:r>
            <a:r>
              <a:rPr lang="en-US" altLang="zh-CN" dirty="0" err="1">
                <a:solidFill>
                  <a:srgbClr val="336600"/>
                </a:solidFill>
                <a:ea typeface="隶书" pitchFamily="49" charset="-122"/>
                <a:sym typeface="Symbol" pitchFamily="18" charset="2"/>
              </a:rPr>
              <a:t>int</a:t>
            </a:r>
            <a:r>
              <a:rPr lang="en-US" altLang="zh-CN" dirty="0">
                <a:solidFill>
                  <a:srgbClr val="336600"/>
                </a:solidFill>
                <a:ea typeface="隶书" pitchFamily="49" charset="-122"/>
                <a:sym typeface="Symbol" pitchFamily="18" charset="2"/>
              </a:rPr>
              <a:t>  * p = 0;</a:t>
            </a:r>
            <a:r>
              <a:rPr lang="en-US" altLang="zh-CN" dirty="0">
                <a:solidFill>
                  <a:srgbClr val="339933"/>
                </a:solidFill>
                <a:ea typeface="宋体" pitchFamily="2" charset="-122"/>
                <a:sym typeface="Symbol" pitchFamily="18" charset="2"/>
              </a:rPr>
              <a:t> </a:t>
            </a:r>
            <a:endParaRPr lang="en-US" altLang="zh-CN" dirty="0">
              <a:solidFill>
                <a:schemeClr val="accent2"/>
              </a:solidFill>
              <a:ea typeface="宋体" pitchFamily="2" charset="-122"/>
              <a:sym typeface="Symbol" pitchFamily="18" charset="2"/>
            </a:endParaRPr>
          </a:p>
        </p:txBody>
      </p:sp>
      <p:sp>
        <p:nvSpPr>
          <p:cNvPr id="1142787" name="AutoShape 3"/>
          <p:cNvSpPr>
            <a:spLocks noChangeArrowheads="1"/>
          </p:cNvSpPr>
          <p:nvPr/>
        </p:nvSpPr>
        <p:spPr bwMode="auto">
          <a:xfrm>
            <a:off x="6710116" y="1669127"/>
            <a:ext cx="4858492" cy="710067"/>
          </a:xfrm>
          <a:prstGeom prst="wedgeRectCallout">
            <a:avLst>
              <a:gd name="adj1" fmla="val -95661"/>
              <a:gd name="adj2" fmla="val 46927"/>
            </a:avLst>
          </a:prstGeom>
          <a:gradFill rotWithShape="1">
            <a:gsLst>
              <a:gs pos="0">
                <a:srgbClr val="CFCFD1"/>
              </a:gs>
              <a:gs pos="100000">
                <a:schemeClr val="bg1"/>
              </a:gs>
            </a:gsLst>
            <a:lin ang="5400000" scaled="1"/>
          </a:gradFill>
          <a:ln w="28575">
            <a:solidFill>
              <a:srgbClr val="C0192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sz="2000" dirty="0">
                <a:solidFill>
                  <a:srgbClr val="002060"/>
                </a:solidFill>
                <a:latin typeface="隶书" pitchFamily="49" charset="-122"/>
                <a:ea typeface="隶书" pitchFamily="49" charset="-122"/>
                <a:sym typeface="Symbol" pitchFamily="18" charset="2"/>
              </a:rPr>
              <a:t>p</a:t>
            </a:r>
            <a:r>
              <a:rPr lang="zh-CN" altLang="zh-CN" sz="2000" dirty="0">
                <a:solidFill>
                  <a:srgbClr val="002060"/>
                </a:solidFill>
                <a:latin typeface="隶书" pitchFamily="49" charset="-122"/>
                <a:ea typeface="隶书" pitchFamily="49" charset="-122"/>
                <a:sym typeface="Symbol" pitchFamily="18" charset="2"/>
              </a:rPr>
              <a:t>指向地址为0的单元，</a:t>
            </a:r>
            <a:r>
              <a:rPr lang="zh-CN" altLang="zh-CN" sz="2000" dirty="0">
                <a:latin typeface="隶书" pitchFamily="49" charset="-122"/>
                <a:ea typeface="隶书" pitchFamily="49" charset="-122"/>
                <a:sym typeface="Symbol" pitchFamily="18" charset="2"/>
              </a:rPr>
              <a:t>系统保证该单元不作它用</a:t>
            </a:r>
            <a:r>
              <a:rPr lang="zh-CN" altLang="en-US" sz="2000" dirty="0">
                <a:latin typeface="隶书" pitchFamily="49" charset="-122"/>
                <a:ea typeface="隶书" pitchFamily="49" charset="-122"/>
                <a:sym typeface="Symbol" pitchFamily="18" charset="2"/>
              </a:rPr>
              <a:t>，</a:t>
            </a:r>
            <a:r>
              <a:rPr lang="zh-CN" altLang="zh-CN" sz="2000" dirty="0">
                <a:latin typeface="隶书" pitchFamily="49" charset="-122"/>
                <a:ea typeface="隶书" pitchFamily="49" charset="-122"/>
                <a:sym typeface="Symbol" pitchFamily="18" charset="2"/>
              </a:rPr>
              <a:t>表示指针变量值</a:t>
            </a:r>
            <a:r>
              <a:rPr lang="zh-CN" altLang="zh-CN" sz="2000" dirty="0">
                <a:solidFill>
                  <a:srgbClr val="002060"/>
                </a:solidFill>
                <a:latin typeface="隶书" pitchFamily="49" charset="-122"/>
                <a:ea typeface="隶书" pitchFamily="49" charset="-122"/>
                <a:sym typeface="Symbol" pitchFamily="18" charset="2"/>
              </a:rPr>
              <a:t>没有意义</a:t>
            </a:r>
            <a:endParaRPr lang="zh-CN" altLang="en-US" sz="2000" dirty="0">
              <a:solidFill>
                <a:srgbClr val="002060"/>
              </a:solidFill>
              <a:sym typeface="Symbol" pitchFamily="18" charset="2"/>
            </a:endParaRPr>
          </a:p>
        </p:txBody>
      </p:sp>
      <p:sp>
        <p:nvSpPr>
          <p:cNvPr id="1142788" name="Text Box 4" descr="信纸"/>
          <p:cNvSpPr txBox="1">
            <a:spLocks noChangeArrowheads="1"/>
          </p:cNvSpPr>
          <p:nvPr/>
        </p:nvSpPr>
        <p:spPr bwMode="auto">
          <a:xfrm>
            <a:off x="1703512" y="2640583"/>
            <a:ext cx="3328060" cy="860425"/>
          </a:xfrm>
          <a:prstGeom prst="rect">
            <a:avLst/>
          </a:prstGeom>
          <a:solidFill>
            <a:schemeClr val="bg1"/>
          </a:solidFill>
          <a:ln w="38100">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dirty="0">
                <a:ea typeface="隶书" pitchFamily="49" charset="-122"/>
              </a:rPr>
              <a:t>#define   </a:t>
            </a:r>
            <a:r>
              <a:rPr lang="en-US" altLang="zh-CN" dirty="0">
                <a:solidFill>
                  <a:srgbClr val="002060"/>
                </a:solidFill>
                <a:ea typeface="隶书" pitchFamily="49" charset="-122"/>
              </a:rPr>
              <a:t>NULL</a:t>
            </a:r>
            <a:r>
              <a:rPr lang="en-US" altLang="zh-CN" dirty="0">
                <a:ea typeface="隶书" pitchFamily="49" charset="-122"/>
              </a:rPr>
              <a:t>   0</a:t>
            </a:r>
          </a:p>
          <a:p>
            <a:pPr>
              <a:lnSpc>
                <a:spcPct val="100000"/>
              </a:lnSpc>
              <a:spcBef>
                <a:spcPct val="0"/>
              </a:spcBef>
            </a:pPr>
            <a:r>
              <a:rPr lang="en-US" altLang="zh-CN" dirty="0">
                <a:ea typeface="隶书" pitchFamily="49" charset="-122"/>
              </a:rPr>
              <a:t>int   *p = NULL:</a:t>
            </a:r>
          </a:p>
        </p:txBody>
      </p:sp>
      <p:sp>
        <p:nvSpPr>
          <p:cNvPr id="1142789" name="Rectangle 5"/>
          <p:cNvSpPr>
            <a:spLocks noChangeArrowheads="1"/>
          </p:cNvSpPr>
          <p:nvPr/>
        </p:nvSpPr>
        <p:spPr bwMode="auto">
          <a:xfrm>
            <a:off x="610692" y="3565053"/>
            <a:ext cx="8148638" cy="1808163"/>
          </a:xfrm>
          <a:prstGeom prst="rect">
            <a:avLst/>
          </a:prstGeom>
          <a:noFill/>
          <a:ln w="9525">
            <a:noFill/>
            <a:miter lim="800000"/>
            <a:headEnd/>
            <a:tailEnd/>
          </a:ln>
          <a:effectLst/>
        </p:spPr>
        <p:txBody>
          <a:bodyPr/>
          <a:lstStyle/>
          <a:p>
            <a:pPr marL="1143000" lvl="2" indent="-228600">
              <a:lnSpc>
                <a:spcPct val="100000"/>
              </a:lnSpc>
              <a:buFont typeface="Wingdings" pitchFamily="2" charset="2"/>
              <a:buChar char="l"/>
            </a:pPr>
            <a:r>
              <a:rPr lang="en-US" altLang="zh-CN" sz="2000" dirty="0">
                <a:latin typeface="楷体" panose="02010609060101010101" pitchFamily="49" charset="-122"/>
                <a:ea typeface="楷体" panose="02010609060101010101" pitchFamily="49" charset="-122"/>
                <a:sym typeface="Symbol" pitchFamily="18" charset="2"/>
              </a:rPr>
              <a:t> p = NULL</a:t>
            </a:r>
            <a:r>
              <a:rPr lang="zh-CN" altLang="zh-CN" sz="2000" dirty="0">
                <a:latin typeface="楷体" panose="02010609060101010101" pitchFamily="49" charset="-122"/>
                <a:ea typeface="楷体" panose="02010609060101010101" pitchFamily="49" charset="-122"/>
                <a:sym typeface="Symbol" pitchFamily="18" charset="2"/>
              </a:rPr>
              <a:t>与未对</a:t>
            </a:r>
            <a:r>
              <a:rPr lang="en-US" altLang="zh-CN" sz="2000" dirty="0">
                <a:latin typeface="楷体" panose="02010609060101010101" pitchFamily="49" charset="-122"/>
                <a:ea typeface="楷体" panose="02010609060101010101" pitchFamily="49" charset="-122"/>
                <a:sym typeface="Symbol" pitchFamily="18" charset="2"/>
              </a:rPr>
              <a:t>p</a:t>
            </a:r>
            <a:r>
              <a:rPr lang="zh-CN" altLang="zh-CN" sz="2000" dirty="0">
                <a:latin typeface="楷体" panose="02010609060101010101" pitchFamily="49" charset="-122"/>
                <a:ea typeface="楷体" panose="02010609060101010101" pitchFamily="49" charset="-122"/>
                <a:sym typeface="Symbol" pitchFamily="18" charset="2"/>
              </a:rPr>
              <a:t>赋值不同</a:t>
            </a:r>
          </a:p>
          <a:p>
            <a:pPr marL="1143000" lvl="2" indent="-228600">
              <a:lnSpc>
                <a:spcPct val="100000"/>
              </a:lnSpc>
              <a:buFont typeface="Wingdings" pitchFamily="2" charset="2"/>
              <a:buChar char="l"/>
            </a:pPr>
            <a:r>
              <a:rPr lang="zh-CN" altLang="en-US" sz="2000" dirty="0">
                <a:latin typeface="楷体" panose="02010609060101010101" pitchFamily="49" charset="-122"/>
                <a:ea typeface="楷体" panose="02010609060101010101" pitchFamily="49" charset="-122"/>
                <a:sym typeface="Symbol" pitchFamily="18" charset="2"/>
              </a:rPr>
              <a:t> </a:t>
            </a:r>
            <a:r>
              <a:rPr lang="zh-CN" altLang="zh-CN" sz="2000" dirty="0">
                <a:latin typeface="楷体" panose="02010609060101010101" pitchFamily="49" charset="-122"/>
                <a:ea typeface="楷体" panose="02010609060101010101" pitchFamily="49" charset="-122"/>
                <a:sym typeface="Symbol" pitchFamily="18" charset="2"/>
              </a:rPr>
              <a:t>用途:   </a:t>
            </a:r>
          </a:p>
          <a:p>
            <a:pPr marL="1600200" lvl="3" indent="-228600">
              <a:lnSpc>
                <a:spcPct val="100000"/>
              </a:lnSpc>
              <a:buFont typeface="Wingdings" pitchFamily="2" charset="2"/>
              <a:buChar char="ü"/>
            </a:pPr>
            <a:r>
              <a:rPr lang="zh-CN" altLang="zh-CN" sz="2000" dirty="0">
                <a:latin typeface="楷体" panose="02010609060101010101" pitchFamily="49" charset="-122"/>
                <a:ea typeface="楷体" panose="02010609060101010101" pitchFamily="49" charset="-122"/>
                <a:sym typeface="Symbol" pitchFamily="18" charset="2"/>
              </a:rPr>
              <a:t>避免指针变量的非法引用</a:t>
            </a:r>
          </a:p>
          <a:p>
            <a:pPr marL="1600200" lvl="3" indent="-228600">
              <a:lnSpc>
                <a:spcPct val="100000"/>
              </a:lnSpc>
              <a:buFont typeface="Wingdings" pitchFamily="2" charset="2"/>
              <a:buChar char="ü"/>
            </a:pPr>
            <a:r>
              <a:rPr lang="zh-CN" altLang="zh-CN" sz="2000" dirty="0">
                <a:latin typeface="楷体" panose="02010609060101010101" pitchFamily="49" charset="-122"/>
                <a:ea typeface="楷体" panose="02010609060101010101" pitchFamily="49" charset="-122"/>
                <a:sym typeface="Symbol" pitchFamily="18" charset="2"/>
              </a:rPr>
              <a:t>在程序中常作为</a:t>
            </a:r>
            <a:r>
              <a:rPr lang="zh-CN" altLang="zh-CN" sz="2000" dirty="0">
                <a:solidFill>
                  <a:srgbClr val="002060"/>
                </a:solidFill>
                <a:latin typeface="楷体" panose="02010609060101010101" pitchFamily="49" charset="-122"/>
                <a:ea typeface="楷体" panose="02010609060101010101" pitchFamily="49" charset="-122"/>
                <a:sym typeface="Symbol" pitchFamily="18" charset="2"/>
              </a:rPr>
              <a:t>状态</a:t>
            </a:r>
            <a:r>
              <a:rPr lang="zh-CN" altLang="zh-CN" sz="2000" dirty="0">
                <a:latin typeface="楷体" panose="02010609060101010101" pitchFamily="49" charset="-122"/>
                <a:ea typeface="楷体" panose="02010609060101010101" pitchFamily="49" charset="-122"/>
                <a:sym typeface="Symbol" pitchFamily="18" charset="2"/>
              </a:rPr>
              <a:t>比较</a:t>
            </a:r>
          </a:p>
        </p:txBody>
      </p:sp>
      <p:sp>
        <p:nvSpPr>
          <p:cNvPr id="1142790" name="Text Box 6" descr="信纸"/>
          <p:cNvSpPr txBox="1">
            <a:spLocks noChangeArrowheads="1"/>
          </p:cNvSpPr>
          <p:nvPr/>
        </p:nvSpPr>
        <p:spPr bwMode="auto">
          <a:xfrm>
            <a:off x="6697306" y="2507433"/>
            <a:ext cx="4824536" cy="195580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b="0" dirty="0">
                <a:solidFill>
                  <a:srgbClr val="C00000"/>
                </a:solidFill>
                <a:ea typeface="隶书" pitchFamily="49" charset="-122"/>
              </a:rPr>
              <a:t> </a:t>
            </a:r>
            <a:r>
              <a:rPr lang="zh-CN" altLang="en-US" dirty="0">
                <a:solidFill>
                  <a:srgbClr val="C00000"/>
                </a:solidFill>
                <a:ea typeface="隶书" pitchFamily="49" charset="-122"/>
              </a:rPr>
              <a:t>例      </a:t>
            </a:r>
            <a:r>
              <a:rPr lang="en-US" altLang="zh-CN" dirty="0">
                <a:ea typeface="隶书" pitchFamily="49" charset="-122"/>
              </a:rPr>
              <a:t>int   *p;</a:t>
            </a:r>
          </a:p>
          <a:p>
            <a:pPr>
              <a:lnSpc>
                <a:spcPct val="100000"/>
              </a:lnSpc>
              <a:spcBef>
                <a:spcPct val="0"/>
              </a:spcBef>
            </a:pPr>
            <a:r>
              <a:rPr lang="en-US" altLang="zh-CN" dirty="0">
                <a:ea typeface="隶书" pitchFamily="49" charset="-122"/>
              </a:rPr>
              <a:t>           ......</a:t>
            </a:r>
          </a:p>
          <a:p>
            <a:pPr>
              <a:lnSpc>
                <a:spcPct val="100000"/>
              </a:lnSpc>
              <a:spcBef>
                <a:spcPct val="0"/>
              </a:spcBef>
            </a:pPr>
            <a:r>
              <a:rPr lang="en-US" altLang="zh-CN" dirty="0">
                <a:ea typeface="隶书" pitchFamily="49" charset="-122"/>
              </a:rPr>
              <a:t>           while (</a:t>
            </a:r>
            <a:r>
              <a:rPr lang="en-US" altLang="zh-CN" dirty="0">
                <a:solidFill>
                  <a:srgbClr val="002060"/>
                </a:solidFill>
                <a:ea typeface="隶书" pitchFamily="49" charset="-122"/>
              </a:rPr>
              <a:t>p != NULL</a:t>
            </a:r>
            <a:r>
              <a:rPr lang="en-US" altLang="zh-CN" dirty="0">
                <a:ea typeface="隶书" pitchFamily="49" charset="-122"/>
              </a:rPr>
              <a:t>) </a:t>
            </a:r>
          </a:p>
          <a:p>
            <a:pPr>
              <a:lnSpc>
                <a:spcPct val="100000"/>
              </a:lnSpc>
              <a:spcBef>
                <a:spcPct val="0"/>
              </a:spcBef>
            </a:pPr>
            <a:r>
              <a:rPr lang="en-US" altLang="zh-CN" dirty="0">
                <a:ea typeface="隶书" pitchFamily="49" charset="-122"/>
              </a:rPr>
              <a:t>           {    ...…</a:t>
            </a:r>
          </a:p>
          <a:p>
            <a:pPr>
              <a:lnSpc>
                <a:spcPct val="100000"/>
              </a:lnSpc>
              <a:spcBef>
                <a:spcPct val="0"/>
              </a:spcBef>
            </a:pPr>
            <a:r>
              <a:rPr lang="en-US" altLang="zh-CN" dirty="0">
                <a:ea typeface="隶书" pitchFamily="49" charset="-122"/>
              </a:rPr>
              <a:t>           }</a:t>
            </a:r>
          </a:p>
        </p:txBody>
      </p:sp>
      <p:sp>
        <p:nvSpPr>
          <p:cNvPr id="1142791" name="Rectangle 7"/>
          <p:cNvSpPr>
            <a:spLocks noChangeArrowheads="1"/>
          </p:cNvSpPr>
          <p:nvPr/>
        </p:nvSpPr>
        <p:spPr bwMode="auto">
          <a:xfrm>
            <a:off x="695325" y="5013176"/>
            <a:ext cx="8609012" cy="1474787"/>
          </a:xfrm>
          <a:prstGeom prst="rect">
            <a:avLst/>
          </a:prstGeom>
          <a:noFill/>
          <a:ln w="9525">
            <a:noFill/>
            <a:miter lim="800000"/>
            <a:headEnd/>
            <a:tailEnd/>
          </a:ln>
          <a:effectLst/>
        </p:spPr>
        <p:txBody>
          <a:bodyPr/>
          <a:lstStyle/>
          <a:p>
            <a:pPr marL="742950" lvl="1" indent="-285750">
              <a:lnSpc>
                <a:spcPct val="100000"/>
              </a:lnSpc>
              <a:buFont typeface="Wingdings" pitchFamily="2" charset="2"/>
              <a:buChar char="Ø"/>
            </a:pPr>
            <a:r>
              <a:rPr lang="en-US" altLang="zh-CN" dirty="0">
                <a:solidFill>
                  <a:srgbClr val="C00000"/>
                </a:solidFill>
              </a:rPr>
              <a:t> void  *</a:t>
            </a:r>
            <a:r>
              <a:rPr lang="zh-CN" altLang="zh-CN" dirty="0">
                <a:solidFill>
                  <a:srgbClr val="C00000"/>
                </a:solidFill>
                <a:latin typeface="+mn-lt"/>
                <a:ea typeface="楷体" pitchFamily="49" charset="-122"/>
              </a:rPr>
              <a:t>类型指针</a:t>
            </a:r>
            <a:endParaRPr lang="en-US" altLang="zh-CN" dirty="0">
              <a:solidFill>
                <a:srgbClr val="C00000"/>
              </a:solidFill>
              <a:latin typeface="+mn-lt"/>
              <a:ea typeface="楷体" pitchFamily="49" charset="-122"/>
            </a:endParaRPr>
          </a:p>
          <a:p>
            <a:pPr marL="742950" lvl="1" indent="-285750">
              <a:lnSpc>
                <a:spcPct val="100000"/>
              </a:lnSpc>
              <a:buFont typeface="Wingdings" pitchFamily="2" charset="2"/>
              <a:buChar char="Ø"/>
            </a:pPr>
            <a:endParaRPr lang="zh-CN" altLang="zh-CN" sz="700" dirty="0">
              <a:solidFill>
                <a:srgbClr val="C00000"/>
              </a:solidFill>
              <a:latin typeface="+mn-lt"/>
              <a:ea typeface="楷体" pitchFamily="49" charset="-122"/>
            </a:endParaRPr>
          </a:p>
          <a:p>
            <a:pPr marL="1143000" lvl="2" indent="-228600">
              <a:lnSpc>
                <a:spcPct val="100000"/>
              </a:lnSpc>
              <a:buFont typeface="Wingdings" pitchFamily="2" charset="2"/>
              <a:buChar char="l"/>
            </a:pPr>
            <a:r>
              <a:rPr lang="zh-CN" altLang="en-US" sz="2000" dirty="0"/>
              <a:t>  </a:t>
            </a:r>
            <a:r>
              <a:rPr lang="zh-CN" altLang="en-US" sz="2000" dirty="0">
                <a:latin typeface="楷体" panose="02010609060101010101" pitchFamily="49" charset="-122"/>
                <a:ea typeface="楷体" panose="02010609060101010101" pitchFamily="49" charset="-122"/>
              </a:rPr>
              <a:t>表示</a:t>
            </a:r>
            <a:r>
              <a:rPr lang="en-US" altLang="zh-CN" sz="2000" dirty="0">
                <a:latin typeface="楷体" panose="02010609060101010101" pitchFamily="49" charset="-122"/>
                <a:ea typeface="楷体" panose="02010609060101010101" pitchFamily="49" charset="-122"/>
              </a:rPr>
              <a:t>:  void  *p; </a:t>
            </a:r>
          </a:p>
          <a:p>
            <a:pPr marL="1143000" lvl="2" indent="-228600">
              <a:lnSpc>
                <a:spcPct val="100000"/>
              </a:lnSpc>
              <a:buFont typeface="Wingdings" pitchFamily="2" charset="2"/>
              <a:buChar char="l"/>
            </a:pPr>
            <a:r>
              <a:rPr lang="en-US" altLang="zh-CN" sz="2000" dirty="0">
                <a:latin typeface="楷体" panose="02010609060101010101" pitchFamily="49" charset="-122"/>
                <a:ea typeface="楷体" panose="02010609060101010101" pitchFamily="49" charset="-122"/>
              </a:rPr>
              <a:t> </a:t>
            </a:r>
            <a:r>
              <a:rPr lang="zh-CN" altLang="zh-CN" sz="2000" dirty="0">
                <a:latin typeface="楷体" panose="02010609060101010101" pitchFamily="49" charset="-122"/>
                <a:ea typeface="楷体" panose="02010609060101010101" pitchFamily="49" charset="-122"/>
              </a:rPr>
              <a:t>使用时要进行</a:t>
            </a:r>
            <a:r>
              <a:rPr lang="zh-CN" altLang="zh-CN" sz="2000" dirty="0">
                <a:solidFill>
                  <a:srgbClr val="7030A0"/>
                </a:solidFill>
                <a:latin typeface="楷体" panose="02010609060101010101" pitchFamily="49" charset="-122"/>
                <a:ea typeface="楷体" panose="02010609060101010101" pitchFamily="49" charset="-122"/>
              </a:rPr>
              <a:t>强制类型转换</a:t>
            </a:r>
            <a:endParaRPr lang="zh-CN" altLang="en-US" sz="2000" dirty="0">
              <a:solidFill>
                <a:srgbClr val="7030A0"/>
              </a:solidFill>
              <a:latin typeface="楷体" panose="02010609060101010101" pitchFamily="49" charset="-122"/>
              <a:ea typeface="楷体" panose="02010609060101010101" pitchFamily="49" charset="-122"/>
            </a:endParaRPr>
          </a:p>
        </p:txBody>
      </p:sp>
      <p:sp>
        <p:nvSpPr>
          <p:cNvPr id="1142792" name="AutoShape 8"/>
          <p:cNvSpPr>
            <a:spLocks noChangeArrowheads="1"/>
          </p:cNvSpPr>
          <p:nvPr/>
        </p:nvSpPr>
        <p:spPr bwMode="auto">
          <a:xfrm>
            <a:off x="6384032" y="4571848"/>
            <a:ext cx="4229720" cy="710067"/>
          </a:xfrm>
          <a:prstGeom prst="wedgeRectCallout">
            <a:avLst>
              <a:gd name="adj1" fmla="val -105792"/>
              <a:gd name="adj2" fmla="val 95858"/>
            </a:avLst>
          </a:prstGeom>
          <a:gradFill rotWithShape="1">
            <a:gsLst>
              <a:gs pos="0">
                <a:srgbClr val="CFCFD1"/>
              </a:gs>
              <a:gs pos="100000">
                <a:schemeClr val="bg1"/>
              </a:gs>
            </a:gsLst>
            <a:lin ang="5400000" scaled="1"/>
          </a:gradFill>
          <a:ln w="28575">
            <a:solidFill>
              <a:srgbClr val="C0192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lnSpc>
                <a:spcPct val="100000"/>
              </a:lnSpc>
              <a:spcBef>
                <a:spcPct val="0"/>
              </a:spcBef>
            </a:pPr>
            <a:r>
              <a:rPr lang="zh-CN" altLang="zh-CN" sz="2000" dirty="0">
                <a:latin typeface="隶书" pitchFamily="49" charset="-122"/>
                <a:ea typeface="隶书" pitchFamily="49" charset="-122"/>
              </a:rPr>
              <a:t>表示不指定</a:t>
            </a:r>
            <a:r>
              <a:rPr lang="en-US" altLang="zh-CN" sz="2000" dirty="0">
                <a:latin typeface="隶书" pitchFamily="49" charset="-122"/>
                <a:ea typeface="隶书" pitchFamily="49" charset="-122"/>
              </a:rPr>
              <a:t>p</a:t>
            </a:r>
            <a:r>
              <a:rPr lang="zh-CN" altLang="zh-CN" sz="2000" dirty="0">
                <a:latin typeface="隶书" pitchFamily="49" charset="-122"/>
                <a:ea typeface="隶书" pitchFamily="49" charset="-122"/>
              </a:rPr>
              <a:t>是指向哪一种类型数据的指针变</a:t>
            </a:r>
            <a:r>
              <a:rPr lang="zh-CN" altLang="en-US" sz="2000" dirty="0">
                <a:latin typeface="隶书" pitchFamily="49" charset="-122"/>
                <a:ea typeface="隶书" pitchFamily="49" charset="-122"/>
              </a:rPr>
              <a:t>量</a:t>
            </a:r>
            <a:endParaRPr lang="zh-CN" altLang="en-US" sz="2000" dirty="0"/>
          </a:p>
        </p:txBody>
      </p:sp>
      <p:sp>
        <p:nvSpPr>
          <p:cNvPr id="1142796" name="Text Box 12" descr="信纸"/>
          <p:cNvSpPr txBox="1">
            <a:spLocks noChangeArrowheads="1"/>
          </p:cNvSpPr>
          <p:nvPr/>
        </p:nvSpPr>
        <p:spPr bwMode="auto">
          <a:xfrm>
            <a:off x="6729103" y="5253140"/>
            <a:ext cx="4229720"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ea typeface="隶书" pitchFamily="49" charset="-122"/>
              </a:rPr>
              <a:t>例 </a:t>
            </a:r>
            <a:r>
              <a:rPr lang="zh-CN" altLang="en-US" dirty="0">
                <a:ea typeface="隶书" pitchFamily="49" charset="-122"/>
              </a:rPr>
              <a:t>  </a:t>
            </a:r>
            <a:r>
              <a:rPr lang="en-US" altLang="zh-CN" dirty="0">
                <a:ea typeface="隶书" pitchFamily="49" charset="-122"/>
              </a:rPr>
              <a:t>char  *p1;</a:t>
            </a:r>
          </a:p>
          <a:p>
            <a:pPr>
              <a:lnSpc>
                <a:spcPct val="100000"/>
              </a:lnSpc>
              <a:spcBef>
                <a:spcPct val="0"/>
              </a:spcBef>
            </a:pPr>
            <a:r>
              <a:rPr lang="en-US" altLang="zh-CN" dirty="0">
                <a:ea typeface="隶书" pitchFamily="49" charset="-122"/>
              </a:rPr>
              <a:t>       void  *p2;</a:t>
            </a:r>
          </a:p>
          <a:p>
            <a:pPr>
              <a:lnSpc>
                <a:spcPct val="100000"/>
              </a:lnSpc>
              <a:spcBef>
                <a:spcPct val="0"/>
              </a:spcBef>
            </a:pPr>
            <a:r>
              <a:rPr lang="en-US" altLang="zh-CN" dirty="0">
                <a:ea typeface="隶书" pitchFamily="49" charset="-122"/>
              </a:rPr>
              <a:t>       p1=(char  *)p2;</a:t>
            </a:r>
          </a:p>
          <a:p>
            <a:pPr>
              <a:lnSpc>
                <a:spcPct val="100000"/>
              </a:lnSpc>
              <a:spcBef>
                <a:spcPct val="0"/>
              </a:spcBef>
            </a:pPr>
            <a:r>
              <a:rPr lang="en-US" altLang="zh-CN" dirty="0">
                <a:ea typeface="隶书" pitchFamily="49" charset="-122"/>
              </a:rPr>
              <a:t>       p2=(void *)p1;</a:t>
            </a:r>
          </a:p>
        </p:txBody>
      </p:sp>
      <p:sp>
        <p:nvSpPr>
          <p:cNvPr id="14" name="Rectangle 4">
            <a:extLst>
              <a:ext uri="{FF2B5EF4-FFF2-40B4-BE49-F238E27FC236}">
                <a16:creationId xmlns:a16="http://schemas.microsoft.com/office/drawing/2014/main" id="{B54455D5-E5FF-4B0F-B8B6-21F128556CB0}"/>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指针变量的定义和引用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2786">
                                            <p:txEl>
                                              <p:pRg st="0" end="0"/>
                                            </p:txEl>
                                          </p:spTgt>
                                        </p:tgtEl>
                                        <p:attrNameLst>
                                          <p:attrName>style.visibility</p:attrName>
                                        </p:attrNameLst>
                                      </p:cBhvr>
                                      <p:to>
                                        <p:strVal val="visible"/>
                                      </p:to>
                                    </p:set>
                                    <p:anim calcmode="lin" valueType="num">
                                      <p:cBhvr additive="base">
                                        <p:cTn id="7" dur="500" fill="hold"/>
                                        <p:tgtEl>
                                          <p:spTgt spid="114278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278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42786">
                                            <p:txEl>
                                              <p:pRg st="2" end="2"/>
                                            </p:txEl>
                                          </p:spTgt>
                                        </p:tgtEl>
                                        <p:attrNameLst>
                                          <p:attrName>style.visibility</p:attrName>
                                        </p:attrNameLst>
                                      </p:cBhvr>
                                      <p:to>
                                        <p:strVal val="visible"/>
                                      </p:to>
                                    </p:set>
                                    <p:anim calcmode="lin" valueType="num">
                                      <p:cBhvr additive="base">
                                        <p:cTn id="13" dur="500" fill="hold"/>
                                        <p:tgtEl>
                                          <p:spTgt spid="1142786">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42786">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42786">
                                            <p:txEl>
                                              <p:pRg st="4" end="4"/>
                                            </p:txEl>
                                          </p:spTgt>
                                        </p:tgtEl>
                                        <p:attrNameLst>
                                          <p:attrName>style.visibility</p:attrName>
                                        </p:attrNameLst>
                                      </p:cBhvr>
                                      <p:to>
                                        <p:strVal val="visible"/>
                                      </p:to>
                                    </p:set>
                                    <p:anim calcmode="lin" valueType="num">
                                      <p:cBhvr additive="base">
                                        <p:cTn id="19" dur="500" fill="hold"/>
                                        <p:tgtEl>
                                          <p:spTgt spid="1142786">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42786">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42786">
                                            <p:txEl>
                                              <p:pRg st="5" end="5"/>
                                            </p:txEl>
                                          </p:spTgt>
                                        </p:tgtEl>
                                        <p:attrNameLst>
                                          <p:attrName>style.visibility</p:attrName>
                                        </p:attrNameLst>
                                      </p:cBhvr>
                                      <p:to>
                                        <p:strVal val="visible"/>
                                      </p:to>
                                    </p:set>
                                    <p:anim calcmode="lin" valueType="num">
                                      <p:cBhvr additive="base">
                                        <p:cTn id="25" dur="500" fill="hold"/>
                                        <p:tgtEl>
                                          <p:spTgt spid="1142786">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42786">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142787"/>
                                        </p:tgtEl>
                                        <p:attrNameLst>
                                          <p:attrName>style.visibility</p:attrName>
                                        </p:attrNameLst>
                                      </p:cBhvr>
                                      <p:to>
                                        <p:strVal val="visible"/>
                                      </p:to>
                                    </p:set>
                                    <p:animEffect transition="in" filter="box(out)">
                                      <p:cBhvr>
                                        <p:cTn id="31" dur="500"/>
                                        <p:tgtEl>
                                          <p:spTgt spid="1142787"/>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142788"/>
                                        </p:tgtEl>
                                        <p:attrNameLst>
                                          <p:attrName>style.visibility</p:attrName>
                                        </p:attrNameLst>
                                      </p:cBhvr>
                                      <p:to>
                                        <p:strVal val="visible"/>
                                      </p:to>
                                    </p:set>
                                    <p:animEffect transition="in" filter="box(out)">
                                      <p:cBhvr>
                                        <p:cTn id="36" dur="500"/>
                                        <p:tgtEl>
                                          <p:spTgt spid="1142788"/>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142789">
                                            <p:txEl>
                                              <p:pRg st="0" end="0"/>
                                            </p:txEl>
                                          </p:spTgt>
                                        </p:tgtEl>
                                        <p:attrNameLst>
                                          <p:attrName>style.visibility</p:attrName>
                                        </p:attrNameLst>
                                      </p:cBhvr>
                                      <p:to>
                                        <p:strVal val="visible"/>
                                      </p:to>
                                    </p:set>
                                    <p:anim calcmode="lin" valueType="num">
                                      <p:cBhvr additive="base">
                                        <p:cTn id="41" dur="500" fill="hold"/>
                                        <p:tgtEl>
                                          <p:spTgt spid="1142789">
                                            <p:txEl>
                                              <p:pRg st="0" end="0"/>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114278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1142789">
                                            <p:txEl>
                                              <p:pRg st="1" end="1"/>
                                            </p:txEl>
                                          </p:spTgt>
                                        </p:tgtEl>
                                        <p:attrNameLst>
                                          <p:attrName>style.visibility</p:attrName>
                                        </p:attrNameLst>
                                      </p:cBhvr>
                                      <p:to>
                                        <p:strVal val="visible"/>
                                      </p:to>
                                    </p:set>
                                    <p:anim calcmode="lin" valueType="num">
                                      <p:cBhvr additive="base">
                                        <p:cTn id="47" dur="500" fill="hold"/>
                                        <p:tgtEl>
                                          <p:spTgt spid="1142789">
                                            <p:txEl>
                                              <p:pRg st="1" end="1"/>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114278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1142789">
                                            <p:txEl>
                                              <p:pRg st="2" end="2"/>
                                            </p:txEl>
                                          </p:spTgt>
                                        </p:tgtEl>
                                        <p:attrNameLst>
                                          <p:attrName>style.visibility</p:attrName>
                                        </p:attrNameLst>
                                      </p:cBhvr>
                                      <p:to>
                                        <p:strVal val="visible"/>
                                      </p:to>
                                    </p:set>
                                    <p:anim calcmode="lin" valueType="num">
                                      <p:cBhvr additive="base">
                                        <p:cTn id="53" dur="500" fill="hold"/>
                                        <p:tgtEl>
                                          <p:spTgt spid="1142789">
                                            <p:txEl>
                                              <p:pRg st="2" end="2"/>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114278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1142789">
                                            <p:txEl>
                                              <p:pRg st="3" end="3"/>
                                            </p:txEl>
                                          </p:spTgt>
                                        </p:tgtEl>
                                        <p:attrNameLst>
                                          <p:attrName>style.visibility</p:attrName>
                                        </p:attrNameLst>
                                      </p:cBhvr>
                                      <p:to>
                                        <p:strVal val="visible"/>
                                      </p:to>
                                    </p:set>
                                    <p:anim calcmode="lin" valueType="num">
                                      <p:cBhvr additive="base">
                                        <p:cTn id="59" dur="500" fill="hold"/>
                                        <p:tgtEl>
                                          <p:spTgt spid="1142789">
                                            <p:txEl>
                                              <p:pRg st="3" end="3"/>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114278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1142790"/>
                                        </p:tgtEl>
                                        <p:attrNameLst>
                                          <p:attrName>style.visibility</p:attrName>
                                        </p:attrNameLst>
                                      </p:cBhvr>
                                      <p:to>
                                        <p:strVal val="visible"/>
                                      </p:to>
                                    </p:set>
                                    <p:animEffect transition="in" filter="box(in)">
                                      <p:cBhvr>
                                        <p:cTn id="65" dur="500"/>
                                        <p:tgtEl>
                                          <p:spTgt spid="1142790"/>
                                        </p:tgtEl>
                                      </p:cBhvr>
                                    </p:animEffect>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6" fill="hold">
                      <p:stCondLst>
                        <p:cond delay="indefinite"/>
                      </p:stCondLst>
                      <p:childTnLst>
                        <p:par>
                          <p:cTn id="67" fill="hold">
                            <p:stCondLst>
                              <p:cond delay="0"/>
                            </p:stCondLst>
                            <p:childTnLst>
                              <p:par>
                                <p:cTn id="68" presetID="2" presetClass="entr" presetSubtype="8" fill="hold" grpId="0" nodeType="clickEffect">
                                  <p:stCondLst>
                                    <p:cond delay="0"/>
                                  </p:stCondLst>
                                  <p:childTnLst>
                                    <p:set>
                                      <p:cBhvr>
                                        <p:cTn id="69" dur="1" fill="hold">
                                          <p:stCondLst>
                                            <p:cond delay="0"/>
                                          </p:stCondLst>
                                        </p:cTn>
                                        <p:tgtEl>
                                          <p:spTgt spid="1142791">
                                            <p:txEl>
                                              <p:pRg st="0" end="0"/>
                                            </p:txEl>
                                          </p:spTgt>
                                        </p:tgtEl>
                                        <p:attrNameLst>
                                          <p:attrName>style.visibility</p:attrName>
                                        </p:attrNameLst>
                                      </p:cBhvr>
                                      <p:to>
                                        <p:strVal val="visible"/>
                                      </p:to>
                                    </p:set>
                                    <p:anim calcmode="lin" valueType="num">
                                      <p:cBhvr additive="base">
                                        <p:cTn id="70" dur="500" fill="hold"/>
                                        <p:tgtEl>
                                          <p:spTgt spid="1142791">
                                            <p:txEl>
                                              <p:pRg st="0" end="0"/>
                                            </p:txEl>
                                          </p:spTgt>
                                        </p:tgtEl>
                                        <p:attrNameLst>
                                          <p:attrName>ppt_x</p:attrName>
                                        </p:attrNameLst>
                                      </p:cBhvr>
                                      <p:tavLst>
                                        <p:tav tm="0">
                                          <p:val>
                                            <p:strVal val="0-#ppt_w/2"/>
                                          </p:val>
                                        </p:tav>
                                        <p:tav tm="100000">
                                          <p:val>
                                            <p:strVal val="#ppt_x"/>
                                          </p:val>
                                        </p:tav>
                                      </p:tavLst>
                                    </p:anim>
                                    <p:anim calcmode="lin" valueType="num">
                                      <p:cBhvr additive="base">
                                        <p:cTn id="71" dur="500" fill="hold"/>
                                        <p:tgtEl>
                                          <p:spTgt spid="114279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childTnLst>
                          </p:cTn>
                        </p:par>
                      </p:childTnLst>
                    </p:cTn>
                  </p:par>
                  <p:par>
                    <p:cTn id="72" fill="hold">
                      <p:stCondLst>
                        <p:cond delay="indefinite"/>
                      </p:stCondLst>
                      <p:childTnLst>
                        <p:par>
                          <p:cTn id="73" fill="hold">
                            <p:stCondLst>
                              <p:cond delay="0"/>
                            </p:stCondLst>
                            <p:childTnLst>
                              <p:par>
                                <p:cTn id="74" presetID="2" presetClass="entr" presetSubtype="8" fill="hold" grpId="0" nodeType="clickEffect">
                                  <p:stCondLst>
                                    <p:cond delay="0"/>
                                  </p:stCondLst>
                                  <p:childTnLst>
                                    <p:set>
                                      <p:cBhvr>
                                        <p:cTn id="75" dur="1" fill="hold">
                                          <p:stCondLst>
                                            <p:cond delay="0"/>
                                          </p:stCondLst>
                                        </p:cTn>
                                        <p:tgtEl>
                                          <p:spTgt spid="1142791">
                                            <p:txEl>
                                              <p:pRg st="2" end="2"/>
                                            </p:txEl>
                                          </p:spTgt>
                                        </p:tgtEl>
                                        <p:attrNameLst>
                                          <p:attrName>style.visibility</p:attrName>
                                        </p:attrNameLst>
                                      </p:cBhvr>
                                      <p:to>
                                        <p:strVal val="visible"/>
                                      </p:to>
                                    </p:set>
                                    <p:anim calcmode="lin" valueType="num">
                                      <p:cBhvr additive="base">
                                        <p:cTn id="76" dur="500" fill="hold"/>
                                        <p:tgtEl>
                                          <p:spTgt spid="1142791">
                                            <p:txEl>
                                              <p:pRg st="2" end="2"/>
                                            </p:txEl>
                                          </p:spTgt>
                                        </p:tgtEl>
                                        <p:attrNameLst>
                                          <p:attrName>ppt_x</p:attrName>
                                        </p:attrNameLst>
                                      </p:cBhvr>
                                      <p:tavLst>
                                        <p:tav tm="0">
                                          <p:val>
                                            <p:strVal val="0-#ppt_w/2"/>
                                          </p:val>
                                        </p:tav>
                                        <p:tav tm="100000">
                                          <p:val>
                                            <p:strVal val="#ppt_x"/>
                                          </p:val>
                                        </p:tav>
                                      </p:tavLst>
                                    </p:anim>
                                    <p:anim calcmode="lin" valueType="num">
                                      <p:cBhvr additive="base">
                                        <p:cTn id="77" dur="500" fill="hold"/>
                                        <p:tgtEl>
                                          <p:spTgt spid="114279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4"/>
                                            </p:cond>
                                          </p:stCondLst>
                                          <p:endCondLst>
                                            <p:cond evt="onStopAudio" delay="0">
                                              <p:tgtEl>
                                                <p:sldTgt/>
                                              </p:tgtEl>
                                            </p:cond>
                                          </p:endCondLst>
                                        </p:cTn>
                                        <p:tgtEl>
                                          <p:sndTgt r:embed="rId2" name="camera.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1142792"/>
                                        </p:tgtEl>
                                        <p:attrNameLst>
                                          <p:attrName>style.visibility</p:attrName>
                                        </p:attrNameLst>
                                      </p:cBhvr>
                                      <p:to>
                                        <p:strVal val="visible"/>
                                      </p:to>
                                    </p:set>
                                    <p:animEffect transition="in" filter="box(out)">
                                      <p:cBhvr>
                                        <p:cTn id="82" dur="500"/>
                                        <p:tgtEl>
                                          <p:spTgt spid="1142792"/>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childTnLst>
                    </p:cTn>
                  </p:par>
                  <p:par>
                    <p:cTn id="83" fill="hold">
                      <p:stCondLst>
                        <p:cond delay="indefinite"/>
                      </p:stCondLst>
                      <p:childTnLst>
                        <p:par>
                          <p:cTn id="84" fill="hold">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1142791">
                                            <p:txEl>
                                              <p:pRg st="3" end="3"/>
                                            </p:txEl>
                                          </p:spTgt>
                                        </p:tgtEl>
                                        <p:attrNameLst>
                                          <p:attrName>style.visibility</p:attrName>
                                        </p:attrNameLst>
                                      </p:cBhvr>
                                      <p:to>
                                        <p:strVal val="visible"/>
                                      </p:to>
                                    </p:set>
                                    <p:anim calcmode="lin" valueType="num">
                                      <p:cBhvr additive="base">
                                        <p:cTn id="87" dur="500" fill="hold"/>
                                        <p:tgtEl>
                                          <p:spTgt spid="1142791">
                                            <p:txEl>
                                              <p:pRg st="3" end="3"/>
                                            </p:txEl>
                                          </p:spTgt>
                                        </p:tgtEl>
                                        <p:attrNameLst>
                                          <p:attrName>ppt_x</p:attrName>
                                        </p:attrNameLst>
                                      </p:cBhvr>
                                      <p:tavLst>
                                        <p:tav tm="0">
                                          <p:val>
                                            <p:strVal val="0-#ppt_w/2"/>
                                          </p:val>
                                        </p:tav>
                                        <p:tav tm="100000">
                                          <p:val>
                                            <p:strVal val="#ppt_x"/>
                                          </p:val>
                                        </p:tav>
                                      </p:tavLst>
                                    </p:anim>
                                    <p:anim calcmode="lin" valueType="num">
                                      <p:cBhvr additive="base">
                                        <p:cTn id="88" dur="500" fill="hold"/>
                                        <p:tgtEl>
                                          <p:spTgt spid="114279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childTnLst>
                    </p:cTn>
                  </p:par>
                  <p:par>
                    <p:cTn id="89" fill="hold">
                      <p:stCondLst>
                        <p:cond delay="indefinite"/>
                      </p:stCondLst>
                      <p:childTnLst>
                        <p:par>
                          <p:cTn id="90" fill="hold">
                            <p:stCondLst>
                              <p:cond delay="0"/>
                            </p:stCondLst>
                            <p:childTnLst>
                              <p:par>
                                <p:cTn id="91" presetID="4" presetClass="entr" presetSubtype="32" fill="hold" grpId="0" nodeType="clickEffect">
                                  <p:stCondLst>
                                    <p:cond delay="0"/>
                                  </p:stCondLst>
                                  <p:childTnLst>
                                    <p:set>
                                      <p:cBhvr>
                                        <p:cTn id="92" dur="1" fill="hold">
                                          <p:stCondLst>
                                            <p:cond delay="0"/>
                                          </p:stCondLst>
                                        </p:cTn>
                                        <p:tgtEl>
                                          <p:spTgt spid="1142796"/>
                                        </p:tgtEl>
                                        <p:attrNameLst>
                                          <p:attrName>style.visibility</p:attrName>
                                        </p:attrNameLst>
                                      </p:cBhvr>
                                      <p:to>
                                        <p:strVal val="visible"/>
                                      </p:to>
                                    </p:set>
                                    <p:animEffect transition="in" filter="box(out)">
                                      <p:cBhvr>
                                        <p:cTn id="93" dur="500"/>
                                        <p:tgtEl>
                                          <p:spTgt spid="1142796"/>
                                        </p:tgtEl>
                                      </p:cBhvr>
                                    </p:animEffect>
                                  </p:childTnLst>
                                  <p:subTnLst>
                                    <p:audio>
                                      <p:cMediaNode>
                                        <p:cTn display="0" masterRel="sameClick">
                                          <p:stCondLst>
                                            <p:cond evt="begin" delay="0">
                                              <p:tn val="9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2786" grpId="0" build="p" bldLvl="5" autoUpdateAnimBg="0"/>
      <p:bldP spid="1142787" grpId="0" animBg="1" autoUpdateAnimBg="0"/>
      <p:bldP spid="1142788" grpId="0" animBg="1" autoUpdateAnimBg="0"/>
      <p:bldP spid="1142789" grpId="0" build="p" bldLvl="5" autoUpdateAnimBg="0"/>
      <p:bldP spid="1142790" grpId="0" animBg="1" autoUpdateAnimBg="0"/>
      <p:bldP spid="1142791" grpId="0" uiExpand="1" build="p" bldLvl="5" autoUpdateAnimBg="0"/>
      <p:bldP spid="1142792" grpId="0" animBg="1" autoUpdateAnimBg="0"/>
      <p:bldP spid="1142796"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3810" name="Rectangle 2"/>
          <p:cNvSpPr>
            <a:spLocks noChangeArrowheads="1"/>
          </p:cNvSpPr>
          <p:nvPr/>
        </p:nvSpPr>
        <p:spPr bwMode="auto">
          <a:xfrm>
            <a:off x="672490" y="794019"/>
            <a:ext cx="3168650" cy="503237"/>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6</a:t>
            </a:r>
            <a:r>
              <a:rPr lang="zh-CN" altLang="en-US" sz="2800" b="1" dirty="0">
                <a:solidFill>
                  <a:srgbClr val="C00000"/>
                </a:solidFill>
                <a:latin typeface="+mn-lt"/>
                <a:ea typeface="楷体" pitchFamily="49" charset="-122"/>
                <a:sym typeface="Symbol" pitchFamily="18" charset="2"/>
              </a:rPr>
              <a:t>、引用指针变量</a:t>
            </a:r>
          </a:p>
        </p:txBody>
      </p:sp>
      <p:sp>
        <p:nvSpPr>
          <p:cNvPr id="1143811" name="Text Box 3" descr="信纸"/>
          <p:cNvSpPr txBox="1">
            <a:spLocks noChangeArrowheads="1"/>
          </p:cNvSpPr>
          <p:nvPr/>
        </p:nvSpPr>
        <p:spPr bwMode="auto">
          <a:xfrm>
            <a:off x="2128554" y="1753281"/>
            <a:ext cx="8215918" cy="1202510"/>
          </a:xfrm>
          <a:prstGeom prst="rect">
            <a:avLst/>
          </a:prstGeom>
          <a:gradFill>
            <a:gsLst>
              <a:gs pos="0">
                <a:srgbClr val="CFCFD1"/>
              </a:gs>
              <a:gs pos="100000">
                <a:schemeClr val="bg1">
                  <a:lumMod val="95000"/>
                </a:schemeClr>
              </a:gs>
            </a:gsLst>
            <a:lin ang="5400000" scaled="1"/>
          </a:gra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pPr>
            <a:r>
              <a:rPr lang="en-US" altLang="zh-CN" dirty="0" err="1"/>
              <a:t>int</a:t>
            </a:r>
            <a:r>
              <a:rPr lang="en-US" altLang="zh-CN" dirty="0"/>
              <a:t> a;</a:t>
            </a:r>
          </a:p>
          <a:p>
            <a:pPr>
              <a:lnSpc>
                <a:spcPct val="100000"/>
              </a:lnSpc>
            </a:pPr>
            <a:r>
              <a:rPr lang="en-US" altLang="zh-CN" dirty="0" err="1"/>
              <a:t>int</a:t>
            </a:r>
            <a:r>
              <a:rPr lang="en-US" altLang="zh-CN" dirty="0"/>
              <a:t> *p = &amp;a;     </a:t>
            </a:r>
            <a:r>
              <a:rPr lang="en-US" altLang="zh-CN" sz="2000" dirty="0">
                <a:solidFill>
                  <a:srgbClr val="002060"/>
                </a:solidFill>
                <a:latin typeface="+mn-lt"/>
                <a:ea typeface="楷体" pitchFamily="49" charset="-122"/>
              </a:rPr>
              <a:t>// p</a:t>
            </a:r>
            <a:r>
              <a:rPr lang="zh-CN" altLang="en-US" sz="2000" dirty="0">
                <a:solidFill>
                  <a:srgbClr val="002060"/>
                </a:solidFill>
                <a:latin typeface="+mn-lt"/>
                <a:ea typeface="楷体" pitchFamily="49" charset="-122"/>
              </a:rPr>
              <a:t>指向</a:t>
            </a:r>
            <a:r>
              <a:rPr lang="en-US" altLang="zh-CN" sz="2000" dirty="0">
                <a:solidFill>
                  <a:srgbClr val="002060"/>
                </a:solidFill>
                <a:latin typeface="+mn-lt"/>
                <a:ea typeface="楷体" pitchFamily="49" charset="-122"/>
              </a:rPr>
              <a:t>a</a:t>
            </a:r>
          </a:p>
          <a:p>
            <a:pPr>
              <a:lnSpc>
                <a:spcPct val="100000"/>
              </a:lnSpc>
            </a:pPr>
            <a:r>
              <a:rPr lang="en-US" altLang="zh-CN" dirty="0"/>
              <a:t>*p = 10;            </a:t>
            </a:r>
            <a:r>
              <a:rPr lang="en-US" altLang="zh-CN" sz="2000" dirty="0">
                <a:solidFill>
                  <a:srgbClr val="002060"/>
                </a:solidFill>
                <a:latin typeface="+mn-lt"/>
                <a:ea typeface="楷体" pitchFamily="49" charset="-122"/>
              </a:rPr>
              <a:t>// </a:t>
            </a:r>
            <a:r>
              <a:rPr lang="zh-CN" altLang="en-US" sz="2000" dirty="0">
                <a:solidFill>
                  <a:srgbClr val="002060"/>
                </a:solidFill>
                <a:latin typeface="+mn-lt"/>
                <a:ea typeface="楷体" pitchFamily="49" charset="-122"/>
              </a:rPr>
              <a:t>相当于 </a:t>
            </a:r>
            <a:r>
              <a:rPr lang="en-US" altLang="zh-CN" sz="2000" dirty="0">
                <a:solidFill>
                  <a:srgbClr val="002060"/>
                </a:solidFill>
                <a:latin typeface="+mn-lt"/>
                <a:ea typeface="楷体" pitchFamily="49" charset="-122"/>
              </a:rPr>
              <a:t>a = 10;</a:t>
            </a:r>
          </a:p>
        </p:txBody>
      </p:sp>
      <p:sp>
        <p:nvSpPr>
          <p:cNvPr id="1143815" name="Rectangle 7"/>
          <p:cNvSpPr>
            <a:spLocks noChangeArrowheads="1"/>
          </p:cNvSpPr>
          <p:nvPr/>
        </p:nvSpPr>
        <p:spPr bwMode="auto">
          <a:xfrm>
            <a:off x="1199456" y="1297256"/>
            <a:ext cx="4176713" cy="503238"/>
          </a:xfrm>
          <a:prstGeom prst="rect">
            <a:avLst/>
          </a:prstGeom>
          <a:noFill/>
          <a:ln w="9525">
            <a:noFill/>
            <a:miter lim="800000"/>
            <a:headEnd/>
            <a:tailEnd/>
          </a:ln>
          <a:effectLst/>
        </p:spPr>
        <p:txBody>
          <a:bodyPr/>
          <a:lstStyle/>
          <a:p>
            <a:pPr marL="342900" indent="-342900">
              <a:lnSpc>
                <a:spcPct val="100000"/>
              </a:lnSpc>
            </a:pPr>
            <a:r>
              <a:rPr lang="zh-CN" altLang="en-US" dirty="0">
                <a:latin typeface="+mn-lt"/>
                <a:ea typeface="楷体" pitchFamily="49" charset="-122"/>
                <a:sym typeface="Symbol" pitchFamily="18" charset="2"/>
              </a:rPr>
              <a:t>格式：</a:t>
            </a:r>
            <a:r>
              <a:rPr lang="zh-CN" altLang="en-US" dirty="0">
                <a:solidFill>
                  <a:srgbClr val="CC0099"/>
                </a:solidFill>
                <a:latin typeface="+mn-lt"/>
                <a:ea typeface="楷体" pitchFamily="49" charset="-122"/>
                <a:sym typeface="Symbol" pitchFamily="18" charset="2"/>
              </a:rPr>
              <a:t>   </a:t>
            </a:r>
            <a:r>
              <a:rPr lang="zh-CN" altLang="en-US" dirty="0">
                <a:solidFill>
                  <a:srgbClr val="C00000"/>
                </a:solidFill>
                <a:latin typeface="+mn-lt"/>
                <a:ea typeface="楷体" pitchFamily="49" charset="-122"/>
                <a:sym typeface="Symbol" pitchFamily="18" charset="2"/>
              </a:rPr>
              <a:t>*指针变量</a:t>
            </a:r>
          </a:p>
        </p:txBody>
      </p:sp>
      <p:sp>
        <p:nvSpPr>
          <p:cNvPr id="1143816" name="Text Box 8" descr="信纸"/>
          <p:cNvSpPr txBox="1">
            <a:spLocks noChangeArrowheads="1"/>
          </p:cNvSpPr>
          <p:nvPr/>
        </p:nvSpPr>
        <p:spPr bwMode="auto">
          <a:xfrm>
            <a:off x="2121598" y="3212976"/>
            <a:ext cx="8215918" cy="1941173"/>
          </a:xfrm>
          <a:prstGeom prst="rect">
            <a:avLst/>
          </a:prstGeom>
          <a:gradFill>
            <a:gsLst>
              <a:gs pos="0">
                <a:srgbClr val="CFCFD1"/>
              </a:gs>
              <a:gs pos="100000">
                <a:schemeClr val="bg1">
                  <a:lumMod val="95000"/>
                </a:schemeClr>
              </a:gs>
            </a:gsLst>
            <a:lin ang="5400000" scaled="1"/>
          </a:gra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pPr>
            <a:r>
              <a:rPr lang="en-US" altLang="zh-CN" dirty="0"/>
              <a:t>int a, *p;</a:t>
            </a:r>
          </a:p>
          <a:p>
            <a:pPr>
              <a:lnSpc>
                <a:spcPct val="100000"/>
              </a:lnSpc>
            </a:pPr>
            <a:r>
              <a:rPr lang="en-US" altLang="zh-CN" dirty="0"/>
              <a:t>p = &amp;a;</a:t>
            </a:r>
          </a:p>
          <a:p>
            <a:pPr>
              <a:lnSpc>
                <a:spcPct val="100000"/>
              </a:lnSpc>
            </a:pPr>
            <a:r>
              <a:rPr lang="en-US" altLang="zh-CN" dirty="0"/>
              <a:t>*p = 10;</a:t>
            </a:r>
          </a:p>
          <a:p>
            <a:pPr>
              <a:lnSpc>
                <a:spcPct val="100000"/>
              </a:lnSpc>
            </a:pPr>
            <a:r>
              <a:rPr lang="en-US" altLang="zh-CN" dirty="0"/>
              <a:t>a++;</a:t>
            </a:r>
          </a:p>
          <a:p>
            <a:pPr>
              <a:lnSpc>
                <a:spcPct val="100000"/>
              </a:lnSpc>
            </a:pPr>
            <a:r>
              <a:rPr lang="en-US" altLang="zh-CN" dirty="0" err="1"/>
              <a:t>printf</a:t>
            </a:r>
            <a:r>
              <a:rPr lang="en-US" altLang="zh-CN" dirty="0"/>
              <a:t> ("a = %d, *p = %d", a, *p);</a:t>
            </a:r>
          </a:p>
        </p:txBody>
      </p:sp>
      <p:sp>
        <p:nvSpPr>
          <p:cNvPr id="1143817" name="Text Box 9"/>
          <p:cNvSpPr txBox="1">
            <a:spLocks noChangeArrowheads="1"/>
          </p:cNvSpPr>
          <p:nvPr/>
        </p:nvSpPr>
        <p:spPr bwMode="auto">
          <a:xfrm>
            <a:off x="7644010" y="4368273"/>
            <a:ext cx="2484438" cy="707886"/>
          </a:xfrm>
          <a:prstGeom prst="rect">
            <a:avLst/>
          </a:prstGeom>
          <a:solidFill>
            <a:srgbClr val="FFFFFF"/>
          </a:soli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indent="-285750">
              <a:lnSpc>
                <a:spcPct val="100000"/>
              </a:lnSpc>
              <a:spcBef>
                <a:spcPts val="0"/>
              </a:spcBef>
            </a:pPr>
            <a:r>
              <a:rPr lang="zh-CN" altLang="en-US" sz="2000" dirty="0">
                <a:solidFill>
                  <a:srgbClr val="C00000"/>
                </a:solidFill>
                <a:latin typeface="隶书" pitchFamily="49" charset="-122"/>
                <a:ea typeface="隶书" pitchFamily="49" charset="-122"/>
              </a:rPr>
              <a:t> 输出结果：</a:t>
            </a:r>
          </a:p>
          <a:p>
            <a:pPr indent="-285750">
              <a:lnSpc>
                <a:spcPct val="100000"/>
              </a:lnSpc>
              <a:spcBef>
                <a:spcPts val="0"/>
              </a:spcBef>
            </a:pPr>
            <a:r>
              <a:rPr lang="en-US" altLang="zh-CN" sz="2000" dirty="0">
                <a:solidFill>
                  <a:schemeClr val="accent2">
                    <a:lumMod val="50000"/>
                  </a:schemeClr>
                </a:solidFill>
              </a:rPr>
              <a:t>  a = 11, *p = 11 </a:t>
            </a:r>
          </a:p>
        </p:txBody>
      </p:sp>
      <p:sp>
        <p:nvSpPr>
          <p:cNvPr id="1143818" name="AutoShape 10"/>
          <p:cNvSpPr>
            <a:spLocks noChangeArrowheads="1"/>
          </p:cNvSpPr>
          <p:nvPr/>
        </p:nvSpPr>
        <p:spPr bwMode="auto">
          <a:xfrm>
            <a:off x="3857872" y="5670995"/>
            <a:ext cx="3393012" cy="513191"/>
          </a:xfrm>
          <a:prstGeom prst="wedgeRoundRectCallout">
            <a:avLst>
              <a:gd name="adj1" fmla="val -75381"/>
              <a:gd name="adj2" fmla="val -236446"/>
              <a:gd name="adj3" fmla="val 16667"/>
            </a:avLst>
          </a:prstGeom>
          <a:gradFill rotWithShape="1">
            <a:gsLst>
              <a:gs pos="0">
                <a:srgbClr val="CFCFD1"/>
              </a:gs>
              <a:gs pos="100000">
                <a:srgbClr val="FFFFFF"/>
              </a:gs>
            </a:gsLst>
            <a:lin ang="5400000" scaled="1"/>
          </a:gradFill>
          <a:ln w="28575">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b="1">
                <a:solidFill>
                  <a:srgbClr val="CC0000"/>
                </a:solidFill>
                <a:latin typeface="+mn-lt"/>
                <a:ea typeface="楷体" pitchFamily="49" charset="-122"/>
              </a:rPr>
              <a:t>可写成</a:t>
            </a:r>
            <a:r>
              <a:rPr lang="en-US" altLang="zh-CN" sz="2000" b="1">
                <a:solidFill>
                  <a:srgbClr val="CC0000"/>
                </a:solidFill>
                <a:latin typeface="+mn-lt"/>
                <a:ea typeface="楷体" pitchFamily="49" charset="-122"/>
              </a:rPr>
              <a:t>(*p)++</a:t>
            </a:r>
            <a:r>
              <a:rPr lang="zh-CN" altLang="en-US" sz="2000" b="1">
                <a:solidFill>
                  <a:srgbClr val="CC0000"/>
                </a:solidFill>
                <a:latin typeface="+mn-lt"/>
                <a:ea typeface="楷体" pitchFamily="49" charset="-122"/>
              </a:rPr>
              <a:t>，而不是*</a:t>
            </a:r>
            <a:r>
              <a:rPr lang="en-US" altLang="zh-CN" sz="2000" b="1">
                <a:solidFill>
                  <a:srgbClr val="CC0000"/>
                </a:solidFill>
                <a:latin typeface="+mn-lt"/>
                <a:ea typeface="楷体" pitchFamily="49" charset="-122"/>
              </a:rPr>
              <a:t>p++</a:t>
            </a:r>
            <a:r>
              <a:rPr lang="en-US" altLang="zh-CN" b="1">
                <a:latin typeface="+mn-lt"/>
                <a:ea typeface="楷体" pitchFamily="49" charset="-122"/>
              </a:rPr>
              <a:t> </a:t>
            </a:r>
          </a:p>
        </p:txBody>
      </p:sp>
      <p:sp>
        <p:nvSpPr>
          <p:cNvPr id="1143819" name="Text Box 11"/>
          <p:cNvSpPr txBox="1">
            <a:spLocks noChangeArrowheads="1"/>
          </p:cNvSpPr>
          <p:nvPr/>
        </p:nvSpPr>
        <p:spPr bwMode="auto">
          <a:xfrm>
            <a:off x="2125076" y="5445224"/>
            <a:ext cx="8208962" cy="860425"/>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en-US" altLang="zh-CN" dirty="0">
                <a:solidFill>
                  <a:srgbClr val="FF0000"/>
                </a:solidFill>
                <a:latin typeface="隶书" pitchFamily="49" charset="-122"/>
                <a:ea typeface="隶书" pitchFamily="49" charset="-122"/>
              </a:rPr>
              <a:t>    </a:t>
            </a:r>
            <a:r>
              <a:rPr lang="zh-CN" altLang="en-US" dirty="0">
                <a:solidFill>
                  <a:srgbClr val="C00000"/>
                </a:solidFill>
                <a:latin typeface="隶书" pitchFamily="49" charset="-122"/>
                <a:ea typeface="隶书" pitchFamily="49" charset="-122"/>
              </a:rPr>
              <a:t>注意：</a:t>
            </a:r>
            <a:r>
              <a:rPr lang="zh-CN" altLang="en-US" dirty="0">
                <a:latin typeface="隶书" pitchFamily="49" charset="-122"/>
                <a:ea typeface="隶书" pitchFamily="49" charset="-122"/>
              </a:rPr>
              <a:t>程序在利用指针间接引用内存单元时，将按照指针变量定义时所指向的数据类型来解释引用的内存单元。 </a:t>
            </a:r>
          </a:p>
        </p:txBody>
      </p:sp>
      <p:sp>
        <p:nvSpPr>
          <p:cNvPr id="12" name="Rectangle 4">
            <a:extLst>
              <a:ext uri="{FF2B5EF4-FFF2-40B4-BE49-F238E27FC236}">
                <a16:creationId xmlns:a16="http://schemas.microsoft.com/office/drawing/2014/main" id="{129584D7-F21F-4DE3-AE4C-58D845215BB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指针变量的定义和引用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3810">
                                            <p:txEl>
                                              <p:pRg st="0" end="0"/>
                                            </p:txEl>
                                          </p:spTgt>
                                        </p:tgtEl>
                                        <p:attrNameLst>
                                          <p:attrName>style.visibility</p:attrName>
                                        </p:attrNameLst>
                                      </p:cBhvr>
                                      <p:to>
                                        <p:strVal val="visible"/>
                                      </p:to>
                                    </p:set>
                                    <p:anim calcmode="lin" valueType="num">
                                      <p:cBhvr additive="base">
                                        <p:cTn id="7" dur="500" fill="hold"/>
                                        <p:tgtEl>
                                          <p:spTgt spid="11438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381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43815">
                                            <p:txEl>
                                              <p:pRg st="0" end="0"/>
                                            </p:txEl>
                                          </p:spTgt>
                                        </p:tgtEl>
                                        <p:attrNameLst>
                                          <p:attrName>style.visibility</p:attrName>
                                        </p:attrNameLst>
                                      </p:cBhvr>
                                      <p:to>
                                        <p:strVal val="visible"/>
                                      </p:to>
                                    </p:set>
                                    <p:anim calcmode="lin" valueType="num">
                                      <p:cBhvr additive="base">
                                        <p:cTn id="13" dur="500" fill="hold"/>
                                        <p:tgtEl>
                                          <p:spTgt spid="114381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4381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143811"/>
                                        </p:tgtEl>
                                        <p:attrNameLst>
                                          <p:attrName>style.visibility</p:attrName>
                                        </p:attrNameLst>
                                      </p:cBhvr>
                                      <p:to>
                                        <p:strVal val="visible"/>
                                      </p:to>
                                    </p:set>
                                    <p:animEffect transition="in" filter="box(out)">
                                      <p:cBhvr>
                                        <p:cTn id="19" dur="500"/>
                                        <p:tgtEl>
                                          <p:spTgt spid="1143811"/>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43816"/>
                                        </p:tgtEl>
                                        <p:attrNameLst>
                                          <p:attrName>style.visibility</p:attrName>
                                        </p:attrNameLst>
                                      </p:cBhvr>
                                      <p:to>
                                        <p:strVal val="visible"/>
                                      </p:to>
                                    </p:set>
                                    <p:animEffect transition="in" filter="box(out)">
                                      <p:cBhvr>
                                        <p:cTn id="24" dur="500"/>
                                        <p:tgtEl>
                                          <p:spTgt spid="1143816"/>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143817"/>
                                        </p:tgtEl>
                                        <p:attrNameLst>
                                          <p:attrName>style.visibility</p:attrName>
                                        </p:attrNameLst>
                                      </p:cBhvr>
                                      <p:to>
                                        <p:strVal val="visible"/>
                                      </p:to>
                                    </p:set>
                                    <p:animEffect transition="in" filter="box(out)">
                                      <p:cBhvr>
                                        <p:cTn id="29" dur="500"/>
                                        <p:tgtEl>
                                          <p:spTgt spid="1143817"/>
                                        </p:tgtEl>
                                      </p:cBhvr>
                                    </p:animEffect>
                                  </p:childTnLst>
                                  <p:subTnLst>
                                    <p:audio>
                                      <p:cMediaNode>
                                        <p:cTn display="0" masterRel="sameClick">
                                          <p:stCondLst>
                                            <p:cond evt="begin" delay="0">
                                              <p:tn val="27"/>
                                            </p:cond>
                                          </p:stCondLst>
                                          <p:endCondLst>
                                            <p:cond evt="onStopAudio" delay="0">
                                              <p:tgtEl>
                                                <p:sldTgt/>
                                              </p:tgtEl>
                                            </p:cond>
                                          </p:endCondLst>
                                        </p:cTn>
                                        <p:tgtEl>
                                          <p:sndTgt r:embed="rId3" name="chimes.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143818"/>
                                        </p:tgtEl>
                                        <p:attrNameLst>
                                          <p:attrName>style.visibility</p:attrName>
                                        </p:attrNameLst>
                                      </p:cBhvr>
                                      <p:to>
                                        <p:strVal val="visible"/>
                                      </p:to>
                                    </p:set>
                                    <p:animEffect transition="in" filter="box(out)">
                                      <p:cBhvr>
                                        <p:cTn id="34" dur="500"/>
                                        <p:tgtEl>
                                          <p:spTgt spid="1143818"/>
                                        </p:tgtEl>
                                      </p:cBhvr>
                                    </p:animEffect>
                                  </p:childTnLst>
                                  <p:subTnLst>
                                    <p:set>
                                      <p:cBhvr override="childStyle">
                                        <p:cTn dur="1" fill="hold" display="0" masterRel="nextClick" afterEffect="1"/>
                                        <p:tgtEl>
                                          <p:spTgt spid="1143818"/>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1143819"/>
                                        </p:tgtEl>
                                        <p:attrNameLst>
                                          <p:attrName>style.visibility</p:attrName>
                                        </p:attrNameLst>
                                      </p:cBhvr>
                                      <p:to>
                                        <p:strVal val="visible"/>
                                      </p:to>
                                    </p:set>
                                    <p:animEffect transition="in" filter="box(out)">
                                      <p:cBhvr>
                                        <p:cTn id="39" dur="500"/>
                                        <p:tgtEl>
                                          <p:spTgt spid="1143819"/>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3810" grpId="0" build="p" bldLvl="5" autoUpdateAnimBg="0"/>
      <p:bldP spid="1143811" grpId="0" animBg="1" autoUpdateAnimBg="0"/>
      <p:bldP spid="1143815" grpId="0" build="p" bldLvl="5" autoUpdateAnimBg="0"/>
      <p:bldP spid="1143816" grpId="0" animBg="1" autoUpdateAnimBg="0"/>
      <p:bldP spid="1143817" grpId="0" animBg="1"/>
      <p:bldP spid="1143818" grpId="0" animBg="1" autoUpdateAnimBg="0"/>
      <p:bldP spid="11438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834" name="Rectangle 2"/>
          <p:cNvSpPr>
            <a:spLocks noChangeArrowheads="1"/>
          </p:cNvSpPr>
          <p:nvPr/>
        </p:nvSpPr>
        <p:spPr bwMode="auto">
          <a:xfrm>
            <a:off x="840159" y="836986"/>
            <a:ext cx="5903913" cy="503237"/>
          </a:xfrm>
          <a:prstGeom prst="rect">
            <a:avLst/>
          </a:prstGeom>
          <a:noFill/>
          <a:ln w="9525">
            <a:noFill/>
            <a:miter lim="800000"/>
            <a:headEnd/>
            <a:tailEnd/>
          </a:ln>
          <a:effectLst/>
        </p:spPr>
        <p:txBody>
          <a:bodyPr/>
          <a:lstStyle/>
          <a:p>
            <a:pPr marL="342900" indent="-342900">
              <a:lnSpc>
                <a:spcPct val="100000"/>
              </a:lnSpc>
            </a:pPr>
            <a:r>
              <a:rPr lang="en-US" altLang="zh-CN" b="1" dirty="0">
                <a:solidFill>
                  <a:srgbClr val="C00000"/>
                </a:solidFill>
                <a:latin typeface="楷体" panose="02010609060101010101" pitchFamily="49" charset="-122"/>
                <a:ea typeface="楷体" panose="02010609060101010101" pitchFamily="49" charset="-122"/>
                <a:sym typeface="Symbol" pitchFamily="18" charset="2"/>
              </a:rPr>
              <a:t>【</a:t>
            </a:r>
            <a:r>
              <a:rPr lang="zh-CN" altLang="en-US" b="1" dirty="0">
                <a:solidFill>
                  <a:srgbClr val="C00000"/>
                </a:solidFill>
                <a:latin typeface="楷体" panose="02010609060101010101" pitchFamily="49" charset="-122"/>
                <a:ea typeface="楷体" panose="02010609060101010101" pitchFamily="49" charset="-122"/>
                <a:sym typeface="Symbol" pitchFamily="18" charset="2"/>
              </a:rPr>
              <a:t>例</a:t>
            </a:r>
            <a:r>
              <a:rPr lang="en-US" altLang="zh-CN" b="1" dirty="0">
                <a:solidFill>
                  <a:srgbClr val="C00000"/>
                </a:solidFill>
                <a:latin typeface="楷体" panose="02010609060101010101" pitchFamily="49" charset="-122"/>
                <a:ea typeface="楷体" panose="02010609060101010101" pitchFamily="49" charset="-122"/>
                <a:sym typeface="Symbol" pitchFamily="18" charset="2"/>
              </a:rPr>
              <a:t>1】</a:t>
            </a:r>
            <a:r>
              <a:rPr lang="zh-CN" altLang="en-US" b="1" dirty="0">
                <a:solidFill>
                  <a:srgbClr val="C00000"/>
                </a:solidFill>
                <a:latin typeface="楷体" panose="02010609060101010101" pitchFamily="49" charset="-122"/>
                <a:ea typeface="楷体" panose="02010609060101010101" pitchFamily="49" charset="-122"/>
                <a:sym typeface="Symbol" pitchFamily="18" charset="2"/>
              </a:rPr>
              <a:t>不同类型的指针操作同一内存变量 </a:t>
            </a:r>
          </a:p>
        </p:txBody>
      </p:sp>
      <p:sp>
        <p:nvSpPr>
          <p:cNvPr id="1144838" name="Text Box 6" descr="信纸"/>
          <p:cNvSpPr txBox="1">
            <a:spLocks noChangeArrowheads="1"/>
          </p:cNvSpPr>
          <p:nvPr/>
        </p:nvSpPr>
        <p:spPr bwMode="auto">
          <a:xfrm>
            <a:off x="1703512" y="1746727"/>
            <a:ext cx="4573934" cy="4157165"/>
          </a:xfrm>
          <a:prstGeom prst="rect">
            <a:avLst/>
          </a:prstGeom>
          <a:gradFill>
            <a:gsLst>
              <a:gs pos="0">
                <a:srgbClr val="CFCFD1"/>
              </a:gs>
              <a:gs pos="100000">
                <a:schemeClr val="bg1"/>
              </a:gs>
            </a:gsLst>
            <a:lin ang="5400000" scaled="1"/>
          </a:gradFill>
          <a:ln w="38100">
            <a:solidFill>
              <a:schemeClr val="accent1">
                <a:lumMod val="50000"/>
              </a:schemeClr>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pPr>
            <a:r>
              <a:rPr lang="en-US" altLang="zh-CN" dirty="0"/>
              <a:t>#include &lt;</a:t>
            </a:r>
            <a:r>
              <a:rPr lang="en-US" altLang="zh-CN" dirty="0" err="1"/>
              <a:t>stdio.h</a:t>
            </a:r>
            <a:r>
              <a:rPr lang="en-US" altLang="zh-CN" dirty="0"/>
              <a:t>&gt;</a:t>
            </a:r>
          </a:p>
          <a:p>
            <a:pPr>
              <a:lnSpc>
                <a:spcPct val="100000"/>
              </a:lnSpc>
            </a:pPr>
            <a:r>
              <a:rPr lang="en-US" altLang="zh-CN" dirty="0" err="1">
                <a:solidFill>
                  <a:srgbClr val="CC0000"/>
                </a:solidFill>
              </a:rPr>
              <a:t>int</a:t>
            </a:r>
            <a:r>
              <a:rPr lang="en-US" altLang="zh-CN" dirty="0">
                <a:solidFill>
                  <a:srgbClr val="CC0000"/>
                </a:solidFill>
              </a:rPr>
              <a:t> main ( )</a:t>
            </a:r>
          </a:p>
          <a:p>
            <a:pPr>
              <a:lnSpc>
                <a:spcPct val="100000"/>
              </a:lnSpc>
            </a:pPr>
            <a:r>
              <a:rPr lang="en-US" altLang="zh-CN" dirty="0"/>
              <a:t>{</a:t>
            </a:r>
          </a:p>
          <a:p>
            <a:pPr>
              <a:lnSpc>
                <a:spcPct val="100000"/>
              </a:lnSpc>
            </a:pPr>
            <a:r>
              <a:rPr lang="en-US" altLang="zh-CN" dirty="0"/>
              <a:t>   unsigned short a;</a:t>
            </a:r>
          </a:p>
          <a:p>
            <a:pPr>
              <a:lnSpc>
                <a:spcPct val="100000"/>
              </a:lnSpc>
            </a:pPr>
            <a:r>
              <a:rPr lang="en-US" altLang="zh-CN" dirty="0"/>
              <a:t>   unsigned short *pi = &amp;a; </a:t>
            </a:r>
          </a:p>
          <a:p>
            <a:pPr>
              <a:lnSpc>
                <a:spcPct val="100000"/>
              </a:lnSpc>
            </a:pPr>
            <a:r>
              <a:rPr lang="en-US" altLang="zh-CN" dirty="0"/>
              <a:t>   char *pc = (char *)&amp;a; </a:t>
            </a:r>
          </a:p>
          <a:p>
            <a:pPr>
              <a:lnSpc>
                <a:spcPct val="100000"/>
              </a:lnSpc>
            </a:pPr>
            <a:r>
              <a:rPr lang="en-US" altLang="zh-CN" dirty="0"/>
              <a:t>   *pi = 0XF0F0;</a:t>
            </a:r>
          </a:p>
          <a:p>
            <a:pPr>
              <a:lnSpc>
                <a:spcPct val="100000"/>
              </a:lnSpc>
            </a:pPr>
            <a:r>
              <a:rPr lang="en-US" altLang="zh-CN" dirty="0"/>
              <a:t>   *pc = 0;</a:t>
            </a:r>
          </a:p>
          <a:p>
            <a:pPr>
              <a:lnSpc>
                <a:spcPct val="100000"/>
              </a:lnSpc>
            </a:pPr>
            <a:r>
              <a:rPr lang="en-US" altLang="zh-CN" dirty="0"/>
              <a:t>   </a:t>
            </a:r>
            <a:r>
              <a:rPr lang="en-US" altLang="zh-CN" dirty="0" err="1"/>
              <a:t>printf</a:t>
            </a:r>
            <a:r>
              <a:rPr lang="en-US" altLang="zh-CN" dirty="0"/>
              <a:t> ("a = %X", a);</a:t>
            </a:r>
          </a:p>
          <a:p>
            <a:pPr>
              <a:lnSpc>
                <a:spcPct val="100000"/>
              </a:lnSpc>
            </a:pPr>
            <a:r>
              <a:rPr lang="en-US" altLang="zh-CN" dirty="0"/>
              <a:t>   return 0;</a:t>
            </a:r>
          </a:p>
          <a:p>
            <a:pPr>
              <a:lnSpc>
                <a:spcPct val="100000"/>
              </a:lnSpc>
            </a:pPr>
            <a:r>
              <a:rPr lang="en-US" altLang="zh-CN" dirty="0"/>
              <a:t>}</a:t>
            </a:r>
          </a:p>
        </p:txBody>
      </p:sp>
      <p:grpSp>
        <p:nvGrpSpPr>
          <p:cNvPr id="1144839" name="Group 7"/>
          <p:cNvGrpSpPr>
            <a:grpSpLocks/>
          </p:cNvGrpSpPr>
          <p:nvPr/>
        </p:nvGrpSpPr>
        <p:grpSpPr bwMode="auto">
          <a:xfrm>
            <a:off x="7239371" y="1522983"/>
            <a:ext cx="2668588" cy="4579938"/>
            <a:chOff x="2900" y="673"/>
            <a:chExt cx="1681" cy="2885"/>
          </a:xfrm>
        </p:grpSpPr>
        <p:sp>
          <p:nvSpPr>
            <p:cNvPr id="1144840" name="Rectangle 8"/>
            <p:cNvSpPr>
              <a:spLocks noChangeArrowheads="1"/>
            </p:cNvSpPr>
            <p:nvPr/>
          </p:nvSpPr>
          <p:spPr bwMode="auto">
            <a:xfrm>
              <a:off x="3358" y="673"/>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a typeface="宋体" pitchFamily="2" charset="-122"/>
              </a:endParaRPr>
            </a:p>
          </p:txBody>
        </p:sp>
        <p:sp>
          <p:nvSpPr>
            <p:cNvPr id="1144842" name="Line 10"/>
            <p:cNvSpPr>
              <a:spLocks noChangeShapeType="1"/>
            </p:cNvSpPr>
            <p:nvPr/>
          </p:nvSpPr>
          <p:spPr bwMode="auto">
            <a:xfrm>
              <a:off x="3370" y="1142"/>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44843" name="Line 11"/>
            <p:cNvSpPr>
              <a:spLocks noChangeShapeType="1"/>
            </p:cNvSpPr>
            <p:nvPr/>
          </p:nvSpPr>
          <p:spPr bwMode="auto">
            <a:xfrm>
              <a:off x="3370" y="1357"/>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4844" name="Line 12"/>
            <p:cNvSpPr>
              <a:spLocks noChangeShapeType="1"/>
            </p:cNvSpPr>
            <p:nvPr/>
          </p:nvSpPr>
          <p:spPr bwMode="auto">
            <a:xfrm>
              <a:off x="3358" y="179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4845" name="Line 13"/>
            <p:cNvSpPr>
              <a:spLocks noChangeShapeType="1"/>
            </p:cNvSpPr>
            <p:nvPr/>
          </p:nvSpPr>
          <p:spPr bwMode="auto">
            <a:xfrm>
              <a:off x="3370" y="221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4846" name="Text Box 14"/>
            <p:cNvSpPr txBox="1">
              <a:spLocks noChangeArrowheads="1"/>
            </p:cNvSpPr>
            <p:nvPr/>
          </p:nvSpPr>
          <p:spPr bwMode="auto">
            <a:xfrm>
              <a:off x="3848" y="700"/>
              <a:ext cx="310" cy="220"/>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grpSp>
          <p:nvGrpSpPr>
            <p:cNvPr id="1144847" name="Group 15"/>
            <p:cNvGrpSpPr>
              <a:grpSpLocks/>
            </p:cNvGrpSpPr>
            <p:nvPr/>
          </p:nvGrpSpPr>
          <p:grpSpPr bwMode="auto">
            <a:xfrm>
              <a:off x="3352" y="2886"/>
              <a:ext cx="1217" cy="672"/>
              <a:chOff x="2316" y="3390"/>
              <a:chExt cx="1217" cy="672"/>
            </a:xfrm>
          </p:grpSpPr>
          <p:sp>
            <p:nvSpPr>
              <p:cNvPr id="1144848" name="Freeform 16"/>
              <p:cNvSpPr>
                <a:spLocks/>
              </p:cNvSpPr>
              <p:nvPr/>
            </p:nvSpPr>
            <p:spPr bwMode="auto">
              <a:xfrm>
                <a:off x="2316" y="3390"/>
                <a:ext cx="1217"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44849" name="Text Box 17"/>
              <p:cNvSpPr txBox="1">
                <a:spLocks noChangeArrowheads="1"/>
              </p:cNvSpPr>
              <p:nvPr/>
            </p:nvSpPr>
            <p:spPr bwMode="auto">
              <a:xfrm>
                <a:off x="2813" y="3440"/>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grpSp>
        <p:sp>
          <p:nvSpPr>
            <p:cNvPr id="1144850" name="Line 18"/>
            <p:cNvSpPr>
              <a:spLocks noChangeShapeType="1"/>
            </p:cNvSpPr>
            <p:nvPr/>
          </p:nvSpPr>
          <p:spPr bwMode="auto">
            <a:xfrm>
              <a:off x="3370" y="2008"/>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44851" name="Text Box 19"/>
            <p:cNvSpPr txBox="1">
              <a:spLocks noChangeArrowheads="1"/>
            </p:cNvSpPr>
            <p:nvPr/>
          </p:nvSpPr>
          <p:spPr bwMode="auto">
            <a:xfrm>
              <a:off x="2900" y="90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7030A0"/>
                  </a:solidFill>
                  <a:ea typeface="宋体" pitchFamily="2" charset="-122"/>
                </a:rPr>
                <a:t>2000</a:t>
              </a:r>
            </a:p>
          </p:txBody>
        </p:sp>
        <p:sp>
          <p:nvSpPr>
            <p:cNvPr id="1144852" name="Text Box 20"/>
            <p:cNvSpPr txBox="1">
              <a:spLocks noChangeArrowheads="1"/>
            </p:cNvSpPr>
            <p:nvPr/>
          </p:nvSpPr>
          <p:spPr bwMode="auto">
            <a:xfrm>
              <a:off x="3849" y="1406"/>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sp>
          <p:nvSpPr>
            <p:cNvPr id="1144853" name="Line 21"/>
            <p:cNvSpPr>
              <a:spLocks noChangeShapeType="1"/>
            </p:cNvSpPr>
            <p:nvPr/>
          </p:nvSpPr>
          <p:spPr bwMode="auto">
            <a:xfrm>
              <a:off x="3353" y="2414"/>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44854" name="Line 22"/>
            <p:cNvSpPr>
              <a:spLocks noChangeShapeType="1"/>
            </p:cNvSpPr>
            <p:nvPr/>
          </p:nvSpPr>
          <p:spPr bwMode="auto">
            <a:xfrm>
              <a:off x="3353" y="2611"/>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4855" name="Text Box 23"/>
            <p:cNvSpPr txBox="1">
              <a:spLocks noChangeArrowheads="1"/>
            </p:cNvSpPr>
            <p:nvPr/>
          </p:nvSpPr>
          <p:spPr bwMode="auto">
            <a:xfrm>
              <a:off x="3015" y="123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sp>
          <p:nvSpPr>
            <p:cNvPr id="1144841" name="Line 9"/>
            <p:cNvSpPr>
              <a:spLocks noChangeShapeType="1"/>
            </p:cNvSpPr>
            <p:nvPr/>
          </p:nvSpPr>
          <p:spPr bwMode="auto">
            <a:xfrm>
              <a:off x="3370" y="949"/>
              <a:ext cx="1211" cy="0"/>
            </a:xfrm>
            <a:prstGeom prst="line">
              <a:avLst/>
            </a:prstGeom>
            <a:noFill/>
            <a:ln w="9525">
              <a:solidFill>
                <a:srgbClr val="000000"/>
              </a:solidFill>
              <a:round/>
              <a:headEnd/>
              <a:tailEnd/>
            </a:ln>
            <a:effectLst/>
          </p:spPr>
          <p:txBody>
            <a:bodyPr wrap="none" anchor="ctr"/>
            <a:lstStyle/>
            <a:p>
              <a:endParaRPr lang="zh-CN" altLang="en-US"/>
            </a:p>
          </p:txBody>
        </p:sp>
      </p:grpSp>
      <p:grpSp>
        <p:nvGrpSpPr>
          <p:cNvPr id="1144856" name="Group 24"/>
          <p:cNvGrpSpPr>
            <a:grpSpLocks/>
          </p:cNvGrpSpPr>
          <p:nvPr/>
        </p:nvGrpSpPr>
        <p:grpSpPr bwMode="auto">
          <a:xfrm>
            <a:off x="9904784" y="1811908"/>
            <a:ext cx="1560512" cy="369888"/>
            <a:chOff x="4595" y="846"/>
            <a:chExt cx="983" cy="233"/>
          </a:xfrm>
        </p:grpSpPr>
        <p:sp>
          <p:nvSpPr>
            <p:cNvPr id="1144857" name="Line 25"/>
            <p:cNvSpPr>
              <a:spLocks noChangeShapeType="1"/>
            </p:cNvSpPr>
            <p:nvPr/>
          </p:nvSpPr>
          <p:spPr bwMode="auto">
            <a:xfrm flipH="1">
              <a:off x="4595" y="971"/>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sp>
          <p:nvSpPr>
            <p:cNvPr id="1144858" name="Text Box 26"/>
            <p:cNvSpPr txBox="1">
              <a:spLocks noChangeArrowheads="1"/>
            </p:cNvSpPr>
            <p:nvPr/>
          </p:nvSpPr>
          <p:spPr bwMode="auto">
            <a:xfrm>
              <a:off x="4802" y="846"/>
              <a:ext cx="776" cy="233"/>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1800" dirty="0">
                  <a:latin typeface="+mn-lt"/>
                  <a:ea typeface="楷体" pitchFamily="49" charset="-122"/>
                </a:rPr>
                <a:t>整型变量</a:t>
              </a:r>
              <a:r>
                <a:rPr lang="en-US" altLang="zh-CN" sz="1800" dirty="0">
                  <a:solidFill>
                    <a:srgbClr val="002060"/>
                  </a:solidFill>
                  <a:latin typeface="+mn-lt"/>
                  <a:ea typeface="楷体" pitchFamily="49" charset="-122"/>
                </a:rPr>
                <a:t>a</a:t>
              </a:r>
            </a:p>
          </p:txBody>
        </p:sp>
      </p:grpSp>
      <p:grpSp>
        <p:nvGrpSpPr>
          <p:cNvPr id="1144859" name="Group 27"/>
          <p:cNvGrpSpPr>
            <a:grpSpLocks/>
          </p:cNvGrpSpPr>
          <p:nvPr/>
        </p:nvGrpSpPr>
        <p:grpSpPr bwMode="auto">
          <a:xfrm>
            <a:off x="9896849" y="3208908"/>
            <a:ext cx="1576388" cy="369888"/>
            <a:chOff x="4583" y="1715"/>
            <a:chExt cx="993" cy="233"/>
          </a:xfrm>
        </p:grpSpPr>
        <p:sp>
          <p:nvSpPr>
            <p:cNvPr id="1144860" name="Line 28"/>
            <p:cNvSpPr>
              <a:spLocks noChangeShapeType="1"/>
            </p:cNvSpPr>
            <p:nvPr/>
          </p:nvSpPr>
          <p:spPr bwMode="auto">
            <a:xfrm flipH="1">
              <a:off x="4583" y="1823"/>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sp>
          <p:nvSpPr>
            <p:cNvPr id="1144861" name="Text Box 29"/>
            <p:cNvSpPr txBox="1">
              <a:spLocks noChangeArrowheads="1"/>
            </p:cNvSpPr>
            <p:nvPr/>
          </p:nvSpPr>
          <p:spPr bwMode="auto">
            <a:xfrm>
              <a:off x="4765" y="1715"/>
              <a:ext cx="811" cy="233"/>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1800" dirty="0">
                  <a:latin typeface="+mn-lt"/>
                  <a:ea typeface="楷体" pitchFamily="49" charset="-122"/>
                </a:rPr>
                <a:t>指针变量</a:t>
              </a:r>
              <a:r>
                <a:rPr lang="en-US" altLang="zh-CN" sz="1800" dirty="0">
                  <a:solidFill>
                    <a:srgbClr val="C00000"/>
                  </a:solidFill>
                  <a:latin typeface="+mn-lt"/>
                  <a:ea typeface="楷体" pitchFamily="49" charset="-122"/>
                </a:rPr>
                <a:t>pi</a:t>
              </a:r>
            </a:p>
          </p:txBody>
        </p:sp>
      </p:grpSp>
      <p:grpSp>
        <p:nvGrpSpPr>
          <p:cNvPr id="1144862" name="Group 30"/>
          <p:cNvGrpSpPr>
            <a:grpSpLocks/>
          </p:cNvGrpSpPr>
          <p:nvPr/>
        </p:nvGrpSpPr>
        <p:grpSpPr bwMode="auto">
          <a:xfrm>
            <a:off x="7207621" y="1942084"/>
            <a:ext cx="1238250" cy="1700213"/>
            <a:chOff x="2871" y="908"/>
            <a:chExt cx="780" cy="1161"/>
          </a:xfrm>
        </p:grpSpPr>
        <p:sp>
          <p:nvSpPr>
            <p:cNvPr id="1144863" name="Oval 31"/>
            <p:cNvSpPr>
              <a:spLocks noChangeArrowheads="1"/>
            </p:cNvSpPr>
            <p:nvPr/>
          </p:nvSpPr>
          <p:spPr bwMode="auto">
            <a:xfrm>
              <a:off x="2871" y="908"/>
              <a:ext cx="454" cy="226"/>
            </a:xfrm>
            <a:prstGeom prst="ellipse">
              <a:avLst/>
            </a:prstGeom>
            <a:noFill/>
            <a:ln w="28575" algn="ctr">
              <a:solidFill>
                <a:srgbClr val="C00000"/>
              </a:solidFill>
              <a:round/>
              <a:headEnd/>
              <a:tailEnd/>
            </a:ln>
            <a:effectLst/>
          </p:spPr>
          <p:txBody>
            <a:bodyPr wrap="none" anchor="ctr"/>
            <a:lstStyle/>
            <a:p>
              <a:endParaRPr lang="zh-CN" altLang="en-US"/>
            </a:p>
          </p:txBody>
        </p:sp>
        <p:sp>
          <p:nvSpPr>
            <p:cNvPr id="1144864" name="Line 32"/>
            <p:cNvSpPr>
              <a:spLocks noChangeShapeType="1"/>
            </p:cNvSpPr>
            <p:nvPr/>
          </p:nvSpPr>
          <p:spPr bwMode="auto">
            <a:xfrm>
              <a:off x="3016" y="1117"/>
              <a:ext cx="0" cy="952"/>
            </a:xfrm>
            <a:prstGeom prst="line">
              <a:avLst/>
            </a:prstGeom>
            <a:noFill/>
            <a:ln w="28575">
              <a:solidFill>
                <a:srgbClr val="C00000"/>
              </a:solidFill>
              <a:round/>
              <a:headEnd/>
              <a:tailEnd/>
            </a:ln>
            <a:effectLst/>
          </p:spPr>
          <p:txBody>
            <a:bodyPr/>
            <a:lstStyle/>
            <a:p>
              <a:endParaRPr lang="zh-CN" altLang="en-US"/>
            </a:p>
          </p:txBody>
        </p:sp>
        <p:sp>
          <p:nvSpPr>
            <p:cNvPr id="1144865" name="Line 33"/>
            <p:cNvSpPr>
              <a:spLocks noChangeShapeType="1"/>
            </p:cNvSpPr>
            <p:nvPr/>
          </p:nvSpPr>
          <p:spPr bwMode="auto">
            <a:xfrm>
              <a:off x="3016" y="2060"/>
              <a:ext cx="635" cy="0"/>
            </a:xfrm>
            <a:prstGeom prst="line">
              <a:avLst/>
            </a:prstGeom>
            <a:noFill/>
            <a:ln w="28575">
              <a:solidFill>
                <a:srgbClr val="C00000"/>
              </a:solidFill>
              <a:round/>
              <a:headEnd/>
              <a:tailEnd type="stealth" w="lg" len="lg"/>
            </a:ln>
            <a:effectLst/>
          </p:spPr>
          <p:txBody>
            <a:bodyPr/>
            <a:lstStyle/>
            <a:p>
              <a:endParaRPr lang="zh-CN" altLang="en-US"/>
            </a:p>
          </p:txBody>
        </p:sp>
      </p:grpSp>
      <p:sp>
        <p:nvSpPr>
          <p:cNvPr id="1144866" name="Text Box 34"/>
          <p:cNvSpPr txBox="1">
            <a:spLocks noChangeArrowheads="1"/>
          </p:cNvSpPr>
          <p:nvPr/>
        </p:nvSpPr>
        <p:spPr bwMode="auto">
          <a:xfrm>
            <a:off x="8447459" y="3426397"/>
            <a:ext cx="1008062" cy="396875"/>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en-US" altLang="zh-CN" sz="2000">
                <a:solidFill>
                  <a:srgbClr val="C00000"/>
                </a:solidFill>
                <a:ea typeface="宋体" pitchFamily="2" charset="-122"/>
              </a:rPr>
              <a:t>2000</a:t>
            </a:r>
          </a:p>
        </p:txBody>
      </p:sp>
      <p:grpSp>
        <p:nvGrpSpPr>
          <p:cNvPr id="1144867" name="Group 35"/>
          <p:cNvGrpSpPr>
            <a:grpSpLocks/>
          </p:cNvGrpSpPr>
          <p:nvPr/>
        </p:nvGrpSpPr>
        <p:grpSpPr bwMode="auto">
          <a:xfrm>
            <a:off x="7409086" y="2383169"/>
            <a:ext cx="919162" cy="1252538"/>
            <a:chOff x="2916" y="1126"/>
            <a:chExt cx="816" cy="861"/>
          </a:xfrm>
        </p:grpSpPr>
        <p:sp>
          <p:nvSpPr>
            <p:cNvPr id="1144868" name="Line 36"/>
            <p:cNvSpPr>
              <a:spLocks noChangeShapeType="1"/>
            </p:cNvSpPr>
            <p:nvPr/>
          </p:nvSpPr>
          <p:spPr bwMode="auto">
            <a:xfrm flipH="1">
              <a:off x="2916" y="1979"/>
              <a:ext cx="816" cy="0"/>
            </a:xfrm>
            <a:prstGeom prst="line">
              <a:avLst/>
            </a:prstGeom>
            <a:noFill/>
            <a:ln w="28575">
              <a:solidFill>
                <a:srgbClr val="C00000"/>
              </a:solidFill>
              <a:round/>
              <a:headEnd/>
              <a:tailEnd/>
            </a:ln>
            <a:effectLst/>
          </p:spPr>
          <p:txBody>
            <a:bodyPr/>
            <a:lstStyle/>
            <a:p>
              <a:endParaRPr lang="zh-CN" altLang="en-US"/>
            </a:p>
          </p:txBody>
        </p:sp>
        <p:sp>
          <p:nvSpPr>
            <p:cNvPr id="1144869" name="Line 37"/>
            <p:cNvSpPr>
              <a:spLocks noChangeShapeType="1"/>
            </p:cNvSpPr>
            <p:nvPr/>
          </p:nvSpPr>
          <p:spPr bwMode="auto">
            <a:xfrm>
              <a:off x="2933" y="1134"/>
              <a:ext cx="409" cy="0"/>
            </a:xfrm>
            <a:prstGeom prst="line">
              <a:avLst/>
            </a:prstGeom>
            <a:noFill/>
            <a:ln w="28575">
              <a:solidFill>
                <a:srgbClr val="C00000"/>
              </a:solidFill>
              <a:round/>
              <a:headEnd/>
              <a:tailEnd type="stealth" w="lg" len="lg"/>
            </a:ln>
            <a:effectLst/>
          </p:spPr>
          <p:txBody>
            <a:bodyPr/>
            <a:lstStyle/>
            <a:p>
              <a:endParaRPr lang="zh-CN" altLang="en-US"/>
            </a:p>
          </p:txBody>
        </p:sp>
        <p:sp>
          <p:nvSpPr>
            <p:cNvPr id="1144870" name="Line 38"/>
            <p:cNvSpPr>
              <a:spLocks noChangeShapeType="1"/>
            </p:cNvSpPr>
            <p:nvPr/>
          </p:nvSpPr>
          <p:spPr bwMode="auto">
            <a:xfrm>
              <a:off x="2925" y="1126"/>
              <a:ext cx="0" cy="861"/>
            </a:xfrm>
            <a:prstGeom prst="line">
              <a:avLst/>
            </a:prstGeom>
            <a:noFill/>
            <a:ln w="28575">
              <a:solidFill>
                <a:srgbClr val="C00000"/>
              </a:solidFill>
              <a:round/>
              <a:headEnd/>
              <a:tailEnd/>
            </a:ln>
            <a:effectLst/>
          </p:spPr>
          <p:txBody>
            <a:bodyPr/>
            <a:lstStyle/>
            <a:p>
              <a:endParaRPr lang="zh-CN" altLang="en-US"/>
            </a:p>
          </p:txBody>
        </p:sp>
      </p:grpSp>
      <p:grpSp>
        <p:nvGrpSpPr>
          <p:cNvPr id="1144871" name="Group 39"/>
          <p:cNvGrpSpPr>
            <a:grpSpLocks/>
          </p:cNvGrpSpPr>
          <p:nvPr/>
        </p:nvGrpSpPr>
        <p:grpSpPr bwMode="auto">
          <a:xfrm>
            <a:off x="9557121" y="876871"/>
            <a:ext cx="1728788" cy="1655762"/>
            <a:chOff x="4558" y="255"/>
            <a:chExt cx="1089" cy="1043"/>
          </a:xfrm>
        </p:grpSpPr>
        <p:sp>
          <p:nvSpPr>
            <p:cNvPr id="1144872" name="AutoShape 40"/>
            <p:cNvSpPr>
              <a:spLocks/>
            </p:cNvSpPr>
            <p:nvPr/>
          </p:nvSpPr>
          <p:spPr bwMode="auto">
            <a:xfrm>
              <a:off x="4558" y="981"/>
              <a:ext cx="91" cy="317"/>
            </a:xfrm>
            <a:prstGeom prst="rightBrace">
              <a:avLst>
                <a:gd name="adj1" fmla="val 29029"/>
                <a:gd name="adj2" fmla="val 50000"/>
              </a:avLst>
            </a:prstGeom>
            <a:noFill/>
            <a:ln w="31750">
              <a:solidFill>
                <a:srgbClr val="CC0000"/>
              </a:solidFill>
              <a:round/>
              <a:headEnd/>
              <a:tailEnd/>
            </a:ln>
            <a:effectLst>
              <a:outerShdw dist="35921" dir="2700000" algn="ctr" rotWithShape="0">
                <a:schemeClr val="bg2">
                  <a:alpha val="50000"/>
                </a:schemeClr>
              </a:outerShdw>
            </a:effectLst>
          </p:spPr>
          <p:txBody>
            <a:bodyPr wrap="none" lIns="0" tIns="0" rIns="0" bIns="0" anchor="ctr"/>
            <a:lstStyle/>
            <a:p>
              <a:endParaRPr lang="zh-CN" altLang="en-US">
                <a:latin typeface="+mn-lt"/>
                <a:ea typeface="楷体" pitchFamily="49" charset="-122"/>
              </a:endParaRPr>
            </a:p>
          </p:txBody>
        </p:sp>
        <p:sp>
          <p:nvSpPr>
            <p:cNvPr id="1144873" name="AutoShape 41"/>
            <p:cNvSpPr>
              <a:spLocks/>
            </p:cNvSpPr>
            <p:nvPr/>
          </p:nvSpPr>
          <p:spPr bwMode="auto">
            <a:xfrm>
              <a:off x="4921" y="255"/>
              <a:ext cx="726" cy="408"/>
            </a:xfrm>
            <a:prstGeom prst="borderCallout2">
              <a:avLst>
                <a:gd name="adj1" fmla="val 17648"/>
                <a:gd name="adj2" fmla="val -6611"/>
                <a:gd name="adj3" fmla="val 17648"/>
                <a:gd name="adj4" fmla="val -20935"/>
                <a:gd name="adj5" fmla="val 218384"/>
                <a:gd name="adj6" fmla="val -35537"/>
              </a:avLst>
            </a:prstGeom>
            <a:gradFill rotWithShape="1">
              <a:gsLst>
                <a:gs pos="0">
                  <a:srgbClr val="CFCFD1"/>
                </a:gs>
                <a:gs pos="100000">
                  <a:schemeClr val="bg1"/>
                </a:gs>
              </a:gsLst>
              <a:lin ang="5400000" scaled="1"/>
            </a:gradFill>
            <a:ln w="19050">
              <a:solidFill>
                <a:srgbClr val="C00000"/>
              </a:solidFill>
              <a:miter lim="800000"/>
              <a:headEnd/>
              <a:tailEnd/>
            </a:ln>
            <a:effectLst>
              <a:outerShdw dist="107763" dir="2700000" algn="ctr" rotWithShape="0">
                <a:schemeClr val="bg2">
                  <a:alpha val="50000"/>
                </a:schemeClr>
              </a:outerShdw>
            </a:effectLst>
          </p:spPr>
          <p:txBody>
            <a:bodyPr/>
            <a:lstStyle/>
            <a:p>
              <a:pPr algn="ctr">
                <a:lnSpc>
                  <a:spcPct val="100000"/>
                </a:lnSpc>
                <a:spcBef>
                  <a:spcPct val="0"/>
                </a:spcBef>
              </a:pPr>
              <a:r>
                <a:rPr lang="en-US" altLang="zh-CN" sz="1800">
                  <a:solidFill>
                    <a:srgbClr val="CC0000"/>
                  </a:solidFill>
                  <a:latin typeface="+mn-lt"/>
                  <a:ea typeface="楷体" pitchFamily="49" charset="-122"/>
                </a:rPr>
                <a:t>pi</a:t>
              </a:r>
              <a:r>
                <a:rPr lang="zh-CN" altLang="en-US" sz="1800">
                  <a:solidFill>
                    <a:srgbClr val="CC0000"/>
                  </a:solidFill>
                  <a:latin typeface="+mn-lt"/>
                  <a:ea typeface="楷体" pitchFamily="49" charset="-122"/>
                </a:rPr>
                <a:t>可操作单元</a:t>
              </a:r>
            </a:p>
          </p:txBody>
        </p:sp>
      </p:grpSp>
      <p:grpSp>
        <p:nvGrpSpPr>
          <p:cNvPr id="1144874" name="Group 42"/>
          <p:cNvGrpSpPr>
            <a:grpSpLocks/>
          </p:cNvGrpSpPr>
          <p:nvPr/>
        </p:nvGrpSpPr>
        <p:grpSpPr bwMode="auto">
          <a:xfrm>
            <a:off x="7209209" y="1872233"/>
            <a:ext cx="1238250" cy="2370667"/>
            <a:chOff x="2871" y="908"/>
            <a:chExt cx="780" cy="1152"/>
          </a:xfrm>
        </p:grpSpPr>
        <p:sp>
          <p:nvSpPr>
            <p:cNvPr id="1144875" name="Oval 43"/>
            <p:cNvSpPr>
              <a:spLocks noChangeArrowheads="1"/>
            </p:cNvSpPr>
            <p:nvPr/>
          </p:nvSpPr>
          <p:spPr bwMode="auto">
            <a:xfrm>
              <a:off x="2871" y="908"/>
              <a:ext cx="454" cy="226"/>
            </a:xfrm>
            <a:prstGeom prst="ellipse">
              <a:avLst/>
            </a:prstGeom>
            <a:noFill/>
            <a:ln w="28575" algn="ctr">
              <a:solidFill>
                <a:srgbClr val="C00000"/>
              </a:solidFill>
              <a:round/>
              <a:headEnd/>
              <a:tailEnd/>
            </a:ln>
            <a:effectLst/>
          </p:spPr>
          <p:txBody>
            <a:bodyPr wrap="none" anchor="ctr"/>
            <a:lstStyle/>
            <a:p>
              <a:endParaRPr lang="zh-CN" altLang="en-US"/>
            </a:p>
          </p:txBody>
        </p:sp>
        <p:sp>
          <p:nvSpPr>
            <p:cNvPr id="1144876" name="Line 44"/>
            <p:cNvSpPr>
              <a:spLocks noChangeShapeType="1"/>
            </p:cNvSpPr>
            <p:nvPr/>
          </p:nvSpPr>
          <p:spPr bwMode="auto">
            <a:xfrm>
              <a:off x="3009" y="1108"/>
              <a:ext cx="0" cy="952"/>
            </a:xfrm>
            <a:prstGeom prst="line">
              <a:avLst/>
            </a:prstGeom>
            <a:noFill/>
            <a:ln w="28575">
              <a:solidFill>
                <a:srgbClr val="C00000"/>
              </a:solidFill>
              <a:round/>
              <a:headEnd/>
              <a:tailEnd/>
            </a:ln>
            <a:effectLst/>
          </p:spPr>
          <p:txBody>
            <a:bodyPr/>
            <a:lstStyle/>
            <a:p>
              <a:endParaRPr lang="zh-CN" altLang="en-US" dirty="0"/>
            </a:p>
          </p:txBody>
        </p:sp>
        <p:sp>
          <p:nvSpPr>
            <p:cNvPr id="1144877" name="Line 45"/>
            <p:cNvSpPr>
              <a:spLocks noChangeShapeType="1"/>
            </p:cNvSpPr>
            <p:nvPr/>
          </p:nvSpPr>
          <p:spPr bwMode="auto">
            <a:xfrm>
              <a:off x="3016" y="2060"/>
              <a:ext cx="635" cy="0"/>
            </a:xfrm>
            <a:prstGeom prst="line">
              <a:avLst/>
            </a:prstGeom>
            <a:noFill/>
            <a:ln w="28575">
              <a:solidFill>
                <a:srgbClr val="C00000"/>
              </a:solidFill>
              <a:round/>
              <a:headEnd/>
              <a:tailEnd type="stealth" w="lg" len="lg"/>
            </a:ln>
            <a:effectLst/>
          </p:spPr>
          <p:txBody>
            <a:bodyPr/>
            <a:lstStyle/>
            <a:p>
              <a:endParaRPr lang="zh-CN" altLang="en-US"/>
            </a:p>
          </p:txBody>
        </p:sp>
      </p:grpSp>
      <p:grpSp>
        <p:nvGrpSpPr>
          <p:cNvPr id="1144878" name="Group 46"/>
          <p:cNvGrpSpPr>
            <a:grpSpLocks/>
          </p:cNvGrpSpPr>
          <p:nvPr/>
        </p:nvGrpSpPr>
        <p:grpSpPr bwMode="auto">
          <a:xfrm>
            <a:off x="9888660" y="3867722"/>
            <a:ext cx="1636713" cy="369887"/>
            <a:chOff x="4583" y="1715"/>
            <a:chExt cx="1031" cy="233"/>
          </a:xfrm>
        </p:grpSpPr>
        <p:sp>
          <p:nvSpPr>
            <p:cNvPr id="1144879" name="Line 47"/>
            <p:cNvSpPr>
              <a:spLocks noChangeShapeType="1"/>
            </p:cNvSpPr>
            <p:nvPr/>
          </p:nvSpPr>
          <p:spPr bwMode="auto">
            <a:xfrm flipH="1">
              <a:off x="4583" y="1823"/>
              <a:ext cx="228" cy="0"/>
            </a:xfrm>
            <a:prstGeom prst="line">
              <a:avLst/>
            </a:prstGeom>
            <a:noFill/>
            <a:ln w="38100">
              <a:solidFill>
                <a:srgbClr val="002060"/>
              </a:solidFill>
              <a:round/>
              <a:headEnd type="none" w="lg" len="lg"/>
              <a:tailEnd type="stealth" w="lg" len="lg"/>
            </a:ln>
            <a:effectLst>
              <a:outerShdw dist="35921" dir="2700000" algn="ctr" rotWithShape="0">
                <a:schemeClr val="bg2"/>
              </a:outerShdw>
            </a:effectLst>
          </p:spPr>
          <p:txBody>
            <a:bodyPr wrap="none" anchor="ctr"/>
            <a:lstStyle/>
            <a:p>
              <a:endParaRPr lang="zh-CN" altLang="en-US" dirty="0">
                <a:latin typeface="+mn-lt"/>
                <a:ea typeface="楷体" pitchFamily="49" charset="-122"/>
              </a:endParaRPr>
            </a:p>
          </p:txBody>
        </p:sp>
        <p:sp>
          <p:nvSpPr>
            <p:cNvPr id="1144880" name="Text Box 48"/>
            <p:cNvSpPr txBox="1">
              <a:spLocks noChangeArrowheads="1"/>
            </p:cNvSpPr>
            <p:nvPr/>
          </p:nvSpPr>
          <p:spPr bwMode="auto">
            <a:xfrm>
              <a:off x="4765" y="1715"/>
              <a:ext cx="849" cy="233"/>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1800" dirty="0">
                  <a:latin typeface="+mn-lt"/>
                  <a:ea typeface="楷体" pitchFamily="49" charset="-122"/>
                </a:rPr>
                <a:t>指针变量</a:t>
              </a:r>
              <a:r>
                <a:rPr lang="en-US" altLang="zh-CN" sz="1800" dirty="0">
                  <a:solidFill>
                    <a:srgbClr val="C00000"/>
                  </a:solidFill>
                  <a:latin typeface="+mn-lt"/>
                  <a:ea typeface="楷体" pitchFamily="49" charset="-122"/>
                </a:rPr>
                <a:t>pc</a:t>
              </a:r>
            </a:p>
          </p:txBody>
        </p:sp>
      </p:grpSp>
      <p:sp>
        <p:nvSpPr>
          <p:cNvPr id="1144881" name="Text Box 49"/>
          <p:cNvSpPr txBox="1">
            <a:spLocks noChangeArrowheads="1"/>
          </p:cNvSpPr>
          <p:nvPr/>
        </p:nvSpPr>
        <p:spPr bwMode="auto">
          <a:xfrm>
            <a:off x="8463334" y="4070922"/>
            <a:ext cx="1008062" cy="396875"/>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en-US" altLang="zh-CN" sz="2000">
                <a:solidFill>
                  <a:srgbClr val="C00000"/>
                </a:solidFill>
                <a:ea typeface="宋体" pitchFamily="2" charset="-122"/>
              </a:rPr>
              <a:t>2000</a:t>
            </a:r>
          </a:p>
        </p:txBody>
      </p:sp>
      <p:grpSp>
        <p:nvGrpSpPr>
          <p:cNvPr id="1144882" name="Group 50"/>
          <p:cNvGrpSpPr>
            <a:grpSpLocks/>
          </p:cNvGrpSpPr>
          <p:nvPr/>
        </p:nvGrpSpPr>
        <p:grpSpPr bwMode="auto">
          <a:xfrm>
            <a:off x="7175276" y="2254519"/>
            <a:ext cx="1296988" cy="2082800"/>
            <a:chOff x="2916" y="1118"/>
            <a:chExt cx="816" cy="861"/>
          </a:xfrm>
        </p:grpSpPr>
        <p:sp>
          <p:nvSpPr>
            <p:cNvPr id="1144883" name="Line 51"/>
            <p:cNvSpPr>
              <a:spLocks noChangeShapeType="1"/>
            </p:cNvSpPr>
            <p:nvPr/>
          </p:nvSpPr>
          <p:spPr bwMode="auto">
            <a:xfrm flipH="1">
              <a:off x="2916" y="1979"/>
              <a:ext cx="816" cy="0"/>
            </a:xfrm>
            <a:prstGeom prst="line">
              <a:avLst/>
            </a:prstGeom>
            <a:noFill/>
            <a:ln w="28575">
              <a:solidFill>
                <a:srgbClr val="CC0000"/>
              </a:solidFill>
              <a:round/>
              <a:headEnd/>
              <a:tailEnd/>
            </a:ln>
            <a:effectLst/>
          </p:spPr>
          <p:txBody>
            <a:bodyPr/>
            <a:lstStyle/>
            <a:p>
              <a:endParaRPr lang="zh-CN" altLang="en-US"/>
            </a:p>
          </p:txBody>
        </p:sp>
        <p:sp>
          <p:nvSpPr>
            <p:cNvPr id="1144884" name="Line 52"/>
            <p:cNvSpPr>
              <a:spLocks noChangeShapeType="1"/>
            </p:cNvSpPr>
            <p:nvPr/>
          </p:nvSpPr>
          <p:spPr bwMode="auto">
            <a:xfrm>
              <a:off x="2933" y="1134"/>
              <a:ext cx="409" cy="0"/>
            </a:xfrm>
            <a:prstGeom prst="line">
              <a:avLst/>
            </a:prstGeom>
            <a:noFill/>
            <a:ln w="28575">
              <a:solidFill>
                <a:srgbClr val="CC0000"/>
              </a:solidFill>
              <a:round/>
              <a:headEnd/>
              <a:tailEnd type="stealth" w="lg" len="lg"/>
            </a:ln>
            <a:effectLst/>
          </p:spPr>
          <p:txBody>
            <a:bodyPr/>
            <a:lstStyle/>
            <a:p>
              <a:endParaRPr lang="zh-CN" altLang="en-US" dirty="0"/>
            </a:p>
          </p:txBody>
        </p:sp>
        <p:sp>
          <p:nvSpPr>
            <p:cNvPr id="1144885" name="Line 53"/>
            <p:cNvSpPr>
              <a:spLocks noChangeShapeType="1"/>
            </p:cNvSpPr>
            <p:nvPr/>
          </p:nvSpPr>
          <p:spPr bwMode="auto">
            <a:xfrm>
              <a:off x="2916" y="1118"/>
              <a:ext cx="0" cy="861"/>
            </a:xfrm>
            <a:prstGeom prst="line">
              <a:avLst/>
            </a:prstGeom>
            <a:noFill/>
            <a:ln w="28575">
              <a:solidFill>
                <a:srgbClr val="CC0000"/>
              </a:solidFill>
              <a:round/>
              <a:headEnd/>
              <a:tailEnd/>
            </a:ln>
            <a:effectLst/>
          </p:spPr>
          <p:txBody>
            <a:bodyPr/>
            <a:lstStyle/>
            <a:p>
              <a:endParaRPr lang="zh-CN" altLang="en-US" dirty="0"/>
            </a:p>
          </p:txBody>
        </p:sp>
      </p:grpSp>
      <p:sp>
        <p:nvSpPr>
          <p:cNvPr id="1144886" name="AutoShape 54"/>
          <p:cNvSpPr>
            <a:spLocks/>
          </p:cNvSpPr>
          <p:nvPr/>
        </p:nvSpPr>
        <p:spPr bwMode="auto">
          <a:xfrm>
            <a:off x="6744072" y="1021333"/>
            <a:ext cx="1152525" cy="647700"/>
          </a:xfrm>
          <a:prstGeom prst="borderCallout2">
            <a:avLst>
              <a:gd name="adj1" fmla="val 17648"/>
              <a:gd name="adj2" fmla="val 106611"/>
              <a:gd name="adj3" fmla="val 17648"/>
              <a:gd name="adj4" fmla="val 167218"/>
              <a:gd name="adj5" fmla="val 160782"/>
              <a:gd name="adj6" fmla="val 229199"/>
            </a:avLst>
          </a:prstGeom>
          <a:gradFill rotWithShape="1">
            <a:gsLst>
              <a:gs pos="0">
                <a:srgbClr val="CFCFD1"/>
              </a:gs>
              <a:gs pos="100000">
                <a:schemeClr val="bg1"/>
              </a:gs>
            </a:gsLst>
            <a:lin ang="5400000" scaled="1"/>
          </a:gradFill>
          <a:ln w="19050">
            <a:solidFill>
              <a:srgbClr val="C00000"/>
            </a:solidFill>
            <a:miter lim="800000"/>
            <a:headEnd/>
            <a:tailEnd/>
          </a:ln>
          <a:effectLst>
            <a:outerShdw dist="107763" dir="2700000" algn="ctr" rotWithShape="0">
              <a:schemeClr val="bg2">
                <a:alpha val="50000"/>
              </a:schemeClr>
            </a:outerShdw>
          </a:effectLst>
        </p:spPr>
        <p:txBody>
          <a:bodyPr/>
          <a:lstStyle/>
          <a:p>
            <a:pPr algn="ctr">
              <a:lnSpc>
                <a:spcPct val="100000"/>
              </a:lnSpc>
              <a:spcBef>
                <a:spcPct val="0"/>
              </a:spcBef>
            </a:pPr>
            <a:r>
              <a:rPr lang="en-US" altLang="zh-CN" sz="1800" dirty="0">
                <a:solidFill>
                  <a:srgbClr val="CC0000"/>
                </a:solidFill>
                <a:latin typeface="+mn-lt"/>
                <a:ea typeface="楷体" pitchFamily="49" charset="-122"/>
              </a:rPr>
              <a:t>pc</a:t>
            </a:r>
            <a:r>
              <a:rPr lang="zh-CN" altLang="en-US" sz="1800" dirty="0">
                <a:solidFill>
                  <a:srgbClr val="CC0000"/>
                </a:solidFill>
                <a:latin typeface="+mn-lt"/>
                <a:ea typeface="楷体" pitchFamily="49" charset="-122"/>
              </a:rPr>
              <a:t>可操作单元</a:t>
            </a:r>
          </a:p>
        </p:txBody>
      </p:sp>
      <p:sp>
        <p:nvSpPr>
          <p:cNvPr id="1144887" name="Text Box 55"/>
          <p:cNvSpPr txBox="1">
            <a:spLocks noChangeArrowheads="1"/>
          </p:cNvSpPr>
          <p:nvPr/>
        </p:nvSpPr>
        <p:spPr bwMode="auto">
          <a:xfrm>
            <a:off x="8506197" y="1891284"/>
            <a:ext cx="835025" cy="396875"/>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en-US" altLang="zh-CN" sz="2000" dirty="0">
                <a:solidFill>
                  <a:srgbClr val="002060"/>
                </a:solidFill>
                <a:ea typeface="宋体" pitchFamily="2" charset="-122"/>
              </a:rPr>
              <a:t>F0</a:t>
            </a:r>
          </a:p>
        </p:txBody>
      </p:sp>
      <p:sp>
        <p:nvSpPr>
          <p:cNvPr id="1144888" name="Text Box 56"/>
          <p:cNvSpPr txBox="1">
            <a:spLocks noChangeArrowheads="1"/>
          </p:cNvSpPr>
          <p:nvPr/>
        </p:nvSpPr>
        <p:spPr bwMode="auto">
          <a:xfrm>
            <a:off x="8522072" y="2221484"/>
            <a:ext cx="835025" cy="396875"/>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en-US" altLang="zh-CN" sz="2000" dirty="0">
                <a:solidFill>
                  <a:srgbClr val="002060"/>
                </a:solidFill>
                <a:ea typeface="宋体" pitchFamily="2" charset="-122"/>
              </a:rPr>
              <a:t>F0</a:t>
            </a:r>
          </a:p>
        </p:txBody>
      </p:sp>
      <p:sp>
        <p:nvSpPr>
          <p:cNvPr id="1144889" name="Text Box 57"/>
          <p:cNvSpPr txBox="1">
            <a:spLocks noChangeArrowheads="1"/>
          </p:cNvSpPr>
          <p:nvPr/>
        </p:nvSpPr>
        <p:spPr bwMode="auto">
          <a:xfrm>
            <a:off x="8622085" y="1916832"/>
            <a:ext cx="649287" cy="396875"/>
          </a:xfrm>
          <a:prstGeom prst="rect">
            <a:avLst/>
          </a:prstGeom>
          <a:solidFill>
            <a:srgbClr val="DDFAED"/>
          </a:solidFill>
          <a:ln w="9525">
            <a:noFill/>
            <a:miter lim="800000"/>
            <a:headEnd/>
            <a:tailEnd/>
          </a:ln>
          <a:effectLst/>
        </p:spPr>
        <p:txBody>
          <a:bodyPr anchor="ctr">
            <a:spAutoFit/>
          </a:bodyPr>
          <a:lstStyle/>
          <a:p>
            <a:pPr algn="ctr" eaLnBrk="0" hangingPunct="0">
              <a:lnSpc>
                <a:spcPct val="100000"/>
              </a:lnSpc>
              <a:spcBef>
                <a:spcPct val="0"/>
              </a:spcBef>
            </a:pPr>
            <a:r>
              <a:rPr lang="en-US" altLang="zh-CN" sz="2000" dirty="0">
                <a:solidFill>
                  <a:srgbClr val="CC0000"/>
                </a:solidFill>
                <a:ea typeface="宋体" pitchFamily="2" charset="-122"/>
              </a:rPr>
              <a:t>00</a:t>
            </a:r>
          </a:p>
        </p:txBody>
      </p:sp>
      <p:sp>
        <p:nvSpPr>
          <p:cNvPr id="1144890" name="Text Box 58"/>
          <p:cNvSpPr txBox="1">
            <a:spLocks noChangeArrowheads="1"/>
          </p:cNvSpPr>
          <p:nvPr/>
        </p:nvSpPr>
        <p:spPr bwMode="auto">
          <a:xfrm>
            <a:off x="3685969" y="5962350"/>
            <a:ext cx="2591916" cy="648072"/>
          </a:xfrm>
          <a:prstGeom prst="rect">
            <a:avLst/>
          </a:prstGeom>
          <a:solidFill>
            <a:schemeClr val="bg1"/>
          </a:solidFill>
          <a:ln w="38100" algn="ctr">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vert="horz" wrap="square" lIns="0" tIns="0" rIns="0" bIns="0" anchor="t" anchorCtr="0">
            <a:noAutofit/>
          </a:bodyPr>
          <a:lstStyle/>
          <a:p>
            <a:pPr>
              <a:lnSpc>
                <a:spcPct val="100000"/>
              </a:lnSpc>
              <a:spcBef>
                <a:spcPts val="0"/>
              </a:spcBef>
            </a:pPr>
            <a:r>
              <a:rPr lang="zh-CN" altLang="en-US" sz="2000" dirty="0">
                <a:solidFill>
                  <a:srgbClr val="C00000"/>
                </a:solidFill>
                <a:latin typeface="隶书" pitchFamily="49" charset="-122"/>
                <a:ea typeface="隶书" pitchFamily="49" charset="-122"/>
              </a:rPr>
              <a:t> 输出结果：</a:t>
            </a:r>
            <a:endParaRPr lang="en-US" altLang="zh-CN" sz="2000" dirty="0">
              <a:solidFill>
                <a:srgbClr val="C00000"/>
              </a:solidFill>
              <a:latin typeface="隶书" pitchFamily="49" charset="-122"/>
              <a:ea typeface="隶书" pitchFamily="49" charset="-122"/>
            </a:endParaRPr>
          </a:p>
          <a:p>
            <a:pPr>
              <a:lnSpc>
                <a:spcPct val="100000"/>
              </a:lnSpc>
              <a:spcBef>
                <a:spcPts val="0"/>
              </a:spcBef>
            </a:pPr>
            <a:r>
              <a:rPr lang="en-US" altLang="zh-CN" sz="2000" dirty="0">
                <a:solidFill>
                  <a:srgbClr val="002060"/>
                </a:solidFill>
              </a:rPr>
              <a:t>   a = F000 </a:t>
            </a:r>
          </a:p>
        </p:txBody>
      </p:sp>
      <p:sp>
        <p:nvSpPr>
          <p:cNvPr id="2" name="对话气泡: 椭圆形 1">
            <a:extLst>
              <a:ext uri="{FF2B5EF4-FFF2-40B4-BE49-F238E27FC236}">
                <a16:creationId xmlns:a16="http://schemas.microsoft.com/office/drawing/2014/main" id="{3485BD9C-0E29-4F8C-BDD2-26304BF050AF}"/>
              </a:ext>
            </a:extLst>
          </p:cNvPr>
          <p:cNvSpPr/>
          <p:nvPr/>
        </p:nvSpPr>
        <p:spPr bwMode="auto">
          <a:xfrm>
            <a:off x="4295800" y="2439697"/>
            <a:ext cx="3398611" cy="1168539"/>
          </a:xfrm>
          <a:prstGeom prst="wedgeEllipseCallout">
            <a:avLst>
              <a:gd name="adj1" fmla="val 74727"/>
              <a:gd name="adj2" fmla="val -91871"/>
            </a:avLst>
          </a:prstGeom>
          <a:gradFill flip="none" rotWithShape="1">
            <a:gsLst>
              <a:gs pos="0">
                <a:srgbClr val="CFCFD1"/>
              </a:gs>
              <a:gs pos="100000">
                <a:schemeClr val="bg1">
                  <a:lumMod val="95000"/>
                </a:schemeClr>
              </a:gs>
            </a:gsLst>
            <a:path path="circle">
              <a:fillToRect r="100000" b="100000"/>
            </a:path>
            <a:tileRect l="-100000" t="-100000"/>
          </a:gra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rtlCol="0" anchor="ctr">
            <a:spAutoFit/>
          </a:bodyPr>
          <a:lstStyle/>
          <a:p>
            <a:pPr algn="l"/>
            <a:r>
              <a:rPr lang="zh-CN" altLang="en-US" dirty="0">
                <a:solidFill>
                  <a:srgbClr val="C00000"/>
                </a:solidFill>
                <a:latin typeface="+mn-lt"/>
                <a:ea typeface="楷体" panose="02010609060101010101" pitchFamily="49" charset="-122"/>
              </a:rPr>
              <a:t>如何将</a:t>
            </a:r>
            <a:r>
              <a:rPr lang="en-US" altLang="zh-CN" dirty="0">
                <a:solidFill>
                  <a:srgbClr val="C00000"/>
                </a:solidFill>
                <a:latin typeface="+mn-lt"/>
                <a:ea typeface="楷体" panose="02010609060101010101" pitchFamily="49" charset="-122"/>
              </a:rPr>
              <a:t>a</a:t>
            </a:r>
            <a:r>
              <a:rPr lang="zh-CN" altLang="en-US" dirty="0">
                <a:solidFill>
                  <a:srgbClr val="C00000"/>
                </a:solidFill>
                <a:latin typeface="+mn-lt"/>
                <a:ea typeface="楷体" panose="02010609060101010101" pitchFamily="49" charset="-122"/>
              </a:rPr>
              <a:t>的值变为</a:t>
            </a:r>
            <a:r>
              <a:rPr lang="en-US" altLang="zh-CN" dirty="0">
                <a:solidFill>
                  <a:srgbClr val="C00000"/>
                </a:solidFill>
                <a:latin typeface="+mn-lt"/>
                <a:ea typeface="楷体" panose="02010609060101010101" pitchFamily="49" charset="-122"/>
              </a:rPr>
              <a:t>0XFF00</a:t>
            </a:r>
            <a:r>
              <a:rPr lang="zh-CN" altLang="en-US" dirty="0">
                <a:solidFill>
                  <a:srgbClr val="C00000"/>
                </a:solidFill>
                <a:latin typeface="+mn-lt"/>
                <a:ea typeface="楷体" panose="02010609060101010101" pitchFamily="49" charset="-122"/>
              </a:rPr>
              <a:t>？</a:t>
            </a:r>
          </a:p>
        </p:txBody>
      </p:sp>
      <p:sp>
        <p:nvSpPr>
          <p:cNvPr id="3" name="文本框 2">
            <a:extLst>
              <a:ext uri="{FF2B5EF4-FFF2-40B4-BE49-F238E27FC236}">
                <a16:creationId xmlns:a16="http://schemas.microsoft.com/office/drawing/2014/main" id="{760C56F0-9C8E-4179-BF5A-D82A614D6064}"/>
              </a:ext>
            </a:extLst>
          </p:cNvPr>
          <p:cNvSpPr txBox="1"/>
          <p:nvPr/>
        </p:nvSpPr>
        <p:spPr>
          <a:xfrm>
            <a:off x="4439815" y="3666694"/>
            <a:ext cx="2964184" cy="461665"/>
          </a:xfrm>
          <a:prstGeom prst="rect">
            <a:avLst/>
          </a:prstGeom>
          <a:gradFill flip="none" rotWithShape="1">
            <a:gsLst>
              <a:gs pos="0">
                <a:srgbClr val="CFCFD1"/>
              </a:gs>
              <a:gs pos="100000">
                <a:schemeClr val="bg1">
                  <a:lumMod val="95000"/>
                </a:schemeClr>
              </a:gs>
            </a:gsLst>
            <a:path path="circle">
              <a:fillToRect r="100000" b="100000"/>
            </a:path>
            <a:tileRect l="-100000" t="-100000"/>
          </a:gradFill>
          <a:ln w="38100">
            <a:solidFill>
              <a:srgbClr val="002060"/>
            </a:solidFill>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square" rtlCol="0">
            <a:spAutoFit/>
          </a:bodyPr>
          <a:lstStyle/>
          <a:p>
            <a:r>
              <a:rPr lang="en-US" altLang="zh-CN" dirty="0">
                <a:solidFill>
                  <a:srgbClr val="C00000"/>
                </a:solidFill>
                <a:latin typeface="宋体" panose="02010600030101010101" pitchFamily="2" charset="-122"/>
                <a:ea typeface="宋体" panose="02010600030101010101" pitchFamily="2" charset="-122"/>
              </a:rPr>
              <a:t>① </a:t>
            </a:r>
            <a:r>
              <a:rPr lang="en-US" altLang="zh-CN" dirty="0"/>
              <a:t>a = 0XFF00;</a:t>
            </a:r>
            <a:endParaRPr lang="zh-CN" altLang="en-US" dirty="0"/>
          </a:p>
        </p:txBody>
      </p:sp>
      <p:sp>
        <p:nvSpPr>
          <p:cNvPr id="61" name="文本框 60">
            <a:extLst>
              <a:ext uri="{FF2B5EF4-FFF2-40B4-BE49-F238E27FC236}">
                <a16:creationId xmlns:a16="http://schemas.microsoft.com/office/drawing/2014/main" id="{7C0FAD80-CE25-4CD2-AC46-F21B914A5B95}"/>
              </a:ext>
            </a:extLst>
          </p:cNvPr>
          <p:cNvSpPr txBox="1"/>
          <p:nvPr/>
        </p:nvSpPr>
        <p:spPr>
          <a:xfrm>
            <a:off x="4458863" y="4233445"/>
            <a:ext cx="2945135" cy="461665"/>
          </a:xfrm>
          <a:prstGeom prst="rect">
            <a:avLst/>
          </a:prstGeom>
          <a:gradFill flip="none" rotWithShape="1">
            <a:gsLst>
              <a:gs pos="0">
                <a:srgbClr val="CFCFD1"/>
              </a:gs>
              <a:gs pos="100000">
                <a:schemeClr val="bg1">
                  <a:lumMod val="95000"/>
                </a:schemeClr>
              </a:gs>
            </a:gsLst>
            <a:path path="circle">
              <a:fillToRect r="100000" b="100000"/>
            </a:path>
            <a:tileRect l="-100000" t="-100000"/>
          </a:gradFill>
          <a:ln w="38100">
            <a:solidFill>
              <a:srgbClr val="002060"/>
            </a:solidFill>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square" rtlCol="0">
            <a:spAutoFit/>
          </a:bodyPr>
          <a:lstStyle/>
          <a:p>
            <a:r>
              <a:rPr lang="en-US" altLang="zh-CN" dirty="0">
                <a:solidFill>
                  <a:srgbClr val="C00000"/>
                </a:solidFill>
                <a:latin typeface="宋体" panose="02010600030101010101" pitchFamily="2" charset="-122"/>
                <a:ea typeface="宋体" panose="02010600030101010101" pitchFamily="2" charset="-122"/>
              </a:rPr>
              <a:t>②</a:t>
            </a:r>
            <a:r>
              <a:rPr lang="en-US" altLang="zh-CN" dirty="0">
                <a:latin typeface="宋体" panose="02010600030101010101" pitchFamily="2" charset="-122"/>
                <a:ea typeface="宋体" panose="02010600030101010101" pitchFamily="2" charset="-122"/>
              </a:rPr>
              <a:t> </a:t>
            </a:r>
            <a:r>
              <a:rPr lang="en-US" altLang="zh-CN" dirty="0"/>
              <a:t>*(pc+1) = 0XFF;</a:t>
            </a:r>
            <a:endParaRPr lang="zh-CN" altLang="en-US" dirty="0"/>
          </a:p>
        </p:txBody>
      </p:sp>
      <p:sp>
        <p:nvSpPr>
          <p:cNvPr id="63" name="文本框 62">
            <a:extLst>
              <a:ext uri="{FF2B5EF4-FFF2-40B4-BE49-F238E27FC236}">
                <a16:creationId xmlns:a16="http://schemas.microsoft.com/office/drawing/2014/main" id="{E9BD9366-60BB-446D-9440-0230481B591E}"/>
              </a:ext>
            </a:extLst>
          </p:cNvPr>
          <p:cNvSpPr txBox="1"/>
          <p:nvPr/>
        </p:nvSpPr>
        <p:spPr>
          <a:xfrm>
            <a:off x="4439814" y="4797152"/>
            <a:ext cx="2955173" cy="830997"/>
          </a:xfrm>
          <a:prstGeom prst="rect">
            <a:avLst/>
          </a:prstGeom>
          <a:gradFill flip="none" rotWithShape="1">
            <a:gsLst>
              <a:gs pos="0">
                <a:srgbClr val="CFCFD1"/>
              </a:gs>
              <a:gs pos="100000">
                <a:schemeClr val="bg1">
                  <a:lumMod val="95000"/>
                </a:schemeClr>
              </a:gs>
            </a:gsLst>
            <a:path path="circle">
              <a:fillToRect r="100000" b="100000"/>
            </a:path>
            <a:tileRect l="-100000" t="-100000"/>
          </a:gradFill>
          <a:ln w="38100">
            <a:solidFill>
              <a:srgbClr val="002060"/>
            </a:solidFill>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square" rtlCol="0">
            <a:spAutoFit/>
          </a:bodyPr>
          <a:lstStyle/>
          <a:p>
            <a:r>
              <a:rPr lang="en-US" altLang="zh-CN" dirty="0">
                <a:solidFill>
                  <a:srgbClr val="C00000"/>
                </a:solidFill>
                <a:latin typeface="宋体" panose="02010600030101010101" pitchFamily="2" charset="-122"/>
                <a:ea typeface="宋体" panose="02010600030101010101" pitchFamily="2" charset="-122"/>
              </a:rPr>
              <a:t>③ </a:t>
            </a:r>
            <a:r>
              <a:rPr lang="en-US" altLang="zh-CN" dirty="0"/>
              <a:t>pc++;</a:t>
            </a:r>
          </a:p>
          <a:p>
            <a:r>
              <a:rPr lang="en-US" altLang="zh-CN" dirty="0"/>
              <a:t>     *pc = 0XFF;</a:t>
            </a:r>
            <a:endParaRPr lang="zh-CN" altLang="en-US" dirty="0"/>
          </a:p>
        </p:txBody>
      </p:sp>
      <p:sp>
        <p:nvSpPr>
          <p:cNvPr id="65" name="Rectangle 4">
            <a:extLst>
              <a:ext uri="{FF2B5EF4-FFF2-40B4-BE49-F238E27FC236}">
                <a16:creationId xmlns:a16="http://schemas.microsoft.com/office/drawing/2014/main" id="{227C7EA4-FBBD-439E-9FD0-F50815762AF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指针变量的定义和引用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44838">
                                            <p:txEl>
                                              <p:pRg st="3" end="3"/>
                                            </p:txEl>
                                          </p:spTgt>
                                        </p:tgtEl>
                                        <p:attrNameLst>
                                          <p:attrName>style.visibility</p:attrName>
                                        </p:attrNameLst>
                                      </p:cBhvr>
                                      <p:to>
                                        <p:strVal val="visible"/>
                                      </p:to>
                                    </p:set>
                                    <p:anim calcmode="lin" valueType="num">
                                      <p:cBhvr additive="base">
                                        <p:cTn id="7" dur="500" fill="hold"/>
                                        <p:tgtEl>
                                          <p:spTgt spid="114483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4838">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144856"/>
                                        </p:tgtEl>
                                        <p:attrNameLst>
                                          <p:attrName>style.visibility</p:attrName>
                                        </p:attrNameLst>
                                      </p:cBhvr>
                                      <p:to>
                                        <p:strVal val="visible"/>
                                      </p:to>
                                    </p:set>
                                    <p:anim calcmode="lin" valueType="num">
                                      <p:cBhvr additive="base">
                                        <p:cTn id="12" dur="500" fill="hold"/>
                                        <p:tgtEl>
                                          <p:spTgt spid="1144856"/>
                                        </p:tgtEl>
                                        <p:attrNameLst>
                                          <p:attrName>ppt_x</p:attrName>
                                        </p:attrNameLst>
                                      </p:cBhvr>
                                      <p:tavLst>
                                        <p:tav tm="0">
                                          <p:val>
                                            <p:strVal val="1+#ppt_w/2"/>
                                          </p:val>
                                        </p:tav>
                                        <p:tav tm="100000">
                                          <p:val>
                                            <p:strVal val="#ppt_x"/>
                                          </p:val>
                                        </p:tav>
                                      </p:tavLst>
                                    </p:anim>
                                    <p:anim calcmode="lin" valueType="num">
                                      <p:cBhvr additive="base">
                                        <p:cTn id="13" dur="500" fill="hold"/>
                                        <p:tgtEl>
                                          <p:spTgt spid="114485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44838">
                                            <p:txEl>
                                              <p:pRg st="4" end="4"/>
                                            </p:txEl>
                                          </p:spTgt>
                                        </p:tgtEl>
                                        <p:attrNameLst>
                                          <p:attrName>style.visibility</p:attrName>
                                        </p:attrNameLst>
                                      </p:cBhvr>
                                      <p:to>
                                        <p:strVal val="visible"/>
                                      </p:to>
                                    </p:set>
                                    <p:anim calcmode="lin" valueType="num">
                                      <p:cBhvr additive="base">
                                        <p:cTn id="18" dur="500" fill="hold"/>
                                        <p:tgtEl>
                                          <p:spTgt spid="1144838">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144838">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par>
                          <p:cTn id="20" fill="hold">
                            <p:stCondLst>
                              <p:cond delay="500"/>
                            </p:stCondLst>
                            <p:childTnLst>
                              <p:par>
                                <p:cTn id="21" presetID="2" presetClass="entr" presetSubtype="2" fill="hold" nodeType="afterEffect">
                                  <p:stCondLst>
                                    <p:cond delay="0"/>
                                  </p:stCondLst>
                                  <p:childTnLst>
                                    <p:set>
                                      <p:cBhvr>
                                        <p:cTn id="22" dur="1" fill="hold">
                                          <p:stCondLst>
                                            <p:cond delay="0"/>
                                          </p:stCondLst>
                                        </p:cTn>
                                        <p:tgtEl>
                                          <p:spTgt spid="1144859"/>
                                        </p:tgtEl>
                                        <p:attrNameLst>
                                          <p:attrName>style.visibility</p:attrName>
                                        </p:attrNameLst>
                                      </p:cBhvr>
                                      <p:to>
                                        <p:strVal val="visible"/>
                                      </p:to>
                                    </p:set>
                                    <p:anim calcmode="lin" valueType="num">
                                      <p:cBhvr additive="base">
                                        <p:cTn id="23" dur="500" fill="hold"/>
                                        <p:tgtEl>
                                          <p:spTgt spid="1144859"/>
                                        </p:tgtEl>
                                        <p:attrNameLst>
                                          <p:attrName>ppt_x</p:attrName>
                                        </p:attrNameLst>
                                      </p:cBhvr>
                                      <p:tavLst>
                                        <p:tav tm="0">
                                          <p:val>
                                            <p:strVal val="1+#ppt_w/2"/>
                                          </p:val>
                                        </p:tav>
                                        <p:tav tm="100000">
                                          <p:val>
                                            <p:strVal val="#ppt_x"/>
                                          </p:val>
                                        </p:tav>
                                      </p:tavLst>
                                    </p:anim>
                                    <p:anim calcmode="lin" valueType="num">
                                      <p:cBhvr additive="base">
                                        <p:cTn id="24" dur="500" fill="hold"/>
                                        <p:tgtEl>
                                          <p:spTgt spid="114485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par>
                          <p:cTn id="25" fill="hold">
                            <p:stCondLst>
                              <p:cond delay="1000"/>
                            </p:stCondLst>
                            <p:childTnLst>
                              <p:par>
                                <p:cTn id="26" presetID="18" presetClass="entr" presetSubtype="6" fill="hold" nodeType="afterEffect">
                                  <p:stCondLst>
                                    <p:cond delay="0"/>
                                  </p:stCondLst>
                                  <p:childTnLst>
                                    <p:set>
                                      <p:cBhvr>
                                        <p:cTn id="27" dur="1" fill="hold">
                                          <p:stCondLst>
                                            <p:cond delay="0"/>
                                          </p:stCondLst>
                                        </p:cTn>
                                        <p:tgtEl>
                                          <p:spTgt spid="1144862"/>
                                        </p:tgtEl>
                                        <p:attrNameLst>
                                          <p:attrName>style.visibility</p:attrName>
                                        </p:attrNameLst>
                                      </p:cBhvr>
                                      <p:to>
                                        <p:strVal val="visible"/>
                                      </p:to>
                                    </p:set>
                                    <p:animEffect transition="in" filter="strips(downRight)">
                                      <p:cBhvr>
                                        <p:cTn id="28" dur="1000"/>
                                        <p:tgtEl>
                                          <p:spTgt spid="1144862"/>
                                        </p:tgtEl>
                                      </p:cBhvr>
                                    </p:animEffect>
                                  </p:childTnLst>
                                  <p:subTnLst>
                                    <p:set>
                                      <p:cBhvr override="childStyle">
                                        <p:cTn dur="1" fill="hold" display="0" masterRel="sameClick" afterEffect="1">
                                          <p:stCondLst>
                                            <p:cond evt="end" delay="0">
                                              <p:tn val="26"/>
                                            </p:cond>
                                          </p:stCondLst>
                                        </p:cTn>
                                        <p:tgtEl>
                                          <p:spTgt spid="1144862"/>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2000"/>
                            </p:stCondLst>
                            <p:childTnLst>
                              <p:par>
                                <p:cTn id="30" presetID="4" presetClass="entr" presetSubtype="16" fill="hold" grpId="0" nodeType="afterEffect">
                                  <p:stCondLst>
                                    <p:cond delay="0"/>
                                  </p:stCondLst>
                                  <p:childTnLst>
                                    <p:set>
                                      <p:cBhvr>
                                        <p:cTn id="31" dur="1" fill="hold">
                                          <p:stCondLst>
                                            <p:cond delay="0"/>
                                          </p:stCondLst>
                                        </p:cTn>
                                        <p:tgtEl>
                                          <p:spTgt spid="1144866"/>
                                        </p:tgtEl>
                                        <p:attrNameLst>
                                          <p:attrName>style.visibility</p:attrName>
                                        </p:attrNameLst>
                                      </p:cBhvr>
                                      <p:to>
                                        <p:strVal val="visible"/>
                                      </p:to>
                                    </p:set>
                                    <p:animEffect transition="in" filter="box(in)">
                                      <p:cBhvr>
                                        <p:cTn id="32" dur="500"/>
                                        <p:tgtEl>
                                          <p:spTgt spid="1144866"/>
                                        </p:tgtEl>
                                      </p:cBhvr>
                                    </p:animEffect>
                                  </p:childTnLst>
                                  <p:subTnLst>
                                    <p:audio>
                                      <p:cMediaNode>
                                        <p:cTn display="0" masterRel="sameClick">
                                          <p:stCondLst>
                                            <p:cond evt="begin" delay="0">
                                              <p:tn val="30"/>
                                            </p:cond>
                                          </p:stCondLst>
                                          <p:endCondLst>
                                            <p:cond evt="onStopAudio" delay="0">
                                              <p:tgtEl>
                                                <p:sldTgt/>
                                              </p:tgtEl>
                                            </p:cond>
                                          </p:endCondLst>
                                        </p:cTn>
                                        <p:tgtEl>
                                          <p:sndTgt r:embed="rId3" name="laser.wav"/>
                                        </p:tgtEl>
                                      </p:cMediaNode>
                                    </p:audio>
                                  </p:subTnLst>
                                </p:cTn>
                              </p:par>
                            </p:childTnLst>
                          </p:cTn>
                        </p:par>
                        <p:par>
                          <p:cTn id="33" fill="hold">
                            <p:stCondLst>
                              <p:cond delay="2500"/>
                            </p:stCondLst>
                            <p:childTnLst>
                              <p:par>
                                <p:cTn id="34" presetID="18" presetClass="entr" presetSubtype="3" fill="hold" nodeType="afterEffect">
                                  <p:stCondLst>
                                    <p:cond delay="0"/>
                                  </p:stCondLst>
                                  <p:childTnLst>
                                    <p:set>
                                      <p:cBhvr>
                                        <p:cTn id="35" dur="1" fill="hold">
                                          <p:stCondLst>
                                            <p:cond delay="0"/>
                                          </p:stCondLst>
                                        </p:cTn>
                                        <p:tgtEl>
                                          <p:spTgt spid="1144867"/>
                                        </p:tgtEl>
                                        <p:attrNameLst>
                                          <p:attrName>style.visibility</p:attrName>
                                        </p:attrNameLst>
                                      </p:cBhvr>
                                      <p:to>
                                        <p:strVal val="visible"/>
                                      </p:to>
                                    </p:set>
                                    <p:animEffect transition="in" filter="strips(upRight)">
                                      <p:cBhvr>
                                        <p:cTn id="36" dur="500"/>
                                        <p:tgtEl>
                                          <p:spTgt spid="1144867"/>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par>
                          <p:cTn id="37" fill="hold">
                            <p:stCondLst>
                              <p:cond delay="3000"/>
                            </p:stCondLst>
                            <p:childTnLst>
                              <p:par>
                                <p:cTn id="38" presetID="18" presetClass="entr" presetSubtype="3" fill="hold" nodeType="afterEffect">
                                  <p:stCondLst>
                                    <p:cond delay="0"/>
                                  </p:stCondLst>
                                  <p:childTnLst>
                                    <p:set>
                                      <p:cBhvr>
                                        <p:cTn id="39" dur="1" fill="hold">
                                          <p:stCondLst>
                                            <p:cond delay="0"/>
                                          </p:stCondLst>
                                        </p:cTn>
                                        <p:tgtEl>
                                          <p:spTgt spid="1144871"/>
                                        </p:tgtEl>
                                        <p:attrNameLst>
                                          <p:attrName>style.visibility</p:attrName>
                                        </p:attrNameLst>
                                      </p:cBhvr>
                                      <p:to>
                                        <p:strVal val="visible"/>
                                      </p:to>
                                    </p:set>
                                    <p:animEffect transition="in" filter="strips(upRight)">
                                      <p:cBhvr>
                                        <p:cTn id="40" dur="500"/>
                                        <p:tgtEl>
                                          <p:spTgt spid="1144871"/>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144838">
                                            <p:txEl>
                                              <p:pRg st="5" end="5"/>
                                            </p:txEl>
                                          </p:spTgt>
                                        </p:tgtEl>
                                        <p:attrNameLst>
                                          <p:attrName>style.visibility</p:attrName>
                                        </p:attrNameLst>
                                      </p:cBhvr>
                                      <p:to>
                                        <p:strVal val="visible"/>
                                      </p:to>
                                    </p:set>
                                    <p:anim calcmode="lin" valueType="num">
                                      <p:cBhvr additive="base">
                                        <p:cTn id="45" dur="500" fill="hold"/>
                                        <p:tgtEl>
                                          <p:spTgt spid="1144838">
                                            <p:txEl>
                                              <p:pRg st="5" end="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144838">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par>
                          <p:cTn id="47" fill="hold">
                            <p:stCondLst>
                              <p:cond delay="500"/>
                            </p:stCondLst>
                            <p:childTnLst>
                              <p:par>
                                <p:cTn id="48" presetID="2" presetClass="entr" presetSubtype="2" fill="hold" nodeType="afterEffect">
                                  <p:stCondLst>
                                    <p:cond delay="0"/>
                                  </p:stCondLst>
                                  <p:childTnLst>
                                    <p:set>
                                      <p:cBhvr>
                                        <p:cTn id="49" dur="1" fill="hold">
                                          <p:stCondLst>
                                            <p:cond delay="0"/>
                                          </p:stCondLst>
                                        </p:cTn>
                                        <p:tgtEl>
                                          <p:spTgt spid="1144878"/>
                                        </p:tgtEl>
                                        <p:attrNameLst>
                                          <p:attrName>style.visibility</p:attrName>
                                        </p:attrNameLst>
                                      </p:cBhvr>
                                      <p:to>
                                        <p:strVal val="visible"/>
                                      </p:to>
                                    </p:set>
                                    <p:anim calcmode="lin" valueType="num">
                                      <p:cBhvr additive="base">
                                        <p:cTn id="50" dur="500" fill="hold"/>
                                        <p:tgtEl>
                                          <p:spTgt spid="1144878"/>
                                        </p:tgtEl>
                                        <p:attrNameLst>
                                          <p:attrName>ppt_x</p:attrName>
                                        </p:attrNameLst>
                                      </p:cBhvr>
                                      <p:tavLst>
                                        <p:tav tm="0">
                                          <p:val>
                                            <p:strVal val="1+#ppt_w/2"/>
                                          </p:val>
                                        </p:tav>
                                        <p:tav tm="100000">
                                          <p:val>
                                            <p:strVal val="#ppt_x"/>
                                          </p:val>
                                        </p:tav>
                                      </p:tavLst>
                                    </p:anim>
                                    <p:anim calcmode="lin" valueType="num">
                                      <p:cBhvr additive="base">
                                        <p:cTn id="51" dur="500" fill="hold"/>
                                        <p:tgtEl>
                                          <p:spTgt spid="114487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par>
                          <p:cTn id="52" fill="hold">
                            <p:stCondLst>
                              <p:cond delay="1000"/>
                            </p:stCondLst>
                            <p:childTnLst>
                              <p:par>
                                <p:cTn id="53" presetID="18" presetClass="entr" presetSubtype="6" fill="hold" nodeType="afterEffect">
                                  <p:stCondLst>
                                    <p:cond delay="0"/>
                                  </p:stCondLst>
                                  <p:childTnLst>
                                    <p:set>
                                      <p:cBhvr>
                                        <p:cTn id="54" dur="1" fill="hold">
                                          <p:stCondLst>
                                            <p:cond delay="0"/>
                                          </p:stCondLst>
                                        </p:cTn>
                                        <p:tgtEl>
                                          <p:spTgt spid="1144874"/>
                                        </p:tgtEl>
                                        <p:attrNameLst>
                                          <p:attrName>style.visibility</p:attrName>
                                        </p:attrNameLst>
                                      </p:cBhvr>
                                      <p:to>
                                        <p:strVal val="visible"/>
                                      </p:to>
                                    </p:set>
                                    <p:animEffect transition="in" filter="strips(downRight)">
                                      <p:cBhvr>
                                        <p:cTn id="55" dur="1000"/>
                                        <p:tgtEl>
                                          <p:spTgt spid="1144874"/>
                                        </p:tgtEl>
                                      </p:cBhvr>
                                    </p:animEffect>
                                  </p:childTnLst>
                                  <p:subTnLst>
                                    <p:set>
                                      <p:cBhvr override="childStyle">
                                        <p:cTn dur="1" fill="hold" display="0" masterRel="sameClick" afterEffect="1">
                                          <p:stCondLst>
                                            <p:cond evt="end" delay="0">
                                              <p:tn val="53"/>
                                            </p:cond>
                                          </p:stCondLst>
                                        </p:cTn>
                                        <p:tgtEl>
                                          <p:spTgt spid="1144874"/>
                                        </p:tgtEl>
                                        <p:attrNameLst>
                                          <p:attrName>style.visibility</p:attrName>
                                        </p:attrNameLst>
                                      </p:cBhvr>
                                      <p:to>
                                        <p:strVal val="hidden"/>
                                      </p:to>
                                    </p:se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par>
                          <p:cTn id="56" fill="hold">
                            <p:stCondLst>
                              <p:cond delay="2000"/>
                            </p:stCondLst>
                            <p:childTnLst>
                              <p:par>
                                <p:cTn id="57" presetID="4" presetClass="entr" presetSubtype="16" fill="hold" grpId="0" nodeType="afterEffect">
                                  <p:stCondLst>
                                    <p:cond delay="0"/>
                                  </p:stCondLst>
                                  <p:childTnLst>
                                    <p:set>
                                      <p:cBhvr>
                                        <p:cTn id="58" dur="1" fill="hold">
                                          <p:stCondLst>
                                            <p:cond delay="0"/>
                                          </p:stCondLst>
                                        </p:cTn>
                                        <p:tgtEl>
                                          <p:spTgt spid="1144881"/>
                                        </p:tgtEl>
                                        <p:attrNameLst>
                                          <p:attrName>style.visibility</p:attrName>
                                        </p:attrNameLst>
                                      </p:cBhvr>
                                      <p:to>
                                        <p:strVal val="visible"/>
                                      </p:to>
                                    </p:set>
                                    <p:animEffect transition="in" filter="box(in)">
                                      <p:cBhvr>
                                        <p:cTn id="59" dur="500"/>
                                        <p:tgtEl>
                                          <p:spTgt spid="1144881"/>
                                        </p:tgtEl>
                                      </p:cBhvr>
                                    </p:animEffect>
                                  </p:childTnLst>
                                  <p:subTnLst>
                                    <p:audio>
                                      <p:cMediaNode>
                                        <p:cTn display="0" masterRel="sameClick">
                                          <p:stCondLst>
                                            <p:cond evt="begin" delay="0">
                                              <p:tn val="57"/>
                                            </p:cond>
                                          </p:stCondLst>
                                          <p:endCondLst>
                                            <p:cond evt="onStopAudio" delay="0">
                                              <p:tgtEl>
                                                <p:sldTgt/>
                                              </p:tgtEl>
                                            </p:cond>
                                          </p:endCondLst>
                                        </p:cTn>
                                        <p:tgtEl>
                                          <p:sndTgt r:embed="rId3" name="laser.wav"/>
                                        </p:tgtEl>
                                      </p:cMediaNode>
                                    </p:audio>
                                  </p:subTnLst>
                                </p:cTn>
                              </p:par>
                            </p:childTnLst>
                          </p:cTn>
                        </p:par>
                        <p:par>
                          <p:cTn id="60" fill="hold">
                            <p:stCondLst>
                              <p:cond delay="2500"/>
                            </p:stCondLst>
                            <p:childTnLst>
                              <p:par>
                                <p:cTn id="61" presetID="18" presetClass="entr" presetSubtype="3" fill="hold" nodeType="afterEffect">
                                  <p:stCondLst>
                                    <p:cond delay="0"/>
                                  </p:stCondLst>
                                  <p:childTnLst>
                                    <p:set>
                                      <p:cBhvr>
                                        <p:cTn id="62" dur="1" fill="hold">
                                          <p:stCondLst>
                                            <p:cond delay="0"/>
                                          </p:stCondLst>
                                        </p:cTn>
                                        <p:tgtEl>
                                          <p:spTgt spid="1144882"/>
                                        </p:tgtEl>
                                        <p:attrNameLst>
                                          <p:attrName>style.visibility</p:attrName>
                                        </p:attrNameLst>
                                      </p:cBhvr>
                                      <p:to>
                                        <p:strVal val="visible"/>
                                      </p:to>
                                    </p:set>
                                    <p:animEffect transition="in" filter="strips(upRight)">
                                      <p:cBhvr>
                                        <p:cTn id="63" dur="500"/>
                                        <p:tgtEl>
                                          <p:spTgt spid="1144882"/>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4" fill="hold">
                            <p:stCondLst>
                              <p:cond delay="3000"/>
                            </p:stCondLst>
                            <p:childTnLst>
                              <p:par>
                                <p:cTn id="65" presetID="18" presetClass="entr" presetSubtype="12" fill="hold" grpId="0" nodeType="afterEffect">
                                  <p:stCondLst>
                                    <p:cond delay="0"/>
                                  </p:stCondLst>
                                  <p:childTnLst>
                                    <p:set>
                                      <p:cBhvr>
                                        <p:cTn id="66" dur="1" fill="hold">
                                          <p:stCondLst>
                                            <p:cond delay="0"/>
                                          </p:stCondLst>
                                        </p:cTn>
                                        <p:tgtEl>
                                          <p:spTgt spid="1144886"/>
                                        </p:tgtEl>
                                        <p:attrNameLst>
                                          <p:attrName>style.visibility</p:attrName>
                                        </p:attrNameLst>
                                      </p:cBhvr>
                                      <p:to>
                                        <p:strVal val="visible"/>
                                      </p:to>
                                    </p:set>
                                    <p:animEffect transition="in" filter="strips(downLeft)">
                                      <p:cBhvr>
                                        <p:cTn id="67" dur="500"/>
                                        <p:tgtEl>
                                          <p:spTgt spid="1144886"/>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1144838">
                                            <p:txEl>
                                              <p:pRg st="6" end="6"/>
                                            </p:txEl>
                                          </p:spTgt>
                                        </p:tgtEl>
                                        <p:attrNameLst>
                                          <p:attrName>style.visibility</p:attrName>
                                        </p:attrNameLst>
                                      </p:cBhvr>
                                      <p:to>
                                        <p:strVal val="visible"/>
                                      </p:to>
                                    </p:set>
                                    <p:anim calcmode="lin" valueType="num">
                                      <p:cBhvr additive="base">
                                        <p:cTn id="72" dur="500" fill="hold"/>
                                        <p:tgtEl>
                                          <p:spTgt spid="1144838">
                                            <p:txEl>
                                              <p:pRg st="6" end="6"/>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1144838">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par>
                          <p:cTn id="74" fill="hold">
                            <p:stCondLst>
                              <p:cond delay="500"/>
                            </p:stCondLst>
                            <p:childTnLst>
                              <p:par>
                                <p:cTn id="75" presetID="4" presetClass="entr" presetSubtype="16" fill="hold" grpId="0" nodeType="afterEffect">
                                  <p:stCondLst>
                                    <p:cond delay="0"/>
                                  </p:stCondLst>
                                  <p:childTnLst>
                                    <p:set>
                                      <p:cBhvr>
                                        <p:cTn id="76" dur="1" fill="hold">
                                          <p:stCondLst>
                                            <p:cond delay="0"/>
                                          </p:stCondLst>
                                        </p:cTn>
                                        <p:tgtEl>
                                          <p:spTgt spid="1144887"/>
                                        </p:tgtEl>
                                        <p:attrNameLst>
                                          <p:attrName>style.visibility</p:attrName>
                                        </p:attrNameLst>
                                      </p:cBhvr>
                                      <p:to>
                                        <p:strVal val="visible"/>
                                      </p:to>
                                    </p:set>
                                    <p:animEffect transition="in" filter="box(in)">
                                      <p:cBhvr>
                                        <p:cTn id="77" dur="500"/>
                                        <p:tgtEl>
                                          <p:spTgt spid="1144887"/>
                                        </p:tgtEl>
                                      </p:cBhvr>
                                    </p:animEffect>
                                  </p:childTnLst>
                                  <p:subTnLst>
                                    <p:audio>
                                      <p:cMediaNode>
                                        <p:cTn display="0" masterRel="sameClick">
                                          <p:stCondLst>
                                            <p:cond evt="begin" delay="0">
                                              <p:tn val="75"/>
                                            </p:cond>
                                          </p:stCondLst>
                                          <p:endCondLst>
                                            <p:cond evt="onStopAudio" delay="0">
                                              <p:tgtEl>
                                                <p:sldTgt/>
                                              </p:tgtEl>
                                            </p:cond>
                                          </p:endCondLst>
                                        </p:cTn>
                                        <p:tgtEl>
                                          <p:sndTgt r:embed="rId3" name="laser.wav"/>
                                        </p:tgtEl>
                                      </p:cMediaNode>
                                    </p:audio>
                                  </p:subTnLst>
                                </p:cTn>
                              </p:par>
                            </p:childTnLst>
                          </p:cTn>
                        </p:par>
                        <p:par>
                          <p:cTn id="78" fill="hold">
                            <p:stCondLst>
                              <p:cond delay="1000"/>
                            </p:stCondLst>
                            <p:childTnLst>
                              <p:par>
                                <p:cTn id="79" presetID="4" presetClass="entr" presetSubtype="16" fill="hold" grpId="0" nodeType="afterEffect">
                                  <p:stCondLst>
                                    <p:cond delay="0"/>
                                  </p:stCondLst>
                                  <p:childTnLst>
                                    <p:set>
                                      <p:cBhvr>
                                        <p:cTn id="80" dur="1" fill="hold">
                                          <p:stCondLst>
                                            <p:cond delay="0"/>
                                          </p:stCondLst>
                                        </p:cTn>
                                        <p:tgtEl>
                                          <p:spTgt spid="1144888"/>
                                        </p:tgtEl>
                                        <p:attrNameLst>
                                          <p:attrName>style.visibility</p:attrName>
                                        </p:attrNameLst>
                                      </p:cBhvr>
                                      <p:to>
                                        <p:strVal val="visible"/>
                                      </p:to>
                                    </p:set>
                                    <p:animEffect transition="in" filter="box(in)">
                                      <p:cBhvr>
                                        <p:cTn id="81" dur="500"/>
                                        <p:tgtEl>
                                          <p:spTgt spid="1144888"/>
                                        </p:tgtEl>
                                      </p:cBhvr>
                                    </p:animEffect>
                                  </p:childTnLst>
                                  <p:subTnLst>
                                    <p:audio>
                                      <p:cMediaNode>
                                        <p:cTn display="0" masterRel="sameClick">
                                          <p:stCondLst>
                                            <p:cond evt="begin" delay="0">
                                              <p:tn val="79"/>
                                            </p:cond>
                                          </p:stCondLst>
                                          <p:endCondLst>
                                            <p:cond evt="onStopAudio" delay="0">
                                              <p:tgtEl>
                                                <p:sldTgt/>
                                              </p:tgtEl>
                                            </p:cond>
                                          </p:endCondLst>
                                        </p:cTn>
                                        <p:tgtEl>
                                          <p:sndTgt r:embed="rId3" name="laser.wav"/>
                                        </p:tgtEl>
                                      </p:cMediaNode>
                                    </p:audio>
                                  </p:subTnLst>
                                </p:cTn>
                              </p:par>
                            </p:childTnLst>
                          </p:cTn>
                        </p:par>
                      </p:childTnLst>
                    </p:cTn>
                  </p:par>
                  <p:par>
                    <p:cTn id="82" fill="hold">
                      <p:stCondLst>
                        <p:cond delay="indefinite"/>
                      </p:stCondLst>
                      <p:childTnLst>
                        <p:par>
                          <p:cTn id="83" fill="hold">
                            <p:stCondLst>
                              <p:cond delay="0"/>
                            </p:stCondLst>
                            <p:childTnLst>
                              <p:par>
                                <p:cTn id="84" presetID="2" presetClass="entr" presetSubtype="4" fill="hold" nodeType="clickEffect">
                                  <p:stCondLst>
                                    <p:cond delay="0"/>
                                  </p:stCondLst>
                                  <p:childTnLst>
                                    <p:set>
                                      <p:cBhvr>
                                        <p:cTn id="85" dur="1" fill="hold">
                                          <p:stCondLst>
                                            <p:cond delay="0"/>
                                          </p:stCondLst>
                                        </p:cTn>
                                        <p:tgtEl>
                                          <p:spTgt spid="1144838">
                                            <p:txEl>
                                              <p:pRg st="7" end="7"/>
                                            </p:txEl>
                                          </p:spTgt>
                                        </p:tgtEl>
                                        <p:attrNameLst>
                                          <p:attrName>style.visibility</p:attrName>
                                        </p:attrNameLst>
                                      </p:cBhvr>
                                      <p:to>
                                        <p:strVal val="visible"/>
                                      </p:to>
                                    </p:set>
                                    <p:anim calcmode="lin" valueType="num">
                                      <p:cBhvr additive="base">
                                        <p:cTn id="86" dur="500" fill="hold"/>
                                        <p:tgtEl>
                                          <p:spTgt spid="1144838">
                                            <p:txEl>
                                              <p:pRg st="7" end="7"/>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1144838">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4"/>
                                            </p:cond>
                                          </p:stCondLst>
                                          <p:endCondLst>
                                            <p:cond evt="onStopAudio" delay="0">
                                              <p:tgtEl>
                                                <p:sldTgt/>
                                              </p:tgtEl>
                                            </p:cond>
                                          </p:endCondLst>
                                        </p:cTn>
                                        <p:tgtEl>
                                          <p:sndTgt r:embed="rId2" name="camera.wav"/>
                                        </p:tgtEl>
                                      </p:cMediaNode>
                                    </p:audio>
                                  </p:subTnLst>
                                </p:cTn>
                              </p:par>
                            </p:childTnLst>
                          </p:cTn>
                        </p:par>
                        <p:par>
                          <p:cTn id="88" fill="hold">
                            <p:stCondLst>
                              <p:cond delay="500"/>
                            </p:stCondLst>
                            <p:childTnLst>
                              <p:par>
                                <p:cTn id="89" presetID="4" presetClass="entr" presetSubtype="16" fill="hold" grpId="0" nodeType="afterEffect">
                                  <p:stCondLst>
                                    <p:cond delay="0"/>
                                  </p:stCondLst>
                                  <p:childTnLst>
                                    <p:set>
                                      <p:cBhvr>
                                        <p:cTn id="90" dur="1" fill="hold">
                                          <p:stCondLst>
                                            <p:cond delay="0"/>
                                          </p:stCondLst>
                                        </p:cTn>
                                        <p:tgtEl>
                                          <p:spTgt spid="1144889"/>
                                        </p:tgtEl>
                                        <p:attrNameLst>
                                          <p:attrName>style.visibility</p:attrName>
                                        </p:attrNameLst>
                                      </p:cBhvr>
                                      <p:to>
                                        <p:strVal val="visible"/>
                                      </p:to>
                                    </p:set>
                                    <p:animEffect transition="in" filter="box(in)">
                                      <p:cBhvr>
                                        <p:cTn id="91" dur="500"/>
                                        <p:tgtEl>
                                          <p:spTgt spid="1144889"/>
                                        </p:tgtEl>
                                      </p:cBhvr>
                                    </p:animEffect>
                                  </p:childTnLst>
                                  <p:subTnLst>
                                    <p:audio>
                                      <p:cMediaNode>
                                        <p:cTn display="0" masterRel="sameClick">
                                          <p:stCondLst>
                                            <p:cond evt="begin" delay="0">
                                              <p:tn val="89"/>
                                            </p:cond>
                                          </p:stCondLst>
                                          <p:endCondLst>
                                            <p:cond evt="onStopAudio" delay="0">
                                              <p:tgtEl>
                                                <p:sldTgt/>
                                              </p:tgtEl>
                                            </p:cond>
                                          </p:endCondLst>
                                        </p:cTn>
                                        <p:tgtEl>
                                          <p:sndTgt r:embed="rId3" name="laser.wav"/>
                                        </p:tgtEl>
                                      </p:cMediaNode>
                                    </p:audio>
                                  </p:subTnLst>
                                </p:cTn>
                              </p:par>
                            </p:childTnLst>
                          </p:cTn>
                        </p:par>
                      </p:childTnLst>
                    </p:cTn>
                  </p:par>
                  <p:par>
                    <p:cTn id="92" fill="hold">
                      <p:stCondLst>
                        <p:cond delay="indefinite"/>
                      </p:stCondLst>
                      <p:childTnLst>
                        <p:par>
                          <p:cTn id="93" fill="hold">
                            <p:stCondLst>
                              <p:cond delay="0"/>
                            </p:stCondLst>
                            <p:childTnLst>
                              <p:par>
                                <p:cTn id="94" presetID="2" presetClass="entr" presetSubtype="4" fill="hold" nodeType="clickEffect">
                                  <p:stCondLst>
                                    <p:cond delay="0"/>
                                  </p:stCondLst>
                                  <p:childTnLst>
                                    <p:set>
                                      <p:cBhvr>
                                        <p:cTn id="95" dur="1" fill="hold">
                                          <p:stCondLst>
                                            <p:cond delay="0"/>
                                          </p:stCondLst>
                                        </p:cTn>
                                        <p:tgtEl>
                                          <p:spTgt spid="1144838">
                                            <p:txEl>
                                              <p:pRg st="8" end="8"/>
                                            </p:txEl>
                                          </p:spTgt>
                                        </p:tgtEl>
                                        <p:attrNameLst>
                                          <p:attrName>style.visibility</p:attrName>
                                        </p:attrNameLst>
                                      </p:cBhvr>
                                      <p:to>
                                        <p:strVal val="visible"/>
                                      </p:to>
                                    </p:set>
                                    <p:anim calcmode="lin" valueType="num">
                                      <p:cBhvr additive="base">
                                        <p:cTn id="96" dur="500" fill="hold"/>
                                        <p:tgtEl>
                                          <p:spTgt spid="1144838">
                                            <p:txEl>
                                              <p:pRg st="8" end="8"/>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1144838">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4"/>
                                            </p:cond>
                                          </p:stCondLst>
                                          <p:endCondLst>
                                            <p:cond evt="onStopAudio" delay="0">
                                              <p:tgtEl>
                                                <p:sldTgt/>
                                              </p:tgtEl>
                                            </p:cond>
                                          </p:endCondLst>
                                        </p:cTn>
                                        <p:tgtEl>
                                          <p:sndTgt r:embed="rId2" name="camera.wav"/>
                                        </p:tgtEl>
                                      </p:cMediaNode>
                                    </p:audio>
                                  </p:subTnLst>
                                </p:cTn>
                              </p:par>
                            </p:childTnLst>
                          </p:cTn>
                        </p:par>
                        <p:par>
                          <p:cTn id="98" fill="hold">
                            <p:stCondLst>
                              <p:cond delay="500"/>
                            </p:stCondLst>
                            <p:childTnLst>
                              <p:par>
                                <p:cTn id="99" presetID="4" presetClass="entr" presetSubtype="32" fill="hold" grpId="0" nodeType="afterEffect">
                                  <p:stCondLst>
                                    <p:cond delay="0"/>
                                  </p:stCondLst>
                                  <p:childTnLst>
                                    <p:set>
                                      <p:cBhvr>
                                        <p:cTn id="100" dur="1" fill="hold">
                                          <p:stCondLst>
                                            <p:cond delay="0"/>
                                          </p:stCondLst>
                                        </p:cTn>
                                        <p:tgtEl>
                                          <p:spTgt spid="1144890"/>
                                        </p:tgtEl>
                                        <p:attrNameLst>
                                          <p:attrName>style.visibility</p:attrName>
                                        </p:attrNameLst>
                                      </p:cBhvr>
                                      <p:to>
                                        <p:strVal val="visible"/>
                                      </p:to>
                                    </p:set>
                                    <p:animEffect transition="in" filter="box(out)">
                                      <p:cBhvr>
                                        <p:cTn id="101" dur="500"/>
                                        <p:tgtEl>
                                          <p:spTgt spid="1144890"/>
                                        </p:tgtEl>
                                      </p:cBhvr>
                                    </p:animEffect>
                                  </p:childTnLst>
                                  <p:subTnLst>
                                    <p:audio>
                                      <p:cMediaNode>
                                        <p:cTn display="0" masterRel="sameClick">
                                          <p:stCondLst>
                                            <p:cond evt="begin" delay="0">
                                              <p:tn val="99"/>
                                            </p:cond>
                                          </p:stCondLst>
                                          <p:endCondLst>
                                            <p:cond evt="onStopAudio" delay="0">
                                              <p:tgtEl>
                                                <p:sldTgt/>
                                              </p:tgtEl>
                                            </p:cond>
                                          </p:endCondLst>
                                        </p:cTn>
                                        <p:tgtEl>
                                          <p:sndTgt r:embed="rId4" name="chimes.wav"/>
                                        </p:tgtEl>
                                      </p:cMediaNode>
                                    </p:audio>
                                  </p:subTnLst>
                                </p:cTn>
                              </p:par>
                            </p:childTnLst>
                          </p:cTn>
                        </p:par>
                      </p:childTnLst>
                    </p:cTn>
                  </p:par>
                  <p:par>
                    <p:cTn id="102" fill="hold">
                      <p:stCondLst>
                        <p:cond delay="indefinite"/>
                      </p:stCondLst>
                      <p:childTnLst>
                        <p:par>
                          <p:cTn id="103" fill="hold">
                            <p:stCondLst>
                              <p:cond delay="0"/>
                            </p:stCondLst>
                            <p:childTnLst>
                              <p:par>
                                <p:cTn id="104" presetID="2" presetClass="entr" presetSubtype="4" fill="hold" nodeType="clickEffect">
                                  <p:stCondLst>
                                    <p:cond delay="0"/>
                                  </p:stCondLst>
                                  <p:childTnLst>
                                    <p:set>
                                      <p:cBhvr>
                                        <p:cTn id="105" dur="1" fill="hold">
                                          <p:stCondLst>
                                            <p:cond delay="0"/>
                                          </p:stCondLst>
                                        </p:cTn>
                                        <p:tgtEl>
                                          <p:spTgt spid="1144838">
                                            <p:txEl>
                                              <p:pRg st="9" end="9"/>
                                            </p:txEl>
                                          </p:spTgt>
                                        </p:tgtEl>
                                        <p:attrNameLst>
                                          <p:attrName>style.visibility</p:attrName>
                                        </p:attrNameLst>
                                      </p:cBhvr>
                                      <p:to>
                                        <p:strVal val="visible"/>
                                      </p:to>
                                    </p:set>
                                    <p:anim calcmode="lin" valueType="num">
                                      <p:cBhvr additive="base">
                                        <p:cTn id="106" dur="500" fill="hold"/>
                                        <p:tgtEl>
                                          <p:spTgt spid="1144838">
                                            <p:txEl>
                                              <p:pRg st="9" end="9"/>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1144838">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4"/>
                                            </p:cond>
                                          </p:stCondLst>
                                          <p:endCondLst>
                                            <p:cond evt="onStopAudio" delay="0">
                                              <p:tgtEl>
                                                <p:sldTgt/>
                                              </p:tgtEl>
                                            </p:cond>
                                          </p:endCondLst>
                                        </p:cTn>
                                        <p:tgtEl>
                                          <p:sndTgt r:embed="rId2"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18" presetClass="entr" presetSubtype="12" fill="hold" grpId="0" nodeType="clickEffect">
                                  <p:stCondLst>
                                    <p:cond delay="0"/>
                                  </p:stCondLst>
                                  <p:childTnLst>
                                    <p:set>
                                      <p:cBhvr>
                                        <p:cTn id="111" dur="1" fill="hold">
                                          <p:stCondLst>
                                            <p:cond delay="0"/>
                                          </p:stCondLst>
                                        </p:cTn>
                                        <p:tgtEl>
                                          <p:spTgt spid="2"/>
                                        </p:tgtEl>
                                        <p:attrNameLst>
                                          <p:attrName>style.visibility</p:attrName>
                                        </p:attrNameLst>
                                      </p:cBhvr>
                                      <p:to>
                                        <p:strVal val="visible"/>
                                      </p:to>
                                    </p:set>
                                    <p:animEffect transition="in" filter="strips(downLeft)">
                                      <p:cBhvr>
                                        <p:cTn id="112" dur="500"/>
                                        <p:tgtEl>
                                          <p:spTgt spid="2"/>
                                        </p:tgtEl>
                                      </p:cBhvr>
                                    </p:animEffect>
                                  </p:childTnLst>
                                  <p:subTnLs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3"/>
                                        </p:tgtEl>
                                        <p:attrNameLst>
                                          <p:attrName>style.visibility</p:attrName>
                                        </p:attrNameLst>
                                      </p:cBhvr>
                                      <p:to>
                                        <p:strVal val="visible"/>
                                      </p:to>
                                    </p:set>
                                    <p:anim calcmode="lin" valueType="num">
                                      <p:cBhvr additive="base">
                                        <p:cTn id="117" dur="500" fill="hold"/>
                                        <p:tgtEl>
                                          <p:spTgt spid="3"/>
                                        </p:tgtEl>
                                        <p:attrNameLst>
                                          <p:attrName>ppt_x</p:attrName>
                                        </p:attrNameLst>
                                      </p:cBhvr>
                                      <p:tavLst>
                                        <p:tav tm="0">
                                          <p:val>
                                            <p:strVal val="#ppt_x"/>
                                          </p:val>
                                        </p:tav>
                                        <p:tav tm="100000">
                                          <p:val>
                                            <p:strVal val="#ppt_x"/>
                                          </p:val>
                                        </p:tav>
                                      </p:tavLst>
                                    </p:anim>
                                    <p:anim calcmode="lin" valueType="num">
                                      <p:cBhvr additive="base">
                                        <p:cTn id="118" dur="500" fill="hold"/>
                                        <p:tgtEl>
                                          <p:spTgt spid="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5"/>
                                            </p:cond>
                                          </p:stCondLst>
                                          <p:endCondLst>
                                            <p:cond evt="onStopAudio" delay="0">
                                              <p:tgtEl>
                                                <p:sldTgt/>
                                              </p:tgtEl>
                                            </p:cond>
                                          </p:endCondLst>
                                        </p:cTn>
                                        <p:tgtEl>
                                          <p:sndTgt r:embed="rId4" name="chimes.wav"/>
                                        </p:tgtEl>
                                      </p:cMediaNode>
                                    </p:audio>
                                  </p:sub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61"/>
                                        </p:tgtEl>
                                        <p:attrNameLst>
                                          <p:attrName>style.visibility</p:attrName>
                                        </p:attrNameLst>
                                      </p:cBhvr>
                                      <p:to>
                                        <p:strVal val="visible"/>
                                      </p:to>
                                    </p:set>
                                    <p:anim calcmode="lin" valueType="num">
                                      <p:cBhvr additive="base">
                                        <p:cTn id="123" dur="500" fill="hold"/>
                                        <p:tgtEl>
                                          <p:spTgt spid="61"/>
                                        </p:tgtEl>
                                        <p:attrNameLst>
                                          <p:attrName>ppt_x</p:attrName>
                                        </p:attrNameLst>
                                      </p:cBhvr>
                                      <p:tavLst>
                                        <p:tav tm="0">
                                          <p:val>
                                            <p:strVal val="#ppt_x"/>
                                          </p:val>
                                        </p:tav>
                                        <p:tav tm="100000">
                                          <p:val>
                                            <p:strVal val="#ppt_x"/>
                                          </p:val>
                                        </p:tav>
                                      </p:tavLst>
                                    </p:anim>
                                    <p:anim calcmode="lin" valueType="num">
                                      <p:cBhvr additive="base">
                                        <p:cTn id="124" dur="500" fill="hold"/>
                                        <p:tgtEl>
                                          <p:spTgt spid="6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1"/>
                                            </p:cond>
                                          </p:stCondLst>
                                          <p:endCondLst>
                                            <p:cond evt="onStopAudio" delay="0">
                                              <p:tgtEl>
                                                <p:sldTgt/>
                                              </p:tgtEl>
                                            </p:cond>
                                          </p:endCondLst>
                                        </p:cTn>
                                        <p:tgtEl>
                                          <p:sndTgt r:embed="rId4" name="chimes.wav"/>
                                        </p:tgtEl>
                                      </p:cMediaNode>
                                    </p:audio>
                                  </p:subTnLst>
                                </p:cTn>
                              </p:par>
                            </p:childTnLst>
                          </p:cTn>
                        </p:par>
                      </p:childTnLst>
                    </p:cTn>
                  </p:par>
                  <p:par>
                    <p:cTn id="125" fill="hold">
                      <p:stCondLst>
                        <p:cond delay="indefinite"/>
                      </p:stCondLst>
                      <p:childTnLst>
                        <p:par>
                          <p:cTn id="126" fill="hold">
                            <p:stCondLst>
                              <p:cond delay="0"/>
                            </p:stCondLst>
                            <p:childTnLst>
                              <p:par>
                                <p:cTn id="127" presetID="2" presetClass="entr" presetSubtype="4" fill="hold" grpId="0" nodeType="clickEffect">
                                  <p:stCondLst>
                                    <p:cond delay="0"/>
                                  </p:stCondLst>
                                  <p:childTnLst>
                                    <p:set>
                                      <p:cBhvr>
                                        <p:cTn id="128" dur="1" fill="hold">
                                          <p:stCondLst>
                                            <p:cond delay="0"/>
                                          </p:stCondLst>
                                        </p:cTn>
                                        <p:tgtEl>
                                          <p:spTgt spid="63"/>
                                        </p:tgtEl>
                                        <p:attrNameLst>
                                          <p:attrName>style.visibility</p:attrName>
                                        </p:attrNameLst>
                                      </p:cBhvr>
                                      <p:to>
                                        <p:strVal val="visible"/>
                                      </p:to>
                                    </p:set>
                                    <p:anim calcmode="lin" valueType="num">
                                      <p:cBhvr additive="base">
                                        <p:cTn id="129" dur="500" fill="hold"/>
                                        <p:tgtEl>
                                          <p:spTgt spid="63"/>
                                        </p:tgtEl>
                                        <p:attrNameLst>
                                          <p:attrName>ppt_x</p:attrName>
                                        </p:attrNameLst>
                                      </p:cBhvr>
                                      <p:tavLst>
                                        <p:tav tm="0">
                                          <p:val>
                                            <p:strVal val="#ppt_x"/>
                                          </p:val>
                                        </p:tav>
                                        <p:tav tm="100000">
                                          <p:val>
                                            <p:strVal val="#ppt_x"/>
                                          </p:val>
                                        </p:tav>
                                      </p:tavLst>
                                    </p:anim>
                                    <p:anim calcmode="lin" valueType="num">
                                      <p:cBhvr additive="base">
                                        <p:cTn id="130" dur="500" fill="hold"/>
                                        <p:tgtEl>
                                          <p:spTgt spid="6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7"/>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4866" grpId="0"/>
      <p:bldP spid="1144881" grpId="0"/>
      <p:bldP spid="1144886" grpId="0" animBg="1"/>
      <p:bldP spid="1144887" grpId="0"/>
      <p:bldP spid="1144888" grpId="0"/>
      <p:bldP spid="1144889" grpId="0" animBg="1"/>
      <p:bldP spid="1144890" grpId="0" animBg="1"/>
      <p:bldP spid="2" grpId="0" animBg="1"/>
      <p:bldP spid="3" grpId="0" animBg="1"/>
      <p:bldP spid="61" grpId="0" animBg="1"/>
      <p:bldP spid="6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5858" name="Text Box 2"/>
          <p:cNvSpPr txBox="1">
            <a:spLocks noChangeArrowheads="1"/>
          </p:cNvSpPr>
          <p:nvPr/>
        </p:nvSpPr>
        <p:spPr bwMode="auto">
          <a:xfrm>
            <a:off x="818951" y="791349"/>
            <a:ext cx="5853113"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b="1" dirty="0">
                <a:solidFill>
                  <a:srgbClr val="CC0000"/>
                </a:solidFill>
                <a:latin typeface="楷体" panose="02010609060101010101" pitchFamily="49" charset="-122"/>
                <a:ea typeface="楷体" panose="02010609060101010101" pitchFamily="49" charset="-122"/>
              </a:rPr>
              <a:t>【</a:t>
            </a:r>
            <a:r>
              <a:rPr lang="zh-CN" altLang="en-US" b="1" dirty="0">
                <a:solidFill>
                  <a:srgbClr val="CC0000"/>
                </a:solidFill>
                <a:latin typeface="楷体" panose="02010609060101010101" pitchFamily="49" charset="-122"/>
                <a:ea typeface="楷体" panose="02010609060101010101" pitchFamily="49" charset="-122"/>
              </a:rPr>
              <a:t>例</a:t>
            </a:r>
            <a:r>
              <a:rPr lang="en-US" altLang="zh-CN" b="1" dirty="0">
                <a:solidFill>
                  <a:srgbClr val="CC0000"/>
                </a:solidFill>
                <a:latin typeface="楷体" panose="02010609060101010101" pitchFamily="49" charset="-122"/>
                <a:ea typeface="楷体" panose="02010609060101010101" pitchFamily="49" charset="-122"/>
              </a:rPr>
              <a:t>2】</a:t>
            </a:r>
            <a:r>
              <a:rPr lang="zh-CN" altLang="en-US" b="1" dirty="0">
                <a:solidFill>
                  <a:srgbClr val="CC0000"/>
                </a:solidFill>
                <a:latin typeface="楷体" panose="02010609060101010101" pitchFamily="49" charset="-122"/>
                <a:ea typeface="楷体" panose="02010609060101010101" pitchFamily="49" charset="-122"/>
              </a:rPr>
              <a:t>输入两个数，并使其从大到小输出</a:t>
            </a:r>
          </a:p>
        </p:txBody>
      </p:sp>
      <p:sp>
        <p:nvSpPr>
          <p:cNvPr id="1145859" name="Rectangle 3" descr="信纸"/>
          <p:cNvSpPr>
            <a:spLocks noChangeArrowheads="1"/>
          </p:cNvSpPr>
          <p:nvPr/>
        </p:nvSpPr>
        <p:spPr bwMode="auto">
          <a:xfrm>
            <a:off x="1485218" y="1403901"/>
            <a:ext cx="5355784" cy="3785652"/>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sz="2000" dirty="0">
                <a:solidFill>
                  <a:srgbClr val="C00000"/>
                </a:solidFill>
                <a:ea typeface="宋体" pitchFamily="2" charset="-122"/>
              </a:rPr>
              <a:t>#include &lt;</a:t>
            </a:r>
            <a:r>
              <a:rPr lang="en-US" altLang="zh-CN" sz="2000" dirty="0" err="1">
                <a:solidFill>
                  <a:srgbClr val="C00000"/>
                </a:solidFill>
                <a:ea typeface="宋体" pitchFamily="2" charset="-122"/>
              </a:rPr>
              <a:t>stdio.h</a:t>
            </a:r>
            <a:r>
              <a:rPr lang="en-US" altLang="zh-CN" sz="2000" dirty="0">
                <a:solidFill>
                  <a:srgbClr val="C00000"/>
                </a:solidFill>
                <a:ea typeface="宋体" pitchFamily="2" charset="-122"/>
              </a:rPr>
              <a:t>&gt;</a:t>
            </a:r>
          </a:p>
          <a:p>
            <a:pPr eaLnBrk="0" hangingPunct="0">
              <a:lnSpc>
                <a:spcPct val="100000"/>
              </a:lnSpc>
              <a:spcBef>
                <a:spcPct val="0"/>
              </a:spcBef>
            </a:pPr>
            <a:r>
              <a:rPr lang="en-US" altLang="zh-CN" sz="2000" dirty="0" err="1">
                <a:solidFill>
                  <a:srgbClr val="C00000"/>
                </a:solidFill>
                <a:ea typeface="宋体" pitchFamily="2" charset="-122"/>
              </a:rPr>
              <a:t>int</a:t>
            </a:r>
            <a:r>
              <a:rPr lang="en-US" altLang="zh-CN" sz="2000" dirty="0">
                <a:solidFill>
                  <a:srgbClr val="C00000"/>
                </a:solidFill>
                <a:ea typeface="宋体" pitchFamily="2" charset="-122"/>
              </a:rPr>
              <a:t>  main ( )</a:t>
            </a:r>
          </a:p>
          <a:p>
            <a:pPr eaLnBrk="0" hangingPunct="0">
              <a:lnSpc>
                <a:spcPct val="100000"/>
              </a:lnSpc>
              <a:spcBef>
                <a:spcPct val="0"/>
              </a:spcBef>
            </a:pPr>
            <a:r>
              <a:rPr lang="en-US" altLang="zh-CN" sz="2000" dirty="0">
                <a:ea typeface="宋体" pitchFamily="2" charset="-122"/>
              </a:rPr>
              <a:t>{   </a:t>
            </a:r>
          </a:p>
          <a:p>
            <a:pPr eaLnBrk="0" hangingPunct="0">
              <a:lnSpc>
                <a:spcPct val="100000"/>
              </a:lnSpc>
              <a:spcBef>
                <a:spcPct val="0"/>
              </a:spcBef>
            </a:pPr>
            <a:r>
              <a:rPr lang="en-US" altLang="zh-CN" sz="2000" dirty="0">
                <a:ea typeface="宋体" pitchFamily="2" charset="-122"/>
              </a:rPr>
              <a:t>   </a:t>
            </a:r>
            <a:r>
              <a:rPr lang="en-US" altLang="zh-CN" sz="2000" dirty="0" err="1">
                <a:ea typeface="宋体" pitchFamily="2" charset="-122"/>
              </a:rPr>
              <a:t>int</a:t>
            </a:r>
            <a:r>
              <a:rPr lang="en-US" altLang="zh-CN" sz="2000" dirty="0">
                <a:ea typeface="宋体" pitchFamily="2" charset="-122"/>
              </a:rPr>
              <a:t> *p1,*p2,*p, a, b;</a:t>
            </a:r>
          </a:p>
          <a:p>
            <a:pPr eaLnBrk="0" hangingPunct="0">
              <a:lnSpc>
                <a:spcPct val="100000"/>
              </a:lnSpc>
              <a:spcBef>
                <a:spcPct val="0"/>
              </a:spcBef>
            </a:pPr>
            <a:r>
              <a:rPr lang="en-US" altLang="zh-CN" sz="2000" dirty="0">
                <a:ea typeface="宋体" pitchFamily="2" charset="-122"/>
              </a:rPr>
              <a:t>   </a:t>
            </a:r>
            <a:r>
              <a:rPr lang="en-US" altLang="zh-CN" sz="2000" dirty="0" err="1">
                <a:ea typeface="宋体" pitchFamily="2" charset="-122"/>
              </a:rPr>
              <a:t>scanf</a:t>
            </a:r>
            <a:r>
              <a:rPr lang="en-US" altLang="zh-CN" sz="2000" dirty="0">
                <a:ea typeface="宋体" pitchFamily="2" charset="-122"/>
              </a:rPr>
              <a:t> ("%</a:t>
            </a:r>
            <a:r>
              <a:rPr lang="en-US" altLang="zh-CN" sz="2000" dirty="0" err="1">
                <a:ea typeface="宋体" pitchFamily="2" charset="-122"/>
              </a:rPr>
              <a:t>d,%d</a:t>
            </a:r>
            <a:r>
              <a:rPr lang="en-US" altLang="zh-CN" sz="2000" dirty="0">
                <a:ea typeface="宋体" pitchFamily="2" charset="-122"/>
              </a:rPr>
              <a:t>", &amp;a, &amp;b);</a:t>
            </a:r>
          </a:p>
          <a:p>
            <a:pPr eaLnBrk="0" hangingPunct="0">
              <a:lnSpc>
                <a:spcPct val="100000"/>
              </a:lnSpc>
              <a:spcBef>
                <a:spcPct val="0"/>
              </a:spcBef>
            </a:pPr>
            <a:r>
              <a:rPr lang="en-US" altLang="zh-CN" sz="2000" dirty="0">
                <a:solidFill>
                  <a:srgbClr val="002060"/>
                </a:solidFill>
                <a:ea typeface="宋体" pitchFamily="2" charset="-122"/>
              </a:rPr>
              <a:t>   p1 = &amp;a;  p2 = &amp;b;</a:t>
            </a:r>
          </a:p>
          <a:p>
            <a:pPr eaLnBrk="0" hangingPunct="0">
              <a:lnSpc>
                <a:spcPct val="100000"/>
              </a:lnSpc>
              <a:spcBef>
                <a:spcPct val="0"/>
              </a:spcBef>
            </a:pPr>
            <a:r>
              <a:rPr lang="en-US" altLang="zh-CN" sz="2000" dirty="0">
                <a:ea typeface="宋体" pitchFamily="2" charset="-122"/>
              </a:rPr>
              <a:t>   if (a &lt; b)</a:t>
            </a:r>
          </a:p>
          <a:p>
            <a:pPr eaLnBrk="0" hangingPunct="0">
              <a:lnSpc>
                <a:spcPct val="100000"/>
              </a:lnSpc>
              <a:spcBef>
                <a:spcPct val="0"/>
              </a:spcBef>
            </a:pPr>
            <a:r>
              <a:rPr lang="en-US" altLang="zh-CN" sz="2000" dirty="0">
                <a:ea typeface="宋体" pitchFamily="2" charset="-122"/>
              </a:rPr>
              <a:t>   {  p = p1;  p1 = p2;  p2 = p; }</a:t>
            </a:r>
          </a:p>
          <a:p>
            <a:pPr eaLnBrk="0" hangingPunct="0">
              <a:lnSpc>
                <a:spcPct val="100000"/>
              </a:lnSpc>
              <a:spcBef>
                <a:spcPct val="0"/>
              </a:spcBef>
            </a:pPr>
            <a:r>
              <a:rPr lang="en-US" altLang="zh-CN" sz="2000" dirty="0">
                <a:ea typeface="宋体" pitchFamily="2" charset="-122"/>
              </a:rPr>
              <a:t>   </a:t>
            </a:r>
            <a:r>
              <a:rPr lang="en-US" altLang="zh-CN" sz="2000" dirty="0" err="1">
                <a:ea typeface="宋体" pitchFamily="2" charset="-122"/>
              </a:rPr>
              <a:t>printf</a:t>
            </a:r>
            <a:r>
              <a:rPr lang="en-US" altLang="zh-CN" sz="2000" dirty="0">
                <a:ea typeface="宋体" pitchFamily="2" charset="-122"/>
              </a:rPr>
              <a:t> ("a = %d, b = %d\n", a, b);</a:t>
            </a:r>
          </a:p>
          <a:p>
            <a:pPr eaLnBrk="0" hangingPunct="0">
              <a:lnSpc>
                <a:spcPct val="100000"/>
              </a:lnSpc>
              <a:spcBef>
                <a:spcPct val="0"/>
              </a:spcBef>
            </a:pPr>
            <a:r>
              <a:rPr lang="en-US" altLang="zh-CN" sz="2000" dirty="0">
                <a:ea typeface="宋体" pitchFamily="2" charset="-122"/>
              </a:rPr>
              <a:t>   </a:t>
            </a:r>
            <a:r>
              <a:rPr lang="en-US" altLang="zh-CN" sz="2000" dirty="0" err="1">
                <a:ea typeface="宋体" pitchFamily="2" charset="-122"/>
              </a:rPr>
              <a:t>printf</a:t>
            </a:r>
            <a:r>
              <a:rPr lang="en-US" altLang="zh-CN" sz="2000" dirty="0">
                <a:ea typeface="宋体" pitchFamily="2" charset="-122"/>
              </a:rPr>
              <a:t> ("max = %d, min = %d\n", *p1, *p2);</a:t>
            </a:r>
          </a:p>
          <a:p>
            <a:pPr eaLnBrk="0" hangingPunct="0">
              <a:lnSpc>
                <a:spcPct val="100000"/>
              </a:lnSpc>
              <a:spcBef>
                <a:spcPct val="0"/>
              </a:spcBef>
            </a:pPr>
            <a:r>
              <a:rPr lang="en-US" altLang="zh-CN" sz="2000" dirty="0">
                <a:ea typeface="宋体" pitchFamily="2" charset="-122"/>
              </a:rPr>
              <a:t>   return 0;</a:t>
            </a:r>
          </a:p>
          <a:p>
            <a:pPr eaLnBrk="0" hangingPunct="0">
              <a:lnSpc>
                <a:spcPct val="100000"/>
              </a:lnSpc>
              <a:spcBef>
                <a:spcPct val="0"/>
              </a:spcBef>
            </a:pPr>
            <a:r>
              <a:rPr lang="en-US" altLang="zh-CN" sz="2000" dirty="0">
                <a:ea typeface="宋体" pitchFamily="2" charset="-122"/>
              </a:rPr>
              <a:t>}</a:t>
            </a:r>
          </a:p>
        </p:txBody>
      </p:sp>
      <p:sp>
        <p:nvSpPr>
          <p:cNvPr id="1145860" name="Text Box 4"/>
          <p:cNvSpPr txBox="1">
            <a:spLocks noChangeArrowheads="1"/>
          </p:cNvSpPr>
          <p:nvPr/>
        </p:nvSpPr>
        <p:spPr bwMode="auto">
          <a:xfrm>
            <a:off x="2423592" y="5351200"/>
            <a:ext cx="2808287" cy="1225550"/>
          </a:xfrm>
          <a:prstGeom prst="rect">
            <a:avLst/>
          </a:prstGeom>
          <a:solidFill>
            <a:srgbClr val="FFFFFF"/>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zh-CN" altLang="en-US" dirty="0">
                <a:solidFill>
                  <a:srgbClr val="C00000"/>
                </a:solidFill>
                <a:latin typeface="隶书" pitchFamily="49" charset="-122"/>
                <a:ea typeface="隶书" pitchFamily="49" charset="-122"/>
              </a:rPr>
              <a:t>运行结果：</a:t>
            </a:r>
          </a:p>
          <a:p>
            <a:pPr>
              <a:lnSpc>
                <a:spcPct val="100000"/>
              </a:lnSpc>
              <a:spcBef>
                <a:spcPct val="0"/>
              </a:spcBef>
            </a:pPr>
            <a:r>
              <a:rPr lang="en-US" altLang="zh-CN" dirty="0">
                <a:solidFill>
                  <a:srgbClr val="002060"/>
                </a:solidFill>
              </a:rPr>
              <a:t>a=5, b=9</a:t>
            </a:r>
          </a:p>
          <a:p>
            <a:pPr>
              <a:lnSpc>
                <a:spcPct val="100000"/>
              </a:lnSpc>
              <a:spcBef>
                <a:spcPct val="0"/>
              </a:spcBef>
            </a:pPr>
            <a:r>
              <a:rPr lang="en-US" altLang="zh-CN" dirty="0">
                <a:solidFill>
                  <a:srgbClr val="002060"/>
                </a:solidFill>
              </a:rPr>
              <a:t>max=9, min=5</a:t>
            </a:r>
          </a:p>
        </p:txBody>
      </p:sp>
      <p:sp>
        <p:nvSpPr>
          <p:cNvPr id="1145861" name="Freeform 5"/>
          <p:cNvSpPr>
            <a:spLocks/>
          </p:cNvSpPr>
          <p:nvPr/>
        </p:nvSpPr>
        <p:spPr bwMode="auto">
          <a:xfrm>
            <a:off x="7816997" y="5688786"/>
            <a:ext cx="1722438" cy="552450"/>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45863" name="Rectangle 7"/>
          <p:cNvSpPr>
            <a:spLocks noChangeArrowheads="1"/>
          </p:cNvSpPr>
          <p:nvPr/>
        </p:nvSpPr>
        <p:spPr bwMode="auto">
          <a:xfrm>
            <a:off x="7816997" y="1724799"/>
            <a:ext cx="1722438" cy="3429000"/>
          </a:xfrm>
          <a:prstGeom prst="rect">
            <a:avLst/>
          </a:prstGeom>
          <a:solidFill>
            <a:schemeClr val="bg1">
              <a:lumMod val="95000"/>
            </a:schemeClr>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a typeface="宋体" pitchFamily="2" charset="-122"/>
            </a:endParaRPr>
          </a:p>
        </p:txBody>
      </p:sp>
      <p:sp>
        <p:nvSpPr>
          <p:cNvPr id="1145864" name="Line 8"/>
          <p:cNvSpPr>
            <a:spLocks noChangeShapeType="1"/>
          </p:cNvSpPr>
          <p:nvPr/>
        </p:nvSpPr>
        <p:spPr bwMode="auto">
          <a:xfrm>
            <a:off x="7834461" y="2404249"/>
            <a:ext cx="1722437" cy="0"/>
          </a:xfrm>
          <a:prstGeom prst="line">
            <a:avLst/>
          </a:prstGeom>
          <a:noFill/>
          <a:ln w="9525">
            <a:solidFill>
              <a:srgbClr val="000000"/>
            </a:solidFill>
            <a:round/>
            <a:headEnd/>
            <a:tailEnd/>
          </a:ln>
          <a:effectLst/>
        </p:spPr>
        <p:txBody>
          <a:bodyPr wrap="none" anchor="ctr"/>
          <a:lstStyle/>
          <a:p>
            <a:endParaRPr lang="zh-CN" altLang="en-US"/>
          </a:p>
        </p:txBody>
      </p:sp>
      <p:sp>
        <p:nvSpPr>
          <p:cNvPr id="1145865" name="Line 9"/>
          <p:cNvSpPr>
            <a:spLocks noChangeShapeType="1"/>
          </p:cNvSpPr>
          <p:nvPr/>
        </p:nvSpPr>
        <p:spPr bwMode="auto">
          <a:xfrm>
            <a:off x="7834461" y="2801124"/>
            <a:ext cx="1722437" cy="0"/>
          </a:xfrm>
          <a:prstGeom prst="line">
            <a:avLst/>
          </a:prstGeom>
          <a:noFill/>
          <a:ln w="9525">
            <a:solidFill>
              <a:schemeClr val="bg2"/>
            </a:solidFill>
            <a:round/>
            <a:headEnd/>
            <a:tailEnd/>
          </a:ln>
          <a:effectLst/>
        </p:spPr>
        <p:txBody>
          <a:bodyPr wrap="none" anchor="ctr"/>
          <a:lstStyle/>
          <a:p>
            <a:endParaRPr lang="zh-CN" altLang="en-US"/>
          </a:p>
        </p:txBody>
      </p:sp>
      <p:sp>
        <p:nvSpPr>
          <p:cNvPr id="1145866" name="Line 10"/>
          <p:cNvSpPr>
            <a:spLocks noChangeShapeType="1"/>
          </p:cNvSpPr>
          <p:nvPr/>
        </p:nvSpPr>
        <p:spPr bwMode="auto">
          <a:xfrm>
            <a:off x="7834461" y="3161486"/>
            <a:ext cx="1722437" cy="0"/>
          </a:xfrm>
          <a:prstGeom prst="line">
            <a:avLst/>
          </a:prstGeom>
          <a:noFill/>
          <a:ln w="9525">
            <a:solidFill>
              <a:srgbClr val="000000"/>
            </a:solidFill>
            <a:round/>
            <a:headEnd/>
            <a:tailEnd/>
          </a:ln>
          <a:effectLst/>
        </p:spPr>
        <p:txBody>
          <a:bodyPr wrap="none" anchor="ctr"/>
          <a:lstStyle/>
          <a:p>
            <a:endParaRPr lang="zh-CN" altLang="en-US"/>
          </a:p>
        </p:txBody>
      </p:sp>
      <p:sp>
        <p:nvSpPr>
          <p:cNvPr id="1145867" name="Line 11"/>
          <p:cNvSpPr>
            <a:spLocks noChangeShapeType="1"/>
          </p:cNvSpPr>
          <p:nvPr/>
        </p:nvSpPr>
        <p:spPr bwMode="auto">
          <a:xfrm>
            <a:off x="7834461" y="3556774"/>
            <a:ext cx="1722437" cy="0"/>
          </a:xfrm>
          <a:prstGeom prst="line">
            <a:avLst/>
          </a:prstGeom>
          <a:noFill/>
          <a:ln w="9525">
            <a:solidFill>
              <a:srgbClr val="000000"/>
            </a:solidFill>
            <a:round/>
            <a:headEnd/>
            <a:tailEnd/>
          </a:ln>
          <a:effectLst/>
        </p:spPr>
        <p:txBody>
          <a:bodyPr wrap="none" anchor="ctr"/>
          <a:lstStyle/>
          <a:p>
            <a:endParaRPr lang="zh-CN" altLang="en-US"/>
          </a:p>
        </p:txBody>
      </p:sp>
      <p:sp>
        <p:nvSpPr>
          <p:cNvPr id="1145868" name="Line 12"/>
          <p:cNvSpPr>
            <a:spLocks noChangeShapeType="1"/>
          </p:cNvSpPr>
          <p:nvPr/>
        </p:nvSpPr>
        <p:spPr bwMode="auto">
          <a:xfrm>
            <a:off x="7816997" y="3956824"/>
            <a:ext cx="1722438" cy="0"/>
          </a:xfrm>
          <a:prstGeom prst="line">
            <a:avLst/>
          </a:prstGeom>
          <a:noFill/>
          <a:ln w="9525">
            <a:solidFill>
              <a:srgbClr val="000000"/>
            </a:solidFill>
            <a:round/>
            <a:headEnd/>
            <a:tailEnd/>
          </a:ln>
          <a:effectLst/>
        </p:spPr>
        <p:txBody>
          <a:bodyPr wrap="none" anchor="ctr"/>
          <a:lstStyle/>
          <a:p>
            <a:endParaRPr lang="zh-CN" altLang="en-US"/>
          </a:p>
        </p:txBody>
      </p:sp>
      <p:sp>
        <p:nvSpPr>
          <p:cNvPr id="1145869" name="Line 13"/>
          <p:cNvSpPr>
            <a:spLocks noChangeShapeType="1"/>
          </p:cNvSpPr>
          <p:nvPr/>
        </p:nvSpPr>
        <p:spPr bwMode="auto">
          <a:xfrm>
            <a:off x="7834461" y="4796611"/>
            <a:ext cx="1722437" cy="0"/>
          </a:xfrm>
          <a:prstGeom prst="line">
            <a:avLst/>
          </a:prstGeom>
          <a:noFill/>
          <a:ln w="9525">
            <a:solidFill>
              <a:srgbClr val="000000"/>
            </a:solidFill>
            <a:round/>
            <a:headEnd/>
            <a:tailEnd/>
          </a:ln>
          <a:effectLst/>
        </p:spPr>
        <p:txBody>
          <a:bodyPr wrap="none" anchor="ctr"/>
          <a:lstStyle/>
          <a:p>
            <a:endParaRPr lang="zh-CN" altLang="en-US"/>
          </a:p>
        </p:txBody>
      </p:sp>
      <p:sp>
        <p:nvSpPr>
          <p:cNvPr id="1145870" name="Line 14"/>
          <p:cNvSpPr>
            <a:spLocks noChangeShapeType="1"/>
          </p:cNvSpPr>
          <p:nvPr/>
        </p:nvSpPr>
        <p:spPr bwMode="auto">
          <a:xfrm>
            <a:off x="7816997" y="5166500"/>
            <a:ext cx="0" cy="708025"/>
          </a:xfrm>
          <a:prstGeom prst="line">
            <a:avLst/>
          </a:prstGeom>
          <a:noFill/>
          <a:ln w="9525">
            <a:solidFill>
              <a:srgbClr val="000000"/>
            </a:solidFill>
            <a:round/>
            <a:headEnd/>
            <a:tailEnd/>
          </a:ln>
          <a:effectLst/>
        </p:spPr>
        <p:txBody>
          <a:bodyPr wrap="none" anchor="ctr"/>
          <a:lstStyle/>
          <a:p>
            <a:endParaRPr lang="zh-CN" altLang="en-US"/>
          </a:p>
        </p:txBody>
      </p:sp>
      <p:sp>
        <p:nvSpPr>
          <p:cNvPr id="1145871" name="Line 15"/>
          <p:cNvSpPr>
            <a:spLocks noChangeShapeType="1"/>
          </p:cNvSpPr>
          <p:nvPr/>
        </p:nvSpPr>
        <p:spPr bwMode="auto">
          <a:xfrm>
            <a:off x="9539436" y="5166500"/>
            <a:ext cx="1587" cy="930275"/>
          </a:xfrm>
          <a:prstGeom prst="line">
            <a:avLst/>
          </a:prstGeom>
          <a:noFill/>
          <a:ln w="9525">
            <a:solidFill>
              <a:srgbClr val="000000"/>
            </a:solidFill>
            <a:round/>
            <a:headEnd/>
            <a:tailEnd/>
          </a:ln>
          <a:effectLst/>
        </p:spPr>
        <p:txBody>
          <a:bodyPr wrap="none" anchor="ctr"/>
          <a:lstStyle/>
          <a:p>
            <a:endParaRPr lang="zh-CN" altLang="en-US"/>
          </a:p>
        </p:txBody>
      </p:sp>
      <p:sp>
        <p:nvSpPr>
          <p:cNvPr id="1145872" name="Text Box 16"/>
          <p:cNvSpPr txBox="1">
            <a:spLocks noChangeArrowheads="1"/>
          </p:cNvSpPr>
          <p:nvPr/>
        </p:nvSpPr>
        <p:spPr bwMode="auto">
          <a:xfrm>
            <a:off x="8488352" y="1806637"/>
            <a:ext cx="492443" cy="541174"/>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a typeface="宋体" pitchFamily="2" charset="-122"/>
              </a:rPr>
              <a:t>…...</a:t>
            </a:r>
          </a:p>
        </p:txBody>
      </p:sp>
      <p:sp>
        <p:nvSpPr>
          <p:cNvPr id="1145873" name="Text Box 17"/>
          <p:cNvSpPr txBox="1">
            <a:spLocks noChangeArrowheads="1"/>
          </p:cNvSpPr>
          <p:nvPr/>
        </p:nvSpPr>
        <p:spPr bwMode="auto">
          <a:xfrm>
            <a:off x="8486765" y="5222937"/>
            <a:ext cx="492443" cy="541174"/>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a typeface="宋体" pitchFamily="2" charset="-122"/>
              </a:rPr>
              <a:t>…...</a:t>
            </a:r>
          </a:p>
        </p:txBody>
      </p:sp>
      <p:sp>
        <p:nvSpPr>
          <p:cNvPr id="1145874" name="Line 18"/>
          <p:cNvSpPr>
            <a:spLocks noChangeShapeType="1"/>
          </p:cNvSpPr>
          <p:nvPr/>
        </p:nvSpPr>
        <p:spPr bwMode="auto">
          <a:xfrm>
            <a:off x="7834461" y="4366399"/>
            <a:ext cx="1722437" cy="0"/>
          </a:xfrm>
          <a:prstGeom prst="line">
            <a:avLst/>
          </a:prstGeom>
          <a:noFill/>
          <a:ln w="9525">
            <a:solidFill>
              <a:srgbClr val="000000"/>
            </a:solidFill>
            <a:round/>
            <a:headEnd/>
            <a:tailEnd/>
          </a:ln>
          <a:effectLst/>
        </p:spPr>
        <p:txBody>
          <a:bodyPr wrap="none" anchor="ctr"/>
          <a:lstStyle/>
          <a:p>
            <a:endParaRPr lang="zh-CN" altLang="en-US"/>
          </a:p>
        </p:txBody>
      </p:sp>
      <p:grpSp>
        <p:nvGrpSpPr>
          <p:cNvPr id="1145875" name="Group 19"/>
          <p:cNvGrpSpPr>
            <a:grpSpLocks/>
          </p:cNvGrpSpPr>
          <p:nvPr/>
        </p:nvGrpSpPr>
        <p:grpSpPr bwMode="auto">
          <a:xfrm>
            <a:off x="9525148" y="2243912"/>
            <a:ext cx="1604963" cy="366713"/>
            <a:chOff x="4402" y="1453"/>
            <a:chExt cx="1128" cy="237"/>
          </a:xfrm>
        </p:grpSpPr>
        <p:sp>
          <p:nvSpPr>
            <p:cNvPr id="1145876" name="Line 20"/>
            <p:cNvSpPr>
              <a:spLocks noChangeShapeType="1"/>
            </p:cNvSpPr>
            <p:nvPr/>
          </p:nvSpPr>
          <p:spPr bwMode="auto">
            <a:xfrm flipH="1">
              <a:off x="4402" y="1560"/>
              <a:ext cx="228" cy="0"/>
            </a:xfrm>
            <a:prstGeom prst="line">
              <a:avLst/>
            </a:prstGeom>
            <a:noFill/>
            <a:ln w="38100">
              <a:solidFill>
                <a:srgbClr val="002060"/>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45877" name="Text Box 21"/>
            <p:cNvSpPr txBox="1">
              <a:spLocks noChangeArrowheads="1"/>
            </p:cNvSpPr>
            <p:nvPr/>
          </p:nvSpPr>
          <p:spPr bwMode="auto">
            <a:xfrm>
              <a:off x="4584" y="1453"/>
              <a:ext cx="946" cy="237"/>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1800" dirty="0">
                  <a:latin typeface="+mn-lt"/>
                  <a:ea typeface="楷体" pitchFamily="49" charset="-122"/>
                </a:rPr>
                <a:t>指针变量</a:t>
              </a:r>
              <a:r>
                <a:rPr lang="en-US" altLang="zh-CN" sz="1800" dirty="0">
                  <a:solidFill>
                    <a:srgbClr val="C00000"/>
                  </a:solidFill>
                  <a:latin typeface="+mn-lt"/>
                  <a:ea typeface="楷体" pitchFamily="49" charset="-122"/>
                </a:rPr>
                <a:t>p1</a:t>
              </a:r>
            </a:p>
          </p:txBody>
        </p:sp>
      </p:grpSp>
      <p:grpSp>
        <p:nvGrpSpPr>
          <p:cNvPr id="1145878" name="Group 22"/>
          <p:cNvGrpSpPr>
            <a:grpSpLocks/>
          </p:cNvGrpSpPr>
          <p:nvPr/>
        </p:nvGrpSpPr>
        <p:grpSpPr bwMode="auto">
          <a:xfrm>
            <a:off x="9525147" y="2988453"/>
            <a:ext cx="1495698" cy="369807"/>
            <a:chOff x="4426" y="1933"/>
            <a:chExt cx="1051" cy="239"/>
          </a:xfrm>
        </p:grpSpPr>
        <p:sp>
          <p:nvSpPr>
            <p:cNvPr id="1145879" name="Line 23"/>
            <p:cNvSpPr>
              <a:spLocks noChangeShapeType="1"/>
            </p:cNvSpPr>
            <p:nvPr/>
          </p:nvSpPr>
          <p:spPr bwMode="auto">
            <a:xfrm flipH="1">
              <a:off x="4426" y="2040"/>
              <a:ext cx="228" cy="0"/>
            </a:xfrm>
            <a:prstGeom prst="line">
              <a:avLst/>
            </a:prstGeom>
            <a:noFill/>
            <a:ln w="38100">
              <a:solidFill>
                <a:srgbClr val="002060"/>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45880" name="Text Box 24"/>
            <p:cNvSpPr txBox="1">
              <a:spLocks noChangeArrowheads="1"/>
            </p:cNvSpPr>
            <p:nvPr/>
          </p:nvSpPr>
          <p:spPr bwMode="auto">
            <a:xfrm>
              <a:off x="4523" y="1933"/>
              <a:ext cx="954" cy="239"/>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1800" dirty="0">
                  <a:latin typeface="+mn-lt"/>
                  <a:ea typeface="楷体" pitchFamily="49" charset="-122"/>
                </a:rPr>
                <a:t>  </a:t>
              </a:r>
              <a:r>
                <a:rPr lang="zh-CN" altLang="en-US" sz="1800" dirty="0">
                  <a:latin typeface="+mn-lt"/>
                  <a:ea typeface="楷体" pitchFamily="49" charset="-122"/>
                </a:rPr>
                <a:t>指针变量</a:t>
              </a:r>
              <a:r>
                <a:rPr lang="en-US" altLang="zh-CN" sz="1800" dirty="0">
                  <a:solidFill>
                    <a:srgbClr val="C00000"/>
                  </a:solidFill>
                  <a:latin typeface="+mn-lt"/>
                  <a:ea typeface="楷体" pitchFamily="49" charset="-122"/>
                </a:rPr>
                <a:t>p</a:t>
              </a:r>
            </a:p>
          </p:txBody>
        </p:sp>
      </p:grpSp>
      <p:grpSp>
        <p:nvGrpSpPr>
          <p:cNvPr id="1145881" name="Group 25"/>
          <p:cNvGrpSpPr>
            <a:grpSpLocks/>
          </p:cNvGrpSpPr>
          <p:nvPr/>
        </p:nvGrpSpPr>
        <p:grpSpPr bwMode="auto">
          <a:xfrm>
            <a:off x="7129611" y="2328049"/>
            <a:ext cx="693737" cy="2654300"/>
            <a:chOff x="3488" y="1323"/>
            <a:chExt cx="488" cy="1712"/>
          </a:xfrm>
        </p:grpSpPr>
        <p:sp>
          <p:nvSpPr>
            <p:cNvPr id="1145882" name="Text Box 26"/>
            <p:cNvSpPr txBox="1">
              <a:spLocks noChangeArrowheads="1"/>
            </p:cNvSpPr>
            <p:nvPr/>
          </p:nvSpPr>
          <p:spPr bwMode="auto">
            <a:xfrm>
              <a:off x="3488" y="1323"/>
              <a:ext cx="487"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a typeface="宋体" pitchFamily="2" charset="-122"/>
                </a:rPr>
                <a:t>2000</a:t>
              </a:r>
            </a:p>
          </p:txBody>
        </p:sp>
        <p:sp>
          <p:nvSpPr>
            <p:cNvPr id="1145883" name="Text Box 27"/>
            <p:cNvSpPr txBox="1">
              <a:spLocks noChangeArrowheads="1"/>
            </p:cNvSpPr>
            <p:nvPr/>
          </p:nvSpPr>
          <p:spPr bwMode="auto">
            <a:xfrm>
              <a:off x="3489" y="2294"/>
              <a:ext cx="487"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solidFill>
                    <a:schemeClr val="accent1">
                      <a:lumMod val="50000"/>
                    </a:schemeClr>
                  </a:solidFill>
                  <a:ea typeface="宋体" pitchFamily="2" charset="-122"/>
                </a:rPr>
                <a:t>2008</a:t>
              </a:r>
            </a:p>
          </p:txBody>
        </p:sp>
        <p:sp>
          <p:nvSpPr>
            <p:cNvPr id="1145884" name="Text Box 28"/>
            <p:cNvSpPr txBox="1">
              <a:spLocks noChangeArrowheads="1"/>
            </p:cNvSpPr>
            <p:nvPr/>
          </p:nvSpPr>
          <p:spPr bwMode="auto">
            <a:xfrm>
              <a:off x="3667" y="2779"/>
              <a:ext cx="129"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endParaRPr lang="zh-CN" altLang="zh-CN" sz="2000" b="0">
                <a:ea typeface="宋体" pitchFamily="2" charset="-122"/>
              </a:endParaRPr>
            </a:p>
          </p:txBody>
        </p:sp>
        <p:sp>
          <p:nvSpPr>
            <p:cNvPr id="1145885" name="Text Box 29"/>
            <p:cNvSpPr txBox="1">
              <a:spLocks noChangeArrowheads="1"/>
            </p:cNvSpPr>
            <p:nvPr/>
          </p:nvSpPr>
          <p:spPr bwMode="auto">
            <a:xfrm>
              <a:off x="3666" y="2537"/>
              <a:ext cx="129"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endParaRPr lang="zh-CN" altLang="zh-CN" sz="2000" b="0">
                <a:ea typeface="宋体" pitchFamily="2" charset="-122"/>
              </a:endParaRPr>
            </a:p>
          </p:txBody>
        </p:sp>
        <p:sp>
          <p:nvSpPr>
            <p:cNvPr id="1145886" name="Text Box 30"/>
            <p:cNvSpPr txBox="1">
              <a:spLocks noChangeArrowheads="1"/>
            </p:cNvSpPr>
            <p:nvPr/>
          </p:nvSpPr>
          <p:spPr bwMode="auto">
            <a:xfrm>
              <a:off x="3488" y="1566"/>
              <a:ext cx="487"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a typeface="宋体" pitchFamily="2" charset="-122"/>
                </a:rPr>
                <a:t>2002</a:t>
              </a:r>
            </a:p>
          </p:txBody>
        </p:sp>
        <p:sp>
          <p:nvSpPr>
            <p:cNvPr id="1145887" name="Text Box 31"/>
            <p:cNvSpPr txBox="1">
              <a:spLocks noChangeArrowheads="1"/>
            </p:cNvSpPr>
            <p:nvPr/>
          </p:nvSpPr>
          <p:spPr bwMode="auto">
            <a:xfrm>
              <a:off x="3488" y="1809"/>
              <a:ext cx="487"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a typeface="宋体" pitchFamily="2" charset="-122"/>
                </a:rPr>
                <a:t>2004</a:t>
              </a:r>
            </a:p>
          </p:txBody>
        </p:sp>
        <p:sp>
          <p:nvSpPr>
            <p:cNvPr id="1145888" name="Text Box 32"/>
            <p:cNvSpPr txBox="1">
              <a:spLocks noChangeArrowheads="1"/>
            </p:cNvSpPr>
            <p:nvPr/>
          </p:nvSpPr>
          <p:spPr bwMode="auto">
            <a:xfrm>
              <a:off x="3488" y="2051"/>
              <a:ext cx="487"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solidFill>
                    <a:srgbClr val="C00000"/>
                  </a:solidFill>
                  <a:ea typeface="宋体" pitchFamily="2" charset="-122"/>
                </a:rPr>
                <a:t>2006</a:t>
              </a:r>
            </a:p>
          </p:txBody>
        </p:sp>
      </p:grpSp>
      <p:grpSp>
        <p:nvGrpSpPr>
          <p:cNvPr id="1145889" name="Group 33"/>
          <p:cNvGrpSpPr>
            <a:grpSpLocks/>
          </p:cNvGrpSpPr>
          <p:nvPr/>
        </p:nvGrpSpPr>
        <p:grpSpPr bwMode="auto">
          <a:xfrm>
            <a:off x="7837636" y="2613799"/>
            <a:ext cx="85725" cy="2400300"/>
            <a:chOff x="3960" y="1560"/>
            <a:chExt cx="60" cy="1548"/>
          </a:xfrm>
        </p:grpSpPr>
        <p:sp>
          <p:nvSpPr>
            <p:cNvPr id="1145890" name="Line 34"/>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1" name="Line 35"/>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2" name="Line 36"/>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3" name="Line 37"/>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4" name="Line 38"/>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5" name="Line 39"/>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6" name="Line 40"/>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45897" name="Group 41"/>
          <p:cNvGrpSpPr>
            <a:grpSpLocks/>
          </p:cNvGrpSpPr>
          <p:nvPr/>
        </p:nvGrpSpPr>
        <p:grpSpPr bwMode="auto">
          <a:xfrm>
            <a:off x="9442598" y="2596337"/>
            <a:ext cx="85725" cy="2398713"/>
            <a:chOff x="3960" y="1560"/>
            <a:chExt cx="60" cy="1548"/>
          </a:xfrm>
        </p:grpSpPr>
        <p:sp>
          <p:nvSpPr>
            <p:cNvPr id="1145898" name="Line 42"/>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9" name="Line 43"/>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900" name="Line 44"/>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901" name="Line 45"/>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902" name="Line 46"/>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903" name="Line 47"/>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904" name="Line 48"/>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45905" name="Group 49"/>
          <p:cNvGrpSpPr>
            <a:grpSpLocks/>
          </p:cNvGrpSpPr>
          <p:nvPr/>
        </p:nvGrpSpPr>
        <p:grpSpPr bwMode="auto">
          <a:xfrm>
            <a:off x="9525147" y="2615389"/>
            <a:ext cx="1611413" cy="369821"/>
            <a:chOff x="4426" y="1933"/>
            <a:chExt cx="1133" cy="238"/>
          </a:xfrm>
        </p:grpSpPr>
        <p:sp>
          <p:nvSpPr>
            <p:cNvPr id="1145906" name="Line 50"/>
            <p:cNvSpPr>
              <a:spLocks noChangeShapeType="1"/>
            </p:cNvSpPr>
            <p:nvPr/>
          </p:nvSpPr>
          <p:spPr bwMode="auto">
            <a:xfrm flipH="1">
              <a:off x="4426" y="2040"/>
              <a:ext cx="228" cy="0"/>
            </a:xfrm>
            <a:prstGeom prst="line">
              <a:avLst/>
            </a:prstGeom>
            <a:noFill/>
            <a:ln w="38100">
              <a:solidFill>
                <a:srgbClr val="002060"/>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45907" name="Text Box 51"/>
            <p:cNvSpPr txBox="1">
              <a:spLocks noChangeArrowheads="1"/>
            </p:cNvSpPr>
            <p:nvPr/>
          </p:nvSpPr>
          <p:spPr bwMode="auto">
            <a:xfrm>
              <a:off x="4523" y="1933"/>
              <a:ext cx="1036" cy="238"/>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1800" dirty="0">
                  <a:latin typeface="+mn-lt"/>
                  <a:ea typeface="楷体" pitchFamily="49" charset="-122"/>
                </a:rPr>
                <a:t>  </a:t>
              </a:r>
              <a:r>
                <a:rPr lang="zh-CN" altLang="en-US" sz="1800" dirty="0">
                  <a:latin typeface="+mn-lt"/>
                  <a:ea typeface="楷体" pitchFamily="49" charset="-122"/>
                </a:rPr>
                <a:t>指针变量</a:t>
              </a:r>
              <a:r>
                <a:rPr lang="en-US" altLang="zh-CN" sz="1800" dirty="0">
                  <a:solidFill>
                    <a:srgbClr val="C00000"/>
                  </a:solidFill>
                  <a:latin typeface="+mn-lt"/>
                  <a:ea typeface="楷体" pitchFamily="49" charset="-122"/>
                </a:rPr>
                <a:t>p2</a:t>
              </a:r>
            </a:p>
          </p:txBody>
        </p:sp>
      </p:grpSp>
      <p:grpSp>
        <p:nvGrpSpPr>
          <p:cNvPr id="1145908" name="Group 52"/>
          <p:cNvGrpSpPr>
            <a:grpSpLocks/>
          </p:cNvGrpSpPr>
          <p:nvPr/>
        </p:nvGrpSpPr>
        <p:grpSpPr bwMode="auto">
          <a:xfrm>
            <a:off x="9542611" y="3786964"/>
            <a:ext cx="1495697" cy="369808"/>
            <a:chOff x="4426" y="1932"/>
            <a:chExt cx="1051" cy="239"/>
          </a:xfrm>
        </p:grpSpPr>
        <p:sp>
          <p:nvSpPr>
            <p:cNvPr id="1145909" name="Line 53"/>
            <p:cNvSpPr>
              <a:spLocks noChangeShapeType="1"/>
            </p:cNvSpPr>
            <p:nvPr/>
          </p:nvSpPr>
          <p:spPr bwMode="auto">
            <a:xfrm flipH="1">
              <a:off x="4426" y="2040"/>
              <a:ext cx="228" cy="0"/>
            </a:xfrm>
            <a:prstGeom prst="line">
              <a:avLst/>
            </a:prstGeom>
            <a:noFill/>
            <a:ln w="38100">
              <a:solidFill>
                <a:srgbClr val="002060"/>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45910" name="Text Box 54"/>
            <p:cNvSpPr txBox="1">
              <a:spLocks noChangeArrowheads="1"/>
            </p:cNvSpPr>
            <p:nvPr/>
          </p:nvSpPr>
          <p:spPr bwMode="auto">
            <a:xfrm>
              <a:off x="4523" y="1932"/>
              <a:ext cx="954" cy="239"/>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1800" dirty="0">
                  <a:latin typeface="+mn-lt"/>
                  <a:ea typeface="楷体" pitchFamily="49" charset="-122"/>
                </a:rPr>
                <a:t>  </a:t>
              </a:r>
              <a:r>
                <a:rPr lang="zh-CN" altLang="en-US" sz="1800" dirty="0">
                  <a:latin typeface="+mn-lt"/>
                  <a:ea typeface="楷体" pitchFamily="49" charset="-122"/>
                </a:rPr>
                <a:t>整型变量</a:t>
              </a:r>
              <a:r>
                <a:rPr lang="en-US" altLang="zh-CN" sz="1800" dirty="0">
                  <a:solidFill>
                    <a:srgbClr val="002060"/>
                  </a:solidFill>
                  <a:latin typeface="+mn-lt"/>
                  <a:ea typeface="楷体" pitchFamily="49" charset="-122"/>
                </a:rPr>
                <a:t>b</a:t>
              </a:r>
            </a:p>
          </p:txBody>
        </p:sp>
      </p:grpSp>
      <p:grpSp>
        <p:nvGrpSpPr>
          <p:cNvPr id="1145911" name="Group 55"/>
          <p:cNvGrpSpPr>
            <a:grpSpLocks/>
          </p:cNvGrpSpPr>
          <p:nvPr/>
        </p:nvGrpSpPr>
        <p:grpSpPr bwMode="auto">
          <a:xfrm>
            <a:off x="9542611" y="3396439"/>
            <a:ext cx="1482998" cy="369808"/>
            <a:chOff x="4426" y="1932"/>
            <a:chExt cx="1042" cy="239"/>
          </a:xfrm>
        </p:grpSpPr>
        <p:sp>
          <p:nvSpPr>
            <p:cNvPr id="1145912" name="Line 56"/>
            <p:cNvSpPr>
              <a:spLocks noChangeShapeType="1"/>
            </p:cNvSpPr>
            <p:nvPr/>
          </p:nvSpPr>
          <p:spPr bwMode="auto">
            <a:xfrm flipH="1">
              <a:off x="4426" y="2040"/>
              <a:ext cx="228" cy="0"/>
            </a:xfrm>
            <a:prstGeom prst="line">
              <a:avLst/>
            </a:prstGeom>
            <a:noFill/>
            <a:ln w="38100">
              <a:solidFill>
                <a:srgbClr val="002060"/>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45913" name="Text Box 57"/>
            <p:cNvSpPr txBox="1">
              <a:spLocks noChangeArrowheads="1"/>
            </p:cNvSpPr>
            <p:nvPr/>
          </p:nvSpPr>
          <p:spPr bwMode="auto">
            <a:xfrm>
              <a:off x="4523" y="1932"/>
              <a:ext cx="945" cy="239"/>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1800" dirty="0">
                  <a:latin typeface="+mn-lt"/>
                  <a:ea typeface="楷体" pitchFamily="49" charset="-122"/>
                </a:rPr>
                <a:t>  </a:t>
              </a:r>
              <a:r>
                <a:rPr lang="zh-CN" altLang="en-US" sz="1800" dirty="0">
                  <a:latin typeface="+mn-lt"/>
                  <a:ea typeface="楷体" pitchFamily="49" charset="-122"/>
                </a:rPr>
                <a:t>整型变量</a:t>
              </a:r>
              <a:r>
                <a:rPr lang="en-US" altLang="zh-CN" sz="1800" dirty="0">
                  <a:solidFill>
                    <a:srgbClr val="002060"/>
                  </a:solidFill>
                  <a:latin typeface="+mn-lt"/>
                  <a:ea typeface="楷体" pitchFamily="49" charset="-122"/>
                </a:rPr>
                <a:t>a</a:t>
              </a:r>
            </a:p>
          </p:txBody>
        </p:sp>
      </p:grpSp>
      <p:sp>
        <p:nvSpPr>
          <p:cNvPr id="1145914" name="Text Box 58"/>
          <p:cNvSpPr txBox="1">
            <a:spLocks noChangeArrowheads="1"/>
          </p:cNvSpPr>
          <p:nvPr/>
        </p:nvSpPr>
        <p:spPr bwMode="auto">
          <a:xfrm>
            <a:off x="8444060" y="3534549"/>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dirty="0">
                <a:solidFill>
                  <a:srgbClr val="002060"/>
                </a:solidFill>
                <a:ea typeface="宋体" pitchFamily="2" charset="-122"/>
              </a:rPr>
              <a:t>5</a:t>
            </a:r>
          </a:p>
        </p:txBody>
      </p:sp>
      <p:sp>
        <p:nvSpPr>
          <p:cNvPr id="1145915" name="Text Box 59"/>
          <p:cNvSpPr txBox="1">
            <a:spLocks noChangeArrowheads="1"/>
          </p:cNvSpPr>
          <p:nvPr/>
        </p:nvSpPr>
        <p:spPr bwMode="auto">
          <a:xfrm>
            <a:off x="8269435" y="2404250"/>
            <a:ext cx="692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C00000"/>
                </a:solidFill>
                <a:ea typeface="宋体" pitchFamily="2" charset="-122"/>
              </a:rPr>
              <a:t>2006</a:t>
            </a:r>
          </a:p>
        </p:txBody>
      </p:sp>
      <p:sp>
        <p:nvSpPr>
          <p:cNvPr id="1145916" name="Text Box 60"/>
          <p:cNvSpPr txBox="1">
            <a:spLocks noChangeArrowheads="1"/>
          </p:cNvSpPr>
          <p:nvPr/>
        </p:nvSpPr>
        <p:spPr bwMode="auto">
          <a:xfrm>
            <a:off x="8463110" y="3948886"/>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2060"/>
                </a:solidFill>
                <a:ea typeface="宋体" pitchFamily="2" charset="-122"/>
              </a:rPr>
              <a:t>9</a:t>
            </a:r>
          </a:p>
        </p:txBody>
      </p:sp>
      <p:sp>
        <p:nvSpPr>
          <p:cNvPr id="1145917" name="Text Box 61"/>
          <p:cNvSpPr txBox="1">
            <a:spLocks noChangeArrowheads="1"/>
          </p:cNvSpPr>
          <p:nvPr/>
        </p:nvSpPr>
        <p:spPr bwMode="auto">
          <a:xfrm>
            <a:off x="8269435" y="2750325"/>
            <a:ext cx="692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solidFill>
                  <a:schemeClr val="accent1">
                    <a:lumMod val="50000"/>
                  </a:schemeClr>
                </a:solidFill>
                <a:ea typeface="宋体" pitchFamily="2" charset="-122"/>
              </a:rPr>
              <a:t>2008</a:t>
            </a:r>
          </a:p>
        </p:txBody>
      </p:sp>
      <p:sp>
        <p:nvSpPr>
          <p:cNvPr id="1145918" name="Text Box 62"/>
          <p:cNvSpPr txBox="1">
            <a:spLocks noChangeArrowheads="1"/>
          </p:cNvSpPr>
          <p:nvPr/>
        </p:nvSpPr>
        <p:spPr bwMode="auto">
          <a:xfrm>
            <a:off x="8259910" y="3145612"/>
            <a:ext cx="692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C00000"/>
                </a:solidFill>
                <a:ea typeface="宋体" pitchFamily="2" charset="-122"/>
              </a:rPr>
              <a:t>2006</a:t>
            </a:r>
          </a:p>
        </p:txBody>
      </p:sp>
      <p:sp>
        <p:nvSpPr>
          <p:cNvPr id="1145919" name="Text Box 63"/>
          <p:cNvSpPr txBox="1">
            <a:spLocks noChangeArrowheads="1"/>
          </p:cNvSpPr>
          <p:nvPr/>
        </p:nvSpPr>
        <p:spPr bwMode="auto">
          <a:xfrm>
            <a:off x="8256240" y="2378315"/>
            <a:ext cx="694719" cy="402291"/>
          </a:xfrm>
          <a:prstGeom prst="rect">
            <a:avLst/>
          </a:prstGeom>
          <a:solidFill>
            <a:schemeClr val="bg1">
              <a:lumMod val="95000"/>
            </a:schemeClr>
          </a:solid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dirty="0">
                <a:solidFill>
                  <a:schemeClr val="accent1">
                    <a:lumMod val="50000"/>
                  </a:schemeClr>
                </a:solidFill>
                <a:ea typeface="隶书" pitchFamily="49" charset="-122"/>
              </a:rPr>
              <a:t>2008</a:t>
            </a:r>
            <a:endParaRPr lang="en-US" altLang="zh-CN" dirty="0">
              <a:solidFill>
                <a:schemeClr val="accent1">
                  <a:lumMod val="50000"/>
                </a:schemeClr>
              </a:solidFill>
              <a:ea typeface="隶书" pitchFamily="49" charset="-122"/>
            </a:endParaRPr>
          </a:p>
        </p:txBody>
      </p:sp>
      <p:sp>
        <p:nvSpPr>
          <p:cNvPr id="1145920" name="Text Box 64"/>
          <p:cNvSpPr txBox="1">
            <a:spLocks noChangeArrowheads="1"/>
          </p:cNvSpPr>
          <p:nvPr/>
        </p:nvSpPr>
        <p:spPr bwMode="auto">
          <a:xfrm>
            <a:off x="8259454" y="2738677"/>
            <a:ext cx="694719" cy="402291"/>
          </a:xfrm>
          <a:prstGeom prst="rect">
            <a:avLst/>
          </a:prstGeom>
          <a:solidFill>
            <a:schemeClr val="bg1">
              <a:lumMod val="95000"/>
            </a:schemeClr>
          </a:solid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solidFill>
                  <a:srgbClr val="C00000"/>
                </a:solidFill>
                <a:ea typeface="隶书" pitchFamily="49" charset="-122"/>
              </a:rPr>
              <a:t>2006</a:t>
            </a:r>
            <a:endParaRPr lang="en-US" altLang="zh-CN">
              <a:solidFill>
                <a:srgbClr val="C00000"/>
              </a:solidFill>
              <a:ea typeface="隶书" pitchFamily="49" charset="-122"/>
            </a:endParaRPr>
          </a:p>
        </p:txBody>
      </p:sp>
      <p:sp>
        <p:nvSpPr>
          <p:cNvPr id="1145862" name="Freeform 6"/>
          <p:cNvSpPr>
            <a:spLocks/>
          </p:cNvSpPr>
          <p:nvPr/>
        </p:nvSpPr>
        <p:spPr bwMode="auto">
          <a:xfrm>
            <a:off x="7818586" y="5153799"/>
            <a:ext cx="1724025" cy="1041400"/>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chemeClr val="bg1">
              <a:lumMod val="95000"/>
            </a:schemeClr>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45924" name="Rectangle 68"/>
          <p:cNvSpPr>
            <a:spLocks noChangeArrowheads="1"/>
          </p:cNvSpPr>
          <p:nvPr/>
        </p:nvSpPr>
        <p:spPr bwMode="auto">
          <a:xfrm>
            <a:off x="1343476" y="6958300"/>
            <a:ext cx="10151542" cy="2215991"/>
          </a:xfrm>
          <a:prstGeom prst="rect">
            <a:avLst/>
          </a:prstGeom>
          <a:gradFill rotWithShape="1">
            <a:gsLst>
              <a:gs pos="0">
                <a:srgbClr val="00FFFF"/>
              </a:gs>
              <a:gs pos="100000">
                <a:srgbClr val="00FFFF">
                  <a:gamma/>
                  <a:shade val="75686"/>
                  <a:invGamma/>
                </a:srgbClr>
              </a:gs>
            </a:gsLst>
            <a:lin ang="5400000" scaled="1"/>
          </a:gra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0" rIns="0" bIns="0">
            <a:spAutoFit/>
          </a:bodyPr>
          <a:lstStyle/>
          <a:p>
            <a:pPr>
              <a:lnSpc>
                <a:spcPct val="100000"/>
              </a:lnSpc>
            </a:pPr>
            <a:r>
              <a:rPr lang="zh-CN" altLang="en-US" dirty="0">
                <a:solidFill>
                  <a:srgbClr val="FF0000"/>
                </a:solidFill>
                <a:latin typeface="隶书" pitchFamily="49" charset="-122"/>
                <a:ea typeface="隶书" pitchFamily="49" charset="-122"/>
              </a:rPr>
              <a:t>  </a:t>
            </a:r>
            <a:r>
              <a:rPr lang="zh-CN" altLang="en-US" u="sng" dirty="0">
                <a:solidFill>
                  <a:srgbClr val="FF0000"/>
                </a:solidFill>
                <a:latin typeface="隶书" pitchFamily="49" charset="-122"/>
                <a:ea typeface="隶书" pitchFamily="49" charset="-122"/>
              </a:rPr>
              <a:t>重点强调：</a:t>
            </a:r>
          </a:p>
          <a:p>
            <a:pPr marL="625475" indent="-360363">
              <a:lnSpc>
                <a:spcPct val="100000"/>
              </a:lnSpc>
              <a:buFont typeface="Wingdings" pitchFamily="2" charset="2"/>
              <a:buChar char="Ø"/>
            </a:pPr>
            <a:r>
              <a:rPr lang="zh-CN" altLang="en-US" dirty="0">
                <a:latin typeface="+mn-lt"/>
                <a:ea typeface="楷体" pitchFamily="49" charset="-122"/>
              </a:rPr>
              <a:t>指针变量必须</a:t>
            </a:r>
            <a:r>
              <a:rPr lang="zh-CN" altLang="en-US" dirty="0">
                <a:solidFill>
                  <a:srgbClr val="0000FF"/>
                </a:solidFill>
                <a:latin typeface="+mn-lt"/>
                <a:ea typeface="楷体" pitchFamily="49" charset="-122"/>
              </a:rPr>
              <a:t>先定义，后赋值，最后才能使用</a:t>
            </a:r>
            <a:r>
              <a:rPr lang="zh-CN" altLang="en-US" dirty="0">
                <a:latin typeface="+mn-lt"/>
                <a:ea typeface="楷体" pitchFamily="49" charset="-122"/>
              </a:rPr>
              <a:t>！没有赋值的指针变量是没有任何意义的，也绝对是不允许使用的。</a:t>
            </a:r>
          </a:p>
          <a:p>
            <a:pPr marL="625475" lvl="1" indent="-360363">
              <a:lnSpc>
                <a:spcPct val="100000"/>
              </a:lnSpc>
              <a:buFont typeface="Wingdings" pitchFamily="2" charset="2"/>
              <a:buChar char="Ø"/>
            </a:pPr>
            <a:r>
              <a:rPr lang="zh-CN" altLang="en-US" dirty="0">
                <a:latin typeface="+mn-lt"/>
                <a:ea typeface="楷体" pitchFamily="49" charset="-122"/>
              </a:rPr>
              <a:t>指针变量原则上只能指向定义时所规定类型的变量。</a:t>
            </a:r>
          </a:p>
          <a:p>
            <a:pPr marL="625475" indent="-360363">
              <a:lnSpc>
                <a:spcPct val="100000"/>
              </a:lnSpc>
              <a:buFont typeface="Wingdings" pitchFamily="2" charset="2"/>
              <a:buChar char="Ø"/>
            </a:pPr>
            <a:r>
              <a:rPr lang="zh-CN" altLang="en-US" dirty="0">
                <a:latin typeface="+mn-lt"/>
                <a:ea typeface="楷体" pitchFamily="49" charset="-122"/>
              </a:rPr>
              <a:t>指针变量也是变量，在内存中也要占用一定的内存单元，但所有类型的指针变量都占用同样大小的内存单元，</a:t>
            </a:r>
            <a:r>
              <a:rPr lang="zh-CN" altLang="en-US" dirty="0">
                <a:solidFill>
                  <a:srgbClr val="0000FF"/>
                </a:solidFill>
                <a:latin typeface="+mn-lt"/>
                <a:ea typeface="楷体" pitchFamily="49" charset="-122"/>
              </a:rPr>
              <a:t>如在</a:t>
            </a:r>
            <a:r>
              <a:rPr lang="en-US" altLang="zh-CN" dirty="0">
                <a:solidFill>
                  <a:srgbClr val="0000FF"/>
                </a:solidFill>
                <a:latin typeface="+mn-lt"/>
                <a:ea typeface="楷体" pitchFamily="49" charset="-122"/>
              </a:rPr>
              <a:t>VC</a:t>
            </a:r>
            <a:r>
              <a:rPr lang="zh-CN" altLang="en-US" dirty="0">
                <a:solidFill>
                  <a:srgbClr val="0000FF"/>
                </a:solidFill>
                <a:latin typeface="+mn-lt"/>
                <a:ea typeface="楷体" pitchFamily="49" charset="-122"/>
              </a:rPr>
              <a:t>和</a:t>
            </a:r>
            <a:r>
              <a:rPr lang="en-US" altLang="zh-CN" dirty="0">
                <a:solidFill>
                  <a:srgbClr val="0000FF"/>
                </a:solidFill>
                <a:latin typeface="+mn-lt"/>
                <a:ea typeface="楷体" pitchFamily="49" charset="-122"/>
              </a:rPr>
              <a:t>CB</a:t>
            </a:r>
            <a:r>
              <a:rPr lang="zh-CN" altLang="en-US" dirty="0">
                <a:solidFill>
                  <a:srgbClr val="0000FF"/>
                </a:solidFill>
                <a:latin typeface="+mn-lt"/>
                <a:ea typeface="楷体" pitchFamily="49" charset="-122"/>
              </a:rPr>
              <a:t>下均为</a:t>
            </a:r>
            <a:r>
              <a:rPr lang="en-US" altLang="zh-CN" dirty="0">
                <a:solidFill>
                  <a:srgbClr val="0000FF"/>
                </a:solidFill>
                <a:latin typeface="+mn-lt"/>
                <a:ea typeface="楷体" pitchFamily="49" charset="-122"/>
              </a:rPr>
              <a:t>4</a:t>
            </a:r>
            <a:r>
              <a:rPr lang="zh-CN" altLang="en-US" dirty="0">
                <a:solidFill>
                  <a:srgbClr val="0000FF"/>
                </a:solidFill>
                <a:latin typeface="+mn-lt"/>
                <a:ea typeface="楷体" pitchFamily="49" charset="-122"/>
              </a:rPr>
              <a:t>个字节。</a:t>
            </a:r>
          </a:p>
        </p:txBody>
      </p:sp>
      <p:sp>
        <p:nvSpPr>
          <p:cNvPr id="69" name="Rectangle 4">
            <a:extLst>
              <a:ext uri="{FF2B5EF4-FFF2-40B4-BE49-F238E27FC236}">
                <a16:creationId xmlns:a16="http://schemas.microsoft.com/office/drawing/2014/main" id="{E248778E-7DE2-4838-850A-87B850A5B493}"/>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指针变量的定义和引用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45859"/>
                                        </p:tgtEl>
                                        <p:attrNameLst>
                                          <p:attrName>style.visibility</p:attrName>
                                        </p:attrNameLst>
                                      </p:cBhvr>
                                      <p:to>
                                        <p:strVal val="visible"/>
                                      </p:to>
                                    </p:set>
                                    <p:animEffect transition="in" filter="box(out)">
                                      <p:cBhvr>
                                        <p:cTn id="7" dur="500"/>
                                        <p:tgtEl>
                                          <p:spTgt spid="1145859"/>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45914">
                                            <p:txEl>
                                              <p:pRg st="0" end="0"/>
                                            </p:txEl>
                                          </p:spTgt>
                                        </p:tgtEl>
                                        <p:attrNameLst>
                                          <p:attrName>style.visibility</p:attrName>
                                        </p:attrNameLst>
                                      </p:cBhvr>
                                      <p:to>
                                        <p:strVal val="visible"/>
                                      </p:to>
                                    </p:set>
                                    <p:animEffect transition="in" filter="box(out)">
                                      <p:cBhvr>
                                        <p:cTn id="12" dur="500"/>
                                        <p:tgtEl>
                                          <p:spTgt spid="1145914">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45916">
                                            <p:txEl>
                                              <p:pRg st="0" end="0"/>
                                            </p:txEl>
                                          </p:spTgt>
                                        </p:tgtEl>
                                        <p:attrNameLst>
                                          <p:attrName>style.visibility</p:attrName>
                                        </p:attrNameLst>
                                      </p:cBhvr>
                                      <p:to>
                                        <p:strVal val="visible"/>
                                      </p:to>
                                    </p:set>
                                    <p:animEffect transition="in" filter="box(out)">
                                      <p:cBhvr>
                                        <p:cTn id="17" dur="500"/>
                                        <p:tgtEl>
                                          <p:spTgt spid="1145916">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45915">
                                            <p:txEl>
                                              <p:pRg st="0" end="0"/>
                                            </p:txEl>
                                          </p:spTgt>
                                        </p:tgtEl>
                                        <p:attrNameLst>
                                          <p:attrName>style.visibility</p:attrName>
                                        </p:attrNameLst>
                                      </p:cBhvr>
                                      <p:to>
                                        <p:strVal val="visible"/>
                                      </p:to>
                                    </p:set>
                                    <p:animEffect transition="in" filter="box(out)">
                                      <p:cBhvr>
                                        <p:cTn id="22" dur="500"/>
                                        <p:tgtEl>
                                          <p:spTgt spid="1145915">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45917"/>
                                        </p:tgtEl>
                                        <p:attrNameLst>
                                          <p:attrName>style.visibility</p:attrName>
                                        </p:attrNameLst>
                                      </p:cBhvr>
                                      <p:to>
                                        <p:strVal val="visible"/>
                                      </p:to>
                                    </p:se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145918">
                                            <p:txEl>
                                              <p:pRg st="0" end="0"/>
                                            </p:txEl>
                                          </p:spTgt>
                                        </p:tgtEl>
                                        <p:attrNameLst>
                                          <p:attrName>style.visibility</p:attrName>
                                        </p:attrNameLst>
                                      </p:cBhvr>
                                      <p:to>
                                        <p:strVal val="visible"/>
                                      </p:to>
                                    </p:set>
                                    <p:animEffect transition="in" filter="box(out)">
                                      <p:cBhvr>
                                        <p:cTn id="31" dur="500"/>
                                        <p:tgtEl>
                                          <p:spTgt spid="1145918">
                                            <p:txEl>
                                              <p:pRg st="0" end="0"/>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145919"/>
                                        </p:tgtEl>
                                        <p:attrNameLst>
                                          <p:attrName>style.visibility</p:attrName>
                                        </p:attrNameLst>
                                      </p:cBhvr>
                                      <p:to>
                                        <p:strVal val="visible"/>
                                      </p:to>
                                    </p:set>
                                    <p:animEffect transition="in" filter="box(out)">
                                      <p:cBhvr>
                                        <p:cTn id="36" dur="500"/>
                                        <p:tgtEl>
                                          <p:spTgt spid="1145919"/>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1145920"/>
                                        </p:tgtEl>
                                        <p:attrNameLst>
                                          <p:attrName>style.visibility</p:attrName>
                                        </p:attrNameLst>
                                      </p:cBhvr>
                                      <p:to>
                                        <p:strVal val="visible"/>
                                      </p:to>
                                    </p:set>
                                    <p:animEffect transition="in" filter="box(out)">
                                      <p:cBhvr>
                                        <p:cTn id="41" dur="500"/>
                                        <p:tgtEl>
                                          <p:spTgt spid="1145920"/>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145860"/>
                                        </p:tgtEl>
                                        <p:attrNameLst>
                                          <p:attrName>style.visibility</p:attrName>
                                        </p:attrNameLst>
                                      </p:cBhvr>
                                      <p:to>
                                        <p:strVal val="visible"/>
                                      </p:to>
                                    </p:set>
                                    <p:animEffect transition="in" filter="box(out)">
                                      <p:cBhvr>
                                        <p:cTn id="46" dur="500"/>
                                        <p:tgtEl>
                                          <p:spTgt spid="1145860"/>
                                        </p:tgtEl>
                                      </p:cBhvr>
                                    </p:animEffect>
                                  </p:childTnLst>
                                  <p:subTnLst>
                                    <p:audio>
                                      <p:cMediaNode>
                                        <p:cTn display="0" masterRel="sameClick">
                                          <p:stCondLst>
                                            <p:cond evt="begin" delay="0">
                                              <p:tn val="44"/>
                                            </p:cond>
                                          </p:stCondLst>
                                          <p:endCondLst>
                                            <p:cond evt="onStopAudio" delay="0">
                                              <p:tgtEl>
                                                <p:sldTgt/>
                                              </p:tgtEl>
                                            </p:cond>
                                          </p:endCondLst>
                                        </p:cTn>
                                        <p:tgtEl>
                                          <p:sndTgt r:embed="rId3" name="chimes.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1145924"/>
                                        </p:tgtEl>
                                        <p:attrNameLst>
                                          <p:attrName>style.visibility</p:attrName>
                                        </p:attrNameLst>
                                      </p:cBhvr>
                                      <p:to>
                                        <p:strVal val="visible"/>
                                      </p:to>
                                    </p:set>
                                    <p:animEffect transition="in" filter="box(out)">
                                      <p:cBhvr>
                                        <p:cTn id="51" dur="500"/>
                                        <p:tgtEl>
                                          <p:spTgt spid="1145924"/>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5859" grpId="0" animBg="1" autoUpdateAnimBg="0"/>
      <p:bldP spid="1145860" grpId="0" animBg="1" autoUpdateAnimBg="0"/>
      <p:bldP spid="1145914" grpId="0" build="p" autoUpdateAnimBg="0"/>
      <p:bldP spid="1145915" grpId="0" build="p" autoUpdateAnimBg="0"/>
      <p:bldP spid="1145916" grpId="0" build="p" autoUpdateAnimBg="0"/>
      <p:bldP spid="1145917" grpId="0" autoUpdateAnimBg="0"/>
      <p:bldP spid="1145918" grpId="0" build="p" autoUpdateAnimBg="0"/>
      <p:bldP spid="1145919" grpId="0" animBg="1" autoUpdateAnimBg="0"/>
      <p:bldP spid="1145920" grpId="0" animBg="1" autoUpdateAnimBg="0"/>
      <p:bldP spid="11459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82" name="Rectangle 2"/>
          <p:cNvSpPr>
            <a:spLocks noChangeArrowheads="1"/>
          </p:cNvSpPr>
          <p:nvPr/>
        </p:nvSpPr>
        <p:spPr bwMode="auto">
          <a:xfrm>
            <a:off x="623392" y="837530"/>
            <a:ext cx="4330373" cy="503238"/>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1</a:t>
            </a:r>
            <a:r>
              <a:rPr lang="zh-CN" altLang="en-US" sz="2800" b="1" dirty="0">
                <a:solidFill>
                  <a:srgbClr val="C00000"/>
                </a:solidFill>
                <a:latin typeface="+mn-lt"/>
                <a:ea typeface="楷体" pitchFamily="49" charset="-122"/>
                <a:sym typeface="Symbol" pitchFamily="18" charset="2"/>
              </a:rPr>
              <a:t>、指针变量的加、减运算</a:t>
            </a:r>
          </a:p>
        </p:txBody>
      </p:sp>
      <p:sp>
        <p:nvSpPr>
          <p:cNvPr id="1146887" name="Rectangle 7" descr="信纸"/>
          <p:cNvSpPr>
            <a:spLocks noChangeArrowheads="1"/>
          </p:cNvSpPr>
          <p:nvPr/>
        </p:nvSpPr>
        <p:spPr bwMode="auto">
          <a:xfrm>
            <a:off x="862423" y="1309623"/>
            <a:ext cx="10827985" cy="738664"/>
          </a:xfrm>
          <a:prstGeom prst="rect">
            <a:avLst/>
          </a:prstGeom>
          <a:noFill/>
          <a:ln w="38100" algn="ctr">
            <a:noFill/>
            <a:miter lim="800000"/>
            <a:headEnd/>
            <a:tailEnd/>
          </a:ln>
          <a:effectLst/>
        </p:spPr>
        <p:txBody>
          <a:bodyPr wrap="square" lIns="0" tIns="0" rIns="0" bIns="0" anchor="ctr">
            <a:spAutoFit/>
          </a:bodyPr>
          <a:lstStyle/>
          <a:p>
            <a:pPr>
              <a:lnSpc>
                <a:spcPct val="100000"/>
              </a:lnSpc>
              <a:spcBef>
                <a:spcPct val="0"/>
              </a:spcBef>
            </a:pPr>
            <a:r>
              <a:rPr lang="en-US" altLang="zh-CN" dirty="0">
                <a:latin typeface="+mn-lt"/>
                <a:ea typeface="楷体" pitchFamily="49" charset="-122"/>
              </a:rPr>
              <a:t>        </a:t>
            </a:r>
            <a:r>
              <a:rPr lang="zh-CN" altLang="en-US" dirty="0">
                <a:latin typeface="+mn-lt"/>
                <a:ea typeface="楷体" pitchFamily="49" charset="-122"/>
              </a:rPr>
              <a:t>指针可以参与加法和减法运算，但其加、减的含义绝对不同于一般数值的加减运算。如果指针</a:t>
            </a:r>
            <a:r>
              <a:rPr lang="en-US" altLang="zh-CN" dirty="0">
                <a:latin typeface="+mn-lt"/>
                <a:ea typeface="楷体" pitchFamily="49" charset="-122"/>
              </a:rPr>
              <a:t>p</a:t>
            </a:r>
            <a:r>
              <a:rPr lang="zh-CN" altLang="en-US" dirty="0">
                <a:latin typeface="+mn-lt"/>
                <a:ea typeface="楷体" pitchFamily="49" charset="-122"/>
              </a:rPr>
              <a:t>是这样定义的：</a:t>
            </a:r>
            <a:r>
              <a:rPr lang="en-US" altLang="zh-CN" dirty="0" err="1">
                <a:solidFill>
                  <a:srgbClr val="CC0000"/>
                </a:solidFill>
                <a:latin typeface="+mn-lt"/>
                <a:ea typeface="楷体" pitchFamily="49" charset="-122"/>
              </a:rPr>
              <a:t>ptype</a:t>
            </a:r>
            <a:r>
              <a:rPr lang="en-US" altLang="zh-CN" dirty="0">
                <a:solidFill>
                  <a:srgbClr val="CC0000"/>
                </a:solidFill>
                <a:latin typeface="+mn-lt"/>
                <a:ea typeface="楷体" pitchFamily="49" charset="-122"/>
              </a:rPr>
              <a:t> *p</a:t>
            </a:r>
            <a:r>
              <a:rPr lang="zh-CN" altLang="en-US" dirty="0">
                <a:solidFill>
                  <a:srgbClr val="CC0000"/>
                </a:solidFill>
                <a:latin typeface="+mn-lt"/>
                <a:ea typeface="楷体" pitchFamily="49" charset="-122"/>
              </a:rPr>
              <a:t>；</a:t>
            </a:r>
            <a:r>
              <a:rPr lang="zh-CN" altLang="en-US" dirty="0">
                <a:latin typeface="+mn-lt"/>
                <a:ea typeface="楷体" pitchFamily="49" charset="-122"/>
              </a:rPr>
              <a:t>，并且</a:t>
            </a:r>
            <a:r>
              <a:rPr lang="en-US" altLang="zh-CN" dirty="0">
                <a:latin typeface="+mn-lt"/>
                <a:ea typeface="楷体" pitchFamily="49" charset="-122"/>
              </a:rPr>
              <a:t>p</a:t>
            </a:r>
            <a:r>
              <a:rPr lang="zh-CN" altLang="en-US" dirty="0">
                <a:latin typeface="+mn-lt"/>
                <a:ea typeface="楷体" pitchFamily="49" charset="-122"/>
              </a:rPr>
              <a:t>当前的值是</a:t>
            </a:r>
            <a:r>
              <a:rPr lang="en-US" altLang="zh-CN" dirty="0">
                <a:latin typeface="+mn-lt"/>
                <a:ea typeface="楷体" pitchFamily="49" charset="-122"/>
              </a:rPr>
              <a:t>ADDR</a:t>
            </a:r>
            <a:r>
              <a:rPr lang="zh-CN" altLang="en-US" dirty="0">
                <a:latin typeface="+mn-lt"/>
                <a:ea typeface="楷体" pitchFamily="49" charset="-122"/>
              </a:rPr>
              <a:t>，那么： </a:t>
            </a:r>
          </a:p>
        </p:txBody>
      </p:sp>
      <p:sp>
        <p:nvSpPr>
          <p:cNvPr id="1146888" name="Text Box 8"/>
          <p:cNvSpPr txBox="1">
            <a:spLocks noChangeArrowheads="1"/>
          </p:cNvSpPr>
          <p:nvPr/>
        </p:nvSpPr>
        <p:spPr bwMode="auto">
          <a:xfrm>
            <a:off x="1488281" y="2162249"/>
            <a:ext cx="9576271" cy="474663"/>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en-US" altLang="zh-CN">
                <a:latin typeface="+mn-lt"/>
                <a:ea typeface="隶书" pitchFamily="49" charset="-122"/>
              </a:rPr>
              <a:t>p ± n </a:t>
            </a:r>
            <a:r>
              <a:rPr lang="zh-CN" altLang="en-US">
                <a:latin typeface="+mn-lt"/>
                <a:ea typeface="隶书" pitchFamily="49" charset="-122"/>
              </a:rPr>
              <a:t>的值   </a:t>
            </a:r>
            <a:r>
              <a:rPr lang="en-US" altLang="zh-CN">
                <a:latin typeface="+mn-lt"/>
                <a:ea typeface="隶书" pitchFamily="49" charset="-122"/>
              </a:rPr>
              <a:t>=  ADDR ± n * sizeof</a:t>
            </a:r>
            <a:r>
              <a:rPr lang="zh-CN" altLang="en-US">
                <a:latin typeface="+mn-lt"/>
                <a:ea typeface="隶书" pitchFamily="49" charset="-122"/>
              </a:rPr>
              <a:t>（</a:t>
            </a:r>
            <a:r>
              <a:rPr lang="en-US" altLang="zh-CN">
                <a:latin typeface="+mn-lt"/>
                <a:ea typeface="隶书" pitchFamily="49" charset="-122"/>
              </a:rPr>
              <a:t>ptype</a:t>
            </a:r>
            <a:r>
              <a:rPr lang="zh-CN" altLang="en-US">
                <a:latin typeface="+mn-lt"/>
                <a:ea typeface="隶书" pitchFamily="49" charset="-122"/>
              </a:rPr>
              <a:t>）</a:t>
            </a:r>
          </a:p>
        </p:txBody>
      </p:sp>
      <p:sp>
        <p:nvSpPr>
          <p:cNvPr id="1146889" name="AutoShape 9"/>
          <p:cNvSpPr>
            <a:spLocks noChangeArrowheads="1"/>
          </p:cNvSpPr>
          <p:nvPr/>
        </p:nvSpPr>
        <p:spPr bwMode="auto">
          <a:xfrm>
            <a:off x="5460285" y="3632409"/>
            <a:ext cx="1123429" cy="46831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2060"/>
              </a:gs>
              <a:gs pos="100000">
                <a:srgbClr val="FFFFFF"/>
              </a:gs>
            </a:gsLst>
            <a:lin ang="5400000" scaled="1"/>
          </a:gradFill>
          <a:ln w="9525">
            <a:solidFill>
              <a:srgbClr val="0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endParaRPr lang="zh-CN" altLang="en-US"/>
          </a:p>
        </p:txBody>
      </p:sp>
      <p:sp>
        <p:nvSpPr>
          <p:cNvPr id="1146890" name="Text Box 10" descr="信纸"/>
          <p:cNvSpPr txBox="1">
            <a:spLocks noChangeArrowheads="1"/>
          </p:cNvSpPr>
          <p:nvPr/>
        </p:nvSpPr>
        <p:spPr bwMode="auto">
          <a:xfrm>
            <a:off x="1524559" y="2780928"/>
            <a:ext cx="3873545" cy="2310505"/>
          </a:xfrm>
          <a:prstGeom prst="rect">
            <a:avLst/>
          </a:prstGeom>
          <a:solidFill>
            <a:schemeClr val="bg1"/>
          </a:soli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pPr>
            <a:r>
              <a:rPr lang="en-US" altLang="zh-CN" dirty="0"/>
              <a:t>  short *pi;</a:t>
            </a:r>
          </a:p>
          <a:p>
            <a:pPr>
              <a:lnSpc>
                <a:spcPct val="100000"/>
              </a:lnSpc>
            </a:pPr>
            <a:r>
              <a:rPr lang="en-US" altLang="zh-CN" dirty="0"/>
              <a:t>  char  *pc;</a:t>
            </a:r>
          </a:p>
          <a:p>
            <a:pPr>
              <a:lnSpc>
                <a:spcPct val="100000"/>
              </a:lnSpc>
            </a:pPr>
            <a:r>
              <a:rPr lang="en-US" altLang="zh-CN" dirty="0"/>
              <a:t>  long  *pl;</a:t>
            </a:r>
          </a:p>
          <a:p>
            <a:pPr>
              <a:lnSpc>
                <a:spcPct val="100000"/>
              </a:lnSpc>
            </a:pPr>
            <a:r>
              <a:rPr lang="en-US" altLang="zh-CN" dirty="0"/>
              <a:t>  pi = (short *) 1000</a:t>
            </a:r>
            <a:r>
              <a:rPr lang="zh-CN" altLang="en-US" dirty="0"/>
              <a:t>；</a:t>
            </a:r>
          </a:p>
          <a:p>
            <a:pPr>
              <a:lnSpc>
                <a:spcPct val="100000"/>
              </a:lnSpc>
            </a:pPr>
            <a:r>
              <a:rPr lang="en-US" altLang="zh-CN" dirty="0"/>
              <a:t>  pc = (char *) 1000;</a:t>
            </a:r>
          </a:p>
          <a:p>
            <a:pPr>
              <a:lnSpc>
                <a:spcPct val="100000"/>
              </a:lnSpc>
            </a:pPr>
            <a:r>
              <a:rPr lang="en-US" altLang="zh-CN" dirty="0"/>
              <a:t>  pl = (long *) 1000;</a:t>
            </a:r>
          </a:p>
        </p:txBody>
      </p:sp>
      <p:sp>
        <p:nvSpPr>
          <p:cNvPr id="1146891" name="Text Box 11" descr="信纸"/>
          <p:cNvSpPr txBox="1">
            <a:spLocks noChangeArrowheads="1"/>
          </p:cNvSpPr>
          <p:nvPr/>
        </p:nvSpPr>
        <p:spPr bwMode="auto">
          <a:xfrm>
            <a:off x="6645895" y="2783672"/>
            <a:ext cx="4418657" cy="2310505"/>
          </a:xfrm>
          <a:prstGeom prst="rect">
            <a:avLst/>
          </a:prstGeom>
          <a:solidFill>
            <a:schemeClr val="bg1"/>
          </a:soli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pPr>
            <a:r>
              <a:rPr lang="en-US" altLang="zh-CN" dirty="0"/>
              <a:t>  pi++;       </a:t>
            </a:r>
            <a:r>
              <a:rPr lang="en-US" altLang="zh-CN" sz="1800" dirty="0">
                <a:solidFill>
                  <a:srgbClr val="002060"/>
                </a:solidFill>
                <a:latin typeface="+mn-lt"/>
                <a:ea typeface="楷体" pitchFamily="49" charset="-122"/>
              </a:rPr>
              <a:t>//pi</a:t>
            </a:r>
            <a:r>
              <a:rPr lang="zh-CN" altLang="en-US" sz="1800" dirty="0">
                <a:solidFill>
                  <a:srgbClr val="002060"/>
                </a:solidFill>
                <a:latin typeface="+mn-lt"/>
                <a:ea typeface="楷体" pitchFamily="49" charset="-122"/>
              </a:rPr>
              <a:t>的值将是</a:t>
            </a:r>
            <a:r>
              <a:rPr lang="en-US" altLang="zh-CN" sz="1800" dirty="0">
                <a:solidFill>
                  <a:srgbClr val="002060"/>
                </a:solidFill>
                <a:latin typeface="+mn-lt"/>
                <a:ea typeface="楷体" pitchFamily="49" charset="-122"/>
              </a:rPr>
              <a:t>1002</a:t>
            </a:r>
          </a:p>
          <a:p>
            <a:pPr>
              <a:lnSpc>
                <a:spcPct val="100000"/>
              </a:lnSpc>
            </a:pPr>
            <a:r>
              <a:rPr lang="en-US" altLang="zh-CN" dirty="0"/>
              <a:t>  pi -= 2;    </a:t>
            </a:r>
            <a:r>
              <a:rPr lang="en-US" altLang="zh-CN" sz="1800" dirty="0">
                <a:solidFill>
                  <a:srgbClr val="002060"/>
                </a:solidFill>
                <a:latin typeface="+mn-lt"/>
                <a:ea typeface="楷体" pitchFamily="49" charset="-122"/>
              </a:rPr>
              <a:t>// pi</a:t>
            </a:r>
            <a:r>
              <a:rPr lang="zh-CN" altLang="en-US" sz="1800" dirty="0">
                <a:solidFill>
                  <a:srgbClr val="002060"/>
                </a:solidFill>
                <a:latin typeface="+mn-lt"/>
                <a:ea typeface="楷体" pitchFamily="49" charset="-122"/>
              </a:rPr>
              <a:t>的值将是</a:t>
            </a:r>
            <a:r>
              <a:rPr lang="en-US" altLang="zh-CN" sz="1800" dirty="0">
                <a:solidFill>
                  <a:srgbClr val="002060"/>
                </a:solidFill>
                <a:latin typeface="+mn-lt"/>
                <a:ea typeface="楷体" pitchFamily="49" charset="-122"/>
              </a:rPr>
              <a:t>998</a:t>
            </a:r>
          </a:p>
          <a:p>
            <a:pPr>
              <a:lnSpc>
                <a:spcPct val="100000"/>
              </a:lnSpc>
            </a:pPr>
            <a:r>
              <a:rPr lang="en-US" altLang="zh-CN" dirty="0"/>
              <a:t>  pc++;      </a:t>
            </a:r>
            <a:r>
              <a:rPr lang="en-US" altLang="zh-CN" sz="1800" dirty="0">
                <a:solidFill>
                  <a:srgbClr val="002060"/>
                </a:solidFill>
                <a:latin typeface="+mn-lt"/>
                <a:ea typeface="楷体" pitchFamily="49" charset="-122"/>
              </a:rPr>
              <a:t>// pc</a:t>
            </a:r>
            <a:r>
              <a:rPr lang="zh-CN" altLang="en-US" sz="1800" dirty="0">
                <a:solidFill>
                  <a:srgbClr val="002060"/>
                </a:solidFill>
                <a:latin typeface="+mn-lt"/>
                <a:ea typeface="楷体" pitchFamily="49" charset="-122"/>
              </a:rPr>
              <a:t>的值将是</a:t>
            </a:r>
            <a:r>
              <a:rPr lang="en-US" altLang="zh-CN" sz="1800" dirty="0">
                <a:solidFill>
                  <a:srgbClr val="002060"/>
                </a:solidFill>
                <a:latin typeface="+mn-lt"/>
                <a:ea typeface="楷体" pitchFamily="49" charset="-122"/>
              </a:rPr>
              <a:t>1001</a:t>
            </a:r>
          </a:p>
          <a:p>
            <a:pPr>
              <a:lnSpc>
                <a:spcPct val="100000"/>
              </a:lnSpc>
            </a:pPr>
            <a:r>
              <a:rPr lang="en-US" altLang="zh-CN" dirty="0"/>
              <a:t>  pc -= 2;   </a:t>
            </a:r>
            <a:r>
              <a:rPr lang="en-US" altLang="zh-CN" sz="1800" dirty="0">
                <a:solidFill>
                  <a:srgbClr val="002060"/>
                </a:solidFill>
                <a:latin typeface="+mn-lt"/>
                <a:ea typeface="楷体" pitchFamily="49" charset="-122"/>
              </a:rPr>
              <a:t>// pc</a:t>
            </a:r>
            <a:r>
              <a:rPr lang="zh-CN" altLang="en-US" sz="1800" dirty="0">
                <a:solidFill>
                  <a:srgbClr val="002060"/>
                </a:solidFill>
                <a:latin typeface="+mn-lt"/>
                <a:ea typeface="楷体" pitchFamily="49" charset="-122"/>
              </a:rPr>
              <a:t>的值将是</a:t>
            </a:r>
            <a:r>
              <a:rPr lang="en-US" altLang="zh-CN" sz="1800" dirty="0">
                <a:solidFill>
                  <a:srgbClr val="002060"/>
                </a:solidFill>
                <a:latin typeface="+mn-lt"/>
                <a:ea typeface="楷体" pitchFamily="49" charset="-122"/>
              </a:rPr>
              <a:t>999</a:t>
            </a:r>
          </a:p>
          <a:p>
            <a:pPr>
              <a:lnSpc>
                <a:spcPct val="100000"/>
              </a:lnSpc>
            </a:pPr>
            <a:r>
              <a:rPr lang="en-US" altLang="zh-CN" dirty="0"/>
              <a:t>  pl++;       </a:t>
            </a:r>
            <a:r>
              <a:rPr lang="en-US" altLang="zh-CN" sz="1800" dirty="0">
                <a:solidFill>
                  <a:srgbClr val="002060"/>
                </a:solidFill>
                <a:latin typeface="+mn-lt"/>
                <a:ea typeface="楷体" pitchFamily="49" charset="-122"/>
              </a:rPr>
              <a:t>// pl</a:t>
            </a:r>
            <a:r>
              <a:rPr lang="zh-CN" altLang="en-US" sz="1800" dirty="0">
                <a:solidFill>
                  <a:srgbClr val="002060"/>
                </a:solidFill>
                <a:latin typeface="+mn-lt"/>
                <a:ea typeface="楷体" pitchFamily="49" charset="-122"/>
              </a:rPr>
              <a:t>的值将是</a:t>
            </a:r>
            <a:r>
              <a:rPr lang="en-US" altLang="zh-CN" sz="1800" dirty="0">
                <a:solidFill>
                  <a:srgbClr val="002060"/>
                </a:solidFill>
                <a:latin typeface="+mn-lt"/>
                <a:ea typeface="楷体" pitchFamily="49" charset="-122"/>
              </a:rPr>
              <a:t>1004</a:t>
            </a:r>
          </a:p>
          <a:p>
            <a:pPr>
              <a:lnSpc>
                <a:spcPct val="100000"/>
              </a:lnSpc>
            </a:pPr>
            <a:r>
              <a:rPr lang="en-US" altLang="zh-CN" dirty="0"/>
              <a:t>  pl -= 2;    </a:t>
            </a:r>
            <a:r>
              <a:rPr lang="en-US" altLang="zh-CN" sz="1800" dirty="0">
                <a:solidFill>
                  <a:srgbClr val="002060"/>
                </a:solidFill>
                <a:latin typeface="+mn-lt"/>
                <a:ea typeface="楷体" pitchFamily="49" charset="-122"/>
              </a:rPr>
              <a:t>// pi</a:t>
            </a:r>
            <a:r>
              <a:rPr lang="zh-CN" altLang="en-US" sz="1800" dirty="0">
                <a:solidFill>
                  <a:srgbClr val="002060"/>
                </a:solidFill>
                <a:latin typeface="+mn-lt"/>
                <a:ea typeface="楷体" pitchFamily="49" charset="-122"/>
              </a:rPr>
              <a:t>的值将是</a:t>
            </a:r>
            <a:r>
              <a:rPr lang="en-US" altLang="zh-CN" sz="1800" dirty="0">
                <a:solidFill>
                  <a:srgbClr val="002060"/>
                </a:solidFill>
                <a:latin typeface="+mn-lt"/>
                <a:ea typeface="楷体" pitchFamily="49" charset="-122"/>
              </a:rPr>
              <a:t>996</a:t>
            </a:r>
          </a:p>
        </p:txBody>
      </p:sp>
      <p:sp>
        <p:nvSpPr>
          <p:cNvPr id="1146892" name="Text Box 12"/>
          <p:cNvSpPr txBox="1">
            <a:spLocks noChangeArrowheads="1"/>
          </p:cNvSpPr>
          <p:nvPr/>
        </p:nvSpPr>
        <p:spPr bwMode="auto">
          <a:xfrm>
            <a:off x="1499794" y="5227786"/>
            <a:ext cx="9576271" cy="1225550"/>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dirty="0">
                <a:solidFill>
                  <a:srgbClr val="C00000"/>
                </a:solidFill>
                <a:latin typeface="隶书" pitchFamily="49" charset="-122"/>
                <a:ea typeface="隶书" pitchFamily="49" charset="-122"/>
              </a:rPr>
              <a:t>    </a:t>
            </a:r>
            <a:r>
              <a:rPr lang="zh-CN" altLang="en-US" dirty="0">
                <a:solidFill>
                  <a:srgbClr val="C00000"/>
                </a:solidFill>
                <a:latin typeface="隶书" pitchFamily="49" charset="-122"/>
                <a:ea typeface="隶书" pitchFamily="49" charset="-122"/>
              </a:rPr>
              <a:t>注意：</a:t>
            </a:r>
            <a:r>
              <a:rPr lang="zh-CN" altLang="en-US" dirty="0">
                <a:latin typeface="隶书" pitchFamily="49" charset="-122"/>
                <a:ea typeface="隶书" pitchFamily="49" charset="-122"/>
              </a:rPr>
              <a:t>两个指针相加没有任何意义，但两个指针相减则有一定的意义，可表示两指针之间所相差的内存单元数或元素的个数，在后面的学习中就会体会到。 </a:t>
            </a:r>
          </a:p>
        </p:txBody>
      </p:sp>
      <p:sp>
        <p:nvSpPr>
          <p:cNvPr id="13" name="Rectangle 4">
            <a:extLst>
              <a:ext uri="{FF2B5EF4-FFF2-40B4-BE49-F238E27FC236}">
                <a16:creationId xmlns:a16="http://schemas.microsoft.com/office/drawing/2014/main" id="{74ADDC5F-A3A2-4272-8255-A151D5DD017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指针和地址运算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6882">
                                            <p:txEl>
                                              <p:pRg st="0" end="0"/>
                                            </p:txEl>
                                          </p:spTgt>
                                        </p:tgtEl>
                                        <p:attrNameLst>
                                          <p:attrName>style.visibility</p:attrName>
                                        </p:attrNameLst>
                                      </p:cBhvr>
                                      <p:to>
                                        <p:strVal val="visible"/>
                                      </p:to>
                                    </p:set>
                                    <p:anim calcmode="lin" valueType="num">
                                      <p:cBhvr additive="base">
                                        <p:cTn id="7" dur="500" fill="hold"/>
                                        <p:tgtEl>
                                          <p:spTgt spid="114688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688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46887"/>
                                        </p:tgtEl>
                                        <p:attrNameLst>
                                          <p:attrName>style.visibility</p:attrName>
                                        </p:attrNameLst>
                                      </p:cBhvr>
                                      <p:to>
                                        <p:strVal val="visible"/>
                                      </p:to>
                                    </p:set>
                                    <p:animEffect transition="in" filter="box(in)">
                                      <p:cBhvr>
                                        <p:cTn id="13" dur="500"/>
                                        <p:tgtEl>
                                          <p:spTgt spid="1146887"/>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46888"/>
                                        </p:tgtEl>
                                        <p:attrNameLst>
                                          <p:attrName>style.visibility</p:attrName>
                                        </p:attrNameLst>
                                      </p:cBhvr>
                                      <p:to>
                                        <p:strVal val="visible"/>
                                      </p:to>
                                    </p:set>
                                    <p:animEffect transition="in" filter="box(out)">
                                      <p:cBhvr>
                                        <p:cTn id="18" dur="500"/>
                                        <p:tgtEl>
                                          <p:spTgt spid="1146888"/>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46890"/>
                                        </p:tgtEl>
                                        <p:attrNameLst>
                                          <p:attrName>style.visibility</p:attrName>
                                        </p:attrNameLst>
                                      </p:cBhvr>
                                      <p:to>
                                        <p:strVal val="visible"/>
                                      </p:to>
                                    </p:set>
                                    <p:animEffect transition="in" filter="box(out)">
                                      <p:cBhvr>
                                        <p:cTn id="23" dur="500"/>
                                        <p:tgtEl>
                                          <p:spTgt spid="1146890"/>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1146889"/>
                                        </p:tgtEl>
                                        <p:attrNameLst>
                                          <p:attrName>style.visibility</p:attrName>
                                        </p:attrNameLst>
                                      </p:cBhvr>
                                      <p:to>
                                        <p:strVal val="visible"/>
                                      </p:to>
                                    </p:set>
                                    <p:animEffect transition="in" filter="strips(downRight)">
                                      <p:cBhvr>
                                        <p:cTn id="28" dur="500"/>
                                        <p:tgtEl>
                                          <p:spTgt spid="1146889"/>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500"/>
                            </p:stCondLst>
                            <p:childTnLst>
                              <p:par>
                                <p:cTn id="30" presetID="4" presetClass="entr" presetSubtype="32" fill="hold" grpId="0" nodeType="afterEffect">
                                  <p:stCondLst>
                                    <p:cond delay="0"/>
                                  </p:stCondLst>
                                  <p:childTnLst>
                                    <p:set>
                                      <p:cBhvr>
                                        <p:cTn id="31" dur="1" fill="hold">
                                          <p:stCondLst>
                                            <p:cond delay="0"/>
                                          </p:stCondLst>
                                        </p:cTn>
                                        <p:tgtEl>
                                          <p:spTgt spid="1146891"/>
                                        </p:tgtEl>
                                        <p:attrNameLst>
                                          <p:attrName>style.visibility</p:attrName>
                                        </p:attrNameLst>
                                      </p:cBhvr>
                                      <p:to>
                                        <p:strVal val="visible"/>
                                      </p:to>
                                    </p:set>
                                    <p:animEffect transition="in" filter="box(out)">
                                      <p:cBhvr>
                                        <p:cTn id="32" dur="500"/>
                                        <p:tgtEl>
                                          <p:spTgt spid="1146891"/>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146892"/>
                                        </p:tgtEl>
                                        <p:attrNameLst>
                                          <p:attrName>style.visibility</p:attrName>
                                        </p:attrNameLst>
                                      </p:cBhvr>
                                      <p:to>
                                        <p:strVal val="visible"/>
                                      </p:to>
                                    </p:set>
                                    <p:animEffect transition="in" filter="box(out)">
                                      <p:cBhvr>
                                        <p:cTn id="37" dur="500"/>
                                        <p:tgtEl>
                                          <p:spTgt spid="1146892"/>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882" grpId="0" build="p" bldLvl="5" autoUpdateAnimBg="0"/>
      <p:bldP spid="1146887" grpId="0"/>
      <p:bldP spid="1146888" grpId="0" animBg="1"/>
      <p:bldP spid="1146889" grpId="0" animBg="1"/>
      <p:bldP spid="1146890" grpId="0" animBg="1"/>
      <p:bldP spid="1146891" grpId="0" animBg="1"/>
      <p:bldP spid="114689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906" name="Rectangle 2"/>
          <p:cNvSpPr>
            <a:spLocks noChangeArrowheads="1"/>
          </p:cNvSpPr>
          <p:nvPr/>
        </p:nvSpPr>
        <p:spPr bwMode="auto">
          <a:xfrm>
            <a:off x="623392" y="836985"/>
            <a:ext cx="3960813" cy="503237"/>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2</a:t>
            </a:r>
            <a:r>
              <a:rPr lang="zh-CN" altLang="en-US" sz="2800" b="1" dirty="0">
                <a:solidFill>
                  <a:srgbClr val="C00000"/>
                </a:solidFill>
                <a:latin typeface="+mn-lt"/>
                <a:ea typeface="楷体" pitchFamily="49" charset="-122"/>
                <a:sym typeface="Symbol" pitchFamily="18" charset="2"/>
              </a:rPr>
              <a:t>、指针变量的关系运算</a:t>
            </a:r>
          </a:p>
        </p:txBody>
      </p:sp>
      <p:sp>
        <p:nvSpPr>
          <p:cNvPr id="1147910" name="Rectangle 6"/>
          <p:cNvSpPr>
            <a:spLocks noChangeArrowheads="1"/>
          </p:cNvSpPr>
          <p:nvPr/>
        </p:nvSpPr>
        <p:spPr bwMode="auto">
          <a:xfrm>
            <a:off x="1282204" y="1454780"/>
            <a:ext cx="7477125" cy="4206468"/>
          </a:xfrm>
          <a:prstGeom prst="rect">
            <a:avLst/>
          </a:prstGeom>
          <a:noFill/>
          <a:ln w="9525">
            <a:noFill/>
            <a:miter lim="800000"/>
            <a:headEnd/>
            <a:tailEnd/>
          </a:ln>
          <a:effectLst/>
        </p:spPr>
        <p:txBody>
          <a:bodyPr/>
          <a:lstStyle/>
          <a:p>
            <a:pPr marL="342900" indent="-342900">
              <a:lnSpc>
                <a:spcPct val="150000"/>
              </a:lnSpc>
              <a:buFont typeface="Wingdings" pitchFamily="2" charset="2"/>
              <a:buChar char="l"/>
            </a:pPr>
            <a:r>
              <a:rPr lang="zh-CN" altLang="zh-CN" dirty="0">
                <a:latin typeface="+mn-lt"/>
                <a:ea typeface="楷体" pitchFamily="49" charset="-122"/>
                <a:sym typeface="Symbol" pitchFamily="18" charset="2"/>
              </a:rPr>
              <a:t>若</a:t>
            </a:r>
            <a:r>
              <a:rPr lang="en-US" altLang="zh-CN" dirty="0">
                <a:latin typeface="+mn-lt"/>
                <a:ea typeface="楷体" pitchFamily="49" charset="-122"/>
                <a:sym typeface="Symbol" pitchFamily="18" charset="2"/>
              </a:rPr>
              <a:t>p1</a:t>
            </a:r>
            <a:r>
              <a:rPr lang="zh-CN" altLang="zh-CN" dirty="0">
                <a:latin typeface="+mn-lt"/>
                <a:ea typeface="楷体" pitchFamily="49" charset="-122"/>
                <a:sym typeface="Symbol" pitchFamily="18" charset="2"/>
              </a:rPr>
              <a:t>和</a:t>
            </a:r>
            <a:r>
              <a:rPr lang="en-US" altLang="zh-CN" dirty="0">
                <a:latin typeface="+mn-lt"/>
                <a:ea typeface="楷体" pitchFamily="49" charset="-122"/>
                <a:sym typeface="Symbol" pitchFamily="18" charset="2"/>
              </a:rPr>
              <a:t>p2</a:t>
            </a:r>
            <a:r>
              <a:rPr lang="zh-CN" altLang="zh-CN" dirty="0">
                <a:latin typeface="+mn-lt"/>
                <a:ea typeface="楷体" pitchFamily="49" charset="-122"/>
                <a:sym typeface="Symbol" pitchFamily="18" charset="2"/>
              </a:rPr>
              <a:t>指向同一数组，则</a:t>
            </a:r>
          </a:p>
          <a:p>
            <a:pPr marL="742950" lvl="1" indent="-285750">
              <a:lnSpc>
                <a:spcPct val="150000"/>
              </a:lnSpc>
              <a:buFont typeface="Wingdings" pitchFamily="2" charset="2"/>
              <a:buChar char="ü"/>
            </a:pPr>
            <a:r>
              <a:rPr lang="zh-CN" altLang="en-US" dirty="0">
                <a:latin typeface="+mn-lt"/>
                <a:ea typeface="楷体" pitchFamily="49" charset="-122"/>
                <a:sym typeface="Symbol" pitchFamily="18" charset="2"/>
              </a:rPr>
              <a:t> </a:t>
            </a:r>
            <a:r>
              <a:rPr lang="en-US" altLang="zh-CN" dirty="0">
                <a:latin typeface="+mn-lt"/>
                <a:ea typeface="楷体" pitchFamily="49" charset="-122"/>
                <a:sym typeface="Symbol" pitchFamily="18" charset="2"/>
              </a:rPr>
              <a:t>p1&lt;p2    </a:t>
            </a:r>
            <a:r>
              <a:rPr lang="zh-CN" altLang="zh-CN" dirty="0">
                <a:latin typeface="+mn-lt"/>
                <a:ea typeface="楷体" pitchFamily="49" charset="-122"/>
                <a:sym typeface="Symbol" pitchFamily="18" charset="2"/>
              </a:rPr>
              <a:t>表示</a:t>
            </a:r>
            <a:r>
              <a:rPr lang="en-US" altLang="zh-CN" dirty="0">
                <a:latin typeface="+mn-lt"/>
                <a:ea typeface="楷体" pitchFamily="49" charset="-122"/>
                <a:sym typeface="Symbol" pitchFamily="18" charset="2"/>
              </a:rPr>
              <a:t>p1</a:t>
            </a:r>
            <a:r>
              <a:rPr lang="zh-CN" altLang="zh-CN" dirty="0">
                <a:latin typeface="+mn-lt"/>
                <a:ea typeface="楷体" pitchFamily="49" charset="-122"/>
                <a:sym typeface="Symbol" pitchFamily="18" charset="2"/>
              </a:rPr>
              <a:t>指的元素在前</a:t>
            </a:r>
          </a:p>
          <a:p>
            <a:pPr marL="742950" lvl="1" indent="-285750">
              <a:lnSpc>
                <a:spcPct val="150000"/>
              </a:lnSpc>
              <a:buFont typeface="Wingdings" pitchFamily="2" charset="2"/>
              <a:buChar char="ü"/>
            </a:pPr>
            <a:r>
              <a:rPr lang="zh-CN" altLang="en-US" dirty="0">
                <a:latin typeface="+mn-lt"/>
                <a:ea typeface="楷体" pitchFamily="49" charset="-122"/>
                <a:sym typeface="Symbol" pitchFamily="18" charset="2"/>
              </a:rPr>
              <a:t> </a:t>
            </a:r>
            <a:r>
              <a:rPr lang="en-US" altLang="zh-CN" dirty="0">
                <a:latin typeface="+mn-lt"/>
                <a:ea typeface="楷体" pitchFamily="49" charset="-122"/>
                <a:sym typeface="Symbol" pitchFamily="18" charset="2"/>
              </a:rPr>
              <a:t>p1&gt;p2    </a:t>
            </a:r>
            <a:r>
              <a:rPr lang="zh-CN" altLang="zh-CN" dirty="0">
                <a:latin typeface="+mn-lt"/>
                <a:ea typeface="楷体" pitchFamily="49" charset="-122"/>
                <a:sym typeface="Symbol" pitchFamily="18" charset="2"/>
              </a:rPr>
              <a:t>表示</a:t>
            </a:r>
            <a:r>
              <a:rPr lang="en-US" altLang="zh-CN" dirty="0">
                <a:latin typeface="+mn-lt"/>
                <a:ea typeface="楷体" pitchFamily="49" charset="-122"/>
                <a:sym typeface="Symbol" pitchFamily="18" charset="2"/>
              </a:rPr>
              <a:t>p1</a:t>
            </a:r>
            <a:r>
              <a:rPr lang="zh-CN" altLang="zh-CN" dirty="0">
                <a:latin typeface="+mn-lt"/>
                <a:ea typeface="楷体" pitchFamily="49" charset="-122"/>
                <a:sym typeface="Symbol" pitchFamily="18" charset="2"/>
              </a:rPr>
              <a:t>指的元素在后</a:t>
            </a:r>
          </a:p>
          <a:p>
            <a:pPr marL="742950" lvl="1" indent="-285750">
              <a:lnSpc>
                <a:spcPct val="150000"/>
              </a:lnSpc>
              <a:buFont typeface="Wingdings" pitchFamily="2" charset="2"/>
              <a:buChar char="ü"/>
            </a:pPr>
            <a:r>
              <a:rPr lang="zh-CN" altLang="en-US" dirty="0">
                <a:latin typeface="+mn-lt"/>
                <a:ea typeface="楷体" pitchFamily="49" charset="-122"/>
                <a:sym typeface="Symbol" pitchFamily="18" charset="2"/>
              </a:rPr>
              <a:t> </a:t>
            </a:r>
            <a:r>
              <a:rPr lang="en-US" altLang="zh-CN" dirty="0">
                <a:latin typeface="+mn-lt"/>
                <a:ea typeface="楷体" pitchFamily="49" charset="-122"/>
                <a:sym typeface="Symbol" pitchFamily="18" charset="2"/>
              </a:rPr>
              <a:t>p1==p2   </a:t>
            </a:r>
            <a:r>
              <a:rPr lang="zh-CN" altLang="zh-CN" dirty="0">
                <a:latin typeface="+mn-lt"/>
                <a:ea typeface="楷体" pitchFamily="49" charset="-122"/>
                <a:sym typeface="Symbol" pitchFamily="18" charset="2"/>
              </a:rPr>
              <a:t>表示</a:t>
            </a:r>
            <a:r>
              <a:rPr lang="en-US" altLang="zh-CN" dirty="0">
                <a:latin typeface="+mn-lt"/>
                <a:ea typeface="楷体" pitchFamily="49" charset="-122"/>
                <a:sym typeface="Symbol" pitchFamily="18" charset="2"/>
              </a:rPr>
              <a:t>p1</a:t>
            </a:r>
            <a:r>
              <a:rPr lang="zh-CN" altLang="zh-CN" dirty="0">
                <a:latin typeface="+mn-lt"/>
                <a:ea typeface="楷体" pitchFamily="49" charset="-122"/>
                <a:sym typeface="Symbol" pitchFamily="18" charset="2"/>
              </a:rPr>
              <a:t>与</a:t>
            </a:r>
            <a:r>
              <a:rPr lang="en-US" altLang="zh-CN" dirty="0">
                <a:latin typeface="+mn-lt"/>
                <a:ea typeface="楷体" pitchFamily="49" charset="-122"/>
                <a:sym typeface="Symbol" pitchFamily="18" charset="2"/>
              </a:rPr>
              <a:t>p2</a:t>
            </a:r>
            <a:r>
              <a:rPr lang="zh-CN" altLang="zh-CN" dirty="0">
                <a:latin typeface="+mn-lt"/>
                <a:ea typeface="楷体" pitchFamily="49" charset="-122"/>
                <a:sym typeface="Symbol" pitchFamily="18" charset="2"/>
              </a:rPr>
              <a:t>指向同一元素</a:t>
            </a:r>
            <a:endParaRPr lang="en-US" altLang="zh-CN" dirty="0">
              <a:latin typeface="+mn-lt"/>
              <a:ea typeface="楷体" pitchFamily="49" charset="-122"/>
              <a:sym typeface="Symbol" pitchFamily="18" charset="2"/>
            </a:endParaRPr>
          </a:p>
          <a:p>
            <a:pPr marL="742950" lvl="1" indent="-285750">
              <a:lnSpc>
                <a:spcPct val="100000"/>
              </a:lnSpc>
              <a:buFont typeface="Wingdings" pitchFamily="2" charset="2"/>
              <a:buChar char="ü"/>
            </a:pPr>
            <a:endParaRPr lang="zh-CN" altLang="zh-CN" dirty="0">
              <a:latin typeface="+mn-lt"/>
              <a:ea typeface="楷体" pitchFamily="49" charset="-122"/>
              <a:sym typeface="Symbol" pitchFamily="18" charset="2"/>
            </a:endParaRPr>
          </a:p>
          <a:p>
            <a:pPr marL="342900" indent="-342900">
              <a:lnSpc>
                <a:spcPct val="100000"/>
              </a:lnSpc>
              <a:buFont typeface="Wingdings" pitchFamily="2" charset="2"/>
              <a:buChar char="l"/>
            </a:pPr>
            <a:r>
              <a:rPr lang="zh-CN" altLang="en-US" dirty="0">
                <a:latin typeface="+mn-lt"/>
                <a:ea typeface="楷体" pitchFamily="49" charset="-122"/>
                <a:sym typeface="Symbol" pitchFamily="18" charset="2"/>
              </a:rPr>
              <a:t>若</a:t>
            </a:r>
            <a:r>
              <a:rPr lang="en-US" altLang="zh-CN" dirty="0">
                <a:latin typeface="+mn-lt"/>
                <a:ea typeface="楷体" pitchFamily="49" charset="-122"/>
                <a:sym typeface="Symbol" pitchFamily="18" charset="2"/>
              </a:rPr>
              <a:t>p1</a:t>
            </a:r>
            <a:r>
              <a:rPr lang="zh-CN" altLang="zh-CN" dirty="0">
                <a:latin typeface="+mn-lt"/>
                <a:ea typeface="楷体" pitchFamily="49" charset="-122"/>
                <a:sym typeface="Symbol" pitchFamily="18" charset="2"/>
              </a:rPr>
              <a:t>与</a:t>
            </a:r>
            <a:r>
              <a:rPr lang="en-US" altLang="zh-CN" dirty="0">
                <a:latin typeface="+mn-lt"/>
                <a:ea typeface="楷体" pitchFamily="49" charset="-122"/>
                <a:sym typeface="Symbol" pitchFamily="18" charset="2"/>
              </a:rPr>
              <a:t>p2</a:t>
            </a:r>
            <a:r>
              <a:rPr lang="zh-CN" altLang="zh-CN" dirty="0">
                <a:latin typeface="+mn-lt"/>
                <a:ea typeface="楷体" pitchFamily="49" charset="-122"/>
                <a:sym typeface="Symbol" pitchFamily="18" charset="2"/>
              </a:rPr>
              <a:t>不指向同一数组，比较无意义</a:t>
            </a:r>
            <a:endParaRPr lang="en-US" altLang="zh-CN" dirty="0">
              <a:latin typeface="+mn-lt"/>
              <a:ea typeface="楷体" pitchFamily="49" charset="-122"/>
              <a:sym typeface="Symbol" pitchFamily="18" charset="2"/>
            </a:endParaRPr>
          </a:p>
          <a:p>
            <a:pPr marL="342900" indent="-342900">
              <a:lnSpc>
                <a:spcPct val="100000"/>
              </a:lnSpc>
              <a:buFont typeface="Wingdings" pitchFamily="2" charset="2"/>
              <a:buChar char="l"/>
            </a:pPr>
            <a:endParaRPr lang="zh-CN" altLang="zh-CN" dirty="0">
              <a:latin typeface="+mn-lt"/>
              <a:ea typeface="楷体" pitchFamily="49" charset="-122"/>
              <a:sym typeface="Symbol" pitchFamily="18" charset="2"/>
            </a:endParaRPr>
          </a:p>
          <a:p>
            <a:pPr marL="342900" indent="-342900">
              <a:lnSpc>
                <a:spcPct val="100000"/>
              </a:lnSpc>
              <a:buFont typeface="Wingdings" pitchFamily="2" charset="2"/>
              <a:buChar char="l"/>
            </a:pPr>
            <a:r>
              <a:rPr lang="en-US" altLang="zh-CN" dirty="0">
                <a:latin typeface="+mn-lt"/>
                <a:ea typeface="楷体" pitchFamily="49" charset="-122"/>
                <a:sym typeface="Symbol" pitchFamily="18" charset="2"/>
              </a:rPr>
              <a:t>p==NULL</a:t>
            </a:r>
            <a:r>
              <a:rPr lang="zh-CN" altLang="zh-CN" dirty="0">
                <a:latin typeface="+mn-lt"/>
                <a:ea typeface="楷体" pitchFamily="49" charset="-122"/>
                <a:sym typeface="Symbol" pitchFamily="18" charset="2"/>
              </a:rPr>
              <a:t>或</a:t>
            </a:r>
            <a:r>
              <a:rPr lang="en-US" altLang="zh-CN" dirty="0">
                <a:latin typeface="+mn-lt"/>
                <a:ea typeface="楷体" pitchFamily="49" charset="-122"/>
                <a:sym typeface="Symbol" pitchFamily="18" charset="2"/>
              </a:rPr>
              <a:t>p!=NULL</a:t>
            </a:r>
            <a:endParaRPr lang="en-US" altLang="zh-CN" dirty="0">
              <a:latin typeface="+mn-lt"/>
              <a:ea typeface="楷体" pitchFamily="49" charset="-122"/>
            </a:endParaRPr>
          </a:p>
        </p:txBody>
      </p:sp>
      <p:sp>
        <p:nvSpPr>
          <p:cNvPr id="7" name="Rectangle 4">
            <a:extLst>
              <a:ext uri="{FF2B5EF4-FFF2-40B4-BE49-F238E27FC236}">
                <a16:creationId xmlns:a16="http://schemas.microsoft.com/office/drawing/2014/main" id="{6BF57B0F-44C5-4A1C-BCFD-D7F876A48E05}"/>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指针和地址运算 </a:t>
            </a:r>
          </a:p>
        </p:txBody>
      </p:sp>
      <p:sp>
        <p:nvSpPr>
          <p:cNvPr id="8" name="iconfont-11122-3643364">
            <a:extLst>
              <a:ext uri="{FF2B5EF4-FFF2-40B4-BE49-F238E27FC236}">
                <a16:creationId xmlns:a16="http://schemas.microsoft.com/office/drawing/2014/main" id="{8CF6ED55-87ED-4178-B946-60F07D2C2640}"/>
              </a:ext>
            </a:extLst>
          </p:cNvPr>
          <p:cNvSpPr/>
          <p:nvPr/>
        </p:nvSpPr>
        <p:spPr>
          <a:xfrm>
            <a:off x="7018853" y="1605393"/>
            <a:ext cx="3902392" cy="3905242"/>
          </a:xfrm>
          <a:custGeom>
            <a:avLst/>
            <a:gdLst>
              <a:gd name="T0" fmla="*/ 8093 w 11400"/>
              <a:gd name="T1" fmla="*/ 3188 h 11410"/>
              <a:gd name="T2" fmla="*/ 4698 w 11400"/>
              <a:gd name="T3" fmla="*/ 4653 h 11410"/>
              <a:gd name="T4" fmla="*/ 4557 w 11400"/>
              <a:gd name="T5" fmla="*/ 4795 h 11410"/>
              <a:gd name="T6" fmla="*/ 2994 w 11400"/>
              <a:gd name="T7" fmla="*/ 7930 h 11410"/>
              <a:gd name="T8" fmla="*/ 3059 w 11400"/>
              <a:gd name="T9" fmla="*/ 8310 h 11410"/>
              <a:gd name="T10" fmla="*/ 3286 w 11400"/>
              <a:gd name="T11" fmla="*/ 8407 h 11410"/>
              <a:gd name="T12" fmla="*/ 3428 w 11400"/>
              <a:gd name="T13" fmla="*/ 8374 h 11410"/>
              <a:gd name="T14" fmla="*/ 6747 w 11400"/>
              <a:gd name="T15" fmla="*/ 6997 h 11410"/>
              <a:gd name="T16" fmla="*/ 6888 w 11400"/>
              <a:gd name="T17" fmla="*/ 6867 h 11410"/>
              <a:gd name="T18" fmla="*/ 8525 w 11400"/>
              <a:gd name="T19" fmla="*/ 3646 h 11410"/>
              <a:gd name="T20" fmla="*/ 8472 w 11400"/>
              <a:gd name="T21" fmla="*/ 3256 h 11410"/>
              <a:gd name="T22" fmla="*/ 8093 w 11400"/>
              <a:gd name="T23" fmla="*/ 3188 h 11410"/>
              <a:gd name="T24" fmla="*/ 4025 w 11400"/>
              <a:gd name="T25" fmla="*/ 7365 h 11410"/>
              <a:gd name="T26" fmla="*/ 4969 w 11400"/>
              <a:gd name="T27" fmla="*/ 5433 h 11410"/>
              <a:gd name="T28" fmla="*/ 5924 w 11400"/>
              <a:gd name="T29" fmla="*/ 6627 h 11410"/>
              <a:gd name="T30" fmla="*/ 4025 w 11400"/>
              <a:gd name="T31" fmla="*/ 7365 h 11410"/>
              <a:gd name="T32" fmla="*/ 6488 w 11400"/>
              <a:gd name="T33" fmla="*/ 6226 h 11410"/>
              <a:gd name="T34" fmla="*/ 5523 w 11400"/>
              <a:gd name="T35" fmla="*/ 5011 h 11410"/>
              <a:gd name="T36" fmla="*/ 7442 w 11400"/>
              <a:gd name="T37" fmla="*/ 4262 h 11410"/>
              <a:gd name="T38" fmla="*/ 6488 w 11400"/>
              <a:gd name="T39" fmla="*/ 6226 h 11410"/>
              <a:gd name="T40" fmla="*/ 7854 w 11400"/>
              <a:gd name="T41" fmla="*/ 596 h 11410"/>
              <a:gd name="T42" fmla="*/ 3537 w 11400"/>
              <a:gd name="T43" fmla="*/ 596 h 11410"/>
              <a:gd name="T44" fmla="*/ 575 w 11400"/>
              <a:gd name="T45" fmla="*/ 3546 h 11410"/>
              <a:gd name="T46" fmla="*/ 575 w 11400"/>
              <a:gd name="T47" fmla="*/ 7863 h 11410"/>
              <a:gd name="T48" fmla="*/ 3537 w 11400"/>
              <a:gd name="T49" fmla="*/ 10813 h 11410"/>
              <a:gd name="T50" fmla="*/ 7854 w 11400"/>
              <a:gd name="T51" fmla="*/ 10813 h 11410"/>
              <a:gd name="T52" fmla="*/ 10804 w 11400"/>
              <a:gd name="T53" fmla="*/ 7863 h 11410"/>
              <a:gd name="T54" fmla="*/ 10804 w 11400"/>
              <a:gd name="T55" fmla="*/ 3546 h 11410"/>
              <a:gd name="T56" fmla="*/ 7854 w 11400"/>
              <a:gd name="T57" fmla="*/ 596 h 11410"/>
              <a:gd name="T58" fmla="*/ 5695 w 11400"/>
              <a:gd name="T59" fmla="*/ 10576 h 11410"/>
              <a:gd name="T60" fmla="*/ 835 w 11400"/>
              <a:gd name="T61" fmla="*/ 5706 h 11410"/>
              <a:gd name="T62" fmla="*/ 3808 w 11400"/>
              <a:gd name="T63" fmla="*/ 1237 h 11410"/>
              <a:gd name="T64" fmla="*/ 9134 w 11400"/>
              <a:gd name="T65" fmla="*/ 2267 h 11410"/>
              <a:gd name="T66" fmla="*/ 10164 w 11400"/>
              <a:gd name="T67" fmla="*/ 7593 h 11410"/>
              <a:gd name="T68" fmla="*/ 5695 w 11400"/>
              <a:gd name="T69" fmla="*/ 10576 h 11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400" h="11410">
                <a:moveTo>
                  <a:pt x="8093" y="3188"/>
                </a:moveTo>
                <a:lnTo>
                  <a:pt x="4698" y="4653"/>
                </a:lnTo>
                <a:cubicBezTo>
                  <a:pt x="4633" y="4686"/>
                  <a:pt x="4589" y="4730"/>
                  <a:pt x="4557" y="4795"/>
                </a:cubicBezTo>
                <a:lnTo>
                  <a:pt x="2994" y="7930"/>
                </a:lnTo>
                <a:cubicBezTo>
                  <a:pt x="2929" y="8071"/>
                  <a:pt x="2950" y="8201"/>
                  <a:pt x="3059" y="8310"/>
                </a:cubicBezTo>
                <a:cubicBezTo>
                  <a:pt x="3124" y="8375"/>
                  <a:pt x="3189" y="8407"/>
                  <a:pt x="3286" y="8407"/>
                </a:cubicBezTo>
                <a:cubicBezTo>
                  <a:pt x="3340" y="8407"/>
                  <a:pt x="3384" y="8396"/>
                  <a:pt x="3428" y="8374"/>
                </a:cubicBezTo>
                <a:lnTo>
                  <a:pt x="6747" y="6997"/>
                </a:lnTo>
                <a:cubicBezTo>
                  <a:pt x="6823" y="6964"/>
                  <a:pt x="6844" y="6911"/>
                  <a:pt x="6888" y="6867"/>
                </a:cubicBezTo>
                <a:lnTo>
                  <a:pt x="8525" y="3646"/>
                </a:lnTo>
                <a:cubicBezTo>
                  <a:pt x="8602" y="3504"/>
                  <a:pt x="8590" y="3374"/>
                  <a:pt x="8472" y="3256"/>
                </a:cubicBezTo>
                <a:cubicBezTo>
                  <a:pt x="8364" y="3134"/>
                  <a:pt x="8234" y="3112"/>
                  <a:pt x="8093" y="3188"/>
                </a:cubicBezTo>
                <a:close/>
                <a:moveTo>
                  <a:pt x="4025" y="7365"/>
                </a:moveTo>
                <a:lnTo>
                  <a:pt x="4969" y="5433"/>
                </a:lnTo>
                <a:lnTo>
                  <a:pt x="5924" y="6627"/>
                </a:lnTo>
                <a:cubicBezTo>
                  <a:pt x="5923" y="6627"/>
                  <a:pt x="4025" y="7365"/>
                  <a:pt x="4025" y="7365"/>
                </a:cubicBezTo>
                <a:close/>
                <a:moveTo>
                  <a:pt x="6488" y="6226"/>
                </a:moveTo>
                <a:lnTo>
                  <a:pt x="5523" y="5011"/>
                </a:lnTo>
                <a:lnTo>
                  <a:pt x="7442" y="4262"/>
                </a:lnTo>
                <a:lnTo>
                  <a:pt x="6488" y="6226"/>
                </a:lnTo>
                <a:close/>
                <a:moveTo>
                  <a:pt x="7854" y="596"/>
                </a:moveTo>
                <a:cubicBezTo>
                  <a:pt x="6477" y="0"/>
                  <a:pt x="4914" y="0"/>
                  <a:pt x="3537" y="596"/>
                </a:cubicBezTo>
                <a:cubicBezTo>
                  <a:pt x="2159" y="1171"/>
                  <a:pt x="1172" y="2168"/>
                  <a:pt x="575" y="3546"/>
                </a:cubicBezTo>
                <a:cubicBezTo>
                  <a:pt x="0" y="4923"/>
                  <a:pt x="0" y="6486"/>
                  <a:pt x="575" y="7863"/>
                </a:cubicBezTo>
                <a:cubicBezTo>
                  <a:pt x="1172" y="9241"/>
                  <a:pt x="2159" y="10238"/>
                  <a:pt x="3537" y="10813"/>
                </a:cubicBezTo>
                <a:cubicBezTo>
                  <a:pt x="4914" y="11410"/>
                  <a:pt x="6476" y="11410"/>
                  <a:pt x="7854" y="10813"/>
                </a:cubicBezTo>
                <a:cubicBezTo>
                  <a:pt x="9232" y="10238"/>
                  <a:pt x="10229" y="9241"/>
                  <a:pt x="10804" y="7863"/>
                </a:cubicBezTo>
                <a:cubicBezTo>
                  <a:pt x="11400" y="6486"/>
                  <a:pt x="11400" y="4923"/>
                  <a:pt x="10804" y="3546"/>
                </a:cubicBezTo>
                <a:cubicBezTo>
                  <a:pt x="10229" y="2170"/>
                  <a:pt x="9232" y="1171"/>
                  <a:pt x="7854" y="596"/>
                </a:cubicBezTo>
                <a:close/>
                <a:moveTo>
                  <a:pt x="5695" y="10576"/>
                </a:moveTo>
                <a:cubicBezTo>
                  <a:pt x="3005" y="10576"/>
                  <a:pt x="835" y="8385"/>
                  <a:pt x="835" y="5706"/>
                </a:cubicBezTo>
                <a:cubicBezTo>
                  <a:pt x="847" y="3710"/>
                  <a:pt x="2039" y="1942"/>
                  <a:pt x="3808" y="1237"/>
                </a:cubicBezTo>
                <a:cubicBezTo>
                  <a:pt x="5587" y="412"/>
                  <a:pt x="7864" y="944"/>
                  <a:pt x="9134" y="2267"/>
                </a:cubicBezTo>
                <a:cubicBezTo>
                  <a:pt x="10458" y="3536"/>
                  <a:pt x="10989" y="5815"/>
                  <a:pt x="10164" y="7593"/>
                </a:cubicBezTo>
                <a:cubicBezTo>
                  <a:pt x="9459" y="9361"/>
                  <a:pt x="7692" y="10565"/>
                  <a:pt x="5695" y="10576"/>
                </a:cubicBezTo>
                <a:close/>
              </a:path>
            </a:pathLst>
          </a:cu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7906">
                                            <p:txEl>
                                              <p:pRg st="0" end="0"/>
                                            </p:txEl>
                                          </p:spTgt>
                                        </p:tgtEl>
                                        <p:attrNameLst>
                                          <p:attrName>style.visibility</p:attrName>
                                        </p:attrNameLst>
                                      </p:cBhvr>
                                      <p:to>
                                        <p:strVal val="visible"/>
                                      </p:to>
                                    </p:set>
                                    <p:anim calcmode="lin" valueType="num">
                                      <p:cBhvr additive="base">
                                        <p:cTn id="7" dur="500" fill="hold"/>
                                        <p:tgtEl>
                                          <p:spTgt spid="114790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790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47910">
                                            <p:txEl>
                                              <p:pRg st="0" end="0"/>
                                            </p:txEl>
                                          </p:spTgt>
                                        </p:tgtEl>
                                        <p:attrNameLst>
                                          <p:attrName>style.visibility</p:attrName>
                                        </p:attrNameLst>
                                      </p:cBhvr>
                                      <p:to>
                                        <p:strVal val="visible"/>
                                      </p:to>
                                    </p:set>
                                    <p:anim calcmode="lin" valueType="num">
                                      <p:cBhvr additive="base">
                                        <p:cTn id="13" dur="500" fill="hold"/>
                                        <p:tgtEl>
                                          <p:spTgt spid="1147910">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4791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47910">
                                            <p:txEl>
                                              <p:pRg st="1" end="1"/>
                                            </p:txEl>
                                          </p:spTgt>
                                        </p:tgtEl>
                                        <p:attrNameLst>
                                          <p:attrName>style.visibility</p:attrName>
                                        </p:attrNameLst>
                                      </p:cBhvr>
                                      <p:to>
                                        <p:strVal val="visible"/>
                                      </p:to>
                                    </p:set>
                                    <p:anim calcmode="lin" valueType="num">
                                      <p:cBhvr additive="base">
                                        <p:cTn id="19" dur="500" fill="hold"/>
                                        <p:tgtEl>
                                          <p:spTgt spid="1147910">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4791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47910">
                                            <p:txEl>
                                              <p:pRg st="2" end="2"/>
                                            </p:txEl>
                                          </p:spTgt>
                                        </p:tgtEl>
                                        <p:attrNameLst>
                                          <p:attrName>style.visibility</p:attrName>
                                        </p:attrNameLst>
                                      </p:cBhvr>
                                      <p:to>
                                        <p:strVal val="visible"/>
                                      </p:to>
                                    </p:set>
                                    <p:anim calcmode="lin" valueType="num">
                                      <p:cBhvr additive="base">
                                        <p:cTn id="25" dur="500" fill="hold"/>
                                        <p:tgtEl>
                                          <p:spTgt spid="1147910">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47910">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47910">
                                            <p:txEl>
                                              <p:pRg st="3" end="3"/>
                                            </p:txEl>
                                          </p:spTgt>
                                        </p:tgtEl>
                                        <p:attrNameLst>
                                          <p:attrName>style.visibility</p:attrName>
                                        </p:attrNameLst>
                                      </p:cBhvr>
                                      <p:to>
                                        <p:strVal val="visible"/>
                                      </p:to>
                                    </p:set>
                                    <p:anim calcmode="lin" valueType="num">
                                      <p:cBhvr additive="base">
                                        <p:cTn id="31" dur="500" fill="hold"/>
                                        <p:tgtEl>
                                          <p:spTgt spid="1147910">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47910">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47910">
                                            <p:txEl>
                                              <p:pRg st="5" end="5"/>
                                            </p:txEl>
                                          </p:spTgt>
                                        </p:tgtEl>
                                        <p:attrNameLst>
                                          <p:attrName>style.visibility</p:attrName>
                                        </p:attrNameLst>
                                      </p:cBhvr>
                                      <p:to>
                                        <p:strVal val="visible"/>
                                      </p:to>
                                    </p:set>
                                    <p:anim calcmode="lin" valueType="num">
                                      <p:cBhvr additive="base">
                                        <p:cTn id="37" dur="500" fill="hold"/>
                                        <p:tgtEl>
                                          <p:spTgt spid="1147910">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47910">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147910">
                                            <p:txEl>
                                              <p:pRg st="7" end="7"/>
                                            </p:txEl>
                                          </p:spTgt>
                                        </p:tgtEl>
                                        <p:attrNameLst>
                                          <p:attrName>style.visibility</p:attrName>
                                        </p:attrNameLst>
                                      </p:cBhvr>
                                      <p:to>
                                        <p:strVal val="visible"/>
                                      </p:to>
                                    </p:set>
                                    <p:anim calcmode="lin" valueType="num">
                                      <p:cBhvr additive="base">
                                        <p:cTn id="43" dur="500" fill="hold"/>
                                        <p:tgtEl>
                                          <p:spTgt spid="1147910">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147910">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906" grpId="0" build="p" bldLvl="5" autoUpdateAnimBg="0"/>
      <p:bldP spid="1147910" grpId="0" uiExpand="1" build="p" bldLvl="5"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8930" name="Rectangle 2"/>
          <p:cNvSpPr>
            <a:spLocks noChangeArrowheads="1"/>
          </p:cNvSpPr>
          <p:nvPr/>
        </p:nvSpPr>
        <p:spPr bwMode="auto">
          <a:xfrm>
            <a:off x="622300" y="772942"/>
            <a:ext cx="2521372" cy="503238"/>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1</a:t>
            </a:r>
            <a:r>
              <a:rPr lang="zh-CN" altLang="en-US" sz="2800" b="1" dirty="0">
                <a:solidFill>
                  <a:srgbClr val="C00000"/>
                </a:solidFill>
                <a:latin typeface="+mn-lt"/>
                <a:ea typeface="楷体" pitchFamily="49" charset="-122"/>
                <a:sym typeface="Symbol" pitchFamily="18" charset="2"/>
              </a:rPr>
              <a:t>、数组的指针</a:t>
            </a:r>
          </a:p>
        </p:txBody>
      </p:sp>
      <p:sp>
        <p:nvSpPr>
          <p:cNvPr id="1148935" name="Rectangle 7" descr="信纸"/>
          <p:cNvSpPr>
            <a:spLocks noChangeArrowheads="1"/>
          </p:cNvSpPr>
          <p:nvPr/>
        </p:nvSpPr>
        <p:spPr bwMode="auto">
          <a:xfrm>
            <a:off x="839416" y="1284451"/>
            <a:ext cx="10513168" cy="833178"/>
          </a:xfrm>
          <a:prstGeom prst="rect">
            <a:avLst/>
          </a:prstGeom>
          <a:noFill/>
          <a:ln w="38100" algn="ctr">
            <a:noFill/>
            <a:miter lim="800000"/>
            <a:headEnd/>
            <a:tailEnd/>
          </a:ln>
          <a:effectLst/>
        </p:spPr>
        <p:txBody>
          <a:bodyPr wrap="square" lIns="90000" tIns="46800" rIns="90000" bIns="46800" anchor="ctr">
            <a:spAutoFit/>
          </a:bodyPr>
          <a:lstStyle/>
          <a:p>
            <a:pPr>
              <a:lnSpc>
                <a:spcPct val="100000"/>
              </a:lnSpc>
            </a:pPr>
            <a:r>
              <a:rPr lang="en-US" altLang="zh-CN" dirty="0">
                <a:latin typeface="+mn-lt"/>
                <a:ea typeface="楷体" pitchFamily="49" charset="-122"/>
              </a:rPr>
              <a:t>        </a:t>
            </a:r>
            <a:r>
              <a:rPr lang="zh-CN" altLang="en-US" dirty="0">
                <a:solidFill>
                  <a:srgbClr val="C00000"/>
                </a:solidFill>
                <a:latin typeface="+mn-lt"/>
                <a:ea typeface="楷体" pitchFamily="49" charset="-122"/>
              </a:rPr>
              <a:t>数组的指针</a:t>
            </a:r>
            <a:r>
              <a:rPr lang="zh-CN" altLang="en-US" dirty="0">
                <a:latin typeface="+mn-lt"/>
                <a:ea typeface="楷体" pitchFamily="49" charset="-122"/>
              </a:rPr>
              <a:t>其实就是</a:t>
            </a:r>
            <a:r>
              <a:rPr lang="zh-CN" altLang="en-US" dirty="0">
                <a:solidFill>
                  <a:schemeClr val="accent1">
                    <a:lumMod val="50000"/>
                  </a:schemeClr>
                </a:solidFill>
                <a:latin typeface="+mn-lt"/>
                <a:ea typeface="楷体" pitchFamily="49" charset="-122"/>
              </a:rPr>
              <a:t>数组在内存中的起始地址</a:t>
            </a:r>
            <a:r>
              <a:rPr lang="zh-CN" altLang="en-US" dirty="0">
                <a:latin typeface="+mn-lt"/>
                <a:ea typeface="楷体" pitchFamily="49" charset="-122"/>
              </a:rPr>
              <a:t>。而数组在内存中的起始地址就是数组变量名，也就是数组第一个元素在内存中的地址。 </a:t>
            </a:r>
          </a:p>
        </p:txBody>
      </p:sp>
      <p:grpSp>
        <p:nvGrpSpPr>
          <p:cNvPr id="1148989" name="Group 61"/>
          <p:cNvGrpSpPr>
            <a:grpSpLocks/>
          </p:cNvGrpSpPr>
          <p:nvPr/>
        </p:nvGrpSpPr>
        <p:grpSpPr bwMode="auto">
          <a:xfrm>
            <a:off x="1485025" y="2659335"/>
            <a:ext cx="3894138" cy="3857626"/>
            <a:chOff x="2876" y="1569"/>
            <a:chExt cx="2453" cy="2430"/>
          </a:xfrm>
        </p:grpSpPr>
        <p:grpSp>
          <p:nvGrpSpPr>
            <p:cNvPr id="1148973" name="Group 45"/>
            <p:cNvGrpSpPr>
              <a:grpSpLocks/>
            </p:cNvGrpSpPr>
            <p:nvPr/>
          </p:nvGrpSpPr>
          <p:grpSpPr bwMode="auto">
            <a:xfrm>
              <a:off x="2876" y="1569"/>
              <a:ext cx="1670" cy="2430"/>
              <a:chOff x="2876" y="1569"/>
              <a:chExt cx="1670" cy="2430"/>
            </a:xfrm>
          </p:grpSpPr>
          <p:grpSp>
            <p:nvGrpSpPr>
              <p:cNvPr id="1148972" name="Group 44"/>
              <p:cNvGrpSpPr>
                <a:grpSpLocks/>
              </p:cNvGrpSpPr>
              <p:nvPr/>
            </p:nvGrpSpPr>
            <p:grpSpPr bwMode="auto">
              <a:xfrm>
                <a:off x="2876" y="1569"/>
                <a:ext cx="439" cy="1605"/>
                <a:chOff x="2876" y="1569"/>
                <a:chExt cx="439" cy="1605"/>
              </a:xfrm>
            </p:grpSpPr>
            <p:sp>
              <p:nvSpPr>
                <p:cNvPr id="1148953" name="Text Box 25"/>
                <p:cNvSpPr txBox="1">
                  <a:spLocks noChangeArrowheads="1"/>
                </p:cNvSpPr>
                <p:nvPr/>
              </p:nvSpPr>
              <p:spPr bwMode="auto">
                <a:xfrm>
                  <a:off x="2975" y="1569"/>
                  <a:ext cx="188"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CC0000"/>
                      </a:solidFill>
                      <a:ea typeface="宋体" pitchFamily="2" charset="-122"/>
                    </a:rPr>
                    <a:t>a</a:t>
                  </a:r>
                </a:p>
              </p:txBody>
            </p:sp>
            <p:sp>
              <p:nvSpPr>
                <p:cNvPr id="1148955" name="Text Box 27"/>
                <p:cNvSpPr txBox="1">
                  <a:spLocks noChangeArrowheads="1"/>
                </p:cNvSpPr>
                <p:nvPr/>
              </p:nvSpPr>
              <p:spPr bwMode="auto">
                <a:xfrm>
                  <a:off x="2877" y="179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2000</a:t>
                  </a:r>
                </a:p>
              </p:txBody>
            </p:sp>
            <p:sp>
              <p:nvSpPr>
                <p:cNvPr id="1148956" name="Text Box 28"/>
                <p:cNvSpPr txBox="1">
                  <a:spLocks noChangeArrowheads="1"/>
                </p:cNvSpPr>
                <p:nvPr/>
              </p:nvSpPr>
              <p:spPr bwMode="auto">
                <a:xfrm>
                  <a:off x="2877" y="199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a typeface="宋体" pitchFamily="2" charset="-122"/>
                    </a:rPr>
                    <a:t>2004</a:t>
                  </a:r>
                </a:p>
              </p:txBody>
            </p:sp>
            <p:sp>
              <p:nvSpPr>
                <p:cNvPr id="1148957" name="Text Box 29"/>
                <p:cNvSpPr txBox="1">
                  <a:spLocks noChangeArrowheads="1"/>
                </p:cNvSpPr>
                <p:nvPr/>
              </p:nvSpPr>
              <p:spPr bwMode="auto">
                <a:xfrm>
                  <a:off x="2877" y="220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a typeface="宋体" pitchFamily="2" charset="-122"/>
                    </a:rPr>
                    <a:t>2008</a:t>
                  </a:r>
                </a:p>
              </p:txBody>
            </p:sp>
            <p:sp>
              <p:nvSpPr>
                <p:cNvPr id="1148958" name="Text Box 30"/>
                <p:cNvSpPr txBox="1">
                  <a:spLocks noChangeArrowheads="1"/>
                </p:cNvSpPr>
                <p:nvPr/>
              </p:nvSpPr>
              <p:spPr bwMode="auto">
                <a:xfrm>
                  <a:off x="2876" y="2922"/>
                  <a:ext cx="439"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a typeface="宋体" pitchFamily="2" charset="-122"/>
                    </a:rPr>
                    <a:t>2036</a:t>
                  </a:r>
                </a:p>
              </p:txBody>
            </p:sp>
            <p:sp>
              <p:nvSpPr>
                <p:cNvPr id="1148961" name="Text Box 33"/>
                <p:cNvSpPr txBox="1">
                  <a:spLocks noChangeArrowheads="1"/>
                </p:cNvSpPr>
                <p:nvPr/>
              </p:nvSpPr>
              <p:spPr bwMode="auto">
                <a:xfrm>
                  <a:off x="2970" y="2525"/>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grpSp>
          <p:grpSp>
            <p:nvGrpSpPr>
              <p:cNvPr id="1148971" name="Group 43"/>
              <p:cNvGrpSpPr>
                <a:grpSpLocks/>
              </p:cNvGrpSpPr>
              <p:nvPr/>
            </p:nvGrpSpPr>
            <p:grpSpPr bwMode="auto">
              <a:xfrm>
                <a:off x="3334" y="1570"/>
                <a:ext cx="1212" cy="2429"/>
                <a:chOff x="2353" y="1364"/>
                <a:chExt cx="1212" cy="2429"/>
              </a:xfrm>
            </p:grpSpPr>
            <p:sp>
              <p:nvSpPr>
                <p:cNvPr id="1148940" name="Rectangle 12"/>
                <p:cNvSpPr>
                  <a:spLocks noChangeArrowheads="1"/>
                </p:cNvSpPr>
                <p:nvPr/>
              </p:nvSpPr>
              <p:spPr bwMode="auto">
                <a:xfrm>
                  <a:off x="2353" y="1364"/>
                  <a:ext cx="1211" cy="1839"/>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a typeface="宋体" pitchFamily="2" charset="-122"/>
                  </a:endParaRPr>
                </a:p>
              </p:txBody>
            </p:sp>
            <p:sp>
              <p:nvSpPr>
                <p:cNvPr id="1148941" name="Line 13"/>
                <p:cNvSpPr>
                  <a:spLocks noChangeShapeType="1"/>
                </p:cNvSpPr>
                <p:nvPr/>
              </p:nvSpPr>
              <p:spPr bwMode="auto">
                <a:xfrm>
                  <a:off x="2353" y="1619"/>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8942" name="Line 14"/>
                <p:cNvSpPr>
                  <a:spLocks noChangeShapeType="1"/>
                </p:cNvSpPr>
                <p:nvPr/>
              </p:nvSpPr>
              <p:spPr bwMode="auto">
                <a:xfrm>
                  <a:off x="2353" y="1822"/>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8944" name="Line 16"/>
                <p:cNvSpPr>
                  <a:spLocks noChangeShapeType="1"/>
                </p:cNvSpPr>
                <p:nvPr/>
              </p:nvSpPr>
              <p:spPr bwMode="auto">
                <a:xfrm>
                  <a:off x="2353" y="2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8947" name="Text Box 19"/>
                <p:cNvSpPr txBox="1">
                  <a:spLocks noChangeArrowheads="1"/>
                </p:cNvSpPr>
                <p:nvPr/>
              </p:nvSpPr>
              <p:spPr bwMode="auto">
                <a:xfrm>
                  <a:off x="2788" y="2340"/>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sp>
              <p:nvSpPr>
                <p:cNvPr id="1148963" name="AutoShape 35"/>
                <p:cNvSpPr>
                  <a:spLocks noChangeArrowheads="1"/>
                </p:cNvSpPr>
                <p:nvPr/>
              </p:nvSpPr>
              <p:spPr bwMode="auto">
                <a:xfrm>
                  <a:off x="2354" y="3203"/>
                  <a:ext cx="1211" cy="590"/>
                </a:xfrm>
                <a:prstGeom prst="foldedCorner">
                  <a:avLst>
                    <a:gd name="adj" fmla="val 50000"/>
                  </a:avLst>
                </a:prstGeom>
                <a:solidFill>
                  <a:srgbClr val="DDFAED"/>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48964" name="Text Box 36"/>
                <p:cNvSpPr txBox="1">
                  <a:spLocks noChangeArrowheads="1"/>
                </p:cNvSpPr>
                <p:nvPr/>
              </p:nvSpPr>
              <p:spPr bwMode="auto">
                <a:xfrm>
                  <a:off x="2717" y="1584"/>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a[0]</a:t>
                  </a:r>
                </a:p>
              </p:txBody>
            </p:sp>
            <p:sp>
              <p:nvSpPr>
                <p:cNvPr id="1148965" name="Line 37"/>
                <p:cNvSpPr>
                  <a:spLocks noChangeShapeType="1"/>
                </p:cNvSpPr>
                <p:nvPr/>
              </p:nvSpPr>
              <p:spPr bwMode="auto">
                <a:xfrm>
                  <a:off x="2353" y="203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8966" name="Text Box 38"/>
                <p:cNvSpPr txBox="1">
                  <a:spLocks noChangeArrowheads="1"/>
                </p:cNvSpPr>
                <p:nvPr/>
              </p:nvSpPr>
              <p:spPr bwMode="auto">
                <a:xfrm>
                  <a:off x="2725" y="1792"/>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a[1]</a:t>
                  </a:r>
                </a:p>
              </p:txBody>
            </p:sp>
            <p:sp>
              <p:nvSpPr>
                <p:cNvPr id="1148967" name="Text Box 39"/>
                <p:cNvSpPr txBox="1">
                  <a:spLocks noChangeArrowheads="1"/>
                </p:cNvSpPr>
                <p:nvPr/>
              </p:nvSpPr>
              <p:spPr bwMode="auto">
                <a:xfrm>
                  <a:off x="2725" y="2000"/>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a[2]</a:t>
                  </a:r>
                </a:p>
              </p:txBody>
            </p:sp>
            <p:sp>
              <p:nvSpPr>
                <p:cNvPr id="1148968" name="Line 40"/>
                <p:cNvSpPr>
                  <a:spLocks noChangeShapeType="1"/>
                </p:cNvSpPr>
                <p:nvPr/>
              </p:nvSpPr>
              <p:spPr bwMode="auto">
                <a:xfrm>
                  <a:off x="2353" y="2732"/>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8969" name="Line 41"/>
                <p:cNvSpPr>
                  <a:spLocks noChangeShapeType="1"/>
                </p:cNvSpPr>
                <p:nvPr/>
              </p:nvSpPr>
              <p:spPr bwMode="auto">
                <a:xfrm>
                  <a:off x="2353" y="295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8970" name="Text Box 42"/>
                <p:cNvSpPr txBox="1">
                  <a:spLocks noChangeArrowheads="1"/>
                </p:cNvSpPr>
                <p:nvPr/>
              </p:nvSpPr>
              <p:spPr bwMode="auto">
                <a:xfrm>
                  <a:off x="2733" y="2712"/>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a[9]</a:t>
                  </a:r>
                </a:p>
              </p:txBody>
            </p:sp>
          </p:grpSp>
        </p:grpSp>
        <p:grpSp>
          <p:nvGrpSpPr>
            <p:cNvPr id="1148988" name="Group 60"/>
            <p:cNvGrpSpPr>
              <a:grpSpLocks/>
            </p:cNvGrpSpPr>
            <p:nvPr/>
          </p:nvGrpSpPr>
          <p:grpSpPr bwMode="auto">
            <a:xfrm>
              <a:off x="4545" y="1776"/>
              <a:ext cx="784" cy="1400"/>
              <a:chOff x="4545" y="1776"/>
              <a:chExt cx="784" cy="1400"/>
            </a:xfrm>
          </p:grpSpPr>
          <p:grpSp>
            <p:nvGrpSpPr>
              <p:cNvPr id="1148976" name="Group 48"/>
              <p:cNvGrpSpPr>
                <a:grpSpLocks/>
              </p:cNvGrpSpPr>
              <p:nvPr/>
            </p:nvGrpSpPr>
            <p:grpSpPr bwMode="auto">
              <a:xfrm>
                <a:off x="4545" y="1776"/>
                <a:ext cx="699" cy="288"/>
                <a:chOff x="4545" y="1776"/>
                <a:chExt cx="699" cy="288"/>
              </a:xfrm>
            </p:grpSpPr>
            <p:sp>
              <p:nvSpPr>
                <p:cNvPr id="1148974" name="Line 46"/>
                <p:cNvSpPr>
                  <a:spLocks noChangeShapeType="1"/>
                </p:cNvSpPr>
                <p:nvPr/>
              </p:nvSpPr>
              <p:spPr bwMode="auto">
                <a:xfrm flipH="1">
                  <a:off x="4545" y="1933"/>
                  <a:ext cx="272" cy="0"/>
                </a:xfrm>
                <a:prstGeom prst="line">
                  <a:avLst/>
                </a:prstGeom>
                <a:noFill/>
                <a:ln w="28575">
                  <a:solidFill>
                    <a:srgbClr val="002060"/>
                  </a:solidFill>
                  <a:round/>
                  <a:headEnd/>
                  <a:tailEnd type="stealth" w="lg" len="lg"/>
                </a:ln>
                <a:effectLst/>
              </p:spPr>
              <p:txBody>
                <a:bodyPr/>
                <a:lstStyle/>
                <a:p>
                  <a:endParaRPr lang="zh-CN" altLang="en-US"/>
                </a:p>
              </p:txBody>
            </p:sp>
            <p:sp>
              <p:nvSpPr>
                <p:cNvPr id="1148975" name="Text Box 47"/>
                <p:cNvSpPr txBox="1">
                  <a:spLocks noChangeArrowheads="1"/>
                </p:cNvSpPr>
                <p:nvPr/>
              </p:nvSpPr>
              <p:spPr bwMode="auto">
                <a:xfrm>
                  <a:off x="4836" y="1776"/>
                  <a:ext cx="408"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a typeface="宋体" pitchFamily="2" charset="-122"/>
                    </a:rPr>
                    <a:t>a</a:t>
                  </a:r>
                </a:p>
              </p:txBody>
            </p:sp>
          </p:grpSp>
          <p:grpSp>
            <p:nvGrpSpPr>
              <p:cNvPr id="1148980" name="Group 52"/>
              <p:cNvGrpSpPr>
                <a:grpSpLocks/>
              </p:cNvGrpSpPr>
              <p:nvPr/>
            </p:nvGrpSpPr>
            <p:grpSpPr bwMode="auto">
              <a:xfrm>
                <a:off x="4553" y="1984"/>
                <a:ext cx="776" cy="288"/>
                <a:chOff x="4553" y="1984"/>
                <a:chExt cx="776" cy="288"/>
              </a:xfrm>
            </p:grpSpPr>
            <p:sp>
              <p:nvSpPr>
                <p:cNvPr id="1148978" name="Line 50"/>
                <p:cNvSpPr>
                  <a:spLocks noChangeShapeType="1"/>
                </p:cNvSpPr>
                <p:nvPr/>
              </p:nvSpPr>
              <p:spPr bwMode="auto">
                <a:xfrm flipH="1">
                  <a:off x="4553" y="2141"/>
                  <a:ext cx="272" cy="0"/>
                </a:xfrm>
                <a:prstGeom prst="line">
                  <a:avLst/>
                </a:prstGeom>
                <a:noFill/>
                <a:ln w="28575">
                  <a:solidFill>
                    <a:srgbClr val="002060"/>
                  </a:solidFill>
                  <a:round/>
                  <a:headEnd/>
                  <a:tailEnd type="stealth" w="lg" len="lg"/>
                </a:ln>
                <a:effectLst/>
              </p:spPr>
              <p:txBody>
                <a:bodyPr/>
                <a:lstStyle/>
                <a:p>
                  <a:endParaRPr lang="zh-CN" altLang="en-US"/>
                </a:p>
              </p:txBody>
            </p:sp>
            <p:sp>
              <p:nvSpPr>
                <p:cNvPr id="1148979" name="Text Box 51"/>
                <p:cNvSpPr txBox="1">
                  <a:spLocks noChangeArrowheads="1"/>
                </p:cNvSpPr>
                <p:nvPr/>
              </p:nvSpPr>
              <p:spPr bwMode="auto">
                <a:xfrm>
                  <a:off x="4844" y="1984"/>
                  <a:ext cx="485"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a typeface="宋体" pitchFamily="2" charset="-122"/>
                    </a:rPr>
                    <a:t>a+1</a:t>
                  </a:r>
                </a:p>
              </p:txBody>
            </p:sp>
          </p:grpSp>
          <p:grpSp>
            <p:nvGrpSpPr>
              <p:cNvPr id="1148981" name="Group 53"/>
              <p:cNvGrpSpPr>
                <a:grpSpLocks/>
              </p:cNvGrpSpPr>
              <p:nvPr/>
            </p:nvGrpSpPr>
            <p:grpSpPr bwMode="auto">
              <a:xfrm>
                <a:off x="4553" y="2200"/>
                <a:ext cx="776" cy="288"/>
                <a:chOff x="4553" y="1984"/>
                <a:chExt cx="776" cy="288"/>
              </a:xfrm>
            </p:grpSpPr>
            <p:sp>
              <p:nvSpPr>
                <p:cNvPr id="1148982" name="Line 54"/>
                <p:cNvSpPr>
                  <a:spLocks noChangeShapeType="1"/>
                </p:cNvSpPr>
                <p:nvPr/>
              </p:nvSpPr>
              <p:spPr bwMode="auto">
                <a:xfrm flipH="1">
                  <a:off x="4553" y="2141"/>
                  <a:ext cx="272" cy="0"/>
                </a:xfrm>
                <a:prstGeom prst="line">
                  <a:avLst/>
                </a:prstGeom>
                <a:noFill/>
                <a:ln w="28575">
                  <a:solidFill>
                    <a:srgbClr val="002060"/>
                  </a:solidFill>
                  <a:round/>
                  <a:headEnd/>
                  <a:tailEnd type="stealth" w="lg" len="lg"/>
                </a:ln>
                <a:effectLst/>
              </p:spPr>
              <p:txBody>
                <a:bodyPr/>
                <a:lstStyle/>
                <a:p>
                  <a:endParaRPr lang="zh-CN" altLang="en-US"/>
                </a:p>
              </p:txBody>
            </p:sp>
            <p:sp>
              <p:nvSpPr>
                <p:cNvPr id="1148983" name="Text Box 55"/>
                <p:cNvSpPr txBox="1">
                  <a:spLocks noChangeArrowheads="1"/>
                </p:cNvSpPr>
                <p:nvPr/>
              </p:nvSpPr>
              <p:spPr bwMode="auto">
                <a:xfrm>
                  <a:off x="4844" y="1984"/>
                  <a:ext cx="485"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a typeface="宋体" pitchFamily="2" charset="-122"/>
                    </a:rPr>
                    <a:t>a+2</a:t>
                  </a:r>
                </a:p>
              </p:txBody>
            </p:sp>
          </p:grpSp>
          <p:grpSp>
            <p:nvGrpSpPr>
              <p:cNvPr id="1148984" name="Group 56"/>
              <p:cNvGrpSpPr>
                <a:grpSpLocks/>
              </p:cNvGrpSpPr>
              <p:nvPr/>
            </p:nvGrpSpPr>
            <p:grpSpPr bwMode="auto">
              <a:xfrm>
                <a:off x="4553" y="2888"/>
                <a:ext cx="776" cy="288"/>
                <a:chOff x="4553" y="1984"/>
                <a:chExt cx="776" cy="288"/>
              </a:xfrm>
            </p:grpSpPr>
            <p:sp>
              <p:nvSpPr>
                <p:cNvPr id="1148985" name="Line 57"/>
                <p:cNvSpPr>
                  <a:spLocks noChangeShapeType="1"/>
                </p:cNvSpPr>
                <p:nvPr/>
              </p:nvSpPr>
              <p:spPr bwMode="auto">
                <a:xfrm flipH="1">
                  <a:off x="4553" y="2141"/>
                  <a:ext cx="272" cy="0"/>
                </a:xfrm>
                <a:prstGeom prst="line">
                  <a:avLst/>
                </a:prstGeom>
                <a:noFill/>
                <a:ln w="28575">
                  <a:solidFill>
                    <a:srgbClr val="002060"/>
                  </a:solidFill>
                  <a:round/>
                  <a:headEnd/>
                  <a:tailEnd type="stealth" w="lg" len="lg"/>
                </a:ln>
                <a:effectLst/>
              </p:spPr>
              <p:txBody>
                <a:bodyPr/>
                <a:lstStyle/>
                <a:p>
                  <a:endParaRPr lang="zh-CN" altLang="en-US"/>
                </a:p>
              </p:txBody>
            </p:sp>
            <p:sp>
              <p:nvSpPr>
                <p:cNvPr id="1148986" name="Text Box 58"/>
                <p:cNvSpPr txBox="1">
                  <a:spLocks noChangeArrowheads="1"/>
                </p:cNvSpPr>
                <p:nvPr/>
              </p:nvSpPr>
              <p:spPr bwMode="auto">
                <a:xfrm>
                  <a:off x="4844" y="1984"/>
                  <a:ext cx="485"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a typeface="宋体" pitchFamily="2" charset="-122"/>
                    </a:rPr>
                    <a:t>a+9</a:t>
                  </a:r>
                </a:p>
              </p:txBody>
            </p:sp>
          </p:grpSp>
          <p:sp>
            <p:nvSpPr>
              <p:cNvPr id="1148987" name="Text Box 59"/>
              <p:cNvSpPr txBox="1">
                <a:spLocks noChangeArrowheads="1"/>
              </p:cNvSpPr>
              <p:nvPr/>
            </p:nvSpPr>
            <p:spPr bwMode="auto">
              <a:xfrm>
                <a:off x="4649" y="2512"/>
                <a:ext cx="349" cy="499"/>
              </a:xfrm>
              <a:prstGeom prst="rect">
                <a:avLst/>
              </a:prstGeom>
              <a:noFill/>
              <a:ln w="9525">
                <a:noFill/>
                <a:miter lim="800000"/>
                <a:headEnd/>
                <a:tailEnd/>
              </a:ln>
              <a:effectLst/>
            </p:spPr>
            <p:txBody>
              <a:bodyPr vert="eaVert">
                <a:spAutoFit/>
              </a:bodyPr>
              <a:lstStyle/>
              <a:p>
                <a:pPr>
                  <a:lnSpc>
                    <a:spcPct val="100000"/>
                  </a:lnSpc>
                  <a:spcBef>
                    <a:spcPct val="50000"/>
                  </a:spcBef>
                </a:pPr>
                <a:r>
                  <a:rPr lang="en-US" altLang="zh-CN">
                    <a:ea typeface="宋体" pitchFamily="2" charset="-122"/>
                  </a:rPr>
                  <a:t>……</a:t>
                </a:r>
              </a:p>
            </p:txBody>
          </p:sp>
        </p:grpSp>
      </p:grpSp>
      <p:sp>
        <p:nvSpPr>
          <p:cNvPr id="1148990" name="Text Box 62"/>
          <p:cNvSpPr txBox="1">
            <a:spLocks noChangeArrowheads="1"/>
          </p:cNvSpPr>
          <p:nvPr/>
        </p:nvSpPr>
        <p:spPr bwMode="auto">
          <a:xfrm>
            <a:off x="1959688" y="2060848"/>
            <a:ext cx="2008883" cy="461665"/>
          </a:xfrm>
          <a:prstGeom prst="rect">
            <a:avLst/>
          </a:prstGeom>
          <a:noFill/>
          <a:ln w="9525">
            <a:noFill/>
            <a:miter lim="800000"/>
            <a:headEnd/>
            <a:tailEnd/>
          </a:ln>
          <a:effectLst/>
        </p:spPr>
        <p:txBody>
          <a:bodyPr wrap="none">
            <a:spAutoFit/>
          </a:bodyPr>
          <a:lstStyle/>
          <a:p>
            <a:pPr>
              <a:lnSpc>
                <a:spcPct val="100000"/>
              </a:lnSpc>
              <a:spcBef>
                <a:spcPct val="0"/>
              </a:spcBef>
            </a:pPr>
            <a:r>
              <a:rPr lang="zh-CN" altLang="en-US" dirty="0">
                <a:solidFill>
                  <a:srgbClr val="CC0000"/>
                </a:solidFill>
                <a:latin typeface="隶书" pitchFamily="49" charset="-122"/>
                <a:ea typeface="隶书" pitchFamily="49" charset="-122"/>
              </a:rPr>
              <a:t>例：</a:t>
            </a:r>
            <a:r>
              <a:rPr lang="en-US" altLang="zh-CN" dirty="0" err="1">
                <a:solidFill>
                  <a:srgbClr val="CC0000"/>
                </a:solidFill>
              </a:rPr>
              <a:t>int</a:t>
            </a:r>
            <a:r>
              <a:rPr lang="en-US" altLang="zh-CN" dirty="0">
                <a:solidFill>
                  <a:srgbClr val="CC0000"/>
                </a:solidFill>
              </a:rPr>
              <a:t> a[10];</a:t>
            </a:r>
          </a:p>
        </p:txBody>
      </p:sp>
      <p:sp>
        <p:nvSpPr>
          <p:cNvPr id="1148991" name="Rectangle 63" descr="信纸"/>
          <p:cNvSpPr>
            <a:spLocks noChangeArrowheads="1"/>
          </p:cNvSpPr>
          <p:nvPr/>
        </p:nvSpPr>
        <p:spPr bwMode="auto">
          <a:xfrm>
            <a:off x="5687136" y="2139385"/>
            <a:ext cx="5438737"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dirty="0" err="1">
                <a:ea typeface="宋体" pitchFamily="2" charset="-122"/>
              </a:rPr>
              <a:t>int</a:t>
            </a:r>
            <a:r>
              <a:rPr lang="en-US" altLang="zh-CN" dirty="0">
                <a:ea typeface="宋体" pitchFamily="2" charset="-122"/>
              </a:rPr>
              <a:t> a[10];</a:t>
            </a:r>
          </a:p>
          <a:p>
            <a:pPr>
              <a:lnSpc>
                <a:spcPct val="100000"/>
              </a:lnSpc>
              <a:spcBef>
                <a:spcPct val="0"/>
              </a:spcBef>
            </a:pPr>
            <a:r>
              <a:rPr lang="en-US" altLang="zh-CN" dirty="0" err="1">
                <a:ea typeface="宋体" pitchFamily="2" charset="-122"/>
              </a:rPr>
              <a:t>int</a:t>
            </a:r>
            <a:r>
              <a:rPr lang="en-US" altLang="zh-CN" dirty="0">
                <a:ea typeface="宋体" pitchFamily="2" charset="-122"/>
              </a:rPr>
              <a:t> k;</a:t>
            </a:r>
          </a:p>
          <a:p>
            <a:pPr>
              <a:lnSpc>
                <a:spcPct val="100000"/>
              </a:lnSpc>
              <a:spcBef>
                <a:spcPct val="0"/>
              </a:spcBef>
            </a:pPr>
            <a:r>
              <a:rPr lang="en-US" altLang="zh-CN" dirty="0">
                <a:ea typeface="宋体" pitchFamily="2" charset="-122"/>
              </a:rPr>
              <a:t>for (k = 0; k &lt; 10; k++)</a:t>
            </a:r>
          </a:p>
          <a:p>
            <a:pPr>
              <a:lnSpc>
                <a:spcPct val="100000"/>
              </a:lnSpc>
              <a:spcBef>
                <a:spcPct val="0"/>
              </a:spcBef>
            </a:pPr>
            <a:r>
              <a:rPr lang="en-US" altLang="zh-CN" dirty="0">
                <a:solidFill>
                  <a:srgbClr val="C00000"/>
                </a:solidFill>
                <a:ea typeface="宋体" pitchFamily="2" charset="-122"/>
              </a:rPr>
              <a:t>   a[k] = k;</a:t>
            </a:r>
            <a:r>
              <a:rPr lang="en-US" altLang="zh-CN" sz="1800" dirty="0">
                <a:solidFill>
                  <a:srgbClr val="C00000"/>
                </a:solidFill>
                <a:latin typeface="楷体_GB2312" pitchFamily="49" charset="-122"/>
              </a:rPr>
              <a:t>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利用数组下标</a:t>
            </a:r>
          </a:p>
        </p:txBody>
      </p:sp>
      <p:sp>
        <p:nvSpPr>
          <p:cNvPr id="1148992" name="Rectangle 64" descr="信纸"/>
          <p:cNvSpPr>
            <a:spLocks noChangeArrowheads="1"/>
          </p:cNvSpPr>
          <p:nvPr/>
        </p:nvSpPr>
        <p:spPr bwMode="auto">
          <a:xfrm>
            <a:off x="5687136" y="4365104"/>
            <a:ext cx="5400275"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dirty="0" err="1">
                <a:ea typeface="宋体" pitchFamily="2" charset="-122"/>
              </a:rPr>
              <a:t>int</a:t>
            </a:r>
            <a:r>
              <a:rPr lang="en-US" altLang="zh-CN" dirty="0">
                <a:ea typeface="宋体" pitchFamily="2" charset="-122"/>
              </a:rPr>
              <a:t> a[10];</a:t>
            </a:r>
          </a:p>
          <a:p>
            <a:pPr>
              <a:lnSpc>
                <a:spcPct val="100000"/>
              </a:lnSpc>
              <a:spcBef>
                <a:spcPct val="0"/>
              </a:spcBef>
            </a:pPr>
            <a:r>
              <a:rPr lang="en-US" altLang="zh-CN" dirty="0" err="1">
                <a:ea typeface="宋体" pitchFamily="2" charset="-122"/>
              </a:rPr>
              <a:t>int</a:t>
            </a:r>
            <a:r>
              <a:rPr lang="en-US" altLang="zh-CN" dirty="0">
                <a:ea typeface="宋体" pitchFamily="2" charset="-122"/>
              </a:rPr>
              <a:t> k;</a:t>
            </a:r>
          </a:p>
          <a:p>
            <a:pPr>
              <a:lnSpc>
                <a:spcPct val="100000"/>
              </a:lnSpc>
              <a:spcBef>
                <a:spcPct val="0"/>
              </a:spcBef>
            </a:pPr>
            <a:r>
              <a:rPr lang="en-US" altLang="zh-CN" dirty="0">
                <a:ea typeface="宋体" pitchFamily="2" charset="-122"/>
              </a:rPr>
              <a:t>for (k = 0; k &lt; 10; k++)</a:t>
            </a:r>
          </a:p>
          <a:p>
            <a:pPr>
              <a:lnSpc>
                <a:spcPct val="100000"/>
              </a:lnSpc>
              <a:spcBef>
                <a:spcPct val="0"/>
              </a:spcBef>
            </a:pPr>
            <a:r>
              <a:rPr lang="en-US" altLang="zh-CN" dirty="0">
                <a:solidFill>
                  <a:srgbClr val="C00000"/>
                </a:solidFill>
                <a:ea typeface="宋体" pitchFamily="2" charset="-122"/>
              </a:rPr>
              <a:t>   *(</a:t>
            </a:r>
            <a:r>
              <a:rPr lang="en-US" altLang="zh-CN" dirty="0" err="1">
                <a:solidFill>
                  <a:srgbClr val="C00000"/>
                </a:solidFill>
                <a:ea typeface="宋体" pitchFamily="2" charset="-122"/>
              </a:rPr>
              <a:t>a+k</a:t>
            </a:r>
            <a:r>
              <a:rPr lang="en-US" altLang="zh-CN" dirty="0">
                <a:solidFill>
                  <a:srgbClr val="C00000"/>
                </a:solidFill>
                <a:ea typeface="宋体" pitchFamily="2" charset="-122"/>
              </a:rPr>
              <a:t>) = k;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利用数组的指针</a:t>
            </a:r>
          </a:p>
        </p:txBody>
      </p:sp>
      <p:sp>
        <p:nvSpPr>
          <p:cNvPr id="1148993" name="AutoShape 65"/>
          <p:cNvSpPr>
            <a:spLocks noChangeArrowheads="1"/>
          </p:cNvSpPr>
          <p:nvPr/>
        </p:nvSpPr>
        <p:spPr bwMode="auto">
          <a:xfrm>
            <a:off x="8377074" y="3789040"/>
            <a:ext cx="360362" cy="503238"/>
          </a:xfrm>
          <a:prstGeom prst="upDownArrow">
            <a:avLst>
              <a:gd name="adj1" fmla="val 50000"/>
              <a:gd name="adj2" fmla="val 27930"/>
            </a:avLst>
          </a:prstGeom>
          <a:gradFill rotWithShape="1">
            <a:gsLst>
              <a:gs pos="0">
                <a:srgbClr val="002060"/>
              </a:gs>
              <a:gs pos="100000">
                <a:schemeClr val="bg1"/>
              </a:gs>
            </a:gsLst>
            <a:lin ang="5400000" scaled="1"/>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148997" name="Group 69"/>
          <p:cNvGrpSpPr>
            <a:grpSpLocks/>
          </p:cNvGrpSpPr>
          <p:nvPr/>
        </p:nvGrpSpPr>
        <p:grpSpPr bwMode="auto">
          <a:xfrm>
            <a:off x="5706166" y="6093296"/>
            <a:ext cx="5400675" cy="461963"/>
            <a:chOff x="2154" y="3884"/>
            <a:chExt cx="3402" cy="291"/>
          </a:xfrm>
          <a:effectLst>
            <a:outerShdw blurRad="50800" dist="106680" dir="2700000" algn="tl" rotWithShape="0">
              <a:prstClr val="black">
                <a:alpha val="43000"/>
              </a:prstClr>
            </a:outerShdw>
          </a:effectLst>
        </p:grpSpPr>
        <p:sp>
          <p:nvSpPr>
            <p:cNvPr id="1148994" name="Text Box 66"/>
            <p:cNvSpPr txBox="1">
              <a:spLocks noChangeArrowheads="1"/>
            </p:cNvSpPr>
            <p:nvPr/>
          </p:nvSpPr>
          <p:spPr bwMode="auto">
            <a:xfrm>
              <a:off x="2154" y="3884"/>
              <a:ext cx="3402" cy="291"/>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a:spAutoFit/>
            </a:bodyPr>
            <a:lstStyle/>
            <a:p>
              <a:pPr>
                <a:lnSpc>
                  <a:spcPct val="100000"/>
                </a:lnSpc>
                <a:spcBef>
                  <a:spcPct val="50000"/>
                </a:spcBef>
              </a:pPr>
              <a:r>
                <a:rPr lang="zh-CN" altLang="en-US" dirty="0">
                  <a:solidFill>
                    <a:srgbClr val="C00000"/>
                  </a:solidFill>
                  <a:ea typeface="隶书" pitchFamily="49" charset="-122"/>
                </a:rPr>
                <a:t>注意：</a:t>
              </a:r>
              <a:r>
                <a:rPr lang="en-US" altLang="zh-CN" dirty="0" err="1">
                  <a:solidFill>
                    <a:srgbClr val="C00000"/>
                  </a:solidFill>
                  <a:ea typeface="宋体" pitchFamily="2" charset="-122"/>
                </a:rPr>
                <a:t>a+k</a:t>
              </a:r>
              <a:r>
                <a:rPr lang="en-US" altLang="zh-CN" dirty="0">
                  <a:solidFill>
                    <a:srgbClr val="C00000"/>
                  </a:solidFill>
                  <a:ea typeface="宋体" pitchFamily="2" charset="-122"/>
                </a:rPr>
                <a:t> </a:t>
              </a:r>
              <a:r>
                <a:rPr lang="en-US" altLang="zh-CN" dirty="0">
                  <a:solidFill>
                    <a:srgbClr val="C00000"/>
                  </a:solidFill>
                  <a:ea typeface="宋体" pitchFamily="2" charset="-122"/>
                  <a:sym typeface="Wingdings" pitchFamily="2" charset="2"/>
                </a:rPr>
                <a:t>      &amp;a[k]     *(</a:t>
              </a:r>
              <a:r>
                <a:rPr lang="en-US" altLang="zh-CN" dirty="0" err="1">
                  <a:solidFill>
                    <a:srgbClr val="C00000"/>
                  </a:solidFill>
                  <a:ea typeface="宋体" pitchFamily="2" charset="-122"/>
                  <a:sym typeface="Wingdings" pitchFamily="2" charset="2"/>
                </a:rPr>
                <a:t>a+k</a:t>
              </a:r>
              <a:r>
                <a:rPr lang="en-US" altLang="zh-CN" dirty="0">
                  <a:solidFill>
                    <a:srgbClr val="C00000"/>
                  </a:solidFill>
                  <a:ea typeface="宋体" pitchFamily="2" charset="-122"/>
                  <a:sym typeface="Wingdings" pitchFamily="2" charset="2"/>
                </a:rPr>
                <a:t>)        a[k]</a:t>
              </a:r>
              <a:endParaRPr lang="en-US" altLang="zh-CN" dirty="0">
                <a:solidFill>
                  <a:srgbClr val="C00000"/>
                </a:solidFill>
                <a:ea typeface="宋体" pitchFamily="2" charset="-122"/>
              </a:endParaRPr>
            </a:p>
          </p:txBody>
        </p:sp>
        <p:sp>
          <p:nvSpPr>
            <p:cNvPr id="1148995" name="AutoShape 67"/>
            <p:cNvSpPr>
              <a:spLocks noChangeArrowheads="1"/>
            </p:cNvSpPr>
            <p:nvPr/>
          </p:nvSpPr>
          <p:spPr bwMode="auto">
            <a:xfrm>
              <a:off x="3098" y="4017"/>
              <a:ext cx="299" cy="93"/>
            </a:xfrm>
            <a:prstGeom prst="leftRightArrow">
              <a:avLst>
                <a:gd name="adj1" fmla="val 50000"/>
                <a:gd name="adj2" fmla="val 64301"/>
              </a:avLst>
            </a:prstGeom>
            <a:solidFill>
              <a:srgbClr val="002060"/>
            </a:solidFill>
            <a:ln w="9525">
              <a:solidFill>
                <a:schemeClr val="tx1"/>
              </a:solidFill>
              <a:miter lim="800000"/>
              <a:headEnd/>
              <a:tailEnd/>
            </a:ln>
            <a:effectLst/>
            <a:scene3d>
              <a:camera prst="orthographicFront"/>
              <a:lightRig rig="threePt" dir="t"/>
            </a:scene3d>
            <a:sp3d>
              <a:bevelT w="114300" prst="hardEdge"/>
            </a:sp3d>
          </p:spPr>
          <p:txBody>
            <a:bodyPr wrap="none" anchor="ctr"/>
            <a:lstStyle/>
            <a:p>
              <a:endParaRPr lang="zh-CN" altLang="en-US"/>
            </a:p>
          </p:txBody>
        </p:sp>
        <p:sp>
          <p:nvSpPr>
            <p:cNvPr id="1148996" name="AutoShape 68"/>
            <p:cNvSpPr>
              <a:spLocks noChangeArrowheads="1"/>
            </p:cNvSpPr>
            <p:nvPr/>
          </p:nvSpPr>
          <p:spPr bwMode="auto">
            <a:xfrm>
              <a:off x="4668" y="4018"/>
              <a:ext cx="299" cy="93"/>
            </a:xfrm>
            <a:prstGeom prst="leftRightArrow">
              <a:avLst>
                <a:gd name="adj1" fmla="val 50000"/>
                <a:gd name="adj2" fmla="val 64301"/>
              </a:avLst>
            </a:prstGeom>
            <a:solidFill>
              <a:srgbClr val="002060"/>
            </a:solidFill>
            <a:ln w="9525">
              <a:solidFill>
                <a:schemeClr val="tx1"/>
              </a:solidFill>
              <a:miter lim="800000"/>
              <a:headEnd/>
              <a:tailEnd/>
            </a:ln>
            <a:effectLst/>
            <a:scene3d>
              <a:camera prst="orthographicFront"/>
              <a:lightRig rig="threePt" dir="t"/>
            </a:scene3d>
            <a:sp3d>
              <a:bevelT w="114300" prst="hardEdge"/>
            </a:sp3d>
          </p:spPr>
          <p:txBody>
            <a:bodyPr wrap="none" anchor="ctr"/>
            <a:lstStyle/>
            <a:p>
              <a:endParaRPr lang="zh-CN" altLang="en-US"/>
            </a:p>
          </p:txBody>
        </p:sp>
      </p:grpSp>
      <p:sp>
        <p:nvSpPr>
          <p:cNvPr id="53" name="Rectangle 4">
            <a:extLst>
              <a:ext uri="{FF2B5EF4-FFF2-40B4-BE49-F238E27FC236}">
                <a16:creationId xmlns:a16="http://schemas.microsoft.com/office/drawing/2014/main" id="{C5190839-1D40-43DD-B9E0-BF4B2CA82E8E}"/>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8930">
                                            <p:txEl>
                                              <p:pRg st="0" end="0"/>
                                            </p:txEl>
                                          </p:spTgt>
                                        </p:tgtEl>
                                        <p:attrNameLst>
                                          <p:attrName>style.visibility</p:attrName>
                                        </p:attrNameLst>
                                      </p:cBhvr>
                                      <p:to>
                                        <p:strVal val="visible"/>
                                      </p:to>
                                    </p:set>
                                    <p:anim calcmode="lin" valueType="num">
                                      <p:cBhvr additive="base">
                                        <p:cTn id="7" dur="500" fill="hold"/>
                                        <p:tgtEl>
                                          <p:spTgt spid="11489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893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48935"/>
                                        </p:tgtEl>
                                        <p:attrNameLst>
                                          <p:attrName>style.visibility</p:attrName>
                                        </p:attrNameLst>
                                      </p:cBhvr>
                                      <p:to>
                                        <p:strVal val="visible"/>
                                      </p:to>
                                    </p:set>
                                    <p:animEffect transition="in" filter="box(out)">
                                      <p:cBhvr>
                                        <p:cTn id="13" dur="500"/>
                                        <p:tgtEl>
                                          <p:spTgt spid="1148935"/>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48990">
                                            <p:txEl>
                                              <p:pRg st="0" end="0"/>
                                            </p:txEl>
                                          </p:spTgt>
                                        </p:tgtEl>
                                        <p:attrNameLst>
                                          <p:attrName>style.visibility</p:attrName>
                                        </p:attrNameLst>
                                      </p:cBhvr>
                                      <p:to>
                                        <p:strVal val="visible"/>
                                      </p:to>
                                    </p:set>
                                    <p:animEffect transition="in" filter="box(out)">
                                      <p:cBhvr>
                                        <p:cTn id="18" dur="500"/>
                                        <p:tgtEl>
                                          <p:spTgt spid="1148990">
                                            <p:txEl>
                                              <p:pRg st="0" end="0"/>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48989"/>
                                        </p:tgtEl>
                                        <p:attrNameLst>
                                          <p:attrName>style.visibility</p:attrName>
                                        </p:attrNameLst>
                                      </p:cBhvr>
                                      <p:to>
                                        <p:strVal val="visible"/>
                                      </p:to>
                                    </p:set>
                                    <p:animEffect transition="in" filter="box(out)">
                                      <p:cBhvr>
                                        <p:cTn id="23" dur="500"/>
                                        <p:tgtEl>
                                          <p:spTgt spid="1148989"/>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48991"/>
                                        </p:tgtEl>
                                        <p:attrNameLst>
                                          <p:attrName>style.visibility</p:attrName>
                                        </p:attrNameLst>
                                      </p:cBhvr>
                                      <p:to>
                                        <p:strVal val="visible"/>
                                      </p:to>
                                    </p:set>
                                    <p:animEffect transition="in" filter="box(out)">
                                      <p:cBhvr>
                                        <p:cTn id="28" dur="500"/>
                                        <p:tgtEl>
                                          <p:spTgt spid="1148991"/>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12" fill="hold" grpId="0" nodeType="clickEffect">
                                  <p:stCondLst>
                                    <p:cond delay="0"/>
                                  </p:stCondLst>
                                  <p:childTnLst>
                                    <p:set>
                                      <p:cBhvr>
                                        <p:cTn id="32" dur="1" fill="hold">
                                          <p:stCondLst>
                                            <p:cond delay="0"/>
                                          </p:stCondLst>
                                        </p:cTn>
                                        <p:tgtEl>
                                          <p:spTgt spid="1148993"/>
                                        </p:tgtEl>
                                        <p:attrNameLst>
                                          <p:attrName>style.visibility</p:attrName>
                                        </p:attrNameLst>
                                      </p:cBhvr>
                                      <p:to>
                                        <p:strVal val="visible"/>
                                      </p:to>
                                    </p:set>
                                    <p:animEffect transition="in" filter="strips(downLeft)">
                                      <p:cBhvr>
                                        <p:cTn id="33" dur="500"/>
                                        <p:tgtEl>
                                          <p:spTgt spid="1148993"/>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par>
                          <p:cTn id="34" fill="hold">
                            <p:stCondLst>
                              <p:cond delay="500"/>
                            </p:stCondLst>
                            <p:childTnLst>
                              <p:par>
                                <p:cTn id="35" presetID="4" presetClass="entr" presetSubtype="32" fill="hold" grpId="0" nodeType="afterEffect">
                                  <p:stCondLst>
                                    <p:cond delay="0"/>
                                  </p:stCondLst>
                                  <p:childTnLst>
                                    <p:set>
                                      <p:cBhvr>
                                        <p:cTn id="36" dur="1" fill="hold">
                                          <p:stCondLst>
                                            <p:cond delay="0"/>
                                          </p:stCondLst>
                                        </p:cTn>
                                        <p:tgtEl>
                                          <p:spTgt spid="1148992"/>
                                        </p:tgtEl>
                                        <p:attrNameLst>
                                          <p:attrName>style.visibility</p:attrName>
                                        </p:attrNameLst>
                                      </p:cBhvr>
                                      <p:to>
                                        <p:strVal val="visible"/>
                                      </p:to>
                                    </p:set>
                                    <p:animEffect transition="in" filter="box(out)">
                                      <p:cBhvr>
                                        <p:cTn id="37" dur="500"/>
                                        <p:tgtEl>
                                          <p:spTgt spid="1148992"/>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148997"/>
                                        </p:tgtEl>
                                        <p:attrNameLst>
                                          <p:attrName>style.visibility</p:attrName>
                                        </p:attrNameLst>
                                      </p:cBhvr>
                                      <p:to>
                                        <p:strVal val="visible"/>
                                      </p:to>
                                    </p:set>
                                    <p:animEffect transition="in" filter="box(out)">
                                      <p:cBhvr>
                                        <p:cTn id="42" dur="500"/>
                                        <p:tgtEl>
                                          <p:spTgt spid="1148997"/>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930" grpId="0" build="p" bldLvl="5" autoUpdateAnimBg="0"/>
      <p:bldP spid="1148935" grpId="0"/>
      <p:bldP spid="1148991" grpId="0" animBg="1"/>
      <p:bldP spid="1148992" grpId="0" animBg="1"/>
      <p:bldP spid="114899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9954" name="Rectangle 2"/>
          <p:cNvSpPr>
            <a:spLocks noChangeArrowheads="1"/>
          </p:cNvSpPr>
          <p:nvPr/>
        </p:nvSpPr>
        <p:spPr bwMode="auto">
          <a:xfrm>
            <a:off x="677819" y="789673"/>
            <a:ext cx="5473700" cy="503238"/>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2</a:t>
            </a:r>
            <a:r>
              <a:rPr lang="zh-CN" altLang="en-US" sz="2800" b="1" dirty="0">
                <a:solidFill>
                  <a:srgbClr val="C00000"/>
                </a:solidFill>
                <a:latin typeface="+mn-lt"/>
                <a:ea typeface="楷体" pitchFamily="49" charset="-122"/>
                <a:sym typeface="Symbol" pitchFamily="18" charset="2"/>
              </a:rPr>
              <a:t>、指向数组的指针变量</a:t>
            </a:r>
          </a:p>
        </p:txBody>
      </p:sp>
      <p:sp>
        <p:nvSpPr>
          <p:cNvPr id="1149959" name="Rectangle 7" descr="信纸"/>
          <p:cNvSpPr>
            <a:spLocks noChangeArrowheads="1"/>
          </p:cNvSpPr>
          <p:nvPr/>
        </p:nvSpPr>
        <p:spPr bwMode="auto">
          <a:xfrm>
            <a:off x="695325" y="1251144"/>
            <a:ext cx="10460592" cy="833178"/>
          </a:xfrm>
          <a:prstGeom prst="rect">
            <a:avLst/>
          </a:prstGeom>
          <a:noFill/>
          <a:ln w="38100" algn="ctr">
            <a:noFill/>
            <a:miter lim="800000"/>
            <a:headEnd/>
            <a:tailEnd/>
          </a:ln>
          <a:effectLst/>
        </p:spPr>
        <p:txBody>
          <a:bodyPr wrap="square" lIns="90000" tIns="46800" rIns="90000" bIns="46800" anchor="ctr">
            <a:spAutoFit/>
          </a:bodyPr>
          <a:lstStyle/>
          <a:p>
            <a:pPr>
              <a:lnSpc>
                <a:spcPct val="100000"/>
              </a:lnSpc>
            </a:pPr>
            <a:r>
              <a:rPr lang="en-US" altLang="zh-CN" dirty="0">
                <a:latin typeface="+mn-lt"/>
                <a:ea typeface="楷体" pitchFamily="49" charset="-122"/>
              </a:rPr>
              <a:t>        </a:t>
            </a:r>
            <a:r>
              <a:rPr lang="zh-CN" altLang="en-US" dirty="0">
                <a:latin typeface="+mn-lt"/>
                <a:ea typeface="楷体" pitchFamily="49" charset="-122"/>
              </a:rPr>
              <a:t>如果将数组的起始地址赋给某个指针变量，那么该指针变量就是</a:t>
            </a:r>
            <a:r>
              <a:rPr lang="zh-CN" altLang="en-US" dirty="0">
                <a:solidFill>
                  <a:srgbClr val="C00000"/>
                </a:solidFill>
                <a:latin typeface="+mn-lt"/>
                <a:ea typeface="楷体" pitchFamily="49" charset="-122"/>
              </a:rPr>
              <a:t>指向数组的指针变量</a:t>
            </a:r>
            <a:r>
              <a:rPr lang="zh-CN" altLang="en-US" dirty="0">
                <a:latin typeface="+mn-lt"/>
                <a:ea typeface="楷体" pitchFamily="49" charset="-122"/>
              </a:rPr>
              <a:t>。 </a:t>
            </a:r>
          </a:p>
        </p:txBody>
      </p:sp>
      <p:sp>
        <p:nvSpPr>
          <p:cNvPr id="1149997" name="Text Box 45"/>
          <p:cNvSpPr txBox="1">
            <a:spLocks noChangeArrowheads="1"/>
          </p:cNvSpPr>
          <p:nvPr/>
        </p:nvSpPr>
        <p:spPr bwMode="auto">
          <a:xfrm>
            <a:off x="1180024" y="2031231"/>
            <a:ext cx="2970685" cy="461665"/>
          </a:xfrm>
          <a:prstGeom prst="rect">
            <a:avLst/>
          </a:prstGeom>
          <a:noFill/>
          <a:ln w="9525">
            <a:noFill/>
            <a:miter lim="800000"/>
            <a:headEnd/>
            <a:tailEnd/>
          </a:ln>
          <a:effectLst/>
        </p:spPr>
        <p:txBody>
          <a:bodyPr wrap="none">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a:t>
            </a:r>
            <a:r>
              <a:rPr lang="en-US" altLang="zh-CN" dirty="0">
                <a:solidFill>
                  <a:srgbClr val="C00000"/>
                </a:solidFill>
              </a:rPr>
              <a:t>int a[10], </a:t>
            </a:r>
            <a:r>
              <a:rPr lang="zh-CN" altLang="en-US" dirty="0">
                <a:solidFill>
                  <a:srgbClr val="C00000"/>
                </a:solidFill>
              </a:rPr>
              <a:t>*</a:t>
            </a:r>
            <a:r>
              <a:rPr lang="en-US" altLang="zh-CN" dirty="0">
                <a:solidFill>
                  <a:srgbClr val="C00000"/>
                </a:solidFill>
              </a:rPr>
              <a:t>p = a;</a:t>
            </a:r>
          </a:p>
        </p:txBody>
      </p:sp>
      <p:grpSp>
        <p:nvGrpSpPr>
          <p:cNvPr id="1150012" name="Group 60"/>
          <p:cNvGrpSpPr>
            <a:grpSpLocks/>
          </p:cNvGrpSpPr>
          <p:nvPr/>
        </p:nvGrpSpPr>
        <p:grpSpPr bwMode="auto">
          <a:xfrm>
            <a:off x="1609744" y="2478930"/>
            <a:ext cx="3573318" cy="3941764"/>
            <a:chOff x="1223" y="1698"/>
            <a:chExt cx="2476" cy="2483"/>
          </a:xfrm>
        </p:grpSpPr>
        <p:grpSp>
          <p:nvGrpSpPr>
            <p:cNvPr id="1149962" name="Group 10"/>
            <p:cNvGrpSpPr>
              <a:grpSpLocks/>
            </p:cNvGrpSpPr>
            <p:nvPr/>
          </p:nvGrpSpPr>
          <p:grpSpPr bwMode="auto">
            <a:xfrm>
              <a:off x="1223" y="1698"/>
              <a:ext cx="484" cy="1658"/>
              <a:chOff x="2853" y="1516"/>
              <a:chExt cx="484" cy="1658"/>
            </a:xfrm>
          </p:grpSpPr>
          <p:sp>
            <p:nvSpPr>
              <p:cNvPr id="1149963" name="Text Box 11"/>
              <p:cNvSpPr txBox="1">
                <a:spLocks noChangeArrowheads="1"/>
              </p:cNvSpPr>
              <p:nvPr/>
            </p:nvSpPr>
            <p:spPr bwMode="auto">
              <a:xfrm>
                <a:off x="3105" y="1516"/>
                <a:ext cx="217"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CC0000"/>
                    </a:solidFill>
                    <a:ea typeface="宋体" pitchFamily="2" charset="-122"/>
                  </a:rPr>
                  <a:t>p</a:t>
                </a:r>
              </a:p>
            </p:txBody>
          </p:sp>
          <p:sp>
            <p:nvSpPr>
              <p:cNvPr id="1149964" name="Text Box 12"/>
              <p:cNvSpPr txBox="1">
                <a:spLocks noChangeArrowheads="1"/>
              </p:cNvSpPr>
              <p:nvPr/>
            </p:nvSpPr>
            <p:spPr bwMode="auto">
              <a:xfrm>
                <a:off x="2853" y="1793"/>
                <a:ext cx="48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a typeface="宋体" pitchFamily="2" charset="-122"/>
                  </a:rPr>
                  <a:t>2000</a:t>
                </a:r>
              </a:p>
            </p:txBody>
          </p:sp>
          <p:sp>
            <p:nvSpPr>
              <p:cNvPr id="1149965" name="Text Box 13"/>
              <p:cNvSpPr txBox="1">
                <a:spLocks noChangeArrowheads="1"/>
              </p:cNvSpPr>
              <p:nvPr/>
            </p:nvSpPr>
            <p:spPr bwMode="auto">
              <a:xfrm>
                <a:off x="2853" y="1990"/>
                <a:ext cx="48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a typeface="宋体" pitchFamily="2" charset="-122"/>
                  </a:rPr>
                  <a:t>2004</a:t>
                </a:r>
              </a:p>
            </p:txBody>
          </p:sp>
          <p:sp>
            <p:nvSpPr>
              <p:cNvPr id="1149966" name="Text Box 14"/>
              <p:cNvSpPr txBox="1">
                <a:spLocks noChangeArrowheads="1"/>
              </p:cNvSpPr>
              <p:nvPr/>
            </p:nvSpPr>
            <p:spPr bwMode="auto">
              <a:xfrm>
                <a:off x="2853" y="2202"/>
                <a:ext cx="48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a typeface="宋体" pitchFamily="2" charset="-122"/>
                  </a:rPr>
                  <a:t>2008</a:t>
                </a:r>
              </a:p>
            </p:txBody>
          </p:sp>
          <p:sp>
            <p:nvSpPr>
              <p:cNvPr id="1149967" name="Text Box 15"/>
              <p:cNvSpPr txBox="1">
                <a:spLocks noChangeArrowheads="1"/>
              </p:cNvSpPr>
              <p:nvPr/>
            </p:nvSpPr>
            <p:spPr bwMode="auto">
              <a:xfrm>
                <a:off x="2854" y="2922"/>
                <a:ext cx="48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a typeface="宋体" pitchFamily="2" charset="-122"/>
                  </a:rPr>
                  <a:t>2036</a:t>
                </a:r>
              </a:p>
            </p:txBody>
          </p:sp>
          <p:sp>
            <p:nvSpPr>
              <p:cNvPr id="1149968" name="Text Box 16"/>
              <p:cNvSpPr txBox="1">
                <a:spLocks noChangeArrowheads="1"/>
              </p:cNvSpPr>
              <p:nvPr/>
            </p:nvSpPr>
            <p:spPr bwMode="auto">
              <a:xfrm>
                <a:off x="2954" y="2525"/>
                <a:ext cx="341"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grpSp>
        <p:grpSp>
          <p:nvGrpSpPr>
            <p:cNvPr id="1149983" name="Group 31"/>
            <p:cNvGrpSpPr>
              <a:grpSpLocks/>
            </p:cNvGrpSpPr>
            <p:nvPr/>
          </p:nvGrpSpPr>
          <p:grpSpPr bwMode="auto">
            <a:xfrm>
              <a:off x="2915" y="1958"/>
              <a:ext cx="784" cy="1400"/>
              <a:chOff x="4545" y="1776"/>
              <a:chExt cx="784" cy="1400"/>
            </a:xfrm>
          </p:grpSpPr>
          <p:grpSp>
            <p:nvGrpSpPr>
              <p:cNvPr id="1149984" name="Group 32"/>
              <p:cNvGrpSpPr>
                <a:grpSpLocks/>
              </p:cNvGrpSpPr>
              <p:nvPr/>
            </p:nvGrpSpPr>
            <p:grpSpPr bwMode="auto">
              <a:xfrm>
                <a:off x="4545" y="1776"/>
                <a:ext cx="699" cy="288"/>
                <a:chOff x="4545" y="1776"/>
                <a:chExt cx="699" cy="288"/>
              </a:xfrm>
            </p:grpSpPr>
            <p:sp>
              <p:nvSpPr>
                <p:cNvPr id="1149985" name="Line 33"/>
                <p:cNvSpPr>
                  <a:spLocks noChangeShapeType="1"/>
                </p:cNvSpPr>
                <p:nvPr/>
              </p:nvSpPr>
              <p:spPr bwMode="auto">
                <a:xfrm flipH="1">
                  <a:off x="4545" y="1933"/>
                  <a:ext cx="272" cy="0"/>
                </a:xfrm>
                <a:prstGeom prst="line">
                  <a:avLst/>
                </a:prstGeom>
                <a:noFill/>
                <a:ln w="28575">
                  <a:solidFill>
                    <a:srgbClr val="002060"/>
                  </a:solidFill>
                  <a:round/>
                  <a:headEnd/>
                  <a:tailEnd type="stealth" w="lg" len="lg"/>
                </a:ln>
                <a:effectLst/>
              </p:spPr>
              <p:txBody>
                <a:bodyPr/>
                <a:lstStyle/>
                <a:p>
                  <a:endParaRPr lang="zh-CN" altLang="en-US"/>
                </a:p>
              </p:txBody>
            </p:sp>
            <p:sp>
              <p:nvSpPr>
                <p:cNvPr id="1149986" name="Text Box 34"/>
                <p:cNvSpPr txBox="1">
                  <a:spLocks noChangeArrowheads="1"/>
                </p:cNvSpPr>
                <p:nvPr/>
              </p:nvSpPr>
              <p:spPr bwMode="auto">
                <a:xfrm>
                  <a:off x="4836" y="1776"/>
                  <a:ext cx="408"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a typeface="宋体" pitchFamily="2" charset="-122"/>
                    </a:rPr>
                    <a:t>a</a:t>
                  </a:r>
                </a:p>
              </p:txBody>
            </p:sp>
          </p:grpSp>
          <p:grpSp>
            <p:nvGrpSpPr>
              <p:cNvPr id="1149987" name="Group 35"/>
              <p:cNvGrpSpPr>
                <a:grpSpLocks/>
              </p:cNvGrpSpPr>
              <p:nvPr/>
            </p:nvGrpSpPr>
            <p:grpSpPr bwMode="auto">
              <a:xfrm>
                <a:off x="4553" y="1984"/>
                <a:ext cx="776" cy="288"/>
                <a:chOff x="4553" y="1984"/>
                <a:chExt cx="776" cy="288"/>
              </a:xfrm>
            </p:grpSpPr>
            <p:sp>
              <p:nvSpPr>
                <p:cNvPr id="1149988" name="Line 36"/>
                <p:cNvSpPr>
                  <a:spLocks noChangeShapeType="1"/>
                </p:cNvSpPr>
                <p:nvPr/>
              </p:nvSpPr>
              <p:spPr bwMode="auto">
                <a:xfrm flipH="1">
                  <a:off x="4553" y="2141"/>
                  <a:ext cx="272" cy="0"/>
                </a:xfrm>
                <a:prstGeom prst="line">
                  <a:avLst/>
                </a:prstGeom>
                <a:noFill/>
                <a:ln w="28575">
                  <a:solidFill>
                    <a:srgbClr val="002060"/>
                  </a:solidFill>
                  <a:round/>
                  <a:headEnd/>
                  <a:tailEnd type="stealth" w="lg" len="lg"/>
                </a:ln>
                <a:effectLst/>
              </p:spPr>
              <p:txBody>
                <a:bodyPr/>
                <a:lstStyle/>
                <a:p>
                  <a:endParaRPr lang="zh-CN" altLang="en-US"/>
                </a:p>
              </p:txBody>
            </p:sp>
            <p:sp>
              <p:nvSpPr>
                <p:cNvPr id="1149989" name="Text Box 37"/>
                <p:cNvSpPr txBox="1">
                  <a:spLocks noChangeArrowheads="1"/>
                </p:cNvSpPr>
                <p:nvPr/>
              </p:nvSpPr>
              <p:spPr bwMode="auto">
                <a:xfrm>
                  <a:off x="4844" y="1984"/>
                  <a:ext cx="485"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a typeface="宋体" pitchFamily="2" charset="-122"/>
                    </a:rPr>
                    <a:t>a+1</a:t>
                  </a:r>
                </a:p>
              </p:txBody>
            </p:sp>
          </p:grpSp>
          <p:grpSp>
            <p:nvGrpSpPr>
              <p:cNvPr id="1149990" name="Group 38"/>
              <p:cNvGrpSpPr>
                <a:grpSpLocks/>
              </p:cNvGrpSpPr>
              <p:nvPr/>
            </p:nvGrpSpPr>
            <p:grpSpPr bwMode="auto">
              <a:xfrm>
                <a:off x="4553" y="2200"/>
                <a:ext cx="776" cy="288"/>
                <a:chOff x="4553" y="1984"/>
                <a:chExt cx="776" cy="288"/>
              </a:xfrm>
            </p:grpSpPr>
            <p:sp>
              <p:nvSpPr>
                <p:cNvPr id="1149991" name="Line 39"/>
                <p:cNvSpPr>
                  <a:spLocks noChangeShapeType="1"/>
                </p:cNvSpPr>
                <p:nvPr/>
              </p:nvSpPr>
              <p:spPr bwMode="auto">
                <a:xfrm flipH="1">
                  <a:off x="4553" y="2141"/>
                  <a:ext cx="272" cy="0"/>
                </a:xfrm>
                <a:prstGeom prst="line">
                  <a:avLst/>
                </a:prstGeom>
                <a:noFill/>
                <a:ln w="28575">
                  <a:solidFill>
                    <a:srgbClr val="002060"/>
                  </a:solidFill>
                  <a:round/>
                  <a:headEnd/>
                  <a:tailEnd type="stealth" w="lg" len="lg"/>
                </a:ln>
                <a:effectLst/>
              </p:spPr>
              <p:txBody>
                <a:bodyPr/>
                <a:lstStyle/>
                <a:p>
                  <a:endParaRPr lang="zh-CN" altLang="en-US"/>
                </a:p>
              </p:txBody>
            </p:sp>
            <p:sp>
              <p:nvSpPr>
                <p:cNvPr id="1149992" name="Text Box 40"/>
                <p:cNvSpPr txBox="1">
                  <a:spLocks noChangeArrowheads="1"/>
                </p:cNvSpPr>
                <p:nvPr/>
              </p:nvSpPr>
              <p:spPr bwMode="auto">
                <a:xfrm>
                  <a:off x="4844" y="1984"/>
                  <a:ext cx="485"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a typeface="宋体" pitchFamily="2" charset="-122"/>
                    </a:rPr>
                    <a:t>a+2</a:t>
                  </a:r>
                </a:p>
              </p:txBody>
            </p:sp>
          </p:grpSp>
          <p:grpSp>
            <p:nvGrpSpPr>
              <p:cNvPr id="1149993" name="Group 41"/>
              <p:cNvGrpSpPr>
                <a:grpSpLocks/>
              </p:cNvGrpSpPr>
              <p:nvPr/>
            </p:nvGrpSpPr>
            <p:grpSpPr bwMode="auto">
              <a:xfrm>
                <a:off x="4553" y="2888"/>
                <a:ext cx="776" cy="288"/>
                <a:chOff x="4553" y="1984"/>
                <a:chExt cx="776" cy="288"/>
              </a:xfrm>
            </p:grpSpPr>
            <p:sp>
              <p:nvSpPr>
                <p:cNvPr id="1149994" name="Line 42"/>
                <p:cNvSpPr>
                  <a:spLocks noChangeShapeType="1"/>
                </p:cNvSpPr>
                <p:nvPr/>
              </p:nvSpPr>
              <p:spPr bwMode="auto">
                <a:xfrm flipH="1">
                  <a:off x="4553" y="2141"/>
                  <a:ext cx="272" cy="0"/>
                </a:xfrm>
                <a:prstGeom prst="line">
                  <a:avLst/>
                </a:prstGeom>
                <a:noFill/>
                <a:ln w="28575">
                  <a:solidFill>
                    <a:srgbClr val="002060"/>
                  </a:solidFill>
                  <a:round/>
                  <a:headEnd/>
                  <a:tailEnd type="stealth" w="lg" len="lg"/>
                </a:ln>
                <a:effectLst/>
              </p:spPr>
              <p:txBody>
                <a:bodyPr/>
                <a:lstStyle/>
                <a:p>
                  <a:endParaRPr lang="zh-CN" altLang="en-US"/>
                </a:p>
              </p:txBody>
            </p:sp>
            <p:sp>
              <p:nvSpPr>
                <p:cNvPr id="1149995" name="Text Box 43"/>
                <p:cNvSpPr txBox="1">
                  <a:spLocks noChangeArrowheads="1"/>
                </p:cNvSpPr>
                <p:nvPr/>
              </p:nvSpPr>
              <p:spPr bwMode="auto">
                <a:xfrm>
                  <a:off x="4844" y="1984"/>
                  <a:ext cx="485"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a typeface="宋体" pitchFamily="2" charset="-122"/>
                    </a:rPr>
                    <a:t>a+9</a:t>
                  </a:r>
                </a:p>
              </p:txBody>
            </p:sp>
          </p:grpSp>
          <p:sp>
            <p:nvSpPr>
              <p:cNvPr id="1149996" name="Text Box 44"/>
              <p:cNvSpPr txBox="1">
                <a:spLocks noChangeArrowheads="1"/>
              </p:cNvSpPr>
              <p:nvPr/>
            </p:nvSpPr>
            <p:spPr bwMode="auto">
              <a:xfrm>
                <a:off x="4614" y="2512"/>
                <a:ext cx="384" cy="499"/>
              </a:xfrm>
              <a:prstGeom prst="rect">
                <a:avLst/>
              </a:prstGeom>
              <a:noFill/>
              <a:ln w="9525">
                <a:noFill/>
                <a:miter lim="800000"/>
                <a:headEnd/>
                <a:tailEnd/>
              </a:ln>
              <a:effectLst/>
            </p:spPr>
            <p:txBody>
              <a:bodyPr vert="eaVert">
                <a:spAutoFit/>
              </a:bodyPr>
              <a:lstStyle/>
              <a:p>
                <a:pPr>
                  <a:lnSpc>
                    <a:spcPct val="100000"/>
                  </a:lnSpc>
                  <a:spcBef>
                    <a:spcPct val="50000"/>
                  </a:spcBef>
                </a:pPr>
                <a:r>
                  <a:rPr lang="en-US" altLang="zh-CN">
                    <a:ea typeface="宋体" pitchFamily="2" charset="-122"/>
                  </a:rPr>
                  <a:t>……</a:t>
                </a:r>
              </a:p>
            </p:txBody>
          </p:sp>
        </p:grpSp>
        <p:grpSp>
          <p:nvGrpSpPr>
            <p:cNvPr id="1150007" name="Group 55"/>
            <p:cNvGrpSpPr>
              <a:grpSpLocks/>
            </p:cNvGrpSpPr>
            <p:nvPr/>
          </p:nvGrpSpPr>
          <p:grpSpPr bwMode="auto">
            <a:xfrm>
              <a:off x="1704" y="1743"/>
              <a:ext cx="1212" cy="2438"/>
              <a:chOff x="1704" y="1743"/>
              <a:chExt cx="1212" cy="2438"/>
            </a:xfrm>
          </p:grpSpPr>
          <p:grpSp>
            <p:nvGrpSpPr>
              <p:cNvPr id="1149969" name="Group 17"/>
              <p:cNvGrpSpPr>
                <a:grpSpLocks/>
              </p:cNvGrpSpPr>
              <p:nvPr/>
            </p:nvGrpSpPr>
            <p:grpSpPr bwMode="auto">
              <a:xfrm>
                <a:off x="1704" y="1752"/>
                <a:ext cx="1212" cy="2429"/>
                <a:chOff x="2353" y="1364"/>
                <a:chExt cx="1212" cy="2429"/>
              </a:xfrm>
            </p:grpSpPr>
            <p:sp>
              <p:nvSpPr>
                <p:cNvPr id="1149970" name="Rectangle 18"/>
                <p:cNvSpPr>
                  <a:spLocks noChangeArrowheads="1"/>
                </p:cNvSpPr>
                <p:nvPr/>
              </p:nvSpPr>
              <p:spPr bwMode="auto">
                <a:xfrm>
                  <a:off x="2353" y="1364"/>
                  <a:ext cx="1211" cy="1839"/>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a typeface="宋体" pitchFamily="2" charset="-122"/>
                  </a:endParaRPr>
                </a:p>
              </p:txBody>
            </p:sp>
            <p:sp>
              <p:nvSpPr>
                <p:cNvPr id="1149971" name="Line 19"/>
                <p:cNvSpPr>
                  <a:spLocks noChangeShapeType="1"/>
                </p:cNvSpPr>
                <p:nvPr/>
              </p:nvSpPr>
              <p:spPr bwMode="auto">
                <a:xfrm>
                  <a:off x="2353" y="1619"/>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9972" name="Line 20"/>
                <p:cNvSpPr>
                  <a:spLocks noChangeShapeType="1"/>
                </p:cNvSpPr>
                <p:nvPr/>
              </p:nvSpPr>
              <p:spPr bwMode="auto">
                <a:xfrm>
                  <a:off x="2353" y="1822"/>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9973" name="Line 21"/>
                <p:cNvSpPr>
                  <a:spLocks noChangeShapeType="1"/>
                </p:cNvSpPr>
                <p:nvPr/>
              </p:nvSpPr>
              <p:spPr bwMode="auto">
                <a:xfrm>
                  <a:off x="2353" y="2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9974" name="Text Box 22"/>
                <p:cNvSpPr txBox="1">
                  <a:spLocks noChangeArrowheads="1"/>
                </p:cNvSpPr>
                <p:nvPr/>
              </p:nvSpPr>
              <p:spPr bwMode="auto">
                <a:xfrm>
                  <a:off x="2772" y="2340"/>
                  <a:ext cx="341"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a typeface="宋体" pitchFamily="2" charset="-122"/>
                    </a:rPr>
                    <a:t>…...</a:t>
                  </a:r>
                </a:p>
              </p:txBody>
            </p:sp>
            <p:sp>
              <p:nvSpPr>
                <p:cNvPr id="1149975" name="AutoShape 23"/>
                <p:cNvSpPr>
                  <a:spLocks noChangeArrowheads="1"/>
                </p:cNvSpPr>
                <p:nvPr/>
              </p:nvSpPr>
              <p:spPr bwMode="auto">
                <a:xfrm>
                  <a:off x="2354" y="3203"/>
                  <a:ext cx="1211" cy="590"/>
                </a:xfrm>
                <a:prstGeom prst="foldedCorner">
                  <a:avLst>
                    <a:gd name="adj" fmla="val 50000"/>
                  </a:avLst>
                </a:prstGeom>
                <a:solidFill>
                  <a:srgbClr val="DDFAED"/>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49976" name="Text Box 24"/>
                <p:cNvSpPr txBox="1">
                  <a:spLocks noChangeArrowheads="1"/>
                </p:cNvSpPr>
                <p:nvPr/>
              </p:nvSpPr>
              <p:spPr bwMode="auto">
                <a:xfrm>
                  <a:off x="2717" y="1584"/>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a[0]</a:t>
                  </a:r>
                </a:p>
              </p:txBody>
            </p:sp>
            <p:sp>
              <p:nvSpPr>
                <p:cNvPr id="1149977" name="Line 25"/>
                <p:cNvSpPr>
                  <a:spLocks noChangeShapeType="1"/>
                </p:cNvSpPr>
                <p:nvPr/>
              </p:nvSpPr>
              <p:spPr bwMode="auto">
                <a:xfrm>
                  <a:off x="2353" y="203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9978" name="Text Box 26"/>
                <p:cNvSpPr txBox="1">
                  <a:spLocks noChangeArrowheads="1"/>
                </p:cNvSpPr>
                <p:nvPr/>
              </p:nvSpPr>
              <p:spPr bwMode="auto">
                <a:xfrm>
                  <a:off x="2725" y="1792"/>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a[1]</a:t>
                  </a:r>
                </a:p>
              </p:txBody>
            </p:sp>
            <p:sp>
              <p:nvSpPr>
                <p:cNvPr id="1149979" name="Text Box 27"/>
                <p:cNvSpPr txBox="1">
                  <a:spLocks noChangeArrowheads="1"/>
                </p:cNvSpPr>
                <p:nvPr/>
              </p:nvSpPr>
              <p:spPr bwMode="auto">
                <a:xfrm>
                  <a:off x="2725" y="2000"/>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a[2]</a:t>
                  </a:r>
                </a:p>
              </p:txBody>
            </p:sp>
            <p:sp>
              <p:nvSpPr>
                <p:cNvPr id="1149980" name="Line 28"/>
                <p:cNvSpPr>
                  <a:spLocks noChangeShapeType="1"/>
                </p:cNvSpPr>
                <p:nvPr/>
              </p:nvSpPr>
              <p:spPr bwMode="auto">
                <a:xfrm>
                  <a:off x="2353" y="2732"/>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9981" name="Line 29"/>
                <p:cNvSpPr>
                  <a:spLocks noChangeShapeType="1"/>
                </p:cNvSpPr>
                <p:nvPr/>
              </p:nvSpPr>
              <p:spPr bwMode="auto">
                <a:xfrm>
                  <a:off x="2353" y="295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9982" name="Text Box 30"/>
                <p:cNvSpPr txBox="1">
                  <a:spLocks noChangeArrowheads="1"/>
                </p:cNvSpPr>
                <p:nvPr/>
              </p:nvSpPr>
              <p:spPr bwMode="auto">
                <a:xfrm>
                  <a:off x="2733" y="2712"/>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a[9]</a:t>
                  </a:r>
                </a:p>
              </p:txBody>
            </p:sp>
          </p:grpSp>
          <p:sp>
            <p:nvSpPr>
              <p:cNvPr id="1150006" name="Rectangle 54"/>
              <p:cNvSpPr>
                <a:spLocks noChangeArrowheads="1"/>
              </p:cNvSpPr>
              <p:nvPr/>
            </p:nvSpPr>
            <p:spPr bwMode="auto">
              <a:xfrm>
                <a:off x="1710" y="1761"/>
                <a:ext cx="1202" cy="238"/>
              </a:xfrm>
              <a:prstGeom prst="rect">
                <a:avLst/>
              </a:prstGeom>
              <a:solidFill>
                <a:srgbClr val="F0E5B7"/>
              </a:solidFill>
              <a:ln w="9525">
                <a:solidFill>
                  <a:schemeClr val="tx1"/>
                </a:solidFill>
                <a:miter lim="800000"/>
                <a:headEnd/>
                <a:tailEnd/>
              </a:ln>
              <a:effectLst/>
            </p:spPr>
            <p:txBody>
              <a:bodyPr wrap="none" anchor="ctr"/>
              <a:lstStyle/>
              <a:p>
                <a:endParaRPr lang="zh-CN" altLang="en-US"/>
              </a:p>
            </p:txBody>
          </p:sp>
          <p:sp>
            <p:nvSpPr>
              <p:cNvPr id="1150005" name="Text Box 53"/>
              <p:cNvSpPr txBox="1">
                <a:spLocks noChangeArrowheads="1"/>
              </p:cNvSpPr>
              <p:nvPr/>
            </p:nvSpPr>
            <p:spPr bwMode="auto">
              <a:xfrm>
                <a:off x="1965" y="1743"/>
                <a:ext cx="590"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dirty="0">
                    <a:solidFill>
                      <a:srgbClr val="C00000"/>
                    </a:solidFill>
                    <a:ea typeface="宋体" pitchFamily="2" charset="-122"/>
                  </a:rPr>
                  <a:t>2000</a:t>
                </a:r>
              </a:p>
            </p:txBody>
          </p:sp>
        </p:grpSp>
        <p:grpSp>
          <p:nvGrpSpPr>
            <p:cNvPr id="1150011" name="Group 59"/>
            <p:cNvGrpSpPr>
              <a:grpSpLocks/>
            </p:cNvGrpSpPr>
            <p:nvPr/>
          </p:nvGrpSpPr>
          <p:grpSpPr bwMode="auto">
            <a:xfrm>
              <a:off x="2571" y="1888"/>
              <a:ext cx="594" cy="136"/>
              <a:chOff x="2571" y="1888"/>
              <a:chExt cx="594" cy="136"/>
            </a:xfrm>
          </p:grpSpPr>
          <p:sp>
            <p:nvSpPr>
              <p:cNvPr id="1150008" name="Line 56"/>
              <p:cNvSpPr>
                <a:spLocks noChangeShapeType="1"/>
              </p:cNvSpPr>
              <p:nvPr/>
            </p:nvSpPr>
            <p:spPr bwMode="auto">
              <a:xfrm>
                <a:off x="2571" y="1888"/>
                <a:ext cx="590" cy="0"/>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sp>
            <p:nvSpPr>
              <p:cNvPr id="1150009" name="Line 57"/>
              <p:cNvSpPr>
                <a:spLocks noChangeShapeType="1"/>
              </p:cNvSpPr>
              <p:nvPr/>
            </p:nvSpPr>
            <p:spPr bwMode="auto">
              <a:xfrm flipH="1">
                <a:off x="2916" y="2024"/>
                <a:ext cx="249"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50010" name="Line 58"/>
              <p:cNvSpPr>
                <a:spLocks noChangeShapeType="1"/>
              </p:cNvSpPr>
              <p:nvPr/>
            </p:nvSpPr>
            <p:spPr bwMode="auto">
              <a:xfrm>
                <a:off x="3161" y="1888"/>
                <a:ext cx="0" cy="136"/>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grpSp>
      </p:grpSp>
      <p:grpSp>
        <p:nvGrpSpPr>
          <p:cNvPr id="1150043" name="Group 91"/>
          <p:cNvGrpSpPr>
            <a:grpSpLocks/>
          </p:cNvGrpSpPr>
          <p:nvPr/>
        </p:nvGrpSpPr>
        <p:grpSpPr bwMode="auto">
          <a:xfrm>
            <a:off x="5579504" y="2839292"/>
            <a:ext cx="736023" cy="2232025"/>
            <a:chOff x="3224" y="1798"/>
            <a:chExt cx="510" cy="1406"/>
          </a:xfrm>
        </p:grpSpPr>
        <p:sp>
          <p:nvSpPr>
            <p:cNvPr id="1150013" name="Text Box 61"/>
            <p:cNvSpPr txBox="1">
              <a:spLocks noChangeArrowheads="1"/>
            </p:cNvSpPr>
            <p:nvPr/>
          </p:nvSpPr>
          <p:spPr bwMode="auto">
            <a:xfrm>
              <a:off x="3224" y="1798"/>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a typeface="宋体" pitchFamily="2" charset="-122"/>
                </a:rPr>
                <a:t>p</a:t>
              </a:r>
            </a:p>
          </p:txBody>
        </p:sp>
        <p:sp>
          <p:nvSpPr>
            <p:cNvPr id="1150014" name="Text Box 62"/>
            <p:cNvSpPr txBox="1">
              <a:spLocks noChangeArrowheads="1"/>
            </p:cNvSpPr>
            <p:nvPr/>
          </p:nvSpPr>
          <p:spPr bwMode="auto">
            <a:xfrm>
              <a:off x="3225" y="2015"/>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a typeface="宋体" pitchFamily="2" charset="-122"/>
                </a:rPr>
                <a:t>p+1</a:t>
              </a:r>
            </a:p>
          </p:txBody>
        </p:sp>
        <p:sp>
          <p:nvSpPr>
            <p:cNvPr id="1150015" name="Text Box 63"/>
            <p:cNvSpPr txBox="1">
              <a:spLocks noChangeArrowheads="1"/>
            </p:cNvSpPr>
            <p:nvPr/>
          </p:nvSpPr>
          <p:spPr bwMode="auto">
            <a:xfrm>
              <a:off x="3235" y="2250"/>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a typeface="宋体" pitchFamily="2" charset="-122"/>
                </a:rPr>
                <a:t>p+2</a:t>
              </a:r>
            </a:p>
          </p:txBody>
        </p:sp>
        <p:sp>
          <p:nvSpPr>
            <p:cNvPr id="1150016" name="Text Box 64"/>
            <p:cNvSpPr txBox="1">
              <a:spLocks noChangeArrowheads="1"/>
            </p:cNvSpPr>
            <p:nvPr/>
          </p:nvSpPr>
          <p:spPr bwMode="auto">
            <a:xfrm>
              <a:off x="3226" y="2916"/>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a typeface="宋体" pitchFamily="2" charset="-122"/>
                </a:rPr>
                <a:t>p+9</a:t>
              </a:r>
            </a:p>
          </p:txBody>
        </p:sp>
        <p:sp>
          <p:nvSpPr>
            <p:cNvPr id="1150023" name="Text Box 71"/>
            <p:cNvSpPr txBox="1">
              <a:spLocks noChangeArrowheads="1"/>
            </p:cNvSpPr>
            <p:nvPr/>
          </p:nvSpPr>
          <p:spPr bwMode="auto">
            <a:xfrm>
              <a:off x="3257" y="2550"/>
              <a:ext cx="384" cy="499"/>
            </a:xfrm>
            <a:prstGeom prst="rect">
              <a:avLst/>
            </a:prstGeom>
            <a:noFill/>
            <a:ln w="9525">
              <a:noFill/>
              <a:miter lim="800000"/>
              <a:headEnd/>
              <a:tailEnd/>
            </a:ln>
            <a:effectLst/>
          </p:spPr>
          <p:txBody>
            <a:bodyPr vert="eaVert">
              <a:spAutoFit/>
            </a:bodyPr>
            <a:lstStyle/>
            <a:p>
              <a:pPr>
                <a:lnSpc>
                  <a:spcPct val="100000"/>
                </a:lnSpc>
                <a:spcBef>
                  <a:spcPct val="50000"/>
                </a:spcBef>
              </a:pPr>
              <a:r>
                <a:rPr lang="en-US" altLang="zh-CN">
                  <a:ea typeface="宋体" pitchFamily="2" charset="-122"/>
                </a:rPr>
                <a:t>……</a:t>
              </a:r>
            </a:p>
          </p:txBody>
        </p:sp>
      </p:grpSp>
      <p:grpSp>
        <p:nvGrpSpPr>
          <p:cNvPr id="1150025" name="Group 73"/>
          <p:cNvGrpSpPr>
            <a:grpSpLocks/>
          </p:cNvGrpSpPr>
          <p:nvPr/>
        </p:nvGrpSpPr>
        <p:grpSpPr bwMode="auto">
          <a:xfrm>
            <a:off x="6462876" y="2798016"/>
            <a:ext cx="1100860" cy="2274888"/>
            <a:chOff x="3775" y="1772"/>
            <a:chExt cx="630" cy="1433"/>
          </a:xfrm>
        </p:grpSpPr>
        <p:sp>
          <p:nvSpPr>
            <p:cNvPr id="1150019" name="Text Box 67"/>
            <p:cNvSpPr txBox="1">
              <a:spLocks noChangeArrowheads="1"/>
            </p:cNvSpPr>
            <p:nvPr/>
          </p:nvSpPr>
          <p:spPr bwMode="auto">
            <a:xfrm>
              <a:off x="3783" y="1772"/>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dirty="0">
                  <a:solidFill>
                    <a:srgbClr val="7030A0"/>
                  </a:solidFill>
                  <a:ea typeface="宋体" pitchFamily="2" charset="-122"/>
                </a:rPr>
                <a:t>*a</a:t>
              </a:r>
            </a:p>
          </p:txBody>
        </p:sp>
        <p:sp>
          <p:nvSpPr>
            <p:cNvPr id="1150020" name="Text Box 68"/>
            <p:cNvSpPr txBox="1">
              <a:spLocks noChangeArrowheads="1"/>
            </p:cNvSpPr>
            <p:nvPr/>
          </p:nvSpPr>
          <p:spPr bwMode="auto">
            <a:xfrm>
              <a:off x="3775" y="2007"/>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dirty="0">
                  <a:solidFill>
                    <a:srgbClr val="7030A0"/>
                  </a:solidFill>
                  <a:ea typeface="宋体" pitchFamily="2" charset="-122"/>
                </a:rPr>
                <a:t>*(a+1)</a:t>
              </a:r>
            </a:p>
          </p:txBody>
        </p:sp>
        <p:sp>
          <p:nvSpPr>
            <p:cNvPr id="1150021" name="Text Box 69"/>
            <p:cNvSpPr txBox="1">
              <a:spLocks noChangeArrowheads="1"/>
            </p:cNvSpPr>
            <p:nvPr/>
          </p:nvSpPr>
          <p:spPr bwMode="auto">
            <a:xfrm>
              <a:off x="3776" y="2260"/>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7030A0"/>
                  </a:solidFill>
                  <a:ea typeface="宋体" pitchFamily="2" charset="-122"/>
                </a:rPr>
                <a:t>*(a+2)</a:t>
              </a:r>
            </a:p>
          </p:txBody>
        </p:sp>
        <p:sp>
          <p:nvSpPr>
            <p:cNvPr id="1150022" name="Text Box 70"/>
            <p:cNvSpPr txBox="1">
              <a:spLocks noChangeArrowheads="1"/>
            </p:cNvSpPr>
            <p:nvPr/>
          </p:nvSpPr>
          <p:spPr bwMode="auto">
            <a:xfrm>
              <a:off x="3803" y="2917"/>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7030A0"/>
                  </a:solidFill>
                  <a:ea typeface="宋体" pitchFamily="2" charset="-122"/>
                </a:rPr>
                <a:t>*(a+9)</a:t>
              </a:r>
            </a:p>
          </p:txBody>
        </p:sp>
        <p:sp>
          <p:nvSpPr>
            <p:cNvPr id="1150024" name="Text Box 72"/>
            <p:cNvSpPr txBox="1">
              <a:spLocks noChangeArrowheads="1"/>
            </p:cNvSpPr>
            <p:nvPr/>
          </p:nvSpPr>
          <p:spPr bwMode="auto">
            <a:xfrm>
              <a:off x="4018" y="2542"/>
              <a:ext cx="317" cy="499"/>
            </a:xfrm>
            <a:prstGeom prst="rect">
              <a:avLst/>
            </a:prstGeom>
            <a:noFill/>
            <a:ln w="9525">
              <a:noFill/>
              <a:miter lim="800000"/>
              <a:headEnd/>
              <a:tailEnd/>
            </a:ln>
            <a:effectLst/>
          </p:spPr>
          <p:txBody>
            <a:bodyPr vert="eaVert">
              <a:spAutoFit/>
            </a:bodyPr>
            <a:lstStyle/>
            <a:p>
              <a:pPr>
                <a:lnSpc>
                  <a:spcPct val="100000"/>
                </a:lnSpc>
                <a:spcBef>
                  <a:spcPct val="50000"/>
                </a:spcBef>
              </a:pPr>
              <a:r>
                <a:rPr lang="en-US" altLang="zh-CN">
                  <a:solidFill>
                    <a:srgbClr val="7030A0"/>
                  </a:solidFill>
                  <a:ea typeface="宋体" pitchFamily="2" charset="-122"/>
                </a:rPr>
                <a:t>……</a:t>
              </a:r>
            </a:p>
          </p:txBody>
        </p:sp>
      </p:grpSp>
      <p:grpSp>
        <p:nvGrpSpPr>
          <p:cNvPr id="1150026" name="Group 74"/>
          <p:cNvGrpSpPr>
            <a:grpSpLocks/>
          </p:cNvGrpSpPr>
          <p:nvPr/>
        </p:nvGrpSpPr>
        <p:grpSpPr bwMode="auto">
          <a:xfrm>
            <a:off x="7920770" y="2828180"/>
            <a:ext cx="1127558" cy="2274887"/>
            <a:chOff x="3775" y="1772"/>
            <a:chExt cx="630" cy="1433"/>
          </a:xfrm>
        </p:grpSpPr>
        <p:sp>
          <p:nvSpPr>
            <p:cNvPr id="1150027" name="Text Box 75"/>
            <p:cNvSpPr txBox="1">
              <a:spLocks noChangeArrowheads="1"/>
            </p:cNvSpPr>
            <p:nvPr/>
          </p:nvSpPr>
          <p:spPr bwMode="auto">
            <a:xfrm>
              <a:off x="3783" y="1772"/>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dirty="0">
                  <a:solidFill>
                    <a:srgbClr val="7030A0"/>
                  </a:solidFill>
                  <a:ea typeface="宋体" pitchFamily="2" charset="-122"/>
                </a:rPr>
                <a:t>*p</a:t>
              </a:r>
            </a:p>
          </p:txBody>
        </p:sp>
        <p:sp>
          <p:nvSpPr>
            <p:cNvPr id="1150028" name="Text Box 76"/>
            <p:cNvSpPr txBox="1">
              <a:spLocks noChangeArrowheads="1"/>
            </p:cNvSpPr>
            <p:nvPr/>
          </p:nvSpPr>
          <p:spPr bwMode="auto">
            <a:xfrm>
              <a:off x="3775" y="2007"/>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7030A0"/>
                  </a:solidFill>
                  <a:ea typeface="宋体" pitchFamily="2" charset="-122"/>
                </a:rPr>
                <a:t>*(p+1)</a:t>
              </a:r>
            </a:p>
          </p:txBody>
        </p:sp>
        <p:sp>
          <p:nvSpPr>
            <p:cNvPr id="1150029" name="Text Box 77"/>
            <p:cNvSpPr txBox="1">
              <a:spLocks noChangeArrowheads="1"/>
            </p:cNvSpPr>
            <p:nvPr/>
          </p:nvSpPr>
          <p:spPr bwMode="auto">
            <a:xfrm>
              <a:off x="3776" y="2260"/>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dirty="0">
                  <a:solidFill>
                    <a:srgbClr val="7030A0"/>
                  </a:solidFill>
                  <a:ea typeface="宋体" pitchFamily="2" charset="-122"/>
                </a:rPr>
                <a:t>*(p+2)</a:t>
              </a:r>
            </a:p>
          </p:txBody>
        </p:sp>
        <p:sp>
          <p:nvSpPr>
            <p:cNvPr id="1150030" name="Text Box 78"/>
            <p:cNvSpPr txBox="1">
              <a:spLocks noChangeArrowheads="1"/>
            </p:cNvSpPr>
            <p:nvPr/>
          </p:nvSpPr>
          <p:spPr bwMode="auto">
            <a:xfrm>
              <a:off x="3803" y="2917"/>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7030A0"/>
                  </a:solidFill>
                  <a:ea typeface="宋体" pitchFamily="2" charset="-122"/>
                </a:rPr>
                <a:t>*(p+9)</a:t>
              </a:r>
            </a:p>
          </p:txBody>
        </p:sp>
        <p:sp>
          <p:nvSpPr>
            <p:cNvPr id="1150031" name="Text Box 79"/>
            <p:cNvSpPr txBox="1">
              <a:spLocks noChangeArrowheads="1"/>
            </p:cNvSpPr>
            <p:nvPr/>
          </p:nvSpPr>
          <p:spPr bwMode="auto">
            <a:xfrm>
              <a:off x="4025" y="2542"/>
              <a:ext cx="310" cy="499"/>
            </a:xfrm>
            <a:prstGeom prst="rect">
              <a:avLst/>
            </a:prstGeom>
            <a:noFill/>
            <a:ln w="9525">
              <a:noFill/>
              <a:miter lim="800000"/>
              <a:headEnd/>
              <a:tailEnd/>
            </a:ln>
            <a:effectLst/>
          </p:spPr>
          <p:txBody>
            <a:bodyPr vert="eaVert">
              <a:spAutoFit/>
            </a:bodyPr>
            <a:lstStyle/>
            <a:p>
              <a:pPr>
                <a:lnSpc>
                  <a:spcPct val="100000"/>
                </a:lnSpc>
                <a:spcBef>
                  <a:spcPct val="50000"/>
                </a:spcBef>
              </a:pPr>
              <a:r>
                <a:rPr lang="en-US" altLang="zh-CN">
                  <a:solidFill>
                    <a:srgbClr val="7030A0"/>
                  </a:solidFill>
                  <a:ea typeface="宋体" pitchFamily="2" charset="-122"/>
                </a:rPr>
                <a:t>……</a:t>
              </a:r>
            </a:p>
          </p:txBody>
        </p:sp>
      </p:grpSp>
      <p:grpSp>
        <p:nvGrpSpPr>
          <p:cNvPr id="1150032" name="Group 80"/>
          <p:cNvGrpSpPr>
            <a:grpSpLocks/>
          </p:cNvGrpSpPr>
          <p:nvPr/>
        </p:nvGrpSpPr>
        <p:grpSpPr bwMode="auto">
          <a:xfrm>
            <a:off x="9291251" y="2815480"/>
            <a:ext cx="909205" cy="2274887"/>
            <a:chOff x="3775" y="1772"/>
            <a:chExt cx="630" cy="1433"/>
          </a:xfrm>
        </p:grpSpPr>
        <p:sp>
          <p:nvSpPr>
            <p:cNvPr id="1150033" name="Text Box 81"/>
            <p:cNvSpPr txBox="1">
              <a:spLocks noChangeArrowheads="1"/>
            </p:cNvSpPr>
            <p:nvPr/>
          </p:nvSpPr>
          <p:spPr bwMode="auto">
            <a:xfrm>
              <a:off x="3783" y="1772"/>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dirty="0">
                  <a:solidFill>
                    <a:srgbClr val="7030A0"/>
                  </a:solidFill>
                  <a:ea typeface="宋体" pitchFamily="2" charset="-122"/>
                </a:rPr>
                <a:t>p[0]</a:t>
              </a:r>
            </a:p>
          </p:txBody>
        </p:sp>
        <p:sp>
          <p:nvSpPr>
            <p:cNvPr id="1150034" name="Text Box 82"/>
            <p:cNvSpPr txBox="1">
              <a:spLocks noChangeArrowheads="1"/>
            </p:cNvSpPr>
            <p:nvPr/>
          </p:nvSpPr>
          <p:spPr bwMode="auto">
            <a:xfrm>
              <a:off x="3775" y="2007"/>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7030A0"/>
                  </a:solidFill>
                  <a:ea typeface="宋体" pitchFamily="2" charset="-122"/>
                </a:rPr>
                <a:t>p[1]</a:t>
              </a:r>
            </a:p>
          </p:txBody>
        </p:sp>
        <p:sp>
          <p:nvSpPr>
            <p:cNvPr id="1150035" name="Text Box 83"/>
            <p:cNvSpPr txBox="1">
              <a:spLocks noChangeArrowheads="1"/>
            </p:cNvSpPr>
            <p:nvPr/>
          </p:nvSpPr>
          <p:spPr bwMode="auto">
            <a:xfrm>
              <a:off x="3776" y="2260"/>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7030A0"/>
                  </a:solidFill>
                  <a:ea typeface="宋体" pitchFamily="2" charset="-122"/>
                </a:rPr>
                <a:t>p[2]</a:t>
              </a:r>
            </a:p>
          </p:txBody>
        </p:sp>
        <p:sp>
          <p:nvSpPr>
            <p:cNvPr id="1150036" name="Text Box 84"/>
            <p:cNvSpPr txBox="1">
              <a:spLocks noChangeArrowheads="1"/>
            </p:cNvSpPr>
            <p:nvPr/>
          </p:nvSpPr>
          <p:spPr bwMode="auto">
            <a:xfrm>
              <a:off x="3803" y="2917"/>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7030A0"/>
                  </a:solidFill>
                  <a:ea typeface="宋体" pitchFamily="2" charset="-122"/>
                </a:rPr>
                <a:t>p[9]</a:t>
              </a:r>
            </a:p>
          </p:txBody>
        </p:sp>
        <p:sp>
          <p:nvSpPr>
            <p:cNvPr id="1150037" name="Text Box 85"/>
            <p:cNvSpPr txBox="1">
              <a:spLocks noChangeArrowheads="1"/>
            </p:cNvSpPr>
            <p:nvPr/>
          </p:nvSpPr>
          <p:spPr bwMode="auto">
            <a:xfrm>
              <a:off x="3951" y="2542"/>
              <a:ext cx="384" cy="499"/>
            </a:xfrm>
            <a:prstGeom prst="rect">
              <a:avLst/>
            </a:prstGeom>
            <a:noFill/>
            <a:ln w="9525">
              <a:noFill/>
              <a:miter lim="800000"/>
              <a:headEnd/>
              <a:tailEnd/>
            </a:ln>
            <a:effectLst/>
          </p:spPr>
          <p:txBody>
            <a:bodyPr vert="eaVert">
              <a:spAutoFit/>
            </a:bodyPr>
            <a:lstStyle/>
            <a:p>
              <a:pPr>
                <a:lnSpc>
                  <a:spcPct val="100000"/>
                </a:lnSpc>
                <a:spcBef>
                  <a:spcPct val="50000"/>
                </a:spcBef>
              </a:pPr>
              <a:r>
                <a:rPr lang="en-US" altLang="zh-CN">
                  <a:solidFill>
                    <a:srgbClr val="7030A0"/>
                  </a:solidFill>
                  <a:ea typeface="宋体" pitchFamily="2" charset="-122"/>
                </a:rPr>
                <a:t>……</a:t>
              </a:r>
            </a:p>
          </p:txBody>
        </p:sp>
      </p:grpSp>
      <p:grpSp>
        <p:nvGrpSpPr>
          <p:cNvPr id="1150042" name="Group 90"/>
          <p:cNvGrpSpPr>
            <a:grpSpLocks/>
          </p:cNvGrpSpPr>
          <p:nvPr/>
        </p:nvGrpSpPr>
        <p:grpSpPr bwMode="auto">
          <a:xfrm>
            <a:off x="4684364" y="2248741"/>
            <a:ext cx="1203614" cy="717550"/>
            <a:chOff x="2699" y="1426"/>
            <a:chExt cx="834" cy="452"/>
          </a:xfrm>
        </p:grpSpPr>
        <p:sp>
          <p:nvSpPr>
            <p:cNvPr id="1150038" name="AutoShape 86"/>
            <p:cNvSpPr>
              <a:spLocks/>
            </p:cNvSpPr>
            <p:nvPr/>
          </p:nvSpPr>
          <p:spPr bwMode="auto">
            <a:xfrm rot="5400000">
              <a:off x="2948" y="1448"/>
              <a:ext cx="181" cy="680"/>
            </a:xfrm>
            <a:prstGeom prst="leftBrace">
              <a:avLst>
                <a:gd name="adj1" fmla="val 31308"/>
                <a:gd name="adj2" fmla="val 50000"/>
              </a:avLst>
            </a:prstGeom>
            <a:noFill/>
            <a:ln w="34925">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50039" name="Text Box 87"/>
            <p:cNvSpPr txBox="1">
              <a:spLocks noChangeArrowheads="1"/>
            </p:cNvSpPr>
            <p:nvPr/>
          </p:nvSpPr>
          <p:spPr bwMode="auto">
            <a:xfrm>
              <a:off x="2807" y="1426"/>
              <a:ext cx="726" cy="288"/>
            </a:xfrm>
            <a:prstGeom prst="rect">
              <a:avLst/>
            </a:prstGeom>
            <a:noFill/>
            <a:ln w="9525">
              <a:noFill/>
              <a:miter lim="800000"/>
              <a:headEnd/>
              <a:tailEnd/>
            </a:ln>
            <a:effectLst/>
          </p:spPr>
          <p:txBody>
            <a:bodyPr>
              <a:spAutoFit/>
            </a:bodyPr>
            <a:lstStyle/>
            <a:p>
              <a:pPr>
                <a:lnSpc>
                  <a:spcPct val="100000"/>
                </a:lnSpc>
                <a:spcBef>
                  <a:spcPct val="50000"/>
                </a:spcBef>
              </a:pPr>
              <a:r>
                <a:rPr lang="zh-CN" altLang="en-US" dirty="0">
                  <a:solidFill>
                    <a:srgbClr val="002060"/>
                  </a:solidFill>
                  <a:latin typeface="+mn-lt"/>
                  <a:ea typeface="楷体" pitchFamily="49" charset="-122"/>
                </a:rPr>
                <a:t>地址</a:t>
              </a:r>
            </a:p>
          </p:txBody>
        </p:sp>
      </p:grpSp>
      <p:grpSp>
        <p:nvGrpSpPr>
          <p:cNvPr id="1150044" name="Group 92"/>
          <p:cNvGrpSpPr>
            <a:grpSpLocks/>
          </p:cNvGrpSpPr>
          <p:nvPr/>
        </p:nvGrpSpPr>
        <p:grpSpPr bwMode="auto">
          <a:xfrm>
            <a:off x="6668569" y="2132856"/>
            <a:ext cx="3088409" cy="774700"/>
            <a:chOff x="3852" y="1353"/>
            <a:chExt cx="2140" cy="488"/>
          </a:xfrm>
        </p:grpSpPr>
        <p:sp>
          <p:nvSpPr>
            <p:cNvPr id="1150040" name="AutoShape 88"/>
            <p:cNvSpPr>
              <a:spLocks/>
            </p:cNvSpPr>
            <p:nvPr/>
          </p:nvSpPr>
          <p:spPr bwMode="auto">
            <a:xfrm rot="5400000">
              <a:off x="4822" y="672"/>
              <a:ext cx="199" cy="2140"/>
            </a:xfrm>
            <a:prstGeom prst="leftBrace">
              <a:avLst>
                <a:gd name="adj1" fmla="val 71399"/>
                <a:gd name="adj2" fmla="val 50000"/>
              </a:avLst>
            </a:prstGeom>
            <a:noFill/>
            <a:ln w="34925">
              <a:solidFill>
                <a:srgbClr val="7030A0"/>
              </a:solidFill>
              <a:round/>
              <a:headEnd/>
              <a:tailEnd/>
            </a:ln>
            <a:effectLst>
              <a:outerShdw dist="35921" dir="2700000" algn="ctr" rotWithShape="0">
                <a:schemeClr val="bg2"/>
              </a:outerShdw>
            </a:effectLst>
          </p:spPr>
          <p:txBody>
            <a:bodyPr wrap="none" anchor="ctr"/>
            <a:lstStyle/>
            <a:p>
              <a:endParaRPr lang="zh-CN" altLang="en-US"/>
            </a:p>
          </p:txBody>
        </p:sp>
        <p:sp>
          <p:nvSpPr>
            <p:cNvPr id="1150041" name="Text Box 89"/>
            <p:cNvSpPr txBox="1">
              <a:spLocks noChangeArrowheads="1"/>
            </p:cNvSpPr>
            <p:nvPr/>
          </p:nvSpPr>
          <p:spPr bwMode="auto">
            <a:xfrm>
              <a:off x="4655" y="1353"/>
              <a:ext cx="726" cy="288"/>
            </a:xfrm>
            <a:prstGeom prst="rect">
              <a:avLst/>
            </a:prstGeom>
            <a:noFill/>
            <a:ln w="9525">
              <a:noFill/>
              <a:miter lim="800000"/>
              <a:headEnd/>
              <a:tailEnd/>
            </a:ln>
            <a:effectLst/>
          </p:spPr>
          <p:txBody>
            <a:bodyPr>
              <a:spAutoFit/>
            </a:bodyPr>
            <a:lstStyle/>
            <a:p>
              <a:pPr>
                <a:lnSpc>
                  <a:spcPct val="100000"/>
                </a:lnSpc>
                <a:spcBef>
                  <a:spcPct val="50000"/>
                </a:spcBef>
              </a:pPr>
              <a:r>
                <a:rPr lang="zh-CN" altLang="en-US" dirty="0">
                  <a:solidFill>
                    <a:srgbClr val="7030A0"/>
                  </a:solidFill>
                  <a:latin typeface="楷体" pitchFamily="49" charset="-122"/>
                  <a:ea typeface="楷体" pitchFamily="49" charset="-122"/>
                </a:rPr>
                <a:t>元素</a:t>
              </a:r>
            </a:p>
          </p:txBody>
        </p:sp>
      </p:grpSp>
      <p:sp>
        <p:nvSpPr>
          <p:cNvPr id="1150045" name="Rectangle 93"/>
          <p:cNvSpPr>
            <a:spLocks noChangeArrowheads="1"/>
          </p:cNvSpPr>
          <p:nvPr/>
        </p:nvSpPr>
        <p:spPr bwMode="auto">
          <a:xfrm>
            <a:off x="4201788" y="5098306"/>
            <a:ext cx="7874327" cy="1323439"/>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sz="2000" dirty="0">
                <a:solidFill>
                  <a:srgbClr val="C00000"/>
                </a:solidFill>
                <a:latin typeface="隶书" pitchFamily="49" charset="-122"/>
                <a:ea typeface="隶书" pitchFamily="49" charset="-122"/>
              </a:rPr>
              <a:t>    </a:t>
            </a:r>
            <a:r>
              <a:rPr lang="zh-CN" altLang="en-US" sz="2000" dirty="0">
                <a:solidFill>
                  <a:srgbClr val="C00000"/>
                </a:solidFill>
                <a:ea typeface="隶书" pitchFamily="49" charset="-122"/>
              </a:rPr>
              <a:t>注意：</a:t>
            </a:r>
            <a:r>
              <a:rPr lang="en-US" altLang="zh-CN" sz="2000" dirty="0">
                <a:ea typeface="隶书" pitchFamily="49" charset="-122"/>
              </a:rPr>
              <a:t>p + 1</a:t>
            </a:r>
            <a:r>
              <a:rPr lang="zh-CN" altLang="en-US" sz="2000" dirty="0">
                <a:ea typeface="隶书" pitchFamily="49" charset="-122"/>
              </a:rPr>
              <a:t>指向数组的下一个元素，而不是简单地使指针变量</a:t>
            </a:r>
            <a:r>
              <a:rPr lang="en-US" altLang="zh-CN" sz="2000" dirty="0">
                <a:ea typeface="隶书" pitchFamily="49" charset="-122"/>
              </a:rPr>
              <a:t>p</a:t>
            </a:r>
            <a:r>
              <a:rPr lang="zh-CN" altLang="en-US" sz="2000" dirty="0">
                <a:ea typeface="隶书" pitchFamily="49" charset="-122"/>
              </a:rPr>
              <a:t>的值</a:t>
            </a:r>
            <a:r>
              <a:rPr lang="en-US" altLang="zh-CN" sz="2000" dirty="0">
                <a:ea typeface="隶书" pitchFamily="49" charset="-122"/>
              </a:rPr>
              <a:t>+1</a:t>
            </a:r>
            <a:r>
              <a:rPr lang="zh-CN" altLang="en-US" sz="2000" dirty="0">
                <a:ea typeface="隶书" pitchFamily="49" charset="-122"/>
              </a:rPr>
              <a:t>。其实际变化为</a:t>
            </a:r>
            <a:r>
              <a:rPr lang="en-US" altLang="zh-CN" sz="2000" dirty="0">
                <a:ea typeface="隶书" pitchFamily="49" charset="-122"/>
              </a:rPr>
              <a:t>p+1*size(size</a:t>
            </a:r>
            <a:r>
              <a:rPr lang="zh-CN" altLang="en-US" sz="2000" dirty="0">
                <a:ea typeface="隶书" pitchFamily="49" charset="-122"/>
              </a:rPr>
              <a:t>为一个元素占用的字节数</a:t>
            </a:r>
            <a:r>
              <a:rPr lang="en-US" altLang="zh-CN" sz="2000" dirty="0">
                <a:ea typeface="隶书" pitchFamily="49" charset="-122"/>
              </a:rPr>
              <a:t>)</a:t>
            </a:r>
            <a:r>
              <a:rPr lang="zh-CN" altLang="en-US" sz="2000" dirty="0">
                <a:ea typeface="隶书" pitchFamily="49" charset="-122"/>
              </a:rPr>
              <a:t>。</a:t>
            </a:r>
            <a:endParaRPr lang="en-US" altLang="zh-CN" sz="2000" dirty="0">
              <a:ea typeface="隶书" pitchFamily="49" charset="-122"/>
            </a:endParaRPr>
          </a:p>
          <a:p>
            <a:pPr>
              <a:lnSpc>
                <a:spcPct val="100000"/>
              </a:lnSpc>
              <a:spcBef>
                <a:spcPct val="0"/>
              </a:spcBef>
            </a:pPr>
            <a:r>
              <a:rPr lang="en-US" altLang="zh-CN" sz="2000" dirty="0">
                <a:ea typeface="隶书" pitchFamily="49" charset="-122"/>
              </a:rPr>
              <a:t>        </a:t>
            </a:r>
            <a:r>
              <a:rPr lang="zh-CN" altLang="en-US" sz="2000" dirty="0">
                <a:ea typeface="隶书" pitchFamily="49" charset="-122"/>
              </a:rPr>
              <a:t>例如，假设指针变量</a:t>
            </a:r>
            <a:r>
              <a:rPr lang="en-US" altLang="zh-CN" sz="2000" dirty="0">
                <a:ea typeface="隶书" pitchFamily="49" charset="-122"/>
              </a:rPr>
              <a:t>p</a:t>
            </a:r>
            <a:r>
              <a:rPr lang="zh-CN" altLang="en-US" sz="2000" dirty="0">
                <a:ea typeface="隶书" pitchFamily="49" charset="-122"/>
              </a:rPr>
              <a:t>的当前值为</a:t>
            </a:r>
            <a:r>
              <a:rPr lang="en-US" altLang="zh-CN" sz="2000" dirty="0">
                <a:ea typeface="隶书" pitchFamily="49" charset="-122"/>
              </a:rPr>
              <a:t>2000</a:t>
            </a:r>
            <a:r>
              <a:rPr lang="zh-CN" altLang="en-US" sz="2000" dirty="0">
                <a:ea typeface="隶书" pitchFamily="49" charset="-122"/>
              </a:rPr>
              <a:t>，则</a:t>
            </a:r>
            <a:r>
              <a:rPr lang="en-US" altLang="zh-CN" sz="2000" dirty="0">
                <a:ea typeface="隶书" pitchFamily="49" charset="-122"/>
              </a:rPr>
              <a:t>p+1</a:t>
            </a:r>
            <a:r>
              <a:rPr lang="zh-CN" altLang="en-US" sz="2000" dirty="0">
                <a:ea typeface="隶书" pitchFamily="49" charset="-122"/>
              </a:rPr>
              <a:t>为</a:t>
            </a:r>
            <a:r>
              <a:rPr lang="en-US" altLang="zh-CN" sz="2000" dirty="0">
                <a:ea typeface="隶书" pitchFamily="49" charset="-122"/>
              </a:rPr>
              <a:t>2000+1*4=2004</a:t>
            </a:r>
            <a:r>
              <a:rPr lang="zh-CN" altLang="en-US" sz="2000" dirty="0">
                <a:ea typeface="隶书" pitchFamily="49" charset="-122"/>
              </a:rPr>
              <a:t>，而不是</a:t>
            </a:r>
            <a:r>
              <a:rPr lang="en-US" altLang="zh-CN" sz="2000" dirty="0">
                <a:ea typeface="隶书" pitchFamily="49" charset="-122"/>
              </a:rPr>
              <a:t>2001</a:t>
            </a:r>
            <a:r>
              <a:rPr lang="zh-CN" altLang="en-US" sz="2000" dirty="0">
                <a:ea typeface="隶书" pitchFamily="49" charset="-122"/>
              </a:rPr>
              <a:t>。</a:t>
            </a:r>
          </a:p>
        </p:txBody>
      </p:sp>
      <p:sp>
        <p:nvSpPr>
          <p:cNvPr id="82" name="Rectangle 4">
            <a:extLst>
              <a:ext uri="{FF2B5EF4-FFF2-40B4-BE49-F238E27FC236}">
                <a16:creationId xmlns:a16="http://schemas.microsoft.com/office/drawing/2014/main" id="{17F5D5CF-6986-4434-A8D1-79B7BF6FFE1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9954">
                                            <p:txEl>
                                              <p:pRg st="0" end="0"/>
                                            </p:txEl>
                                          </p:spTgt>
                                        </p:tgtEl>
                                        <p:attrNameLst>
                                          <p:attrName>style.visibility</p:attrName>
                                        </p:attrNameLst>
                                      </p:cBhvr>
                                      <p:to>
                                        <p:strVal val="visible"/>
                                      </p:to>
                                    </p:set>
                                    <p:anim calcmode="lin" valueType="num">
                                      <p:cBhvr additive="base">
                                        <p:cTn id="7" dur="500" fill="hold"/>
                                        <p:tgtEl>
                                          <p:spTgt spid="114995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995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49959"/>
                                        </p:tgtEl>
                                        <p:attrNameLst>
                                          <p:attrName>style.visibility</p:attrName>
                                        </p:attrNameLst>
                                      </p:cBhvr>
                                      <p:to>
                                        <p:strVal val="visible"/>
                                      </p:to>
                                    </p:set>
                                    <p:animEffect transition="in" filter="box(out)">
                                      <p:cBhvr>
                                        <p:cTn id="13" dur="500"/>
                                        <p:tgtEl>
                                          <p:spTgt spid="1149959"/>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49997">
                                            <p:txEl>
                                              <p:pRg st="0" end="0"/>
                                            </p:txEl>
                                          </p:spTgt>
                                        </p:tgtEl>
                                        <p:attrNameLst>
                                          <p:attrName>style.visibility</p:attrName>
                                        </p:attrNameLst>
                                      </p:cBhvr>
                                      <p:to>
                                        <p:strVal val="visible"/>
                                      </p:to>
                                    </p:set>
                                    <p:animEffect transition="in" filter="box(out)">
                                      <p:cBhvr>
                                        <p:cTn id="18" dur="500"/>
                                        <p:tgtEl>
                                          <p:spTgt spid="1149997">
                                            <p:txEl>
                                              <p:pRg st="0" end="0"/>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50012"/>
                                        </p:tgtEl>
                                        <p:attrNameLst>
                                          <p:attrName>style.visibility</p:attrName>
                                        </p:attrNameLst>
                                      </p:cBhvr>
                                      <p:to>
                                        <p:strVal val="visible"/>
                                      </p:to>
                                    </p:set>
                                    <p:animEffect transition="in" filter="box(out)">
                                      <p:cBhvr>
                                        <p:cTn id="23" dur="500"/>
                                        <p:tgtEl>
                                          <p:spTgt spid="1150012"/>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150043"/>
                                        </p:tgtEl>
                                        <p:attrNameLst>
                                          <p:attrName>style.visibility</p:attrName>
                                        </p:attrNameLst>
                                      </p:cBhvr>
                                      <p:to>
                                        <p:strVal val="visible"/>
                                      </p:to>
                                    </p:set>
                                    <p:animEffect transition="in" filter="box(out)">
                                      <p:cBhvr>
                                        <p:cTn id="28" dur="500"/>
                                        <p:tgtEl>
                                          <p:spTgt spid="1150043"/>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6" fill="hold" nodeType="clickEffect">
                                  <p:stCondLst>
                                    <p:cond delay="0"/>
                                  </p:stCondLst>
                                  <p:childTnLst>
                                    <p:set>
                                      <p:cBhvr>
                                        <p:cTn id="32" dur="1" fill="hold">
                                          <p:stCondLst>
                                            <p:cond delay="0"/>
                                          </p:stCondLst>
                                        </p:cTn>
                                        <p:tgtEl>
                                          <p:spTgt spid="1150042"/>
                                        </p:tgtEl>
                                        <p:attrNameLst>
                                          <p:attrName>style.visibility</p:attrName>
                                        </p:attrNameLst>
                                      </p:cBhvr>
                                      <p:to>
                                        <p:strVal val="visible"/>
                                      </p:to>
                                    </p:set>
                                    <p:animEffect transition="in" filter="strips(downRight)">
                                      <p:cBhvr>
                                        <p:cTn id="33" dur="500"/>
                                        <p:tgtEl>
                                          <p:spTgt spid="1150042"/>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1150025"/>
                                        </p:tgtEl>
                                        <p:attrNameLst>
                                          <p:attrName>style.visibility</p:attrName>
                                        </p:attrNameLst>
                                      </p:cBhvr>
                                      <p:to>
                                        <p:strVal val="visible"/>
                                      </p:to>
                                    </p:set>
                                    <p:animEffect transition="in" filter="box(out)">
                                      <p:cBhvr>
                                        <p:cTn id="38" dur="500"/>
                                        <p:tgtEl>
                                          <p:spTgt spid="1150025"/>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1150026"/>
                                        </p:tgtEl>
                                        <p:attrNameLst>
                                          <p:attrName>style.visibility</p:attrName>
                                        </p:attrNameLst>
                                      </p:cBhvr>
                                      <p:to>
                                        <p:strVal val="visible"/>
                                      </p:to>
                                    </p:set>
                                    <p:animEffect transition="in" filter="box(out)">
                                      <p:cBhvr>
                                        <p:cTn id="43" dur="500"/>
                                        <p:tgtEl>
                                          <p:spTgt spid="1150026"/>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nodeType="clickEffect">
                                  <p:stCondLst>
                                    <p:cond delay="0"/>
                                  </p:stCondLst>
                                  <p:childTnLst>
                                    <p:set>
                                      <p:cBhvr>
                                        <p:cTn id="47" dur="1" fill="hold">
                                          <p:stCondLst>
                                            <p:cond delay="0"/>
                                          </p:stCondLst>
                                        </p:cTn>
                                        <p:tgtEl>
                                          <p:spTgt spid="1150032"/>
                                        </p:tgtEl>
                                        <p:attrNameLst>
                                          <p:attrName>style.visibility</p:attrName>
                                        </p:attrNameLst>
                                      </p:cBhvr>
                                      <p:to>
                                        <p:strVal val="visible"/>
                                      </p:to>
                                    </p:set>
                                    <p:animEffect transition="in" filter="box(out)">
                                      <p:cBhvr>
                                        <p:cTn id="48" dur="500"/>
                                        <p:tgtEl>
                                          <p:spTgt spid="1150032"/>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18" presetClass="entr" presetSubtype="6" fill="hold" nodeType="clickEffect">
                                  <p:stCondLst>
                                    <p:cond delay="0"/>
                                  </p:stCondLst>
                                  <p:childTnLst>
                                    <p:set>
                                      <p:cBhvr>
                                        <p:cTn id="52" dur="1" fill="hold">
                                          <p:stCondLst>
                                            <p:cond delay="0"/>
                                          </p:stCondLst>
                                        </p:cTn>
                                        <p:tgtEl>
                                          <p:spTgt spid="1150044"/>
                                        </p:tgtEl>
                                        <p:attrNameLst>
                                          <p:attrName>style.visibility</p:attrName>
                                        </p:attrNameLst>
                                      </p:cBhvr>
                                      <p:to>
                                        <p:strVal val="visible"/>
                                      </p:to>
                                    </p:set>
                                    <p:animEffect transition="in" filter="strips(downRight)">
                                      <p:cBhvr>
                                        <p:cTn id="53" dur="500"/>
                                        <p:tgtEl>
                                          <p:spTgt spid="1150044"/>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1150045"/>
                                        </p:tgtEl>
                                        <p:attrNameLst>
                                          <p:attrName>style.visibility</p:attrName>
                                        </p:attrNameLst>
                                      </p:cBhvr>
                                      <p:to>
                                        <p:strVal val="visible"/>
                                      </p:to>
                                    </p:set>
                                    <p:animEffect transition="in" filter="box(out)">
                                      <p:cBhvr>
                                        <p:cTn id="58" dur="500"/>
                                        <p:tgtEl>
                                          <p:spTgt spid="1150045"/>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9954" grpId="0" build="p" bldLvl="5" autoUpdateAnimBg="0"/>
      <p:bldP spid="1149959" grpId="0"/>
      <p:bldP spid="115004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0995" name="Rectangle 19" descr="信纸"/>
          <p:cNvSpPr>
            <a:spLocks noChangeArrowheads="1"/>
          </p:cNvSpPr>
          <p:nvPr/>
        </p:nvSpPr>
        <p:spPr bwMode="auto">
          <a:xfrm>
            <a:off x="674392" y="1303175"/>
            <a:ext cx="5113337" cy="1323439"/>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en-US" altLang="zh-CN" sz="2000" dirty="0">
                <a:solidFill>
                  <a:srgbClr val="000000"/>
                </a:solidFill>
                <a:ea typeface="宋体" pitchFamily="2" charset="-122"/>
              </a:rPr>
              <a:t>char </a:t>
            </a:r>
            <a:r>
              <a:rPr lang="en-US" altLang="zh-CN" sz="2000" dirty="0" err="1">
                <a:solidFill>
                  <a:srgbClr val="000000"/>
                </a:solidFill>
                <a:ea typeface="宋体" pitchFamily="2" charset="-122"/>
              </a:rPr>
              <a:t>str</a:t>
            </a:r>
            <a:r>
              <a:rPr lang="en-US" altLang="zh-CN" sz="2000" dirty="0">
                <a:solidFill>
                  <a:srgbClr val="000000"/>
                </a:solidFill>
                <a:ea typeface="宋体" pitchFamily="2" charset="-122"/>
              </a:rPr>
              <a:t>[10];</a:t>
            </a:r>
            <a:endParaRPr lang="en-US" altLang="zh-CN" sz="2000" dirty="0">
              <a:ea typeface="宋体" pitchFamily="2" charset="-122"/>
            </a:endParaRPr>
          </a:p>
          <a:p>
            <a:pPr>
              <a:lnSpc>
                <a:spcPct val="100000"/>
              </a:lnSpc>
              <a:spcBef>
                <a:spcPct val="0"/>
              </a:spcBef>
            </a:pPr>
            <a:r>
              <a:rPr lang="en-US" altLang="zh-CN" sz="2000" dirty="0" err="1">
                <a:solidFill>
                  <a:srgbClr val="000000"/>
                </a:solidFill>
                <a:ea typeface="宋体" pitchFamily="2" charset="-122"/>
              </a:rPr>
              <a:t>int</a:t>
            </a:r>
            <a:r>
              <a:rPr lang="en-US" altLang="zh-CN" sz="2000" dirty="0">
                <a:solidFill>
                  <a:srgbClr val="000000"/>
                </a:solidFill>
                <a:ea typeface="宋体" pitchFamily="2" charset="-122"/>
              </a:rPr>
              <a:t> k;</a:t>
            </a:r>
            <a:endParaRPr lang="en-US" altLang="zh-CN" sz="2000" dirty="0">
              <a:ea typeface="宋体" pitchFamily="2" charset="-122"/>
            </a:endParaRPr>
          </a:p>
          <a:p>
            <a:pPr>
              <a:lnSpc>
                <a:spcPct val="100000"/>
              </a:lnSpc>
              <a:spcBef>
                <a:spcPct val="0"/>
              </a:spcBef>
            </a:pPr>
            <a:r>
              <a:rPr lang="en-US" altLang="zh-CN" sz="2000" dirty="0">
                <a:solidFill>
                  <a:srgbClr val="000000"/>
                </a:solidFill>
                <a:ea typeface="宋体" pitchFamily="2" charset="-122"/>
              </a:rPr>
              <a:t>for (k = 0; k &lt; 10; k++)</a:t>
            </a:r>
            <a:endParaRPr lang="en-US" altLang="zh-CN" sz="2000" dirty="0">
              <a:ea typeface="宋体" pitchFamily="2" charset="-122"/>
            </a:endParaRPr>
          </a:p>
          <a:p>
            <a:pPr>
              <a:lnSpc>
                <a:spcPct val="100000"/>
              </a:lnSpc>
              <a:spcBef>
                <a:spcPct val="0"/>
              </a:spcBef>
            </a:pPr>
            <a:r>
              <a:rPr lang="en-US" altLang="zh-CN" sz="2000" dirty="0">
                <a:solidFill>
                  <a:srgbClr val="C00000"/>
                </a:solidFill>
                <a:ea typeface="宋体" pitchFamily="2" charset="-122"/>
              </a:rPr>
              <a:t>   </a:t>
            </a:r>
            <a:r>
              <a:rPr lang="en-US" altLang="zh-CN" sz="2000" dirty="0" err="1">
                <a:solidFill>
                  <a:srgbClr val="C00000"/>
                </a:solidFill>
                <a:ea typeface="宋体" pitchFamily="2" charset="-122"/>
              </a:rPr>
              <a:t>str</a:t>
            </a:r>
            <a:r>
              <a:rPr lang="en-US" altLang="zh-CN" sz="2000" dirty="0">
                <a:solidFill>
                  <a:srgbClr val="C00000"/>
                </a:solidFill>
                <a:ea typeface="宋体" pitchFamily="2" charset="-122"/>
              </a:rPr>
              <a:t>[k] = 'A' + k</a:t>
            </a:r>
            <a:r>
              <a:rPr lang="en-US" altLang="zh-CN" sz="2000" dirty="0">
                <a:solidFill>
                  <a:srgbClr val="C00000"/>
                </a:solidFill>
                <a:latin typeface="+mn-lt"/>
                <a:ea typeface="楷体" pitchFamily="49" charset="-122"/>
              </a:rPr>
              <a:t>;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也可写成*</a:t>
            </a:r>
            <a:r>
              <a:rPr lang="en-US" altLang="zh-CN" sz="1800" dirty="0">
                <a:solidFill>
                  <a:schemeClr val="accent2">
                    <a:lumMod val="50000"/>
                  </a:schemeClr>
                </a:solidFill>
                <a:latin typeface="+mn-lt"/>
                <a:ea typeface="楷体" pitchFamily="49" charset="-122"/>
              </a:rPr>
              <a:t>(</a:t>
            </a:r>
            <a:r>
              <a:rPr lang="en-US" altLang="zh-CN" sz="1800" dirty="0" err="1">
                <a:solidFill>
                  <a:schemeClr val="accent2">
                    <a:lumMod val="50000"/>
                  </a:schemeClr>
                </a:solidFill>
                <a:latin typeface="+mn-lt"/>
                <a:ea typeface="楷体" pitchFamily="49" charset="-122"/>
              </a:rPr>
              <a:t>str+k</a:t>
            </a:r>
            <a:r>
              <a:rPr lang="en-US" altLang="zh-CN" sz="1800" dirty="0">
                <a:solidFill>
                  <a:schemeClr val="accent2">
                    <a:lumMod val="50000"/>
                  </a:schemeClr>
                </a:solidFill>
                <a:latin typeface="+mn-lt"/>
                <a:ea typeface="楷体" pitchFamily="49" charset="-122"/>
              </a:rPr>
              <a:t>) = 'A' + k</a:t>
            </a:r>
          </a:p>
        </p:txBody>
      </p:sp>
      <p:sp>
        <p:nvSpPr>
          <p:cNvPr id="1150996" name="Rectangle 20" descr="信纸"/>
          <p:cNvSpPr>
            <a:spLocks noChangeArrowheads="1"/>
          </p:cNvSpPr>
          <p:nvPr/>
        </p:nvSpPr>
        <p:spPr bwMode="auto">
          <a:xfrm>
            <a:off x="683970" y="2769880"/>
            <a:ext cx="5112000" cy="19589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en-US" altLang="zh-CN" sz="2000" dirty="0">
                <a:ea typeface="宋体" pitchFamily="2" charset="-122"/>
              </a:rPr>
              <a:t>char </a:t>
            </a:r>
            <a:r>
              <a:rPr lang="en-US" altLang="zh-CN" sz="2000" dirty="0" err="1">
                <a:ea typeface="宋体" pitchFamily="2" charset="-122"/>
              </a:rPr>
              <a:t>str</a:t>
            </a:r>
            <a:r>
              <a:rPr lang="en-US" altLang="zh-CN" sz="2000" dirty="0">
                <a:ea typeface="宋体" pitchFamily="2" charset="-122"/>
              </a:rPr>
              <a:t>[10];</a:t>
            </a:r>
          </a:p>
          <a:p>
            <a:pPr>
              <a:lnSpc>
                <a:spcPct val="100000"/>
              </a:lnSpc>
              <a:spcBef>
                <a:spcPct val="0"/>
              </a:spcBef>
            </a:pPr>
            <a:r>
              <a:rPr lang="en-US" altLang="zh-CN" sz="2000" dirty="0" err="1">
                <a:ea typeface="宋体" pitchFamily="2" charset="-122"/>
              </a:rPr>
              <a:t>int</a:t>
            </a:r>
            <a:r>
              <a:rPr lang="en-US" altLang="zh-CN" sz="2000" dirty="0">
                <a:ea typeface="宋体" pitchFamily="2" charset="-122"/>
              </a:rPr>
              <a:t> k;</a:t>
            </a:r>
          </a:p>
          <a:p>
            <a:pPr>
              <a:lnSpc>
                <a:spcPct val="100000"/>
              </a:lnSpc>
              <a:spcBef>
                <a:spcPct val="0"/>
              </a:spcBef>
            </a:pPr>
            <a:r>
              <a:rPr lang="en-US" altLang="zh-CN" sz="2000" dirty="0">
                <a:ea typeface="宋体" pitchFamily="2" charset="-122"/>
              </a:rPr>
              <a:t>char *p;</a:t>
            </a:r>
          </a:p>
          <a:p>
            <a:pPr>
              <a:lnSpc>
                <a:spcPct val="100000"/>
              </a:lnSpc>
              <a:spcBef>
                <a:spcPct val="0"/>
              </a:spcBef>
            </a:pPr>
            <a:r>
              <a:rPr lang="en-US" altLang="zh-CN" sz="2000" dirty="0">
                <a:ea typeface="宋体" pitchFamily="2" charset="-122"/>
              </a:rPr>
              <a:t>p = </a:t>
            </a:r>
            <a:r>
              <a:rPr lang="en-US" altLang="zh-CN" sz="2000" dirty="0" err="1">
                <a:ea typeface="宋体" pitchFamily="2" charset="-122"/>
              </a:rPr>
              <a:t>str</a:t>
            </a:r>
            <a:r>
              <a:rPr lang="en-US" altLang="zh-CN" sz="2000" dirty="0">
                <a:ea typeface="宋体" pitchFamily="2" charset="-122"/>
              </a:rPr>
              <a:t>;</a:t>
            </a:r>
          </a:p>
          <a:p>
            <a:pPr>
              <a:lnSpc>
                <a:spcPct val="100000"/>
              </a:lnSpc>
              <a:spcBef>
                <a:spcPct val="0"/>
              </a:spcBef>
            </a:pPr>
            <a:r>
              <a:rPr lang="en-US" altLang="zh-CN" sz="2000" dirty="0">
                <a:ea typeface="宋体" pitchFamily="2" charset="-122"/>
              </a:rPr>
              <a:t>for (k = 0; k &lt; 10; k++)  </a:t>
            </a:r>
          </a:p>
          <a:p>
            <a:pPr>
              <a:lnSpc>
                <a:spcPct val="100000"/>
              </a:lnSpc>
              <a:spcBef>
                <a:spcPct val="0"/>
              </a:spcBef>
            </a:pPr>
            <a:r>
              <a:rPr lang="en-US" altLang="zh-CN" sz="2000" dirty="0">
                <a:solidFill>
                  <a:srgbClr val="C00000"/>
                </a:solidFill>
                <a:ea typeface="宋体" pitchFamily="2" charset="-122"/>
              </a:rPr>
              <a:t>    p[k] = 'A' + k;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也可写成*</a:t>
            </a:r>
            <a:r>
              <a:rPr lang="en-US" altLang="zh-CN" sz="1800" dirty="0">
                <a:solidFill>
                  <a:schemeClr val="accent2">
                    <a:lumMod val="50000"/>
                  </a:schemeClr>
                </a:solidFill>
                <a:latin typeface="+mn-lt"/>
                <a:ea typeface="楷体" pitchFamily="49" charset="-122"/>
              </a:rPr>
              <a:t>(</a:t>
            </a:r>
            <a:r>
              <a:rPr lang="en-US" altLang="zh-CN" sz="1800" dirty="0" err="1">
                <a:solidFill>
                  <a:schemeClr val="accent2">
                    <a:lumMod val="50000"/>
                  </a:schemeClr>
                </a:solidFill>
                <a:latin typeface="+mn-lt"/>
                <a:ea typeface="楷体" pitchFamily="49" charset="-122"/>
              </a:rPr>
              <a:t>p+k</a:t>
            </a:r>
            <a:r>
              <a:rPr lang="en-US" altLang="zh-CN" sz="1800" dirty="0">
                <a:solidFill>
                  <a:schemeClr val="accent2">
                    <a:lumMod val="50000"/>
                  </a:schemeClr>
                </a:solidFill>
                <a:latin typeface="+mn-lt"/>
                <a:ea typeface="楷体" pitchFamily="49" charset="-122"/>
              </a:rPr>
              <a:t>) = 'A' + k </a:t>
            </a:r>
          </a:p>
        </p:txBody>
      </p:sp>
      <p:sp>
        <p:nvSpPr>
          <p:cNvPr id="1150997" name="Rectangle 21" descr="信纸"/>
          <p:cNvSpPr>
            <a:spLocks noChangeArrowheads="1"/>
          </p:cNvSpPr>
          <p:nvPr/>
        </p:nvSpPr>
        <p:spPr bwMode="auto">
          <a:xfrm>
            <a:off x="694632" y="4854401"/>
            <a:ext cx="5112000" cy="19589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en-US" altLang="zh-CN" sz="2000" dirty="0">
                <a:ea typeface="宋体" pitchFamily="2" charset="-122"/>
              </a:rPr>
              <a:t>char </a:t>
            </a:r>
            <a:r>
              <a:rPr lang="en-US" altLang="zh-CN" sz="2000" dirty="0" err="1">
                <a:ea typeface="宋体" pitchFamily="2" charset="-122"/>
              </a:rPr>
              <a:t>str</a:t>
            </a:r>
            <a:r>
              <a:rPr lang="en-US" altLang="zh-CN" sz="2000" dirty="0">
                <a:ea typeface="宋体" pitchFamily="2" charset="-122"/>
              </a:rPr>
              <a:t>[10];</a:t>
            </a:r>
          </a:p>
          <a:p>
            <a:pPr>
              <a:lnSpc>
                <a:spcPct val="100000"/>
              </a:lnSpc>
              <a:spcBef>
                <a:spcPct val="0"/>
              </a:spcBef>
            </a:pPr>
            <a:r>
              <a:rPr lang="en-US" altLang="zh-CN" sz="2000" dirty="0" err="1">
                <a:ea typeface="宋体" pitchFamily="2" charset="-122"/>
              </a:rPr>
              <a:t>int</a:t>
            </a:r>
            <a:r>
              <a:rPr lang="en-US" altLang="zh-CN" sz="2000" dirty="0">
                <a:ea typeface="宋体" pitchFamily="2" charset="-122"/>
              </a:rPr>
              <a:t> k;</a:t>
            </a:r>
          </a:p>
          <a:p>
            <a:pPr>
              <a:lnSpc>
                <a:spcPct val="100000"/>
              </a:lnSpc>
              <a:spcBef>
                <a:spcPct val="0"/>
              </a:spcBef>
            </a:pPr>
            <a:r>
              <a:rPr lang="en-US" altLang="zh-CN" sz="2000" dirty="0">
                <a:ea typeface="宋体" pitchFamily="2" charset="-122"/>
              </a:rPr>
              <a:t>char *p;</a:t>
            </a:r>
          </a:p>
          <a:p>
            <a:pPr>
              <a:lnSpc>
                <a:spcPct val="100000"/>
              </a:lnSpc>
              <a:spcBef>
                <a:spcPct val="0"/>
              </a:spcBef>
            </a:pPr>
            <a:r>
              <a:rPr lang="en-US" altLang="zh-CN" sz="2000" dirty="0">
                <a:ea typeface="宋体" pitchFamily="2" charset="-122"/>
              </a:rPr>
              <a:t>p = </a:t>
            </a:r>
            <a:r>
              <a:rPr lang="en-US" altLang="zh-CN" sz="2000" dirty="0" err="1">
                <a:ea typeface="宋体" pitchFamily="2" charset="-122"/>
              </a:rPr>
              <a:t>str</a:t>
            </a:r>
            <a:r>
              <a:rPr lang="en-US" altLang="zh-CN" sz="2000" dirty="0">
                <a:ea typeface="宋体" pitchFamily="2" charset="-122"/>
              </a:rPr>
              <a:t>;</a:t>
            </a:r>
          </a:p>
          <a:p>
            <a:pPr>
              <a:lnSpc>
                <a:spcPct val="100000"/>
              </a:lnSpc>
              <a:spcBef>
                <a:spcPct val="0"/>
              </a:spcBef>
            </a:pPr>
            <a:r>
              <a:rPr lang="en-US" altLang="zh-CN" sz="2000" dirty="0">
                <a:ea typeface="宋体" pitchFamily="2" charset="-122"/>
              </a:rPr>
              <a:t>for (k = 0; k &lt; 10; k++) </a:t>
            </a:r>
          </a:p>
          <a:p>
            <a:pPr>
              <a:lnSpc>
                <a:spcPct val="100000"/>
              </a:lnSpc>
              <a:spcBef>
                <a:spcPct val="0"/>
              </a:spcBef>
            </a:pPr>
            <a:r>
              <a:rPr lang="en-US" altLang="zh-CN" sz="2000" dirty="0">
                <a:solidFill>
                  <a:srgbClr val="C00000"/>
                </a:solidFill>
                <a:ea typeface="宋体" pitchFamily="2" charset="-122"/>
              </a:rPr>
              <a:t>    *p++ = 'A' + k;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相当于 *</a:t>
            </a:r>
            <a:r>
              <a:rPr lang="en-US" altLang="zh-CN" sz="1800" dirty="0">
                <a:solidFill>
                  <a:schemeClr val="accent2">
                    <a:lumMod val="50000"/>
                  </a:schemeClr>
                </a:solidFill>
                <a:latin typeface="+mn-lt"/>
                <a:ea typeface="楷体" pitchFamily="49" charset="-122"/>
              </a:rPr>
              <a:t>p = 'A' + k;  p++; </a:t>
            </a:r>
          </a:p>
        </p:txBody>
      </p:sp>
      <p:sp>
        <p:nvSpPr>
          <p:cNvPr id="1150999" name="Rectangle 23"/>
          <p:cNvSpPr>
            <a:spLocks noChangeArrowheads="1"/>
          </p:cNvSpPr>
          <p:nvPr/>
        </p:nvSpPr>
        <p:spPr bwMode="auto">
          <a:xfrm>
            <a:off x="-9821" y="3436129"/>
            <a:ext cx="184731" cy="461665"/>
          </a:xfrm>
          <a:prstGeom prst="rect">
            <a:avLst/>
          </a:prstGeom>
          <a:noFill/>
          <a:ln w="9525">
            <a:noFill/>
            <a:miter lim="800000"/>
            <a:headEnd/>
            <a:tailEnd/>
          </a:ln>
          <a:effectLst/>
        </p:spPr>
        <p:txBody>
          <a:bodyPr wrap="none" anchor="ctr">
            <a:spAutoFit/>
          </a:bodyPr>
          <a:lstStyle/>
          <a:p>
            <a:endParaRPr lang="zh-CN" altLang="en-US"/>
          </a:p>
        </p:txBody>
      </p:sp>
      <p:sp>
        <p:nvSpPr>
          <p:cNvPr id="1151001" name="Rectangle 25"/>
          <p:cNvSpPr>
            <a:spLocks noChangeArrowheads="1"/>
          </p:cNvSpPr>
          <p:nvPr/>
        </p:nvSpPr>
        <p:spPr bwMode="auto">
          <a:xfrm>
            <a:off x="605245" y="780242"/>
            <a:ext cx="8299067" cy="461665"/>
          </a:xfrm>
          <a:prstGeom prst="rect">
            <a:avLst/>
          </a:prstGeom>
          <a:noFill/>
          <a:ln w="9525">
            <a:noFill/>
            <a:miter lim="800000"/>
            <a:headEnd/>
            <a:tailEnd/>
          </a:ln>
          <a:effectLst/>
        </p:spPr>
        <p:txBody>
          <a:bodyPr wrap="none" anchor="ctr">
            <a:spAutoFit/>
          </a:bodyPr>
          <a:lstStyle/>
          <a:p>
            <a:pPr>
              <a:lnSpc>
                <a:spcPct val="100000"/>
              </a:lnSpc>
              <a:spcBef>
                <a:spcPct val="0"/>
              </a:spcBef>
            </a:pPr>
            <a:r>
              <a:rPr lang="zh-CN" altLang="en-US" b="1" dirty="0">
                <a:solidFill>
                  <a:srgbClr val="CC0000"/>
                </a:solidFill>
                <a:latin typeface="楷体" panose="02010609060101010101" pitchFamily="49" charset="-122"/>
                <a:ea typeface="楷体" panose="02010609060101010101" pitchFamily="49" charset="-122"/>
                <a:cs typeface="Times New Roman" pitchFamily="18" charset="0"/>
              </a:rPr>
              <a:t>下面是对数组元素赋值的几种方法，它们从功能上是等价的</a:t>
            </a:r>
            <a:r>
              <a:rPr lang="zh-CN" altLang="en-US" sz="1100" b="1" dirty="0">
                <a:latin typeface="楷体" panose="02010609060101010101" pitchFamily="49" charset="-122"/>
                <a:ea typeface="楷体" panose="02010609060101010101" pitchFamily="49" charset="-122"/>
                <a:cs typeface="Times New Roman" pitchFamily="18" charset="0"/>
              </a:rPr>
              <a:t> </a:t>
            </a:r>
            <a:endParaRPr lang="zh-CN" altLang="en-US" b="1" dirty="0">
              <a:latin typeface="楷体" panose="02010609060101010101" pitchFamily="49" charset="-122"/>
              <a:ea typeface="楷体" panose="02010609060101010101" pitchFamily="49" charset="-122"/>
              <a:cs typeface="Times New Roman" pitchFamily="18" charset="0"/>
            </a:endParaRPr>
          </a:p>
        </p:txBody>
      </p:sp>
      <p:sp>
        <p:nvSpPr>
          <p:cNvPr id="1151003" name="AutoShape 27"/>
          <p:cNvSpPr>
            <a:spLocks noChangeArrowheads="1"/>
          </p:cNvSpPr>
          <p:nvPr/>
        </p:nvSpPr>
        <p:spPr bwMode="auto">
          <a:xfrm>
            <a:off x="3683074" y="2708920"/>
            <a:ext cx="4105275" cy="1150938"/>
          </a:xfrm>
          <a:prstGeom prst="cloudCallout">
            <a:avLst>
              <a:gd name="adj1" fmla="val -44856"/>
              <a:gd name="adj2" fmla="val 70000"/>
            </a:avLst>
          </a:prstGeom>
          <a:gradFill rotWithShape="1">
            <a:gsLst>
              <a:gs pos="0">
                <a:srgbClr val="CFCFD1"/>
              </a:gs>
              <a:gs pos="100000">
                <a:schemeClr val="bg1"/>
              </a:gs>
            </a:gsLst>
            <a:lin ang="5400000" scaled="1"/>
          </a:gradFill>
          <a:ln w="22225">
            <a:solidFill>
              <a:srgbClr val="C01920"/>
            </a:solidFill>
            <a:round/>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2000">
                <a:solidFill>
                  <a:srgbClr val="C00000"/>
                </a:solidFill>
                <a:latin typeface="+mn-lt"/>
                <a:ea typeface="楷体" pitchFamily="49" charset="-122"/>
              </a:rPr>
              <a:t>执行完后，</a:t>
            </a:r>
            <a:r>
              <a:rPr lang="en-US" altLang="zh-CN" sz="2000">
                <a:solidFill>
                  <a:srgbClr val="C00000"/>
                </a:solidFill>
                <a:latin typeface="+mn-lt"/>
                <a:ea typeface="楷体" pitchFamily="49" charset="-122"/>
              </a:rPr>
              <a:t>p</a:t>
            </a:r>
            <a:r>
              <a:rPr lang="zh-CN" altLang="en-US" sz="2000">
                <a:solidFill>
                  <a:srgbClr val="C00000"/>
                </a:solidFill>
                <a:latin typeface="+mn-lt"/>
                <a:ea typeface="楷体" pitchFamily="49" charset="-122"/>
              </a:rPr>
              <a:t>仍然指向数组</a:t>
            </a:r>
            <a:r>
              <a:rPr lang="en-US" altLang="zh-CN" sz="2000">
                <a:solidFill>
                  <a:srgbClr val="C00000"/>
                </a:solidFill>
                <a:latin typeface="+mn-lt"/>
                <a:ea typeface="楷体" pitchFamily="49" charset="-122"/>
              </a:rPr>
              <a:t>str</a:t>
            </a:r>
            <a:r>
              <a:rPr lang="zh-CN" altLang="en-US" sz="2000">
                <a:solidFill>
                  <a:srgbClr val="C00000"/>
                </a:solidFill>
                <a:latin typeface="+mn-lt"/>
                <a:ea typeface="楷体" pitchFamily="49" charset="-122"/>
              </a:rPr>
              <a:t>的首地址 </a:t>
            </a:r>
          </a:p>
        </p:txBody>
      </p:sp>
      <p:sp>
        <p:nvSpPr>
          <p:cNvPr id="1151004" name="AutoShape 28"/>
          <p:cNvSpPr>
            <a:spLocks noChangeArrowheads="1"/>
          </p:cNvSpPr>
          <p:nvPr/>
        </p:nvSpPr>
        <p:spPr bwMode="auto">
          <a:xfrm>
            <a:off x="3791744" y="4736596"/>
            <a:ext cx="4105275" cy="1150937"/>
          </a:xfrm>
          <a:prstGeom prst="cloudCallout">
            <a:avLst>
              <a:gd name="adj1" fmla="val -44446"/>
              <a:gd name="adj2" fmla="val 74302"/>
            </a:avLst>
          </a:prstGeom>
          <a:gradFill rotWithShape="1">
            <a:gsLst>
              <a:gs pos="0">
                <a:srgbClr val="CFCFD1"/>
              </a:gs>
              <a:gs pos="100000">
                <a:schemeClr val="bg1"/>
              </a:gs>
            </a:gsLst>
            <a:lin ang="5400000" scaled="1"/>
          </a:gradFill>
          <a:ln w="22225">
            <a:solidFill>
              <a:srgbClr val="C01920"/>
            </a:solidFill>
            <a:round/>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2000">
                <a:solidFill>
                  <a:srgbClr val="C00000"/>
                </a:solidFill>
                <a:latin typeface="+mn-lt"/>
                <a:ea typeface="楷体" pitchFamily="49" charset="-122"/>
              </a:rPr>
              <a:t>执行完后，</a:t>
            </a:r>
            <a:r>
              <a:rPr lang="en-US" altLang="zh-CN" sz="2000">
                <a:solidFill>
                  <a:srgbClr val="C00000"/>
                </a:solidFill>
                <a:latin typeface="+mn-lt"/>
                <a:ea typeface="楷体" pitchFamily="49" charset="-122"/>
              </a:rPr>
              <a:t>p</a:t>
            </a:r>
            <a:r>
              <a:rPr lang="zh-CN" altLang="en-US" sz="2000">
                <a:solidFill>
                  <a:srgbClr val="C00000"/>
                </a:solidFill>
                <a:latin typeface="+mn-lt"/>
                <a:ea typeface="楷体" pitchFamily="49" charset="-122"/>
              </a:rPr>
              <a:t>指向数组元素</a:t>
            </a:r>
            <a:r>
              <a:rPr lang="en-US" altLang="zh-CN" sz="2000">
                <a:solidFill>
                  <a:srgbClr val="C00000"/>
                </a:solidFill>
                <a:latin typeface="+mn-lt"/>
                <a:ea typeface="楷体" pitchFamily="49" charset="-122"/>
              </a:rPr>
              <a:t>str[9]</a:t>
            </a:r>
            <a:r>
              <a:rPr lang="zh-CN" altLang="en-US" sz="2000">
                <a:solidFill>
                  <a:srgbClr val="C00000"/>
                </a:solidFill>
                <a:latin typeface="+mn-lt"/>
                <a:ea typeface="楷体" pitchFamily="49" charset="-122"/>
              </a:rPr>
              <a:t>的下一内存单元 </a:t>
            </a:r>
          </a:p>
        </p:txBody>
      </p:sp>
      <p:sp>
        <p:nvSpPr>
          <p:cNvPr id="1151005" name="Rectangle 29"/>
          <p:cNvSpPr>
            <a:spLocks noChangeArrowheads="1"/>
          </p:cNvSpPr>
          <p:nvPr/>
        </p:nvSpPr>
        <p:spPr bwMode="auto">
          <a:xfrm>
            <a:off x="7971636" y="2714466"/>
            <a:ext cx="3960440" cy="2308324"/>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dirty="0">
                <a:solidFill>
                  <a:srgbClr val="C00000"/>
                </a:solidFill>
                <a:latin typeface="隶书" pitchFamily="49" charset="-122"/>
                <a:ea typeface="隶书" pitchFamily="49" charset="-122"/>
              </a:rPr>
              <a:t>    </a:t>
            </a:r>
            <a:r>
              <a:rPr lang="zh-CN" altLang="en-US" dirty="0">
                <a:solidFill>
                  <a:srgbClr val="C00000"/>
                </a:solidFill>
                <a:ea typeface="隶书" pitchFamily="49" charset="-122"/>
              </a:rPr>
              <a:t>注意：</a:t>
            </a:r>
            <a:r>
              <a:rPr lang="zh-CN" altLang="en-US" dirty="0">
                <a:ea typeface="隶书" pitchFamily="49" charset="-122"/>
              </a:rPr>
              <a:t>数组名是地址常量，切不可对其赋值，也不可做</a:t>
            </a:r>
            <a:r>
              <a:rPr lang="en-US" altLang="zh-CN" dirty="0">
                <a:ea typeface="隶书" pitchFamily="49" charset="-122"/>
              </a:rPr>
              <a:t>++</a:t>
            </a:r>
            <a:r>
              <a:rPr lang="zh-CN" altLang="en-US" dirty="0">
                <a:ea typeface="隶书" pitchFamily="49" charset="-122"/>
              </a:rPr>
              <a:t>或</a:t>
            </a:r>
            <a:r>
              <a:rPr lang="en-US" altLang="zh-CN" dirty="0">
                <a:ea typeface="隶书" pitchFamily="49" charset="-122"/>
              </a:rPr>
              <a:t>--</a:t>
            </a:r>
            <a:r>
              <a:rPr lang="zh-CN" altLang="en-US" dirty="0">
                <a:ea typeface="隶书" pitchFamily="49" charset="-122"/>
              </a:rPr>
              <a:t>运算。</a:t>
            </a:r>
            <a:endParaRPr lang="en-US" altLang="zh-CN" dirty="0">
              <a:ea typeface="隶书" pitchFamily="49" charset="-122"/>
            </a:endParaRPr>
          </a:p>
          <a:p>
            <a:pPr>
              <a:lnSpc>
                <a:spcPct val="100000"/>
              </a:lnSpc>
              <a:spcBef>
                <a:spcPct val="0"/>
              </a:spcBef>
            </a:pPr>
            <a:r>
              <a:rPr lang="en-US" altLang="zh-CN" dirty="0">
                <a:ea typeface="隶书" pitchFamily="49" charset="-122"/>
              </a:rPr>
              <a:t>        </a:t>
            </a:r>
            <a:r>
              <a:rPr lang="zh-CN" altLang="en-US" dirty="0">
                <a:ea typeface="隶书" pitchFamily="49" charset="-122"/>
              </a:rPr>
              <a:t>例如：</a:t>
            </a:r>
            <a:r>
              <a:rPr lang="en-US" altLang="zh-CN" dirty="0">
                <a:ea typeface="隶书" pitchFamily="49" charset="-122"/>
              </a:rPr>
              <a:t>int a[10];</a:t>
            </a:r>
          </a:p>
          <a:p>
            <a:pPr>
              <a:lnSpc>
                <a:spcPct val="100000"/>
              </a:lnSpc>
              <a:spcBef>
                <a:spcPct val="0"/>
              </a:spcBef>
            </a:pPr>
            <a:r>
              <a:rPr lang="en-US" altLang="zh-CN" dirty="0">
                <a:ea typeface="隶书" pitchFamily="49" charset="-122"/>
              </a:rPr>
              <a:t>        </a:t>
            </a:r>
            <a:r>
              <a:rPr lang="zh-CN" altLang="en-US" dirty="0">
                <a:ea typeface="隶书" pitchFamily="49" charset="-122"/>
              </a:rPr>
              <a:t>如果在程序中出现</a:t>
            </a:r>
            <a:r>
              <a:rPr lang="en-US" altLang="zh-CN" dirty="0">
                <a:ea typeface="隶书" pitchFamily="49" charset="-122"/>
              </a:rPr>
              <a:t>a++</a:t>
            </a:r>
            <a:r>
              <a:rPr lang="zh-CN" altLang="en-US" dirty="0">
                <a:ea typeface="隶书" pitchFamily="49" charset="-122"/>
              </a:rPr>
              <a:t>或</a:t>
            </a:r>
            <a:r>
              <a:rPr lang="en-US" altLang="zh-CN" dirty="0">
                <a:ea typeface="隶书" pitchFamily="49" charset="-122"/>
              </a:rPr>
              <a:t>a--</a:t>
            </a:r>
            <a:r>
              <a:rPr lang="zh-CN" altLang="en-US" dirty="0">
                <a:ea typeface="隶书" pitchFamily="49" charset="-122"/>
              </a:rPr>
              <a:t>则是错误的。</a:t>
            </a:r>
          </a:p>
        </p:txBody>
      </p:sp>
      <p:sp>
        <p:nvSpPr>
          <p:cNvPr id="13" name="Rectangle 4">
            <a:extLst>
              <a:ext uri="{FF2B5EF4-FFF2-40B4-BE49-F238E27FC236}">
                <a16:creationId xmlns:a16="http://schemas.microsoft.com/office/drawing/2014/main" id="{7065E051-6BD2-4E74-A51F-60859C125EFA}"/>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0995"/>
                                        </p:tgtEl>
                                        <p:attrNameLst>
                                          <p:attrName>style.visibility</p:attrName>
                                        </p:attrNameLst>
                                      </p:cBhvr>
                                      <p:to>
                                        <p:strVal val="visible"/>
                                      </p:to>
                                    </p:set>
                                    <p:animEffect transition="in" filter="box(out)">
                                      <p:cBhvr>
                                        <p:cTn id="7" dur="500"/>
                                        <p:tgtEl>
                                          <p:spTgt spid="1150995"/>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50996"/>
                                        </p:tgtEl>
                                        <p:attrNameLst>
                                          <p:attrName>style.visibility</p:attrName>
                                        </p:attrNameLst>
                                      </p:cBhvr>
                                      <p:to>
                                        <p:strVal val="visible"/>
                                      </p:to>
                                    </p:set>
                                    <p:animEffect transition="in" filter="box(out)">
                                      <p:cBhvr>
                                        <p:cTn id="12" dur="500"/>
                                        <p:tgtEl>
                                          <p:spTgt spid="115099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50997"/>
                                        </p:tgtEl>
                                        <p:attrNameLst>
                                          <p:attrName>style.visibility</p:attrName>
                                        </p:attrNameLst>
                                      </p:cBhvr>
                                      <p:to>
                                        <p:strVal val="visible"/>
                                      </p:to>
                                    </p:set>
                                    <p:animEffect transition="in" filter="box(out)">
                                      <p:cBhvr>
                                        <p:cTn id="17" dur="500"/>
                                        <p:tgtEl>
                                          <p:spTgt spid="1150997"/>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1151003"/>
                                        </p:tgtEl>
                                        <p:attrNameLst>
                                          <p:attrName>style.visibility</p:attrName>
                                        </p:attrNameLst>
                                      </p:cBhvr>
                                      <p:to>
                                        <p:strVal val="visible"/>
                                      </p:to>
                                    </p:set>
                                    <p:animEffect transition="in" filter="strips(upRight)">
                                      <p:cBhvr>
                                        <p:cTn id="22" dur="500"/>
                                        <p:tgtEl>
                                          <p:spTgt spid="1151003"/>
                                        </p:tgtEl>
                                      </p:cBhvr>
                                    </p:animEffect>
                                  </p:childTnLst>
                                  <p:subTnLst>
                                    <p:audio>
                                      <p:cMediaNode>
                                        <p:cTn display="0" masterRel="sameClick">
                                          <p:stCondLst>
                                            <p:cond evt="begin" delay="0">
                                              <p:tn val="20"/>
                                            </p:cond>
                                          </p:stCondLst>
                                          <p:endCondLst>
                                            <p:cond evt="onStopAudio" delay="0">
                                              <p:tgtEl>
                                                <p:sldTgt/>
                                              </p:tgtEl>
                                            </p:cond>
                                          </p:endCondLst>
                                        </p:cTn>
                                        <p:tgtEl>
                                          <p:sndTgt r:embed="rId3" name="laser.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1151004"/>
                                        </p:tgtEl>
                                        <p:attrNameLst>
                                          <p:attrName>style.visibility</p:attrName>
                                        </p:attrNameLst>
                                      </p:cBhvr>
                                      <p:to>
                                        <p:strVal val="visible"/>
                                      </p:to>
                                    </p:set>
                                    <p:animEffect transition="in" filter="strips(upRight)">
                                      <p:cBhvr>
                                        <p:cTn id="27" dur="500"/>
                                        <p:tgtEl>
                                          <p:spTgt spid="1151004"/>
                                        </p:tgtEl>
                                      </p:cBhvr>
                                    </p:animEffect>
                                  </p:childTnLst>
                                  <p:subTnLst>
                                    <p:audio>
                                      <p:cMediaNode>
                                        <p:cTn display="0" masterRel="sameClick">
                                          <p:stCondLst>
                                            <p:cond evt="begin" delay="0">
                                              <p:tn val="25"/>
                                            </p:cond>
                                          </p:stCondLst>
                                          <p:endCondLst>
                                            <p:cond evt="onStopAudio" delay="0">
                                              <p:tgtEl>
                                                <p:sldTgt/>
                                              </p:tgtEl>
                                            </p:cond>
                                          </p:endCondLst>
                                        </p:cTn>
                                        <p:tgtEl>
                                          <p:sndTgt r:embed="rId3" name="laser.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51005"/>
                                        </p:tgtEl>
                                        <p:attrNameLst>
                                          <p:attrName>style.visibility</p:attrName>
                                        </p:attrNameLst>
                                      </p:cBhvr>
                                      <p:to>
                                        <p:strVal val="visible"/>
                                      </p:to>
                                    </p:set>
                                    <p:animEffect transition="in" filter="box(out)">
                                      <p:cBhvr>
                                        <p:cTn id="32" dur="500"/>
                                        <p:tgtEl>
                                          <p:spTgt spid="1151005"/>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0995" grpId="0" animBg="1"/>
      <p:bldP spid="1150996" grpId="0" animBg="1"/>
      <p:bldP spid="1150997" grpId="0" animBg="1"/>
      <p:bldP spid="1151003" grpId="0" animBg="1"/>
      <p:bldP spid="1151004" grpId="0" animBg="1"/>
      <p:bldP spid="115100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2002" name="Group 2"/>
          <p:cNvGrpSpPr>
            <a:grpSpLocks/>
          </p:cNvGrpSpPr>
          <p:nvPr/>
        </p:nvGrpSpPr>
        <p:grpSpPr bwMode="auto">
          <a:xfrm>
            <a:off x="7871224" y="1772816"/>
            <a:ext cx="2314575" cy="3771900"/>
            <a:chOff x="3635" y="1008"/>
            <a:chExt cx="1458" cy="2376"/>
          </a:xfrm>
        </p:grpSpPr>
        <p:grpSp>
          <p:nvGrpSpPr>
            <p:cNvPr id="1152003" name="Group 3"/>
            <p:cNvGrpSpPr>
              <a:grpSpLocks/>
            </p:cNvGrpSpPr>
            <p:nvPr/>
          </p:nvGrpSpPr>
          <p:grpSpPr bwMode="auto">
            <a:xfrm>
              <a:off x="4157" y="1008"/>
              <a:ext cx="936" cy="2376"/>
              <a:chOff x="4157" y="1008"/>
              <a:chExt cx="936" cy="2376"/>
            </a:xfrm>
          </p:grpSpPr>
          <p:grpSp>
            <p:nvGrpSpPr>
              <p:cNvPr id="1152004" name="Group 4"/>
              <p:cNvGrpSpPr>
                <a:grpSpLocks/>
              </p:cNvGrpSpPr>
              <p:nvPr/>
            </p:nvGrpSpPr>
            <p:grpSpPr bwMode="auto">
              <a:xfrm>
                <a:off x="4157" y="1008"/>
                <a:ext cx="936" cy="2376"/>
                <a:chOff x="4032" y="444"/>
                <a:chExt cx="936" cy="2376"/>
              </a:xfrm>
            </p:grpSpPr>
            <p:sp>
              <p:nvSpPr>
                <p:cNvPr id="1152005" name="AutoShape 5"/>
                <p:cNvSpPr>
                  <a:spLocks noChangeArrowheads="1"/>
                </p:cNvSpPr>
                <p:nvPr/>
              </p:nvSpPr>
              <p:spPr bwMode="auto">
                <a:xfrm>
                  <a:off x="4032" y="444"/>
                  <a:ext cx="936" cy="2376"/>
                </a:xfrm>
                <a:prstGeom prst="foldedCorner">
                  <a:avLst>
                    <a:gd name="adj" fmla="val 13745"/>
                  </a:avLst>
                </a:prstGeom>
                <a:solidFill>
                  <a:srgbClr val="DDFAED"/>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a typeface="隶书" pitchFamily="49" charset="-122"/>
                  </a:endParaRPr>
                </a:p>
              </p:txBody>
            </p:sp>
            <p:sp>
              <p:nvSpPr>
                <p:cNvPr id="1152006" name="Line 6"/>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07" name="Line 7"/>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08" name="Line 8"/>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09" name="Line 9"/>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10" name="Line 10"/>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11" name="Line 11"/>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12" name="Line 12"/>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13" name="Line 13"/>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14" name="Line 14"/>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grpSp>
          <p:grpSp>
            <p:nvGrpSpPr>
              <p:cNvPr id="1152015" name="Group 15"/>
              <p:cNvGrpSpPr>
                <a:grpSpLocks/>
              </p:cNvGrpSpPr>
              <p:nvPr/>
            </p:nvGrpSpPr>
            <p:grpSpPr bwMode="auto">
              <a:xfrm>
                <a:off x="4157" y="1428"/>
                <a:ext cx="60" cy="1368"/>
                <a:chOff x="4032" y="864"/>
                <a:chExt cx="60" cy="1368"/>
              </a:xfrm>
            </p:grpSpPr>
            <p:sp>
              <p:nvSpPr>
                <p:cNvPr id="1152016" name="Line 16"/>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17" name="Line 17"/>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18" name="Line 18"/>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19" name="Line 19"/>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0" name="Line 20"/>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1" name="Line 21"/>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52022" name="Line 22"/>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52023" name="Group 23"/>
              <p:cNvGrpSpPr>
                <a:grpSpLocks/>
              </p:cNvGrpSpPr>
              <p:nvPr/>
            </p:nvGrpSpPr>
            <p:grpSpPr bwMode="auto">
              <a:xfrm>
                <a:off x="5021" y="1440"/>
                <a:ext cx="60" cy="1368"/>
                <a:chOff x="4032" y="864"/>
                <a:chExt cx="60" cy="1368"/>
              </a:xfrm>
            </p:grpSpPr>
            <p:sp>
              <p:nvSpPr>
                <p:cNvPr id="1152024" name="Line 24"/>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5" name="Line 25"/>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6" name="Line 26"/>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7" name="Line 27"/>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8" name="Line 28"/>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9" name="Line 29"/>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52030" name="Line 30"/>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grpSp>
          <p:nvGrpSpPr>
            <p:cNvPr id="1152031" name="Group 31"/>
            <p:cNvGrpSpPr>
              <a:grpSpLocks/>
            </p:cNvGrpSpPr>
            <p:nvPr/>
          </p:nvGrpSpPr>
          <p:grpSpPr bwMode="auto">
            <a:xfrm>
              <a:off x="3635" y="1301"/>
              <a:ext cx="732" cy="1153"/>
              <a:chOff x="4283" y="1289"/>
              <a:chExt cx="732" cy="1153"/>
            </a:xfrm>
          </p:grpSpPr>
          <p:sp>
            <p:nvSpPr>
              <p:cNvPr id="1152032" name="Text Box 32"/>
              <p:cNvSpPr txBox="1">
                <a:spLocks noChangeArrowheads="1"/>
              </p:cNvSpPr>
              <p:nvPr/>
            </p:nvSpPr>
            <p:spPr bwMode="auto">
              <a:xfrm>
                <a:off x="4457" y="1289"/>
                <a:ext cx="383"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dirty="0">
                    <a:ea typeface="隶书" pitchFamily="49" charset="-122"/>
                  </a:rPr>
                  <a:t>a[0]</a:t>
                </a:r>
              </a:p>
            </p:txBody>
          </p:sp>
          <p:sp>
            <p:nvSpPr>
              <p:cNvPr id="1152033" name="Text Box 33"/>
              <p:cNvSpPr txBox="1">
                <a:spLocks noChangeArrowheads="1"/>
              </p:cNvSpPr>
              <p:nvPr/>
            </p:nvSpPr>
            <p:spPr bwMode="auto">
              <a:xfrm>
                <a:off x="4457" y="1515"/>
                <a:ext cx="383"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a typeface="隶书" pitchFamily="49" charset="-122"/>
                  </a:rPr>
                  <a:t>a[1]</a:t>
                </a:r>
              </a:p>
            </p:txBody>
          </p:sp>
          <p:sp>
            <p:nvSpPr>
              <p:cNvPr id="1152034" name="Text Box 34"/>
              <p:cNvSpPr txBox="1">
                <a:spLocks noChangeArrowheads="1"/>
              </p:cNvSpPr>
              <p:nvPr/>
            </p:nvSpPr>
            <p:spPr bwMode="auto">
              <a:xfrm>
                <a:off x="4457" y="1741"/>
                <a:ext cx="383"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a typeface="隶书" pitchFamily="49" charset="-122"/>
                  </a:rPr>
                  <a:t>a[2]</a:t>
                </a:r>
              </a:p>
            </p:txBody>
          </p:sp>
          <p:sp>
            <p:nvSpPr>
              <p:cNvPr id="1152035" name="Text Box 35"/>
              <p:cNvSpPr txBox="1">
                <a:spLocks noChangeArrowheads="1"/>
              </p:cNvSpPr>
              <p:nvPr/>
            </p:nvSpPr>
            <p:spPr bwMode="auto">
              <a:xfrm>
                <a:off x="4457" y="1967"/>
                <a:ext cx="383"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a typeface="隶书" pitchFamily="49" charset="-122"/>
                  </a:rPr>
                  <a:t>a[3]</a:t>
                </a:r>
              </a:p>
            </p:txBody>
          </p:sp>
          <p:sp>
            <p:nvSpPr>
              <p:cNvPr id="1152036" name="Text Box 36"/>
              <p:cNvSpPr txBox="1">
                <a:spLocks noChangeArrowheads="1"/>
              </p:cNvSpPr>
              <p:nvPr/>
            </p:nvSpPr>
            <p:spPr bwMode="auto">
              <a:xfrm>
                <a:off x="4283" y="2189"/>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a typeface="隶书" pitchFamily="49" charset="-122"/>
                  </a:rPr>
                  <a:t>a[4]</a:t>
                </a:r>
              </a:p>
            </p:txBody>
          </p:sp>
        </p:grpSp>
      </p:grpSp>
      <p:sp>
        <p:nvSpPr>
          <p:cNvPr id="1152038" name="Text Box 38"/>
          <p:cNvSpPr txBox="1">
            <a:spLocks noChangeArrowheads="1"/>
          </p:cNvSpPr>
          <p:nvPr/>
        </p:nvSpPr>
        <p:spPr bwMode="auto">
          <a:xfrm>
            <a:off x="228304" y="851842"/>
            <a:ext cx="4322763"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b="1" dirty="0">
                <a:solidFill>
                  <a:srgbClr val="CC0000"/>
                </a:solidFill>
                <a:latin typeface="楷体" panose="02010609060101010101" pitchFamily="49" charset="-122"/>
                <a:ea typeface="楷体" panose="02010609060101010101" pitchFamily="49" charset="-122"/>
              </a:rPr>
              <a:t>   【</a:t>
            </a:r>
            <a:r>
              <a:rPr lang="zh-CN" altLang="en-US" b="1" dirty="0">
                <a:solidFill>
                  <a:srgbClr val="CC0000"/>
                </a:solidFill>
                <a:latin typeface="楷体" panose="02010609060101010101" pitchFamily="49" charset="-122"/>
                <a:ea typeface="楷体" panose="02010609060101010101" pitchFamily="49" charset="-122"/>
              </a:rPr>
              <a:t>例</a:t>
            </a:r>
            <a:r>
              <a:rPr lang="en-US" altLang="zh-CN" b="1" dirty="0">
                <a:solidFill>
                  <a:srgbClr val="CC0000"/>
                </a:solidFill>
                <a:latin typeface="楷体" panose="02010609060101010101" pitchFamily="49" charset="-122"/>
                <a:ea typeface="楷体" panose="02010609060101010101" pitchFamily="49" charset="-122"/>
              </a:rPr>
              <a:t>】</a:t>
            </a:r>
            <a:r>
              <a:rPr lang="zh-CN" altLang="en-US" b="1" dirty="0">
                <a:solidFill>
                  <a:srgbClr val="CC0000"/>
                </a:solidFill>
                <a:latin typeface="楷体" panose="02010609060101010101" pitchFamily="49" charset="-122"/>
                <a:ea typeface="楷体" panose="02010609060101010101" pitchFamily="49" charset="-122"/>
              </a:rPr>
              <a:t>数组元素的引用方法</a:t>
            </a:r>
          </a:p>
        </p:txBody>
      </p:sp>
      <p:sp>
        <p:nvSpPr>
          <p:cNvPr id="1152039" name="Rectangle 39" descr="信纸"/>
          <p:cNvSpPr>
            <a:spLocks noChangeArrowheads="1"/>
          </p:cNvSpPr>
          <p:nvPr/>
        </p:nvSpPr>
        <p:spPr bwMode="auto">
          <a:xfrm>
            <a:off x="1601798" y="851842"/>
            <a:ext cx="5367175" cy="6001643"/>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eaLnBrk="0" hangingPunct="0">
              <a:lnSpc>
                <a:spcPct val="100000"/>
              </a:lnSpc>
              <a:spcBef>
                <a:spcPct val="0"/>
              </a:spcBef>
            </a:pPr>
            <a:r>
              <a:rPr kumimoji="0" lang="en-US" altLang="zh-CN" dirty="0" err="1">
                <a:solidFill>
                  <a:srgbClr val="CC0000"/>
                </a:solidFill>
                <a:ea typeface="宋体" pitchFamily="2" charset="-122"/>
              </a:rPr>
              <a:t>int</a:t>
            </a:r>
            <a:r>
              <a:rPr kumimoji="0" lang="en-US" altLang="zh-CN" dirty="0">
                <a:solidFill>
                  <a:srgbClr val="CC0000"/>
                </a:solidFill>
                <a:ea typeface="宋体" pitchFamily="2" charset="-122"/>
              </a:rPr>
              <a:t> m</a:t>
            </a:r>
            <a:r>
              <a:rPr lang="en-US" altLang="zh-CN" dirty="0">
                <a:solidFill>
                  <a:srgbClr val="CC0000"/>
                </a:solidFill>
                <a:ea typeface="宋体" pitchFamily="2" charset="-122"/>
              </a:rPr>
              <a:t>ain( )</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a[5], *pa, </a:t>
            </a:r>
            <a:r>
              <a:rPr lang="en-US" altLang="zh-CN" dirty="0" err="1">
                <a:ea typeface="宋体" pitchFamily="2" charset="-122"/>
              </a:rPr>
              <a:t>i</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for (</a:t>
            </a:r>
            <a:r>
              <a:rPr lang="en-US" altLang="zh-CN" dirty="0" err="1">
                <a:ea typeface="宋体" pitchFamily="2" charset="-122"/>
              </a:rPr>
              <a:t>i</a:t>
            </a:r>
            <a:r>
              <a:rPr lang="en-US" altLang="zh-CN" dirty="0">
                <a:ea typeface="宋体" pitchFamily="2" charset="-122"/>
              </a:rPr>
              <a:t> = 0; </a:t>
            </a:r>
            <a:r>
              <a:rPr lang="en-US" altLang="zh-CN" dirty="0" err="1">
                <a:ea typeface="宋体" pitchFamily="2" charset="-122"/>
              </a:rPr>
              <a:t>i</a:t>
            </a:r>
            <a:r>
              <a:rPr lang="en-US" altLang="zh-CN" dirty="0">
                <a:ea typeface="宋体" pitchFamily="2" charset="-122"/>
              </a:rPr>
              <a:t> &lt; 5; </a:t>
            </a:r>
            <a:r>
              <a:rPr lang="en-US" altLang="zh-CN" dirty="0" err="1">
                <a:ea typeface="宋体" pitchFamily="2" charset="-122"/>
              </a:rPr>
              <a:t>i</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a[</a:t>
            </a:r>
            <a:r>
              <a:rPr lang="en-US" altLang="zh-CN" dirty="0" err="1">
                <a:ea typeface="宋体" pitchFamily="2" charset="-122"/>
              </a:rPr>
              <a:t>i</a:t>
            </a:r>
            <a:r>
              <a:rPr lang="en-US" altLang="zh-CN" dirty="0">
                <a:ea typeface="宋体" pitchFamily="2" charset="-122"/>
              </a:rPr>
              <a:t>]=i+1;</a:t>
            </a:r>
          </a:p>
          <a:p>
            <a:pPr eaLnBrk="0" hangingPunct="0">
              <a:lnSpc>
                <a:spcPct val="100000"/>
              </a:lnSpc>
              <a:spcBef>
                <a:spcPct val="0"/>
              </a:spcBef>
            </a:pPr>
            <a:r>
              <a:rPr lang="en-US" altLang="zh-CN" dirty="0">
                <a:solidFill>
                  <a:schemeClr val="accent2">
                    <a:lumMod val="50000"/>
                  </a:schemeClr>
                </a:solidFill>
                <a:ea typeface="宋体" pitchFamily="2" charset="-122"/>
              </a:rPr>
              <a:t>    pa = a;</a:t>
            </a:r>
          </a:p>
          <a:p>
            <a:pPr eaLnBrk="0" hangingPunct="0">
              <a:lnSpc>
                <a:spcPct val="100000"/>
              </a:lnSpc>
              <a:spcBef>
                <a:spcPct val="0"/>
              </a:spcBef>
            </a:pPr>
            <a:r>
              <a:rPr lang="en-US" altLang="zh-CN" dirty="0">
                <a:ea typeface="宋体" pitchFamily="2" charset="-122"/>
              </a:rPr>
              <a:t>    for (</a:t>
            </a:r>
            <a:r>
              <a:rPr lang="en-US" altLang="zh-CN" dirty="0" err="1">
                <a:ea typeface="宋体" pitchFamily="2" charset="-122"/>
              </a:rPr>
              <a:t>i</a:t>
            </a:r>
            <a:r>
              <a:rPr lang="en-US" altLang="zh-CN" dirty="0">
                <a:ea typeface="宋体" pitchFamily="2" charset="-122"/>
              </a:rPr>
              <a:t> = 0; </a:t>
            </a:r>
            <a:r>
              <a:rPr lang="en-US" altLang="zh-CN" dirty="0" err="1">
                <a:ea typeface="宋体" pitchFamily="2" charset="-122"/>
              </a:rPr>
              <a:t>i</a:t>
            </a:r>
            <a:r>
              <a:rPr lang="en-US" altLang="zh-CN" dirty="0">
                <a:ea typeface="宋体" pitchFamily="2" charset="-122"/>
              </a:rPr>
              <a:t> &lt; 5; </a:t>
            </a:r>
            <a:r>
              <a:rPr lang="en-US" altLang="zh-CN" dirty="0" err="1">
                <a:ea typeface="宋体" pitchFamily="2" charset="-122"/>
              </a:rPr>
              <a:t>i</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("*(pa+%d):%d\n", </a:t>
            </a:r>
            <a:r>
              <a:rPr lang="en-US" altLang="zh-CN" dirty="0" err="1">
                <a:ea typeface="宋体" pitchFamily="2" charset="-122"/>
              </a:rPr>
              <a:t>i</a:t>
            </a:r>
            <a:r>
              <a:rPr lang="en-US" altLang="zh-CN" dirty="0">
                <a:ea typeface="宋体" pitchFamily="2" charset="-122"/>
              </a:rPr>
              <a:t>, </a:t>
            </a:r>
            <a:r>
              <a:rPr lang="en-US" altLang="zh-CN" dirty="0">
                <a:solidFill>
                  <a:schemeClr val="accent2">
                    <a:lumMod val="50000"/>
                  </a:schemeClr>
                </a:solidFill>
                <a:ea typeface="宋体" pitchFamily="2" charset="-122"/>
              </a:rPr>
              <a:t>*(</a:t>
            </a:r>
            <a:r>
              <a:rPr lang="en-US" altLang="zh-CN" dirty="0" err="1">
                <a:solidFill>
                  <a:schemeClr val="accent2">
                    <a:lumMod val="50000"/>
                  </a:schemeClr>
                </a:solidFill>
                <a:ea typeface="宋体" pitchFamily="2" charset="-122"/>
              </a:rPr>
              <a:t>pa+i</a:t>
            </a:r>
            <a:r>
              <a:rPr lang="en-US" altLang="zh-CN" dirty="0">
                <a:solidFill>
                  <a:schemeClr val="accent2">
                    <a:lumMod val="50000"/>
                  </a:schemeClr>
                </a:solidFill>
                <a:ea typeface="宋体" pitchFamily="2" charset="-122"/>
              </a:rPr>
              <a:t>)</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for (</a:t>
            </a:r>
            <a:r>
              <a:rPr lang="en-US" altLang="zh-CN" dirty="0" err="1">
                <a:ea typeface="宋体" pitchFamily="2" charset="-122"/>
              </a:rPr>
              <a:t>i</a:t>
            </a:r>
            <a:r>
              <a:rPr lang="en-US" altLang="zh-CN" dirty="0">
                <a:ea typeface="宋体" pitchFamily="2" charset="-122"/>
              </a:rPr>
              <a:t> = 0; </a:t>
            </a:r>
            <a:r>
              <a:rPr lang="en-US" altLang="zh-CN" dirty="0" err="1">
                <a:ea typeface="宋体" pitchFamily="2" charset="-122"/>
              </a:rPr>
              <a:t>i</a:t>
            </a:r>
            <a:r>
              <a:rPr lang="en-US" altLang="zh-CN" dirty="0">
                <a:ea typeface="宋体" pitchFamily="2" charset="-122"/>
              </a:rPr>
              <a:t> &lt; 5; </a:t>
            </a:r>
            <a:r>
              <a:rPr lang="en-US" altLang="zh-CN" dirty="0" err="1">
                <a:ea typeface="宋体" pitchFamily="2" charset="-122"/>
              </a:rPr>
              <a:t>i</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("*(a+%d):%d\n", </a:t>
            </a:r>
            <a:r>
              <a:rPr lang="en-US" altLang="zh-CN" dirty="0" err="1">
                <a:ea typeface="宋体" pitchFamily="2" charset="-122"/>
              </a:rPr>
              <a:t>i</a:t>
            </a:r>
            <a:r>
              <a:rPr lang="en-US" altLang="zh-CN" dirty="0">
                <a:ea typeface="宋体" pitchFamily="2" charset="-122"/>
              </a:rPr>
              <a:t>, </a:t>
            </a:r>
            <a:r>
              <a:rPr lang="en-US" altLang="zh-CN" dirty="0">
                <a:solidFill>
                  <a:schemeClr val="accent2">
                    <a:lumMod val="50000"/>
                  </a:schemeClr>
                </a:solidFill>
                <a:ea typeface="宋体" pitchFamily="2" charset="-122"/>
              </a:rPr>
              <a:t>*(</a:t>
            </a:r>
            <a:r>
              <a:rPr lang="en-US" altLang="zh-CN" dirty="0" err="1">
                <a:solidFill>
                  <a:schemeClr val="accent2">
                    <a:lumMod val="50000"/>
                  </a:schemeClr>
                </a:solidFill>
                <a:ea typeface="宋体" pitchFamily="2" charset="-122"/>
              </a:rPr>
              <a:t>a+i</a:t>
            </a:r>
            <a:r>
              <a:rPr lang="en-US" altLang="zh-CN" dirty="0">
                <a:solidFill>
                  <a:schemeClr val="accent2">
                    <a:lumMod val="50000"/>
                  </a:schemeClr>
                </a:solidFill>
                <a:ea typeface="宋体" pitchFamily="2" charset="-122"/>
              </a:rPr>
              <a:t>)</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for (</a:t>
            </a:r>
            <a:r>
              <a:rPr lang="en-US" altLang="zh-CN" dirty="0" err="1">
                <a:ea typeface="宋体" pitchFamily="2" charset="-122"/>
              </a:rPr>
              <a:t>i</a:t>
            </a:r>
            <a:r>
              <a:rPr lang="en-US" altLang="zh-CN" dirty="0">
                <a:ea typeface="宋体" pitchFamily="2" charset="-122"/>
              </a:rPr>
              <a:t> = 0; </a:t>
            </a:r>
            <a:r>
              <a:rPr lang="en-US" altLang="zh-CN" dirty="0" err="1">
                <a:ea typeface="宋体" pitchFamily="2" charset="-122"/>
              </a:rPr>
              <a:t>i</a:t>
            </a:r>
            <a:r>
              <a:rPr lang="en-US" altLang="zh-CN" dirty="0">
                <a:ea typeface="宋体" pitchFamily="2" charset="-122"/>
              </a:rPr>
              <a:t> &lt; 5; </a:t>
            </a:r>
            <a:r>
              <a:rPr lang="en-US" altLang="zh-CN" dirty="0" err="1">
                <a:ea typeface="宋体" pitchFamily="2" charset="-122"/>
              </a:rPr>
              <a:t>i</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("pa[%d]:%d\n", </a:t>
            </a:r>
            <a:r>
              <a:rPr lang="en-US" altLang="zh-CN" dirty="0" err="1">
                <a:ea typeface="宋体" pitchFamily="2" charset="-122"/>
              </a:rPr>
              <a:t>i</a:t>
            </a:r>
            <a:r>
              <a:rPr lang="en-US" altLang="zh-CN" dirty="0">
                <a:ea typeface="宋体" pitchFamily="2" charset="-122"/>
              </a:rPr>
              <a:t>, </a:t>
            </a:r>
            <a:r>
              <a:rPr lang="en-US" altLang="zh-CN" dirty="0">
                <a:solidFill>
                  <a:schemeClr val="accent2">
                    <a:lumMod val="50000"/>
                  </a:schemeClr>
                </a:solidFill>
                <a:ea typeface="宋体" pitchFamily="2" charset="-122"/>
              </a:rPr>
              <a:t>pa[</a:t>
            </a:r>
            <a:r>
              <a:rPr lang="en-US" altLang="zh-CN" dirty="0" err="1">
                <a:solidFill>
                  <a:schemeClr val="accent2">
                    <a:lumMod val="50000"/>
                  </a:schemeClr>
                </a:solidFill>
                <a:ea typeface="宋体" pitchFamily="2" charset="-122"/>
              </a:rPr>
              <a:t>i</a:t>
            </a:r>
            <a:r>
              <a:rPr lang="en-US" altLang="zh-CN" dirty="0">
                <a:solidFill>
                  <a:schemeClr val="accent2">
                    <a:lumMod val="50000"/>
                  </a:schemeClr>
                </a:solidFill>
                <a:ea typeface="宋体" pitchFamily="2" charset="-122"/>
              </a:rPr>
              <a:t>]</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for (</a:t>
            </a:r>
            <a:r>
              <a:rPr lang="en-US" altLang="zh-CN" dirty="0" err="1">
                <a:ea typeface="宋体" pitchFamily="2" charset="-122"/>
              </a:rPr>
              <a:t>i</a:t>
            </a:r>
            <a:r>
              <a:rPr lang="en-US" altLang="zh-CN" dirty="0">
                <a:ea typeface="宋体" pitchFamily="2" charset="-122"/>
              </a:rPr>
              <a:t> = 0; </a:t>
            </a:r>
            <a:r>
              <a:rPr lang="en-US" altLang="zh-CN" dirty="0" err="1">
                <a:ea typeface="宋体" pitchFamily="2" charset="-122"/>
              </a:rPr>
              <a:t>i</a:t>
            </a:r>
            <a:r>
              <a:rPr lang="en-US" altLang="zh-CN" dirty="0">
                <a:ea typeface="宋体" pitchFamily="2" charset="-122"/>
              </a:rPr>
              <a:t> &lt; 5; </a:t>
            </a:r>
            <a:r>
              <a:rPr lang="en-US" altLang="zh-CN" dirty="0" err="1">
                <a:ea typeface="宋体" pitchFamily="2" charset="-122"/>
              </a:rPr>
              <a:t>i</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("a[%d]:%d\n", </a:t>
            </a:r>
            <a:r>
              <a:rPr lang="en-US" altLang="zh-CN" dirty="0" err="1">
                <a:ea typeface="宋体" pitchFamily="2" charset="-122"/>
              </a:rPr>
              <a:t>i</a:t>
            </a:r>
            <a:r>
              <a:rPr lang="en-US" altLang="zh-CN" dirty="0">
                <a:ea typeface="宋体" pitchFamily="2" charset="-122"/>
              </a:rPr>
              <a:t>, </a:t>
            </a:r>
            <a:r>
              <a:rPr lang="en-US" altLang="zh-CN" dirty="0">
                <a:solidFill>
                  <a:schemeClr val="accent2">
                    <a:lumMod val="50000"/>
                  </a:schemeClr>
                </a:solidFill>
                <a:ea typeface="宋体" pitchFamily="2" charset="-122"/>
              </a:rPr>
              <a:t>a[</a:t>
            </a:r>
            <a:r>
              <a:rPr lang="en-US" altLang="zh-CN" dirty="0" err="1">
                <a:solidFill>
                  <a:schemeClr val="accent2">
                    <a:lumMod val="50000"/>
                  </a:schemeClr>
                </a:solidFill>
                <a:ea typeface="宋体" pitchFamily="2" charset="-122"/>
              </a:rPr>
              <a:t>i</a:t>
            </a:r>
            <a:r>
              <a:rPr lang="en-US" altLang="zh-CN" dirty="0">
                <a:solidFill>
                  <a:schemeClr val="accent2">
                    <a:lumMod val="50000"/>
                  </a:schemeClr>
                </a:solidFill>
                <a:ea typeface="宋体" pitchFamily="2" charset="-122"/>
              </a:rPr>
              <a:t>]</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return 0;</a:t>
            </a:r>
          </a:p>
          <a:p>
            <a:pPr eaLnBrk="0" hangingPunct="0">
              <a:lnSpc>
                <a:spcPct val="100000"/>
              </a:lnSpc>
              <a:spcBef>
                <a:spcPct val="0"/>
              </a:spcBef>
            </a:pPr>
            <a:r>
              <a:rPr lang="en-US" altLang="zh-CN" dirty="0">
                <a:ea typeface="宋体" pitchFamily="2" charset="-122"/>
              </a:rPr>
              <a:t>}</a:t>
            </a:r>
          </a:p>
        </p:txBody>
      </p:sp>
      <p:grpSp>
        <p:nvGrpSpPr>
          <p:cNvPr id="1152041" name="Group 41"/>
          <p:cNvGrpSpPr>
            <a:grpSpLocks/>
          </p:cNvGrpSpPr>
          <p:nvPr/>
        </p:nvGrpSpPr>
        <p:grpSpPr bwMode="auto">
          <a:xfrm>
            <a:off x="8770466" y="2212011"/>
            <a:ext cx="1162050" cy="1892300"/>
            <a:chOff x="4260" y="1270"/>
            <a:chExt cx="732" cy="1192"/>
          </a:xfrm>
        </p:grpSpPr>
        <p:sp>
          <p:nvSpPr>
            <p:cNvPr id="1152042" name="Text Box 42"/>
            <p:cNvSpPr txBox="1">
              <a:spLocks noChangeArrowheads="1"/>
            </p:cNvSpPr>
            <p:nvPr/>
          </p:nvSpPr>
          <p:spPr bwMode="auto">
            <a:xfrm>
              <a:off x="4519" y="1270"/>
              <a:ext cx="211" cy="292"/>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en-US" dirty="0">
                  <a:solidFill>
                    <a:srgbClr val="990000"/>
                  </a:solidFill>
                  <a:ea typeface="隶书" pitchFamily="49" charset="-122"/>
                </a:rPr>
                <a:t>1</a:t>
              </a:r>
              <a:endParaRPr lang="en-US" altLang="zh-CN" dirty="0">
                <a:solidFill>
                  <a:srgbClr val="990000"/>
                </a:solidFill>
                <a:ea typeface="隶书" pitchFamily="49" charset="-122"/>
              </a:endParaRPr>
            </a:p>
          </p:txBody>
        </p:sp>
        <p:sp>
          <p:nvSpPr>
            <p:cNvPr id="1152043" name="Text Box 43"/>
            <p:cNvSpPr txBox="1">
              <a:spLocks noChangeArrowheads="1"/>
            </p:cNvSpPr>
            <p:nvPr/>
          </p:nvSpPr>
          <p:spPr bwMode="auto">
            <a:xfrm>
              <a:off x="4519" y="1496"/>
              <a:ext cx="211" cy="292"/>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en-US">
                  <a:solidFill>
                    <a:srgbClr val="990000"/>
                  </a:solidFill>
                  <a:ea typeface="隶书" pitchFamily="49" charset="-122"/>
                </a:rPr>
                <a:t>2</a:t>
              </a:r>
              <a:endParaRPr lang="en-US" altLang="zh-CN">
                <a:solidFill>
                  <a:srgbClr val="990000"/>
                </a:solidFill>
                <a:ea typeface="隶书" pitchFamily="49" charset="-122"/>
              </a:endParaRPr>
            </a:p>
          </p:txBody>
        </p:sp>
        <p:sp>
          <p:nvSpPr>
            <p:cNvPr id="1152044" name="Text Box 44"/>
            <p:cNvSpPr txBox="1">
              <a:spLocks noChangeArrowheads="1"/>
            </p:cNvSpPr>
            <p:nvPr/>
          </p:nvSpPr>
          <p:spPr bwMode="auto">
            <a:xfrm>
              <a:off x="4519" y="1722"/>
              <a:ext cx="211" cy="292"/>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en-US">
                  <a:solidFill>
                    <a:srgbClr val="990000"/>
                  </a:solidFill>
                  <a:ea typeface="隶书" pitchFamily="49" charset="-122"/>
                </a:rPr>
                <a:t>3</a:t>
              </a:r>
              <a:endParaRPr lang="en-US" altLang="zh-CN">
                <a:solidFill>
                  <a:srgbClr val="990000"/>
                </a:solidFill>
                <a:ea typeface="隶书" pitchFamily="49" charset="-122"/>
              </a:endParaRPr>
            </a:p>
          </p:txBody>
        </p:sp>
        <p:sp>
          <p:nvSpPr>
            <p:cNvPr id="1152045" name="Text Box 45"/>
            <p:cNvSpPr txBox="1">
              <a:spLocks noChangeArrowheads="1"/>
            </p:cNvSpPr>
            <p:nvPr/>
          </p:nvSpPr>
          <p:spPr bwMode="auto">
            <a:xfrm>
              <a:off x="4519" y="1948"/>
              <a:ext cx="211" cy="292"/>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en-US">
                  <a:solidFill>
                    <a:srgbClr val="990000"/>
                  </a:solidFill>
                  <a:ea typeface="隶书" pitchFamily="49" charset="-122"/>
                </a:rPr>
                <a:t>4</a:t>
              </a:r>
              <a:endParaRPr lang="en-US" altLang="zh-CN">
                <a:solidFill>
                  <a:srgbClr val="990000"/>
                </a:solidFill>
                <a:ea typeface="隶书" pitchFamily="49" charset="-122"/>
              </a:endParaRPr>
            </a:p>
          </p:txBody>
        </p:sp>
        <p:sp>
          <p:nvSpPr>
            <p:cNvPr id="1152046" name="Text Box 46"/>
            <p:cNvSpPr txBox="1">
              <a:spLocks noChangeArrowheads="1"/>
            </p:cNvSpPr>
            <p:nvPr/>
          </p:nvSpPr>
          <p:spPr bwMode="auto">
            <a:xfrm>
              <a:off x="4260" y="2170"/>
              <a:ext cx="732" cy="292"/>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en-US">
                  <a:solidFill>
                    <a:srgbClr val="990000"/>
                  </a:solidFill>
                  <a:ea typeface="隶书" pitchFamily="49" charset="-122"/>
                </a:rPr>
                <a:t>5</a:t>
              </a:r>
              <a:endParaRPr lang="en-US" altLang="zh-CN">
                <a:solidFill>
                  <a:srgbClr val="990000"/>
                </a:solidFill>
                <a:ea typeface="隶书" pitchFamily="49" charset="-122"/>
              </a:endParaRPr>
            </a:p>
          </p:txBody>
        </p:sp>
      </p:grpSp>
      <p:grpSp>
        <p:nvGrpSpPr>
          <p:cNvPr id="1152047" name="Group 47"/>
          <p:cNvGrpSpPr>
            <a:grpSpLocks/>
          </p:cNvGrpSpPr>
          <p:nvPr/>
        </p:nvGrpSpPr>
        <p:grpSpPr bwMode="auto">
          <a:xfrm>
            <a:off x="10168328" y="2227857"/>
            <a:ext cx="823909" cy="401638"/>
            <a:chOff x="5064" y="1169"/>
            <a:chExt cx="586" cy="253"/>
          </a:xfrm>
        </p:grpSpPr>
        <p:sp>
          <p:nvSpPr>
            <p:cNvPr id="1152048" name="Line 48"/>
            <p:cNvSpPr>
              <a:spLocks noChangeShapeType="1"/>
            </p:cNvSpPr>
            <p:nvPr/>
          </p:nvSpPr>
          <p:spPr bwMode="auto">
            <a:xfrm flipH="1">
              <a:off x="5064" y="1308"/>
              <a:ext cx="316" cy="0"/>
            </a:xfrm>
            <a:prstGeom prst="line">
              <a:avLst/>
            </a:prstGeom>
            <a:noFill/>
            <a:ln w="38100">
              <a:solidFill>
                <a:srgbClr val="C00000"/>
              </a:solidFill>
              <a:round/>
              <a:headEnd type="none" w="lg" len="lg"/>
              <a:tailEnd type="stealth" w="lg" len="lg"/>
            </a:ln>
            <a:effectLst/>
          </p:spPr>
          <p:txBody>
            <a:bodyPr wrap="square" lIns="90000" tIns="46800" rIns="90000" bIns="46800" anchor="ctr">
              <a:spAutoFit/>
            </a:bodyPr>
            <a:lstStyle/>
            <a:p>
              <a:endParaRPr lang="zh-CN" altLang="en-US">
                <a:solidFill>
                  <a:srgbClr val="C00000"/>
                </a:solidFill>
              </a:endParaRPr>
            </a:p>
          </p:txBody>
        </p:sp>
        <p:sp>
          <p:nvSpPr>
            <p:cNvPr id="1152049" name="Text Box 49"/>
            <p:cNvSpPr txBox="1">
              <a:spLocks noChangeArrowheads="1"/>
            </p:cNvSpPr>
            <p:nvPr/>
          </p:nvSpPr>
          <p:spPr bwMode="auto">
            <a:xfrm>
              <a:off x="5349" y="1169"/>
              <a:ext cx="301"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b="0" dirty="0">
                  <a:solidFill>
                    <a:srgbClr val="C00000"/>
                  </a:solidFill>
                  <a:ea typeface="隶书" pitchFamily="49" charset="-122"/>
                </a:rPr>
                <a:t>pa</a:t>
              </a:r>
            </a:p>
          </p:txBody>
        </p:sp>
      </p:grpSp>
      <p:sp>
        <p:nvSpPr>
          <p:cNvPr id="51" name="Rectangle 4">
            <a:extLst>
              <a:ext uri="{FF2B5EF4-FFF2-40B4-BE49-F238E27FC236}">
                <a16:creationId xmlns:a16="http://schemas.microsoft.com/office/drawing/2014/main" id="{56147C53-B925-49A0-88E3-316A3F0F4DE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52038">
                                            <p:txEl>
                                              <p:pRg st="0" end="0"/>
                                            </p:txEl>
                                          </p:spTgt>
                                        </p:tgtEl>
                                        <p:attrNameLst>
                                          <p:attrName>style.visibility</p:attrName>
                                        </p:attrNameLst>
                                      </p:cBhvr>
                                      <p:to>
                                        <p:strVal val="visible"/>
                                      </p:to>
                                    </p:set>
                                    <p:anim calcmode="lin" valueType="num">
                                      <p:cBhvr additive="base">
                                        <p:cTn id="7" dur="500" fill="hold"/>
                                        <p:tgtEl>
                                          <p:spTgt spid="115203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5203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52039"/>
                                        </p:tgtEl>
                                        <p:attrNameLst>
                                          <p:attrName>style.visibility</p:attrName>
                                        </p:attrNameLst>
                                      </p:cBhvr>
                                      <p:to>
                                        <p:strVal val="visible"/>
                                      </p:to>
                                    </p:set>
                                    <p:animEffect transition="in" filter="box(out)">
                                      <p:cBhvr>
                                        <p:cTn id="13" dur="500"/>
                                        <p:tgtEl>
                                          <p:spTgt spid="115203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52002"/>
                                        </p:tgtEl>
                                        <p:attrNameLst>
                                          <p:attrName>style.visibility</p:attrName>
                                        </p:attrNameLst>
                                      </p:cBhvr>
                                      <p:to>
                                        <p:strVal val="visible"/>
                                      </p:to>
                                    </p:set>
                                    <p:animEffect transition="in" filter="box(out)">
                                      <p:cBhvr>
                                        <p:cTn id="18" dur="500"/>
                                        <p:tgtEl>
                                          <p:spTgt spid="1152002"/>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7" presetClass="entr" presetSubtype="1" fill="hold" nodeType="clickEffect">
                                  <p:stCondLst>
                                    <p:cond delay="0"/>
                                  </p:stCondLst>
                                  <p:childTnLst>
                                    <p:set>
                                      <p:cBhvr>
                                        <p:cTn id="22" dur="1" fill="hold">
                                          <p:stCondLst>
                                            <p:cond delay="0"/>
                                          </p:stCondLst>
                                        </p:cTn>
                                        <p:tgtEl>
                                          <p:spTgt spid="1152041"/>
                                        </p:tgtEl>
                                        <p:attrNameLst>
                                          <p:attrName>style.visibility</p:attrName>
                                        </p:attrNameLst>
                                      </p:cBhvr>
                                      <p:to>
                                        <p:strVal val="visible"/>
                                      </p:to>
                                    </p:set>
                                    <p:anim calcmode="lin" valueType="num">
                                      <p:cBhvr>
                                        <p:cTn id="23" dur="500" fill="hold"/>
                                        <p:tgtEl>
                                          <p:spTgt spid="1152041"/>
                                        </p:tgtEl>
                                        <p:attrNameLst>
                                          <p:attrName>ppt_x</p:attrName>
                                        </p:attrNameLst>
                                      </p:cBhvr>
                                      <p:tavLst>
                                        <p:tav tm="0">
                                          <p:val>
                                            <p:strVal val="#ppt_x"/>
                                          </p:val>
                                        </p:tav>
                                        <p:tav tm="100000">
                                          <p:val>
                                            <p:strVal val="#ppt_x"/>
                                          </p:val>
                                        </p:tav>
                                      </p:tavLst>
                                    </p:anim>
                                    <p:anim calcmode="lin" valueType="num">
                                      <p:cBhvr>
                                        <p:cTn id="24" dur="500" fill="hold"/>
                                        <p:tgtEl>
                                          <p:spTgt spid="1152041"/>
                                        </p:tgtEl>
                                        <p:attrNameLst>
                                          <p:attrName>ppt_y</p:attrName>
                                        </p:attrNameLst>
                                      </p:cBhvr>
                                      <p:tavLst>
                                        <p:tav tm="0">
                                          <p:val>
                                            <p:strVal val="#ppt_y-#ppt_h/2"/>
                                          </p:val>
                                        </p:tav>
                                        <p:tav tm="100000">
                                          <p:val>
                                            <p:strVal val="#ppt_y"/>
                                          </p:val>
                                        </p:tav>
                                      </p:tavLst>
                                    </p:anim>
                                    <p:anim calcmode="lin" valueType="num">
                                      <p:cBhvr>
                                        <p:cTn id="25" dur="500" fill="hold"/>
                                        <p:tgtEl>
                                          <p:spTgt spid="1152041"/>
                                        </p:tgtEl>
                                        <p:attrNameLst>
                                          <p:attrName>ppt_w</p:attrName>
                                        </p:attrNameLst>
                                      </p:cBhvr>
                                      <p:tavLst>
                                        <p:tav tm="0">
                                          <p:val>
                                            <p:strVal val="#ppt_w"/>
                                          </p:val>
                                        </p:tav>
                                        <p:tav tm="100000">
                                          <p:val>
                                            <p:strVal val="#ppt_w"/>
                                          </p:val>
                                        </p:tav>
                                      </p:tavLst>
                                    </p:anim>
                                    <p:anim calcmode="lin" valueType="num">
                                      <p:cBhvr>
                                        <p:cTn id="26" dur="500" fill="hold"/>
                                        <p:tgtEl>
                                          <p:spTgt spid="115204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152047"/>
                                        </p:tgtEl>
                                        <p:attrNameLst>
                                          <p:attrName>style.visibility</p:attrName>
                                        </p:attrNameLst>
                                      </p:cBhvr>
                                      <p:to>
                                        <p:strVal val="visible"/>
                                      </p:to>
                                    </p:set>
                                    <p:animEffect transition="in" filter="box(out)">
                                      <p:cBhvr>
                                        <p:cTn id="31" dur="500"/>
                                        <p:tgtEl>
                                          <p:spTgt spid="1152047"/>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2038" grpId="0" build="p" autoUpdateAnimBg="0"/>
      <p:bldP spid="1152039"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4052" name="AutoShape 4"/>
          <p:cNvSpPr>
            <a:spLocks noChangeArrowheads="1"/>
          </p:cNvSpPr>
          <p:nvPr/>
        </p:nvSpPr>
        <p:spPr bwMode="auto">
          <a:xfrm>
            <a:off x="2215070" y="2767097"/>
            <a:ext cx="2872818" cy="1571842"/>
          </a:xfrm>
          <a:prstGeom prst="wedgeRectCallout">
            <a:avLst>
              <a:gd name="adj1" fmla="val 19750"/>
              <a:gd name="adj2" fmla="val -118074"/>
            </a:avLst>
          </a:prstGeom>
          <a:gradFill rotWithShape="1">
            <a:gsLst>
              <a:gs pos="0">
                <a:srgbClr val="CFCFD1"/>
              </a:gs>
              <a:gs pos="100000">
                <a:schemeClr val="bg1"/>
              </a:gs>
            </a:gsLst>
            <a:lin ang="5400000" scaled="1"/>
          </a:gradFill>
          <a:ln w="28575">
            <a:solidFill>
              <a:srgbClr val="C00000"/>
            </a:solidFill>
            <a:miter lim="800000"/>
            <a:headEnd type="none" w="lg" len="lg"/>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latin typeface="+mn-lt"/>
                <a:ea typeface="楷体" pitchFamily="49" charset="-122"/>
              </a:rPr>
              <a:t>数组名是</a:t>
            </a:r>
            <a:r>
              <a:rPr lang="zh-CN" altLang="en-US" dirty="0">
                <a:solidFill>
                  <a:srgbClr val="C01920"/>
                </a:solidFill>
                <a:latin typeface="+mn-lt"/>
                <a:ea typeface="楷体" pitchFamily="49" charset="-122"/>
              </a:rPr>
              <a:t>地址常量</a:t>
            </a:r>
          </a:p>
          <a:p>
            <a:pPr>
              <a:lnSpc>
                <a:spcPct val="100000"/>
              </a:lnSpc>
              <a:spcBef>
                <a:spcPct val="0"/>
              </a:spcBef>
            </a:pPr>
            <a:r>
              <a:rPr lang="en-US" altLang="zh-CN" dirty="0">
                <a:latin typeface="+mn-lt"/>
                <a:ea typeface="楷体" pitchFamily="49" charset="-122"/>
              </a:rPr>
              <a:t>p++,p--   (</a:t>
            </a:r>
            <a:r>
              <a:rPr lang="en-US" altLang="zh-CN" dirty="0">
                <a:solidFill>
                  <a:srgbClr val="C01920"/>
                </a:solidFill>
                <a:latin typeface="+mn-lt"/>
                <a:ea typeface="楷体" pitchFamily="49" charset="-122"/>
                <a:sym typeface="Wingdings" pitchFamily="2" charset="2"/>
              </a:rPr>
              <a:t></a:t>
            </a:r>
            <a:r>
              <a:rPr lang="en-US" altLang="zh-CN" dirty="0">
                <a:latin typeface="+mn-lt"/>
                <a:ea typeface="楷体" pitchFamily="49" charset="-122"/>
              </a:rPr>
              <a:t>)</a:t>
            </a:r>
          </a:p>
          <a:p>
            <a:pPr>
              <a:lnSpc>
                <a:spcPct val="100000"/>
              </a:lnSpc>
              <a:spcBef>
                <a:spcPct val="0"/>
              </a:spcBef>
            </a:pPr>
            <a:r>
              <a:rPr lang="en-US" altLang="zh-CN" dirty="0">
                <a:latin typeface="+mn-lt"/>
                <a:ea typeface="楷体" pitchFamily="49" charset="-122"/>
              </a:rPr>
              <a:t>a++,a--    (</a:t>
            </a:r>
            <a:r>
              <a:rPr lang="en-US" altLang="zh-CN" dirty="0">
                <a:solidFill>
                  <a:srgbClr val="002060"/>
                </a:solidFill>
                <a:latin typeface="+mn-lt"/>
                <a:ea typeface="楷体" pitchFamily="49" charset="-122"/>
                <a:sym typeface="Symbol" pitchFamily="18" charset="2"/>
              </a:rPr>
              <a:t></a:t>
            </a:r>
            <a:r>
              <a:rPr lang="en-US" altLang="zh-CN" dirty="0">
                <a:latin typeface="+mn-lt"/>
                <a:ea typeface="楷体" pitchFamily="49" charset="-122"/>
              </a:rPr>
              <a:t>)</a:t>
            </a:r>
          </a:p>
          <a:p>
            <a:pPr>
              <a:lnSpc>
                <a:spcPct val="100000"/>
              </a:lnSpc>
              <a:spcBef>
                <a:spcPct val="0"/>
              </a:spcBef>
            </a:pPr>
            <a:r>
              <a:rPr lang="en-US" altLang="zh-CN" dirty="0">
                <a:latin typeface="+mn-lt"/>
                <a:ea typeface="楷体" pitchFamily="49" charset="-122"/>
              </a:rPr>
              <a:t>a+1, *(a+2)    (</a:t>
            </a:r>
            <a:r>
              <a:rPr lang="en-US" altLang="zh-CN" dirty="0">
                <a:solidFill>
                  <a:srgbClr val="C01920"/>
                </a:solidFill>
                <a:latin typeface="+mn-lt"/>
                <a:ea typeface="楷体" pitchFamily="49" charset="-122"/>
                <a:sym typeface="Wingdings" pitchFamily="2" charset="2"/>
              </a:rPr>
              <a:t></a:t>
            </a:r>
            <a:r>
              <a:rPr lang="en-US" altLang="zh-CN" dirty="0">
                <a:solidFill>
                  <a:schemeClr val="tx2"/>
                </a:solidFill>
                <a:latin typeface="+mn-lt"/>
                <a:ea typeface="楷体" pitchFamily="49" charset="-122"/>
                <a:sym typeface="Wingdings" pitchFamily="2" charset="2"/>
              </a:rPr>
              <a:t>)</a:t>
            </a:r>
          </a:p>
        </p:txBody>
      </p:sp>
      <p:sp>
        <p:nvSpPr>
          <p:cNvPr id="1154050" name="Text Box 2"/>
          <p:cNvSpPr txBox="1">
            <a:spLocks noChangeArrowheads="1"/>
          </p:cNvSpPr>
          <p:nvPr/>
        </p:nvSpPr>
        <p:spPr bwMode="auto">
          <a:xfrm>
            <a:off x="674392" y="874133"/>
            <a:ext cx="10678192" cy="830997"/>
          </a:xfrm>
          <a:prstGeom prst="rect">
            <a:avLst/>
          </a:prstGeom>
          <a:noFill/>
          <a:ln w="9525">
            <a:noFill/>
            <a:miter lim="800000"/>
            <a:headEnd/>
            <a:tailEnd/>
          </a:ln>
          <a:effectLst/>
        </p:spPr>
        <p:txBody>
          <a:bodyPr wrap="square">
            <a:spAutoFit/>
          </a:bodyPr>
          <a:lstStyle/>
          <a:p>
            <a:pPr>
              <a:lnSpc>
                <a:spcPct val="100000"/>
              </a:lnSpc>
              <a:spcBef>
                <a:spcPct val="0"/>
              </a:spcBef>
            </a:pPr>
            <a:r>
              <a:rPr lang="zh-CN" altLang="en-US" dirty="0">
                <a:solidFill>
                  <a:srgbClr val="C00000"/>
                </a:solidFill>
                <a:latin typeface="楷体" panose="02010609060101010101" pitchFamily="49" charset="-122"/>
                <a:ea typeface="楷体" panose="02010609060101010101" pitchFamily="49" charset="-122"/>
              </a:rPr>
              <a:t>例</a:t>
            </a:r>
            <a:r>
              <a:rPr lang="en-US" altLang="zh-CN" dirty="0">
                <a:solidFill>
                  <a:srgbClr val="C00000"/>
                </a:solidFill>
                <a:latin typeface="楷体" panose="02010609060101010101" pitchFamily="49" charset="-122"/>
                <a:ea typeface="楷体" panose="02010609060101010101" pitchFamily="49" charset="-122"/>
              </a:rPr>
              <a:t>:  </a:t>
            </a:r>
            <a:r>
              <a:rPr lang="en-US" altLang="zh-CN" dirty="0"/>
              <a:t>int  a[ ] = { 1, 2, 3, 4, 5, 6, 7, 8, 9, 10 }, *p = a, </a:t>
            </a:r>
            <a:r>
              <a:rPr lang="en-US" altLang="zh-CN" dirty="0" err="1"/>
              <a:t>i</a:t>
            </a:r>
            <a:r>
              <a:rPr lang="en-US" altLang="zh-CN" dirty="0"/>
              <a:t>; </a:t>
            </a:r>
            <a:r>
              <a:rPr lang="zh-CN" altLang="zh-CN" dirty="0">
                <a:latin typeface="+mn-lt"/>
                <a:ea typeface="楷体" pitchFamily="49" charset="-122"/>
              </a:rPr>
              <a:t>数组元素地址的正确表示：</a:t>
            </a:r>
            <a:br>
              <a:rPr lang="zh-CN" altLang="zh-CN" dirty="0"/>
            </a:br>
            <a:r>
              <a:rPr lang="en-US" altLang="zh-CN" dirty="0"/>
              <a:t>    </a:t>
            </a:r>
            <a:r>
              <a:rPr lang="zh-CN" altLang="zh-CN" dirty="0"/>
              <a:t>（</a:t>
            </a:r>
            <a:r>
              <a:rPr lang="en-US" altLang="zh-CN" dirty="0"/>
              <a:t>A</a:t>
            </a:r>
            <a:r>
              <a:rPr lang="zh-CN" altLang="en-US" dirty="0"/>
              <a:t>）</a:t>
            </a:r>
            <a:r>
              <a:rPr lang="en-US" altLang="zh-CN" dirty="0"/>
              <a:t>&amp;(a+1)           </a:t>
            </a:r>
            <a:r>
              <a:rPr lang="zh-CN" altLang="en-US" dirty="0"/>
              <a:t>（</a:t>
            </a:r>
            <a:r>
              <a:rPr lang="en-US" altLang="zh-CN" dirty="0"/>
              <a:t>B</a:t>
            </a:r>
            <a:r>
              <a:rPr lang="zh-CN" altLang="en-US" dirty="0"/>
              <a:t>）</a:t>
            </a:r>
            <a:r>
              <a:rPr lang="en-US" altLang="zh-CN" dirty="0"/>
              <a:t>a++           </a:t>
            </a:r>
            <a:r>
              <a:rPr lang="zh-CN" altLang="en-US" dirty="0"/>
              <a:t>（</a:t>
            </a:r>
            <a:r>
              <a:rPr lang="en-US" altLang="zh-CN" dirty="0"/>
              <a:t>C</a:t>
            </a:r>
            <a:r>
              <a:rPr lang="zh-CN" altLang="en-US" dirty="0"/>
              <a:t>）</a:t>
            </a:r>
            <a:r>
              <a:rPr lang="en-US" altLang="zh-CN" dirty="0"/>
              <a:t>&amp;p           </a:t>
            </a:r>
            <a:r>
              <a:rPr lang="zh-CN" altLang="en-US" dirty="0"/>
              <a:t>（</a:t>
            </a:r>
            <a:r>
              <a:rPr lang="en-US" altLang="zh-CN" dirty="0"/>
              <a:t>D</a:t>
            </a:r>
            <a:r>
              <a:rPr lang="zh-CN" altLang="en-US" dirty="0"/>
              <a:t>）</a:t>
            </a:r>
            <a:r>
              <a:rPr lang="en-US" altLang="zh-CN" dirty="0"/>
              <a:t>&amp;p[</a:t>
            </a:r>
            <a:r>
              <a:rPr lang="en-US" altLang="zh-CN" dirty="0" err="1"/>
              <a:t>i</a:t>
            </a:r>
            <a:r>
              <a:rPr lang="en-US" altLang="zh-CN" dirty="0"/>
              <a:t>]</a:t>
            </a:r>
            <a:endParaRPr lang="en-US" altLang="zh-CN" sz="2000" dirty="0"/>
          </a:p>
        </p:txBody>
      </p:sp>
      <p:sp>
        <p:nvSpPr>
          <p:cNvPr id="1154051" name="Text Box 3"/>
          <p:cNvSpPr txBox="1">
            <a:spLocks noChangeArrowheads="1"/>
          </p:cNvSpPr>
          <p:nvPr/>
        </p:nvSpPr>
        <p:spPr bwMode="auto">
          <a:xfrm>
            <a:off x="7729324" y="1196752"/>
            <a:ext cx="407988" cy="579437"/>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3200" dirty="0">
                <a:solidFill>
                  <a:srgbClr val="C00000"/>
                </a:solidFill>
                <a:ea typeface="宋体" pitchFamily="2" charset="-122"/>
                <a:sym typeface="Symbol" pitchFamily="18" charset="2"/>
              </a:rPr>
              <a:t></a:t>
            </a:r>
            <a:endParaRPr lang="en-US" altLang="zh-CN" sz="3200" dirty="0">
              <a:solidFill>
                <a:srgbClr val="C00000"/>
              </a:solidFill>
              <a:ea typeface="宋体" pitchFamily="2" charset="-122"/>
            </a:endParaRPr>
          </a:p>
        </p:txBody>
      </p:sp>
      <p:sp>
        <p:nvSpPr>
          <p:cNvPr id="1154056" name="Text Box 8"/>
          <p:cNvSpPr txBox="1">
            <a:spLocks noChangeArrowheads="1"/>
          </p:cNvSpPr>
          <p:nvPr/>
        </p:nvSpPr>
        <p:spPr bwMode="auto">
          <a:xfrm>
            <a:off x="674391" y="1954550"/>
            <a:ext cx="3554412" cy="457200"/>
          </a:xfrm>
          <a:prstGeom prst="rect">
            <a:avLst/>
          </a:prstGeom>
          <a:noFill/>
          <a:ln w="9525">
            <a:noFill/>
            <a:miter lim="800000"/>
            <a:headEnd/>
            <a:tailEnd/>
          </a:ln>
          <a:effectLst/>
        </p:spPr>
        <p:txBody>
          <a:bodyPr wrap="none">
            <a:spAutoFit/>
          </a:bodyPr>
          <a:lstStyle/>
          <a:p>
            <a:pPr>
              <a:lnSpc>
                <a:spcPct val="100000"/>
              </a:lnSpc>
              <a:spcBef>
                <a:spcPct val="0"/>
              </a:spcBef>
            </a:pPr>
            <a:r>
              <a:rPr lang="zh-CN" altLang="en-US" dirty="0">
                <a:solidFill>
                  <a:srgbClr val="C00000"/>
                </a:solidFill>
                <a:latin typeface="楷体" panose="02010609060101010101" pitchFamily="49" charset="-122"/>
                <a:ea typeface="楷体" panose="02010609060101010101" pitchFamily="49" charset="-122"/>
              </a:rPr>
              <a:t>例：</a:t>
            </a:r>
            <a:r>
              <a:rPr lang="zh-CN" altLang="en-US" dirty="0">
                <a:latin typeface="+mn-lt"/>
                <a:ea typeface="楷体" pitchFamily="49" charset="-122"/>
              </a:rPr>
              <a:t>注意指针变量的运算</a:t>
            </a:r>
          </a:p>
        </p:txBody>
      </p:sp>
      <p:sp>
        <p:nvSpPr>
          <p:cNvPr id="1154057" name="Text Box 9" descr="信纸"/>
          <p:cNvSpPr txBox="1">
            <a:spLocks noChangeArrowheads="1"/>
          </p:cNvSpPr>
          <p:nvPr/>
        </p:nvSpPr>
        <p:spPr bwMode="auto">
          <a:xfrm>
            <a:off x="1312268" y="2446113"/>
            <a:ext cx="5061940" cy="3785652"/>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err="1">
                <a:solidFill>
                  <a:srgbClr val="C00000"/>
                </a:solidFill>
                <a:ea typeface="宋体" pitchFamily="2" charset="-122"/>
              </a:rPr>
              <a:t>int</a:t>
            </a:r>
            <a:r>
              <a:rPr lang="en-US" altLang="zh-CN" dirty="0">
                <a:solidFill>
                  <a:srgbClr val="C00000"/>
                </a:solidFill>
                <a:ea typeface="宋体" pitchFamily="2" charset="-122"/>
              </a:rPr>
              <a:t>  main( )</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a[ ] = {5, 8, 7, 6, 2, 7, 3};</a:t>
            </a:r>
          </a:p>
          <a:p>
            <a:pPr eaLnBrk="0" hangingPunct="0">
              <a:lnSpc>
                <a:spcPct val="100000"/>
              </a:lnSpc>
              <a:spcBef>
                <a:spcPct val="0"/>
              </a:spcBef>
            </a:pPr>
            <a:r>
              <a:rPr lang="en-US" altLang="zh-CN" dirty="0">
                <a:ea typeface="宋体" pitchFamily="2" charset="-122"/>
              </a:rPr>
              <a:t>     int y,</a:t>
            </a:r>
            <a:r>
              <a:rPr lang="en-US" altLang="zh-CN" dirty="0">
                <a:solidFill>
                  <a:srgbClr val="0000FF"/>
                </a:solidFill>
                <a:ea typeface="宋体" pitchFamily="2" charset="-122"/>
              </a:rPr>
              <a:t> </a:t>
            </a:r>
            <a:r>
              <a:rPr lang="en-US" altLang="zh-CN" dirty="0">
                <a:solidFill>
                  <a:srgbClr val="002060"/>
                </a:solidFill>
                <a:ea typeface="宋体" pitchFamily="2" charset="-122"/>
              </a:rPr>
              <a:t>*p = &amp;a[1];</a:t>
            </a:r>
          </a:p>
          <a:p>
            <a:pPr eaLnBrk="0" hangingPunct="0">
              <a:lnSpc>
                <a:spcPct val="100000"/>
              </a:lnSpc>
              <a:spcBef>
                <a:spcPct val="0"/>
              </a:spcBef>
            </a:pPr>
            <a:endParaRPr lang="en-US" altLang="zh-CN" dirty="0">
              <a:ea typeface="宋体" pitchFamily="2" charset="-122"/>
            </a:endParaRPr>
          </a:p>
          <a:p>
            <a:pPr eaLnBrk="0" hangingPunct="0">
              <a:lnSpc>
                <a:spcPct val="100000"/>
              </a:lnSpc>
              <a:spcBef>
                <a:spcPct val="0"/>
              </a:spcBef>
            </a:pPr>
            <a:r>
              <a:rPr lang="en-US" altLang="zh-CN" dirty="0">
                <a:ea typeface="宋体" pitchFamily="2" charset="-122"/>
              </a:rPr>
              <a:t>     </a:t>
            </a:r>
            <a:r>
              <a:rPr lang="en-US" altLang="zh-CN" dirty="0">
                <a:solidFill>
                  <a:srgbClr val="002060"/>
                </a:solidFill>
                <a:ea typeface="宋体" pitchFamily="2" charset="-122"/>
              </a:rPr>
              <a:t>y = (*--p)++;</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("%d  ", y);</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("%d", a[0]);</a:t>
            </a:r>
          </a:p>
          <a:p>
            <a:pPr eaLnBrk="0" hangingPunct="0">
              <a:lnSpc>
                <a:spcPct val="100000"/>
              </a:lnSpc>
              <a:spcBef>
                <a:spcPct val="0"/>
              </a:spcBef>
            </a:pPr>
            <a:r>
              <a:rPr lang="en-US" altLang="zh-CN" dirty="0">
                <a:ea typeface="宋体" pitchFamily="2" charset="-122"/>
              </a:rPr>
              <a:t>     return 0;</a:t>
            </a:r>
          </a:p>
          <a:p>
            <a:pPr eaLnBrk="0" hangingPunct="0">
              <a:lnSpc>
                <a:spcPct val="100000"/>
              </a:lnSpc>
              <a:spcBef>
                <a:spcPct val="0"/>
              </a:spcBef>
            </a:pPr>
            <a:r>
              <a:rPr lang="en-US" altLang="zh-CN" dirty="0">
                <a:ea typeface="宋体" pitchFamily="2" charset="-122"/>
              </a:rPr>
              <a:t>} </a:t>
            </a:r>
          </a:p>
        </p:txBody>
      </p:sp>
      <p:grpSp>
        <p:nvGrpSpPr>
          <p:cNvPr id="1154058" name="Group 10"/>
          <p:cNvGrpSpPr>
            <a:grpSpLocks/>
          </p:cNvGrpSpPr>
          <p:nvPr/>
        </p:nvGrpSpPr>
        <p:grpSpPr bwMode="auto">
          <a:xfrm>
            <a:off x="7077471" y="2819936"/>
            <a:ext cx="2474913" cy="3167062"/>
            <a:chOff x="3053" y="483"/>
            <a:chExt cx="1559" cy="1995"/>
          </a:xfrm>
        </p:grpSpPr>
        <p:sp>
          <p:nvSpPr>
            <p:cNvPr id="1154059" name="Rectangle 11"/>
            <p:cNvSpPr>
              <a:spLocks noChangeArrowheads="1"/>
            </p:cNvSpPr>
            <p:nvPr/>
          </p:nvSpPr>
          <p:spPr bwMode="auto">
            <a:xfrm>
              <a:off x="3556" y="655"/>
              <a:ext cx="900" cy="1823"/>
            </a:xfrm>
            <a:prstGeom prst="rect">
              <a:avLst/>
            </a:prstGeom>
            <a:noFill/>
            <a:ln w="28575">
              <a:solidFill>
                <a:schemeClr val="tx1"/>
              </a:solidFill>
              <a:miter lim="800000"/>
              <a:headEnd/>
              <a:tailEnd/>
            </a:ln>
            <a:effectLst/>
          </p:spPr>
          <p:txBody>
            <a:bodyPr wrap="none" anchor="ctr"/>
            <a:lstStyle/>
            <a:p>
              <a:endParaRPr lang="zh-CN" altLang="en-US"/>
            </a:p>
          </p:txBody>
        </p:sp>
        <p:sp>
          <p:nvSpPr>
            <p:cNvPr id="1154060" name="Line 12"/>
            <p:cNvSpPr>
              <a:spLocks noChangeShapeType="1"/>
            </p:cNvSpPr>
            <p:nvPr/>
          </p:nvSpPr>
          <p:spPr bwMode="auto">
            <a:xfrm>
              <a:off x="3554" y="911"/>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4061" name="Line 13"/>
            <p:cNvSpPr>
              <a:spLocks noChangeShapeType="1"/>
            </p:cNvSpPr>
            <p:nvPr/>
          </p:nvSpPr>
          <p:spPr bwMode="auto">
            <a:xfrm>
              <a:off x="3554" y="1171"/>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4062" name="Line 14"/>
            <p:cNvSpPr>
              <a:spLocks noChangeShapeType="1"/>
            </p:cNvSpPr>
            <p:nvPr/>
          </p:nvSpPr>
          <p:spPr bwMode="auto">
            <a:xfrm>
              <a:off x="3554" y="1432"/>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4063" name="Line 15"/>
            <p:cNvSpPr>
              <a:spLocks noChangeShapeType="1"/>
            </p:cNvSpPr>
            <p:nvPr/>
          </p:nvSpPr>
          <p:spPr bwMode="auto">
            <a:xfrm>
              <a:off x="3554" y="1693"/>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4064" name="Line 16"/>
            <p:cNvSpPr>
              <a:spLocks noChangeShapeType="1"/>
            </p:cNvSpPr>
            <p:nvPr/>
          </p:nvSpPr>
          <p:spPr bwMode="auto">
            <a:xfrm>
              <a:off x="3554" y="1954"/>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4065" name="Line 17"/>
            <p:cNvSpPr>
              <a:spLocks noChangeShapeType="1"/>
            </p:cNvSpPr>
            <p:nvPr/>
          </p:nvSpPr>
          <p:spPr bwMode="auto">
            <a:xfrm>
              <a:off x="3554" y="2215"/>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4066" name="Text Box 18"/>
            <p:cNvSpPr txBox="1">
              <a:spLocks noChangeArrowheads="1"/>
            </p:cNvSpPr>
            <p:nvPr/>
          </p:nvSpPr>
          <p:spPr bwMode="auto">
            <a:xfrm>
              <a:off x="3909" y="650"/>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ea typeface="宋体" pitchFamily="2" charset="-122"/>
                </a:rPr>
                <a:t>5</a:t>
              </a:r>
            </a:p>
          </p:txBody>
        </p:sp>
        <p:sp>
          <p:nvSpPr>
            <p:cNvPr id="1154067" name="Text Box 19"/>
            <p:cNvSpPr txBox="1">
              <a:spLocks noChangeArrowheads="1"/>
            </p:cNvSpPr>
            <p:nvPr/>
          </p:nvSpPr>
          <p:spPr bwMode="auto">
            <a:xfrm>
              <a:off x="3909" y="910"/>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8</a:t>
              </a:r>
            </a:p>
          </p:txBody>
        </p:sp>
        <p:sp>
          <p:nvSpPr>
            <p:cNvPr id="1154068" name="Text Box 20"/>
            <p:cNvSpPr txBox="1">
              <a:spLocks noChangeArrowheads="1"/>
            </p:cNvSpPr>
            <p:nvPr/>
          </p:nvSpPr>
          <p:spPr bwMode="auto">
            <a:xfrm>
              <a:off x="3909" y="1171"/>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7</a:t>
              </a:r>
            </a:p>
          </p:txBody>
        </p:sp>
        <p:sp>
          <p:nvSpPr>
            <p:cNvPr id="1154069" name="Text Box 21"/>
            <p:cNvSpPr txBox="1">
              <a:spLocks noChangeArrowheads="1"/>
            </p:cNvSpPr>
            <p:nvPr/>
          </p:nvSpPr>
          <p:spPr bwMode="auto">
            <a:xfrm>
              <a:off x="3909" y="1432"/>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6</a:t>
              </a:r>
            </a:p>
          </p:txBody>
        </p:sp>
        <p:sp>
          <p:nvSpPr>
            <p:cNvPr id="1154070" name="Text Box 22"/>
            <p:cNvSpPr txBox="1">
              <a:spLocks noChangeArrowheads="1"/>
            </p:cNvSpPr>
            <p:nvPr/>
          </p:nvSpPr>
          <p:spPr bwMode="auto">
            <a:xfrm>
              <a:off x="3909" y="1693"/>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2</a:t>
              </a:r>
            </a:p>
          </p:txBody>
        </p:sp>
        <p:sp>
          <p:nvSpPr>
            <p:cNvPr id="1154071" name="Text Box 23"/>
            <p:cNvSpPr txBox="1">
              <a:spLocks noChangeArrowheads="1"/>
            </p:cNvSpPr>
            <p:nvPr/>
          </p:nvSpPr>
          <p:spPr bwMode="auto">
            <a:xfrm>
              <a:off x="3909" y="1954"/>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7</a:t>
              </a:r>
            </a:p>
          </p:txBody>
        </p:sp>
        <p:sp>
          <p:nvSpPr>
            <p:cNvPr id="1154072" name="Text Box 24"/>
            <p:cNvSpPr txBox="1">
              <a:spLocks noChangeArrowheads="1"/>
            </p:cNvSpPr>
            <p:nvPr/>
          </p:nvSpPr>
          <p:spPr bwMode="auto">
            <a:xfrm>
              <a:off x="3909" y="2215"/>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3</a:t>
              </a:r>
            </a:p>
          </p:txBody>
        </p:sp>
        <p:sp>
          <p:nvSpPr>
            <p:cNvPr id="1154073" name="Text Box 25"/>
            <p:cNvSpPr txBox="1">
              <a:spLocks noChangeArrowheads="1"/>
            </p:cNvSpPr>
            <p:nvPr/>
          </p:nvSpPr>
          <p:spPr bwMode="auto">
            <a:xfrm>
              <a:off x="4416" y="646"/>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dirty="0">
                  <a:solidFill>
                    <a:srgbClr val="002060"/>
                  </a:solidFill>
                  <a:ea typeface="宋体" pitchFamily="2" charset="-122"/>
                </a:rPr>
                <a:t>0</a:t>
              </a:r>
            </a:p>
          </p:txBody>
        </p:sp>
        <p:sp>
          <p:nvSpPr>
            <p:cNvPr id="1154074" name="Text Box 26"/>
            <p:cNvSpPr txBox="1">
              <a:spLocks noChangeArrowheads="1"/>
            </p:cNvSpPr>
            <p:nvPr/>
          </p:nvSpPr>
          <p:spPr bwMode="auto">
            <a:xfrm>
              <a:off x="4416" y="906"/>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002060"/>
                  </a:solidFill>
                  <a:ea typeface="宋体" pitchFamily="2" charset="-122"/>
                </a:rPr>
                <a:t>1</a:t>
              </a:r>
            </a:p>
          </p:txBody>
        </p:sp>
        <p:sp>
          <p:nvSpPr>
            <p:cNvPr id="1154075" name="Text Box 27"/>
            <p:cNvSpPr txBox="1">
              <a:spLocks noChangeArrowheads="1"/>
            </p:cNvSpPr>
            <p:nvPr/>
          </p:nvSpPr>
          <p:spPr bwMode="auto">
            <a:xfrm>
              <a:off x="4416" y="1167"/>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002060"/>
                  </a:solidFill>
                  <a:ea typeface="宋体" pitchFamily="2" charset="-122"/>
                </a:rPr>
                <a:t>2</a:t>
              </a:r>
            </a:p>
          </p:txBody>
        </p:sp>
        <p:sp>
          <p:nvSpPr>
            <p:cNvPr id="1154076" name="Text Box 28"/>
            <p:cNvSpPr txBox="1">
              <a:spLocks noChangeArrowheads="1"/>
            </p:cNvSpPr>
            <p:nvPr/>
          </p:nvSpPr>
          <p:spPr bwMode="auto">
            <a:xfrm>
              <a:off x="4416" y="1428"/>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002060"/>
                  </a:solidFill>
                  <a:ea typeface="宋体" pitchFamily="2" charset="-122"/>
                </a:rPr>
                <a:t>3</a:t>
              </a:r>
            </a:p>
          </p:txBody>
        </p:sp>
        <p:sp>
          <p:nvSpPr>
            <p:cNvPr id="1154077" name="Text Box 29"/>
            <p:cNvSpPr txBox="1">
              <a:spLocks noChangeArrowheads="1"/>
            </p:cNvSpPr>
            <p:nvPr/>
          </p:nvSpPr>
          <p:spPr bwMode="auto">
            <a:xfrm>
              <a:off x="4416" y="1689"/>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002060"/>
                  </a:solidFill>
                  <a:ea typeface="宋体" pitchFamily="2" charset="-122"/>
                </a:rPr>
                <a:t>4</a:t>
              </a:r>
            </a:p>
          </p:txBody>
        </p:sp>
        <p:sp>
          <p:nvSpPr>
            <p:cNvPr id="1154078" name="Text Box 30"/>
            <p:cNvSpPr txBox="1">
              <a:spLocks noChangeArrowheads="1"/>
            </p:cNvSpPr>
            <p:nvPr/>
          </p:nvSpPr>
          <p:spPr bwMode="auto">
            <a:xfrm>
              <a:off x="4416" y="1950"/>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002060"/>
                  </a:solidFill>
                  <a:ea typeface="宋体" pitchFamily="2" charset="-122"/>
                </a:rPr>
                <a:t>5</a:t>
              </a:r>
            </a:p>
          </p:txBody>
        </p:sp>
        <p:sp>
          <p:nvSpPr>
            <p:cNvPr id="1154079" name="Text Box 31"/>
            <p:cNvSpPr txBox="1">
              <a:spLocks noChangeArrowheads="1"/>
            </p:cNvSpPr>
            <p:nvPr/>
          </p:nvSpPr>
          <p:spPr bwMode="auto">
            <a:xfrm>
              <a:off x="4416" y="2211"/>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002060"/>
                  </a:solidFill>
                  <a:ea typeface="宋体" pitchFamily="2" charset="-122"/>
                </a:rPr>
                <a:t>6</a:t>
              </a:r>
            </a:p>
          </p:txBody>
        </p:sp>
        <p:sp>
          <p:nvSpPr>
            <p:cNvPr id="1154080" name="Line 32"/>
            <p:cNvSpPr>
              <a:spLocks noChangeShapeType="1"/>
            </p:cNvSpPr>
            <p:nvPr/>
          </p:nvSpPr>
          <p:spPr bwMode="auto">
            <a:xfrm>
              <a:off x="3200" y="644"/>
              <a:ext cx="356" cy="0"/>
            </a:xfrm>
            <a:prstGeom prst="line">
              <a:avLst/>
            </a:prstGeom>
            <a:noFill/>
            <a:ln w="19050">
              <a:solidFill>
                <a:srgbClr val="C0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4081" name="Text Box 33"/>
            <p:cNvSpPr txBox="1">
              <a:spLocks noChangeArrowheads="1"/>
            </p:cNvSpPr>
            <p:nvPr/>
          </p:nvSpPr>
          <p:spPr bwMode="auto">
            <a:xfrm>
              <a:off x="3053" y="483"/>
              <a:ext cx="188"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solidFill>
                    <a:srgbClr val="C00000"/>
                  </a:solidFill>
                  <a:ea typeface="宋体" pitchFamily="2" charset="-122"/>
                </a:rPr>
                <a:t>a</a:t>
              </a:r>
            </a:p>
          </p:txBody>
        </p:sp>
      </p:grpSp>
      <p:grpSp>
        <p:nvGrpSpPr>
          <p:cNvPr id="1154082" name="Group 34"/>
          <p:cNvGrpSpPr>
            <a:grpSpLocks/>
          </p:cNvGrpSpPr>
          <p:nvPr/>
        </p:nvGrpSpPr>
        <p:grpSpPr bwMode="auto">
          <a:xfrm>
            <a:off x="7069534" y="3326349"/>
            <a:ext cx="814387" cy="400050"/>
            <a:chOff x="3799" y="1095"/>
            <a:chExt cx="513" cy="252"/>
          </a:xfrm>
        </p:grpSpPr>
        <p:sp>
          <p:nvSpPr>
            <p:cNvPr id="1154083" name="Line 35"/>
            <p:cNvSpPr>
              <a:spLocks noChangeShapeType="1"/>
            </p:cNvSpPr>
            <p:nvPr/>
          </p:nvSpPr>
          <p:spPr bwMode="auto">
            <a:xfrm>
              <a:off x="3946" y="1244"/>
              <a:ext cx="366" cy="0"/>
            </a:xfrm>
            <a:prstGeom prst="line">
              <a:avLst/>
            </a:prstGeom>
            <a:noFill/>
            <a:ln w="19050">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dirty="0"/>
            </a:p>
          </p:txBody>
        </p:sp>
        <p:sp>
          <p:nvSpPr>
            <p:cNvPr id="1154084" name="Text Box 36"/>
            <p:cNvSpPr txBox="1">
              <a:spLocks noChangeArrowheads="1"/>
            </p:cNvSpPr>
            <p:nvPr/>
          </p:nvSpPr>
          <p:spPr bwMode="auto">
            <a:xfrm>
              <a:off x="3799" y="1095"/>
              <a:ext cx="19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solidFill>
                    <a:srgbClr val="002060"/>
                  </a:solidFill>
                  <a:ea typeface="宋体" pitchFamily="2" charset="-122"/>
                </a:rPr>
                <a:t>p</a:t>
              </a:r>
            </a:p>
          </p:txBody>
        </p:sp>
      </p:grpSp>
      <p:grpSp>
        <p:nvGrpSpPr>
          <p:cNvPr id="1154085" name="Group 37"/>
          <p:cNvGrpSpPr>
            <a:grpSpLocks/>
          </p:cNvGrpSpPr>
          <p:nvPr/>
        </p:nvGrpSpPr>
        <p:grpSpPr bwMode="auto">
          <a:xfrm>
            <a:off x="7071120" y="2999324"/>
            <a:ext cx="814388" cy="400050"/>
            <a:chOff x="3799" y="1095"/>
            <a:chExt cx="513" cy="252"/>
          </a:xfrm>
        </p:grpSpPr>
        <p:sp>
          <p:nvSpPr>
            <p:cNvPr id="1154086" name="Line 38"/>
            <p:cNvSpPr>
              <a:spLocks noChangeShapeType="1"/>
            </p:cNvSpPr>
            <p:nvPr/>
          </p:nvSpPr>
          <p:spPr bwMode="auto">
            <a:xfrm>
              <a:off x="3946" y="1244"/>
              <a:ext cx="366" cy="0"/>
            </a:xfrm>
            <a:prstGeom prst="line">
              <a:avLst/>
            </a:prstGeom>
            <a:noFill/>
            <a:ln w="19050">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4087" name="Text Box 39"/>
            <p:cNvSpPr txBox="1">
              <a:spLocks noChangeArrowheads="1"/>
            </p:cNvSpPr>
            <p:nvPr/>
          </p:nvSpPr>
          <p:spPr bwMode="auto">
            <a:xfrm>
              <a:off x="3799" y="1095"/>
              <a:ext cx="19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002060"/>
                  </a:solidFill>
                  <a:ea typeface="宋体" pitchFamily="2" charset="-122"/>
                </a:rPr>
                <a:t>p</a:t>
              </a:r>
            </a:p>
          </p:txBody>
        </p:sp>
      </p:grpSp>
      <p:sp>
        <p:nvSpPr>
          <p:cNvPr id="1154088" name="Text Box 40"/>
          <p:cNvSpPr txBox="1">
            <a:spLocks noChangeArrowheads="1"/>
          </p:cNvSpPr>
          <p:nvPr/>
        </p:nvSpPr>
        <p:spPr bwMode="auto">
          <a:xfrm>
            <a:off x="8428831" y="3140968"/>
            <a:ext cx="352425" cy="396875"/>
          </a:xfrm>
          <a:prstGeom prst="rect">
            <a:avLst/>
          </a:prstGeom>
          <a:solidFill>
            <a:srgbClr val="FFFFFF"/>
          </a:solidFill>
          <a:ln w="9525">
            <a:noFill/>
            <a:miter lim="800000"/>
            <a:headEnd/>
            <a:tailEnd/>
          </a:ln>
          <a:effectLst/>
        </p:spPr>
        <p:txBody>
          <a:bodyPr>
            <a:spAutoFit/>
          </a:bodyPr>
          <a:lstStyle/>
          <a:p>
            <a:pPr>
              <a:lnSpc>
                <a:spcPct val="100000"/>
              </a:lnSpc>
              <a:spcBef>
                <a:spcPct val="50000"/>
              </a:spcBef>
            </a:pPr>
            <a:r>
              <a:rPr lang="en-US" altLang="zh-CN" sz="2000" dirty="0">
                <a:solidFill>
                  <a:srgbClr val="C00000"/>
                </a:solidFill>
                <a:ea typeface="宋体" pitchFamily="2" charset="-122"/>
              </a:rPr>
              <a:t>6</a:t>
            </a:r>
          </a:p>
        </p:txBody>
      </p:sp>
      <p:sp>
        <p:nvSpPr>
          <p:cNvPr id="1154089" name="Text Box 41"/>
          <p:cNvSpPr txBox="1">
            <a:spLocks noChangeArrowheads="1"/>
          </p:cNvSpPr>
          <p:nvPr/>
        </p:nvSpPr>
        <p:spPr bwMode="auto">
          <a:xfrm>
            <a:off x="4634086" y="5413980"/>
            <a:ext cx="2232248" cy="707886"/>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en-US" altLang="zh-CN" sz="2000" dirty="0">
                <a:solidFill>
                  <a:srgbClr val="002060"/>
                </a:solidFill>
                <a:latin typeface="隶书" pitchFamily="49" charset="-122"/>
                <a:ea typeface="隶书" pitchFamily="49" charset="-122"/>
              </a:rPr>
              <a:t> </a:t>
            </a:r>
            <a:r>
              <a:rPr lang="zh-CN" altLang="zh-CN" sz="2000" dirty="0">
                <a:solidFill>
                  <a:srgbClr val="C00000"/>
                </a:solidFill>
                <a:latin typeface="隶书" pitchFamily="49" charset="-122"/>
                <a:ea typeface="隶书" pitchFamily="49" charset="-122"/>
              </a:rPr>
              <a:t>输出结果：</a:t>
            </a:r>
            <a:endParaRPr lang="zh-CN" altLang="en-US" sz="2000" dirty="0">
              <a:solidFill>
                <a:srgbClr val="C00000"/>
              </a:solidFill>
              <a:latin typeface="隶书" pitchFamily="49" charset="-122"/>
              <a:ea typeface="隶书" pitchFamily="49" charset="-122"/>
            </a:endParaRPr>
          </a:p>
          <a:p>
            <a:pPr>
              <a:lnSpc>
                <a:spcPct val="100000"/>
              </a:lnSpc>
              <a:spcBef>
                <a:spcPct val="0"/>
              </a:spcBef>
            </a:pPr>
            <a:r>
              <a:rPr lang="en-US" altLang="zh-CN" sz="2000" dirty="0">
                <a:solidFill>
                  <a:srgbClr val="002060"/>
                </a:solidFill>
                <a:ea typeface="宋体" pitchFamily="2" charset="-122"/>
              </a:rPr>
              <a:t>   </a:t>
            </a:r>
            <a:r>
              <a:rPr lang="zh-CN" altLang="zh-CN" sz="2000" dirty="0">
                <a:solidFill>
                  <a:srgbClr val="002060"/>
                </a:solidFill>
                <a:ea typeface="宋体" pitchFamily="2" charset="-122"/>
              </a:rPr>
              <a:t>5   6</a:t>
            </a:r>
            <a:endParaRPr lang="en-US" altLang="zh-CN" sz="2000" dirty="0">
              <a:solidFill>
                <a:srgbClr val="002060"/>
              </a:solidFill>
              <a:ea typeface="宋体" pitchFamily="2" charset="-122"/>
            </a:endParaRPr>
          </a:p>
        </p:txBody>
      </p:sp>
      <p:sp>
        <p:nvSpPr>
          <p:cNvPr id="42" name="Rectangle 4">
            <a:extLst>
              <a:ext uri="{FF2B5EF4-FFF2-40B4-BE49-F238E27FC236}">
                <a16:creationId xmlns:a16="http://schemas.microsoft.com/office/drawing/2014/main" id="{67EB0F5C-3DED-40BA-B890-A13F7C7AAB6D}"/>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4050"/>
                                        </p:tgtEl>
                                        <p:attrNameLst>
                                          <p:attrName>style.visibility</p:attrName>
                                        </p:attrNameLst>
                                      </p:cBhvr>
                                      <p:to>
                                        <p:strVal val="visible"/>
                                      </p:to>
                                    </p:set>
                                    <p:animEffect transition="in" filter="box(out)">
                                      <p:cBhvr>
                                        <p:cTn id="7" dur="500"/>
                                        <p:tgtEl>
                                          <p:spTgt spid="115405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54052"/>
                                        </p:tgtEl>
                                        <p:attrNameLst>
                                          <p:attrName>style.visibility</p:attrName>
                                        </p:attrNameLst>
                                      </p:cBhvr>
                                      <p:to>
                                        <p:strVal val="visible"/>
                                      </p:to>
                                    </p:set>
                                    <p:animEffect transition="in" filter="box(out)">
                                      <p:cBhvr>
                                        <p:cTn id="12" dur="500"/>
                                        <p:tgtEl>
                                          <p:spTgt spid="1154052"/>
                                        </p:tgtEl>
                                      </p:cBhvr>
                                    </p:animEffect>
                                  </p:childTnLst>
                                  <p:subTnLst>
                                    <p:set>
                                      <p:cBhvr override="childStyle">
                                        <p:cTn dur="1" fill="hold" display="0" masterRel="nextClick" afterEffect="1"/>
                                        <p:tgtEl>
                                          <p:spTgt spid="1154052"/>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iterate type="wd">
                                    <p:tmPct val="100000"/>
                                  </p:iterate>
                                  <p:childTnLst>
                                    <p:set>
                                      <p:cBhvr>
                                        <p:cTn id="16" dur="1" fill="hold">
                                          <p:stCondLst>
                                            <p:cond delay="0"/>
                                          </p:stCondLst>
                                        </p:cTn>
                                        <p:tgtEl>
                                          <p:spTgt spid="1154051">
                                            <p:txEl>
                                              <p:pRg st="0" end="0"/>
                                            </p:txEl>
                                          </p:spTgt>
                                        </p:tgtEl>
                                        <p:attrNameLst>
                                          <p:attrName>style.visibility</p:attrName>
                                        </p:attrNameLst>
                                      </p:cBhvr>
                                      <p:to>
                                        <p:strVal val="visible"/>
                                      </p:to>
                                    </p:set>
                                    <p:anim calcmode="lin" valueType="num">
                                      <p:cBhvr additive="base">
                                        <p:cTn id="17" dur="300" fill="hold"/>
                                        <p:tgtEl>
                                          <p:spTgt spid="1154051">
                                            <p:txEl>
                                              <p:pRg st="0" end="0"/>
                                            </p:txEl>
                                          </p:spTgt>
                                        </p:tgtEl>
                                        <p:attrNameLst>
                                          <p:attrName>ppt_x</p:attrName>
                                        </p:attrNameLst>
                                      </p:cBhvr>
                                      <p:tavLst>
                                        <p:tav tm="0">
                                          <p:val>
                                            <p:strVal val="#ppt_x"/>
                                          </p:val>
                                        </p:tav>
                                        <p:tav tm="100000">
                                          <p:val>
                                            <p:strVal val="#ppt_x"/>
                                          </p:val>
                                        </p:tav>
                                      </p:tavLst>
                                    </p:anim>
                                    <p:anim calcmode="lin" valueType="num">
                                      <p:cBhvr additive="base">
                                        <p:cTn id="18" dur="300" fill="hold"/>
                                        <p:tgtEl>
                                          <p:spTgt spid="1154051">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laser.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54056">
                                            <p:txEl>
                                              <p:pRg st="0" end="0"/>
                                            </p:txEl>
                                          </p:spTgt>
                                        </p:tgtEl>
                                        <p:attrNameLst>
                                          <p:attrName>style.visibility</p:attrName>
                                        </p:attrNameLst>
                                      </p:cBhvr>
                                      <p:to>
                                        <p:strVal val="visible"/>
                                      </p:to>
                                    </p:set>
                                    <p:animEffect transition="in" filter="box(out)">
                                      <p:cBhvr>
                                        <p:cTn id="23" dur="500"/>
                                        <p:tgtEl>
                                          <p:spTgt spid="1154056">
                                            <p:txEl>
                                              <p:pRg st="0" end="0"/>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54057"/>
                                        </p:tgtEl>
                                        <p:attrNameLst>
                                          <p:attrName>style.visibility</p:attrName>
                                        </p:attrNameLst>
                                      </p:cBhvr>
                                      <p:to>
                                        <p:strVal val="visible"/>
                                      </p:to>
                                    </p:set>
                                    <p:animEffect transition="in" filter="box(out)">
                                      <p:cBhvr>
                                        <p:cTn id="28" dur="500"/>
                                        <p:tgtEl>
                                          <p:spTgt spid="1154057"/>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1154058"/>
                                        </p:tgtEl>
                                        <p:attrNameLst>
                                          <p:attrName>style.visibility</p:attrName>
                                        </p:attrNameLst>
                                      </p:cBhvr>
                                      <p:to>
                                        <p:strVal val="visible"/>
                                      </p:to>
                                    </p:set>
                                    <p:animEffect transition="in" filter="box(out)">
                                      <p:cBhvr>
                                        <p:cTn id="33" dur="500"/>
                                        <p:tgtEl>
                                          <p:spTgt spid="1154058"/>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1154082"/>
                                        </p:tgtEl>
                                        <p:attrNameLst>
                                          <p:attrName>style.visibility</p:attrName>
                                        </p:attrNameLst>
                                      </p:cBhvr>
                                      <p:to>
                                        <p:strVal val="visible"/>
                                      </p:to>
                                    </p:set>
                                  </p:childTnLst>
                                  <p:subTnLst>
                                    <p:set>
                                      <p:cBhvr override="childStyle">
                                        <p:cTn dur="1" fill="hold" display="0" masterRel="nextClick" afterEffect="1"/>
                                        <p:tgtEl>
                                          <p:spTgt spid="1154082"/>
                                        </p:tgtEl>
                                        <p:attrNameLst>
                                          <p:attrName>style.visibility</p:attrName>
                                        </p:attrNameLst>
                                      </p:cBhvr>
                                      <p:to>
                                        <p:strVal val="hidden"/>
                                      </p:to>
                                    </p:se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499"/>
                                          </p:stCondLst>
                                        </p:cTn>
                                        <p:tgtEl>
                                          <p:spTgt spid="1154085"/>
                                        </p:tgtEl>
                                        <p:attrNameLst>
                                          <p:attrName>style.visibility</p:attrName>
                                        </p:attrNameLst>
                                      </p:cBhvr>
                                      <p:to>
                                        <p:strVal val="visible"/>
                                      </p:to>
                                    </p:set>
                                  </p:childTnLst>
                                  <p:subTnLst>
                                    <p:set>
                                      <p:cBhvr override="childStyle">
                                        <p:cTn dur="1" fill="hold" display="0" masterRel="nextClick" afterEffect="1"/>
                                        <p:tgtEl>
                                          <p:spTgt spid="1154085"/>
                                        </p:tgtEl>
                                        <p:attrNameLst>
                                          <p:attrName>style.visibility</p:attrName>
                                        </p:attrNameLst>
                                      </p:cBhvr>
                                      <p:to>
                                        <p:strVal val="hidden"/>
                                      </p:to>
                                    </p:se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154088"/>
                                        </p:tgtEl>
                                        <p:attrNameLst>
                                          <p:attrName>style.visibility</p:attrName>
                                        </p:attrNameLst>
                                      </p:cBhvr>
                                      <p:to>
                                        <p:strVal val="visible"/>
                                      </p:to>
                                    </p:set>
                                    <p:animEffect transition="in" filter="box(out)">
                                      <p:cBhvr>
                                        <p:cTn id="46" dur="500"/>
                                        <p:tgtEl>
                                          <p:spTgt spid="1154088"/>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1154089"/>
                                        </p:tgtEl>
                                        <p:attrNameLst>
                                          <p:attrName>style.visibility</p:attrName>
                                        </p:attrNameLst>
                                      </p:cBhvr>
                                      <p:to>
                                        <p:strVal val="visible"/>
                                      </p:to>
                                    </p:set>
                                    <p:animEffect transition="in" filter="box(out)">
                                      <p:cBhvr>
                                        <p:cTn id="51" dur="500"/>
                                        <p:tgtEl>
                                          <p:spTgt spid="1154089"/>
                                        </p:tgtEl>
                                      </p:cBhvr>
                                    </p:animEffect>
                                  </p:childTnLst>
                                  <p:subTnLst>
                                    <p:audio>
                                      <p:cMediaNode>
                                        <p:cTn display="0" masterRel="sameClick">
                                          <p:stCondLst>
                                            <p:cond evt="begin" delay="0">
                                              <p:tn val="4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4052" grpId="0" animBg="1" autoUpdateAnimBg="0"/>
      <p:bldP spid="1154050" grpId="0" autoUpdateAnimBg="0"/>
      <p:bldP spid="1154051" grpId="0" build="p" autoUpdateAnimBg="0"/>
      <p:bldP spid="1154056" grpId="0" build="p" autoUpdateAnimBg="0"/>
      <p:bldP spid="1154057" grpId="0" animBg="1" autoUpdateAnimBg="0"/>
      <p:bldP spid="1154088" grpId="0" animBg="1"/>
      <p:bldP spid="1154089"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5074" name="Rectangle 2" descr="信纸"/>
          <p:cNvSpPr>
            <a:spLocks noChangeArrowheads="1"/>
          </p:cNvSpPr>
          <p:nvPr/>
        </p:nvSpPr>
        <p:spPr bwMode="auto">
          <a:xfrm>
            <a:off x="1183803" y="1484242"/>
            <a:ext cx="4761260" cy="4524315"/>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err="1">
                <a:solidFill>
                  <a:srgbClr val="CC0000"/>
                </a:solidFill>
                <a:ea typeface="宋体" pitchFamily="2" charset="-122"/>
              </a:rPr>
              <a:t>int</a:t>
            </a:r>
            <a:r>
              <a:rPr lang="en-US" altLang="zh-CN" dirty="0">
                <a:solidFill>
                  <a:srgbClr val="CC0000"/>
                </a:solidFill>
                <a:ea typeface="宋体" pitchFamily="2" charset="-122"/>
              </a:rPr>
              <a:t> main ( )</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a:t>
            </a:r>
            <a:r>
              <a:rPr lang="en-US" altLang="zh-CN" dirty="0" err="1">
                <a:ea typeface="宋体" pitchFamily="2" charset="-122"/>
              </a:rPr>
              <a:t>i</a:t>
            </a:r>
            <a:r>
              <a:rPr lang="en-US" altLang="zh-CN" dirty="0">
                <a:ea typeface="宋体" pitchFamily="2" charset="-122"/>
              </a:rPr>
              <a:t>, *p, a[7];</a:t>
            </a:r>
          </a:p>
          <a:p>
            <a:pPr eaLnBrk="0" hangingPunct="0">
              <a:lnSpc>
                <a:spcPct val="100000"/>
              </a:lnSpc>
              <a:spcBef>
                <a:spcPct val="0"/>
              </a:spcBef>
            </a:pPr>
            <a:r>
              <a:rPr lang="en-US" altLang="zh-CN" dirty="0">
                <a:solidFill>
                  <a:srgbClr val="002060"/>
                </a:solidFill>
                <a:ea typeface="宋体" pitchFamily="2" charset="-122"/>
              </a:rPr>
              <a:t>   p = a;</a:t>
            </a:r>
          </a:p>
          <a:p>
            <a:pPr eaLnBrk="0" hangingPunct="0">
              <a:lnSpc>
                <a:spcPct val="100000"/>
              </a:lnSpc>
              <a:spcBef>
                <a:spcPct val="0"/>
              </a:spcBef>
            </a:pPr>
            <a:r>
              <a:rPr lang="en-US" altLang="zh-CN" dirty="0">
                <a:ea typeface="宋体" pitchFamily="2" charset="-122"/>
              </a:rPr>
              <a:t>   for (</a:t>
            </a:r>
            <a:r>
              <a:rPr lang="en-US" altLang="zh-CN" dirty="0" err="1">
                <a:ea typeface="宋体" pitchFamily="2" charset="-122"/>
              </a:rPr>
              <a:t>i</a:t>
            </a:r>
            <a:r>
              <a:rPr lang="en-US" altLang="zh-CN" dirty="0">
                <a:ea typeface="宋体" pitchFamily="2" charset="-122"/>
              </a:rPr>
              <a:t> = 0; </a:t>
            </a:r>
            <a:r>
              <a:rPr lang="en-US" altLang="zh-CN" dirty="0" err="1">
                <a:ea typeface="宋体" pitchFamily="2" charset="-122"/>
              </a:rPr>
              <a:t>i</a:t>
            </a:r>
            <a:r>
              <a:rPr lang="en-US" altLang="zh-CN" dirty="0">
                <a:ea typeface="宋体" pitchFamily="2" charset="-122"/>
              </a:rPr>
              <a:t> &lt; 7; </a:t>
            </a:r>
            <a:r>
              <a:rPr lang="en-US" altLang="zh-CN" dirty="0" err="1">
                <a:ea typeface="宋体" pitchFamily="2" charset="-122"/>
              </a:rPr>
              <a:t>i</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scanf</a:t>
            </a:r>
            <a:r>
              <a:rPr lang="en-US" altLang="zh-CN" dirty="0">
                <a:ea typeface="宋体" pitchFamily="2" charset="-122"/>
              </a:rPr>
              <a:t> ("%d", </a:t>
            </a:r>
            <a:r>
              <a:rPr lang="en-US" altLang="zh-CN" dirty="0">
                <a:solidFill>
                  <a:srgbClr val="002060"/>
                </a:solidFill>
                <a:ea typeface="宋体" pitchFamily="2" charset="-122"/>
              </a:rPr>
              <a:t>p++</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("\n");</a:t>
            </a:r>
          </a:p>
          <a:p>
            <a:pPr eaLnBrk="0" hangingPunct="0">
              <a:lnSpc>
                <a:spcPct val="100000"/>
              </a:lnSpc>
              <a:spcBef>
                <a:spcPct val="0"/>
              </a:spcBef>
            </a:pPr>
            <a:endParaRPr lang="en-US" altLang="zh-CN" dirty="0">
              <a:ea typeface="宋体" pitchFamily="2" charset="-122"/>
            </a:endParaRPr>
          </a:p>
          <a:p>
            <a:pPr eaLnBrk="0" hangingPunct="0">
              <a:lnSpc>
                <a:spcPct val="100000"/>
              </a:lnSpc>
              <a:spcBef>
                <a:spcPct val="0"/>
              </a:spcBef>
            </a:pPr>
            <a:r>
              <a:rPr lang="en-US" altLang="zh-CN" dirty="0">
                <a:ea typeface="宋体" pitchFamily="2" charset="-122"/>
              </a:rPr>
              <a:t>   for (</a:t>
            </a:r>
            <a:r>
              <a:rPr lang="en-US" altLang="zh-CN" dirty="0" err="1">
                <a:ea typeface="宋体" pitchFamily="2" charset="-122"/>
              </a:rPr>
              <a:t>i</a:t>
            </a:r>
            <a:r>
              <a:rPr lang="en-US" altLang="zh-CN" dirty="0">
                <a:ea typeface="宋体" pitchFamily="2" charset="-122"/>
              </a:rPr>
              <a:t> = 0; </a:t>
            </a:r>
            <a:r>
              <a:rPr lang="en-US" altLang="zh-CN" dirty="0" err="1">
                <a:ea typeface="宋体" pitchFamily="2" charset="-122"/>
              </a:rPr>
              <a:t>i</a:t>
            </a:r>
            <a:r>
              <a:rPr lang="en-US" altLang="zh-CN" dirty="0">
                <a:ea typeface="宋体" pitchFamily="2" charset="-122"/>
              </a:rPr>
              <a:t> &lt; 7; </a:t>
            </a:r>
            <a:r>
              <a:rPr lang="en-US" altLang="zh-CN" dirty="0" err="1">
                <a:ea typeface="宋体" pitchFamily="2" charset="-122"/>
              </a:rPr>
              <a:t>i</a:t>
            </a:r>
            <a:r>
              <a:rPr lang="en-US" altLang="zh-CN" dirty="0">
                <a:ea typeface="宋体" pitchFamily="2" charset="-122"/>
              </a:rPr>
              <a:t>++, p++)</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("%d",</a:t>
            </a:r>
            <a:r>
              <a:rPr lang="en-US" altLang="zh-CN" dirty="0">
                <a:solidFill>
                  <a:srgbClr val="002060"/>
                </a:solidFill>
                <a:ea typeface="宋体" pitchFamily="2" charset="-122"/>
              </a:rPr>
              <a:t>*p</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return 0;</a:t>
            </a:r>
          </a:p>
          <a:p>
            <a:pPr eaLnBrk="0" hangingPunct="0">
              <a:lnSpc>
                <a:spcPct val="100000"/>
              </a:lnSpc>
              <a:spcBef>
                <a:spcPct val="0"/>
              </a:spcBef>
            </a:pPr>
            <a:r>
              <a:rPr lang="en-US" altLang="zh-CN" b="0" dirty="0">
                <a:ea typeface="宋体" pitchFamily="2" charset="-122"/>
              </a:rPr>
              <a:t>}</a:t>
            </a:r>
          </a:p>
        </p:txBody>
      </p:sp>
      <p:sp>
        <p:nvSpPr>
          <p:cNvPr id="1155077" name="Text Box 5"/>
          <p:cNvSpPr txBox="1">
            <a:spLocks noChangeArrowheads="1"/>
          </p:cNvSpPr>
          <p:nvPr/>
        </p:nvSpPr>
        <p:spPr bwMode="auto">
          <a:xfrm>
            <a:off x="983432" y="908720"/>
            <a:ext cx="3122971" cy="461665"/>
          </a:xfrm>
          <a:prstGeom prst="rect">
            <a:avLst/>
          </a:prstGeom>
          <a:noFill/>
          <a:ln w="9525">
            <a:noFill/>
            <a:miter lim="800000"/>
            <a:headEnd/>
            <a:tailEnd/>
          </a:ln>
          <a:effectLst/>
        </p:spPr>
        <p:txBody>
          <a:bodyPr wrap="none">
            <a:spAutoFit/>
          </a:bodyPr>
          <a:lstStyle/>
          <a:p>
            <a:pPr>
              <a:lnSpc>
                <a:spcPct val="100000"/>
              </a:lnSpc>
              <a:spcBef>
                <a:spcPct val="0"/>
              </a:spcBef>
            </a:pPr>
            <a:r>
              <a:rPr lang="zh-CN" altLang="en-US" dirty="0">
                <a:solidFill>
                  <a:srgbClr val="C00000"/>
                </a:solidFill>
                <a:latin typeface="+mn-lt"/>
                <a:ea typeface="楷体" pitchFamily="49" charset="-122"/>
              </a:rPr>
              <a:t>例 </a:t>
            </a:r>
            <a:r>
              <a:rPr lang="zh-CN" altLang="en-US" dirty="0">
                <a:solidFill>
                  <a:srgbClr val="CC0000"/>
                </a:solidFill>
                <a:latin typeface="+mn-lt"/>
                <a:ea typeface="楷体" pitchFamily="49" charset="-122"/>
              </a:rPr>
              <a:t> </a:t>
            </a:r>
            <a:r>
              <a:rPr lang="zh-CN" altLang="en-US" dirty="0">
                <a:latin typeface="+mn-lt"/>
                <a:ea typeface="楷体" pitchFamily="49" charset="-122"/>
              </a:rPr>
              <a:t>注意指针的当前值</a:t>
            </a:r>
          </a:p>
        </p:txBody>
      </p:sp>
      <p:sp>
        <p:nvSpPr>
          <p:cNvPr id="1155078" name="Text Box 6"/>
          <p:cNvSpPr txBox="1">
            <a:spLocks noChangeArrowheads="1"/>
          </p:cNvSpPr>
          <p:nvPr/>
        </p:nvSpPr>
        <p:spPr bwMode="auto">
          <a:xfrm>
            <a:off x="1403658" y="4026245"/>
            <a:ext cx="886781" cy="461665"/>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dirty="0">
                <a:solidFill>
                  <a:srgbClr val="C00000"/>
                </a:solidFill>
                <a:ea typeface="宋体" pitchFamily="2" charset="-122"/>
              </a:rPr>
              <a:t>p = a;</a:t>
            </a:r>
          </a:p>
        </p:txBody>
      </p:sp>
      <p:grpSp>
        <p:nvGrpSpPr>
          <p:cNvPr id="1155080" name="Group 8"/>
          <p:cNvGrpSpPr>
            <a:grpSpLocks/>
          </p:cNvGrpSpPr>
          <p:nvPr/>
        </p:nvGrpSpPr>
        <p:grpSpPr bwMode="auto">
          <a:xfrm>
            <a:off x="7807201" y="2385942"/>
            <a:ext cx="814387" cy="400050"/>
            <a:chOff x="3799" y="1095"/>
            <a:chExt cx="513" cy="252"/>
          </a:xfrm>
        </p:grpSpPr>
        <p:sp>
          <p:nvSpPr>
            <p:cNvPr id="1155081" name="Line 9"/>
            <p:cNvSpPr>
              <a:spLocks noChangeShapeType="1"/>
            </p:cNvSpPr>
            <p:nvPr/>
          </p:nvSpPr>
          <p:spPr bwMode="auto">
            <a:xfrm>
              <a:off x="3946" y="1244"/>
              <a:ext cx="366" cy="0"/>
            </a:xfrm>
            <a:prstGeom prst="line">
              <a:avLst/>
            </a:prstGeom>
            <a:noFill/>
            <a:ln w="19050">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dirty="0"/>
            </a:p>
          </p:txBody>
        </p:sp>
        <p:sp>
          <p:nvSpPr>
            <p:cNvPr id="1155082" name="Text Box 10"/>
            <p:cNvSpPr txBox="1">
              <a:spLocks noChangeArrowheads="1"/>
            </p:cNvSpPr>
            <p:nvPr/>
          </p:nvSpPr>
          <p:spPr bwMode="auto">
            <a:xfrm>
              <a:off x="3799" y="1095"/>
              <a:ext cx="19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solidFill>
                    <a:srgbClr val="002060"/>
                  </a:solidFill>
                  <a:ea typeface="宋体" pitchFamily="2" charset="-122"/>
                </a:rPr>
                <a:t>p</a:t>
              </a:r>
            </a:p>
          </p:txBody>
        </p:sp>
      </p:grpSp>
      <p:grpSp>
        <p:nvGrpSpPr>
          <p:cNvPr id="1155083" name="Group 11"/>
          <p:cNvGrpSpPr>
            <a:grpSpLocks/>
          </p:cNvGrpSpPr>
          <p:nvPr/>
        </p:nvGrpSpPr>
        <p:grpSpPr bwMode="auto">
          <a:xfrm>
            <a:off x="7800851" y="2076379"/>
            <a:ext cx="814387" cy="400050"/>
            <a:chOff x="3799" y="1095"/>
            <a:chExt cx="513" cy="252"/>
          </a:xfrm>
        </p:grpSpPr>
        <p:sp>
          <p:nvSpPr>
            <p:cNvPr id="1155084" name="Line 12"/>
            <p:cNvSpPr>
              <a:spLocks noChangeShapeType="1"/>
            </p:cNvSpPr>
            <p:nvPr/>
          </p:nvSpPr>
          <p:spPr bwMode="auto">
            <a:xfrm>
              <a:off x="3946" y="1244"/>
              <a:ext cx="366" cy="0"/>
            </a:xfrm>
            <a:prstGeom prst="line">
              <a:avLst/>
            </a:prstGeom>
            <a:noFill/>
            <a:ln w="19050">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solidFill>
                  <a:srgbClr val="002060"/>
                </a:solidFill>
              </a:endParaRPr>
            </a:p>
          </p:txBody>
        </p:sp>
        <p:sp>
          <p:nvSpPr>
            <p:cNvPr id="1155085" name="Text Box 13"/>
            <p:cNvSpPr txBox="1">
              <a:spLocks noChangeArrowheads="1"/>
            </p:cNvSpPr>
            <p:nvPr/>
          </p:nvSpPr>
          <p:spPr bwMode="auto">
            <a:xfrm>
              <a:off x="3799" y="1095"/>
              <a:ext cx="19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solidFill>
                    <a:srgbClr val="002060"/>
                  </a:solidFill>
                  <a:ea typeface="宋体" pitchFamily="2" charset="-122"/>
                </a:rPr>
                <a:t>p</a:t>
              </a:r>
            </a:p>
          </p:txBody>
        </p:sp>
      </p:grpSp>
      <p:grpSp>
        <p:nvGrpSpPr>
          <p:cNvPr id="1155086" name="Group 14"/>
          <p:cNvGrpSpPr>
            <a:grpSpLocks/>
          </p:cNvGrpSpPr>
          <p:nvPr/>
        </p:nvGrpSpPr>
        <p:grpSpPr bwMode="auto">
          <a:xfrm>
            <a:off x="7805613" y="1925566"/>
            <a:ext cx="2474913" cy="3167062"/>
            <a:chOff x="3053" y="483"/>
            <a:chExt cx="1559" cy="1995"/>
          </a:xfrm>
        </p:grpSpPr>
        <p:sp>
          <p:nvSpPr>
            <p:cNvPr id="1155087" name="Rectangle 15"/>
            <p:cNvSpPr>
              <a:spLocks noChangeArrowheads="1"/>
            </p:cNvSpPr>
            <p:nvPr/>
          </p:nvSpPr>
          <p:spPr bwMode="auto">
            <a:xfrm>
              <a:off x="3556" y="655"/>
              <a:ext cx="900" cy="1823"/>
            </a:xfrm>
            <a:prstGeom prst="rect">
              <a:avLst/>
            </a:prstGeom>
            <a:noFill/>
            <a:ln w="28575">
              <a:solidFill>
                <a:schemeClr val="tx1"/>
              </a:solidFill>
              <a:miter lim="800000"/>
              <a:headEnd/>
              <a:tailEnd/>
            </a:ln>
            <a:effectLst/>
          </p:spPr>
          <p:txBody>
            <a:bodyPr wrap="none" anchor="ctr"/>
            <a:lstStyle/>
            <a:p>
              <a:endParaRPr lang="zh-CN" altLang="en-US"/>
            </a:p>
          </p:txBody>
        </p:sp>
        <p:sp>
          <p:nvSpPr>
            <p:cNvPr id="1155088" name="Line 16"/>
            <p:cNvSpPr>
              <a:spLocks noChangeShapeType="1"/>
            </p:cNvSpPr>
            <p:nvPr/>
          </p:nvSpPr>
          <p:spPr bwMode="auto">
            <a:xfrm>
              <a:off x="3554" y="911"/>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5089" name="Line 17"/>
            <p:cNvSpPr>
              <a:spLocks noChangeShapeType="1"/>
            </p:cNvSpPr>
            <p:nvPr/>
          </p:nvSpPr>
          <p:spPr bwMode="auto">
            <a:xfrm>
              <a:off x="3554" y="1171"/>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5090" name="Line 18"/>
            <p:cNvSpPr>
              <a:spLocks noChangeShapeType="1"/>
            </p:cNvSpPr>
            <p:nvPr/>
          </p:nvSpPr>
          <p:spPr bwMode="auto">
            <a:xfrm>
              <a:off x="3554" y="1432"/>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5091" name="Line 19"/>
            <p:cNvSpPr>
              <a:spLocks noChangeShapeType="1"/>
            </p:cNvSpPr>
            <p:nvPr/>
          </p:nvSpPr>
          <p:spPr bwMode="auto">
            <a:xfrm>
              <a:off x="3554" y="1693"/>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5092" name="Line 20"/>
            <p:cNvSpPr>
              <a:spLocks noChangeShapeType="1"/>
            </p:cNvSpPr>
            <p:nvPr/>
          </p:nvSpPr>
          <p:spPr bwMode="auto">
            <a:xfrm>
              <a:off x="3554" y="1954"/>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5093" name="Line 21"/>
            <p:cNvSpPr>
              <a:spLocks noChangeShapeType="1"/>
            </p:cNvSpPr>
            <p:nvPr/>
          </p:nvSpPr>
          <p:spPr bwMode="auto">
            <a:xfrm>
              <a:off x="3554" y="2215"/>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5094" name="Text Box 22"/>
            <p:cNvSpPr txBox="1">
              <a:spLocks noChangeArrowheads="1"/>
            </p:cNvSpPr>
            <p:nvPr/>
          </p:nvSpPr>
          <p:spPr bwMode="auto">
            <a:xfrm>
              <a:off x="3909" y="650"/>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5</a:t>
              </a:r>
            </a:p>
          </p:txBody>
        </p:sp>
        <p:sp>
          <p:nvSpPr>
            <p:cNvPr id="1155095" name="Text Box 23"/>
            <p:cNvSpPr txBox="1">
              <a:spLocks noChangeArrowheads="1"/>
            </p:cNvSpPr>
            <p:nvPr/>
          </p:nvSpPr>
          <p:spPr bwMode="auto">
            <a:xfrm>
              <a:off x="3909" y="910"/>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8</a:t>
              </a:r>
            </a:p>
          </p:txBody>
        </p:sp>
        <p:sp>
          <p:nvSpPr>
            <p:cNvPr id="1155096" name="Text Box 24"/>
            <p:cNvSpPr txBox="1">
              <a:spLocks noChangeArrowheads="1"/>
            </p:cNvSpPr>
            <p:nvPr/>
          </p:nvSpPr>
          <p:spPr bwMode="auto">
            <a:xfrm>
              <a:off x="3909" y="1171"/>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7</a:t>
              </a:r>
            </a:p>
          </p:txBody>
        </p:sp>
        <p:sp>
          <p:nvSpPr>
            <p:cNvPr id="1155097" name="Text Box 25"/>
            <p:cNvSpPr txBox="1">
              <a:spLocks noChangeArrowheads="1"/>
            </p:cNvSpPr>
            <p:nvPr/>
          </p:nvSpPr>
          <p:spPr bwMode="auto">
            <a:xfrm>
              <a:off x="3909" y="1432"/>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6</a:t>
              </a:r>
            </a:p>
          </p:txBody>
        </p:sp>
        <p:sp>
          <p:nvSpPr>
            <p:cNvPr id="1155098" name="Text Box 26"/>
            <p:cNvSpPr txBox="1">
              <a:spLocks noChangeArrowheads="1"/>
            </p:cNvSpPr>
            <p:nvPr/>
          </p:nvSpPr>
          <p:spPr bwMode="auto">
            <a:xfrm>
              <a:off x="3909" y="1693"/>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2</a:t>
              </a:r>
            </a:p>
          </p:txBody>
        </p:sp>
        <p:sp>
          <p:nvSpPr>
            <p:cNvPr id="1155099" name="Text Box 27"/>
            <p:cNvSpPr txBox="1">
              <a:spLocks noChangeArrowheads="1"/>
            </p:cNvSpPr>
            <p:nvPr/>
          </p:nvSpPr>
          <p:spPr bwMode="auto">
            <a:xfrm>
              <a:off x="3909" y="1954"/>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7</a:t>
              </a:r>
            </a:p>
          </p:txBody>
        </p:sp>
        <p:sp>
          <p:nvSpPr>
            <p:cNvPr id="1155100" name="Text Box 28"/>
            <p:cNvSpPr txBox="1">
              <a:spLocks noChangeArrowheads="1"/>
            </p:cNvSpPr>
            <p:nvPr/>
          </p:nvSpPr>
          <p:spPr bwMode="auto">
            <a:xfrm>
              <a:off x="3909" y="2215"/>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3</a:t>
              </a:r>
            </a:p>
          </p:txBody>
        </p:sp>
        <p:sp>
          <p:nvSpPr>
            <p:cNvPr id="1155101" name="Text Box 29"/>
            <p:cNvSpPr txBox="1">
              <a:spLocks noChangeArrowheads="1"/>
            </p:cNvSpPr>
            <p:nvPr/>
          </p:nvSpPr>
          <p:spPr bwMode="auto">
            <a:xfrm>
              <a:off x="4416" y="646"/>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dirty="0">
                  <a:solidFill>
                    <a:srgbClr val="002060"/>
                  </a:solidFill>
                  <a:ea typeface="宋体" pitchFamily="2" charset="-122"/>
                </a:rPr>
                <a:t>0</a:t>
              </a:r>
            </a:p>
          </p:txBody>
        </p:sp>
        <p:sp>
          <p:nvSpPr>
            <p:cNvPr id="1155102" name="Text Box 30"/>
            <p:cNvSpPr txBox="1">
              <a:spLocks noChangeArrowheads="1"/>
            </p:cNvSpPr>
            <p:nvPr/>
          </p:nvSpPr>
          <p:spPr bwMode="auto">
            <a:xfrm>
              <a:off x="4416" y="906"/>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dirty="0">
                  <a:solidFill>
                    <a:srgbClr val="002060"/>
                  </a:solidFill>
                  <a:ea typeface="宋体" pitchFamily="2" charset="-122"/>
                </a:rPr>
                <a:t>1</a:t>
              </a:r>
            </a:p>
          </p:txBody>
        </p:sp>
        <p:sp>
          <p:nvSpPr>
            <p:cNvPr id="1155103" name="Text Box 31"/>
            <p:cNvSpPr txBox="1">
              <a:spLocks noChangeArrowheads="1"/>
            </p:cNvSpPr>
            <p:nvPr/>
          </p:nvSpPr>
          <p:spPr bwMode="auto">
            <a:xfrm>
              <a:off x="4416" y="1167"/>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002060"/>
                  </a:solidFill>
                  <a:ea typeface="宋体" pitchFamily="2" charset="-122"/>
                </a:rPr>
                <a:t>2</a:t>
              </a:r>
            </a:p>
          </p:txBody>
        </p:sp>
        <p:sp>
          <p:nvSpPr>
            <p:cNvPr id="1155104" name="Text Box 32"/>
            <p:cNvSpPr txBox="1">
              <a:spLocks noChangeArrowheads="1"/>
            </p:cNvSpPr>
            <p:nvPr/>
          </p:nvSpPr>
          <p:spPr bwMode="auto">
            <a:xfrm>
              <a:off x="4416" y="1428"/>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002060"/>
                  </a:solidFill>
                  <a:ea typeface="宋体" pitchFamily="2" charset="-122"/>
                </a:rPr>
                <a:t>3</a:t>
              </a:r>
            </a:p>
          </p:txBody>
        </p:sp>
        <p:sp>
          <p:nvSpPr>
            <p:cNvPr id="1155105" name="Text Box 33"/>
            <p:cNvSpPr txBox="1">
              <a:spLocks noChangeArrowheads="1"/>
            </p:cNvSpPr>
            <p:nvPr/>
          </p:nvSpPr>
          <p:spPr bwMode="auto">
            <a:xfrm>
              <a:off x="4416" y="1689"/>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002060"/>
                  </a:solidFill>
                  <a:ea typeface="宋体" pitchFamily="2" charset="-122"/>
                </a:rPr>
                <a:t>4</a:t>
              </a:r>
            </a:p>
          </p:txBody>
        </p:sp>
        <p:sp>
          <p:nvSpPr>
            <p:cNvPr id="1155106" name="Text Box 34"/>
            <p:cNvSpPr txBox="1">
              <a:spLocks noChangeArrowheads="1"/>
            </p:cNvSpPr>
            <p:nvPr/>
          </p:nvSpPr>
          <p:spPr bwMode="auto">
            <a:xfrm>
              <a:off x="4416" y="1950"/>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002060"/>
                  </a:solidFill>
                  <a:ea typeface="宋体" pitchFamily="2" charset="-122"/>
                </a:rPr>
                <a:t>5</a:t>
              </a:r>
            </a:p>
          </p:txBody>
        </p:sp>
        <p:sp>
          <p:nvSpPr>
            <p:cNvPr id="1155107" name="Text Box 35"/>
            <p:cNvSpPr txBox="1">
              <a:spLocks noChangeArrowheads="1"/>
            </p:cNvSpPr>
            <p:nvPr/>
          </p:nvSpPr>
          <p:spPr bwMode="auto">
            <a:xfrm>
              <a:off x="4416" y="2211"/>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002060"/>
                  </a:solidFill>
                  <a:ea typeface="宋体" pitchFamily="2" charset="-122"/>
                </a:rPr>
                <a:t>6</a:t>
              </a:r>
            </a:p>
          </p:txBody>
        </p:sp>
        <p:sp>
          <p:nvSpPr>
            <p:cNvPr id="1155108" name="Line 36"/>
            <p:cNvSpPr>
              <a:spLocks noChangeShapeType="1"/>
            </p:cNvSpPr>
            <p:nvPr/>
          </p:nvSpPr>
          <p:spPr bwMode="auto">
            <a:xfrm>
              <a:off x="3200" y="644"/>
              <a:ext cx="356" cy="0"/>
            </a:xfrm>
            <a:prstGeom prst="line">
              <a:avLst/>
            </a:prstGeom>
            <a:noFill/>
            <a:ln w="19050">
              <a:solidFill>
                <a:srgbClr val="C0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109" name="Text Box 37"/>
            <p:cNvSpPr txBox="1">
              <a:spLocks noChangeArrowheads="1"/>
            </p:cNvSpPr>
            <p:nvPr/>
          </p:nvSpPr>
          <p:spPr bwMode="auto">
            <a:xfrm>
              <a:off x="3053" y="483"/>
              <a:ext cx="188"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solidFill>
                    <a:srgbClr val="C00000"/>
                  </a:solidFill>
                  <a:ea typeface="宋体" pitchFamily="2" charset="-122"/>
                </a:rPr>
                <a:t>a</a:t>
              </a:r>
            </a:p>
          </p:txBody>
        </p:sp>
      </p:grpSp>
      <p:grpSp>
        <p:nvGrpSpPr>
          <p:cNvPr id="1155110" name="Group 38"/>
          <p:cNvGrpSpPr>
            <a:grpSpLocks/>
          </p:cNvGrpSpPr>
          <p:nvPr/>
        </p:nvGrpSpPr>
        <p:grpSpPr bwMode="auto">
          <a:xfrm>
            <a:off x="7788151" y="2792342"/>
            <a:ext cx="814387" cy="400050"/>
            <a:chOff x="3799" y="1095"/>
            <a:chExt cx="513" cy="252"/>
          </a:xfrm>
        </p:grpSpPr>
        <p:sp>
          <p:nvSpPr>
            <p:cNvPr id="1155111" name="Line 39"/>
            <p:cNvSpPr>
              <a:spLocks noChangeShapeType="1"/>
            </p:cNvSpPr>
            <p:nvPr/>
          </p:nvSpPr>
          <p:spPr bwMode="auto">
            <a:xfrm>
              <a:off x="3946" y="1244"/>
              <a:ext cx="366" cy="0"/>
            </a:xfrm>
            <a:prstGeom prst="line">
              <a:avLst/>
            </a:prstGeom>
            <a:noFill/>
            <a:ln w="19050">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112" name="Text Box 40"/>
            <p:cNvSpPr txBox="1">
              <a:spLocks noChangeArrowheads="1"/>
            </p:cNvSpPr>
            <p:nvPr/>
          </p:nvSpPr>
          <p:spPr bwMode="auto">
            <a:xfrm>
              <a:off x="3799" y="1095"/>
              <a:ext cx="19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002060"/>
                  </a:solidFill>
                  <a:ea typeface="宋体" pitchFamily="2" charset="-122"/>
                </a:rPr>
                <a:t>p</a:t>
              </a:r>
            </a:p>
          </p:txBody>
        </p:sp>
      </p:grpSp>
      <p:grpSp>
        <p:nvGrpSpPr>
          <p:cNvPr id="1155113" name="Group 41"/>
          <p:cNvGrpSpPr>
            <a:grpSpLocks/>
          </p:cNvGrpSpPr>
          <p:nvPr/>
        </p:nvGrpSpPr>
        <p:grpSpPr bwMode="auto">
          <a:xfrm>
            <a:off x="7788151" y="3200329"/>
            <a:ext cx="814387" cy="400050"/>
            <a:chOff x="3799" y="1095"/>
            <a:chExt cx="513" cy="252"/>
          </a:xfrm>
        </p:grpSpPr>
        <p:sp>
          <p:nvSpPr>
            <p:cNvPr id="1155114" name="Line 42"/>
            <p:cNvSpPr>
              <a:spLocks noChangeShapeType="1"/>
            </p:cNvSpPr>
            <p:nvPr/>
          </p:nvSpPr>
          <p:spPr bwMode="auto">
            <a:xfrm>
              <a:off x="3946" y="1244"/>
              <a:ext cx="366" cy="0"/>
            </a:xfrm>
            <a:prstGeom prst="line">
              <a:avLst/>
            </a:prstGeom>
            <a:noFill/>
            <a:ln w="19050">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115" name="Text Box 43"/>
            <p:cNvSpPr txBox="1">
              <a:spLocks noChangeArrowheads="1"/>
            </p:cNvSpPr>
            <p:nvPr/>
          </p:nvSpPr>
          <p:spPr bwMode="auto">
            <a:xfrm>
              <a:off x="3799" y="1095"/>
              <a:ext cx="19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solidFill>
                    <a:srgbClr val="002060"/>
                  </a:solidFill>
                  <a:ea typeface="宋体" pitchFamily="2" charset="-122"/>
                </a:rPr>
                <a:t>p</a:t>
              </a:r>
            </a:p>
          </p:txBody>
        </p:sp>
      </p:grpSp>
      <p:grpSp>
        <p:nvGrpSpPr>
          <p:cNvPr id="1155116" name="Group 44"/>
          <p:cNvGrpSpPr>
            <a:grpSpLocks/>
          </p:cNvGrpSpPr>
          <p:nvPr/>
        </p:nvGrpSpPr>
        <p:grpSpPr bwMode="auto">
          <a:xfrm>
            <a:off x="7788151" y="3608317"/>
            <a:ext cx="814387" cy="400050"/>
            <a:chOff x="3799" y="1095"/>
            <a:chExt cx="513" cy="252"/>
          </a:xfrm>
        </p:grpSpPr>
        <p:sp>
          <p:nvSpPr>
            <p:cNvPr id="1155117" name="Line 45"/>
            <p:cNvSpPr>
              <a:spLocks noChangeShapeType="1"/>
            </p:cNvSpPr>
            <p:nvPr/>
          </p:nvSpPr>
          <p:spPr bwMode="auto">
            <a:xfrm>
              <a:off x="3946" y="1244"/>
              <a:ext cx="366" cy="0"/>
            </a:xfrm>
            <a:prstGeom prst="line">
              <a:avLst/>
            </a:prstGeom>
            <a:noFill/>
            <a:ln w="19050">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118" name="Text Box 46"/>
            <p:cNvSpPr txBox="1">
              <a:spLocks noChangeArrowheads="1"/>
            </p:cNvSpPr>
            <p:nvPr/>
          </p:nvSpPr>
          <p:spPr bwMode="auto">
            <a:xfrm>
              <a:off x="3799" y="1095"/>
              <a:ext cx="19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002060"/>
                  </a:solidFill>
                  <a:ea typeface="宋体" pitchFamily="2" charset="-122"/>
                </a:rPr>
                <a:t>p</a:t>
              </a:r>
            </a:p>
          </p:txBody>
        </p:sp>
      </p:grpSp>
      <p:grpSp>
        <p:nvGrpSpPr>
          <p:cNvPr id="1155119" name="Group 47"/>
          <p:cNvGrpSpPr>
            <a:grpSpLocks/>
          </p:cNvGrpSpPr>
          <p:nvPr/>
        </p:nvGrpSpPr>
        <p:grpSpPr bwMode="auto">
          <a:xfrm>
            <a:off x="7788151" y="4016304"/>
            <a:ext cx="814387" cy="400050"/>
            <a:chOff x="3799" y="1095"/>
            <a:chExt cx="513" cy="252"/>
          </a:xfrm>
        </p:grpSpPr>
        <p:sp>
          <p:nvSpPr>
            <p:cNvPr id="1155120" name="Line 48"/>
            <p:cNvSpPr>
              <a:spLocks noChangeShapeType="1"/>
            </p:cNvSpPr>
            <p:nvPr/>
          </p:nvSpPr>
          <p:spPr bwMode="auto">
            <a:xfrm>
              <a:off x="3946" y="1244"/>
              <a:ext cx="366" cy="0"/>
            </a:xfrm>
            <a:prstGeom prst="line">
              <a:avLst/>
            </a:prstGeom>
            <a:noFill/>
            <a:ln w="19050">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121" name="Text Box 49"/>
            <p:cNvSpPr txBox="1">
              <a:spLocks noChangeArrowheads="1"/>
            </p:cNvSpPr>
            <p:nvPr/>
          </p:nvSpPr>
          <p:spPr bwMode="auto">
            <a:xfrm>
              <a:off x="3799" y="1095"/>
              <a:ext cx="19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solidFill>
                    <a:srgbClr val="002060"/>
                  </a:solidFill>
                  <a:ea typeface="宋体" pitchFamily="2" charset="-122"/>
                </a:rPr>
                <a:t>p</a:t>
              </a:r>
            </a:p>
          </p:txBody>
        </p:sp>
      </p:grpSp>
      <p:grpSp>
        <p:nvGrpSpPr>
          <p:cNvPr id="1155122" name="Group 50"/>
          <p:cNvGrpSpPr>
            <a:grpSpLocks/>
          </p:cNvGrpSpPr>
          <p:nvPr/>
        </p:nvGrpSpPr>
        <p:grpSpPr bwMode="auto">
          <a:xfrm>
            <a:off x="7788151" y="4424292"/>
            <a:ext cx="814387" cy="400050"/>
            <a:chOff x="3799" y="1095"/>
            <a:chExt cx="513" cy="252"/>
          </a:xfrm>
        </p:grpSpPr>
        <p:sp>
          <p:nvSpPr>
            <p:cNvPr id="1155123" name="Line 51"/>
            <p:cNvSpPr>
              <a:spLocks noChangeShapeType="1"/>
            </p:cNvSpPr>
            <p:nvPr/>
          </p:nvSpPr>
          <p:spPr bwMode="auto">
            <a:xfrm>
              <a:off x="3946" y="1244"/>
              <a:ext cx="366" cy="0"/>
            </a:xfrm>
            <a:prstGeom prst="line">
              <a:avLst/>
            </a:prstGeom>
            <a:noFill/>
            <a:ln w="19050">
              <a:solidFill>
                <a:srgbClr val="002060"/>
              </a:solidFill>
              <a:round/>
              <a:headEnd/>
              <a:tailEnd type="stealth" w="lg" len="lg"/>
            </a:ln>
            <a:effectLst/>
          </p:spPr>
          <p:txBody>
            <a:bodyPr wrap="none" anchor="ctr"/>
            <a:lstStyle/>
            <a:p>
              <a:endParaRPr lang="zh-CN" altLang="en-US"/>
            </a:p>
          </p:txBody>
        </p:sp>
        <p:sp>
          <p:nvSpPr>
            <p:cNvPr id="1155124" name="Text Box 52"/>
            <p:cNvSpPr txBox="1">
              <a:spLocks noChangeArrowheads="1"/>
            </p:cNvSpPr>
            <p:nvPr/>
          </p:nvSpPr>
          <p:spPr bwMode="auto">
            <a:xfrm>
              <a:off x="3799" y="1095"/>
              <a:ext cx="19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solidFill>
                    <a:srgbClr val="002060"/>
                  </a:solidFill>
                  <a:ea typeface="宋体" pitchFamily="2" charset="-122"/>
                </a:rPr>
                <a:t>p</a:t>
              </a:r>
            </a:p>
          </p:txBody>
        </p:sp>
      </p:grpSp>
      <p:grpSp>
        <p:nvGrpSpPr>
          <p:cNvPr id="1155125" name="Group 53"/>
          <p:cNvGrpSpPr>
            <a:grpSpLocks/>
          </p:cNvGrpSpPr>
          <p:nvPr/>
        </p:nvGrpSpPr>
        <p:grpSpPr bwMode="auto">
          <a:xfrm>
            <a:off x="7807201" y="4843392"/>
            <a:ext cx="814387" cy="400050"/>
            <a:chOff x="3799" y="1095"/>
            <a:chExt cx="513" cy="252"/>
          </a:xfrm>
        </p:grpSpPr>
        <p:sp>
          <p:nvSpPr>
            <p:cNvPr id="1155126" name="Line 54"/>
            <p:cNvSpPr>
              <a:spLocks noChangeShapeType="1"/>
            </p:cNvSpPr>
            <p:nvPr/>
          </p:nvSpPr>
          <p:spPr bwMode="auto">
            <a:xfrm>
              <a:off x="3946" y="1244"/>
              <a:ext cx="366" cy="0"/>
            </a:xfrm>
            <a:prstGeom prst="line">
              <a:avLst/>
            </a:prstGeom>
            <a:noFill/>
            <a:ln w="19050">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solidFill>
                  <a:srgbClr val="002060"/>
                </a:solidFill>
              </a:endParaRPr>
            </a:p>
          </p:txBody>
        </p:sp>
        <p:sp>
          <p:nvSpPr>
            <p:cNvPr id="1155127" name="Text Box 55"/>
            <p:cNvSpPr txBox="1">
              <a:spLocks noChangeArrowheads="1"/>
            </p:cNvSpPr>
            <p:nvPr/>
          </p:nvSpPr>
          <p:spPr bwMode="auto">
            <a:xfrm>
              <a:off x="3799" y="1095"/>
              <a:ext cx="19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002060"/>
                  </a:solidFill>
                  <a:ea typeface="宋体" pitchFamily="2" charset="-122"/>
                </a:rPr>
                <a:t>p</a:t>
              </a:r>
            </a:p>
          </p:txBody>
        </p:sp>
      </p:grpSp>
      <p:sp>
        <p:nvSpPr>
          <p:cNvPr id="1155128" name="AutoShape 56"/>
          <p:cNvSpPr>
            <a:spLocks noChangeArrowheads="1"/>
          </p:cNvSpPr>
          <p:nvPr/>
        </p:nvSpPr>
        <p:spPr bwMode="auto">
          <a:xfrm>
            <a:off x="3769757" y="5796286"/>
            <a:ext cx="7216327" cy="652255"/>
          </a:xfrm>
          <a:prstGeom prst="wedgeEllipseCallout">
            <a:avLst>
              <a:gd name="adj1" fmla="val 8320"/>
              <a:gd name="adj2" fmla="val -145839"/>
            </a:avLst>
          </a:prstGeom>
          <a:gradFill rotWithShape="1">
            <a:gsLst>
              <a:gs pos="0">
                <a:srgbClr val="CFCFD1"/>
              </a:gs>
              <a:gs pos="100000">
                <a:schemeClr val="bg1"/>
              </a:gs>
            </a:gsLst>
            <a:lin ang="5400000" scaled="1"/>
          </a:gradFill>
          <a:ln w="28575">
            <a:solidFill>
              <a:srgbClr val="C00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a:ea typeface="隶书" pitchFamily="49" charset="-122"/>
              </a:rPr>
              <a:t>指针变量可以指到</a:t>
            </a:r>
            <a:r>
              <a:rPr lang="zh-CN" altLang="en-US">
                <a:solidFill>
                  <a:srgbClr val="CC0000"/>
                </a:solidFill>
                <a:ea typeface="隶书" pitchFamily="49" charset="-122"/>
              </a:rPr>
              <a:t>数组后</a:t>
            </a:r>
            <a:r>
              <a:rPr lang="zh-CN" altLang="en-US">
                <a:ea typeface="隶书" pitchFamily="49" charset="-122"/>
              </a:rPr>
              <a:t>的内存单元</a:t>
            </a:r>
          </a:p>
        </p:txBody>
      </p:sp>
      <p:sp>
        <p:nvSpPr>
          <p:cNvPr id="57" name="Rectangle 4">
            <a:extLst>
              <a:ext uri="{FF2B5EF4-FFF2-40B4-BE49-F238E27FC236}">
                <a16:creationId xmlns:a16="http://schemas.microsoft.com/office/drawing/2014/main" id="{5A30588B-1798-4D8F-B104-E99B8A5F6DCD}"/>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55077">
                                            <p:txEl>
                                              <p:pRg st="0" end="0"/>
                                            </p:txEl>
                                          </p:spTgt>
                                        </p:tgtEl>
                                        <p:attrNameLst>
                                          <p:attrName>style.visibility</p:attrName>
                                        </p:attrNameLst>
                                      </p:cBhvr>
                                      <p:to>
                                        <p:strVal val="visible"/>
                                      </p:to>
                                    </p:set>
                                    <p:anim calcmode="lin" valueType="num">
                                      <p:cBhvr additive="base">
                                        <p:cTn id="7" dur="500" fill="hold"/>
                                        <p:tgtEl>
                                          <p:spTgt spid="115507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5507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55074"/>
                                        </p:tgtEl>
                                        <p:attrNameLst>
                                          <p:attrName>style.visibility</p:attrName>
                                        </p:attrNameLst>
                                      </p:cBhvr>
                                      <p:to>
                                        <p:strVal val="visible"/>
                                      </p:to>
                                    </p:set>
                                    <p:animEffect transition="in" filter="box(out)">
                                      <p:cBhvr>
                                        <p:cTn id="13" dur="500"/>
                                        <p:tgtEl>
                                          <p:spTgt spid="115507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55086"/>
                                        </p:tgtEl>
                                        <p:attrNameLst>
                                          <p:attrName>style.visibility</p:attrName>
                                        </p:attrNameLst>
                                      </p:cBhvr>
                                      <p:to>
                                        <p:strVal val="visible"/>
                                      </p:to>
                                    </p:set>
                                    <p:animEffect transition="in" filter="box(out)">
                                      <p:cBhvr>
                                        <p:cTn id="18" dur="500"/>
                                        <p:tgtEl>
                                          <p:spTgt spid="115508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155083"/>
                                        </p:tgtEl>
                                        <p:attrNameLst>
                                          <p:attrName>style.visibility</p:attrName>
                                        </p:attrNameLst>
                                      </p:cBhvr>
                                      <p:to>
                                        <p:strVal val="visible"/>
                                      </p:to>
                                    </p:set>
                                  </p:childTnLst>
                                  <p:subTnLst>
                                    <p:set>
                                      <p:cBhvr override="childStyle">
                                        <p:cTn dur="1" fill="hold" display="0" masterRel="nextClick" afterEffect="1"/>
                                        <p:tgtEl>
                                          <p:spTgt spid="1155083"/>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155080"/>
                                        </p:tgtEl>
                                        <p:attrNameLst>
                                          <p:attrName>style.visibility</p:attrName>
                                        </p:attrNameLst>
                                      </p:cBhvr>
                                      <p:to>
                                        <p:strVal val="visible"/>
                                      </p:to>
                                    </p:set>
                                  </p:childTnLst>
                                  <p:subTnLst>
                                    <p:set>
                                      <p:cBhvr override="childStyle">
                                        <p:cTn dur="1" fill="hold" display="0" masterRel="nextClick" afterEffect="1"/>
                                        <p:tgtEl>
                                          <p:spTgt spid="1155080"/>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155110"/>
                                        </p:tgtEl>
                                        <p:attrNameLst>
                                          <p:attrName>style.visibility</p:attrName>
                                        </p:attrNameLst>
                                      </p:cBhvr>
                                      <p:to>
                                        <p:strVal val="visible"/>
                                      </p:to>
                                    </p:set>
                                  </p:childTnLst>
                                  <p:subTnLst>
                                    <p:set>
                                      <p:cBhvr override="childStyle">
                                        <p:cTn dur="1" fill="hold" display="0" masterRel="nextClick" afterEffect="1"/>
                                        <p:tgtEl>
                                          <p:spTgt spid="1155110"/>
                                        </p:tgtEl>
                                        <p:attrNameLst>
                                          <p:attrName>style.visibility</p:attrName>
                                        </p:attrNameLst>
                                      </p:cBhvr>
                                      <p:to>
                                        <p:strVal val="hidden"/>
                                      </p:to>
                                    </p:se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155113"/>
                                        </p:tgtEl>
                                        <p:attrNameLst>
                                          <p:attrName>style.visibility</p:attrName>
                                        </p:attrNameLst>
                                      </p:cBhvr>
                                      <p:to>
                                        <p:strVal val="visible"/>
                                      </p:to>
                                    </p:set>
                                  </p:childTnLst>
                                  <p:subTnLst>
                                    <p:set>
                                      <p:cBhvr override="childStyle">
                                        <p:cTn dur="1" fill="hold" display="0" masterRel="nextClick" afterEffect="1"/>
                                        <p:tgtEl>
                                          <p:spTgt spid="1155113"/>
                                        </p:tgtEl>
                                        <p:attrNameLst>
                                          <p:attrName>style.visibility</p:attrName>
                                        </p:attrNameLst>
                                      </p:cBhvr>
                                      <p:to>
                                        <p:strVal val="hidden"/>
                                      </p:to>
                                    </p:se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155116"/>
                                        </p:tgtEl>
                                        <p:attrNameLst>
                                          <p:attrName>style.visibility</p:attrName>
                                        </p:attrNameLst>
                                      </p:cBhvr>
                                      <p:to>
                                        <p:strVal val="visible"/>
                                      </p:to>
                                    </p:set>
                                  </p:childTnLst>
                                  <p:subTnLst>
                                    <p:set>
                                      <p:cBhvr override="childStyle">
                                        <p:cTn dur="1" fill="hold" display="0" masterRel="nextClick" afterEffect="1"/>
                                        <p:tgtEl>
                                          <p:spTgt spid="1155116"/>
                                        </p:tgtEl>
                                        <p:attrNameLst>
                                          <p:attrName>style.visibility</p:attrName>
                                        </p:attrNameLst>
                                      </p:cBhvr>
                                      <p:to>
                                        <p:strVal val="hidden"/>
                                      </p:to>
                                    </p:se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1155119"/>
                                        </p:tgtEl>
                                        <p:attrNameLst>
                                          <p:attrName>style.visibility</p:attrName>
                                        </p:attrNameLst>
                                      </p:cBhvr>
                                      <p:to>
                                        <p:strVal val="visible"/>
                                      </p:to>
                                    </p:set>
                                  </p:childTnLst>
                                  <p:subTnLst>
                                    <p:set>
                                      <p:cBhvr override="childStyle">
                                        <p:cTn dur="1" fill="hold" display="0" masterRel="nextClick" afterEffect="1"/>
                                        <p:tgtEl>
                                          <p:spTgt spid="1155119"/>
                                        </p:tgtEl>
                                        <p:attrNameLst>
                                          <p:attrName>style.visibility</p:attrName>
                                        </p:attrNameLst>
                                      </p:cBhvr>
                                      <p:to>
                                        <p:strVal val="hidden"/>
                                      </p:to>
                                    </p:se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155122"/>
                                        </p:tgtEl>
                                        <p:attrNameLst>
                                          <p:attrName>style.visibility</p:attrName>
                                        </p:attrNameLst>
                                      </p:cBhvr>
                                      <p:to>
                                        <p:strVal val="visible"/>
                                      </p:to>
                                    </p:set>
                                  </p:childTnLst>
                                  <p:subTnLst>
                                    <p:set>
                                      <p:cBhvr override="childStyle">
                                        <p:cTn dur="1" fill="hold" display="0" masterRel="nextClick" afterEffect="1"/>
                                        <p:tgtEl>
                                          <p:spTgt spid="1155122"/>
                                        </p:tgtEl>
                                        <p:attrNameLst>
                                          <p:attrName>style.visibility</p:attrName>
                                        </p:attrNameLst>
                                      </p:cBhvr>
                                      <p:to>
                                        <p:strVal val="hidden"/>
                                      </p:to>
                                    </p:se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155125"/>
                                        </p:tgtEl>
                                        <p:attrNameLst>
                                          <p:attrName>style.visibility</p:attrName>
                                        </p:attrNameLst>
                                      </p:cBhvr>
                                      <p:to>
                                        <p:strVal val="visible"/>
                                      </p:to>
                                    </p:se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155128"/>
                                        </p:tgtEl>
                                        <p:attrNameLst>
                                          <p:attrName>style.visibility</p:attrName>
                                        </p:attrNameLst>
                                      </p:cBhvr>
                                      <p:to>
                                        <p:strVal val="visible"/>
                                      </p:to>
                                    </p:set>
                                    <p:animEffect transition="in" filter="box(out)">
                                      <p:cBhvr>
                                        <p:cTn id="55" dur="500"/>
                                        <p:tgtEl>
                                          <p:spTgt spid="1155128"/>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155078">
                                            <p:txEl>
                                              <p:pRg st="0" end="0"/>
                                            </p:txEl>
                                          </p:spTgt>
                                        </p:tgtEl>
                                        <p:attrNameLst>
                                          <p:attrName>style.visibility</p:attrName>
                                        </p:attrNameLst>
                                      </p:cBhvr>
                                      <p:to>
                                        <p:strVal val="visible"/>
                                      </p:to>
                                    </p:set>
                                    <p:animEffect transition="in" filter="box(out)">
                                      <p:cBhvr>
                                        <p:cTn id="60" dur="500"/>
                                        <p:tgtEl>
                                          <p:spTgt spid="1155078">
                                            <p:txEl>
                                              <p:pRg st="0" end="0"/>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5074" grpId="0" animBg="1" autoUpdateAnimBg="0"/>
      <p:bldP spid="1155077" grpId="0" build="p" autoUpdateAnimBg="0"/>
      <p:bldP spid="1155078" grpId="0" build="p" autoUpdateAnimBg="0"/>
      <p:bldP spid="1155128"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22" name="Rectangle 2"/>
          <p:cNvSpPr>
            <a:spLocks noChangeArrowheads="1"/>
          </p:cNvSpPr>
          <p:nvPr/>
        </p:nvSpPr>
        <p:spPr bwMode="auto">
          <a:xfrm>
            <a:off x="699592" y="775977"/>
            <a:ext cx="6260504" cy="503237"/>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3</a:t>
            </a:r>
            <a:r>
              <a:rPr lang="zh-CN" altLang="en-US" sz="2800" b="1" dirty="0">
                <a:solidFill>
                  <a:srgbClr val="C00000"/>
                </a:solidFill>
                <a:latin typeface="+mn-lt"/>
                <a:ea typeface="楷体" pitchFamily="49" charset="-122"/>
                <a:sym typeface="Symbol" pitchFamily="18" charset="2"/>
              </a:rPr>
              <a:t>、指向多维数组的指针</a:t>
            </a:r>
            <a:r>
              <a:rPr lang="en-US" altLang="zh-CN" sz="2800" b="1" dirty="0">
                <a:solidFill>
                  <a:srgbClr val="C00000"/>
                </a:solidFill>
                <a:latin typeface="+mn-lt"/>
                <a:ea typeface="楷体" pitchFamily="49" charset="-122"/>
                <a:sym typeface="Symbol" pitchFamily="18" charset="2"/>
              </a:rPr>
              <a:t>____</a:t>
            </a:r>
            <a:r>
              <a:rPr lang="zh-CN" altLang="en-US" sz="2800" b="1" dirty="0">
                <a:solidFill>
                  <a:srgbClr val="C00000"/>
                </a:solidFill>
                <a:latin typeface="+mn-lt"/>
                <a:ea typeface="楷体" pitchFamily="49" charset="-122"/>
                <a:sym typeface="Symbol" pitchFamily="18" charset="2"/>
              </a:rPr>
              <a:t>数组指针</a:t>
            </a:r>
          </a:p>
        </p:txBody>
      </p:sp>
      <p:sp>
        <p:nvSpPr>
          <p:cNvPr id="1157127" name="Rectangle 7" descr="信纸"/>
          <p:cNvSpPr>
            <a:spLocks noChangeArrowheads="1"/>
          </p:cNvSpPr>
          <p:nvPr/>
        </p:nvSpPr>
        <p:spPr bwMode="auto">
          <a:xfrm>
            <a:off x="758323" y="1297540"/>
            <a:ext cx="8401050" cy="402291"/>
          </a:xfrm>
          <a:prstGeom prst="rect">
            <a:avLst/>
          </a:prstGeom>
          <a:noFill/>
          <a:ln w="38100" algn="ctr">
            <a:noFill/>
            <a:miter lim="800000"/>
            <a:headEnd/>
            <a:tailEnd/>
          </a:ln>
          <a:effectLst/>
        </p:spPr>
        <p:txBody>
          <a:bodyPr lIns="90000" tIns="46800" rIns="90000" bIns="46800" anchor="ctr">
            <a:spAutoFit/>
          </a:bodyPr>
          <a:lstStyle/>
          <a:p>
            <a:pPr>
              <a:lnSpc>
                <a:spcPct val="100000"/>
              </a:lnSpc>
            </a:pPr>
            <a:r>
              <a:rPr lang="en-US" altLang="zh-CN" sz="2000" dirty="0">
                <a:latin typeface="+mn-lt"/>
                <a:ea typeface="楷体" pitchFamily="49" charset="-122"/>
              </a:rPr>
              <a:t>    </a:t>
            </a:r>
            <a:r>
              <a:rPr lang="zh-CN" altLang="en-US" sz="2000" dirty="0">
                <a:latin typeface="+mn-lt"/>
                <a:ea typeface="楷体" pitchFamily="49" charset="-122"/>
              </a:rPr>
              <a:t>利用指针变量不仅可以引用一维数组，而且也可以引用多维数组。 </a:t>
            </a:r>
          </a:p>
        </p:txBody>
      </p:sp>
      <p:sp>
        <p:nvSpPr>
          <p:cNvPr id="1157203" name="Rectangle 83"/>
          <p:cNvSpPr>
            <a:spLocks noChangeArrowheads="1"/>
          </p:cNvSpPr>
          <p:nvPr/>
        </p:nvSpPr>
        <p:spPr bwMode="auto">
          <a:xfrm>
            <a:off x="766078" y="1711261"/>
            <a:ext cx="6580187" cy="457200"/>
          </a:xfrm>
          <a:prstGeom prst="rect">
            <a:avLst/>
          </a:prstGeom>
          <a:noFill/>
          <a:ln w="9525">
            <a:noFill/>
            <a:miter lim="800000"/>
            <a:headEnd/>
            <a:tailEnd/>
          </a:ln>
          <a:effectLst/>
        </p:spPr>
        <p:txBody>
          <a:bodyPr wrap="none" anchor="ctr">
            <a:spAutoFit/>
          </a:bodyPr>
          <a:lstStyle/>
          <a:p>
            <a:pPr>
              <a:lnSpc>
                <a:spcPct val="100000"/>
              </a:lnSpc>
              <a:spcBef>
                <a:spcPct val="0"/>
              </a:spcBef>
            </a:pPr>
            <a:r>
              <a:rPr lang="en-US" altLang="zh-CN" dirty="0">
                <a:solidFill>
                  <a:srgbClr val="C00000"/>
                </a:solidFill>
                <a:latin typeface="楷体" panose="02010609060101010101" pitchFamily="49" charset="-122"/>
                <a:ea typeface="楷体" panose="02010609060101010101" pitchFamily="49" charset="-122"/>
              </a:rPr>
              <a:t>【</a:t>
            </a:r>
            <a:r>
              <a:rPr lang="zh-CN" altLang="en-US" dirty="0">
                <a:solidFill>
                  <a:srgbClr val="C00000"/>
                </a:solidFill>
                <a:latin typeface="楷体" panose="02010609060101010101" pitchFamily="49" charset="-122"/>
                <a:ea typeface="楷体" panose="02010609060101010101" pitchFamily="49" charset="-122"/>
              </a:rPr>
              <a:t>例</a:t>
            </a:r>
            <a:r>
              <a:rPr lang="en-US" altLang="zh-CN" dirty="0">
                <a:solidFill>
                  <a:srgbClr val="C00000"/>
                </a:solidFill>
                <a:latin typeface="楷体" panose="02010609060101010101" pitchFamily="49" charset="-122"/>
                <a:ea typeface="楷体" panose="02010609060101010101" pitchFamily="49" charset="-122"/>
              </a:rPr>
              <a:t>】</a:t>
            </a:r>
            <a:r>
              <a:rPr lang="zh-CN" altLang="en-US" dirty="0">
                <a:solidFill>
                  <a:srgbClr val="C00000"/>
                </a:solidFill>
                <a:latin typeface="楷体" panose="02010609060101010101" pitchFamily="49" charset="-122"/>
                <a:ea typeface="楷体" panose="02010609060101010101" pitchFamily="49" charset="-122"/>
              </a:rPr>
              <a:t>利用一般指针变量对二维数组的引用。</a:t>
            </a:r>
          </a:p>
        </p:txBody>
      </p:sp>
      <p:grpSp>
        <p:nvGrpSpPr>
          <p:cNvPr id="1157256" name="Group 136"/>
          <p:cNvGrpSpPr>
            <a:grpSpLocks/>
          </p:cNvGrpSpPr>
          <p:nvPr/>
        </p:nvGrpSpPr>
        <p:grpSpPr bwMode="auto">
          <a:xfrm>
            <a:off x="5957812" y="3058825"/>
            <a:ext cx="2806700" cy="3771900"/>
            <a:chOff x="3532" y="1575"/>
            <a:chExt cx="1768" cy="2376"/>
          </a:xfrm>
        </p:grpSpPr>
        <p:grpSp>
          <p:nvGrpSpPr>
            <p:cNvPr id="1157206" name="Group 86"/>
            <p:cNvGrpSpPr>
              <a:grpSpLocks/>
            </p:cNvGrpSpPr>
            <p:nvPr/>
          </p:nvGrpSpPr>
          <p:grpSpPr bwMode="auto">
            <a:xfrm>
              <a:off x="4364" y="1575"/>
              <a:ext cx="936" cy="2376"/>
              <a:chOff x="4157" y="1008"/>
              <a:chExt cx="936" cy="2376"/>
            </a:xfrm>
          </p:grpSpPr>
          <p:grpSp>
            <p:nvGrpSpPr>
              <p:cNvPr id="1157207" name="Group 87"/>
              <p:cNvGrpSpPr>
                <a:grpSpLocks/>
              </p:cNvGrpSpPr>
              <p:nvPr/>
            </p:nvGrpSpPr>
            <p:grpSpPr bwMode="auto">
              <a:xfrm>
                <a:off x="4157" y="1008"/>
                <a:ext cx="936" cy="2376"/>
                <a:chOff x="4032" y="444"/>
                <a:chExt cx="936" cy="2376"/>
              </a:xfrm>
            </p:grpSpPr>
            <p:sp>
              <p:nvSpPr>
                <p:cNvPr id="1157208" name="AutoShape 88"/>
                <p:cNvSpPr>
                  <a:spLocks noChangeArrowheads="1"/>
                </p:cNvSpPr>
                <p:nvPr/>
              </p:nvSpPr>
              <p:spPr bwMode="auto">
                <a:xfrm>
                  <a:off x="4032" y="444"/>
                  <a:ext cx="936" cy="2376"/>
                </a:xfrm>
                <a:prstGeom prst="foldedCorner">
                  <a:avLst>
                    <a:gd name="adj" fmla="val 13745"/>
                  </a:avLst>
                </a:prstGeom>
                <a:solidFill>
                  <a:srgbClr val="DDFAED"/>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chemeClr val="accent2">
                        <a:lumMod val="50000"/>
                      </a:schemeClr>
                    </a:solidFill>
                    <a:effectLst>
                      <a:outerShdw blurRad="38100" dist="38100" dir="2700000" algn="tl">
                        <a:srgbClr val="000000">
                          <a:alpha val="43137"/>
                        </a:srgbClr>
                      </a:outerShdw>
                    </a:effectLst>
                    <a:ea typeface="隶书" pitchFamily="49" charset="-122"/>
                  </a:endParaRPr>
                </a:p>
              </p:txBody>
            </p:sp>
            <p:sp>
              <p:nvSpPr>
                <p:cNvPr id="1157209" name="Line 89"/>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10" name="Line 90"/>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11" name="Line 91"/>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12" name="Line 92"/>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13" name="Line 93"/>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14" name="Line 94"/>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15" name="Line 95"/>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16" name="Line 96"/>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17" name="Line 97"/>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grpSp>
          <p:grpSp>
            <p:nvGrpSpPr>
              <p:cNvPr id="1157218" name="Group 98"/>
              <p:cNvGrpSpPr>
                <a:grpSpLocks/>
              </p:cNvGrpSpPr>
              <p:nvPr/>
            </p:nvGrpSpPr>
            <p:grpSpPr bwMode="auto">
              <a:xfrm>
                <a:off x="4157" y="1428"/>
                <a:ext cx="60" cy="1368"/>
                <a:chOff x="4032" y="864"/>
                <a:chExt cx="60" cy="1368"/>
              </a:xfrm>
            </p:grpSpPr>
            <p:sp>
              <p:nvSpPr>
                <p:cNvPr id="1157219" name="Line 99"/>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20" name="Line 100"/>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21" name="Line 101"/>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22" name="Line 102"/>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23" name="Line 103"/>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24" name="Line 104"/>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25" name="Line 105"/>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grpSp>
          <p:grpSp>
            <p:nvGrpSpPr>
              <p:cNvPr id="1157226" name="Group 106"/>
              <p:cNvGrpSpPr>
                <a:grpSpLocks/>
              </p:cNvGrpSpPr>
              <p:nvPr/>
            </p:nvGrpSpPr>
            <p:grpSpPr bwMode="auto">
              <a:xfrm>
                <a:off x="5021" y="1440"/>
                <a:ext cx="60" cy="1368"/>
                <a:chOff x="4032" y="864"/>
                <a:chExt cx="60" cy="1368"/>
              </a:xfrm>
            </p:grpSpPr>
            <p:sp>
              <p:nvSpPr>
                <p:cNvPr id="1157227" name="Line 107"/>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28" name="Line 108"/>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29" name="Line 109"/>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30" name="Line 110"/>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31" name="Line 111"/>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32" name="Line 112"/>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33" name="Line 113"/>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solidFill>
                      <a:schemeClr val="accent2">
                        <a:lumMod val="50000"/>
                      </a:schemeClr>
                    </a:solidFill>
                    <a:effectLst>
                      <a:outerShdw blurRad="38100" dist="38100" dir="2700000" algn="tl">
                        <a:srgbClr val="000000">
                          <a:alpha val="43137"/>
                        </a:srgbClr>
                      </a:outerShdw>
                    </a:effectLst>
                  </a:endParaRPr>
                </a:p>
              </p:txBody>
            </p:sp>
          </p:grpSp>
        </p:grpSp>
        <p:grpSp>
          <p:nvGrpSpPr>
            <p:cNvPr id="1157241" name="Group 121"/>
            <p:cNvGrpSpPr>
              <a:grpSpLocks/>
            </p:cNvGrpSpPr>
            <p:nvPr/>
          </p:nvGrpSpPr>
          <p:grpSpPr bwMode="auto">
            <a:xfrm>
              <a:off x="3801" y="1868"/>
              <a:ext cx="733" cy="1397"/>
              <a:chOff x="3819" y="1868"/>
              <a:chExt cx="733" cy="1397"/>
            </a:xfrm>
          </p:grpSpPr>
          <p:sp>
            <p:nvSpPr>
              <p:cNvPr id="1157235" name="Text Box 115"/>
              <p:cNvSpPr txBox="1">
                <a:spLocks noChangeArrowheads="1"/>
              </p:cNvSpPr>
              <p:nvPr/>
            </p:nvSpPr>
            <p:spPr bwMode="auto">
              <a:xfrm>
                <a:off x="3966" y="1868"/>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dirty="0">
                    <a:solidFill>
                      <a:schemeClr val="accent2">
                        <a:lumMod val="50000"/>
                      </a:schemeClr>
                    </a:solidFill>
                    <a:ea typeface="隶书" pitchFamily="49" charset="-122"/>
                  </a:rPr>
                  <a:t>2000</a:t>
                </a:r>
              </a:p>
            </p:txBody>
          </p:sp>
          <p:sp>
            <p:nvSpPr>
              <p:cNvPr id="1157236" name="Text Box 116"/>
              <p:cNvSpPr txBox="1">
                <a:spLocks noChangeArrowheads="1"/>
              </p:cNvSpPr>
              <p:nvPr/>
            </p:nvSpPr>
            <p:spPr bwMode="auto">
              <a:xfrm>
                <a:off x="3966" y="2094"/>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dirty="0">
                    <a:solidFill>
                      <a:schemeClr val="accent2">
                        <a:lumMod val="50000"/>
                      </a:schemeClr>
                    </a:solidFill>
                    <a:ea typeface="隶书" pitchFamily="49" charset="-122"/>
                  </a:rPr>
                  <a:t>2002</a:t>
                </a:r>
              </a:p>
            </p:txBody>
          </p:sp>
          <p:sp>
            <p:nvSpPr>
              <p:cNvPr id="1157237" name="Text Box 117"/>
              <p:cNvSpPr txBox="1">
                <a:spLocks noChangeArrowheads="1"/>
              </p:cNvSpPr>
              <p:nvPr/>
            </p:nvSpPr>
            <p:spPr bwMode="auto">
              <a:xfrm>
                <a:off x="3966" y="2320"/>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solidFill>
                      <a:schemeClr val="accent2">
                        <a:lumMod val="50000"/>
                      </a:schemeClr>
                    </a:solidFill>
                    <a:ea typeface="隶书" pitchFamily="49" charset="-122"/>
                  </a:rPr>
                  <a:t>2004</a:t>
                </a:r>
              </a:p>
            </p:txBody>
          </p:sp>
          <p:sp>
            <p:nvSpPr>
              <p:cNvPr id="1157238" name="Text Box 118"/>
              <p:cNvSpPr txBox="1">
                <a:spLocks noChangeArrowheads="1"/>
              </p:cNvSpPr>
              <p:nvPr/>
            </p:nvSpPr>
            <p:spPr bwMode="auto">
              <a:xfrm>
                <a:off x="3966" y="2546"/>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solidFill>
                      <a:schemeClr val="accent2">
                        <a:lumMod val="50000"/>
                      </a:schemeClr>
                    </a:solidFill>
                    <a:ea typeface="隶书" pitchFamily="49" charset="-122"/>
                  </a:rPr>
                  <a:t>2006</a:t>
                </a:r>
              </a:p>
            </p:txBody>
          </p:sp>
          <p:sp>
            <p:nvSpPr>
              <p:cNvPr id="1157239" name="Text Box 119"/>
              <p:cNvSpPr txBox="1">
                <a:spLocks noChangeArrowheads="1"/>
              </p:cNvSpPr>
              <p:nvPr/>
            </p:nvSpPr>
            <p:spPr bwMode="auto">
              <a:xfrm>
                <a:off x="3819" y="2768"/>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solidFill>
                      <a:schemeClr val="accent2">
                        <a:lumMod val="50000"/>
                      </a:schemeClr>
                    </a:solidFill>
                    <a:ea typeface="隶书" pitchFamily="49" charset="-122"/>
                  </a:rPr>
                  <a:t>2008</a:t>
                </a:r>
              </a:p>
            </p:txBody>
          </p:sp>
          <p:sp>
            <p:nvSpPr>
              <p:cNvPr id="1157240" name="Text Box 120"/>
              <p:cNvSpPr txBox="1">
                <a:spLocks noChangeArrowheads="1"/>
              </p:cNvSpPr>
              <p:nvPr/>
            </p:nvSpPr>
            <p:spPr bwMode="auto">
              <a:xfrm>
                <a:off x="3820" y="3012"/>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solidFill>
                      <a:schemeClr val="accent2">
                        <a:lumMod val="50000"/>
                      </a:schemeClr>
                    </a:solidFill>
                    <a:ea typeface="隶书" pitchFamily="49" charset="-122"/>
                  </a:rPr>
                  <a:t>2010</a:t>
                </a:r>
              </a:p>
            </p:txBody>
          </p:sp>
        </p:grpSp>
        <p:grpSp>
          <p:nvGrpSpPr>
            <p:cNvPr id="1157244" name="Group 124"/>
            <p:cNvGrpSpPr>
              <a:grpSpLocks/>
            </p:cNvGrpSpPr>
            <p:nvPr/>
          </p:nvGrpSpPr>
          <p:grpSpPr bwMode="auto">
            <a:xfrm>
              <a:off x="3532" y="1960"/>
              <a:ext cx="437" cy="545"/>
              <a:chOff x="3532" y="1960"/>
              <a:chExt cx="437" cy="545"/>
            </a:xfrm>
          </p:grpSpPr>
          <p:sp>
            <p:nvSpPr>
              <p:cNvPr id="1157242" name="AutoShape 122"/>
              <p:cNvSpPr>
                <a:spLocks/>
              </p:cNvSpPr>
              <p:nvPr/>
            </p:nvSpPr>
            <p:spPr bwMode="auto">
              <a:xfrm>
                <a:off x="3878" y="1960"/>
                <a:ext cx="91" cy="545"/>
              </a:xfrm>
              <a:prstGeom prst="leftBrace">
                <a:avLst>
                  <a:gd name="adj1" fmla="val 49908"/>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43" name="Text Box 123"/>
              <p:cNvSpPr txBox="1">
                <a:spLocks noChangeArrowheads="1"/>
              </p:cNvSpPr>
              <p:nvPr/>
            </p:nvSpPr>
            <p:spPr bwMode="auto">
              <a:xfrm>
                <a:off x="3532" y="2079"/>
                <a:ext cx="409"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chemeClr val="accent2">
                        <a:lumMod val="50000"/>
                      </a:schemeClr>
                    </a:solidFill>
                    <a:ea typeface="宋体" pitchFamily="2" charset="-122"/>
                  </a:rPr>
                  <a:t>a[0]</a:t>
                </a:r>
              </a:p>
            </p:txBody>
          </p:sp>
        </p:grpSp>
        <p:grpSp>
          <p:nvGrpSpPr>
            <p:cNvPr id="1157245" name="Group 125"/>
            <p:cNvGrpSpPr>
              <a:grpSpLocks/>
            </p:cNvGrpSpPr>
            <p:nvPr/>
          </p:nvGrpSpPr>
          <p:grpSpPr bwMode="auto">
            <a:xfrm>
              <a:off x="3533" y="2636"/>
              <a:ext cx="437" cy="545"/>
              <a:chOff x="3532" y="1960"/>
              <a:chExt cx="437" cy="545"/>
            </a:xfrm>
          </p:grpSpPr>
          <p:sp>
            <p:nvSpPr>
              <p:cNvPr id="1157246" name="AutoShape 126"/>
              <p:cNvSpPr>
                <a:spLocks/>
              </p:cNvSpPr>
              <p:nvPr/>
            </p:nvSpPr>
            <p:spPr bwMode="auto">
              <a:xfrm>
                <a:off x="3878" y="1960"/>
                <a:ext cx="91" cy="545"/>
              </a:xfrm>
              <a:prstGeom prst="leftBrace">
                <a:avLst>
                  <a:gd name="adj1" fmla="val 49908"/>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solidFill>
                    <a:schemeClr val="accent2">
                      <a:lumMod val="50000"/>
                    </a:schemeClr>
                  </a:solidFill>
                  <a:effectLst>
                    <a:outerShdw blurRad="38100" dist="38100" dir="2700000" algn="tl">
                      <a:srgbClr val="000000">
                        <a:alpha val="43137"/>
                      </a:srgbClr>
                    </a:outerShdw>
                  </a:effectLst>
                </a:endParaRPr>
              </a:p>
            </p:txBody>
          </p:sp>
          <p:sp>
            <p:nvSpPr>
              <p:cNvPr id="1157247" name="Text Box 127"/>
              <p:cNvSpPr txBox="1">
                <a:spLocks noChangeArrowheads="1"/>
              </p:cNvSpPr>
              <p:nvPr/>
            </p:nvSpPr>
            <p:spPr bwMode="auto">
              <a:xfrm>
                <a:off x="3532" y="2079"/>
                <a:ext cx="409"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chemeClr val="accent2">
                        <a:lumMod val="50000"/>
                      </a:schemeClr>
                    </a:solidFill>
                    <a:ea typeface="宋体" pitchFamily="2" charset="-122"/>
                  </a:rPr>
                  <a:t>a[1]</a:t>
                </a:r>
              </a:p>
            </p:txBody>
          </p:sp>
        </p:grpSp>
        <p:sp>
          <p:nvSpPr>
            <p:cNvPr id="1157248" name="Text Box 128"/>
            <p:cNvSpPr txBox="1">
              <a:spLocks noChangeArrowheads="1"/>
            </p:cNvSpPr>
            <p:nvPr/>
          </p:nvSpPr>
          <p:spPr bwMode="auto">
            <a:xfrm>
              <a:off x="4603" y="1598"/>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rgbClr val="002060"/>
                  </a:solidFill>
                  <a:ea typeface="宋体" pitchFamily="2" charset="-122"/>
                </a:rPr>
                <a:t>2000</a:t>
              </a:r>
            </a:p>
          </p:txBody>
        </p:sp>
        <p:grpSp>
          <p:nvGrpSpPr>
            <p:cNvPr id="1157255" name="Group 135"/>
            <p:cNvGrpSpPr>
              <a:grpSpLocks/>
            </p:cNvGrpSpPr>
            <p:nvPr/>
          </p:nvGrpSpPr>
          <p:grpSpPr bwMode="auto">
            <a:xfrm>
              <a:off x="4404" y="1842"/>
              <a:ext cx="824" cy="1403"/>
              <a:chOff x="4559" y="1851"/>
              <a:chExt cx="708" cy="1403"/>
            </a:xfrm>
          </p:grpSpPr>
          <p:sp>
            <p:nvSpPr>
              <p:cNvPr id="1157249" name="Text Box 129"/>
              <p:cNvSpPr txBox="1">
                <a:spLocks noChangeArrowheads="1"/>
              </p:cNvSpPr>
              <p:nvPr/>
            </p:nvSpPr>
            <p:spPr bwMode="auto">
              <a:xfrm>
                <a:off x="4559" y="1851"/>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002060"/>
                    </a:solidFill>
                    <a:ea typeface="宋体" pitchFamily="2" charset="-122"/>
                  </a:rPr>
                  <a:t>a[0][0]  1</a:t>
                </a:r>
              </a:p>
            </p:txBody>
          </p:sp>
          <p:sp>
            <p:nvSpPr>
              <p:cNvPr id="1157250" name="Text Box 130"/>
              <p:cNvSpPr txBox="1">
                <a:spLocks noChangeArrowheads="1"/>
              </p:cNvSpPr>
              <p:nvPr/>
            </p:nvSpPr>
            <p:spPr bwMode="auto">
              <a:xfrm>
                <a:off x="4569" y="2086"/>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002060"/>
                    </a:solidFill>
                    <a:ea typeface="宋体" pitchFamily="2" charset="-122"/>
                  </a:rPr>
                  <a:t>a[0][1]  2</a:t>
                </a:r>
              </a:p>
            </p:txBody>
          </p:sp>
          <p:sp>
            <p:nvSpPr>
              <p:cNvPr id="1157251" name="Text Box 131"/>
              <p:cNvSpPr txBox="1">
                <a:spLocks noChangeArrowheads="1"/>
              </p:cNvSpPr>
              <p:nvPr/>
            </p:nvSpPr>
            <p:spPr bwMode="auto">
              <a:xfrm>
                <a:off x="4578" y="2302"/>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002060"/>
                    </a:solidFill>
                    <a:ea typeface="宋体" pitchFamily="2" charset="-122"/>
                  </a:rPr>
                  <a:t>a[0][2]  3</a:t>
                </a:r>
              </a:p>
            </p:txBody>
          </p:sp>
          <p:sp>
            <p:nvSpPr>
              <p:cNvPr id="1157252" name="Text Box 132"/>
              <p:cNvSpPr txBox="1">
                <a:spLocks noChangeArrowheads="1"/>
              </p:cNvSpPr>
              <p:nvPr/>
            </p:nvSpPr>
            <p:spPr bwMode="auto">
              <a:xfrm>
                <a:off x="4587" y="2536"/>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002060"/>
                    </a:solidFill>
                    <a:ea typeface="宋体" pitchFamily="2" charset="-122"/>
                  </a:rPr>
                  <a:t>a[1][0]  4</a:t>
                </a:r>
              </a:p>
            </p:txBody>
          </p:sp>
          <p:sp>
            <p:nvSpPr>
              <p:cNvPr id="1157253" name="Text Box 133"/>
              <p:cNvSpPr txBox="1">
                <a:spLocks noChangeArrowheads="1"/>
              </p:cNvSpPr>
              <p:nvPr/>
            </p:nvSpPr>
            <p:spPr bwMode="auto">
              <a:xfrm>
                <a:off x="4587" y="2761"/>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002060"/>
                    </a:solidFill>
                    <a:ea typeface="宋体" pitchFamily="2" charset="-122"/>
                  </a:rPr>
                  <a:t>a[1][1]  5</a:t>
                </a:r>
              </a:p>
            </p:txBody>
          </p:sp>
          <p:sp>
            <p:nvSpPr>
              <p:cNvPr id="1157254" name="Text Box 134"/>
              <p:cNvSpPr txBox="1">
                <a:spLocks noChangeArrowheads="1"/>
              </p:cNvSpPr>
              <p:nvPr/>
            </p:nvSpPr>
            <p:spPr bwMode="auto">
              <a:xfrm>
                <a:off x="4587" y="3004"/>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002060"/>
                    </a:solidFill>
                    <a:ea typeface="宋体" pitchFamily="2" charset="-122"/>
                  </a:rPr>
                  <a:t>a[1][2]  6</a:t>
                </a:r>
              </a:p>
            </p:txBody>
          </p:sp>
        </p:grpSp>
      </p:grpSp>
      <p:grpSp>
        <p:nvGrpSpPr>
          <p:cNvPr id="1157277" name="Group 157"/>
          <p:cNvGrpSpPr>
            <a:grpSpLocks/>
          </p:cNvGrpSpPr>
          <p:nvPr/>
        </p:nvGrpSpPr>
        <p:grpSpPr bwMode="auto">
          <a:xfrm>
            <a:off x="8489875" y="3309651"/>
            <a:ext cx="1395413" cy="2289175"/>
            <a:chOff x="4560" y="1616"/>
            <a:chExt cx="879" cy="1442"/>
          </a:xfrm>
        </p:grpSpPr>
        <p:grpSp>
          <p:nvGrpSpPr>
            <p:cNvPr id="1157260" name="Group 140"/>
            <p:cNvGrpSpPr>
              <a:grpSpLocks/>
            </p:cNvGrpSpPr>
            <p:nvPr/>
          </p:nvGrpSpPr>
          <p:grpSpPr bwMode="auto">
            <a:xfrm>
              <a:off x="4560" y="1616"/>
              <a:ext cx="363" cy="190"/>
              <a:chOff x="4803" y="1616"/>
              <a:chExt cx="363" cy="190"/>
            </a:xfrm>
          </p:grpSpPr>
          <p:sp>
            <p:nvSpPr>
              <p:cNvPr id="1157257" name="Line 137"/>
              <p:cNvSpPr>
                <a:spLocks noChangeShapeType="1"/>
              </p:cNvSpPr>
              <p:nvPr/>
            </p:nvSpPr>
            <p:spPr bwMode="auto">
              <a:xfrm>
                <a:off x="4803" y="1616"/>
                <a:ext cx="363" cy="0"/>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sp>
            <p:nvSpPr>
              <p:cNvPr id="1157258" name="Line 138"/>
              <p:cNvSpPr>
                <a:spLocks noChangeShapeType="1"/>
              </p:cNvSpPr>
              <p:nvPr/>
            </p:nvSpPr>
            <p:spPr bwMode="auto">
              <a:xfrm flipH="1">
                <a:off x="4985" y="1806"/>
                <a:ext cx="181"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59" name="Line 139"/>
              <p:cNvSpPr>
                <a:spLocks noChangeShapeType="1"/>
              </p:cNvSpPr>
              <p:nvPr/>
            </p:nvSpPr>
            <p:spPr bwMode="auto">
              <a:xfrm>
                <a:off x="5166" y="1616"/>
                <a:ext cx="0" cy="181"/>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grpSp>
        <p:sp>
          <p:nvSpPr>
            <p:cNvPr id="1157261" name="Text Box 141"/>
            <p:cNvSpPr txBox="1">
              <a:spLocks noChangeArrowheads="1"/>
            </p:cNvSpPr>
            <p:nvPr/>
          </p:nvSpPr>
          <p:spPr bwMode="auto">
            <a:xfrm>
              <a:off x="4981" y="1656"/>
              <a:ext cx="318"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ea typeface="宋体" pitchFamily="2" charset="-122"/>
                </a:rPr>
                <a:t>p</a:t>
              </a:r>
            </a:p>
          </p:txBody>
        </p:sp>
        <p:grpSp>
          <p:nvGrpSpPr>
            <p:cNvPr id="1157264" name="Group 144"/>
            <p:cNvGrpSpPr>
              <a:grpSpLocks/>
            </p:cNvGrpSpPr>
            <p:nvPr/>
          </p:nvGrpSpPr>
          <p:grpSpPr bwMode="auto">
            <a:xfrm>
              <a:off x="4740" y="1871"/>
              <a:ext cx="680" cy="250"/>
              <a:chOff x="4740" y="1871"/>
              <a:chExt cx="680" cy="250"/>
            </a:xfrm>
          </p:grpSpPr>
          <p:sp>
            <p:nvSpPr>
              <p:cNvPr id="1157262" name="Line 142"/>
              <p:cNvSpPr>
                <a:spLocks noChangeShapeType="1"/>
              </p:cNvSpPr>
              <p:nvPr/>
            </p:nvSpPr>
            <p:spPr bwMode="auto">
              <a:xfrm flipH="1">
                <a:off x="4740" y="2024"/>
                <a:ext cx="181"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63" name="Text Box 143"/>
              <p:cNvSpPr txBox="1">
                <a:spLocks noChangeArrowheads="1"/>
              </p:cNvSpPr>
              <p:nvPr/>
            </p:nvSpPr>
            <p:spPr bwMode="auto">
              <a:xfrm>
                <a:off x="4904" y="1871"/>
                <a:ext cx="51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p+1</a:t>
                </a:r>
              </a:p>
            </p:txBody>
          </p:sp>
        </p:grpSp>
        <p:grpSp>
          <p:nvGrpSpPr>
            <p:cNvPr id="1157265" name="Group 145"/>
            <p:cNvGrpSpPr>
              <a:grpSpLocks/>
            </p:cNvGrpSpPr>
            <p:nvPr/>
          </p:nvGrpSpPr>
          <p:grpSpPr bwMode="auto">
            <a:xfrm>
              <a:off x="4741" y="2124"/>
              <a:ext cx="680" cy="250"/>
              <a:chOff x="4740" y="1871"/>
              <a:chExt cx="680" cy="250"/>
            </a:xfrm>
          </p:grpSpPr>
          <p:sp>
            <p:nvSpPr>
              <p:cNvPr id="1157266" name="Line 146"/>
              <p:cNvSpPr>
                <a:spLocks noChangeShapeType="1"/>
              </p:cNvSpPr>
              <p:nvPr/>
            </p:nvSpPr>
            <p:spPr bwMode="auto">
              <a:xfrm flipH="1">
                <a:off x="4740" y="2024"/>
                <a:ext cx="181"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67" name="Text Box 147"/>
              <p:cNvSpPr txBox="1">
                <a:spLocks noChangeArrowheads="1"/>
              </p:cNvSpPr>
              <p:nvPr/>
            </p:nvSpPr>
            <p:spPr bwMode="auto">
              <a:xfrm>
                <a:off x="4904" y="1871"/>
                <a:ext cx="51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p+2</a:t>
                </a:r>
              </a:p>
            </p:txBody>
          </p:sp>
        </p:grpSp>
        <p:grpSp>
          <p:nvGrpSpPr>
            <p:cNvPr id="1157268" name="Group 148"/>
            <p:cNvGrpSpPr>
              <a:grpSpLocks/>
            </p:cNvGrpSpPr>
            <p:nvPr/>
          </p:nvGrpSpPr>
          <p:grpSpPr bwMode="auto">
            <a:xfrm>
              <a:off x="4741" y="2349"/>
              <a:ext cx="680" cy="250"/>
              <a:chOff x="4740" y="1871"/>
              <a:chExt cx="680" cy="250"/>
            </a:xfrm>
          </p:grpSpPr>
          <p:sp>
            <p:nvSpPr>
              <p:cNvPr id="1157269" name="Line 149"/>
              <p:cNvSpPr>
                <a:spLocks noChangeShapeType="1"/>
              </p:cNvSpPr>
              <p:nvPr/>
            </p:nvSpPr>
            <p:spPr bwMode="auto">
              <a:xfrm flipH="1">
                <a:off x="4740" y="2024"/>
                <a:ext cx="181"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70" name="Text Box 150"/>
              <p:cNvSpPr txBox="1">
                <a:spLocks noChangeArrowheads="1"/>
              </p:cNvSpPr>
              <p:nvPr/>
            </p:nvSpPr>
            <p:spPr bwMode="auto">
              <a:xfrm>
                <a:off x="4904" y="1871"/>
                <a:ext cx="51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p+3</a:t>
                </a:r>
              </a:p>
            </p:txBody>
          </p:sp>
        </p:grpSp>
        <p:grpSp>
          <p:nvGrpSpPr>
            <p:cNvPr id="1157271" name="Group 151"/>
            <p:cNvGrpSpPr>
              <a:grpSpLocks/>
            </p:cNvGrpSpPr>
            <p:nvPr/>
          </p:nvGrpSpPr>
          <p:grpSpPr bwMode="auto">
            <a:xfrm>
              <a:off x="4759" y="2574"/>
              <a:ext cx="680" cy="250"/>
              <a:chOff x="4740" y="1871"/>
              <a:chExt cx="680" cy="250"/>
            </a:xfrm>
          </p:grpSpPr>
          <p:sp>
            <p:nvSpPr>
              <p:cNvPr id="1157272" name="Line 152"/>
              <p:cNvSpPr>
                <a:spLocks noChangeShapeType="1"/>
              </p:cNvSpPr>
              <p:nvPr/>
            </p:nvSpPr>
            <p:spPr bwMode="auto">
              <a:xfrm flipH="1">
                <a:off x="4740" y="2024"/>
                <a:ext cx="181"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73" name="Text Box 153"/>
              <p:cNvSpPr txBox="1">
                <a:spLocks noChangeArrowheads="1"/>
              </p:cNvSpPr>
              <p:nvPr/>
            </p:nvSpPr>
            <p:spPr bwMode="auto">
              <a:xfrm>
                <a:off x="4904" y="1871"/>
                <a:ext cx="51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p+4</a:t>
                </a:r>
              </a:p>
            </p:txBody>
          </p:sp>
        </p:grpSp>
        <p:grpSp>
          <p:nvGrpSpPr>
            <p:cNvPr id="1157274" name="Group 154"/>
            <p:cNvGrpSpPr>
              <a:grpSpLocks/>
            </p:cNvGrpSpPr>
            <p:nvPr/>
          </p:nvGrpSpPr>
          <p:grpSpPr bwMode="auto">
            <a:xfrm>
              <a:off x="4759" y="2808"/>
              <a:ext cx="680" cy="250"/>
              <a:chOff x="4740" y="1871"/>
              <a:chExt cx="680" cy="250"/>
            </a:xfrm>
          </p:grpSpPr>
          <p:sp>
            <p:nvSpPr>
              <p:cNvPr id="1157275" name="Line 155"/>
              <p:cNvSpPr>
                <a:spLocks noChangeShapeType="1"/>
              </p:cNvSpPr>
              <p:nvPr/>
            </p:nvSpPr>
            <p:spPr bwMode="auto">
              <a:xfrm flipH="1">
                <a:off x="4740" y="2024"/>
                <a:ext cx="181"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76" name="Text Box 156"/>
              <p:cNvSpPr txBox="1">
                <a:spLocks noChangeArrowheads="1"/>
              </p:cNvSpPr>
              <p:nvPr/>
            </p:nvSpPr>
            <p:spPr bwMode="auto">
              <a:xfrm>
                <a:off x="4904" y="1871"/>
                <a:ext cx="51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p+5</a:t>
                </a:r>
              </a:p>
            </p:txBody>
          </p:sp>
        </p:grpSp>
      </p:grpSp>
      <p:grpSp>
        <p:nvGrpSpPr>
          <p:cNvPr id="1157284" name="Group 164"/>
          <p:cNvGrpSpPr>
            <a:grpSpLocks/>
          </p:cNvGrpSpPr>
          <p:nvPr/>
        </p:nvGrpSpPr>
        <p:grpSpPr bwMode="auto">
          <a:xfrm>
            <a:off x="9636050" y="3396964"/>
            <a:ext cx="1025525" cy="2187575"/>
            <a:chOff x="5021" y="1671"/>
            <a:chExt cx="646" cy="1378"/>
          </a:xfrm>
        </p:grpSpPr>
        <p:sp>
          <p:nvSpPr>
            <p:cNvPr id="1157278" name="Text Box 158"/>
            <p:cNvSpPr txBox="1">
              <a:spLocks noChangeArrowheads="1"/>
            </p:cNvSpPr>
            <p:nvPr/>
          </p:nvSpPr>
          <p:spPr bwMode="auto">
            <a:xfrm>
              <a:off x="5021" y="1671"/>
              <a:ext cx="544"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a[0]</a:t>
              </a:r>
            </a:p>
          </p:txBody>
        </p:sp>
        <p:sp>
          <p:nvSpPr>
            <p:cNvPr id="1157279" name="Text Box 159"/>
            <p:cNvSpPr txBox="1">
              <a:spLocks noChangeArrowheads="1"/>
            </p:cNvSpPr>
            <p:nvPr/>
          </p:nvSpPr>
          <p:spPr bwMode="auto">
            <a:xfrm>
              <a:off x="5022" y="1879"/>
              <a:ext cx="625"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a[0]+1</a:t>
              </a:r>
            </a:p>
          </p:txBody>
        </p:sp>
        <p:sp>
          <p:nvSpPr>
            <p:cNvPr id="1157280" name="Text Box 160"/>
            <p:cNvSpPr txBox="1">
              <a:spLocks noChangeArrowheads="1"/>
            </p:cNvSpPr>
            <p:nvPr/>
          </p:nvSpPr>
          <p:spPr bwMode="auto">
            <a:xfrm>
              <a:off x="5032" y="2123"/>
              <a:ext cx="625"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a[0]+2</a:t>
              </a:r>
            </a:p>
          </p:txBody>
        </p:sp>
        <p:sp>
          <p:nvSpPr>
            <p:cNvPr id="1157281" name="Text Box 161"/>
            <p:cNvSpPr txBox="1">
              <a:spLocks noChangeArrowheads="1"/>
            </p:cNvSpPr>
            <p:nvPr/>
          </p:nvSpPr>
          <p:spPr bwMode="auto">
            <a:xfrm>
              <a:off x="5033" y="2349"/>
              <a:ext cx="625"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a[0]+3</a:t>
              </a:r>
            </a:p>
          </p:txBody>
        </p:sp>
        <p:sp>
          <p:nvSpPr>
            <p:cNvPr id="1157282" name="Text Box 162"/>
            <p:cNvSpPr txBox="1">
              <a:spLocks noChangeArrowheads="1"/>
            </p:cNvSpPr>
            <p:nvPr/>
          </p:nvSpPr>
          <p:spPr bwMode="auto">
            <a:xfrm>
              <a:off x="5033" y="2583"/>
              <a:ext cx="625"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a[0]+4</a:t>
              </a:r>
            </a:p>
          </p:txBody>
        </p:sp>
        <p:sp>
          <p:nvSpPr>
            <p:cNvPr id="1157283" name="Text Box 163"/>
            <p:cNvSpPr txBox="1">
              <a:spLocks noChangeArrowheads="1"/>
            </p:cNvSpPr>
            <p:nvPr/>
          </p:nvSpPr>
          <p:spPr bwMode="auto">
            <a:xfrm>
              <a:off x="5042" y="2799"/>
              <a:ext cx="625"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a[0]+5</a:t>
              </a:r>
            </a:p>
          </p:txBody>
        </p:sp>
      </p:grpSp>
      <p:grpSp>
        <p:nvGrpSpPr>
          <p:cNvPr id="1157289" name="Group 169"/>
          <p:cNvGrpSpPr>
            <a:grpSpLocks/>
          </p:cNvGrpSpPr>
          <p:nvPr/>
        </p:nvGrpSpPr>
        <p:grpSpPr bwMode="auto">
          <a:xfrm>
            <a:off x="10523463" y="4420900"/>
            <a:ext cx="973137" cy="1143000"/>
            <a:chOff x="5238" y="2316"/>
            <a:chExt cx="613" cy="720"/>
          </a:xfrm>
        </p:grpSpPr>
        <p:sp>
          <p:nvSpPr>
            <p:cNvPr id="1157286" name="Text Box 166"/>
            <p:cNvSpPr txBox="1">
              <a:spLocks noChangeArrowheads="1"/>
            </p:cNvSpPr>
            <p:nvPr/>
          </p:nvSpPr>
          <p:spPr bwMode="auto">
            <a:xfrm>
              <a:off x="5239" y="2316"/>
              <a:ext cx="47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a[1]</a:t>
              </a:r>
            </a:p>
          </p:txBody>
        </p:sp>
        <p:sp>
          <p:nvSpPr>
            <p:cNvPr id="1157287" name="Text Box 167"/>
            <p:cNvSpPr txBox="1">
              <a:spLocks noChangeArrowheads="1"/>
            </p:cNvSpPr>
            <p:nvPr/>
          </p:nvSpPr>
          <p:spPr bwMode="auto">
            <a:xfrm>
              <a:off x="5238" y="2560"/>
              <a:ext cx="612"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a[1]+1</a:t>
              </a:r>
            </a:p>
          </p:txBody>
        </p:sp>
        <p:sp>
          <p:nvSpPr>
            <p:cNvPr id="1157288" name="Text Box 168"/>
            <p:cNvSpPr txBox="1">
              <a:spLocks noChangeArrowheads="1"/>
            </p:cNvSpPr>
            <p:nvPr/>
          </p:nvSpPr>
          <p:spPr bwMode="auto">
            <a:xfrm>
              <a:off x="5239" y="2786"/>
              <a:ext cx="612"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a typeface="宋体" pitchFamily="2" charset="-122"/>
                </a:rPr>
                <a:t>a[1]+2</a:t>
              </a:r>
            </a:p>
          </p:txBody>
        </p:sp>
      </p:grpSp>
      <p:grpSp>
        <p:nvGrpSpPr>
          <p:cNvPr id="1157293" name="Group 173"/>
          <p:cNvGrpSpPr>
            <a:grpSpLocks/>
          </p:cNvGrpSpPr>
          <p:nvPr/>
        </p:nvGrpSpPr>
        <p:grpSpPr bwMode="auto">
          <a:xfrm>
            <a:off x="9213774" y="2731800"/>
            <a:ext cx="1887538" cy="649288"/>
            <a:chOff x="4413" y="1252"/>
            <a:chExt cx="1189" cy="409"/>
          </a:xfrm>
        </p:grpSpPr>
        <p:sp>
          <p:nvSpPr>
            <p:cNvPr id="1157291" name="AutoShape 171"/>
            <p:cNvSpPr>
              <a:spLocks/>
            </p:cNvSpPr>
            <p:nvPr/>
          </p:nvSpPr>
          <p:spPr bwMode="auto">
            <a:xfrm rot="5400000">
              <a:off x="4916" y="974"/>
              <a:ext cx="184" cy="1189"/>
            </a:xfrm>
            <a:prstGeom prst="leftBrace">
              <a:avLst>
                <a:gd name="adj1" fmla="val 53850"/>
                <a:gd name="adj2" fmla="val 50000"/>
              </a:avLst>
            </a:prstGeom>
            <a:noFill/>
            <a:ln w="28575">
              <a:solidFill>
                <a:schemeClr val="accent2">
                  <a:lumMod val="50000"/>
                </a:schemeClr>
              </a:solidFill>
              <a:round/>
              <a:headEnd/>
              <a:tailEnd/>
            </a:ln>
            <a:effectLst>
              <a:outerShdw dist="35921" dir="2700000" algn="ctr" rotWithShape="0">
                <a:schemeClr val="bg2"/>
              </a:outerShdw>
            </a:effectLst>
          </p:spPr>
          <p:txBody>
            <a:bodyPr wrap="none" anchor="ctr"/>
            <a:lstStyle/>
            <a:p>
              <a:endParaRPr lang="zh-CN" altLang="en-US">
                <a:solidFill>
                  <a:schemeClr val="accent2">
                    <a:lumMod val="50000"/>
                  </a:schemeClr>
                </a:solidFill>
              </a:endParaRPr>
            </a:p>
          </p:txBody>
        </p:sp>
        <p:sp>
          <p:nvSpPr>
            <p:cNvPr id="1157292" name="Text Box 172"/>
            <p:cNvSpPr txBox="1">
              <a:spLocks noChangeArrowheads="1"/>
            </p:cNvSpPr>
            <p:nvPr/>
          </p:nvSpPr>
          <p:spPr bwMode="auto">
            <a:xfrm>
              <a:off x="4785" y="1252"/>
              <a:ext cx="680" cy="250"/>
            </a:xfrm>
            <a:prstGeom prst="rect">
              <a:avLst/>
            </a:prstGeom>
            <a:noFill/>
            <a:ln w="9525">
              <a:noFill/>
              <a:miter lim="800000"/>
              <a:headEnd/>
              <a:tailEnd/>
            </a:ln>
            <a:effectLst/>
          </p:spPr>
          <p:txBody>
            <a:bodyPr>
              <a:spAutoFit/>
            </a:bodyPr>
            <a:lstStyle/>
            <a:p>
              <a:pPr>
                <a:lnSpc>
                  <a:spcPct val="100000"/>
                </a:lnSpc>
                <a:spcBef>
                  <a:spcPct val="50000"/>
                </a:spcBef>
              </a:pPr>
              <a:r>
                <a:rPr lang="zh-CN" altLang="en-US" sz="2000" dirty="0">
                  <a:solidFill>
                    <a:schemeClr val="accent2">
                      <a:lumMod val="50000"/>
                    </a:schemeClr>
                  </a:solidFill>
                  <a:latin typeface="楷体" pitchFamily="49" charset="-122"/>
                  <a:ea typeface="楷体" pitchFamily="49" charset="-122"/>
                </a:rPr>
                <a:t>地址</a:t>
              </a:r>
            </a:p>
          </p:txBody>
        </p:sp>
      </p:grpSp>
      <p:sp>
        <p:nvSpPr>
          <p:cNvPr id="1157294" name="AutoShape 174"/>
          <p:cNvSpPr>
            <a:spLocks noChangeArrowheads="1"/>
          </p:cNvSpPr>
          <p:nvPr/>
        </p:nvSpPr>
        <p:spPr bwMode="auto">
          <a:xfrm>
            <a:off x="6188943" y="2216259"/>
            <a:ext cx="1296987" cy="719138"/>
          </a:xfrm>
          <a:prstGeom prst="wedgeRoundRectCallout">
            <a:avLst>
              <a:gd name="adj1" fmla="val 61622"/>
              <a:gd name="adj2" fmla="val 90779"/>
              <a:gd name="adj3" fmla="val 16667"/>
            </a:avLst>
          </a:prstGeom>
          <a:gradFill rotWithShape="1">
            <a:gsLst>
              <a:gs pos="0">
                <a:srgbClr val="CFCFD1"/>
              </a:gs>
              <a:gs pos="100000">
                <a:schemeClr val="bg1"/>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1800">
                <a:solidFill>
                  <a:srgbClr val="CC0000"/>
                </a:solidFill>
                <a:latin typeface="+mn-lt"/>
                <a:ea typeface="楷体" pitchFamily="49" charset="-122"/>
              </a:rPr>
              <a:t>指针</a:t>
            </a:r>
            <a:r>
              <a:rPr lang="en-US" altLang="zh-CN" sz="1800">
                <a:solidFill>
                  <a:srgbClr val="CC0000"/>
                </a:solidFill>
                <a:latin typeface="+mn-lt"/>
                <a:ea typeface="楷体" pitchFamily="49" charset="-122"/>
              </a:rPr>
              <a:t>P</a:t>
            </a:r>
            <a:r>
              <a:rPr lang="zh-CN" altLang="en-US" sz="1800">
                <a:solidFill>
                  <a:srgbClr val="CC0000"/>
                </a:solidFill>
                <a:latin typeface="+mn-lt"/>
                <a:ea typeface="楷体" pitchFamily="49" charset="-122"/>
              </a:rPr>
              <a:t>所占内存单 </a:t>
            </a:r>
          </a:p>
        </p:txBody>
      </p:sp>
      <p:grpSp>
        <p:nvGrpSpPr>
          <p:cNvPr id="1157297" name="Group 177"/>
          <p:cNvGrpSpPr>
            <a:grpSpLocks/>
          </p:cNvGrpSpPr>
          <p:nvPr/>
        </p:nvGrpSpPr>
        <p:grpSpPr bwMode="auto">
          <a:xfrm>
            <a:off x="6118149" y="3181063"/>
            <a:ext cx="1093788" cy="487362"/>
            <a:chOff x="2463" y="1535"/>
            <a:chExt cx="689" cy="307"/>
          </a:xfrm>
        </p:grpSpPr>
        <p:sp>
          <p:nvSpPr>
            <p:cNvPr id="1157295" name="Line 175"/>
            <p:cNvSpPr>
              <a:spLocks noChangeShapeType="1"/>
            </p:cNvSpPr>
            <p:nvPr/>
          </p:nvSpPr>
          <p:spPr bwMode="auto">
            <a:xfrm>
              <a:off x="2789" y="1661"/>
              <a:ext cx="363" cy="181"/>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96" name="Text Box 176"/>
            <p:cNvSpPr txBox="1">
              <a:spLocks noChangeArrowheads="1"/>
            </p:cNvSpPr>
            <p:nvPr/>
          </p:nvSpPr>
          <p:spPr bwMode="auto">
            <a:xfrm>
              <a:off x="2463" y="1535"/>
              <a:ext cx="454" cy="231"/>
            </a:xfrm>
            <a:prstGeom prst="rect">
              <a:avLst/>
            </a:prstGeom>
            <a:noFill/>
            <a:ln w="9525">
              <a:noFill/>
              <a:miter lim="800000"/>
              <a:headEnd/>
              <a:tailEnd/>
            </a:ln>
            <a:effectLst/>
          </p:spPr>
          <p:txBody>
            <a:bodyPr>
              <a:spAutoFit/>
            </a:bodyPr>
            <a:lstStyle/>
            <a:p>
              <a:pPr>
                <a:lnSpc>
                  <a:spcPct val="100000"/>
                </a:lnSpc>
                <a:spcBef>
                  <a:spcPct val="50000"/>
                </a:spcBef>
              </a:pPr>
              <a:r>
                <a:rPr lang="en-US" altLang="zh-CN" sz="1800" dirty="0">
                  <a:solidFill>
                    <a:srgbClr val="C00000"/>
                  </a:solidFill>
                  <a:ea typeface="宋体" pitchFamily="2" charset="-122"/>
                </a:rPr>
                <a:t>a[0]</a:t>
              </a:r>
            </a:p>
          </p:txBody>
        </p:sp>
      </p:grpSp>
      <p:grpSp>
        <p:nvGrpSpPr>
          <p:cNvPr id="1157298" name="Group 178"/>
          <p:cNvGrpSpPr>
            <a:grpSpLocks/>
          </p:cNvGrpSpPr>
          <p:nvPr/>
        </p:nvGrpSpPr>
        <p:grpSpPr bwMode="auto">
          <a:xfrm>
            <a:off x="6091163" y="4254213"/>
            <a:ext cx="1093787" cy="487362"/>
            <a:chOff x="2463" y="1535"/>
            <a:chExt cx="689" cy="307"/>
          </a:xfrm>
        </p:grpSpPr>
        <p:sp>
          <p:nvSpPr>
            <p:cNvPr id="1157299" name="Line 179"/>
            <p:cNvSpPr>
              <a:spLocks noChangeShapeType="1"/>
            </p:cNvSpPr>
            <p:nvPr/>
          </p:nvSpPr>
          <p:spPr bwMode="auto">
            <a:xfrm>
              <a:off x="2789" y="1661"/>
              <a:ext cx="363" cy="181"/>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dirty="0">
                <a:solidFill>
                  <a:srgbClr val="C00000"/>
                </a:solidFill>
              </a:endParaRPr>
            </a:p>
          </p:txBody>
        </p:sp>
        <p:sp>
          <p:nvSpPr>
            <p:cNvPr id="1157300" name="Text Box 180"/>
            <p:cNvSpPr txBox="1">
              <a:spLocks noChangeArrowheads="1"/>
            </p:cNvSpPr>
            <p:nvPr/>
          </p:nvSpPr>
          <p:spPr bwMode="auto">
            <a:xfrm>
              <a:off x="2463" y="1535"/>
              <a:ext cx="454" cy="231"/>
            </a:xfrm>
            <a:prstGeom prst="rect">
              <a:avLst/>
            </a:prstGeom>
            <a:noFill/>
            <a:ln w="9525">
              <a:noFill/>
              <a:miter lim="800000"/>
              <a:headEnd/>
              <a:tailEnd/>
            </a:ln>
            <a:effectLst/>
          </p:spPr>
          <p:txBody>
            <a:bodyPr>
              <a:spAutoFit/>
            </a:bodyPr>
            <a:lstStyle/>
            <a:p>
              <a:pPr>
                <a:lnSpc>
                  <a:spcPct val="100000"/>
                </a:lnSpc>
                <a:spcBef>
                  <a:spcPct val="50000"/>
                </a:spcBef>
              </a:pPr>
              <a:r>
                <a:rPr lang="en-US" altLang="zh-CN" sz="1800">
                  <a:solidFill>
                    <a:srgbClr val="C00000"/>
                  </a:solidFill>
                  <a:ea typeface="宋体" pitchFamily="2" charset="-122"/>
                </a:rPr>
                <a:t>a[1]</a:t>
              </a:r>
            </a:p>
          </p:txBody>
        </p:sp>
      </p:grpSp>
      <p:sp>
        <p:nvSpPr>
          <p:cNvPr id="1157301" name="Rectangle 181"/>
          <p:cNvSpPr>
            <a:spLocks noChangeArrowheads="1"/>
          </p:cNvSpPr>
          <p:nvPr/>
        </p:nvSpPr>
        <p:spPr bwMode="auto">
          <a:xfrm>
            <a:off x="6122789" y="5419822"/>
            <a:ext cx="5940673" cy="1165225"/>
          </a:xfrm>
          <a:prstGeom prst="rect">
            <a:avLst/>
          </a:prstGeom>
          <a:gradFill flip="none" rotWithShape="1">
            <a:gsLst>
              <a:gs pos="0">
                <a:srgbClr val="CFCFD1"/>
              </a:gs>
              <a:gs pos="100000">
                <a:schemeClr val="bg1"/>
              </a:gs>
            </a:gsLst>
            <a:path path="circle">
              <a:fillToRect l="100000" b="100000"/>
            </a:path>
            <a:tileRect t="-100000" r="-100000"/>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dirty="0">
                <a:solidFill>
                  <a:srgbClr val="C00000"/>
                </a:solidFill>
                <a:ea typeface="隶书" pitchFamily="49" charset="-122"/>
              </a:rPr>
              <a:t>     </a:t>
            </a:r>
            <a:r>
              <a:rPr lang="zh-CN" altLang="en-US" sz="2000" dirty="0">
                <a:solidFill>
                  <a:srgbClr val="C00000"/>
                </a:solidFill>
                <a:ea typeface="隶书" pitchFamily="49" charset="-122"/>
              </a:rPr>
              <a:t>当指针</a:t>
            </a:r>
            <a:r>
              <a:rPr lang="en-US" altLang="zh-CN" sz="2000" dirty="0">
                <a:solidFill>
                  <a:srgbClr val="C00000"/>
                </a:solidFill>
                <a:ea typeface="隶书" pitchFamily="49" charset="-122"/>
              </a:rPr>
              <a:t>p</a:t>
            </a:r>
            <a:r>
              <a:rPr lang="zh-CN" altLang="en-US" sz="2000" dirty="0">
                <a:solidFill>
                  <a:srgbClr val="C00000"/>
                </a:solidFill>
                <a:ea typeface="隶书" pitchFamily="49" charset="-122"/>
              </a:rPr>
              <a:t>指向这个二维数组时，其实</a:t>
            </a:r>
            <a:r>
              <a:rPr lang="en-US" altLang="zh-CN" sz="2000" dirty="0">
                <a:solidFill>
                  <a:srgbClr val="C00000"/>
                </a:solidFill>
                <a:ea typeface="隶书" pitchFamily="49" charset="-122"/>
              </a:rPr>
              <a:t>p</a:t>
            </a:r>
            <a:r>
              <a:rPr lang="zh-CN" altLang="en-US" sz="2000" dirty="0">
                <a:solidFill>
                  <a:srgbClr val="C00000"/>
                </a:solidFill>
                <a:ea typeface="隶书" pitchFamily="49" charset="-122"/>
              </a:rPr>
              <a:t>就相当于一个一维数组，因此访问二维数组中的元素可分别用</a:t>
            </a:r>
            <a:r>
              <a:rPr lang="en-US" altLang="zh-CN" sz="2000" dirty="0">
                <a:solidFill>
                  <a:srgbClr val="C00000"/>
                </a:solidFill>
                <a:ea typeface="隶书" pitchFamily="49" charset="-122"/>
              </a:rPr>
              <a:t>p[0]…p[5]</a:t>
            </a:r>
            <a:r>
              <a:rPr lang="zh-CN" altLang="en-US" sz="2000" dirty="0">
                <a:solidFill>
                  <a:srgbClr val="C00000"/>
                </a:solidFill>
                <a:ea typeface="隶书" pitchFamily="49" charset="-122"/>
              </a:rPr>
              <a:t>或*</a:t>
            </a:r>
            <a:r>
              <a:rPr lang="en-US" altLang="zh-CN" sz="2000" dirty="0">
                <a:solidFill>
                  <a:srgbClr val="C00000"/>
                </a:solidFill>
                <a:ea typeface="隶书" pitchFamily="49" charset="-122"/>
              </a:rPr>
              <a:t>(p+0)…*(p+5)</a:t>
            </a:r>
            <a:r>
              <a:rPr lang="zh-CN" altLang="en-US" sz="2000" dirty="0">
                <a:solidFill>
                  <a:srgbClr val="C00000"/>
                </a:solidFill>
                <a:ea typeface="隶书" pitchFamily="49" charset="-122"/>
              </a:rPr>
              <a:t>来表示</a:t>
            </a:r>
            <a:r>
              <a:rPr lang="zh-CN" altLang="en-US" b="0" dirty="0">
                <a:solidFill>
                  <a:srgbClr val="C00000"/>
                </a:solidFill>
                <a:ea typeface="宋体" pitchFamily="2" charset="-122"/>
              </a:rPr>
              <a:t> </a:t>
            </a:r>
          </a:p>
        </p:txBody>
      </p:sp>
      <p:sp>
        <p:nvSpPr>
          <p:cNvPr id="1157303" name="Rectangle 183" descr="信纸"/>
          <p:cNvSpPr>
            <a:spLocks noChangeArrowheads="1"/>
          </p:cNvSpPr>
          <p:nvPr/>
        </p:nvSpPr>
        <p:spPr bwMode="auto">
          <a:xfrm>
            <a:off x="1456324" y="1730038"/>
            <a:ext cx="4529747" cy="5016758"/>
          </a:xfrm>
          <a:prstGeom prst="rect">
            <a:avLst/>
          </a:prstGeom>
          <a:gradFill>
            <a:gsLst>
              <a:gs pos="0">
                <a:srgbClr val="CFCFD1"/>
              </a:gs>
              <a:gs pos="100000">
                <a:schemeClr val="bg1">
                  <a:lumMod val="95000"/>
                </a:schemeClr>
              </a:gs>
            </a:gsLst>
            <a:lin ang="135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r>
              <a:rPr lang="en-US" altLang="zh-CN" sz="2000" dirty="0"/>
              <a:t>#include &lt;</a:t>
            </a:r>
            <a:r>
              <a:rPr lang="en-US" altLang="zh-CN" sz="2000" dirty="0" err="1"/>
              <a:t>stdio.h</a:t>
            </a:r>
            <a:r>
              <a:rPr lang="en-US" altLang="zh-CN" sz="2000" dirty="0"/>
              <a:t>&gt;</a:t>
            </a:r>
          </a:p>
          <a:p>
            <a:pPr marL="342900" indent="-342900"/>
            <a:r>
              <a:rPr lang="en-US" altLang="zh-CN" sz="2000" dirty="0" err="1">
                <a:solidFill>
                  <a:srgbClr val="CC0000"/>
                </a:solidFill>
              </a:rPr>
              <a:t>int</a:t>
            </a:r>
            <a:r>
              <a:rPr lang="en-US" altLang="zh-CN" sz="2000" dirty="0">
                <a:solidFill>
                  <a:srgbClr val="CC0000"/>
                </a:solidFill>
              </a:rPr>
              <a:t> main ( )</a:t>
            </a:r>
          </a:p>
          <a:p>
            <a:pPr marL="342900" indent="-342900"/>
            <a:r>
              <a:rPr lang="en-US" altLang="zh-CN" sz="2000" dirty="0"/>
              <a:t>{</a:t>
            </a:r>
          </a:p>
          <a:p>
            <a:pPr marL="342900" indent="-342900"/>
            <a:r>
              <a:rPr lang="en-US" altLang="zh-CN" sz="2000" dirty="0"/>
              <a:t>  short int a[2][3] = {{1, 2, 3}, {4, 5, 6}};</a:t>
            </a:r>
          </a:p>
          <a:p>
            <a:pPr marL="342900" indent="-342900"/>
            <a:r>
              <a:rPr lang="en-US" altLang="zh-CN" sz="2000" dirty="0"/>
              <a:t>  short int </a:t>
            </a:r>
            <a:r>
              <a:rPr lang="en-US" altLang="zh-CN" sz="2000" dirty="0" err="1"/>
              <a:t>i</a:t>
            </a:r>
            <a:r>
              <a:rPr lang="en-US" altLang="zh-CN" sz="2000" dirty="0"/>
              <a:t>, j, *p;</a:t>
            </a:r>
          </a:p>
          <a:p>
            <a:pPr marL="342900" indent="-342900"/>
            <a:endParaRPr lang="en-US" altLang="zh-CN" sz="2000" dirty="0"/>
          </a:p>
          <a:p>
            <a:pPr marL="342900" indent="-342900"/>
            <a:r>
              <a:rPr lang="en-US" altLang="zh-CN" sz="2000" dirty="0">
                <a:solidFill>
                  <a:srgbClr val="C00000"/>
                </a:solidFill>
              </a:rPr>
              <a:t>  p = &amp;a[0][0];  </a:t>
            </a:r>
          </a:p>
          <a:p>
            <a:pPr marL="342900" indent="-342900"/>
            <a:r>
              <a:rPr lang="en-US" altLang="zh-CN" sz="2000" dirty="0"/>
              <a:t>  for (</a:t>
            </a:r>
            <a:r>
              <a:rPr lang="en-US" altLang="zh-CN" sz="2000" dirty="0" err="1"/>
              <a:t>i</a:t>
            </a:r>
            <a:r>
              <a:rPr lang="en-US" altLang="zh-CN" sz="2000" dirty="0"/>
              <a:t> = 0; </a:t>
            </a:r>
            <a:r>
              <a:rPr lang="en-US" altLang="zh-CN" sz="2000" dirty="0" err="1"/>
              <a:t>i</a:t>
            </a:r>
            <a:r>
              <a:rPr lang="en-US" altLang="zh-CN" sz="2000" dirty="0"/>
              <a:t> &lt; 2; </a:t>
            </a:r>
            <a:r>
              <a:rPr lang="en-US" altLang="zh-CN" sz="2000" dirty="0" err="1"/>
              <a:t>i</a:t>
            </a:r>
            <a:r>
              <a:rPr lang="en-US" altLang="zh-CN" sz="2000" dirty="0"/>
              <a:t>++)</a:t>
            </a:r>
            <a:endParaRPr lang="en-US" altLang="zh-CN" sz="2000" dirty="0">
              <a:solidFill>
                <a:schemeClr val="accent2"/>
              </a:solidFill>
            </a:endParaRPr>
          </a:p>
          <a:p>
            <a:pPr marL="342900" indent="-342900"/>
            <a:r>
              <a:rPr lang="en-US" altLang="zh-CN" sz="2000" dirty="0"/>
              <a:t>  {</a:t>
            </a:r>
          </a:p>
          <a:p>
            <a:pPr marL="342900" indent="-342900"/>
            <a:r>
              <a:rPr lang="en-US" altLang="zh-CN" sz="2000" dirty="0"/>
              <a:t>    for (j = 0; j &lt; 3; j++)</a:t>
            </a:r>
          </a:p>
          <a:p>
            <a:pPr marL="342900" indent="-342900"/>
            <a:r>
              <a:rPr lang="en-US" altLang="zh-CN" sz="2000" dirty="0"/>
              <a:t>      </a:t>
            </a:r>
            <a:r>
              <a:rPr lang="en-US" altLang="zh-CN" sz="2000" dirty="0" err="1"/>
              <a:t>printf</a:t>
            </a:r>
            <a:r>
              <a:rPr lang="en-US" altLang="zh-CN" sz="2000" dirty="0"/>
              <a:t> ("a[%d][%d] = %d ",</a:t>
            </a:r>
          </a:p>
          <a:p>
            <a:pPr marL="342900" indent="-342900"/>
            <a:r>
              <a:rPr lang="en-US" altLang="zh-CN" sz="2000" dirty="0"/>
              <a:t>                                 </a:t>
            </a:r>
            <a:r>
              <a:rPr lang="en-US" altLang="zh-CN" sz="2000" dirty="0" err="1"/>
              <a:t>i</a:t>
            </a:r>
            <a:r>
              <a:rPr lang="en-US" altLang="zh-CN" sz="2000" dirty="0"/>
              <a:t>, j, </a:t>
            </a:r>
            <a:r>
              <a:rPr lang="en-US" altLang="zh-CN" sz="2000" dirty="0">
                <a:solidFill>
                  <a:srgbClr val="C00000"/>
                </a:solidFill>
              </a:rPr>
              <a:t>*(p + </a:t>
            </a:r>
            <a:r>
              <a:rPr lang="en-US" altLang="zh-CN" sz="2000" dirty="0" err="1">
                <a:solidFill>
                  <a:srgbClr val="C00000"/>
                </a:solidFill>
              </a:rPr>
              <a:t>i</a:t>
            </a:r>
            <a:r>
              <a:rPr lang="en-US" altLang="zh-CN" sz="2000" dirty="0">
                <a:solidFill>
                  <a:srgbClr val="C00000"/>
                </a:solidFill>
              </a:rPr>
              <a:t>*3 + j));  </a:t>
            </a:r>
          </a:p>
          <a:p>
            <a:pPr marL="342900" indent="-342900"/>
            <a:r>
              <a:rPr lang="en-US" altLang="zh-CN" sz="2000" dirty="0"/>
              <a:t>    </a:t>
            </a:r>
            <a:r>
              <a:rPr lang="en-US" altLang="zh-CN" sz="2000" dirty="0" err="1"/>
              <a:t>printf</a:t>
            </a:r>
            <a:r>
              <a:rPr lang="en-US" altLang="zh-CN" sz="2000" dirty="0"/>
              <a:t> ("\n");   </a:t>
            </a:r>
          </a:p>
          <a:p>
            <a:pPr marL="342900" indent="-342900"/>
            <a:r>
              <a:rPr lang="en-US" altLang="zh-CN" sz="2000" dirty="0"/>
              <a:t>  }  </a:t>
            </a:r>
          </a:p>
          <a:p>
            <a:pPr marL="342900" indent="-342900"/>
            <a:r>
              <a:rPr lang="en-US" altLang="zh-CN" sz="2000" dirty="0"/>
              <a:t>  return 0; </a:t>
            </a:r>
          </a:p>
          <a:p>
            <a:pPr marL="342900" indent="-342900"/>
            <a:r>
              <a:rPr lang="en-US" altLang="zh-CN" sz="2000" dirty="0"/>
              <a:t>}</a:t>
            </a:r>
          </a:p>
        </p:txBody>
      </p:sp>
      <p:sp>
        <p:nvSpPr>
          <p:cNvPr id="1157302" name="Rectangle 182"/>
          <p:cNvSpPr>
            <a:spLocks noChangeArrowheads="1"/>
          </p:cNvSpPr>
          <p:nvPr/>
        </p:nvSpPr>
        <p:spPr bwMode="auto">
          <a:xfrm>
            <a:off x="1094150" y="2605403"/>
            <a:ext cx="8526025" cy="2568575"/>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zh-CN" altLang="en-US" sz="2000" dirty="0">
                <a:solidFill>
                  <a:srgbClr val="C00000"/>
                </a:solidFill>
                <a:latin typeface="+mn-lt"/>
                <a:ea typeface="楷体" pitchFamily="49" charset="-122"/>
              </a:rPr>
              <a:t>注意：假设有一个</a:t>
            </a:r>
            <a:r>
              <a:rPr lang="en-US" altLang="zh-CN" sz="2000" dirty="0">
                <a:solidFill>
                  <a:srgbClr val="C00000"/>
                </a:solidFill>
                <a:latin typeface="+mn-lt"/>
                <a:ea typeface="楷体" pitchFamily="49" charset="-122"/>
              </a:rPr>
              <a:t>m</a:t>
            </a:r>
            <a:r>
              <a:rPr lang="zh-CN" altLang="en-US" sz="2000" dirty="0">
                <a:solidFill>
                  <a:srgbClr val="C00000"/>
                </a:solidFill>
                <a:latin typeface="+mn-lt"/>
                <a:ea typeface="楷体" pitchFamily="49" charset="-122"/>
              </a:rPr>
              <a:t>行</a:t>
            </a:r>
            <a:r>
              <a:rPr lang="en-US" altLang="zh-CN" sz="2000" dirty="0">
                <a:solidFill>
                  <a:srgbClr val="C00000"/>
                </a:solidFill>
                <a:latin typeface="+mn-lt"/>
                <a:ea typeface="楷体" pitchFamily="49" charset="-122"/>
              </a:rPr>
              <a:t>n</a:t>
            </a:r>
            <a:r>
              <a:rPr lang="zh-CN" altLang="en-US" sz="2000" dirty="0">
                <a:solidFill>
                  <a:srgbClr val="C00000"/>
                </a:solidFill>
                <a:latin typeface="+mn-lt"/>
                <a:ea typeface="楷体" pitchFamily="49" charset="-122"/>
              </a:rPr>
              <a:t>列的二维数组</a:t>
            </a:r>
            <a:r>
              <a:rPr lang="en-US" altLang="zh-CN" sz="2000" dirty="0">
                <a:solidFill>
                  <a:srgbClr val="C00000"/>
                </a:solidFill>
                <a:latin typeface="+mn-lt"/>
                <a:ea typeface="楷体" pitchFamily="49" charset="-122"/>
              </a:rPr>
              <a:t>a</a:t>
            </a:r>
            <a:r>
              <a:rPr lang="zh-CN" altLang="en-US" sz="2000" dirty="0">
                <a:solidFill>
                  <a:srgbClr val="C00000"/>
                </a:solidFill>
                <a:latin typeface="+mn-lt"/>
                <a:ea typeface="楷体" pitchFamily="49" charset="-122"/>
              </a:rPr>
              <a:t>：</a:t>
            </a:r>
          </a:p>
          <a:p>
            <a:pPr marL="265113" indent="-265113">
              <a:lnSpc>
                <a:spcPct val="100000"/>
              </a:lnSpc>
              <a:spcBef>
                <a:spcPct val="0"/>
              </a:spcBef>
              <a:buClr>
                <a:srgbClr val="C00000"/>
              </a:buClr>
              <a:buFont typeface="Wingdings" pitchFamily="2" charset="2"/>
              <a:buChar char="Ø"/>
            </a:pPr>
            <a:r>
              <a:rPr lang="zh-CN" altLang="en-US" sz="2000" dirty="0">
                <a:latin typeface="+mn-lt"/>
                <a:ea typeface="楷体" pitchFamily="49" charset="-122"/>
              </a:rPr>
              <a:t> </a:t>
            </a:r>
            <a:r>
              <a:rPr lang="en-US" altLang="zh-CN" sz="2000" dirty="0">
                <a:latin typeface="+mn-lt"/>
                <a:ea typeface="楷体" pitchFamily="49" charset="-122"/>
              </a:rPr>
              <a:t>a[</a:t>
            </a:r>
            <a:r>
              <a:rPr lang="en-US" altLang="zh-CN" sz="2000" dirty="0" err="1">
                <a:latin typeface="+mn-lt"/>
                <a:ea typeface="楷体" pitchFamily="49" charset="-122"/>
              </a:rPr>
              <a:t>i</a:t>
            </a:r>
            <a:r>
              <a:rPr lang="en-US" altLang="zh-CN" sz="2000" dirty="0">
                <a:latin typeface="+mn-lt"/>
                <a:ea typeface="楷体" pitchFamily="49" charset="-122"/>
              </a:rPr>
              <a:t>]</a:t>
            </a:r>
            <a:r>
              <a:rPr lang="zh-CN" altLang="en-US" sz="2000" dirty="0">
                <a:latin typeface="+mn-lt"/>
                <a:ea typeface="楷体" pitchFamily="49" charset="-122"/>
              </a:rPr>
              <a:t>（</a:t>
            </a:r>
            <a:r>
              <a:rPr lang="en-US" altLang="zh-CN" sz="2000" dirty="0" err="1">
                <a:latin typeface="+mn-lt"/>
                <a:ea typeface="楷体" pitchFamily="49" charset="-122"/>
              </a:rPr>
              <a:t>i</a:t>
            </a:r>
            <a:r>
              <a:rPr lang="zh-CN" altLang="en-US" sz="2000" dirty="0">
                <a:latin typeface="+mn-lt"/>
                <a:ea typeface="楷体" pitchFamily="49" charset="-122"/>
              </a:rPr>
              <a:t>在</a:t>
            </a:r>
            <a:r>
              <a:rPr lang="en-US" altLang="zh-CN" sz="2000" dirty="0">
                <a:latin typeface="+mn-lt"/>
                <a:ea typeface="楷体" pitchFamily="49" charset="-122"/>
              </a:rPr>
              <a:t>0</a:t>
            </a:r>
            <a:r>
              <a:rPr lang="zh-CN" altLang="en-US" sz="2000" dirty="0">
                <a:latin typeface="+mn-lt"/>
                <a:ea typeface="楷体" pitchFamily="49" charset="-122"/>
              </a:rPr>
              <a:t>到</a:t>
            </a:r>
            <a:r>
              <a:rPr lang="en-US" altLang="zh-CN" sz="2000" dirty="0">
                <a:latin typeface="+mn-lt"/>
                <a:ea typeface="楷体" pitchFamily="49" charset="-122"/>
              </a:rPr>
              <a:t>m-1</a:t>
            </a:r>
            <a:r>
              <a:rPr lang="zh-CN" altLang="en-US" sz="2000" dirty="0">
                <a:latin typeface="+mn-lt"/>
                <a:ea typeface="楷体" pitchFamily="49" charset="-122"/>
              </a:rPr>
              <a:t>之间）为第</a:t>
            </a:r>
            <a:r>
              <a:rPr lang="en-US" altLang="zh-CN" sz="2000" dirty="0">
                <a:latin typeface="+mn-lt"/>
                <a:ea typeface="楷体" pitchFamily="49" charset="-122"/>
              </a:rPr>
              <a:t>i+1</a:t>
            </a:r>
            <a:r>
              <a:rPr lang="zh-CN" altLang="en-US" sz="2000" dirty="0">
                <a:latin typeface="+mn-lt"/>
                <a:ea typeface="楷体" pitchFamily="49" charset="-122"/>
              </a:rPr>
              <a:t>行的首地址，是一个地址常量。如上例中的</a:t>
            </a:r>
            <a:r>
              <a:rPr lang="en-US" altLang="zh-CN" sz="2000" dirty="0">
                <a:latin typeface="+mn-lt"/>
                <a:ea typeface="楷体" pitchFamily="49" charset="-122"/>
              </a:rPr>
              <a:t>a[0]</a:t>
            </a:r>
            <a:r>
              <a:rPr lang="zh-CN" altLang="en-US" sz="2000" dirty="0">
                <a:latin typeface="+mn-lt"/>
                <a:ea typeface="楷体" pitchFamily="49" charset="-122"/>
              </a:rPr>
              <a:t>表示第一行的首地址，当然也是整个二维数组元素所占内存单元的首地址，</a:t>
            </a:r>
            <a:r>
              <a:rPr lang="en-US" altLang="zh-CN" sz="2000" dirty="0">
                <a:latin typeface="+mn-lt"/>
                <a:ea typeface="楷体" pitchFamily="49" charset="-122"/>
              </a:rPr>
              <a:t>a[1]</a:t>
            </a:r>
            <a:r>
              <a:rPr lang="zh-CN" altLang="en-US" sz="2000" dirty="0">
                <a:latin typeface="+mn-lt"/>
                <a:ea typeface="楷体" pitchFamily="49" charset="-122"/>
              </a:rPr>
              <a:t>表示第二行的首地址。</a:t>
            </a:r>
          </a:p>
          <a:p>
            <a:pPr marL="265113" indent="-265113">
              <a:lnSpc>
                <a:spcPct val="100000"/>
              </a:lnSpc>
              <a:spcBef>
                <a:spcPct val="0"/>
              </a:spcBef>
              <a:buClr>
                <a:srgbClr val="C00000"/>
              </a:buClr>
              <a:buFont typeface="Wingdings" pitchFamily="2" charset="2"/>
              <a:buChar char="Ø"/>
            </a:pPr>
            <a:r>
              <a:rPr lang="zh-CN" altLang="en-US" sz="2000" dirty="0">
                <a:latin typeface="+mn-lt"/>
                <a:ea typeface="楷体" pitchFamily="49" charset="-122"/>
              </a:rPr>
              <a:t> 当二维数组的首地址赋给指针变量</a:t>
            </a:r>
            <a:r>
              <a:rPr lang="en-US" altLang="zh-CN" sz="2000" dirty="0">
                <a:latin typeface="+mn-lt"/>
                <a:ea typeface="楷体" pitchFamily="49" charset="-122"/>
              </a:rPr>
              <a:t>p</a:t>
            </a:r>
            <a:r>
              <a:rPr lang="zh-CN" altLang="en-US" sz="2000" dirty="0">
                <a:latin typeface="+mn-lt"/>
                <a:ea typeface="楷体" pitchFamily="49" charset="-122"/>
              </a:rPr>
              <a:t>以后，则访问某个元素</a:t>
            </a:r>
            <a:r>
              <a:rPr lang="en-US" altLang="zh-CN" sz="2000" dirty="0">
                <a:latin typeface="+mn-lt"/>
                <a:ea typeface="楷体" pitchFamily="49" charset="-122"/>
              </a:rPr>
              <a:t>a[</a:t>
            </a:r>
            <a:r>
              <a:rPr lang="en-US" altLang="zh-CN" sz="2000" dirty="0" err="1">
                <a:latin typeface="+mn-lt"/>
                <a:ea typeface="楷体" pitchFamily="49" charset="-122"/>
              </a:rPr>
              <a:t>i</a:t>
            </a:r>
            <a:r>
              <a:rPr lang="en-US" altLang="zh-CN" sz="2000" dirty="0">
                <a:latin typeface="+mn-lt"/>
                <a:ea typeface="楷体" pitchFamily="49" charset="-122"/>
              </a:rPr>
              <a:t>][j]</a:t>
            </a:r>
            <a:r>
              <a:rPr lang="zh-CN" altLang="en-US" sz="2000" dirty="0">
                <a:latin typeface="+mn-lt"/>
                <a:ea typeface="楷体" pitchFamily="49" charset="-122"/>
              </a:rPr>
              <a:t>可用以下几种方式来代替：</a:t>
            </a:r>
            <a:r>
              <a:rPr lang="zh-CN" altLang="en-US" sz="2000" dirty="0">
                <a:solidFill>
                  <a:srgbClr val="C00000"/>
                </a:solidFill>
                <a:latin typeface="+mn-lt"/>
                <a:ea typeface="楷体" pitchFamily="49" charset="-122"/>
              </a:rPr>
              <a:t>*</a:t>
            </a:r>
            <a:r>
              <a:rPr lang="en-US" altLang="zh-CN" sz="2000" dirty="0">
                <a:solidFill>
                  <a:srgbClr val="C00000"/>
                </a:solidFill>
                <a:latin typeface="+mn-lt"/>
                <a:ea typeface="楷体" pitchFamily="49" charset="-122"/>
              </a:rPr>
              <a:t>(</a:t>
            </a:r>
            <a:r>
              <a:rPr lang="en-US" altLang="zh-CN" sz="2000" dirty="0" err="1">
                <a:solidFill>
                  <a:srgbClr val="C00000"/>
                </a:solidFill>
                <a:latin typeface="+mn-lt"/>
                <a:ea typeface="楷体" pitchFamily="49" charset="-122"/>
              </a:rPr>
              <a:t>p+i</a:t>
            </a:r>
            <a:r>
              <a:rPr lang="en-US" altLang="zh-CN" sz="2000" dirty="0">
                <a:solidFill>
                  <a:srgbClr val="C00000"/>
                </a:solidFill>
                <a:latin typeface="+mn-lt"/>
                <a:ea typeface="楷体" pitchFamily="49" charset="-122"/>
              </a:rPr>
              <a:t>*</a:t>
            </a:r>
            <a:r>
              <a:rPr lang="en-US" altLang="zh-CN" sz="2000" dirty="0" err="1">
                <a:solidFill>
                  <a:srgbClr val="C00000"/>
                </a:solidFill>
                <a:latin typeface="+mn-lt"/>
                <a:ea typeface="楷体" pitchFamily="49" charset="-122"/>
              </a:rPr>
              <a:t>n+j</a:t>
            </a:r>
            <a:r>
              <a:rPr lang="en-US" altLang="zh-CN" sz="2000" dirty="0">
                <a:solidFill>
                  <a:srgbClr val="C00000"/>
                </a:solidFill>
                <a:latin typeface="+mn-lt"/>
                <a:ea typeface="楷体" pitchFamily="49" charset="-122"/>
              </a:rPr>
              <a:t>)</a:t>
            </a:r>
            <a:r>
              <a:rPr lang="zh-CN" altLang="en-US" sz="2000" dirty="0">
                <a:solidFill>
                  <a:srgbClr val="C00000"/>
                </a:solidFill>
                <a:latin typeface="+mn-lt"/>
                <a:ea typeface="楷体" pitchFamily="49" charset="-122"/>
              </a:rPr>
              <a:t>、</a:t>
            </a:r>
            <a:r>
              <a:rPr lang="en-US" altLang="zh-CN" sz="2000" dirty="0">
                <a:solidFill>
                  <a:srgbClr val="C00000"/>
                </a:solidFill>
                <a:latin typeface="+mn-lt"/>
                <a:ea typeface="楷体" pitchFamily="49" charset="-122"/>
              </a:rPr>
              <a:t>p[</a:t>
            </a:r>
            <a:r>
              <a:rPr lang="en-US" altLang="zh-CN" sz="2000" dirty="0" err="1">
                <a:solidFill>
                  <a:srgbClr val="C00000"/>
                </a:solidFill>
                <a:latin typeface="+mn-lt"/>
                <a:ea typeface="楷体" pitchFamily="49" charset="-122"/>
              </a:rPr>
              <a:t>i</a:t>
            </a:r>
            <a:r>
              <a:rPr lang="en-US" altLang="zh-CN" sz="2000" dirty="0">
                <a:solidFill>
                  <a:srgbClr val="C00000"/>
                </a:solidFill>
                <a:latin typeface="+mn-lt"/>
                <a:ea typeface="楷体" pitchFamily="49" charset="-122"/>
              </a:rPr>
              <a:t>*</a:t>
            </a:r>
            <a:r>
              <a:rPr lang="en-US" altLang="zh-CN" sz="2000" dirty="0" err="1">
                <a:solidFill>
                  <a:srgbClr val="C00000"/>
                </a:solidFill>
                <a:latin typeface="+mn-lt"/>
                <a:ea typeface="楷体" pitchFamily="49" charset="-122"/>
              </a:rPr>
              <a:t>n+j</a:t>
            </a:r>
            <a:r>
              <a:rPr lang="en-US" altLang="zh-CN" sz="2000" dirty="0">
                <a:solidFill>
                  <a:srgbClr val="C00000"/>
                </a:solidFill>
                <a:latin typeface="+mn-lt"/>
                <a:ea typeface="楷体" pitchFamily="49" charset="-122"/>
              </a:rPr>
              <a:t>]</a:t>
            </a:r>
            <a:r>
              <a:rPr lang="zh-CN" altLang="en-US" sz="2000" dirty="0">
                <a:solidFill>
                  <a:srgbClr val="C00000"/>
                </a:solidFill>
                <a:latin typeface="+mn-lt"/>
                <a:ea typeface="楷体" pitchFamily="49" charset="-122"/>
              </a:rPr>
              <a:t>、*</a:t>
            </a:r>
            <a:r>
              <a:rPr lang="en-US" altLang="zh-CN" sz="2000" dirty="0">
                <a:solidFill>
                  <a:srgbClr val="C00000"/>
                </a:solidFill>
                <a:latin typeface="+mn-lt"/>
                <a:ea typeface="楷体" pitchFamily="49" charset="-122"/>
              </a:rPr>
              <a:t>(a[0]+</a:t>
            </a:r>
            <a:r>
              <a:rPr lang="en-US" altLang="zh-CN" sz="2000" dirty="0" err="1">
                <a:solidFill>
                  <a:srgbClr val="C00000"/>
                </a:solidFill>
                <a:latin typeface="+mn-lt"/>
                <a:ea typeface="楷体" pitchFamily="49" charset="-122"/>
              </a:rPr>
              <a:t>i</a:t>
            </a:r>
            <a:r>
              <a:rPr lang="en-US" altLang="zh-CN" sz="2000" dirty="0">
                <a:solidFill>
                  <a:srgbClr val="C00000"/>
                </a:solidFill>
                <a:latin typeface="+mn-lt"/>
                <a:ea typeface="楷体" pitchFamily="49" charset="-122"/>
              </a:rPr>
              <a:t>*</a:t>
            </a:r>
            <a:r>
              <a:rPr lang="en-US" altLang="zh-CN" sz="2000" dirty="0" err="1">
                <a:solidFill>
                  <a:srgbClr val="C00000"/>
                </a:solidFill>
                <a:latin typeface="+mn-lt"/>
                <a:ea typeface="楷体" pitchFamily="49" charset="-122"/>
              </a:rPr>
              <a:t>n+j</a:t>
            </a:r>
            <a:r>
              <a:rPr lang="en-US" altLang="zh-CN" sz="2000" dirty="0">
                <a:solidFill>
                  <a:srgbClr val="C00000"/>
                </a:solidFill>
                <a:latin typeface="+mn-lt"/>
                <a:ea typeface="楷体" pitchFamily="49" charset="-122"/>
              </a:rPr>
              <a:t>)</a:t>
            </a:r>
            <a:r>
              <a:rPr lang="zh-CN" altLang="en-US" sz="2000" dirty="0">
                <a:latin typeface="+mn-lt"/>
                <a:ea typeface="楷体" pitchFamily="49" charset="-122"/>
              </a:rPr>
              <a:t>。</a:t>
            </a:r>
          </a:p>
          <a:p>
            <a:pPr marL="265113" indent="-265113">
              <a:lnSpc>
                <a:spcPct val="100000"/>
              </a:lnSpc>
              <a:spcBef>
                <a:spcPct val="0"/>
              </a:spcBef>
              <a:buClr>
                <a:srgbClr val="C00000"/>
              </a:buClr>
              <a:buFont typeface="Wingdings" pitchFamily="2" charset="2"/>
              <a:buChar char="Ø"/>
            </a:pPr>
            <a:r>
              <a:rPr lang="zh-CN" altLang="en-US" sz="2000" dirty="0">
                <a:latin typeface="+mn-lt"/>
                <a:ea typeface="楷体" pitchFamily="49" charset="-122"/>
              </a:rPr>
              <a:t> 二维数组名</a:t>
            </a:r>
            <a:r>
              <a:rPr lang="en-US" altLang="zh-CN" sz="2000" dirty="0">
                <a:latin typeface="+mn-lt"/>
                <a:ea typeface="楷体" pitchFamily="49" charset="-122"/>
              </a:rPr>
              <a:t>a</a:t>
            </a:r>
            <a:r>
              <a:rPr lang="zh-CN" altLang="en-US" sz="2000" dirty="0">
                <a:latin typeface="+mn-lt"/>
                <a:ea typeface="楷体" pitchFamily="49" charset="-122"/>
              </a:rPr>
              <a:t>不可赋值给一般指针变量</a:t>
            </a:r>
            <a:r>
              <a:rPr lang="en-US" altLang="zh-CN" sz="2000" dirty="0">
                <a:latin typeface="+mn-lt"/>
                <a:ea typeface="楷体" pitchFamily="49" charset="-122"/>
              </a:rPr>
              <a:t>p</a:t>
            </a:r>
            <a:r>
              <a:rPr lang="zh-CN" altLang="en-US" sz="2000" dirty="0">
                <a:latin typeface="+mn-lt"/>
                <a:ea typeface="楷体" pitchFamily="49" charset="-122"/>
              </a:rPr>
              <a:t>，只能赋值给指向二维数组的指针变量。</a:t>
            </a:r>
            <a:r>
              <a:rPr lang="en-US" altLang="zh-CN" sz="2000" dirty="0">
                <a:solidFill>
                  <a:srgbClr val="C00000"/>
                </a:solidFill>
                <a:latin typeface="+mn-lt"/>
                <a:ea typeface="楷体" pitchFamily="49" charset="-122"/>
              </a:rPr>
              <a:t>p = a</a:t>
            </a:r>
            <a:r>
              <a:rPr lang="zh-CN" altLang="en-US" sz="2000" dirty="0">
                <a:solidFill>
                  <a:srgbClr val="C00000"/>
                </a:solidFill>
                <a:latin typeface="+mn-lt"/>
                <a:ea typeface="楷体" pitchFamily="49" charset="-122"/>
              </a:rPr>
              <a:t>；是非法的</a:t>
            </a:r>
            <a:r>
              <a:rPr lang="zh-CN" altLang="en-US" sz="2000" dirty="0">
                <a:latin typeface="+mn-lt"/>
                <a:ea typeface="楷体" pitchFamily="49" charset="-122"/>
              </a:rPr>
              <a:t>。</a:t>
            </a:r>
          </a:p>
        </p:txBody>
      </p:sp>
      <p:sp>
        <p:nvSpPr>
          <p:cNvPr id="103" name="Rectangle 4">
            <a:extLst>
              <a:ext uri="{FF2B5EF4-FFF2-40B4-BE49-F238E27FC236}">
                <a16:creationId xmlns:a16="http://schemas.microsoft.com/office/drawing/2014/main" id="{1D23241F-17B3-43D1-8D74-9739AEB4E7E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57122">
                                            <p:txEl>
                                              <p:pRg st="0" end="0"/>
                                            </p:txEl>
                                          </p:spTgt>
                                        </p:tgtEl>
                                        <p:attrNameLst>
                                          <p:attrName>style.visibility</p:attrName>
                                        </p:attrNameLst>
                                      </p:cBhvr>
                                      <p:to>
                                        <p:strVal val="visible"/>
                                      </p:to>
                                    </p:set>
                                    <p:anim calcmode="lin" valueType="num">
                                      <p:cBhvr additive="base">
                                        <p:cTn id="7" dur="500" fill="hold"/>
                                        <p:tgtEl>
                                          <p:spTgt spid="115712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5712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57127"/>
                                        </p:tgtEl>
                                        <p:attrNameLst>
                                          <p:attrName>style.visibility</p:attrName>
                                        </p:attrNameLst>
                                      </p:cBhvr>
                                      <p:to>
                                        <p:strVal val="visible"/>
                                      </p:to>
                                    </p:set>
                                    <p:animEffect transition="in" filter="box(out)">
                                      <p:cBhvr>
                                        <p:cTn id="13" dur="500"/>
                                        <p:tgtEl>
                                          <p:spTgt spid="1157127"/>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57203"/>
                                        </p:tgtEl>
                                        <p:attrNameLst>
                                          <p:attrName>style.visibility</p:attrName>
                                        </p:attrNameLst>
                                      </p:cBhvr>
                                      <p:to>
                                        <p:strVal val="visible"/>
                                      </p:to>
                                    </p:set>
                                    <p:animEffect transition="in" filter="box(out)">
                                      <p:cBhvr>
                                        <p:cTn id="18" dur="500"/>
                                        <p:tgtEl>
                                          <p:spTgt spid="1157203"/>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57303"/>
                                        </p:tgtEl>
                                        <p:attrNameLst>
                                          <p:attrName>style.visibility</p:attrName>
                                        </p:attrNameLst>
                                      </p:cBhvr>
                                      <p:to>
                                        <p:strVal val="visible"/>
                                      </p:to>
                                    </p:set>
                                    <p:animEffect transition="in" filter="box(out)">
                                      <p:cBhvr>
                                        <p:cTn id="23" dur="500"/>
                                        <p:tgtEl>
                                          <p:spTgt spid="1157303"/>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157256"/>
                                        </p:tgtEl>
                                        <p:attrNameLst>
                                          <p:attrName>style.visibility</p:attrName>
                                        </p:attrNameLst>
                                      </p:cBhvr>
                                      <p:to>
                                        <p:strVal val="visible"/>
                                      </p:to>
                                    </p:set>
                                    <p:animEffect transition="in" filter="box(out)">
                                      <p:cBhvr>
                                        <p:cTn id="28" dur="500"/>
                                        <p:tgtEl>
                                          <p:spTgt spid="1157256"/>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500"/>
                            </p:stCondLst>
                            <p:childTnLst>
                              <p:par>
                                <p:cTn id="30" presetID="18" presetClass="entr" presetSubtype="12" fill="hold" nodeType="afterEffect">
                                  <p:stCondLst>
                                    <p:cond delay="0"/>
                                  </p:stCondLst>
                                  <p:childTnLst>
                                    <p:set>
                                      <p:cBhvr>
                                        <p:cTn id="31" dur="1" fill="hold">
                                          <p:stCondLst>
                                            <p:cond delay="0"/>
                                          </p:stCondLst>
                                        </p:cTn>
                                        <p:tgtEl>
                                          <p:spTgt spid="1157277"/>
                                        </p:tgtEl>
                                        <p:attrNameLst>
                                          <p:attrName>style.visibility</p:attrName>
                                        </p:attrNameLst>
                                      </p:cBhvr>
                                      <p:to>
                                        <p:strVal val="visible"/>
                                      </p:to>
                                    </p:set>
                                    <p:animEffect transition="in" filter="strips(downLeft)">
                                      <p:cBhvr>
                                        <p:cTn id="32" dur="500"/>
                                        <p:tgtEl>
                                          <p:spTgt spid="1157277"/>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childTnLst>
                                    <p:set>
                                      <p:cBhvr>
                                        <p:cTn id="36" dur="1" fill="hold">
                                          <p:stCondLst>
                                            <p:cond delay="0"/>
                                          </p:stCondLst>
                                        </p:cTn>
                                        <p:tgtEl>
                                          <p:spTgt spid="1157294"/>
                                        </p:tgtEl>
                                        <p:attrNameLst>
                                          <p:attrName>style.visibility</p:attrName>
                                        </p:attrNameLst>
                                      </p:cBhvr>
                                      <p:to>
                                        <p:strVal val="visible"/>
                                      </p:to>
                                    </p:set>
                                    <p:animEffect transition="in" filter="strips(downLeft)">
                                      <p:cBhvr>
                                        <p:cTn id="37" dur="500"/>
                                        <p:tgtEl>
                                          <p:spTgt spid="1157294"/>
                                        </p:tgtEl>
                                      </p:cBhvr>
                                    </p:animEffect>
                                  </p:childTnLst>
                                  <p:subTnLst>
                                    <p:audio>
                                      <p:cMediaNode>
                                        <p:cTn display="0" masterRel="sameClick">
                                          <p:stCondLst>
                                            <p:cond evt="begin" delay="0">
                                              <p:tn val="35"/>
                                            </p:cond>
                                          </p:stCondLst>
                                          <p:endCondLst>
                                            <p:cond evt="onStopAudio" delay="0">
                                              <p:tgtEl>
                                                <p:sldTgt/>
                                              </p:tgtEl>
                                            </p:cond>
                                          </p:endCondLst>
                                        </p:cTn>
                                        <p:tgtEl>
                                          <p:sndTgt r:embed="rId3" name="laser.wav"/>
                                        </p:tgtEl>
                                      </p:cMediaNode>
                                    </p:audio>
                                  </p:subTnLst>
                                </p:cTn>
                              </p:par>
                            </p:childTnLst>
                          </p:cTn>
                        </p:par>
                        <p:par>
                          <p:cTn id="38" fill="hold">
                            <p:stCondLst>
                              <p:cond delay="500"/>
                            </p:stCondLst>
                            <p:childTnLst>
                              <p:par>
                                <p:cTn id="39" presetID="18" presetClass="entr" presetSubtype="6" fill="hold" nodeType="afterEffect">
                                  <p:stCondLst>
                                    <p:cond delay="0"/>
                                  </p:stCondLst>
                                  <p:childTnLst>
                                    <p:set>
                                      <p:cBhvr>
                                        <p:cTn id="40" dur="1" fill="hold">
                                          <p:stCondLst>
                                            <p:cond delay="0"/>
                                          </p:stCondLst>
                                        </p:cTn>
                                        <p:tgtEl>
                                          <p:spTgt spid="1157297"/>
                                        </p:tgtEl>
                                        <p:attrNameLst>
                                          <p:attrName>style.visibility</p:attrName>
                                        </p:attrNameLst>
                                      </p:cBhvr>
                                      <p:to>
                                        <p:strVal val="visible"/>
                                      </p:to>
                                    </p:set>
                                    <p:animEffect transition="in" filter="strips(downRight)">
                                      <p:cBhvr>
                                        <p:cTn id="41" dur="500"/>
                                        <p:tgtEl>
                                          <p:spTgt spid="1157297"/>
                                        </p:tgtEl>
                                      </p:cBhvr>
                                    </p:animEffect>
                                  </p:childTnLst>
                                  <p:subTnLst>
                                    <p:audio>
                                      <p:cMediaNode>
                                        <p:cTn display="0" masterRel="sameClick">
                                          <p:stCondLst>
                                            <p:cond evt="begin" delay="0">
                                              <p:tn val="39"/>
                                            </p:cond>
                                          </p:stCondLst>
                                          <p:endCondLst>
                                            <p:cond evt="onStopAudio" delay="0">
                                              <p:tgtEl>
                                                <p:sldTgt/>
                                              </p:tgtEl>
                                            </p:cond>
                                          </p:endCondLst>
                                        </p:cTn>
                                        <p:tgtEl>
                                          <p:sndTgt r:embed="rId3" name="laser.wav"/>
                                        </p:tgtEl>
                                      </p:cMediaNode>
                                    </p:audio>
                                  </p:subTnLst>
                                </p:cTn>
                              </p:par>
                            </p:childTnLst>
                          </p:cTn>
                        </p:par>
                        <p:par>
                          <p:cTn id="42" fill="hold">
                            <p:stCondLst>
                              <p:cond delay="1000"/>
                            </p:stCondLst>
                            <p:childTnLst>
                              <p:par>
                                <p:cTn id="43" presetID="18" presetClass="entr" presetSubtype="6" fill="hold" nodeType="afterEffect">
                                  <p:stCondLst>
                                    <p:cond delay="0"/>
                                  </p:stCondLst>
                                  <p:childTnLst>
                                    <p:set>
                                      <p:cBhvr>
                                        <p:cTn id="44" dur="1" fill="hold">
                                          <p:stCondLst>
                                            <p:cond delay="0"/>
                                          </p:stCondLst>
                                        </p:cTn>
                                        <p:tgtEl>
                                          <p:spTgt spid="1157298"/>
                                        </p:tgtEl>
                                        <p:attrNameLst>
                                          <p:attrName>style.visibility</p:attrName>
                                        </p:attrNameLst>
                                      </p:cBhvr>
                                      <p:to>
                                        <p:strVal val="visible"/>
                                      </p:to>
                                    </p:set>
                                    <p:animEffect transition="in" filter="strips(downRight)">
                                      <p:cBhvr>
                                        <p:cTn id="45" dur="500"/>
                                        <p:tgtEl>
                                          <p:spTgt spid="1157298"/>
                                        </p:tgtEl>
                                      </p:cBhvr>
                                    </p:animEffect>
                                  </p:childTnLst>
                                  <p:subTnLst>
                                    <p:audio>
                                      <p:cMediaNode>
                                        <p:cTn display="0" masterRel="sameClick">
                                          <p:stCondLst>
                                            <p:cond evt="begin" delay="0">
                                              <p:tn val="43"/>
                                            </p:cond>
                                          </p:stCondLst>
                                          <p:endCondLst>
                                            <p:cond evt="onStopAudio" delay="0">
                                              <p:tgtEl>
                                                <p:sldTgt/>
                                              </p:tgtEl>
                                            </p:cond>
                                          </p:endCondLst>
                                        </p:cTn>
                                        <p:tgtEl>
                                          <p:sndTgt r:embed="rId3" name="laser.wav"/>
                                        </p:tgtEl>
                                      </p:cMediaNode>
                                    </p:audio>
                                  </p:subTnLst>
                                </p:cTn>
                              </p:par>
                            </p:childTnLst>
                          </p:cTn>
                        </p:par>
                      </p:childTnLst>
                    </p:cTn>
                  </p:par>
                  <p:par>
                    <p:cTn id="46" fill="hold">
                      <p:stCondLst>
                        <p:cond delay="indefinite"/>
                      </p:stCondLst>
                      <p:childTnLst>
                        <p:par>
                          <p:cTn id="47" fill="hold">
                            <p:stCondLst>
                              <p:cond delay="0"/>
                            </p:stCondLst>
                            <p:childTnLst>
                              <p:par>
                                <p:cTn id="48" presetID="18" presetClass="entr" presetSubtype="12" fill="hold" nodeType="clickEffect">
                                  <p:stCondLst>
                                    <p:cond delay="0"/>
                                  </p:stCondLst>
                                  <p:childTnLst>
                                    <p:set>
                                      <p:cBhvr>
                                        <p:cTn id="49" dur="1" fill="hold">
                                          <p:stCondLst>
                                            <p:cond delay="0"/>
                                          </p:stCondLst>
                                        </p:cTn>
                                        <p:tgtEl>
                                          <p:spTgt spid="1157284"/>
                                        </p:tgtEl>
                                        <p:attrNameLst>
                                          <p:attrName>style.visibility</p:attrName>
                                        </p:attrNameLst>
                                      </p:cBhvr>
                                      <p:to>
                                        <p:strVal val="visible"/>
                                      </p:to>
                                    </p:set>
                                    <p:animEffect transition="in" filter="strips(downLeft)">
                                      <p:cBhvr>
                                        <p:cTn id="50" dur="500"/>
                                        <p:tgtEl>
                                          <p:spTgt spid="1157284"/>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18" presetClass="entr" presetSubtype="12" fill="hold" nodeType="clickEffect">
                                  <p:stCondLst>
                                    <p:cond delay="0"/>
                                  </p:stCondLst>
                                  <p:childTnLst>
                                    <p:set>
                                      <p:cBhvr>
                                        <p:cTn id="54" dur="1" fill="hold">
                                          <p:stCondLst>
                                            <p:cond delay="0"/>
                                          </p:stCondLst>
                                        </p:cTn>
                                        <p:tgtEl>
                                          <p:spTgt spid="1157289"/>
                                        </p:tgtEl>
                                        <p:attrNameLst>
                                          <p:attrName>style.visibility</p:attrName>
                                        </p:attrNameLst>
                                      </p:cBhvr>
                                      <p:to>
                                        <p:strVal val="visible"/>
                                      </p:to>
                                    </p:set>
                                    <p:animEffect transition="in" filter="strips(downLeft)">
                                      <p:cBhvr>
                                        <p:cTn id="55" dur="500"/>
                                        <p:tgtEl>
                                          <p:spTgt spid="1157289"/>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18" presetClass="entr" presetSubtype="6" fill="hold" nodeType="clickEffect">
                                  <p:stCondLst>
                                    <p:cond delay="0"/>
                                  </p:stCondLst>
                                  <p:childTnLst>
                                    <p:set>
                                      <p:cBhvr>
                                        <p:cTn id="59" dur="1" fill="hold">
                                          <p:stCondLst>
                                            <p:cond delay="0"/>
                                          </p:stCondLst>
                                        </p:cTn>
                                        <p:tgtEl>
                                          <p:spTgt spid="1157293"/>
                                        </p:tgtEl>
                                        <p:attrNameLst>
                                          <p:attrName>style.visibility</p:attrName>
                                        </p:attrNameLst>
                                      </p:cBhvr>
                                      <p:to>
                                        <p:strVal val="visible"/>
                                      </p:to>
                                    </p:set>
                                    <p:animEffect transition="in" filter="strips(downRight)">
                                      <p:cBhvr>
                                        <p:cTn id="60" dur="500"/>
                                        <p:tgtEl>
                                          <p:spTgt spid="1157293"/>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157301"/>
                                        </p:tgtEl>
                                        <p:attrNameLst>
                                          <p:attrName>style.visibility</p:attrName>
                                        </p:attrNameLst>
                                      </p:cBhvr>
                                      <p:to>
                                        <p:strVal val="visible"/>
                                      </p:to>
                                    </p:set>
                                    <p:animEffect transition="in" filter="box(out)">
                                      <p:cBhvr>
                                        <p:cTn id="65" dur="500"/>
                                        <p:tgtEl>
                                          <p:spTgt spid="1157301"/>
                                        </p:tgtEl>
                                      </p:cBhvr>
                                    </p:animEffect>
                                  </p:childTnLst>
                                  <p:subTnLst>
                                    <p:audio>
                                      <p:cMediaNode>
                                        <p:cTn display="0" masterRel="sameClick">
                                          <p:stCondLst>
                                            <p:cond evt="begin" delay="0">
                                              <p:tn val="63"/>
                                            </p:cond>
                                          </p:stCondLst>
                                          <p:endCondLst>
                                            <p:cond evt="onStopAudio" delay="0">
                                              <p:tgtEl>
                                                <p:sldTgt/>
                                              </p:tgtEl>
                                            </p:cond>
                                          </p:endCondLst>
                                        </p:cTn>
                                        <p:tgtEl>
                                          <p:sndTgt r:embed="rId4" name="chimes.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157302"/>
                                        </p:tgtEl>
                                        <p:attrNameLst>
                                          <p:attrName>style.visibility</p:attrName>
                                        </p:attrNameLst>
                                      </p:cBhvr>
                                      <p:to>
                                        <p:strVal val="visible"/>
                                      </p:to>
                                    </p:set>
                                    <p:animEffect transition="in" filter="box(out)">
                                      <p:cBhvr>
                                        <p:cTn id="70" dur="500"/>
                                        <p:tgtEl>
                                          <p:spTgt spid="1157302"/>
                                        </p:tgtEl>
                                      </p:cBhvr>
                                    </p:animEffect>
                                  </p:childTnLst>
                                  <p:subTnLst>
                                    <p:audio>
                                      <p:cMediaNode>
                                        <p:cTn display="0" masterRel="sameClick">
                                          <p:stCondLst>
                                            <p:cond evt="begin" delay="0">
                                              <p:tn val="6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22" grpId="0" build="p" bldLvl="5" autoUpdateAnimBg="0"/>
      <p:bldP spid="1157127" grpId="0"/>
      <p:bldP spid="1157203" grpId="0"/>
      <p:bldP spid="1157294" grpId="0" animBg="1"/>
      <p:bldP spid="1157301" grpId="0" animBg="1"/>
      <p:bldP spid="1157303" grpId="0" animBg="1"/>
      <p:bldP spid="115730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76" name="Rectangle 76"/>
          <p:cNvSpPr>
            <a:spLocks noChangeArrowheads="1"/>
          </p:cNvSpPr>
          <p:nvPr/>
        </p:nvSpPr>
        <p:spPr bwMode="auto">
          <a:xfrm>
            <a:off x="623392" y="866875"/>
            <a:ext cx="6192688" cy="503238"/>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3</a:t>
            </a:r>
            <a:r>
              <a:rPr lang="zh-CN" altLang="en-US" sz="2800" b="1" dirty="0">
                <a:solidFill>
                  <a:srgbClr val="C00000"/>
                </a:solidFill>
                <a:latin typeface="+mn-lt"/>
                <a:ea typeface="楷体" pitchFamily="49" charset="-122"/>
                <a:sym typeface="Symbol" pitchFamily="18" charset="2"/>
              </a:rPr>
              <a:t>、指向多维数组的指针</a:t>
            </a:r>
            <a:r>
              <a:rPr lang="en-US" altLang="zh-CN" sz="2800" b="1" dirty="0">
                <a:solidFill>
                  <a:srgbClr val="C00000"/>
                </a:solidFill>
                <a:latin typeface="+mn-lt"/>
                <a:ea typeface="楷体" pitchFamily="49" charset="-122"/>
                <a:sym typeface="Symbol" pitchFamily="18" charset="2"/>
              </a:rPr>
              <a:t>____</a:t>
            </a:r>
            <a:r>
              <a:rPr lang="zh-CN" altLang="en-US" sz="2800" b="1" dirty="0">
                <a:solidFill>
                  <a:srgbClr val="C00000"/>
                </a:solidFill>
                <a:latin typeface="+mn-lt"/>
                <a:ea typeface="楷体" pitchFamily="49" charset="-122"/>
                <a:sym typeface="Symbol" pitchFamily="18" charset="2"/>
              </a:rPr>
              <a:t>数组指针</a:t>
            </a:r>
          </a:p>
        </p:txBody>
      </p:sp>
      <p:sp>
        <p:nvSpPr>
          <p:cNvPr id="1228918" name="Rectangle 118"/>
          <p:cNvSpPr>
            <a:spLocks noChangeArrowheads="1"/>
          </p:cNvSpPr>
          <p:nvPr/>
        </p:nvSpPr>
        <p:spPr bwMode="auto">
          <a:xfrm>
            <a:off x="335360" y="1356769"/>
            <a:ext cx="4871847" cy="461665"/>
          </a:xfrm>
          <a:prstGeom prst="rect">
            <a:avLst/>
          </a:prstGeom>
          <a:noFill/>
          <a:ln w="9525" algn="ctr">
            <a:noFill/>
            <a:miter lim="800000"/>
            <a:headEnd/>
            <a:tailEnd/>
          </a:ln>
          <a:effectLst/>
        </p:spPr>
        <p:txBody>
          <a:bodyPr wrap="none" anchor="ctr">
            <a:spAutoFit/>
          </a:bodyPr>
          <a:lstStyle/>
          <a:p>
            <a:pPr lvl="1">
              <a:lnSpc>
                <a:spcPct val="100000"/>
              </a:lnSpc>
              <a:spcBef>
                <a:spcPct val="0"/>
              </a:spcBef>
              <a:buClr>
                <a:srgbClr val="333333"/>
              </a:buClr>
              <a:tabLst>
                <a:tab pos="457200" algn="l"/>
              </a:tabLst>
            </a:pPr>
            <a:r>
              <a:rPr lang="en-US" altLang="zh-CN">
                <a:solidFill>
                  <a:srgbClr val="C00000"/>
                </a:solidFill>
                <a:latin typeface="+mn-lt"/>
                <a:ea typeface="楷体" pitchFamily="49" charset="-122"/>
              </a:rPr>
              <a:t>(1)  </a:t>
            </a:r>
            <a:r>
              <a:rPr lang="zh-CN" altLang="en-US">
                <a:solidFill>
                  <a:srgbClr val="C00000"/>
                </a:solidFill>
                <a:latin typeface="+mn-lt"/>
                <a:ea typeface="楷体" pitchFamily="49" charset="-122"/>
              </a:rPr>
              <a:t>二维数组的行地址与列地址</a:t>
            </a:r>
          </a:p>
        </p:txBody>
      </p:sp>
      <p:graphicFrame>
        <p:nvGraphicFramePr>
          <p:cNvPr id="1229087" name="Group 287"/>
          <p:cNvGraphicFramePr>
            <a:graphicFrameLocks noGrp="1"/>
          </p:cNvGraphicFramePr>
          <p:nvPr>
            <p:extLst>
              <p:ext uri="{D42A27DB-BD31-4B8C-83A1-F6EECF244321}">
                <p14:modId xmlns:p14="http://schemas.microsoft.com/office/powerpoint/2010/main" val="4152592507"/>
              </p:ext>
            </p:extLst>
          </p:nvPr>
        </p:nvGraphicFramePr>
        <p:xfrm>
          <a:off x="3430141" y="3286077"/>
          <a:ext cx="815975" cy="2374901"/>
        </p:xfrm>
        <a:graphic>
          <a:graphicData uri="http://schemas.openxmlformats.org/drawingml/2006/table">
            <a:tbl>
              <a:tblPr/>
              <a:tblGrid>
                <a:gridCol w="815975">
                  <a:extLst>
                    <a:ext uri="{9D8B030D-6E8A-4147-A177-3AD203B41FA5}">
                      <a16:colId xmlns:a16="http://schemas.microsoft.com/office/drawing/2014/main" val="20000"/>
                    </a:ext>
                  </a:extLst>
                </a:gridCol>
              </a:tblGrid>
              <a:tr h="7794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a[0]</a:t>
                      </a: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98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a[1]</a:t>
                      </a: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96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a[2]</a:t>
                      </a: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228934" name="Group 134"/>
          <p:cNvGrpSpPr>
            <a:grpSpLocks/>
          </p:cNvGrpSpPr>
          <p:nvPr/>
        </p:nvGrpSpPr>
        <p:grpSpPr bwMode="auto">
          <a:xfrm>
            <a:off x="2301428" y="3400377"/>
            <a:ext cx="1108075" cy="646112"/>
            <a:chOff x="476" y="1552"/>
            <a:chExt cx="698" cy="407"/>
          </a:xfrm>
        </p:grpSpPr>
        <p:sp>
          <p:nvSpPr>
            <p:cNvPr id="1228931" name="Line 131"/>
            <p:cNvSpPr>
              <a:spLocks noChangeShapeType="1"/>
            </p:cNvSpPr>
            <p:nvPr/>
          </p:nvSpPr>
          <p:spPr bwMode="auto">
            <a:xfrm>
              <a:off x="902" y="1706"/>
              <a:ext cx="272" cy="0"/>
            </a:xfrm>
            <a:prstGeom prst="line">
              <a:avLst/>
            </a:prstGeom>
            <a:noFill/>
            <a:ln w="28575">
              <a:solidFill>
                <a:srgbClr val="C00000"/>
              </a:solidFill>
              <a:round/>
              <a:headEnd/>
              <a:tailEnd type="stealth" w="lg" len="lg"/>
            </a:ln>
            <a:effectLst/>
          </p:spPr>
          <p:txBody>
            <a:bodyPr/>
            <a:lstStyle/>
            <a:p>
              <a:endParaRPr lang="zh-CN" altLang="en-US">
                <a:solidFill>
                  <a:srgbClr val="C00000"/>
                </a:solidFill>
              </a:endParaRPr>
            </a:p>
          </p:txBody>
        </p:sp>
        <p:sp>
          <p:nvSpPr>
            <p:cNvPr id="1228933" name="Rectangle 133"/>
            <p:cNvSpPr>
              <a:spLocks noChangeArrowheads="1"/>
            </p:cNvSpPr>
            <p:nvPr/>
          </p:nvSpPr>
          <p:spPr bwMode="auto">
            <a:xfrm>
              <a:off x="476" y="1552"/>
              <a:ext cx="499" cy="407"/>
            </a:xfrm>
            <a:prstGeom prst="rect">
              <a:avLst/>
            </a:prstGeom>
            <a:noFill/>
            <a:ln w="9525" algn="ctr">
              <a:noFill/>
              <a:miter lim="800000"/>
              <a:headEnd/>
              <a:tailEnd/>
            </a:ln>
            <a:effectLst/>
          </p:spPr>
          <p:txBody>
            <a:bodyPr>
              <a:spAutoFit/>
            </a:bodyPr>
            <a:lstStyle/>
            <a:p>
              <a:pPr marL="342900" indent="-342900"/>
              <a:r>
                <a:rPr lang="en-US" altLang="zh-CN" sz="1800" dirty="0">
                  <a:solidFill>
                    <a:srgbClr val="C00000"/>
                  </a:solidFill>
                </a:rPr>
                <a:t>a+0</a:t>
              </a:r>
            </a:p>
            <a:p>
              <a:pPr marL="342900" indent="-342900"/>
              <a:r>
                <a:rPr lang="en-US" altLang="zh-CN" sz="1800" dirty="0">
                  <a:solidFill>
                    <a:srgbClr val="C00000"/>
                  </a:solidFill>
                </a:rPr>
                <a:t>&amp;a[0]</a:t>
              </a:r>
            </a:p>
          </p:txBody>
        </p:sp>
      </p:grpSp>
      <p:grpSp>
        <p:nvGrpSpPr>
          <p:cNvPr id="1228935" name="Group 135"/>
          <p:cNvGrpSpPr>
            <a:grpSpLocks/>
          </p:cNvGrpSpPr>
          <p:nvPr/>
        </p:nvGrpSpPr>
        <p:grpSpPr bwMode="auto">
          <a:xfrm>
            <a:off x="2301428" y="4163963"/>
            <a:ext cx="1108075" cy="646113"/>
            <a:chOff x="476" y="1552"/>
            <a:chExt cx="698" cy="407"/>
          </a:xfrm>
        </p:grpSpPr>
        <p:sp>
          <p:nvSpPr>
            <p:cNvPr id="1228936" name="Line 136"/>
            <p:cNvSpPr>
              <a:spLocks noChangeShapeType="1"/>
            </p:cNvSpPr>
            <p:nvPr/>
          </p:nvSpPr>
          <p:spPr bwMode="auto">
            <a:xfrm>
              <a:off x="902" y="1706"/>
              <a:ext cx="272" cy="0"/>
            </a:xfrm>
            <a:prstGeom prst="line">
              <a:avLst/>
            </a:prstGeom>
            <a:noFill/>
            <a:ln w="28575">
              <a:solidFill>
                <a:srgbClr val="C00000"/>
              </a:solidFill>
              <a:round/>
              <a:headEnd/>
              <a:tailEnd type="stealth" w="lg" len="lg"/>
            </a:ln>
            <a:effectLst/>
          </p:spPr>
          <p:txBody>
            <a:bodyPr/>
            <a:lstStyle/>
            <a:p>
              <a:endParaRPr lang="zh-CN" altLang="en-US">
                <a:solidFill>
                  <a:srgbClr val="C00000"/>
                </a:solidFill>
              </a:endParaRPr>
            </a:p>
          </p:txBody>
        </p:sp>
        <p:sp>
          <p:nvSpPr>
            <p:cNvPr id="1228937" name="Rectangle 137"/>
            <p:cNvSpPr>
              <a:spLocks noChangeArrowheads="1"/>
            </p:cNvSpPr>
            <p:nvPr/>
          </p:nvSpPr>
          <p:spPr bwMode="auto">
            <a:xfrm>
              <a:off x="476" y="1552"/>
              <a:ext cx="499" cy="407"/>
            </a:xfrm>
            <a:prstGeom prst="rect">
              <a:avLst/>
            </a:prstGeom>
            <a:noFill/>
            <a:ln w="9525" algn="ctr">
              <a:noFill/>
              <a:miter lim="800000"/>
              <a:headEnd/>
              <a:tailEnd/>
            </a:ln>
            <a:effectLst/>
          </p:spPr>
          <p:txBody>
            <a:bodyPr>
              <a:spAutoFit/>
            </a:bodyPr>
            <a:lstStyle/>
            <a:p>
              <a:pPr marL="342900" indent="-342900"/>
              <a:r>
                <a:rPr lang="en-US" altLang="zh-CN" sz="1800">
                  <a:solidFill>
                    <a:srgbClr val="C00000"/>
                  </a:solidFill>
                </a:rPr>
                <a:t>a+1</a:t>
              </a:r>
            </a:p>
            <a:p>
              <a:pPr marL="342900" indent="-342900"/>
              <a:r>
                <a:rPr lang="en-US" altLang="zh-CN" sz="1800">
                  <a:solidFill>
                    <a:srgbClr val="C00000"/>
                  </a:solidFill>
                </a:rPr>
                <a:t>&amp;a[1]</a:t>
              </a:r>
            </a:p>
          </p:txBody>
        </p:sp>
      </p:grpSp>
      <p:grpSp>
        <p:nvGrpSpPr>
          <p:cNvPr id="1228938" name="Group 138"/>
          <p:cNvGrpSpPr>
            <a:grpSpLocks/>
          </p:cNvGrpSpPr>
          <p:nvPr/>
        </p:nvGrpSpPr>
        <p:grpSpPr bwMode="auto">
          <a:xfrm>
            <a:off x="2301428" y="5003752"/>
            <a:ext cx="1108075" cy="646112"/>
            <a:chOff x="476" y="1552"/>
            <a:chExt cx="698" cy="407"/>
          </a:xfrm>
        </p:grpSpPr>
        <p:sp>
          <p:nvSpPr>
            <p:cNvPr id="1228939" name="Line 139"/>
            <p:cNvSpPr>
              <a:spLocks noChangeShapeType="1"/>
            </p:cNvSpPr>
            <p:nvPr/>
          </p:nvSpPr>
          <p:spPr bwMode="auto">
            <a:xfrm>
              <a:off x="902" y="1706"/>
              <a:ext cx="272" cy="0"/>
            </a:xfrm>
            <a:prstGeom prst="line">
              <a:avLst/>
            </a:prstGeom>
            <a:noFill/>
            <a:ln w="28575">
              <a:solidFill>
                <a:srgbClr val="C00000"/>
              </a:solidFill>
              <a:round/>
              <a:headEnd/>
              <a:tailEnd type="stealth" w="lg" len="lg"/>
            </a:ln>
            <a:effectLst/>
          </p:spPr>
          <p:txBody>
            <a:bodyPr/>
            <a:lstStyle/>
            <a:p>
              <a:endParaRPr lang="zh-CN" altLang="en-US">
                <a:solidFill>
                  <a:srgbClr val="C00000"/>
                </a:solidFill>
              </a:endParaRPr>
            </a:p>
          </p:txBody>
        </p:sp>
        <p:sp>
          <p:nvSpPr>
            <p:cNvPr id="1228940" name="Rectangle 140"/>
            <p:cNvSpPr>
              <a:spLocks noChangeArrowheads="1"/>
            </p:cNvSpPr>
            <p:nvPr/>
          </p:nvSpPr>
          <p:spPr bwMode="auto">
            <a:xfrm>
              <a:off x="476" y="1552"/>
              <a:ext cx="499" cy="407"/>
            </a:xfrm>
            <a:prstGeom prst="rect">
              <a:avLst/>
            </a:prstGeom>
            <a:noFill/>
            <a:ln w="9525" algn="ctr">
              <a:noFill/>
              <a:miter lim="800000"/>
              <a:headEnd/>
              <a:tailEnd/>
            </a:ln>
            <a:effectLst/>
          </p:spPr>
          <p:txBody>
            <a:bodyPr>
              <a:spAutoFit/>
            </a:bodyPr>
            <a:lstStyle/>
            <a:p>
              <a:pPr marL="342900" indent="-342900"/>
              <a:r>
                <a:rPr lang="en-US" altLang="zh-CN" sz="1800">
                  <a:solidFill>
                    <a:srgbClr val="C00000"/>
                  </a:solidFill>
                </a:rPr>
                <a:t>a+2</a:t>
              </a:r>
            </a:p>
            <a:p>
              <a:pPr marL="342900" indent="-342900"/>
              <a:r>
                <a:rPr lang="en-US" altLang="zh-CN" sz="1800">
                  <a:solidFill>
                    <a:srgbClr val="C00000"/>
                  </a:solidFill>
                </a:rPr>
                <a:t>&amp;a[2]</a:t>
              </a:r>
            </a:p>
          </p:txBody>
        </p:sp>
      </p:grpSp>
      <p:graphicFrame>
        <p:nvGraphicFramePr>
          <p:cNvPr id="1229088" name="Group 288"/>
          <p:cNvGraphicFramePr>
            <a:graphicFrameLocks noGrp="1"/>
          </p:cNvGraphicFramePr>
          <p:nvPr>
            <p:extLst>
              <p:ext uri="{D42A27DB-BD31-4B8C-83A1-F6EECF244321}">
                <p14:modId xmlns:p14="http://schemas.microsoft.com/office/powerpoint/2010/main" val="569810758"/>
              </p:ext>
            </p:extLst>
          </p:nvPr>
        </p:nvGraphicFramePr>
        <p:xfrm>
          <a:off x="4941441" y="2852688"/>
          <a:ext cx="5424487" cy="831788"/>
        </p:xfrm>
        <a:graphic>
          <a:graphicData uri="http://schemas.openxmlformats.org/drawingml/2006/table">
            <a:tbl>
              <a:tblPr/>
              <a:tblGrid>
                <a:gridCol w="1681162">
                  <a:extLst>
                    <a:ext uri="{9D8B030D-6E8A-4147-A177-3AD203B41FA5}">
                      <a16:colId xmlns:a16="http://schemas.microsoft.com/office/drawing/2014/main" val="20000"/>
                    </a:ext>
                  </a:extLst>
                </a:gridCol>
                <a:gridCol w="935038">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900113">
                  <a:extLst>
                    <a:ext uri="{9D8B030D-6E8A-4147-A177-3AD203B41FA5}">
                      <a16:colId xmlns:a16="http://schemas.microsoft.com/office/drawing/2014/main" val="20003"/>
                    </a:ext>
                  </a:extLst>
                </a:gridCol>
                <a:gridCol w="900112">
                  <a:extLst>
                    <a:ext uri="{9D8B030D-6E8A-4147-A177-3AD203B41FA5}">
                      <a16:colId xmlns:a16="http://schemas.microsoft.com/office/drawing/2014/main" val="20004"/>
                    </a:ext>
                  </a:extLst>
                </a:gridCol>
              </a:tblGrid>
              <a:tr h="4333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800" marB="46800"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a[0]+0</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a[0]+1</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002060"/>
                          </a:solidFill>
                          <a:effectLst/>
                          <a:latin typeface="Times New Roman" pitchFamily="18" charset="0"/>
                          <a:ea typeface="宋体" pitchFamily="2" charset="-122"/>
                        </a:rPr>
                        <a:t>a[0]+2</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a[0]+3</a:t>
                      </a:r>
                    </a:p>
                  </a:txBody>
                  <a:tcPr marL="90000" marR="90000" marT="46800" marB="46800" anchor="ctr" anchorCtr="1" horzOverflow="overflow">
                    <a:lnL>
                      <a:noFill/>
                    </a:lnL>
                    <a:lnR cap="flat">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rgbClr val="C00000"/>
                          </a:solidFill>
                          <a:effectLst/>
                          <a:latin typeface="楷体" pitchFamily="49" charset="-122"/>
                          <a:ea typeface="楷体" pitchFamily="49" charset="-122"/>
                        </a:rPr>
                        <a:t>一维数组</a:t>
                      </a: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a[0]</a:t>
                      </a:r>
                      <a:endParaRPr kumimoji="1" lang="en-US" altLang="zh-CN" sz="2800" b="1" i="0" u="none" strike="noStrike" cap="none" normalizeH="0" baseline="0" dirty="0">
                        <a:ln>
                          <a:noFill/>
                        </a:ln>
                        <a:solidFill>
                          <a:srgbClr val="C00000"/>
                        </a:solidFill>
                        <a:effectLst/>
                        <a:latin typeface="Times New Roman" pitchFamily="18" charset="0"/>
                        <a:ea typeface="宋体" pitchFamily="2" charset="-122"/>
                      </a:endParaRPr>
                    </a:p>
                  </a:txBody>
                  <a:tcPr marL="90000" marR="90000" marT="46800" marB="46800" anchor="ctr" anchorCtr="1" horzOverflow="overflow">
                    <a:lnL cap="flat">
                      <a:noFill/>
                    </a:lnL>
                    <a:lnR w="38100" cap="flat" cmpd="sng" algn="ctr">
                      <a:solidFill>
                        <a:srgbClr val="0066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a[0][0]</a:t>
                      </a:r>
                    </a:p>
                  </a:txBody>
                  <a:tcPr marL="90000" marR="90000" marT="46800" marB="46800" anchor="ctr" anchorCtr="1" horzOverflow="overflow">
                    <a:lnL w="38100"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a[0][1]</a:t>
                      </a:r>
                    </a:p>
                  </a:txBody>
                  <a:tcPr marL="90000" marR="90000" marT="46800" marB="46800" anchor="ctr" anchorCtr="1" horzOverflow="overflow">
                    <a:lnL w="28575"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a[0][2]</a:t>
                      </a:r>
                    </a:p>
                  </a:txBody>
                  <a:tcPr marL="90000" marR="90000" marT="46800" marB="46800" anchor="ctr" anchorCtr="1" horzOverflow="overflow">
                    <a:lnL w="28575"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a[0][3]</a:t>
                      </a:r>
                    </a:p>
                  </a:txBody>
                  <a:tcPr marL="90000" marR="90000" marT="46800" marB="46800" anchor="ctr" anchorCtr="1" horzOverflow="overflow">
                    <a:lnL w="28575"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229089" name="Group 289"/>
          <p:cNvGraphicFramePr>
            <a:graphicFrameLocks noGrp="1"/>
          </p:cNvGraphicFramePr>
          <p:nvPr>
            <p:extLst>
              <p:ext uri="{D42A27DB-BD31-4B8C-83A1-F6EECF244321}">
                <p14:modId xmlns:p14="http://schemas.microsoft.com/office/powerpoint/2010/main" val="2883464626"/>
              </p:ext>
            </p:extLst>
          </p:nvPr>
        </p:nvGraphicFramePr>
        <p:xfrm>
          <a:off x="4941441" y="4111577"/>
          <a:ext cx="5424487" cy="796863"/>
        </p:xfrm>
        <a:graphic>
          <a:graphicData uri="http://schemas.openxmlformats.org/drawingml/2006/table">
            <a:tbl>
              <a:tblPr/>
              <a:tblGrid>
                <a:gridCol w="1681162">
                  <a:extLst>
                    <a:ext uri="{9D8B030D-6E8A-4147-A177-3AD203B41FA5}">
                      <a16:colId xmlns:a16="http://schemas.microsoft.com/office/drawing/2014/main" val="20000"/>
                    </a:ext>
                  </a:extLst>
                </a:gridCol>
                <a:gridCol w="935038">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900113">
                  <a:extLst>
                    <a:ext uri="{9D8B030D-6E8A-4147-A177-3AD203B41FA5}">
                      <a16:colId xmlns:a16="http://schemas.microsoft.com/office/drawing/2014/main" val="20003"/>
                    </a:ext>
                  </a:extLst>
                </a:gridCol>
                <a:gridCol w="900112">
                  <a:extLst>
                    <a:ext uri="{9D8B030D-6E8A-4147-A177-3AD203B41FA5}">
                      <a16:colId xmlns:a16="http://schemas.microsoft.com/office/drawing/2014/main" val="20004"/>
                    </a:ext>
                  </a:extLst>
                </a:gridCol>
              </a:tblGrid>
              <a:tr h="398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800" marB="46800"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a[1]+0</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002060"/>
                          </a:solidFill>
                          <a:effectLst/>
                          <a:latin typeface="Times New Roman" pitchFamily="18" charset="0"/>
                          <a:ea typeface="宋体" pitchFamily="2" charset="-122"/>
                        </a:rPr>
                        <a:t>a[1]+1</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a[1]+2</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a[1]+3</a:t>
                      </a:r>
                    </a:p>
                  </a:txBody>
                  <a:tcPr marL="90000" marR="90000" marT="46800" marB="46800" anchor="ctr" anchorCtr="1" horzOverflow="overflow">
                    <a:lnL>
                      <a:noFill/>
                    </a:lnL>
                    <a:lnR cap="flat">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rgbClr val="C00000"/>
                          </a:solidFill>
                          <a:effectLst/>
                          <a:latin typeface="楷体" pitchFamily="49" charset="-122"/>
                          <a:ea typeface="楷体" pitchFamily="49" charset="-122"/>
                        </a:rPr>
                        <a:t>一维数组</a:t>
                      </a: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a[1]</a:t>
                      </a:r>
                      <a:endParaRPr kumimoji="1" lang="en-US" altLang="zh-CN" sz="2800" b="1" i="0" u="none" strike="noStrike" cap="none" normalizeH="0" baseline="0" dirty="0">
                        <a:ln>
                          <a:noFill/>
                        </a:ln>
                        <a:solidFill>
                          <a:srgbClr val="C00000"/>
                        </a:solidFill>
                        <a:effectLst/>
                        <a:latin typeface="Times New Roman" pitchFamily="18" charset="0"/>
                        <a:ea typeface="宋体" pitchFamily="2" charset="-122"/>
                      </a:endParaRPr>
                    </a:p>
                  </a:txBody>
                  <a:tcPr marL="90000" marR="90000" marT="46800" marB="46800" anchor="ctr" anchorCtr="1" horzOverflow="overflow">
                    <a:lnL cap="flat">
                      <a:noFill/>
                    </a:lnL>
                    <a:lnR w="38100" cap="flat" cmpd="sng" algn="ctr">
                      <a:solidFill>
                        <a:srgbClr val="0066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a[1][0]</a:t>
                      </a:r>
                    </a:p>
                  </a:txBody>
                  <a:tcPr marL="90000" marR="90000" marT="46800" marB="46800" anchor="ctr" anchorCtr="1" horzOverflow="overflow">
                    <a:lnL w="38100"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a[1][1]</a:t>
                      </a:r>
                    </a:p>
                  </a:txBody>
                  <a:tcPr marL="90000" marR="90000" marT="46800" marB="46800" anchor="ctr" anchorCtr="1" horzOverflow="overflow">
                    <a:lnL w="28575"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a[1][2]</a:t>
                      </a:r>
                    </a:p>
                  </a:txBody>
                  <a:tcPr marL="90000" marR="90000" marT="46800" marB="46800" anchor="ctr" anchorCtr="1" horzOverflow="overflow">
                    <a:lnL w="28575"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a[1][3]</a:t>
                      </a:r>
                    </a:p>
                  </a:txBody>
                  <a:tcPr marL="90000" marR="90000" marT="46800" marB="46800" anchor="ctr" anchorCtr="1" horzOverflow="overflow">
                    <a:lnL w="28575"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229065" name="Group 265"/>
          <p:cNvGraphicFramePr>
            <a:graphicFrameLocks noGrp="1"/>
          </p:cNvGraphicFramePr>
          <p:nvPr>
            <p:extLst>
              <p:ext uri="{D42A27DB-BD31-4B8C-83A1-F6EECF244321}">
                <p14:modId xmlns:p14="http://schemas.microsoft.com/office/powerpoint/2010/main" val="1389208163"/>
              </p:ext>
            </p:extLst>
          </p:nvPr>
        </p:nvGraphicFramePr>
        <p:xfrm>
          <a:off x="4941441" y="5443488"/>
          <a:ext cx="5424487" cy="796800"/>
        </p:xfrm>
        <a:graphic>
          <a:graphicData uri="http://schemas.openxmlformats.org/drawingml/2006/table">
            <a:tbl>
              <a:tblPr/>
              <a:tblGrid>
                <a:gridCol w="1681162">
                  <a:extLst>
                    <a:ext uri="{9D8B030D-6E8A-4147-A177-3AD203B41FA5}">
                      <a16:colId xmlns:a16="http://schemas.microsoft.com/office/drawing/2014/main" val="20000"/>
                    </a:ext>
                  </a:extLst>
                </a:gridCol>
                <a:gridCol w="935038">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900113">
                  <a:extLst>
                    <a:ext uri="{9D8B030D-6E8A-4147-A177-3AD203B41FA5}">
                      <a16:colId xmlns:a16="http://schemas.microsoft.com/office/drawing/2014/main" val="20003"/>
                    </a:ext>
                  </a:extLst>
                </a:gridCol>
                <a:gridCol w="900112">
                  <a:extLst>
                    <a:ext uri="{9D8B030D-6E8A-4147-A177-3AD203B41FA5}">
                      <a16:colId xmlns:a16="http://schemas.microsoft.com/office/drawing/2014/main" val="20004"/>
                    </a:ext>
                  </a:extLst>
                </a:gridCol>
              </a:tblGrid>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800" marB="46800"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a[2]+0</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002060"/>
                          </a:solidFill>
                          <a:effectLst/>
                          <a:latin typeface="Times New Roman" pitchFamily="18" charset="0"/>
                          <a:ea typeface="宋体" pitchFamily="2" charset="-122"/>
                        </a:rPr>
                        <a:t>a[2]+1</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a[2]+2</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Times New Roman" pitchFamily="18" charset="0"/>
                          <a:ea typeface="宋体" pitchFamily="2" charset="-122"/>
                        </a:rPr>
                        <a:t>a[2]+3</a:t>
                      </a:r>
                    </a:p>
                  </a:txBody>
                  <a:tcPr marL="90000" marR="90000" marT="46800" marB="46800" anchor="ctr" anchorCtr="1" horzOverflow="overflow">
                    <a:lnL>
                      <a:noFill/>
                    </a:lnL>
                    <a:lnR cap="flat">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rgbClr val="C00000"/>
                          </a:solidFill>
                          <a:effectLst/>
                          <a:latin typeface="楷体" pitchFamily="49" charset="-122"/>
                          <a:ea typeface="楷体" pitchFamily="49" charset="-122"/>
                        </a:rPr>
                        <a:t>一维数组</a:t>
                      </a: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a[2]</a:t>
                      </a:r>
                      <a:endParaRPr kumimoji="1" lang="en-US" altLang="zh-CN" sz="2800" b="1" i="0" u="none" strike="noStrike" cap="none" normalizeH="0" baseline="0" dirty="0">
                        <a:ln>
                          <a:noFill/>
                        </a:ln>
                        <a:solidFill>
                          <a:srgbClr val="C00000"/>
                        </a:solidFill>
                        <a:effectLst/>
                        <a:latin typeface="Times New Roman" pitchFamily="18" charset="0"/>
                        <a:ea typeface="宋体" pitchFamily="2" charset="-122"/>
                      </a:endParaRPr>
                    </a:p>
                  </a:txBody>
                  <a:tcPr marL="90000" marR="90000" marT="46800" marB="46800" anchor="ctr" anchorCtr="1" horzOverflow="overflow">
                    <a:lnL cap="flat">
                      <a:noFill/>
                    </a:lnL>
                    <a:lnR w="38100" cap="flat" cmpd="sng" algn="ctr">
                      <a:solidFill>
                        <a:srgbClr val="0066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a[2][0]</a:t>
                      </a:r>
                    </a:p>
                  </a:txBody>
                  <a:tcPr marL="90000" marR="90000" marT="46800" marB="46800" anchor="ctr" anchorCtr="1" horzOverflow="overflow">
                    <a:lnL w="38100"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a[2][1]</a:t>
                      </a:r>
                    </a:p>
                  </a:txBody>
                  <a:tcPr marL="90000" marR="90000" marT="46800" marB="46800" anchor="ctr" anchorCtr="1" horzOverflow="overflow">
                    <a:lnL w="28575"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a[2][2]</a:t>
                      </a:r>
                    </a:p>
                  </a:txBody>
                  <a:tcPr marL="90000" marR="90000" marT="46800" marB="46800" anchor="ctr" anchorCtr="1" horzOverflow="overflow">
                    <a:lnL w="28575"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a[2][3]</a:t>
                      </a:r>
                    </a:p>
                  </a:txBody>
                  <a:tcPr marL="90000" marR="90000" marT="46800" marB="46800" anchor="ctr" anchorCtr="1" horzOverflow="overflow">
                    <a:lnL w="28575"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29066" name="AutoShape 266"/>
          <p:cNvSpPr>
            <a:spLocks noChangeArrowheads="1"/>
          </p:cNvSpPr>
          <p:nvPr/>
        </p:nvSpPr>
        <p:spPr bwMode="auto">
          <a:xfrm>
            <a:off x="5254177" y="2636789"/>
            <a:ext cx="1150938" cy="360363"/>
          </a:xfrm>
          <a:prstGeom prst="wedgeRoundRectCallout">
            <a:avLst>
              <a:gd name="adj1" fmla="val 74690"/>
              <a:gd name="adj2" fmla="val 94495"/>
              <a:gd name="adj3" fmla="val 16667"/>
            </a:avLst>
          </a:prstGeom>
          <a:gradFill rotWithShape="1">
            <a:gsLst>
              <a:gs pos="0">
                <a:srgbClr val="DDFAED"/>
              </a:gs>
              <a:gs pos="100000">
                <a:schemeClr val="bg1"/>
              </a:gs>
            </a:gsLst>
            <a:lin ang="5400000" scaled="1"/>
          </a:gradFill>
          <a:ln w="9525" algn="ctr">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1800">
                <a:solidFill>
                  <a:srgbClr val="002060"/>
                </a:solidFill>
                <a:latin typeface="+mn-lt"/>
                <a:ea typeface="楷体" pitchFamily="49" charset="-122"/>
              </a:rPr>
              <a:t>列地址</a:t>
            </a:r>
          </a:p>
        </p:txBody>
      </p:sp>
      <p:sp>
        <p:nvSpPr>
          <p:cNvPr id="1229067" name="AutoShape 267"/>
          <p:cNvSpPr>
            <a:spLocks noChangeArrowheads="1"/>
          </p:cNvSpPr>
          <p:nvPr/>
        </p:nvSpPr>
        <p:spPr bwMode="auto">
          <a:xfrm>
            <a:off x="5254177" y="3933776"/>
            <a:ext cx="1150938" cy="360362"/>
          </a:xfrm>
          <a:prstGeom prst="wedgeRoundRectCallout">
            <a:avLst>
              <a:gd name="adj1" fmla="val 74690"/>
              <a:gd name="adj2" fmla="val 94495"/>
              <a:gd name="adj3" fmla="val 16667"/>
            </a:avLst>
          </a:prstGeom>
          <a:gradFill rotWithShape="1">
            <a:gsLst>
              <a:gs pos="0">
                <a:srgbClr val="DDFAED"/>
              </a:gs>
              <a:gs pos="100000">
                <a:schemeClr val="bg1"/>
              </a:gs>
            </a:gsLst>
            <a:lin ang="5400000" scaled="1"/>
          </a:gradFill>
          <a:ln w="9525" algn="ctr">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1800">
                <a:solidFill>
                  <a:srgbClr val="002060"/>
                </a:solidFill>
                <a:latin typeface="+mn-lt"/>
                <a:ea typeface="楷体" pitchFamily="49" charset="-122"/>
              </a:rPr>
              <a:t>列地址</a:t>
            </a:r>
          </a:p>
        </p:txBody>
      </p:sp>
      <p:sp>
        <p:nvSpPr>
          <p:cNvPr id="1229068" name="AutoShape 268"/>
          <p:cNvSpPr>
            <a:spLocks noChangeArrowheads="1"/>
          </p:cNvSpPr>
          <p:nvPr/>
        </p:nvSpPr>
        <p:spPr bwMode="auto">
          <a:xfrm>
            <a:off x="5254177" y="5229176"/>
            <a:ext cx="1150938" cy="360362"/>
          </a:xfrm>
          <a:prstGeom prst="wedgeRoundRectCallout">
            <a:avLst>
              <a:gd name="adj1" fmla="val 74690"/>
              <a:gd name="adj2" fmla="val 94495"/>
              <a:gd name="adj3" fmla="val 16667"/>
            </a:avLst>
          </a:prstGeom>
          <a:gradFill rotWithShape="1">
            <a:gsLst>
              <a:gs pos="0">
                <a:srgbClr val="DDFAED"/>
              </a:gs>
              <a:gs pos="100000">
                <a:schemeClr val="bg1"/>
              </a:gs>
            </a:gsLst>
            <a:lin ang="5400000" scaled="1"/>
          </a:gradFill>
          <a:ln w="9525" algn="ctr">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1800">
                <a:solidFill>
                  <a:srgbClr val="002060"/>
                </a:solidFill>
                <a:latin typeface="+mn-lt"/>
                <a:ea typeface="楷体" pitchFamily="49" charset="-122"/>
              </a:rPr>
              <a:t>列地址</a:t>
            </a:r>
          </a:p>
        </p:txBody>
      </p:sp>
      <p:sp>
        <p:nvSpPr>
          <p:cNvPr id="1229069" name="AutoShape 269"/>
          <p:cNvSpPr>
            <a:spLocks noChangeArrowheads="1"/>
          </p:cNvSpPr>
          <p:nvPr/>
        </p:nvSpPr>
        <p:spPr bwMode="auto">
          <a:xfrm>
            <a:off x="2445891" y="2493914"/>
            <a:ext cx="1150937" cy="360363"/>
          </a:xfrm>
          <a:prstGeom prst="wedgeRoundRectCallout">
            <a:avLst>
              <a:gd name="adj1" fmla="val -42690"/>
              <a:gd name="adj2" fmla="val 204185"/>
              <a:gd name="adj3" fmla="val 16667"/>
            </a:avLst>
          </a:prstGeom>
          <a:gradFill rotWithShape="1">
            <a:gsLst>
              <a:gs pos="0">
                <a:srgbClr val="F0E5B7"/>
              </a:gs>
              <a:gs pos="100000">
                <a:schemeClr val="bg1"/>
              </a:gs>
            </a:gsLst>
            <a:lin ang="5400000" scaled="1"/>
          </a:gradFill>
          <a:ln w="9525" algn="ctr">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1800">
                <a:solidFill>
                  <a:srgbClr val="C00000"/>
                </a:solidFill>
                <a:latin typeface="+mn-lt"/>
                <a:ea typeface="楷体" pitchFamily="49" charset="-122"/>
              </a:rPr>
              <a:t>行地址</a:t>
            </a:r>
          </a:p>
        </p:txBody>
      </p:sp>
      <p:grpSp>
        <p:nvGrpSpPr>
          <p:cNvPr id="1229085" name="Group 285"/>
          <p:cNvGrpSpPr>
            <a:grpSpLocks/>
          </p:cNvGrpSpPr>
          <p:nvPr/>
        </p:nvGrpSpPr>
        <p:grpSpPr bwMode="auto">
          <a:xfrm>
            <a:off x="4101653" y="2420888"/>
            <a:ext cx="3095625" cy="1296988"/>
            <a:chOff x="1610" y="935"/>
            <a:chExt cx="1950" cy="817"/>
          </a:xfrm>
        </p:grpSpPr>
        <p:sp>
          <p:nvSpPr>
            <p:cNvPr id="1229070" name="Line 270"/>
            <p:cNvSpPr>
              <a:spLocks noChangeShapeType="1"/>
            </p:cNvSpPr>
            <p:nvPr/>
          </p:nvSpPr>
          <p:spPr bwMode="auto">
            <a:xfrm>
              <a:off x="1610" y="1752"/>
              <a:ext cx="363" cy="0"/>
            </a:xfrm>
            <a:prstGeom prst="line">
              <a:avLst/>
            </a:prstGeom>
            <a:noFill/>
            <a:ln w="28575">
              <a:solidFill>
                <a:srgbClr val="002060"/>
              </a:solidFill>
              <a:round/>
              <a:headEnd/>
              <a:tailEnd/>
            </a:ln>
            <a:effectLst/>
          </p:spPr>
          <p:txBody>
            <a:bodyPr/>
            <a:lstStyle/>
            <a:p>
              <a:endParaRPr lang="zh-CN" altLang="en-US"/>
            </a:p>
          </p:txBody>
        </p:sp>
        <p:sp>
          <p:nvSpPr>
            <p:cNvPr id="1229071" name="Line 271"/>
            <p:cNvSpPr>
              <a:spLocks noChangeShapeType="1"/>
            </p:cNvSpPr>
            <p:nvPr/>
          </p:nvSpPr>
          <p:spPr bwMode="auto">
            <a:xfrm flipV="1">
              <a:off x="1973" y="935"/>
              <a:ext cx="0" cy="817"/>
            </a:xfrm>
            <a:prstGeom prst="line">
              <a:avLst/>
            </a:prstGeom>
            <a:noFill/>
            <a:ln w="28575">
              <a:solidFill>
                <a:srgbClr val="002060"/>
              </a:solidFill>
              <a:round/>
              <a:headEnd/>
              <a:tailEnd/>
            </a:ln>
            <a:effectLst/>
          </p:spPr>
          <p:txBody>
            <a:bodyPr/>
            <a:lstStyle/>
            <a:p>
              <a:endParaRPr lang="zh-CN" altLang="en-US"/>
            </a:p>
          </p:txBody>
        </p:sp>
        <p:sp>
          <p:nvSpPr>
            <p:cNvPr id="1229073" name="Line 273"/>
            <p:cNvSpPr>
              <a:spLocks noChangeShapeType="1"/>
            </p:cNvSpPr>
            <p:nvPr/>
          </p:nvSpPr>
          <p:spPr bwMode="auto">
            <a:xfrm>
              <a:off x="1973" y="935"/>
              <a:ext cx="1587" cy="0"/>
            </a:xfrm>
            <a:prstGeom prst="line">
              <a:avLst/>
            </a:prstGeom>
            <a:noFill/>
            <a:ln w="28575">
              <a:solidFill>
                <a:srgbClr val="002060"/>
              </a:solidFill>
              <a:round/>
              <a:headEnd/>
              <a:tailEnd/>
            </a:ln>
            <a:effectLst/>
          </p:spPr>
          <p:txBody>
            <a:bodyPr/>
            <a:lstStyle/>
            <a:p>
              <a:endParaRPr lang="zh-CN" altLang="en-US"/>
            </a:p>
          </p:txBody>
        </p:sp>
        <p:sp>
          <p:nvSpPr>
            <p:cNvPr id="1229074" name="Line 274"/>
            <p:cNvSpPr>
              <a:spLocks noChangeShapeType="1"/>
            </p:cNvSpPr>
            <p:nvPr/>
          </p:nvSpPr>
          <p:spPr bwMode="auto">
            <a:xfrm>
              <a:off x="3551" y="935"/>
              <a:ext cx="0" cy="318"/>
            </a:xfrm>
            <a:prstGeom prst="line">
              <a:avLst/>
            </a:prstGeom>
            <a:noFill/>
            <a:ln w="28575">
              <a:solidFill>
                <a:srgbClr val="002060"/>
              </a:solidFill>
              <a:round/>
              <a:headEnd/>
              <a:tailEnd type="stealth" w="lg" len="lg"/>
            </a:ln>
            <a:effectLst/>
          </p:spPr>
          <p:txBody>
            <a:bodyPr/>
            <a:lstStyle/>
            <a:p>
              <a:endParaRPr lang="zh-CN" altLang="en-US"/>
            </a:p>
          </p:txBody>
        </p:sp>
      </p:grpSp>
      <p:grpSp>
        <p:nvGrpSpPr>
          <p:cNvPr id="1229084" name="Group 284"/>
          <p:cNvGrpSpPr>
            <a:grpSpLocks/>
          </p:cNvGrpSpPr>
          <p:nvPr/>
        </p:nvGrpSpPr>
        <p:grpSpPr bwMode="auto">
          <a:xfrm>
            <a:off x="4146103" y="3760738"/>
            <a:ext cx="3051175" cy="719138"/>
            <a:chOff x="1638" y="1752"/>
            <a:chExt cx="1922" cy="453"/>
          </a:xfrm>
        </p:grpSpPr>
        <p:sp>
          <p:nvSpPr>
            <p:cNvPr id="1229075" name="Line 275"/>
            <p:cNvSpPr>
              <a:spLocks noChangeShapeType="1"/>
            </p:cNvSpPr>
            <p:nvPr/>
          </p:nvSpPr>
          <p:spPr bwMode="auto">
            <a:xfrm>
              <a:off x="3551" y="1752"/>
              <a:ext cx="0" cy="318"/>
            </a:xfrm>
            <a:prstGeom prst="line">
              <a:avLst/>
            </a:prstGeom>
            <a:noFill/>
            <a:ln w="28575">
              <a:solidFill>
                <a:srgbClr val="002060"/>
              </a:solidFill>
              <a:round/>
              <a:headEnd/>
              <a:tailEnd type="stealth" w="lg" len="lg"/>
            </a:ln>
            <a:effectLst/>
          </p:spPr>
          <p:txBody>
            <a:bodyPr/>
            <a:lstStyle/>
            <a:p>
              <a:endParaRPr lang="zh-CN" altLang="en-US"/>
            </a:p>
          </p:txBody>
        </p:sp>
        <p:sp>
          <p:nvSpPr>
            <p:cNvPr id="1229076" name="Line 276"/>
            <p:cNvSpPr>
              <a:spLocks noChangeShapeType="1"/>
            </p:cNvSpPr>
            <p:nvPr/>
          </p:nvSpPr>
          <p:spPr bwMode="auto">
            <a:xfrm>
              <a:off x="1638" y="2205"/>
              <a:ext cx="471" cy="0"/>
            </a:xfrm>
            <a:prstGeom prst="line">
              <a:avLst/>
            </a:prstGeom>
            <a:noFill/>
            <a:ln w="28575">
              <a:solidFill>
                <a:srgbClr val="002060"/>
              </a:solidFill>
              <a:round/>
              <a:headEnd/>
              <a:tailEnd/>
            </a:ln>
            <a:effectLst/>
          </p:spPr>
          <p:txBody>
            <a:bodyPr/>
            <a:lstStyle/>
            <a:p>
              <a:endParaRPr lang="zh-CN" altLang="en-US"/>
            </a:p>
          </p:txBody>
        </p:sp>
        <p:sp>
          <p:nvSpPr>
            <p:cNvPr id="1229077" name="Line 277"/>
            <p:cNvSpPr>
              <a:spLocks noChangeShapeType="1"/>
            </p:cNvSpPr>
            <p:nvPr/>
          </p:nvSpPr>
          <p:spPr bwMode="auto">
            <a:xfrm flipV="1">
              <a:off x="2109" y="1752"/>
              <a:ext cx="0" cy="453"/>
            </a:xfrm>
            <a:prstGeom prst="line">
              <a:avLst/>
            </a:prstGeom>
            <a:noFill/>
            <a:ln w="28575">
              <a:solidFill>
                <a:srgbClr val="002060"/>
              </a:solidFill>
              <a:round/>
              <a:headEnd/>
              <a:tailEnd/>
            </a:ln>
            <a:effectLst/>
          </p:spPr>
          <p:txBody>
            <a:bodyPr/>
            <a:lstStyle/>
            <a:p>
              <a:endParaRPr lang="zh-CN" altLang="en-US"/>
            </a:p>
          </p:txBody>
        </p:sp>
        <p:sp>
          <p:nvSpPr>
            <p:cNvPr id="1229078" name="Line 278"/>
            <p:cNvSpPr>
              <a:spLocks noChangeShapeType="1"/>
            </p:cNvSpPr>
            <p:nvPr/>
          </p:nvSpPr>
          <p:spPr bwMode="auto">
            <a:xfrm flipV="1">
              <a:off x="2100" y="1752"/>
              <a:ext cx="1460" cy="9"/>
            </a:xfrm>
            <a:prstGeom prst="line">
              <a:avLst/>
            </a:prstGeom>
            <a:noFill/>
            <a:ln w="28575">
              <a:solidFill>
                <a:srgbClr val="002060"/>
              </a:solidFill>
              <a:round/>
              <a:headEnd/>
              <a:tailEnd/>
            </a:ln>
            <a:effectLst/>
          </p:spPr>
          <p:txBody>
            <a:bodyPr/>
            <a:lstStyle/>
            <a:p>
              <a:endParaRPr lang="zh-CN" altLang="en-US"/>
            </a:p>
          </p:txBody>
        </p:sp>
      </p:grpSp>
      <p:grpSp>
        <p:nvGrpSpPr>
          <p:cNvPr id="1229083" name="Group 283"/>
          <p:cNvGrpSpPr>
            <a:grpSpLocks/>
          </p:cNvGrpSpPr>
          <p:nvPr/>
        </p:nvGrpSpPr>
        <p:grpSpPr bwMode="auto">
          <a:xfrm>
            <a:off x="4146103" y="5072014"/>
            <a:ext cx="3051175" cy="517525"/>
            <a:chOff x="1638" y="2605"/>
            <a:chExt cx="1922" cy="326"/>
          </a:xfrm>
        </p:grpSpPr>
        <p:sp>
          <p:nvSpPr>
            <p:cNvPr id="1229079" name="Line 279"/>
            <p:cNvSpPr>
              <a:spLocks noChangeShapeType="1"/>
            </p:cNvSpPr>
            <p:nvPr/>
          </p:nvSpPr>
          <p:spPr bwMode="auto">
            <a:xfrm>
              <a:off x="1638" y="2704"/>
              <a:ext cx="471" cy="0"/>
            </a:xfrm>
            <a:prstGeom prst="line">
              <a:avLst/>
            </a:prstGeom>
            <a:noFill/>
            <a:ln w="28575">
              <a:solidFill>
                <a:srgbClr val="002060"/>
              </a:solidFill>
              <a:round/>
              <a:headEnd/>
              <a:tailEnd/>
            </a:ln>
            <a:effectLst/>
          </p:spPr>
          <p:txBody>
            <a:bodyPr/>
            <a:lstStyle/>
            <a:p>
              <a:endParaRPr lang="zh-CN" altLang="en-US"/>
            </a:p>
          </p:txBody>
        </p:sp>
        <p:sp>
          <p:nvSpPr>
            <p:cNvPr id="1229080" name="Line 280"/>
            <p:cNvSpPr>
              <a:spLocks noChangeShapeType="1"/>
            </p:cNvSpPr>
            <p:nvPr/>
          </p:nvSpPr>
          <p:spPr bwMode="auto">
            <a:xfrm>
              <a:off x="3551" y="2613"/>
              <a:ext cx="0" cy="318"/>
            </a:xfrm>
            <a:prstGeom prst="line">
              <a:avLst/>
            </a:prstGeom>
            <a:noFill/>
            <a:ln w="28575">
              <a:solidFill>
                <a:srgbClr val="002060"/>
              </a:solidFill>
              <a:round/>
              <a:headEnd/>
              <a:tailEnd type="stealth" w="lg" len="lg"/>
            </a:ln>
            <a:effectLst/>
          </p:spPr>
          <p:txBody>
            <a:bodyPr/>
            <a:lstStyle/>
            <a:p>
              <a:endParaRPr lang="zh-CN" altLang="en-US"/>
            </a:p>
          </p:txBody>
        </p:sp>
        <p:sp>
          <p:nvSpPr>
            <p:cNvPr id="1229081" name="Line 281"/>
            <p:cNvSpPr>
              <a:spLocks noChangeShapeType="1"/>
            </p:cNvSpPr>
            <p:nvPr/>
          </p:nvSpPr>
          <p:spPr bwMode="auto">
            <a:xfrm flipV="1">
              <a:off x="2100" y="2605"/>
              <a:ext cx="1460" cy="9"/>
            </a:xfrm>
            <a:prstGeom prst="line">
              <a:avLst/>
            </a:prstGeom>
            <a:noFill/>
            <a:ln w="28575">
              <a:solidFill>
                <a:srgbClr val="002060"/>
              </a:solidFill>
              <a:round/>
              <a:headEnd/>
              <a:tailEnd/>
            </a:ln>
            <a:effectLst/>
          </p:spPr>
          <p:txBody>
            <a:bodyPr/>
            <a:lstStyle/>
            <a:p>
              <a:endParaRPr lang="zh-CN" altLang="en-US"/>
            </a:p>
          </p:txBody>
        </p:sp>
        <p:sp>
          <p:nvSpPr>
            <p:cNvPr id="1229082" name="Line 282"/>
            <p:cNvSpPr>
              <a:spLocks noChangeShapeType="1"/>
            </p:cNvSpPr>
            <p:nvPr/>
          </p:nvSpPr>
          <p:spPr bwMode="auto">
            <a:xfrm flipV="1">
              <a:off x="2109" y="2614"/>
              <a:ext cx="0" cy="90"/>
            </a:xfrm>
            <a:prstGeom prst="line">
              <a:avLst/>
            </a:prstGeom>
            <a:noFill/>
            <a:ln w="28575">
              <a:solidFill>
                <a:srgbClr val="002060"/>
              </a:solidFill>
              <a:round/>
              <a:headEnd/>
              <a:tailEnd/>
            </a:ln>
            <a:effectLst/>
          </p:spPr>
          <p:txBody>
            <a:bodyPr/>
            <a:lstStyle/>
            <a:p>
              <a:endParaRPr lang="zh-CN" altLang="en-US"/>
            </a:p>
          </p:txBody>
        </p:sp>
      </p:grpSp>
      <p:sp>
        <p:nvSpPr>
          <p:cNvPr id="1229086" name="Text Box 286"/>
          <p:cNvSpPr txBox="1">
            <a:spLocks noChangeArrowheads="1"/>
          </p:cNvSpPr>
          <p:nvPr/>
        </p:nvSpPr>
        <p:spPr bwMode="auto">
          <a:xfrm>
            <a:off x="3165028" y="5805438"/>
            <a:ext cx="1223963" cy="369332"/>
          </a:xfrm>
          <a:prstGeom prst="rect">
            <a:avLst/>
          </a:prstGeom>
          <a:noFill/>
          <a:ln w="9525" algn="ctr">
            <a:noFill/>
            <a:miter lim="800000"/>
            <a:headEnd/>
            <a:tailEnd/>
          </a:ln>
          <a:effectLst/>
        </p:spPr>
        <p:txBody>
          <a:bodyPr>
            <a:spAutoFit/>
          </a:bodyPr>
          <a:lstStyle/>
          <a:p>
            <a:pPr marL="342900" indent="-342900">
              <a:spcBef>
                <a:spcPct val="50000"/>
              </a:spcBef>
            </a:pPr>
            <a:r>
              <a:rPr lang="zh-CN" altLang="en-US" sz="1800">
                <a:solidFill>
                  <a:srgbClr val="C00000"/>
                </a:solidFill>
                <a:latin typeface="+mn-lt"/>
                <a:ea typeface="楷体" pitchFamily="49" charset="-122"/>
              </a:rPr>
              <a:t>一维数组</a:t>
            </a:r>
            <a:r>
              <a:rPr lang="en-US" altLang="zh-CN" sz="1800">
                <a:solidFill>
                  <a:srgbClr val="C00000"/>
                </a:solidFill>
                <a:latin typeface="+mn-lt"/>
                <a:ea typeface="楷体" pitchFamily="49" charset="-122"/>
              </a:rPr>
              <a:t>a</a:t>
            </a:r>
          </a:p>
        </p:txBody>
      </p:sp>
      <p:sp>
        <p:nvSpPr>
          <p:cNvPr id="1229090" name="Text Box 290"/>
          <p:cNvSpPr txBox="1">
            <a:spLocks noChangeArrowheads="1"/>
          </p:cNvSpPr>
          <p:nvPr/>
        </p:nvSpPr>
        <p:spPr bwMode="auto">
          <a:xfrm>
            <a:off x="1294750" y="1833375"/>
            <a:ext cx="2953065" cy="584775"/>
          </a:xfrm>
          <a:prstGeom prst="rect">
            <a:avLst/>
          </a:prstGeom>
          <a:noFill/>
          <a:ln w="9525" algn="ctr">
            <a:noFill/>
            <a:miter lim="800000"/>
            <a:headEnd/>
            <a:tailEnd/>
          </a:ln>
          <a:effectLst/>
        </p:spPr>
        <p:txBody>
          <a:bodyPr wrap="square">
            <a:spAutoFit/>
          </a:bodyPr>
          <a:lstStyle/>
          <a:p>
            <a:pPr marL="342900" indent="-342900">
              <a:spcBef>
                <a:spcPct val="50000"/>
              </a:spcBef>
            </a:pPr>
            <a:r>
              <a:rPr lang="en-US" altLang="zh-CN" sz="3200" dirty="0">
                <a:solidFill>
                  <a:srgbClr val="C00000"/>
                </a:solidFill>
              </a:rPr>
              <a:t>short a[3][4];</a:t>
            </a:r>
          </a:p>
        </p:txBody>
      </p:sp>
      <p:sp>
        <p:nvSpPr>
          <p:cNvPr id="41" name="Rectangle 4">
            <a:extLst>
              <a:ext uri="{FF2B5EF4-FFF2-40B4-BE49-F238E27FC236}">
                <a16:creationId xmlns:a16="http://schemas.microsoft.com/office/drawing/2014/main" id="{AFDC5EFC-91BD-4BED-BECA-DD87D45D4DD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28918"/>
                                        </p:tgtEl>
                                        <p:attrNameLst>
                                          <p:attrName>style.visibility</p:attrName>
                                        </p:attrNameLst>
                                      </p:cBhvr>
                                      <p:to>
                                        <p:strVal val="visible"/>
                                      </p:to>
                                    </p:set>
                                    <p:animEffect transition="in" filter="box(in)">
                                      <p:cBhvr>
                                        <p:cTn id="7" dur="500"/>
                                        <p:tgtEl>
                                          <p:spTgt spid="122891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29090"/>
                                        </p:tgtEl>
                                        <p:attrNameLst>
                                          <p:attrName>style.visibility</p:attrName>
                                        </p:attrNameLst>
                                      </p:cBhvr>
                                      <p:to>
                                        <p:strVal val="visible"/>
                                      </p:to>
                                    </p:set>
                                    <p:animEffect transition="in" filter="box(in)">
                                      <p:cBhvr>
                                        <p:cTn id="12" dur="500"/>
                                        <p:tgtEl>
                                          <p:spTgt spid="122909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229087"/>
                                        </p:tgtEl>
                                        <p:attrNameLst>
                                          <p:attrName>style.visibility</p:attrName>
                                        </p:attrNameLst>
                                      </p:cBhvr>
                                      <p:to>
                                        <p:strVal val="visible"/>
                                      </p:to>
                                    </p:set>
                                    <p:animEffect transition="in" filter="box(in)">
                                      <p:cBhvr>
                                        <p:cTn id="17" dur="500"/>
                                        <p:tgtEl>
                                          <p:spTgt spid="1229087"/>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par>
                          <p:cTn id="18" fill="hold">
                            <p:stCondLst>
                              <p:cond delay="500"/>
                            </p:stCondLst>
                            <p:childTnLst>
                              <p:par>
                                <p:cTn id="19" presetID="4" presetClass="entr" presetSubtype="16" fill="hold" grpId="0" nodeType="afterEffect">
                                  <p:stCondLst>
                                    <p:cond delay="0"/>
                                  </p:stCondLst>
                                  <p:childTnLst>
                                    <p:set>
                                      <p:cBhvr>
                                        <p:cTn id="20" dur="1" fill="hold">
                                          <p:stCondLst>
                                            <p:cond delay="0"/>
                                          </p:stCondLst>
                                        </p:cTn>
                                        <p:tgtEl>
                                          <p:spTgt spid="1229086"/>
                                        </p:tgtEl>
                                        <p:attrNameLst>
                                          <p:attrName>style.visibility</p:attrName>
                                        </p:attrNameLst>
                                      </p:cBhvr>
                                      <p:to>
                                        <p:strVal val="visible"/>
                                      </p:to>
                                    </p:set>
                                    <p:animEffect transition="in" filter="box(in)">
                                      <p:cBhvr>
                                        <p:cTn id="21" dur="500"/>
                                        <p:tgtEl>
                                          <p:spTgt spid="1229086"/>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par>
                          <p:cTn id="22" fill="hold">
                            <p:stCondLst>
                              <p:cond delay="1000"/>
                            </p:stCondLst>
                            <p:childTnLst>
                              <p:par>
                                <p:cTn id="23" presetID="18" presetClass="entr" presetSubtype="6" fill="hold" nodeType="afterEffect">
                                  <p:stCondLst>
                                    <p:cond delay="0"/>
                                  </p:stCondLst>
                                  <p:childTnLst>
                                    <p:set>
                                      <p:cBhvr>
                                        <p:cTn id="24" dur="1" fill="hold">
                                          <p:stCondLst>
                                            <p:cond delay="0"/>
                                          </p:stCondLst>
                                        </p:cTn>
                                        <p:tgtEl>
                                          <p:spTgt spid="1228934"/>
                                        </p:tgtEl>
                                        <p:attrNameLst>
                                          <p:attrName>style.visibility</p:attrName>
                                        </p:attrNameLst>
                                      </p:cBhvr>
                                      <p:to>
                                        <p:strVal val="visible"/>
                                      </p:to>
                                    </p:set>
                                    <p:animEffect transition="in" filter="strips(downRight)">
                                      <p:cBhvr>
                                        <p:cTn id="25" dur="500"/>
                                        <p:tgtEl>
                                          <p:spTgt spid="1228934"/>
                                        </p:tgtEl>
                                      </p:cBhvr>
                                    </p:animEffect>
                                  </p:childTnLst>
                                  <p:subTnLst>
                                    <p:audio>
                                      <p:cMediaNode>
                                        <p:cTn display="0" masterRel="sameClick">
                                          <p:stCondLst>
                                            <p:cond evt="begin" delay="0">
                                              <p:tn val="23"/>
                                            </p:cond>
                                          </p:stCondLst>
                                          <p:endCondLst>
                                            <p:cond evt="onStopAudio" delay="0">
                                              <p:tgtEl>
                                                <p:sldTgt/>
                                              </p:tgtEl>
                                            </p:cond>
                                          </p:endCondLst>
                                        </p:cTn>
                                        <p:tgtEl>
                                          <p:sndTgt r:embed="rId3" name="laser.wav"/>
                                        </p:tgtEl>
                                      </p:cMediaNode>
                                    </p:audio>
                                  </p:subTnLst>
                                </p:cTn>
                              </p:par>
                            </p:childTnLst>
                          </p:cTn>
                        </p:par>
                        <p:par>
                          <p:cTn id="26" fill="hold">
                            <p:stCondLst>
                              <p:cond delay="1500"/>
                            </p:stCondLst>
                            <p:childTnLst>
                              <p:par>
                                <p:cTn id="27" presetID="18" presetClass="entr" presetSubtype="6" fill="hold" nodeType="afterEffect">
                                  <p:stCondLst>
                                    <p:cond delay="0"/>
                                  </p:stCondLst>
                                  <p:childTnLst>
                                    <p:set>
                                      <p:cBhvr>
                                        <p:cTn id="28" dur="1" fill="hold">
                                          <p:stCondLst>
                                            <p:cond delay="0"/>
                                          </p:stCondLst>
                                        </p:cTn>
                                        <p:tgtEl>
                                          <p:spTgt spid="1228935"/>
                                        </p:tgtEl>
                                        <p:attrNameLst>
                                          <p:attrName>style.visibility</p:attrName>
                                        </p:attrNameLst>
                                      </p:cBhvr>
                                      <p:to>
                                        <p:strVal val="visible"/>
                                      </p:to>
                                    </p:set>
                                    <p:animEffect transition="in" filter="strips(downRight)">
                                      <p:cBhvr>
                                        <p:cTn id="29" dur="500"/>
                                        <p:tgtEl>
                                          <p:spTgt spid="1228935"/>
                                        </p:tgtEl>
                                      </p:cBhvr>
                                    </p:animEffect>
                                  </p:childTnLst>
                                  <p:subTnLst>
                                    <p:audio>
                                      <p:cMediaNode>
                                        <p:cTn display="0" masterRel="sameClick">
                                          <p:stCondLst>
                                            <p:cond evt="begin" delay="0">
                                              <p:tn val="27"/>
                                            </p:cond>
                                          </p:stCondLst>
                                          <p:endCondLst>
                                            <p:cond evt="onStopAudio" delay="0">
                                              <p:tgtEl>
                                                <p:sldTgt/>
                                              </p:tgtEl>
                                            </p:cond>
                                          </p:endCondLst>
                                        </p:cTn>
                                        <p:tgtEl>
                                          <p:sndTgt r:embed="rId3" name="laser.wav"/>
                                        </p:tgtEl>
                                      </p:cMediaNode>
                                    </p:audio>
                                  </p:subTnLst>
                                </p:cTn>
                              </p:par>
                            </p:childTnLst>
                          </p:cTn>
                        </p:par>
                        <p:par>
                          <p:cTn id="30" fill="hold">
                            <p:stCondLst>
                              <p:cond delay="2000"/>
                            </p:stCondLst>
                            <p:childTnLst>
                              <p:par>
                                <p:cTn id="31" presetID="18" presetClass="entr" presetSubtype="6" fill="hold" nodeType="afterEffect">
                                  <p:stCondLst>
                                    <p:cond delay="0"/>
                                  </p:stCondLst>
                                  <p:childTnLst>
                                    <p:set>
                                      <p:cBhvr>
                                        <p:cTn id="32" dur="1" fill="hold">
                                          <p:stCondLst>
                                            <p:cond delay="0"/>
                                          </p:stCondLst>
                                        </p:cTn>
                                        <p:tgtEl>
                                          <p:spTgt spid="1228938"/>
                                        </p:tgtEl>
                                        <p:attrNameLst>
                                          <p:attrName>style.visibility</p:attrName>
                                        </p:attrNameLst>
                                      </p:cBhvr>
                                      <p:to>
                                        <p:strVal val="visible"/>
                                      </p:to>
                                    </p:set>
                                    <p:animEffect transition="in" filter="strips(downRight)">
                                      <p:cBhvr>
                                        <p:cTn id="33" dur="500"/>
                                        <p:tgtEl>
                                          <p:spTgt spid="1228938"/>
                                        </p:tgtEl>
                                      </p:cBhvr>
                                    </p:animEffect>
                                  </p:childTnLst>
                                  <p:subTnLst>
                                    <p:audio>
                                      <p:cMediaNode>
                                        <p:cTn display="0" masterRel="sameClick">
                                          <p:stCondLst>
                                            <p:cond evt="begin" delay="0">
                                              <p:tn val="31"/>
                                            </p:cond>
                                          </p:stCondLst>
                                          <p:endCondLst>
                                            <p:cond evt="onStopAudio" delay="0">
                                              <p:tgtEl>
                                                <p:sldTgt/>
                                              </p:tgtEl>
                                            </p:cond>
                                          </p:endCondLst>
                                        </p:cTn>
                                        <p:tgtEl>
                                          <p:sndTgt r:embed="rId3" name="laser.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1229069"/>
                                        </p:tgtEl>
                                        <p:attrNameLst>
                                          <p:attrName>style.visibility</p:attrName>
                                        </p:attrNameLst>
                                      </p:cBhvr>
                                      <p:to>
                                        <p:strVal val="visible"/>
                                      </p:to>
                                    </p:set>
                                    <p:animEffect transition="in" filter="strips(upRight)">
                                      <p:cBhvr>
                                        <p:cTn id="38" dur="500"/>
                                        <p:tgtEl>
                                          <p:spTgt spid="1229069"/>
                                        </p:tgtEl>
                                      </p:cBhvr>
                                    </p:animEffect>
                                  </p:childTnLst>
                                  <p:subTnLst>
                                    <p:audio>
                                      <p:cMediaNode>
                                        <p:cTn display="0" masterRel="sameClick">
                                          <p:stCondLst>
                                            <p:cond evt="begin" delay="0">
                                              <p:tn val="36"/>
                                            </p:cond>
                                          </p:stCondLst>
                                          <p:endCondLst>
                                            <p:cond evt="onStopAudio" delay="0">
                                              <p:tgtEl>
                                                <p:sldTgt/>
                                              </p:tgtEl>
                                            </p:cond>
                                          </p:endCondLst>
                                        </p:cTn>
                                        <p:tgtEl>
                                          <p:sndTgt r:embed="rId4" name="chimes.wav"/>
                                        </p:tgtEl>
                                      </p:cMediaNode>
                                    </p:audio>
                                  </p:subTnLst>
                                </p:cTn>
                              </p:par>
                            </p:childTnLst>
                          </p:cTn>
                        </p:par>
                      </p:childTnLst>
                    </p:cTn>
                  </p:par>
                  <p:par>
                    <p:cTn id="39" fill="hold">
                      <p:stCondLst>
                        <p:cond delay="indefinite"/>
                      </p:stCondLst>
                      <p:childTnLst>
                        <p:par>
                          <p:cTn id="40" fill="hold">
                            <p:stCondLst>
                              <p:cond delay="0"/>
                            </p:stCondLst>
                            <p:childTnLst>
                              <p:par>
                                <p:cTn id="41" presetID="18" presetClass="entr" presetSubtype="3" fill="hold" nodeType="clickEffect">
                                  <p:stCondLst>
                                    <p:cond delay="0"/>
                                  </p:stCondLst>
                                  <p:childTnLst>
                                    <p:set>
                                      <p:cBhvr>
                                        <p:cTn id="42" dur="1" fill="hold">
                                          <p:stCondLst>
                                            <p:cond delay="0"/>
                                          </p:stCondLst>
                                        </p:cTn>
                                        <p:tgtEl>
                                          <p:spTgt spid="1229085"/>
                                        </p:tgtEl>
                                        <p:attrNameLst>
                                          <p:attrName>style.visibility</p:attrName>
                                        </p:attrNameLst>
                                      </p:cBhvr>
                                      <p:to>
                                        <p:strVal val="visible"/>
                                      </p:to>
                                    </p:set>
                                    <p:animEffect transition="in" filter="strips(upRight)">
                                      <p:cBhvr>
                                        <p:cTn id="43" dur="500"/>
                                        <p:tgtEl>
                                          <p:spTgt spid="1229085"/>
                                        </p:tgtEl>
                                      </p:cBhvr>
                                    </p:animEffect>
                                  </p:childTnLst>
                                  <p:subTnLst>
                                    <p:audio>
                                      <p:cMediaNode>
                                        <p:cTn display="0" masterRel="sameClick">
                                          <p:stCondLst>
                                            <p:cond evt="begin" delay="0">
                                              <p:tn val="41"/>
                                            </p:cond>
                                          </p:stCondLst>
                                          <p:endCondLst>
                                            <p:cond evt="onStopAudio" delay="0">
                                              <p:tgtEl>
                                                <p:sldTgt/>
                                              </p:tgtEl>
                                            </p:cond>
                                          </p:endCondLst>
                                        </p:cTn>
                                        <p:tgtEl>
                                          <p:sndTgt r:embed="rId3" name="laser.wav"/>
                                        </p:tgtEl>
                                      </p:cMediaNode>
                                    </p:audio>
                                  </p:subTnLst>
                                </p:cTn>
                              </p:par>
                            </p:childTnLst>
                          </p:cTn>
                        </p:par>
                        <p:par>
                          <p:cTn id="44" fill="hold">
                            <p:stCondLst>
                              <p:cond delay="500"/>
                            </p:stCondLst>
                            <p:childTnLst>
                              <p:par>
                                <p:cTn id="45" presetID="4" presetClass="entr" presetSubtype="16" fill="hold" nodeType="afterEffect">
                                  <p:stCondLst>
                                    <p:cond delay="0"/>
                                  </p:stCondLst>
                                  <p:childTnLst>
                                    <p:set>
                                      <p:cBhvr>
                                        <p:cTn id="46" dur="1" fill="hold">
                                          <p:stCondLst>
                                            <p:cond delay="0"/>
                                          </p:stCondLst>
                                        </p:cTn>
                                        <p:tgtEl>
                                          <p:spTgt spid="1229088"/>
                                        </p:tgtEl>
                                        <p:attrNameLst>
                                          <p:attrName>style.visibility</p:attrName>
                                        </p:attrNameLst>
                                      </p:cBhvr>
                                      <p:to>
                                        <p:strVal val="visible"/>
                                      </p:to>
                                    </p:set>
                                    <p:animEffect transition="in" filter="box(in)">
                                      <p:cBhvr>
                                        <p:cTn id="47" dur="500"/>
                                        <p:tgtEl>
                                          <p:spTgt spid="1229088"/>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1229066"/>
                                        </p:tgtEl>
                                        <p:attrNameLst>
                                          <p:attrName>style.visibility</p:attrName>
                                        </p:attrNameLst>
                                      </p:cBhvr>
                                      <p:to>
                                        <p:strVal val="visible"/>
                                      </p:to>
                                    </p:set>
                                    <p:animEffect transition="in" filter="strips(downLeft)">
                                      <p:cBhvr>
                                        <p:cTn id="52" dur="500"/>
                                        <p:tgtEl>
                                          <p:spTgt spid="1229066"/>
                                        </p:tgtEl>
                                      </p:cBhvr>
                                    </p:animEffect>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childTnLst>
                          </p:cTn>
                        </p:par>
                      </p:childTnLst>
                    </p:cTn>
                  </p:par>
                  <p:par>
                    <p:cTn id="53" fill="hold">
                      <p:stCondLst>
                        <p:cond delay="indefinite"/>
                      </p:stCondLst>
                      <p:childTnLst>
                        <p:par>
                          <p:cTn id="54" fill="hold">
                            <p:stCondLst>
                              <p:cond delay="0"/>
                            </p:stCondLst>
                            <p:childTnLst>
                              <p:par>
                                <p:cTn id="55" presetID="18" presetClass="entr" presetSubtype="3" fill="hold" nodeType="clickEffect">
                                  <p:stCondLst>
                                    <p:cond delay="0"/>
                                  </p:stCondLst>
                                  <p:childTnLst>
                                    <p:set>
                                      <p:cBhvr>
                                        <p:cTn id="56" dur="1" fill="hold">
                                          <p:stCondLst>
                                            <p:cond delay="0"/>
                                          </p:stCondLst>
                                        </p:cTn>
                                        <p:tgtEl>
                                          <p:spTgt spid="1229084"/>
                                        </p:tgtEl>
                                        <p:attrNameLst>
                                          <p:attrName>style.visibility</p:attrName>
                                        </p:attrNameLst>
                                      </p:cBhvr>
                                      <p:to>
                                        <p:strVal val="visible"/>
                                      </p:to>
                                    </p:set>
                                    <p:animEffect transition="in" filter="strips(upRight)">
                                      <p:cBhvr>
                                        <p:cTn id="57" dur="500"/>
                                        <p:tgtEl>
                                          <p:spTgt spid="1229084"/>
                                        </p:tgtEl>
                                      </p:cBhvr>
                                    </p:animEffect>
                                  </p:childTnLst>
                                  <p:subTnLst>
                                    <p:audio>
                                      <p:cMediaNode>
                                        <p:cTn display="0" masterRel="sameClick">
                                          <p:stCondLst>
                                            <p:cond evt="begin" delay="0">
                                              <p:tn val="55"/>
                                            </p:cond>
                                          </p:stCondLst>
                                          <p:endCondLst>
                                            <p:cond evt="onStopAudio" delay="0">
                                              <p:tgtEl>
                                                <p:sldTgt/>
                                              </p:tgtEl>
                                            </p:cond>
                                          </p:endCondLst>
                                        </p:cTn>
                                        <p:tgtEl>
                                          <p:sndTgt r:embed="rId3" name="laser.wav"/>
                                        </p:tgtEl>
                                      </p:cMediaNode>
                                    </p:audio>
                                  </p:subTnLst>
                                </p:cTn>
                              </p:par>
                            </p:childTnLst>
                          </p:cTn>
                        </p:par>
                        <p:par>
                          <p:cTn id="58" fill="hold">
                            <p:stCondLst>
                              <p:cond delay="500"/>
                            </p:stCondLst>
                            <p:childTnLst>
                              <p:par>
                                <p:cTn id="59" presetID="4" presetClass="entr" presetSubtype="16" fill="hold" nodeType="afterEffect">
                                  <p:stCondLst>
                                    <p:cond delay="0"/>
                                  </p:stCondLst>
                                  <p:childTnLst>
                                    <p:set>
                                      <p:cBhvr>
                                        <p:cTn id="60" dur="1" fill="hold">
                                          <p:stCondLst>
                                            <p:cond delay="0"/>
                                          </p:stCondLst>
                                        </p:cTn>
                                        <p:tgtEl>
                                          <p:spTgt spid="1229089"/>
                                        </p:tgtEl>
                                        <p:attrNameLst>
                                          <p:attrName>style.visibility</p:attrName>
                                        </p:attrNameLst>
                                      </p:cBhvr>
                                      <p:to>
                                        <p:strVal val="visible"/>
                                      </p:to>
                                    </p:set>
                                    <p:animEffect transition="in" filter="box(in)">
                                      <p:cBhvr>
                                        <p:cTn id="61" dur="500"/>
                                        <p:tgtEl>
                                          <p:spTgt spid="1229089"/>
                                        </p:tgtEl>
                                      </p:cBhvr>
                                    </p:animEffect>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par>
                    <p:cTn id="62" fill="hold">
                      <p:stCondLst>
                        <p:cond delay="indefinite"/>
                      </p:stCondLst>
                      <p:childTnLst>
                        <p:par>
                          <p:cTn id="63" fill="hold">
                            <p:stCondLst>
                              <p:cond delay="0"/>
                            </p:stCondLst>
                            <p:childTnLst>
                              <p:par>
                                <p:cTn id="64" presetID="18" presetClass="entr" presetSubtype="12" fill="hold" grpId="0" nodeType="clickEffect">
                                  <p:stCondLst>
                                    <p:cond delay="0"/>
                                  </p:stCondLst>
                                  <p:childTnLst>
                                    <p:set>
                                      <p:cBhvr>
                                        <p:cTn id="65" dur="1" fill="hold">
                                          <p:stCondLst>
                                            <p:cond delay="0"/>
                                          </p:stCondLst>
                                        </p:cTn>
                                        <p:tgtEl>
                                          <p:spTgt spid="1229067"/>
                                        </p:tgtEl>
                                        <p:attrNameLst>
                                          <p:attrName>style.visibility</p:attrName>
                                        </p:attrNameLst>
                                      </p:cBhvr>
                                      <p:to>
                                        <p:strVal val="visible"/>
                                      </p:to>
                                    </p:set>
                                    <p:animEffect transition="in" filter="strips(downLeft)">
                                      <p:cBhvr>
                                        <p:cTn id="66" dur="500"/>
                                        <p:tgtEl>
                                          <p:spTgt spid="1229067"/>
                                        </p:tgtEl>
                                      </p:cBhvr>
                                    </p:animEffect>
                                  </p:childTnLst>
                                  <p:subTnLst>
                                    <p:audio>
                                      <p:cMediaNode>
                                        <p:cTn display="0" masterRel="sameClick">
                                          <p:stCondLst>
                                            <p:cond evt="begin" delay="0">
                                              <p:tn val="64"/>
                                            </p:cond>
                                          </p:stCondLst>
                                          <p:endCondLst>
                                            <p:cond evt="onStopAudio" delay="0">
                                              <p:tgtEl>
                                                <p:sldTgt/>
                                              </p:tgtEl>
                                            </p:cond>
                                          </p:endCondLst>
                                        </p:cTn>
                                        <p:tgtEl>
                                          <p:sndTgt r:embed="rId4" name="chimes.wav"/>
                                        </p:tgtEl>
                                      </p:cMediaNode>
                                    </p:audio>
                                  </p:subTnLst>
                                </p:cTn>
                              </p:par>
                            </p:childTnLst>
                          </p:cTn>
                        </p:par>
                      </p:childTnLst>
                    </p:cTn>
                  </p:par>
                  <p:par>
                    <p:cTn id="67" fill="hold">
                      <p:stCondLst>
                        <p:cond delay="indefinite"/>
                      </p:stCondLst>
                      <p:childTnLst>
                        <p:par>
                          <p:cTn id="68" fill="hold">
                            <p:stCondLst>
                              <p:cond delay="0"/>
                            </p:stCondLst>
                            <p:childTnLst>
                              <p:par>
                                <p:cTn id="69" presetID="18" presetClass="entr" presetSubtype="3" fill="hold" nodeType="clickEffect">
                                  <p:stCondLst>
                                    <p:cond delay="0"/>
                                  </p:stCondLst>
                                  <p:childTnLst>
                                    <p:set>
                                      <p:cBhvr>
                                        <p:cTn id="70" dur="1" fill="hold">
                                          <p:stCondLst>
                                            <p:cond delay="0"/>
                                          </p:stCondLst>
                                        </p:cTn>
                                        <p:tgtEl>
                                          <p:spTgt spid="1229083"/>
                                        </p:tgtEl>
                                        <p:attrNameLst>
                                          <p:attrName>style.visibility</p:attrName>
                                        </p:attrNameLst>
                                      </p:cBhvr>
                                      <p:to>
                                        <p:strVal val="visible"/>
                                      </p:to>
                                    </p:set>
                                    <p:animEffect transition="in" filter="strips(upRight)">
                                      <p:cBhvr>
                                        <p:cTn id="71" dur="500"/>
                                        <p:tgtEl>
                                          <p:spTgt spid="1229083"/>
                                        </p:tgtEl>
                                      </p:cBhvr>
                                    </p:animEffect>
                                  </p:childTnLst>
                                  <p:subTnLst>
                                    <p:audio>
                                      <p:cMediaNode>
                                        <p:cTn display="0" masterRel="sameClick">
                                          <p:stCondLst>
                                            <p:cond evt="begin" delay="0">
                                              <p:tn val="69"/>
                                            </p:cond>
                                          </p:stCondLst>
                                          <p:endCondLst>
                                            <p:cond evt="onStopAudio" delay="0">
                                              <p:tgtEl>
                                                <p:sldTgt/>
                                              </p:tgtEl>
                                            </p:cond>
                                          </p:endCondLst>
                                        </p:cTn>
                                        <p:tgtEl>
                                          <p:sndTgt r:embed="rId3" name="laser.wav"/>
                                        </p:tgtEl>
                                      </p:cMediaNode>
                                    </p:audio>
                                  </p:subTnLst>
                                </p:cTn>
                              </p:par>
                            </p:childTnLst>
                          </p:cTn>
                        </p:par>
                        <p:par>
                          <p:cTn id="72" fill="hold">
                            <p:stCondLst>
                              <p:cond delay="500"/>
                            </p:stCondLst>
                            <p:childTnLst>
                              <p:par>
                                <p:cTn id="73" presetID="4" presetClass="entr" presetSubtype="16" fill="hold" nodeType="afterEffect">
                                  <p:stCondLst>
                                    <p:cond delay="0"/>
                                  </p:stCondLst>
                                  <p:childTnLst>
                                    <p:set>
                                      <p:cBhvr>
                                        <p:cTn id="74" dur="1" fill="hold">
                                          <p:stCondLst>
                                            <p:cond delay="0"/>
                                          </p:stCondLst>
                                        </p:cTn>
                                        <p:tgtEl>
                                          <p:spTgt spid="1229065"/>
                                        </p:tgtEl>
                                        <p:attrNameLst>
                                          <p:attrName>style.visibility</p:attrName>
                                        </p:attrNameLst>
                                      </p:cBhvr>
                                      <p:to>
                                        <p:strVal val="visible"/>
                                      </p:to>
                                    </p:set>
                                    <p:animEffect transition="in" filter="box(in)">
                                      <p:cBhvr>
                                        <p:cTn id="75" dur="500"/>
                                        <p:tgtEl>
                                          <p:spTgt spid="1229065"/>
                                        </p:tgtEl>
                                      </p:cBhvr>
                                    </p:animEffect>
                                  </p:childTnLst>
                                  <p:subTnLst>
                                    <p:audio>
                                      <p:cMediaNode>
                                        <p:cTn display="0" masterRel="sameClick">
                                          <p:stCondLst>
                                            <p:cond evt="begin" delay="0">
                                              <p:tn val="73"/>
                                            </p:cond>
                                          </p:stCondLst>
                                          <p:endCondLst>
                                            <p:cond evt="onStopAudio" delay="0">
                                              <p:tgtEl>
                                                <p:sldTgt/>
                                              </p:tgtEl>
                                            </p:cond>
                                          </p:endCondLst>
                                        </p:cTn>
                                        <p:tgtEl>
                                          <p:sndTgt r:embed="rId2" name="camera.wav"/>
                                        </p:tgtEl>
                                      </p:cMediaNode>
                                    </p:audio>
                                  </p:subTnLst>
                                </p:cTn>
                              </p:par>
                            </p:childTnLst>
                          </p:cTn>
                        </p:par>
                      </p:childTnLst>
                    </p:cTn>
                  </p:par>
                  <p:par>
                    <p:cTn id="76" fill="hold">
                      <p:stCondLst>
                        <p:cond delay="indefinite"/>
                      </p:stCondLst>
                      <p:childTnLst>
                        <p:par>
                          <p:cTn id="77" fill="hold">
                            <p:stCondLst>
                              <p:cond delay="0"/>
                            </p:stCondLst>
                            <p:childTnLst>
                              <p:par>
                                <p:cTn id="78" presetID="18" presetClass="entr" presetSubtype="12" fill="hold" grpId="0" nodeType="clickEffect">
                                  <p:stCondLst>
                                    <p:cond delay="0"/>
                                  </p:stCondLst>
                                  <p:childTnLst>
                                    <p:set>
                                      <p:cBhvr>
                                        <p:cTn id="79" dur="1" fill="hold">
                                          <p:stCondLst>
                                            <p:cond delay="0"/>
                                          </p:stCondLst>
                                        </p:cTn>
                                        <p:tgtEl>
                                          <p:spTgt spid="1229068"/>
                                        </p:tgtEl>
                                        <p:attrNameLst>
                                          <p:attrName>style.visibility</p:attrName>
                                        </p:attrNameLst>
                                      </p:cBhvr>
                                      <p:to>
                                        <p:strVal val="visible"/>
                                      </p:to>
                                    </p:set>
                                    <p:animEffect transition="in" filter="strips(downLeft)">
                                      <p:cBhvr>
                                        <p:cTn id="80" dur="500"/>
                                        <p:tgtEl>
                                          <p:spTgt spid="1229068"/>
                                        </p:tgtEl>
                                      </p:cBhvr>
                                    </p:animEffect>
                                  </p:childTnLst>
                                  <p:subTnLst>
                                    <p:audio>
                                      <p:cMediaNode>
                                        <p:cTn display="0" masterRel="sameClick">
                                          <p:stCondLst>
                                            <p:cond evt="begin" delay="0">
                                              <p:tn val="7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18" grpId="0"/>
      <p:bldP spid="1229066" grpId="0" animBg="1"/>
      <p:bldP spid="1229067" grpId="0" animBg="1"/>
      <p:bldP spid="1229068" grpId="0" animBg="1"/>
      <p:bldP spid="1229069" grpId="0" animBg="1"/>
      <p:bldP spid="1229086" grpId="0"/>
      <p:bldP spid="122909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826" name="Rectangle 2"/>
          <p:cNvSpPr>
            <a:spLocks noChangeArrowheads="1"/>
          </p:cNvSpPr>
          <p:nvPr/>
        </p:nvSpPr>
        <p:spPr bwMode="auto">
          <a:xfrm>
            <a:off x="623392" y="814282"/>
            <a:ext cx="6214144" cy="503238"/>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3</a:t>
            </a:r>
            <a:r>
              <a:rPr lang="zh-CN" altLang="en-US" sz="2800" b="1" dirty="0">
                <a:solidFill>
                  <a:srgbClr val="C00000"/>
                </a:solidFill>
                <a:latin typeface="+mn-lt"/>
                <a:ea typeface="楷体" pitchFamily="49" charset="-122"/>
                <a:sym typeface="Symbol" pitchFamily="18" charset="2"/>
              </a:rPr>
              <a:t>、指向多维数组的指针</a:t>
            </a:r>
            <a:r>
              <a:rPr lang="en-US" altLang="zh-CN" sz="2800" b="1" dirty="0">
                <a:solidFill>
                  <a:srgbClr val="C00000"/>
                </a:solidFill>
                <a:latin typeface="+mn-lt"/>
                <a:ea typeface="楷体" pitchFamily="49" charset="-122"/>
                <a:sym typeface="Symbol" pitchFamily="18" charset="2"/>
              </a:rPr>
              <a:t>____</a:t>
            </a:r>
            <a:r>
              <a:rPr lang="zh-CN" altLang="en-US" sz="2800" b="1" dirty="0">
                <a:solidFill>
                  <a:srgbClr val="C00000"/>
                </a:solidFill>
                <a:latin typeface="+mn-lt"/>
                <a:ea typeface="楷体" pitchFamily="49" charset="-122"/>
                <a:sym typeface="Symbol" pitchFamily="18" charset="2"/>
              </a:rPr>
              <a:t>数组指针</a:t>
            </a:r>
          </a:p>
        </p:txBody>
      </p:sp>
      <p:sp>
        <p:nvSpPr>
          <p:cNvPr id="1229953" name="Rectangle 129"/>
          <p:cNvSpPr>
            <a:spLocks noChangeArrowheads="1"/>
          </p:cNvSpPr>
          <p:nvPr/>
        </p:nvSpPr>
        <p:spPr bwMode="auto">
          <a:xfrm>
            <a:off x="521357" y="1306090"/>
            <a:ext cx="11140715" cy="1200329"/>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sz="2000" dirty="0">
                <a:latin typeface="+mn-lt"/>
                <a:ea typeface="楷体" pitchFamily="49" charset="-122"/>
              </a:rPr>
              <a:t>        </a:t>
            </a:r>
            <a:r>
              <a:rPr lang="zh-CN" altLang="en-US" dirty="0">
                <a:latin typeface="+mn-lt"/>
                <a:ea typeface="楷体" pitchFamily="49" charset="-122"/>
              </a:rPr>
              <a:t>如果将二维数组名</a:t>
            </a:r>
            <a:r>
              <a:rPr lang="en-US" altLang="zh-CN" dirty="0">
                <a:latin typeface="+mn-lt"/>
                <a:ea typeface="楷体" pitchFamily="49" charset="-122"/>
              </a:rPr>
              <a:t>a</a:t>
            </a:r>
            <a:r>
              <a:rPr lang="zh-CN" altLang="en-US" dirty="0">
                <a:latin typeface="+mn-lt"/>
                <a:ea typeface="楷体" pitchFamily="49" charset="-122"/>
              </a:rPr>
              <a:t>看成一个行地址（第</a:t>
            </a:r>
            <a:r>
              <a:rPr lang="en-US" altLang="zh-CN" dirty="0">
                <a:latin typeface="+mn-lt"/>
                <a:ea typeface="楷体" pitchFamily="49" charset="-122"/>
              </a:rPr>
              <a:t>0</a:t>
            </a:r>
            <a:r>
              <a:rPr lang="zh-CN" altLang="en-US" dirty="0">
                <a:latin typeface="+mn-lt"/>
                <a:ea typeface="楷体" pitchFamily="49" charset="-122"/>
              </a:rPr>
              <a:t>行的地址），则</a:t>
            </a:r>
            <a:r>
              <a:rPr lang="en-US" altLang="zh-CN" dirty="0" err="1">
                <a:solidFill>
                  <a:srgbClr val="C00000"/>
                </a:solidFill>
                <a:latin typeface="+mn-lt"/>
                <a:ea typeface="楷体" pitchFamily="49" charset="-122"/>
              </a:rPr>
              <a:t>a+i</a:t>
            </a:r>
            <a:r>
              <a:rPr lang="zh-CN" altLang="en-US" dirty="0">
                <a:solidFill>
                  <a:srgbClr val="C00000"/>
                </a:solidFill>
                <a:latin typeface="+mn-lt"/>
                <a:ea typeface="楷体" pitchFamily="49" charset="-122"/>
              </a:rPr>
              <a:t>代表二维数组</a:t>
            </a:r>
            <a:r>
              <a:rPr lang="en-US" altLang="zh-CN" dirty="0">
                <a:solidFill>
                  <a:srgbClr val="C00000"/>
                </a:solidFill>
                <a:latin typeface="+mn-lt"/>
                <a:ea typeface="楷体" pitchFamily="49" charset="-122"/>
              </a:rPr>
              <a:t>a</a:t>
            </a:r>
            <a:r>
              <a:rPr lang="zh-CN" altLang="en-US" dirty="0">
                <a:solidFill>
                  <a:srgbClr val="C00000"/>
                </a:solidFill>
                <a:latin typeface="+mn-lt"/>
                <a:ea typeface="楷体" pitchFamily="49" charset="-122"/>
              </a:rPr>
              <a:t>的第</a:t>
            </a:r>
            <a:r>
              <a:rPr lang="en-US" altLang="zh-CN" dirty="0" err="1">
                <a:solidFill>
                  <a:srgbClr val="C00000"/>
                </a:solidFill>
                <a:latin typeface="+mn-lt"/>
                <a:ea typeface="楷体" pitchFamily="49" charset="-122"/>
              </a:rPr>
              <a:t>i</a:t>
            </a:r>
            <a:r>
              <a:rPr lang="zh-CN" altLang="en-US" dirty="0">
                <a:solidFill>
                  <a:srgbClr val="C00000"/>
                </a:solidFill>
                <a:latin typeface="+mn-lt"/>
                <a:ea typeface="楷体" pitchFamily="49" charset="-122"/>
              </a:rPr>
              <a:t>行的地址，</a:t>
            </a:r>
            <a:r>
              <a:rPr lang="en-US" altLang="zh-CN" dirty="0">
                <a:solidFill>
                  <a:srgbClr val="C00000"/>
                </a:solidFill>
                <a:latin typeface="+mn-lt"/>
                <a:ea typeface="楷体" pitchFamily="49" charset="-122"/>
              </a:rPr>
              <a:t>a[</a:t>
            </a:r>
            <a:r>
              <a:rPr lang="en-US" altLang="zh-CN" dirty="0" err="1">
                <a:solidFill>
                  <a:srgbClr val="C00000"/>
                </a:solidFill>
                <a:latin typeface="+mn-lt"/>
                <a:ea typeface="楷体" pitchFamily="49" charset="-122"/>
              </a:rPr>
              <a:t>i</a:t>
            </a:r>
            <a:r>
              <a:rPr lang="en-US" altLang="zh-CN" dirty="0">
                <a:solidFill>
                  <a:srgbClr val="C00000"/>
                </a:solidFill>
                <a:latin typeface="+mn-lt"/>
                <a:ea typeface="楷体" pitchFamily="49" charset="-122"/>
              </a:rPr>
              <a:t>]</a:t>
            </a:r>
            <a:r>
              <a:rPr lang="zh-CN" altLang="en-US" dirty="0">
                <a:solidFill>
                  <a:srgbClr val="C00000"/>
                </a:solidFill>
                <a:latin typeface="+mn-lt"/>
                <a:ea typeface="楷体" pitchFamily="49" charset="-122"/>
              </a:rPr>
              <a:t>可看成一个列地址，即第</a:t>
            </a:r>
            <a:r>
              <a:rPr lang="en-US" altLang="zh-CN" dirty="0" err="1">
                <a:solidFill>
                  <a:srgbClr val="C00000"/>
                </a:solidFill>
                <a:latin typeface="+mn-lt"/>
                <a:ea typeface="楷体" pitchFamily="49" charset="-122"/>
              </a:rPr>
              <a:t>i</a:t>
            </a:r>
            <a:r>
              <a:rPr lang="zh-CN" altLang="en-US" dirty="0">
                <a:solidFill>
                  <a:srgbClr val="C00000"/>
                </a:solidFill>
                <a:latin typeface="+mn-lt"/>
                <a:ea typeface="楷体" pitchFamily="49" charset="-122"/>
              </a:rPr>
              <a:t>行第</a:t>
            </a:r>
            <a:r>
              <a:rPr lang="en-US" altLang="zh-CN" dirty="0">
                <a:solidFill>
                  <a:srgbClr val="C00000"/>
                </a:solidFill>
                <a:latin typeface="+mn-lt"/>
                <a:ea typeface="楷体" pitchFamily="49" charset="-122"/>
              </a:rPr>
              <a:t>0</a:t>
            </a:r>
            <a:r>
              <a:rPr lang="zh-CN" altLang="en-US" dirty="0">
                <a:solidFill>
                  <a:srgbClr val="C00000"/>
                </a:solidFill>
                <a:latin typeface="+mn-lt"/>
                <a:ea typeface="楷体" pitchFamily="49" charset="-122"/>
              </a:rPr>
              <a:t>列的地址</a:t>
            </a:r>
            <a:r>
              <a:rPr lang="zh-CN" altLang="en-US" dirty="0">
                <a:latin typeface="+mn-lt"/>
                <a:ea typeface="楷体" pitchFamily="49" charset="-122"/>
              </a:rPr>
              <a:t>。行地址</a:t>
            </a:r>
            <a:r>
              <a:rPr lang="en-US" altLang="zh-CN" dirty="0">
                <a:latin typeface="+mn-lt"/>
                <a:ea typeface="楷体" pitchFamily="49" charset="-122"/>
              </a:rPr>
              <a:t>a</a:t>
            </a:r>
            <a:r>
              <a:rPr lang="zh-CN" altLang="en-US" dirty="0">
                <a:latin typeface="+mn-lt"/>
                <a:ea typeface="楷体" pitchFamily="49" charset="-122"/>
              </a:rPr>
              <a:t>每次加</a:t>
            </a:r>
            <a:r>
              <a:rPr lang="en-US" altLang="zh-CN" dirty="0">
                <a:latin typeface="+mn-lt"/>
                <a:ea typeface="楷体" pitchFamily="49" charset="-122"/>
              </a:rPr>
              <a:t>1</a:t>
            </a:r>
            <a:r>
              <a:rPr lang="zh-CN" altLang="en-US" dirty="0">
                <a:latin typeface="+mn-lt"/>
                <a:ea typeface="楷体" pitchFamily="49" charset="-122"/>
              </a:rPr>
              <a:t>，表示指向下一行，而列地址</a:t>
            </a:r>
            <a:r>
              <a:rPr lang="en-US" altLang="zh-CN" dirty="0">
                <a:latin typeface="+mn-lt"/>
                <a:ea typeface="楷体" pitchFamily="49" charset="-122"/>
              </a:rPr>
              <a:t>a[</a:t>
            </a:r>
            <a:r>
              <a:rPr lang="en-US" altLang="zh-CN" dirty="0" err="1">
                <a:latin typeface="+mn-lt"/>
                <a:ea typeface="楷体" pitchFamily="49" charset="-122"/>
              </a:rPr>
              <a:t>i</a:t>
            </a:r>
            <a:r>
              <a:rPr lang="en-US" altLang="zh-CN" dirty="0">
                <a:latin typeface="+mn-lt"/>
                <a:ea typeface="楷体" pitchFamily="49" charset="-122"/>
              </a:rPr>
              <a:t>]</a:t>
            </a:r>
            <a:r>
              <a:rPr lang="zh-CN" altLang="en-US" dirty="0">
                <a:latin typeface="+mn-lt"/>
                <a:ea typeface="楷体" pitchFamily="49" charset="-122"/>
              </a:rPr>
              <a:t>每次加</a:t>
            </a:r>
            <a:r>
              <a:rPr lang="en-US" altLang="zh-CN" dirty="0">
                <a:latin typeface="+mn-lt"/>
                <a:ea typeface="楷体" pitchFamily="49" charset="-122"/>
              </a:rPr>
              <a:t>1</a:t>
            </a:r>
            <a:r>
              <a:rPr lang="zh-CN" altLang="en-US" dirty="0">
                <a:latin typeface="+mn-lt"/>
                <a:ea typeface="楷体" pitchFamily="49" charset="-122"/>
              </a:rPr>
              <a:t>，表示指向下一列。</a:t>
            </a:r>
          </a:p>
        </p:txBody>
      </p:sp>
      <p:sp>
        <p:nvSpPr>
          <p:cNvPr id="1229954" name="Rectangle 130"/>
          <p:cNvSpPr>
            <a:spLocks noChangeArrowheads="1"/>
          </p:cNvSpPr>
          <p:nvPr/>
        </p:nvSpPr>
        <p:spPr bwMode="auto">
          <a:xfrm>
            <a:off x="3497037" y="2757680"/>
            <a:ext cx="4322762" cy="457200"/>
          </a:xfrm>
          <a:prstGeom prst="rect">
            <a:avLst/>
          </a:prstGeom>
          <a:noFill/>
          <a:ln w="9525" algn="ctr">
            <a:noFill/>
            <a:miter lim="800000"/>
            <a:headEnd/>
            <a:tailEnd/>
          </a:ln>
          <a:effectLst/>
        </p:spPr>
        <p:txBody>
          <a:bodyPr wrap="none" anchor="ctr">
            <a:spAutoFit/>
          </a:bodyPr>
          <a:lstStyle/>
          <a:p>
            <a:pPr algn="ctr">
              <a:lnSpc>
                <a:spcPct val="100000"/>
              </a:lnSpc>
              <a:spcBef>
                <a:spcPct val="0"/>
              </a:spcBef>
            </a:pPr>
            <a:r>
              <a:rPr lang="en-US" altLang="zh-CN" dirty="0">
                <a:solidFill>
                  <a:srgbClr val="002060"/>
                </a:solidFill>
              </a:rPr>
              <a:t>*  (    *   (    a   +    </a:t>
            </a:r>
            <a:r>
              <a:rPr lang="en-US" altLang="zh-CN" dirty="0" err="1">
                <a:solidFill>
                  <a:srgbClr val="002060"/>
                </a:solidFill>
              </a:rPr>
              <a:t>i</a:t>
            </a:r>
            <a:r>
              <a:rPr lang="en-US" altLang="zh-CN" dirty="0">
                <a:solidFill>
                  <a:srgbClr val="002060"/>
                </a:solidFill>
              </a:rPr>
              <a:t>    )    +    j    )</a:t>
            </a:r>
          </a:p>
        </p:txBody>
      </p:sp>
      <p:sp>
        <p:nvSpPr>
          <p:cNvPr id="1229955" name="AutoShape 131"/>
          <p:cNvSpPr>
            <a:spLocks/>
          </p:cNvSpPr>
          <p:nvPr/>
        </p:nvSpPr>
        <p:spPr bwMode="auto">
          <a:xfrm rot="-5400000">
            <a:off x="5048024" y="3187893"/>
            <a:ext cx="287338" cy="360362"/>
          </a:xfrm>
          <a:prstGeom prst="leftBrace">
            <a:avLst>
              <a:gd name="adj1" fmla="val 10451"/>
              <a:gd name="adj2" fmla="val 50000"/>
            </a:avLst>
          </a:prstGeom>
          <a:noFill/>
          <a:ln w="28575">
            <a:solidFill>
              <a:schemeClr val="accent1">
                <a:lumMod val="50000"/>
              </a:schemeClr>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229956" name="Rectangle 132"/>
          <p:cNvSpPr>
            <a:spLocks noChangeArrowheads="1"/>
          </p:cNvSpPr>
          <p:nvPr/>
        </p:nvSpPr>
        <p:spPr bwMode="auto">
          <a:xfrm>
            <a:off x="5036913" y="3444244"/>
            <a:ext cx="2053767" cy="40011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000" dirty="0">
                <a:solidFill>
                  <a:srgbClr val="CC0000"/>
                </a:solidFill>
                <a:latin typeface="+mn-lt"/>
                <a:ea typeface="楷体" pitchFamily="49" charset="-122"/>
              </a:rPr>
              <a:t>a</a:t>
            </a:r>
            <a:r>
              <a:rPr lang="zh-CN" altLang="en-US" sz="2000" dirty="0">
                <a:solidFill>
                  <a:srgbClr val="CC0000"/>
                </a:solidFill>
                <a:latin typeface="+mn-lt"/>
                <a:ea typeface="楷体" pitchFamily="49" charset="-122"/>
              </a:rPr>
              <a:t>： </a:t>
            </a:r>
            <a:r>
              <a:rPr lang="zh-CN" altLang="en-US" sz="2000" dirty="0">
                <a:latin typeface="+mn-lt"/>
                <a:ea typeface="楷体" pitchFamily="49" charset="-122"/>
              </a:rPr>
              <a:t>第</a:t>
            </a:r>
            <a:r>
              <a:rPr lang="en-US" altLang="zh-CN" sz="2000" dirty="0">
                <a:latin typeface="+mn-lt"/>
                <a:ea typeface="楷体" pitchFamily="49" charset="-122"/>
              </a:rPr>
              <a:t>0</a:t>
            </a:r>
            <a:r>
              <a:rPr lang="zh-CN" altLang="en-US" sz="2000" dirty="0">
                <a:latin typeface="+mn-lt"/>
                <a:ea typeface="楷体" pitchFamily="49" charset="-122"/>
              </a:rPr>
              <a:t>行的地址</a:t>
            </a:r>
          </a:p>
        </p:txBody>
      </p:sp>
      <p:sp>
        <p:nvSpPr>
          <p:cNvPr id="1229957" name="Rectangle 133"/>
          <p:cNvSpPr>
            <a:spLocks noChangeArrowheads="1"/>
          </p:cNvSpPr>
          <p:nvPr/>
        </p:nvSpPr>
        <p:spPr bwMode="auto">
          <a:xfrm>
            <a:off x="5324250" y="4037969"/>
            <a:ext cx="2212465" cy="40011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000" dirty="0" err="1">
                <a:solidFill>
                  <a:srgbClr val="CC0000"/>
                </a:solidFill>
                <a:latin typeface="+mn-lt"/>
                <a:ea typeface="楷体" pitchFamily="49" charset="-122"/>
              </a:rPr>
              <a:t>a+i</a:t>
            </a:r>
            <a:r>
              <a:rPr lang="zh-CN" altLang="en-US" sz="2000" dirty="0">
                <a:solidFill>
                  <a:srgbClr val="CC0000"/>
                </a:solidFill>
                <a:latin typeface="+mn-lt"/>
                <a:ea typeface="楷体" pitchFamily="49" charset="-122"/>
              </a:rPr>
              <a:t>： </a:t>
            </a:r>
            <a:r>
              <a:rPr lang="zh-CN" altLang="en-US" sz="2000" dirty="0">
                <a:latin typeface="+mn-lt"/>
                <a:ea typeface="楷体" pitchFamily="49" charset="-122"/>
              </a:rPr>
              <a:t>第</a:t>
            </a:r>
            <a:r>
              <a:rPr lang="en-US" altLang="zh-CN" sz="2000" dirty="0" err="1">
                <a:latin typeface="+mn-lt"/>
                <a:ea typeface="楷体" pitchFamily="49" charset="-122"/>
              </a:rPr>
              <a:t>i</a:t>
            </a:r>
            <a:r>
              <a:rPr lang="zh-CN" altLang="en-US" sz="2000" dirty="0">
                <a:latin typeface="+mn-lt"/>
                <a:ea typeface="楷体" pitchFamily="49" charset="-122"/>
              </a:rPr>
              <a:t>行的地址</a:t>
            </a:r>
          </a:p>
        </p:txBody>
      </p:sp>
      <p:sp>
        <p:nvSpPr>
          <p:cNvPr id="1229958" name="AutoShape 134"/>
          <p:cNvSpPr>
            <a:spLocks/>
          </p:cNvSpPr>
          <p:nvPr/>
        </p:nvSpPr>
        <p:spPr bwMode="auto">
          <a:xfrm rot="-5400000">
            <a:off x="5432994" y="3442687"/>
            <a:ext cx="287337" cy="1079500"/>
          </a:xfrm>
          <a:prstGeom prst="leftBrace">
            <a:avLst>
              <a:gd name="adj1" fmla="val 31308"/>
              <a:gd name="adj2" fmla="val 50000"/>
            </a:avLst>
          </a:prstGeom>
          <a:noFill/>
          <a:ln w="28575">
            <a:solidFill>
              <a:schemeClr val="accent1">
                <a:lumMod val="50000"/>
              </a:schemeClr>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229959" name="AutoShape 135"/>
          <p:cNvSpPr>
            <a:spLocks/>
          </p:cNvSpPr>
          <p:nvPr/>
        </p:nvSpPr>
        <p:spPr bwMode="auto">
          <a:xfrm rot="-5400000">
            <a:off x="5336156" y="3585562"/>
            <a:ext cx="287337" cy="2089150"/>
          </a:xfrm>
          <a:prstGeom prst="leftBrace">
            <a:avLst>
              <a:gd name="adj1" fmla="val 60589"/>
              <a:gd name="adj2" fmla="val 50000"/>
            </a:avLst>
          </a:prstGeom>
          <a:noFill/>
          <a:ln w="28575">
            <a:solidFill>
              <a:schemeClr val="accent1">
                <a:lumMod val="50000"/>
              </a:schemeClr>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229960" name="Rectangle 136"/>
          <p:cNvSpPr>
            <a:spLocks noChangeArrowheads="1"/>
          </p:cNvSpPr>
          <p:nvPr/>
        </p:nvSpPr>
        <p:spPr bwMode="auto">
          <a:xfrm>
            <a:off x="5130574" y="4738057"/>
            <a:ext cx="4039888" cy="40011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000">
                <a:solidFill>
                  <a:srgbClr val="CC0000"/>
                </a:solidFill>
                <a:latin typeface="+mn-lt"/>
                <a:ea typeface="楷体" pitchFamily="49" charset="-122"/>
              </a:rPr>
              <a:t>*(a+i)</a:t>
            </a:r>
            <a:r>
              <a:rPr lang="zh-CN" altLang="en-US" sz="2000">
                <a:solidFill>
                  <a:srgbClr val="CC0000"/>
                </a:solidFill>
                <a:latin typeface="+mn-lt"/>
                <a:ea typeface="楷体" pitchFamily="49" charset="-122"/>
              </a:rPr>
              <a:t>： </a:t>
            </a:r>
            <a:r>
              <a:rPr lang="zh-CN" altLang="en-US" sz="2000">
                <a:latin typeface="+mn-lt"/>
                <a:ea typeface="楷体" pitchFamily="49" charset="-122"/>
              </a:rPr>
              <a:t>即</a:t>
            </a:r>
            <a:r>
              <a:rPr lang="en-US" altLang="zh-CN" sz="2000">
                <a:latin typeface="+mn-lt"/>
                <a:ea typeface="楷体" pitchFamily="49" charset="-122"/>
              </a:rPr>
              <a:t>a[i]</a:t>
            </a:r>
            <a:r>
              <a:rPr lang="zh-CN" altLang="en-US" sz="2000">
                <a:latin typeface="+mn-lt"/>
                <a:ea typeface="楷体" pitchFamily="49" charset="-122"/>
              </a:rPr>
              <a:t>，第</a:t>
            </a:r>
            <a:r>
              <a:rPr lang="en-US" altLang="zh-CN" sz="2000">
                <a:latin typeface="+mn-lt"/>
                <a:ea typeface="楷体" pitchFamily="49" charset="-122"/>
              </a:rPr>
              <a:t>i</a:t>
            </a:r>
            <a:r>
              <a:rPr lang="zh-CN" altLang="en-US" sz="2000">
                <a:latin typeface="+mn-lt"/>
                <a:ea typeface="楷体" pitchFamily="49" charset="-122"/>
              </a:rPr>
              <a:t>行第</a:t>
            </a:r>
            <a:r>
              <a:rPr lang="en-US" altLang="zh-CN" sz="2000">
                <a:latin typeface="+mn-lt"/>
                <a:ea typeface="楷体" pitchFamily="49" charset="-122"/>
              </a:rPr>
              <a:t>0</a:t>
            </a:r>
            <a:r>
              <a:rPr lang="zh-CN" altLang="en-US" sz="2000">
                <a:latin typeface="+mn-lt"/>
                <a:ea typeface="楷体" pitchFamily="49" charset="-122"/>
              </a:rPr>
              <a:t>列的地址</a:t>
            </a:r>
          </a:p>
        </p:txBody>
      </p:sp>
      <p:sp>
        <p:nvSpPr>
          <p:cNvPr id="1229961" name="AutoShape 137"/>
          <p:cNvSpPr>
            <a:spLocks/>
          </p:cNvSpPr>
          <p:nvPr/>
        </p:nvSpPr>
        <p:spPr bwMode="auto">
          <a:xfrm rot="-5400000">
            <a:off x="5803675" y="3765743"/>
            <a:ext cx="287337" cy="3024188"/>
          </a:xfrm>
          <a:prstGeom prst="leftBrace">
            <a:avLst>
              <a:gd name="adj1" fmla="val 87707"/>
              <a:gd name="adj2" fmla="val 50000"/>
            </a:avLst>
          </a:prstGeom>
          <a:noFill/>
          <a:ln w="28575">
            <a:solidFill>
              <a:schemeClr val="accent1">
                <a:lumMod val="50000"/>
              </a:schemeClr>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229962" name="Rectangle 138"/>
          <p:cNvSpPr>
            <a:spLocks noChangeArrowheads="1"/>
          </p:cNvSpPr>
          <p:nvPr/>
        </p:nvSpPr>
        <p:spPr bwMode="auto">
          <a:xfrm>
            <a:off x="5443313" y="5333369"/>
            <a:ext cx="4695516" cy="40011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000">
                <a:solidFill>
                  <a:srgbClr val="CC0000"/>
                </a:solidFill>
                <a:latin typeface="+mn-lt"/>
                <a:ea typeface="楷体" pitchFamily="49" charset="-122"/>
              </a:rPr>
              <a:t>*(a+i)+j</a:t>
            </a:r>
            <a:r>
              <a:rPr lang="zh-CN" altLang="en-US" sz="2000">
                <a:solidFill>
                  <a:srgbClr val="CC0000"/>
                </a:solidFill>
                <a:latin typeface="+mn-lt"/>
                <a:ea typeface="楷体" pitchFamily="49" charset="-122"/>
              </a:rPr>
              <a:t>： </a:t>
            </a:r>
            <a:r>
              <a:rPr lang="zh-CN" altLang="en-US" sz="2000">
                <a:latin typeface="+mn-lt"/>
                <a:ea typeface="楷体" pitchFamily="49" charset="-122"/>
              </a:rPr>
              <a:t>即</a:t>
            </a:r>
            <a:r>
              <a:rPr lang="en-US" altLang="zh-CN" sz="2000">
                <a:latin typeface="+mn-lt"/>
                <a:ea typeface="楷体" pitchFamily="49" charset="-122"/>
              </a:rPr>
              <a:t>&amp;a[i][j]</a:t>
            </a:r>
            <a:r>
              <a:rPr lang="zh-CN" altLang="en-US" sz="2000">
                <a:latin typeface="+mn-lt"/>
                <a:ea typeface="楷体" pitchFamily="49" charset="-122"/>
              </a:rPr>
              <a:t>，第</a:t>
            </a:r>
            <a:r>
              <a:rPr lang="en-US" altLang="zh-CN" sz="2000">
                <a:latin typeface="+mn-lt"/>
                <a:ea typeface="楷体" pitchFamily="49" charset="-122"/>
              </a:rPr>
              <a:t>i</a:t>
            </a:r>
            <a:r>
              <a:rPr lang="zh-CN" altLang="en-US" sz="2000">
                <a:latin typeface="+mn-lt"/>
                <a:ea typeface="楷体" pitchFamily="49" charset="-122"/>
              </a:rPr>
              <a:t>行第</a:t>
            </a:r>
            <a:r>
              <a:rPr lang="en-US" altLang="zh-CN" sz="2000">
                <a:latin typeface="+mn-lt"/>
                <a:ea typeface="楷体" pitchFamily="49" charset="-122"/>
              </a:rPr>
              <a:t>j</a:t>
            </a:r>
            <a:r>
              <a:rPr lang="zh-CN" altLang="en-US" sz="2000">
                <a:latin typeface="+mn-lt"/>
                <a:ea typeface="楷体" pitchFamily="49" charset="-122"/>
              </a:rPr>
              <a:t>列的地址</a:t>
            </a:r>
          </a:p>
        </p:txBody>
      </p:sp>
      <p:sp>
        <p:nvSpPr>
          <p:cNvPr id="1229963" name="AutoShape 139"/>
          <p:cNvSpPr>
            <a:spLocks/>
          </p:cNvSpPr>
          <p:nvPr/>
        </p:nvSpPr>
        <p:spPr bwMode="auto">
          <a:xfrm rot="-5400000">
            <a:off x="5623493" y="3801610"/>
            <a:ext cx="287338" cy="4248150"/>
          </a:xfrm>
          <a:prstGeom prst="leftBrace">
            <a:avLst>
              <a:gd name="adj1" fmla="val 123204"/>
              <a:gd name="adj2" fmla="val 50000"/>
            </a:avLst>
          </a:prstGeom>
          <a:noFill/>
          <a:ln w="28575">
            <a:solidFill>
              <a:schemeClr val="accent1">
                <a:lumMod val="50000"/>
              </a:schemeClr>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229964" name="Rectangle 140"/>
          <p:cNvSpPr>
            <a:spLocks noChangeArrowheads="1"/>
          </p:cNvSpPr>
          <p:nvPr/>
        </p:nvSpPr>
        <p:spPr bwMode="auto">
          <a:xfrm>
            <a:off x="5155974" y="5981218"/>
            <a:ext cx="4780476" cy="40011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000">
                <a:solidFill>
                  <a:srgbClr val="CC0000"/>
                </a:solidFill>
                <a:latin typeface="+mn-lt"/>
                <a:ea typeface="楷体" pitchFamily="49" charset="-122"/>
              </a:rPr>
              <a:t>*(*(a+i)+j)</a:t>
            </a:r>
            <a:r>
              <a:rPr lang="zh-CN" altLang="en-US" sz="2000">
                <a:solidFill>
                  <a:srgbClr val="CC0000"/>
                </a:solidFill>
                <a:latin typeface="+mn-lt"/>
                <a:ea typeface="楷体" pitchFamily="49" charset="-122"/>
              </a:rPr>
              <a:t>： </a:t>
            </a:r>
            <a:r>
              <a:rPr lang="zh-CN" altLang="en-US" sz="2000">
                <a:latin typeface="+mn-lt"/>
                <a:ea typeface="楷体" pitchFamily="49" charset="-122"/>
              </a:rPr>
              <a:t>即</a:t>
            </a:r>
            <a:r>
              <a:rPr lang="en-US" altLang="zh-CN" sz="2000">
                <a:latin typeface="+mn-lt"/>
                <a:ea typeface="楷体" pitchFamily="49" charset="-122"/>
              </a:rPr>
              <a:t>a[i][j]</a:t>
            </a:r>
            <a:r>
              <a:rPr lang="zh-CN" altLang="en-US" sz="2000">
                <a:latin typeface="+mn-lt"/>
                <a:ea typeface="楷体" pitchFamily="49" charset="-122"/>
              </a:rPr>
              <a:t>，第</a:t>
            </a:r>
            <a:r>
              <a:rPr lang="en-US" altLang="zh-CN" sz="2000">
                <a:latin typeface="+mn-lt"/>
                <a:ea typeface="楷体" pitchFamily="49" charset="-122"/>
              </a:rPr>
              <a:t>i</a:t>
            </a:r>
            <a:r>
              <a:rPr lang="zh-CN" altLang="en-US" sz="2000">
                <a:latin typeface="+mn-lt"/>
                <a:ea typeface="楷体" pitchFamily="49" charset="-122"/>
              </a:rPr>
              <a:t>行第</a:t>
            </a:r>
            <a:r>
              <a:rPr lang="en-US" altLang="zh-CN" sz="2000">
                <a:latin typeface="+mn-lt"/>
                <a:ea typeface="楷体" pitchFamily="49" charset="-122"/>
              </a:rPr>
              <a:t>j</a:t>
            </a:r>
            <a:r>
              <a:rPr lang="zh-CN" altLang="en-US" sz="2000">
                <a:latin typeface="+mn-lt"/>
                <a:ea typeface="楷体" pitchFamily="49" charset="-122"/>
              </a:rPr>
              <a:t>列的元素</a:t>
            </a:r>
          </a:p>
        </p:txBody>
      </p:sp>
      <p:sp>
        <p:nvSpPr>
          <p:cNvPr id="18" name="Rectangle 4">
            <a:extLst>
              <a:ext uri="{FF2B5EF4-FFF2-40B4-BE49-F238E27FC236}">
                <a16:creationId xmlns:a16="http://schemas.microsoft.com/office/drawing/2014/main" id="{DB31164B-16C4-4000-A804-6A0B839A7443}"/>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29953"/>
                                        </p:tgtEl>
                                        <p:attrNameLst>
                                          <p:attrName>style.visibility</p:attrName>
                                        </p:attrNameLst>
                                      </p:cBhvr>
                                      <p:to>
                                        <p:strVal val="visible"/>
                                      </p:to>
                                    </p:set>
                                    <p:animEffect transition="in" filter="box(in)">
                                      <p:cBhvr>
                                        <p:cTn id="7" dur="500"/>
                                        <p:tgtEl>
                                          <p:spTgt spid="122995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29954"/>
                                        </p:tgtEl>
                                        <p:attrNameLst>
                                          <p:attrName>style.visibility</p:attrName>
                                        </p:attrNameLst>
                                      </p:cBhvr>
                                      <p:to>
                                        <p:strVal val="visible"/>
                                      </p:to>
                                    </p:set>
                                    <p:anim calcmode="lin" valueType="num">
                                      <p:cBhvr additive="base">
                                        <p:cTn id="12" dur="500" fill="hold"/>
                                        <p:tgtEl>
                                          <p:spTgt spid="1229954"/>
                                        </p:tgtEl>
                                        <p:attrNameLst>
                                          <p:attrName>ppt_x</p:attrName>
                                        </p:attrNameLst>
                                      </p:cBhvr>
                                      <p:tavLst>
                                        <p:tav tm="0">
                                          <p:val>
                                            <p:strVal val="#ppt_x"/>
                                          </p:val>
                                        </p:tav>
                                        <p:tav tm="100000">
                                          <p:val>
                                            <p:strVal val="#ppt_x"/>
                                          </p:val>
                                        </p:tav>
                                      </p:tavLst>
                                    </p:anim>
                                    <p:anim calcmode="lin" valueType="num">
                                      <p:cBhvr additive="base">
                                        <p:cTn id="13" dur="500" fill="hold"/>
                                        <p:tgtEl>
                                          <p:spTgt spid="122995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229955"/>
                                        </p:tgtEl>
                                        <p:attrNameLst>
                                          <p:attrName>style.visibility</p:attrName>
                                        </p:attrNameLst>
                                      </p:cBhvr>
                                      <p:to>
                                        <p:strVal val="visible"/>
                                      </p:to>
                                    </p:set>
                                    <p:animEffect transition="in" filter="box(out)">
                                      <p:cBhvr>
                                        <p:cTn id="18" dur="500"/>
                                        <p:tgtEl>
                                          <p:spTgt spid="1229955"/>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229956"/>
                                        </p:tgtEl>
                                        <p:attrNameLst>
                                          <p:attrName>style.visibility</p:attrName>
                                        </p:attrNameLst>
                                      </p:cBhvr>
                                      <p:to>
                                        <p:strVal val="visible"/>
                                      </p:to>
                                    </p:set>
                                    <p:animEffect transition="in" filter="box(in)">
                                      <p:cBhvr>
                                        <p:cTn id="23" dur="500"/>
                                        <p:tgtEl>
                                          <p:spTgt spid="1229956"/>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229958"/>
                                        </p:tgtEl>
                                        <p:attrNameLst>
                                          <p:attrName>style.visibility</p:attrName>
                                        </p:attrNameLst>
                                      </p:cBhvr>
                                      <p:to>
                                        <p:strVal val="visible"/>
                                      </p:to>
                                    </p:set>
                                    <p:animEffect transition="in" filter="box(out)">
                                      <p:cBhvr>
                                        <p:cTn id="28" dur="500"/>
                                        <p:tgtEl>
                                          <p:spTgt spid="1229958"/>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229957"/>
                                        </p:tgtEl>
                                        <p:attrNameLst>
                                          <p:attrName>style.visibility</p:attrName>
                                        </p:attrNameLst>
                                      </p:cBhvr>
                                      <p:to>
                                        <p:strVal val="visible"/>
                                      </p:to>
                                    </p:set>
                                    <p:animEffect transition="in" filter="box(in)">
                                      <p:cBhvr>
                                        <p:cTn id="33" dur="500"/>
                                        <p:tgtEl>
                                          <p:spTgt spid="1229957"/>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229959"/>
                                        </p:tgtEl>
                                        <p:attrNameLst>
                                          <p:attrName>style.visibility</p:attrName>
                                        </p:attrNameLst>
                                      </p:cBhvr>
                                      <p:to>
                                        <p:strVal val="visible"/>
                                      </p:to>
                                    </p:set>
                                    <p:animEffect transition="in" filter="box(out)">
                                      <p:cBhvr>
                                        <p:cTn id="38" dur="500"/>
                                        <p:tgtEl>
                                          <p:spTgt spid="1229959"/>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1229960"/>
                                        </p:tgtEl>
                                        <p:attrNameLst>
                                          <p:attrName>style.visibility</p:attrName>
                                        </p:attrNameLst>
                                      </p:cBhvr>
                                      <p:to>
                                        <p:strVal val="visible"/>
                                      </p:to>
                                    </p:set>
                                    <p:animEffect transition="in" filter="box(in)">
                                      <p:cBhvr>
                                        <p:cTn id="43" dur="500"/>
                                        <p:tgtEl>
                                          <p:spTgt spid="1229960"/>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1229961"/>
                                        </p:tgtEl>
                                        <p:attrNameLst>
                                          <p:attrName>style.visibility</p:attrName>
                                        </p:attrNameLst>
                                      </p:cBhvr>
                                      <p:to>
                                        <p:strVal val="visible"/>
                                      </p:to>
                                    </p:set>
                                    <p:animEffect transition="in" filter="box(out)">
                                      <p:cBhvr>
                                        <p:cTn id="48" dur="500"/>
                                        <p:tgtEl>
                                          <p:spTgt spid="1229961"/>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16" fill="hold" grpId="0" nodeType="clickEffect">
                                  <p:stCondLst>
                                    <p:cond delay="0"/>
                                  </p:stCondLst>
                                  <p:childTnLst>
                                    <p:set>
                                      <p:cBhvr>
                                        <p:cTn id="52" dur="1" fill="hold">
                                          <p:stCondLst>
                                            <p:cond delay="0"/>
                                          </p:stCondLst>
                                        </p:cTn>
                                        <p:tgtEl>
                                          <p:spTgt spid="1229962"/>
                                        </p:tgtEl>
                                        <p:attrNameLst>
                                          <p:attrName>style.visibility</p:attrName>
                                        </p:attrNameLst>
                                      </p:cBhvr>
                                      <p:to>
                                        <p:strVal val="visible"/>
                                      </p:to>
                                    </p:set>
                                    <p:animEffect transition="in" filter="box(in)">
                                      <p:cBhvr>
                                        <p:cTn id="53" dur="500"/>
                                        <p:tgtEl>
                                          <p:spTgt spid="1229962"/>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1229963"/>
                                        </p:tgtEl>
                                        <p:attrNameLst>
                                          <p:attrName>style.visibility</p:attrName>
                                        </p:attrNameLst>
                                      </p:cBhvr>
                                      <p:to>
                                        <p:strVal val="visible"/>
                                      </p:to>
                                    </p:set>
                                    <p:animEffect transition="in" filter="box(out)">
                                      <p:cBhvr>
                                        <p:cTn id="58" dur="500"/>
                                        <p:tgtEl>
                                          <p:spTgt spid="1229963"/>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1229964"/>
                                        </p:tgtEl>
                                        <p:attrNameLst>
                                          <p:attrName>style.visibility</p:attrName>
                                        </p:attrNameLst>
                                      </p:cBhvr>
                                      <p:to>
                                        <p:strVal val="visible"/>
                                      </p:to>
                                    </p:set>
                                    <p:animEffect transition="in" filter="box(in)">
                                      <p:cBhvr>
                                        <p:cTn id="63" dur="500"/>
                                        <p:tgtEl>
                                          <p:spTgt spid="1229964"/>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953" grpId="0"/>
      <p:bldP spid="1229954" grpId="0"/>
      <p:bldP spid="1229955" grpId="0" animBg="1"/>
      <p:bldP spid="1229956" grpId="0"/>
      <p:bldP spid="1229957" grpId="0"/>
      <p:bldP spid="1229958" grpId="0" animBg="1"/>
      <p:bldP spid="1229959" grpId="0" animBg="1"/>
      <p:bldP spid="1229960" grpId="0"/>
      <p:bldP spid="1229961" grpId="0" animBg="1"/>
      <p:bldP spid="1229962" grpId="0"/>
      <p:bldP spid="1229963" grpId="0" animBg="1"/>
      <p:bldP spid="122996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0194" name="Text Box 2"/>
          <p:cNvSpPr txBox="1">
            <a:spLocks noChangeArrowheads="1"/>
          </p:cNvSpPr>
          <p:nvPr/>
        </p:nvSpPr>
        <p:spPr bwMode="auto">
          <a:xfrm>
            <a:off x="8256240" y="3113188"/>
            <a:ext cx="2813298" cy="2030412"/>
          </a:xfrm>
          <a:prstGeom prst="rect">
            <a:avLst/>
          </a:prstGeom>
          <a:gradFill rotWithShape="1">
            <a:gsLst>
              <a:gs pos="0">
                <a:srgbClr val="CFCFD1"/>
              </a:gs>
              <a:gs pos="100000">
                <a:schemeClr val="bg1"/>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lstStyle/>
          <a:p>
            <a:pPr>
              <a:lnSpc>
                <a:spcPct val="100000"/>
              </a:lnSpc>
              <a:spcBef>
                <a:spcPct val="0"/>
              </a:spcBef>
            </a:pPr>
            <a:r>
              <a:rPr lang="zh-CN" altLang="en-US" sz="2000" u="sng" dirty="0">
                <a:solidFill>
                  <a:srgbClr val="C00000"/>
                </a:solidFill>
                <a:latin typeface="+mn-lt"/>
                <a:ea typeface="楷体" pitchFamily="49" charset="-122"/>
              </a:rPr>
              <a:t>对于二维数组：</a:t>
            </a:r>
          </a:p>
          <a:p>
            <a:pPr marL="342900" indent="-342900">
              <a:lnSpc>
                <a:spcPct val="100000"/>
              </a:lnSpc>
              <a:spcBef>
                <a:spcPct val="0"/>
              </a:spcBef>
              <a:buFont typeface="Wingdings" panose="05000000000000000000" pitchFamily="2" charset="2"/>
              <a:buChar char="l"/>
            </a:pPr>
            <a:r>
              <a:rPr lang="en-US" altLang="zh-CN" sz="2000" dirty="0">
                <a:solidFill>
                  <a:srgbClr val="002060"/>
                </a:solidFill>
                <a:latin typeface="+mn-lt"/>
                <a:ea typeface="楷体" pitchFamily="49" charset="-122"/>
              </a:rPr>
              <a:t>a</a:t>
            </a:r>
            <a:r>
              <a:rPr lang="zh-CN" altLang="zh-CN" sz="2000" dirty="0">
                <a:solidFill>
                  <a:srgbClr val="002060"/>
                </a:solidFill>
                <a:latin typeface="+mn-lt"/>
                <a:ea typeface="楷体" pitchFamily="49" charset="-122"/>
              </a:rPr>
              <a:t>是</a:t>
            </a:r>
            <a:r>
              <a:rPr lang="zh-CN" altLang="en-US" sz="2000" dirty="0">
                <a:solidFill>
                  <a:srgbClr val="002060"/>
                </a:solidFill>
                <a:latin typeface="+mn-lt"/>
                <a:ea typeface="楷体" pitchFamily="49" charset="-122"/>
              </a:rPr>
              <a:t>数组名，包含三个元素</a:t>
            </a:r>
            <a:r>
              <a:rPr lang="en-US" altLang="zh-CN" sz="2000" dirty="0">
                <a:solidFill>
                  <a:srgbClr val="002060"/>
                </a:solidFill>
                <a:latin typeface="+mn-lt"/>
                <a:ea typeface="楷体" pitchFamily="49" charset="-122"/>
              </a:rPr>
              <a:t>a[0],a[1],a[2]</a:t>
            </a:r>
            <a:r>
              <a:rPr lang="zh-CN" altLang="en-US" sz="2000" dirty="0">
                <a:solidFill>
                  <a:srgbClr val="002060"/>
                </a:solidFill>
                <a:latin typeface="+mn-lt"/>
                <a:ea typeface="楷体" pitchFamily="49" charset="-122"/>
              </a:rPr>
              <a:t>；</a:t>
            </a:r>
            <a:endParaRPr lang="en-US" altLang="zh-CN" sz="2000" dirty="0">
              <a:solidFill>
                <a:srgbClr val="002060"/>
              </a:solidFill>
              <a:latin typeface="+mn-lt"/>
              <a:ea typeface="楷体" pitchFamily="49" charset="-122"/>
            </a:endParaRPr>
          </a:p>
          <a:p>
            <a:pPr marL="342900" indent="-342900">
              <a:lnSpc>
                <a:spcPct val="100000"/>
              </a:lnSpc>
              <a:spcBef>
                <a:spcPct val="0"/>
              </a:spcBef>
              <a:buFont typeface="Wingdings" panose="05000000000000000000" pitchFamily="2" charset="2"/>
              <a:buChar char="l"/>
            </a:pPr>
            <a:r>
              <a:rPr lang="zh-CN" altLang="zh-CN" sz="2000" dirty="0">
                <a:solidFill>
                  <a:srgbClr val="002060"/>
                </a:solidFill>
                <a:latin typeface="+mn-lt"/>
                <a:ea typeface="楷体" pitchFamily="49" charset="-122"/>
              </a:rPr>
              <a:t>每个元素</a:t>
            </a:r>
            <a:r>
              <a:rPr lang="en-US" altLang="zh-CN" sz="2000" dirty="0">
                <a:solidFill>
                  <a:srgbClr val="002060"/>
                </a:solidFill>
                <a:latin typeface="+mn-lt"/>
                <a:ea typeface="楷体" pitchFamily="49" charset="-122"/>
              </a:rPr>
              <a:t>a[</a:t>
            </a:r>
            <a:r>
              <a:rPr lang="en-US" altLang="zh-CN" sz="2000" dirty="0" err="1">
                <a:solidFill>
                  <a:srgbClr val="002060"/>
                </a:solidFill>
                <a:latin typeface="+mn-lt"/>
                <a:ea typeface="楷体" pitchFamily="49" charset="-122"/>
              </a:rPr>
              <a:t>i</a:t>
            </a:r>
            <a:r>
              <a:rPr lang="en-US" altLang="zh-CN" sz="2000" dirty="0">
                <a:solidFill>
                  <a:srgbClr val="002060"/>
                </a:solidFill>
                <a:latin typeface="+mn-lt"/>
                <a:ea typeface="楷体" pitchFamily="49" charset="-122"/>
              </a:rPr>
              <a:t>]</a:t>
            </a:r>
            <a:r>
              <a:rPr lang="zh-CN" altLang="zh-CN" sz="2000" dirty="0">
                <a:solidFill>
                  <a:srgbClr val="002060"/>
                </a:solidFill>
                <a:latin typeface="+mn-lt"/>
                <a:ea typeface="楷体" pitchFamily="49" charset="-122"/>
              </a:rPr>
              <a:t>又是一个一维数组，包含4个元素</a:t>
            </a:r>
            <a:endParaRPr lang="zh-CN" altLang="en-US" sz="2000" dirty="0">
              <a:solidFill>
                <a:srgbClr val="002060"/>
              </a:solidFill>
              <a:latin typeface="+mn-lt"/>
              <a:ea typeface="楷体" pitchFamily="49" charset="-122"/>
            </a:endParaRPr>
          </a:p>
        </p:txBody>
      </p:sp>
      <p:grpSp>
        <p:nvGrpSpPr>
          <p:cNvPr id="1160195" name="Group 3"/>
          <p:cNvGrpSpPr>
            <a:grpSpLocks/>
          </p:cNvGrpSpPr>
          <p:nvPr/>
        </p:nvGrpSpPr>
        <p:grpSpPr bwMode="auto">
          <a:xfrm>
            <a:off x="1351682" y="1586012"/>
            <a:ext cx="708025" cy="3713163"/>
            <a:chOff x="274" y="708"/>
            <a:chExt cx="446" cy="2339"/>
          </a:xfrm>
        </p:grpSpPr>
        <p:sp>
          <p:nvSpPr>
            <p:cNvPr id="1160196" name="Text Box 4"/>
            <p:cNvSpPr txBox="1">
              <a:spLocks noChangeArrowheads="1"/>
            </p:cNvSpPr>
            <p:nvPr/>
          </p:nvSpPr>
          <p:spPr bwMode="auto">
            <a:xfrm>
              <a:off x="407" y="708"/>
              <a:ext cx="202" cy="29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002060"/>
                  </a:solidFill>
                  <a:ea typeface="宋体" pitchFamily="2" charset="-122"/>
                </a:rPr>
                <a:t>a</a:t>
              </a:r>
            </a:p>
          </p:txBody>
        </p:sp>
        <p:sp>
          <p:nvSpPr>
            <p:cNvPr id="1160197" name="Text Box 5"/>
            <p:cNvSpPr txBox="1">
              <a:spLocks noChangeArrowheads="1"/>
            </p:cNvSpPr>
            <p:nvPr/>
          </p:nvSpPr>
          <p:spPr bwMode="auto">
            <a:xfrm>
              <a:off x="274" y="1797"/>
              <a:ext cx="417" cy="288"/>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002060"/>
                  </a:solidFill>
                  <a:ea typeface="宋体" pitchFamily="2" charset="-122"/>
                </a:rPr>
                <a:t>a+1</a:t>
              </a:r>
            </a:p>
          </p:txBody>
        </p:sp>
        <p:sp>
          <p:nvSpPr>
            <p:cNvPr id="1160198" name="Text Box 6"/>
            <p:cNvSpPr txBox="1">
              <a:spLocks noChangeArrowheads="1"/>
            </p:cNvSpPr>
            <p:nvPr/>
          </p:nvSpPr>
          <p:spPr bwMode="auto">
            <a:xfrm>
              <a:off x="303" y="2759"/>
              <a:ext cx="417" cy="288"/>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002060"/>
                  </a:solidFill>
                  <a:ea typeface="宋体" pitchFamily="2" charset="-122"/>
                </a:rPr>
                <a:t>a+2</a:t>
              </a:r>
            </a:p>
          </p:txBody>
        </p:sp>
      </p:grpSp>
      <p:grpSp>
        <p:nvGrpSpPr>
          <p:cNvPr id="1160199" name="Group 7"/>
          <p:cNvGrpSpPr>
            <a:grpSpLocks/>
          </p:cNvGrpSpPr>
          <p:nvPr/>
        </p:nvGrpSpPr>
        <p:grpSpPr bwMode="auto">
          <a:xfrm>
            <a:off x="7222256" y="836712"/>
            <a:ext cx="1970088" cy="1489075"/>
            <a:chOff x="3612" y="284"/>
            <a:chExt cx="1241" cy="938"/>
          </a:xfrm>
        </p:grpSpPr>
        <p:grpSp>
          <p:nvGrpSpPr>
            <p:cNvPr id="1160200" name="Group 8"/>
            <p:cNvGrpSpPr>
              <a:grpSpLocks/>
            </p:cNvGrpSpPr>
            <p:nvPr/>
          </p:nvGrpSpPr>
          <p:grpSpPr bwMode="auto">
            <a:xfrm>
              <a:off x="3612" y="550"/>
              <a:ext cx="1241" cy="672"/>
              <a:chOff x="3612" y="550"/>
              <a:chExt cx="1241" cy="672"/>
            </a:xfrm>
          </p:grpSpPr>
          <p:sp>
            <p:nvSpPr>
              <p:cNvPr id="1160201" name="Text Box 9"/>
              <p:cNvSpPr txBox="1">
                <a:spLocks noChangeArrowheads="1"/>
              </p:cNvSpPr>
              <p:nvPr/>
            </p:nvSpPr>
            <p:spPr bwMode="auto">
              <a:xfrm>
                <a:off x="3943" y="550"/>
                <a:ext cx="91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CC0000"/>
                    </a:solidFill>
                    <a:ea typeface="宋体" pitchFamily="2" charset="-122"/>
                  </a:rPr>
                  <a:t>*(*(a+0)+1)</a:t>
                </a:r>
              </a:p>
            </p:txBody>
          </p:sp>
          <p:sp>
            <p:nvSpPr>
              <p:cNvPr id="1160202" name="Line 10"/>
              <p:cNvSpPr>
                <a:spLocks noChangeShapeType="1"/>
              </p:cNvSpPr>
              <p:nvPr/>
            </p:nvSpPr>
            <p:spPr bwMode="auto">
              <a:xfrm flipH="1">
                <a:off x="3612" y="778"/>
                <a:ext cx="500" cy="444"/>
              </a:xfrm>
              <a:prstGeom prst="line">
                <a:avLst/>
              </a:prstGeom>
              <a:noFill/>
              <a:ln w="28575">
                <a:solidFill>
                  <a:srgbClr val="CC0000"/>
                </a:solidFill>
                <a:round/>
                <a:headEnd/>
                <a:tailEnd type="stealth" w="lg" len="lg"/>
              </a:ln>
              <a:effectLst/>
            </p:spPr>
            <p:txBody>
              <a:bodyPr wrap="none" anchor="ctr"/>
              <a:lstStyle/>
              <a:p>
                <a:endParaRPr lang="zh-CN" altLang="en-US"/>
              </a:p>
            </p:txBody>
          </p:sp>
        </p:grpSp>
        <p:sp>
          <p:nvSpPr>
            <p:cNvPr id="1160203" name="Text Box 11"/>
            <p:cNvSpPr txBox="1">
              <a:spLocks noChangeArrowheads="1"/>
            </p:cNvSpPr>
            <p:nvPr/>
          </p:nvSpPr>
          <p:spPr bwMode="auto">
            <a:xfrm>
              <a:off x="4020" y="284"/>
              <a:ext cx="739"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CC0000"/>
                  </a:solidFill>
                  <a:ea typeface="宋体" pitchFamily="2" charset="-122"/>
                </a:rPr>
                <a:t>*(a[0]+1)</a:t>
              </a:r>
            </a:p>
          </p:txBody>
        </p:sp>
      </p:grpSp>
      <p:sp>
        <p:nvSpPr>
          <p:cNvPr id="1160204" name="Text Box 12"/>
          <p:cNvSpPr txBox="1">
            <a:spLocks noChangeArrowheads="1"/>
          </p:cNvSpPr>
          <p:nvPr/>
        </p:nvSpPr>
        <p:spPr bwMode="auto">
          <a:xfrm>
            <a:off x="4196214" y="1239213"/>
            <a:ext cx="2263777" cy="519113"/>
          </a:xfrm>
          <a:prstGeom prst="rect">
            <a:avLst/>
          </a:prstGeom>
          <a:noFill/>
          <a:ln w="9525">
            <a:noFill/>
            <a:miter lim="800000"/>
            <a:headEnd/>
            <a:tailEnd/>
          </a:ln>
          <a:effectLst/>
        </p:spPr>
        <p:txBody>
          <a:bodyPr wrap="square">
            <a:spAutoFit/>
          </a:bodyPr>
          <a:lstStyle/>
          <a:p>
            <a:pPr>
              <a:lnSpc>
                <a:spcPct val="100000"/>
              </a:lnSpc>
              <a:spcBef>
                <a:spcPct val="0"/>
              </a:spcBef>
            </a:pPr>
            <a:r>
              <a:rPr lang="en-US" altLang="zh-CN" sz="2800" dirty="0">
                <a:solidFill>
                  <a:srgbClr val="CC0000"/>
                </a:solidFill>
                <a:ea typeface="宋体" pitchFamily="2" charset="-122"/>
              </a:rPr>
              <a:t>short  a[3][4];</a:t>
            </a:r>
          </a:p>
        </p:txBody>
      </p:sp>
      <p:grpSp>
        <p:nvGrpSpPr>
          <p:cNvPr id="1160205" name="Group 13"/>
          <p:cNvGrpSpPr>
            <a:grpSpLocks/>
          </p:cNvGrpSpPr>
          <p:nvPr/>
        </p:nvGrpSpPr>
        <p:grpSpPr bwMode="auto">
          <a:xfrm>
            <a:off x="2245445" y="1436786"/>
            <a:ext cx="1914525" cy="5524500"/>
            <a:chOff x="909" y="650"/>
            <a:chExt cx="1206" cy="3480"/>
          </a:xfrm>
        </p:grpSpPr>
        <p:sp>
          <p:nvSpPr>
            <p:cNvPr id="1160206" name="Line 14"/>
            <p:cNvSpPr>
              <a:spLocks noChangeShapeType="1"/>
            </p:cNvSpPr>
            <p:nvPr/>
          </p:nvSpPr>
          <p:spPr bwMode="auto">
            <a:xfrm>
              <a:off x="1415" y="1978"/>
              <a:ext cx="686" cy="0"/>
            </a:xfrm>
            <a:prstGeom prst="line">
              <a:avLst/>
            </a:prstGeom>
            <a:noFill/>
            <a:ln w="28575" cap="rnd">
              <a:solidFill>
                <a:schemeClr val="tx1"/>
              </a:solidFill>
              <a:prstDash val="sysDot"/>
              <a:round/>
              <a:headEnd/>
              <a:tailEnd/>
            </a:ln>
            <a:effectLst/>
          </p:spPr>
          <p:txBody>
            <a:bodyPr wrap="none" anchor="ctr"/>
            <a:lstStyle/>
            <a:p>
              <a:endParaRPr lang="zh-CN" altLang="en-US"/>
            </a:p>
          </p:txBody>
        </p:sp>
        <p:sp>
          <p:nvSpPr>
            <p:cNvPr id="1160207" name="Line 15"/>
            <p:cNvSpPr>
              <a:spLocks noChangeShapeType="1"/>
            </p:cNvSpPr>
            <p:nvPr/>
          </p:nvSpPr>
          <p:spPr bwMode="auto">
            <a:xfrm>
              <a:off x="1429" y="2989"/>
              <a:ext cx="686" cy="0"/>
            </a:xfrm>
            <a:prstGeom prst="line">
              <a:avLst/>
            </a:prstGeom>
            <a:noFill/>
            <a:ln w="28575" cap="rnd">
              <a:solidFill>
                <a:schemeClr val="tx1"/>
              </a:solidFill>
              <a:prstDash val="sysDot"/>
              <a:round/>
              <a:headEnd/>
              <a:tailEnd/>
            </a:ln>
            <a:effectLst/>
          </p:spPr>
          <p:txBody>
            <a:bodyPr wrap="none" anchor="ctr"/>
            <a:lstStyle/>
            <a:p>
              <a:endParaRPr lang="zh-CN" altLang="en-US"/>
            </a:p>
          </p:txBody>
        </p:sp>
        <p:grpSp>
          <p:nvGrpSpPr>
            <p:cNvPr id="1160208" name="Group 16"/>
            <p:cNvGrpSpPr>
              <a:grpSpLocks/>
            </p:cNvGrpSpPr>
            <p:nvPr/>
          </p:nvGrpSpPr>
          <p:grpSpPr bwMode="auto">
            <a:xfrm>
              <a:off x="1415" y="862"/>
              <a:ext cx="686" cy="3268"/>
              <a:chOff x="1043" y="850"/>
              <a:chExt cx="686" cy="3268"/>
            </a:xfrm>
          </p:grpSpPr>
          <p:sp>
            <p:nvSpPr>
              <p:cNvPr id="1160209" name="Rectangle 17"/>
              <p:cNvSpPr>
                <a:spLocks noChangeArrowheads="1"/>
              </p:cNvSpPr>
              <p:nvPr/>
            </p:nvSpPr>
            <p:spPr bwMode="auto">
              <a:xfrm>
                <a:off x="1043" y="852"/>
                <a:ext cx="686" cy="3266"/>
              </a:xfrm>
              <a:prstGeom prst="rect">
                <a:avLst/>
              </a:prstGeom>
              <a:noFill/>
              <a:ln w="28575" cap="rnd">
                <a:solidFill>
                  <a:schemeClr val="tx1"/>
                </a:solidFill>
                <a:prstDash val="sysDot"/>
                <a:miter lim="800000"/>
                <a:headEnd/>
                <a:tailEnd/>
              </a:ln>
              <a:effectLst/>
            </p:spPr>
            <p:txBody>
              <a:bodyPr wrap="none" anchor="ctr"/>
              <a:lstStyle/>
              <a:p>
                <a:endParaRPr lang="zh-CN" altLang="en-US"/>
              </a:p>
            </p:txBody>
          </p:sp>
          <p:sp>
            <p:nvSpPr>
              <p:cNvPr id="1160210" name="Text Box 18"/>
              <p:cNvSpPr txBox="1">
                <a:spLocks noChangeArrowheads="1"/>
              </p:cNvSpPr>
              <p:nvPr/>
            </p:nvSpPr>
            <p:spPr bwMode="auto">
              <a:xfrm>
                <a:off x="1242" y="850"/>
                <a:ext cx="382" cy="250"/>
              </a:xfrm>
              <a:prstGeom prst="rect">
                <a:avLst/>
              </a:prstGeom>
              <a:noFill/>
              <a:ln w="9525" cap="rnd">
                <a:noFill/>
                <a:prstDash val="sysDot"/>
                <a:miter lim="800000"/>
                <a:headEnd/>
                <a:tailEnd/>
              </a:ln>
              <a:effectLst/>
            </p:spPr>
            <p:txBody>
              <a:bodyPr wrap="none">
                <a:spAutoFit/>
              </a:bodyPr>
              <a:lstStyle/>
              <a:p>
                <a:pPr>
                  <a:lnSpc>
                    <a:spcPct val="100000"/>
                  </a:lnSpc>
                  <a:spcBef>
                    <a:spcPct val="0"/>
                  </a:spcBef>
                </a:pPr>
                <a:r>
                  <a:rPr lang="en-US" altLang="zh-CN" sz="2000">
                    <a:solidFill>
                      <a:schemeClr val="tx2"/>
                    </a:solidFill>
                    <a:ea typeface="宋体" pitchFamily="2" charset="-122"/>
                  </a:rPr>
                  <a:t>a[0]</a:t>
                </a:r>
                <a:endParaRPr lang="en-US" altLang="zh-CN" sz="2000">
                  <a:ea typeface="宋体" pitchFamily="2" charset="-122"/>
                </a:endParaRPr>
              </a:p>
            </p:txBody>
          </p:sp>
          <p:sp>
            <p:nvSpPr>
              <p:cNvPr id="1160211" name="Text Box 19"/>
              <p:cNvSpPr txBox="1">
                <a:spLocks noChangeArrowheads="1"/>
              </p:cNvSpPr>
              <p:nvPr/>
            </p:nvSpPr>
            <p:spPr bwMode="auto">
              <a:xfrm>
                <a:off x="1225" y="1935"/>
                <a:ext cx="382" cy="250"/>
              </a:xfrm>
              <a:prstGeom prst="rect">
                <a:avLst/>
              </a:prstGeom>
              <a:noFill/>
              <a:ln w="9525" cap="rnd">
                <a:noFill/>
                <a:prstDash val="sysDot"/>
                <a:miter lim="800000"/>
                <a:headEnd/>
                <a:tailEnd/>
              </a:ln>
              <a:effectLst/>
            </p:spPr>
            <p:txBody>
              <a:bodyPr wrap="none">
                <a:spAutoFit/>
              </a:bodyPr>
              <a:lstStyle/>
              <a:p>
                <a:pPr>
                  <a:lnSpc>
                    <a:spcPct val="100000"/>
                  </a:lnSpc>
                  <a:spcBef>
                    <a:spcPct val="0"/>
                  </a:spcBef>
                </a:pPr>
                <a:r>
                  <a:rPr lang="en-US" altLang="zh-CN" sz="2000" dirty="0">
                    <a:solidFill>
                      <a:srgbClr val="339933"/>
                    </a:solidFill>
                    <a:ea typeface="宋体" pitchFamily="2" charset="-122"/>
                  </a:rPr>
                  <a:t>a[1]</a:t>
                </a:r>
                <a:endParaRPr lang="en-US" altLang="zh-CN" sz="2000" dirty="0">
                  <a:ea typeface="宋体" pitchFamily="2" charset="-122"/>
                </a:endParaRPr>
              </a:p>
            </p:txBody>
          </p:sp>
          <p:sp>
            <p:nvSpPr>
              <p:cNvPr id="1160212" name="Text Box 20"/>
              <p:cNvSpPr txBox="1">
                <a:spLocks noChangeArrowheads="1"/>
              </p:cNvSpPr>
              <p:nvPr/>
            </p:nvSpPr>
            <p:spPr bwMode="auto">
              <a:xfrm>
                <a:off x="1190" y="2957"/>
                <a:ext cx="382" cy="250"/>
              </a:xfrm>
              <a:prstGeom prst="rect">
                <a:avLst/>
              </a:prstGeom>
              <a:noFill/>
              <a:ln w="9525" cap="rnd">
                <a:noFill/>
                <a:prstDash val="sysDot"/>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endParaRPr lang="en-US" altLang="zh-CN" sz="2000">
                  <a:ea typeface="宋体" pitchFamily="2" charset="-122"/>
                </a:endParaRPr>
              </a:p>
            </p:txBody>
          </p:sp>
        </p:grpSp>
        <p:sp>
          <p:nvSpPr>
            <p:cNvPr id="1160213" name="Line 21"/>
            <p:cNvSpPr>
              <a:spLocks noChangeShapeType="1"/>
            </p:cNvSpPr>
            <p:nvPr/>
          </p:nvSpPr>
          <p:spPr bwMode="auto">
            <a:xfrm>
              <a:off x="993" y="878"/>
              <a:ext cx="42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0214" name="Line 22"/>
            <p:cNvSpPr>
              <a:spLocks noChangeShapeType="1"/>
            </p:cNvSpPr>
            <p:nvPr/>
          </p:nvSpPr>
          <p:spPr bwMode="auto">
            <a:xfrm>
              <a:off x="978" y="1974"/>
              <a:ext cx="42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0215" name="Line 23"/>
            <p:cNvSpPr>
              <a:spLocks noChangeShapeType="1"/>
            </p:cNvSpPr>
            <p:nvPr/>
          </p:nvSpPr>
          <p:spPr bwMode="auto">
            <a:xfrm>
              <a:off x="978" y="2985"/>
              <a:ext cx="42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0216" name="Text Box 24"/>
            <p:cNvSpPr txBox="1">
              <a:spLocks noChangeArrowheads="1"/>
            </p:cNvSpPr>
            <p:nvPr/>
          </p:nvSpPr>
          <p:spPr bwMode="auto">
            <a:xfrm>
              <a:off x="1002" y="650"/>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2000</a:t>
              </a:r>
            </a:p>
          </p:txBody>
        </p:sp>
        <p:sp>
          <p:nvSpPr>
            <p:cNvPr id="1160217" name="Text Box 25"/>
            <p:cNvSpPr txBox="1">
              <a:spLocks noChangeArrowheads="1"/>
            </p:cNvSpPr>
            <p:nvPr/>
          </p:nvSpPr>
          <p:spPr bwMode="auto">
            <a:xfrm>
              <a:off x="909" y="1758"/>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2008</a:t>
              </a:r>
            </a:p>
          </p:txBody>
        </p:sp>
        <p:sp>
          <p:nvSpPr>
            <p:cNvPr id="1160218" name="Text Box 26"/>
            <p:cNvSpPr txBox="1">
              <a:spLocks noChangeArrowheads="1"/>
            </p:cNvSpPr>
            <p:nvPr/>
          </p:nvSpPr>
          <p:spPr bwMode="auto">
            <a:xfrm>
              <a:off x="965" y="2756"/>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2016</a:t>
              </a:r>
            </a:p>
          </p:txBody>
        </p:sp>
      </p:grpSp>
      <p:grpSp>
        <p:nvGrpSpPr>
          <p:cNvPr id="1160219" name="Group 27"/>
          <p:cNvGrpSpPr>
            <a:grpSpLocks/>
          </p:cNvGrpSpPr>
          <p:nvPr/>
        </p:nvGrpSpPr>
        <p:grpSpPr bwMode="auto">
          <a:xfrm>
            <a:off x="3967882" y="1554262"/>
            <a:ext cx="3368675" cy="5337175"/>
            <a:chOff x="1994" y="724"/>
            <a:chExt cx="2122" cy="3362"/>
          </a:xfrm>
        </p:grpSpPr>
        <p:sp>
          <p:nvSpPr>
            <p:cNvPr id="1160220" name="Line 28"/>
            <p:cNvSpPr>
              <a:spLocks noChangeShapeType="1"/>
            </p:cNvSpPr>
            <p:nvPr/>
          </p:nvSpPr>
          <p:spPr bwMode="auto">
            <a:xfrm>
              <a:off x="2020" y="967"/>
              <a:ext cx="1339" cy="0"/>
            </a:xfrm>
            <a:prstGeom prst="line">
              <a:avLst/>
            </a:prstGeom>
            <a:noFill/>
            <a:ln w="19050">
              <a:solidFill>
                <a:srgbClr val="7030A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0221" name="Line 29"/>
            <p:cNvSpPr>
              <a:spLocks noChangeShapeType="1"/>
            </p:cNvSpPr>
            <p:nvPr/>
          </p:nvSpPr>
          <p:spPr bwMode="auto">
            <a:xfrm>
              <a:off x="2980" y="1201"/>
              <a:ext cx="36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0222" name="Text Box 30"/>
            <p:cNvSpPr txBox="1">
              <a:spLocks noChangeArrowheads="1"/>
            </p:cNvSpPr>
            <p:nvPr/>
          </p:nvSpPr>
          <p:spPr bwMode="auto">
            <a:xfrm>
              <a:off x="2956" y="724"/>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2000</a:t>
              </a:r>
            </a:p>
          </p:txBody>
        </p:sp>
        <p:sp>
          <p:nvSpPr>
            <p:cNvPr id="1160223" name="Text Box 31"/>
            <p:cNvSpPr txBox="1">
              <a:spLocks noChangeArrowheads="1"/>
            </p:cNvSpPr>
            <p:nvPr/>
          </p:nvSpPr>
          <p:spPr bwMode="auto">
            <a:xfrm>
              <a:off x="2956" y="968"/>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2002</a:t>
              </a:r>
            </a:p>
          </p:txBody>
        </p:sp>
        <p:sp>
          <p:nvSpPr>
            <p:cNvPr id="1160224" name="Line 32"/>
            <p:cNvSpPr>
              <a:spLocks noChangeShapeType="1"/>
            </p:cNvSpPr>
            <p:nvPr/>
          </p:nvSpPr>
          <p:spPr bwMode="auto">
            <a:xfrm>
              <a:off x="2010" y="2056"/>
              <a:ext cx="1326" cy="0"/>
            </a:xfrm>
            <a:prstGeom prst="line">
              <a:avLst/>
            </a:prstGeom>
            <a:noFill/>
            <a:ln w="19050">
              <a:solidFill>
                <a:srgbClr val="7030A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0225" name="Line 33"/>
            <p:cNvSpPr>
              <a:spLocks noChangeShapeType="1"/>
            </p:cNvSpPr>
            <p:nvPr/>
          </p:nvSpPr>
          <p:spPr bwMode="auto">
            <a:xfrm flipV="1">
              <a:off x="2990" y="2300"/>
              <a:ext cx="336" cy="1"/>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0226" name="Line 34"/>
            <p:cNvSpPr>
              <a:spLocks noChangeShapeType="1"/>
            </p:cNvSpPr>
            <p:nvPr/>
          </p:nvSpPr>
          <p:spPr bwMode="auto">
            <a:xfrm>
              <a:off x="1994" y="3099"/>
              <a:ext cx="1320" cy="1"/>
            </a:xfrm>
            <a:prstGeom prst="line">
              <a:avLst/>
            </a:prstGeom>
            <a:noFill/>
            <a:ln w="19050">
              <a:solidFill>
                <a:srgbClr val="7030A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0227" name="Line 35"/>
            <p:cNvSpPr>
              <a:spLocks noChangeShapeType="1"/>
            </p:cNvSpPr>
            <p:nvPr/>
          </p:nvSpPr>
          <p:spPr bwMode="auto">
            <a:xfrm>
              <a:off x="2969" y="3345"/>
              <a:ext cx="373"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0228" name="Text Box 36"/>
            <p:cNvSpPr txBox="1">
              <a:spLocks noChangeArrowheads="1"/>
            </p:cNvSpPr>
            <p:nvPr/>
          </p:nvSpPr>
          <p:spPr bwMode="auto">
            <a:xfrm>
              <a:off x="2944" y="1831"/>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2008</a:t>
              </a:r>
            </a:p>
          </p:txBody>
        </p:sp>
        <p:sp>
          <p:nvSpPr>
            <p:cNvPr id="1160229" name="Text Box 37"/>
            <p:cNvSpPr txBox="1">
              <a:spLocks noChangeArrowheads="1"/>
            </p:cNvSpPr>
            <p:nvPr/>
          </p:nvSpPr>
          <p:spPr bwMode="auto">
            <a:xfrm>
              <a:off x="2944" y="2075"/>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2010</a:t>
              </a:r>
            </a:p>
          </p:txBody>
        </p:sp>
        <p:sp>
          <p:nvSpPr>
            <p:cNvPr id="1160230" name="Text Box 38"/>
            <p:cNvSpPr txBox="1">
              <a:spLocks noChangeArrowheads="1"/>
            </p:cNvSpPr>
            <p:nvPr/>
          </p:nvSpPr>
          <p:spPr bwMode="auto">
            <a:xfrm>
              <a:off x="2953" y="2876"/>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2016</a:t>
              </a:r>
            </a:p>
          </p:txBody>
        </p:sp>
        <p:sp>
          <p:nvSpPr>
            <p:cNvPr id="1160231" name="Text Box 39"/>
            <p:cNvSpPr txBox="1">
              <a:spLocks noChangeArrowheads="1"/>
            </p:cNvSpPr>
            <p:nvPr/>
          </p:nvSpPr>
          <p:spPr bwMode="auto">
            <a:xfrm>
              <a:off x="2954" y="3120"/>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宋体" pitchFamily="2" charset="-122"/>
                </a:rPr>
                <a:t>2018</a:t>
              </a:r>
            </a:p>
          </p:txBody>
        </p:sp>
        <p:sp>
          <p:nvSpPr>
            <p:cNvPr id="1160232" name="Rectangle 40"/>
            <p:cNvSpPr>
              <a:spLocks noChangeArrowheads="1"/>
            </p:cNvSpPr>
            <p:nvPr/>
          </p:nvSpPr>
          <p:spPr bwMode="auto">
            <a:xfrm>
              <a:off x="3355" y="853"/>
              <a:ext cx="747" cy="3233"/>
            </a:xfrm>
            <a:prstGeom prst="rect">
              <a:avLst/>
            </a:prstGeom>
            <a:noFill/>
            <a:ln w="28575">
              <a:solidFill>
                <a:schemeClr val="tx1"/>
              </a:solidFill>
              <a:miter lim="800000"/>
              <a:headEnd/>
              <a:tailEnd/>
            </a:ln>
            <a:effectLst/>
          </p:spPr>
          <p:txBody>
            <a:bodyPr wrap="none" anchor="ctr"/>
            <a:lstStyle/>
            <a:p>
              <a:endParaRPr lang="zh-CN" altLang="en-US"/>
            </a:p>
          </p:txBody>
        </p:sp>
        <p:sp>
          <p:nvSpPr>
            <p:cNvPr id="1160233" name="Line 41"/>
            <p:cNvSpPr>
              <a:spLocks noChangeShapeType="1"/>
            </p:cNvSpPr>
            <p:nvPr/>
          </p:nvSpPr>
          <p:spPr bwMode="auto">
            <a:xfrm>
              <a:off x="3370" y="1103"/>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34" name="Line 42"/>
            <p:cNvSpPr>
              <a:spLocks noChangeShapeType="1"/>
            </p:cNvSpPr>
            <p:nvPr/>
          </p:nvSpPr>
          <p:spPr bwMode="auto">
            <a:xfrm>
              <a:off x="3358" y="1378"/>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35" name="Line 43"/>
            <p:cNvSpPr>
              <a:spLocks noChangeShapeType="1"/>
            </p:cNvSpPr>
            <p:nvPr/>
          </p:nvSpPr>
          <p:spPr bwMode="auto">
            <a:xfrm>
              <a:off x="3358" y="1928"/>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36" name="Line 44"/>
            <p:cNvSpPr>
              <a:spLocks noChangeShapeType="1"/>
            </p:cNvSpPr>
            <p:nvPr/>
          </p:nvSpPr>
          <p:spPr bwMode="auto">
            <a:xfrm>
              <a:off x="3358" y="2204"/>
              <a:ext cx="738" cy="0"/>
            </a:xfrm>
            <a:prstGeom prst="line">
              <a:avLst/>
            </a:prstGeom>
            <a:noFill/>
            <a:ln w="9525">
              <a:solidFill>
                <a:schemeClr val="tx1"/>
              </a:solidFill>
              <a:round/>
              <a:headEnd/>
              <a:tailEnd/>
            </a:ln>
            <a:effectLst/>
          </p:spPr>
          <p:txBody>
            <a:bodyPr wrap="none" anchor="ctr"/>
            <a:lstStyle/>
            <a:p>
              <a:endParaRPr lang="zh-CN" altLang="en-US"/>
            </a:p>
          </p:txBody>
        </p:sp>
        <p:sp>
          <p:nvSpPr>
            <p:cNvPr id="1160237" name="Line 45"/>
            <p:cNvSpPr>
              <a:spLocks noChangeShapeType="1"/>
            </p:cNvSpPr>
            <p:nvPr/>
          </p:nvSpPr>
          <p:spPr bwMode="auto">
            <a:xfrm>
              <a:off x="3358" y="2479"/>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38" name="Line 46"/>
            <p:cNvSpPr>
              <a:spLocks noChangeShapeType="1"/>
            </p:cNvSpPr>
            <p:nvPr/>
          </p:nvSpPr>
          <p:spPr bwMode="auto">
            <a:xfrm>
              <a:off x="3358" y="3030"/>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39" name="Line 47"/>
            <p:cNvSpPr>
              <a:spLocks noChangeShapeType="1"/>
            </p:cNvSpPr>
            <p:nvPr/>
          </p:nvSpPr>
          <p:spPr bwMode="auto">
            <a:xfrm flipV="1">
              <a:off x="3358" y="3305"/>
              <a:ext cx="754" cy="1"/>
            </a:xfrm>
            <a:prstGeom prst="line">
              <a:avLst/>
            </a:prstGeom>
            <a:noFill/>
            <a:ln w="9525">
              <a:solidFill>
                <a:schemeClr val="tx1"/>
              </a:solidFill>
              <a:round/>
              <a:headEnd/>
              <a:tailEnd/>
            </a:ln>
            <a:effectLst/>
          </p:spPr>
          <p:txBody>
            <a:bodyPr wrap="none" anchor="ctr"/>
            <a:lstStyle/>
            <a:p>
              <a:endParaRPr lang="zh-CN" altLang="en-US"/>
            </a:p>
          </p:txBody>
        </p:sp>
        <p:sp>
          <p:nvSpPr>
            <p:cNvPr id="1160240" name="Line 48"/>
            <p:cNvSpPr>
              <a:spLocks noChangeShapeType="1"/>
            </p:cNvSpPr>
            <p:nvPr/>
          </p:nvSpPr>
          <p:spPr bwMode="auto">
            <a:xfrm>
              <a:off x="3358" y="3581"/>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41" name="Text Box 49"/>
            <p:cNvSpPr txBox="1">
              <a:spLocks noChangeArrowheads="1"/>
            </p:cNvSpPr>
            <p:nvPr/>
          </p:nvSpPr>
          <p:spPr bwMode="auto">
            <a:xfrm>
              <a:off x="3483" y="854"/>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a typeface="宋体" pitchFamily="2" charset="-122"/>
                </a:rPr>
                <a:t>a[0]</a:t>
              </a:r>
              <a:r>
                <a:rPr lang="en-US" altLang="zh-CN" sz="2000">
                  <a:ea typeface="宋体" pitchFamily="2" charset="-122"/>
                </a:rPr>
                <a:t>[0]</a:t>
              </a:r>
            </a:p>
          </p:txBody>
        </p:sp>
        <p:sp>
          <p:nvSpPr>
            <p:cNvPr id="1160242" name="Text Box 50"/>
            <p:cNvSpPr txBox="1">
              <a:spLocks noChangeArrowheads="1"/>
            </p:cNvSpPr>
            <p:nvPr/>
          </p:nvSpPr>
          <p:spPr bwMode="auto">
            <a:xfrm>
              <a:off x="3483" y="1124"/>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a typeface="宋体" pitchFamily="2" charset="-122"/>
                </a:rPr>
                <a:t>a[0]</a:t>
              </a:r>
              <a:r>
                <a:rPr lang="en-US" altLang="zh-CN" sz="2000">
                  <a:ea typeface="宋体" pitchFamily="2" charset="-122"/>
                </a:rPr>
                <a:t>[1]</a:t>
              </a:r>
            </a:p>
          </p:txBody>
        </p:sp>
        <p:sp>
          <p:nvSpPr>
            <p:cNvPr id="1160243" name="Text Box 51"/>
            <p:cNvSpPr txBox="1">
              <a:spLocks noChangeArrowheads="1"/>
            </p:cNvSpPr>
            <p:nvPr/>
          </p:nvSpPr>
          <p:spPr bwMode="auto">
            <a:xfrm>
              <a:off x="3483" y="1935"/>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[0]</a:t>
              </a:r>
            </a:p>
          </p:txBody>
        </p:sp>
        <p:sp>
          <p:nvSpPr>
            <p:cNvPr id="1160244" name="Text Box 52"/>
            <p:cNvSpPr txBox="1">
              <a:spLocks noChangeArrowheads="1"/>
            </p:cNvSpPr>
            <p:nvPr/>
          </p:nvSpPr>
          <p:spPr bwMode="auto">
            <a:xfrm>
              <a:off x="3483" y="2205"/>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[1]</a:t>
              </a:r>
            </a:p>
          </p:txBody>
        </p:sp>
        <p:sp>
          <p:nvSpPr>
            <p:cNvPr id="1160245" name="Text Box 53"/>
            <p:cNvSpPr txBox="1">
              <a:spLocks noChangeArrowheads="1"/>
            </p:cNvSpPr>
            <p:nvPr/>
          </p:nvSpPr>
          <p:spPr bwMode="auto">
            <a:xfrm>
              <a:off x="3483" y="3016"/>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[0]</a:t>
              </a:r>
            </a:p>
          </p:txBody>
        </p:sp>
        <p:sp>
          <p:nvSpPr>
            <p:cNvPr id="1160246" name="Text Box 54"/>
            <p:cNvSpPr txBox="1">
              <a:spLocks noChangeArrowheads="1"/>
            </p:cNvSpPr>
            <p:nvPr/>
          </p:nvSpPr>
          <p:spPr bwMode="auto">
            <a:xfrm>
              <a:off x="3483" y="3287"/>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[1]</a:t>
              </a:r>
            </a:p>
          </p:txBody>
        </p:sp>
        <p:sp>
          <p:nvSpPr>
            <p:cNvPr id="1160247" name="Line 55"/>
            <p:cNvSpPr>
              <a:spLocks noChangeShapeType="1"/>
            </p:cNvSpPr>
            <p:nvPr/>
          </p:nvSpPr>
          <p:spPr bwMode="auto">
            <a:xfrm>
              <a:off x="3358" y="1653"/>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48" name="Line 56"/>
            <p:cNvSpPr>
              <a:spLocks noChangeShapeType="1"/>
            </p:cNvSpPr>
            <p:nvPr/>
          </p:nvSpPr>
          <p:spPr bwMode="auto">
            <a:xfrm>
              <a:off x="3358" y="2754"/>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49" name="Line 57"/>
            <p:cNvSpPr>
              <a:spLocks noChangeShapeType="1"/>
            </p:cNvSpPr>
            <p:nvPr/>
          </p:nvSpPr>
          <p:spPr bwMode="auto">
            <a:xfrm>
              <a:off x="3370" y="3857"/>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50" name="Text Box 58"/>
            <p:cNvSpPr txBox="1">
              <a:spLocks noChangeArrowheads="1"/>
            </p:cNvSpPr>
            <p:nvPr/>
          </p:nvSpPr>
          <p:spPr bwMode="auto">
            <a:xfrm>
              <a:off x="3483" y="1394"/>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a typeface="宋体" pitchFamily="2" charset="-122"/>
                </a:rPr>
                <a:t>a[0]</a:t>
              </a:r>
              <a:r>
                <a:rPr lang="en-US" altLang="zh-CN" sz="2000">
                  <a:ea typeface="宋体" pitchFamily="2" charset="-122"/>
                </a:rPr>
                <a:t>[2]</a:t>
              </a:r>
            </a:p>
          </p:txBody>
        </p:sp>
        <p:sp>
          <p:nvSpPr>
            <p:cNvPr id="1160251" name="Text Box 59"/>
            <p:cNvSpPr txBox="1">
              <a:spLocks noChangeArrowheads="1"/>
            </p:cNvSpPr>
            <p:nvPr/>
          </p:nvSpPr>
          <p:spPr bwMode="auto">
            <a:xfrm>
              <a:off x="3483" y="1665"/>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a typeface="宋体" pitchFamily="2" charset="-122"/>
                </a:rPr>
                <a:t>a[0]</a:t>
              </a:r>
              <a:r>
                <a:rPr lang="en-US" altLang="zh-CN" sz="2000">
                  <a:ea typeface="宋体" pitchFamily="2" charset="-122"/>
                </a:rPr>
                <a:t>[3]</a:t>
              </a:r>
            </a:p>
          </p:txBody>
        </p:sp>
        <p:sp>
          <p:nvSpPr>
            <p:cNvPr id="1160252" name="Text Box 60"/>
            <p:cNvSpPr txBox="1">
              <a:spLocks noChangeArrowheads="1"/>
            </p:cNvSpPr>
            <p:nvPr/>
          </p:nvSpPr>
          <p:spPr bwMode="auto">
            <a:xfrm>
              <a:off x="3483" y="2476"/>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[2]</a:t>
              </a:r>
            </a:p>
          </p:txBody>
        </p:sp>
        <p:sp>
          <p:nvSpPr>
            <p:cNvPr id="1160253" name="Text Box 61"/>
            <p:cNvSpPr txBox="1">
              <a:spLocks noChangeArrowheads="1"/>
            </p:cNvSpPr>
            <p:nvPr/>
          </p:nvSpPr>
          <p:spPr bwMode="auto">
            <a:xfrm>
              <a:off x="3483" y="2746"/>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[3]</a:t>
              </a:r>
            </a:p>
          </p:txBody>
        </p:sp>
        <p:sp>
          <p:nvSpPr>
            <p:cNvPr id="1160254" name="Text Box 62"/>
            <p:cNvSpPr txBox="1">
              <a:spLocks noChangeArrowheads="1"/>
            </p:cNvSpPr>
            <p:nvPr/>
          </p:nvSpPr>
          <p:spPr bwMode="auto">
            <a:xfrm>
              <a:off x="3483" y="3557"/>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[2]</a:t>
              </a:r>
            </a:p>
          </p:txBody>
        </p:sp>
        <p:sp>
          <p:nvSpPr>
            <p:cNvPr id="1160255" name="Text Box 63"/>
            <p:cNvSpPr txBox="1">
              <a:spLocks noChangeArrowheads="1"/>
            </p:cNvSpPr>
            <p:nvPr/>
          </p:nvSpPr>
          <p:spPr bwMode="auto">
            <a:xfrm>
              <a:off x="3483" y="3828"/>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[3]</a:t>
              </a:r>
            </a:p>
          </p:txBody>
        </p:sp>
      </p:grpSp>
      <p:sp>
        <p:nvSpPr>
          <p:cNvPr id="1160256" name="AutoShape 64"/>
          <p:cNvSpPr>
            <a:spLocks noChangeArrowheads="1"/>
          </p:cNvSpPr>
          <p:nvPr/>
        </p:nvSpPr>
        <p:spPr bwMode="auto">
          <a:xfrm>
            <a:off x="1626320" y="5994500"/>
            <a:ext cx="2220161" cy="899279"/>
          </a:xfrm>
          <a:prstGeom prst="irregularSeal2">
            <a:avLst/>
          </a:prstGeom>
          <a:gradFill rotWithShape="1">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p:spPr>
        <p:txBody>
          <a:bodyPr wrap="none">
            <a:spAutoFit/>
          </a:bodyPr>
          <a:lstStyle/>
          <a:p>
            <a:pPr>
              <a:lnSpc>
                <a:spcPct val="100000"/>
              </a:lnSpc>
              <a:spcBef>
                <a:spcPct val="0"/>
              </a:spcBef>
            </a:pPr>
            <a:r>
              <a:rPr lang="zh-CN" altLang="en-US" sz="2000">
                <a:solidFill>
                  <a:srgbClr val="002060"/>
                </a:solidFill>
                <a:latin typeface="+mn-lt"/>
                <a:ea typeface="楷体" pitchFamily="49" charset="-122"/>
              </a:rPr>
              <a:t>基类型</a:t>
            </a:r>
          </a:p>
        </p:txBody>
      </p:sp>
      <p:sp>
        <p:nvSpPr>
          <p:cNvPr id="1160257" name="AutoShape 65"/>
          <p:cNvSpPr>
            <a:spLocks noChangeArrowheads="1"/>
          </p:cNvSpPr>
          <p:nvPr/>
        </p:nvSpPr>
        <p:spPr bwMode="auto">
          <a:xfrm>
            <a:off x="1267544" y="2249586"/>
            <a:ext cx="3531870" cy="1123712"/>
          </a:xfrm>
          <a:prstGeom prst="irregularSeal1">
            <a:avLst/>
          </a:prstGeom>
          <a:gradFill rotWithShape="1">
            <a:gsLst>
              <a:gs pos="0">
                <a:srgbClr val="CFCFD1"/>
              </a:gs>
              <a:gs pos="100000">
                <a:schemeClr val="bg1"/>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p:spPr>
        <p:txBody>
          <a:bodyPr wrap="none">
            <a:spAutoFit/>
          </a:bodyPr>
          <a:lstStyle/>
          <a:p>
            <a:pPr>
              <a:lnSpc>
                <a:spcPct val="100000"/>
              </a:lnSpc>
              <a:spcBef>
                <a:spcPct val="0"/>
              </a:spcBef>
            </a:pPr>
            <a:r>
              <a:rPr lang="zh-CN" altLang="en-US" sz="2000" dirty="0">
                <a:solidFill>
                  <a:srgbClr val="C00000"/>
                </a:solidFill>
                <a:latin typeface="+mn-lt"/>
                <a:ea typeface="楷体" pitchFamily="49" charset="-122"/>
              </a:rPr>
              <a:t>行指针与列指针</a:t>
            </a:r>
          </a:p>
        </p:txBody>
      </p:sp>
      <p:grpSp>
        <p:nvGrpSpPr>
          <p:cNvPr id="1160258" name="Group 66"/>
          <p:cNvGrpSpPr>
            <a:grpSpLocks/>
          </p:cNvGrpSpPr>
          <p:nvPr/>
        </p:nvGrpSpPr>
        <p:grpSpPr bwMode="auto">
          <a:xfrm>
            <a:off x="4102819" y="2138461"/>
            <a:ext cx="1198562" cy="4097338"/>
            <a:chOff x="2079" y="1092"/>
            <a:chExt cx="755" cy="2581"/>
          </a:xfrm>
        </p:grpSpPr>
        <p:grpSp>
          <p:nvGrpSpPr>
            <p:cNvPr id="1160259" name="Group 67"/>
            <p:cNvGrpSpPr>
              <a:grpSpLocks/>
            </p:cNvGrpSpPr>
            <p:nvPr/>
          </p:nvGrpSpPr>
          <p:grpSpPr bwMode="auto">
            <a:xfrm>
              <a:off x="2185" y="1092"/>
              <a:ext cx="570" cy="2377"/>
              <a:chOff x="2041" y="1068"/>
              <a:chExt cx="570" cy="2377"/>
            </a:xfrm>
          </p:grpSpPr>
          <p:sp>
            <p:nvSpPr>
              <p:cNvPr id="1160260" name="Text Box 68"/>
              <p:cNvSpPr txBox="1">
                <a:spLocks noChangeArrowheads="1"/>
              </p:cNvSpPr>
              <p:nvPr/>
            </p:nvSpPr>
            <p:spPr bwMode="auto">
              <a:xfrm>
                <a:off x="2058" y="1068"/>
                <a:ext cx="553" cy="250"/>
              </a:xfrm>
              <a:prstGeom prst="rect">
                <a:avLst/>
              </a:prstGeom>
              <a:noFill/>
              <a:ln w="9525">
                <a:noFill/>
                <a:miter lim="800000"/>
                <a:headEnd/>
                <a:tailEnd/>
              </a:ln>
              <a:effectLst/>
            </p:spPr>
            <p:txBody>
              <a:bodyPr wrap="none">
                <a:spAutoFit/>
              </a:bodyPr>
              <a:lstStyle/>
              <a:p>
                <a:pPr algn="r">
                  <a:lnSpc>
                    <a:spcPct val="100000"/>
                  </a:lnSpc>
                  <a:spcBef>
                    <a:spcPct val="0"/>
                  </a:spcBef>
                </a:pPr>
                <a:r>
                  <a:rPr lang="en-US" altLang="zh-CN" sz="2000">
                    <a:solidFill>
                      <a:schemeClr val="tx2"/>
                    </a:solidFill>
                    <a:ea typeface="宋体" pitchFamily="2" charset="-122"/>
                  </a:rPr>
                  <a:t>a[0]</a:t>
                </a:r>
                <a:r>
                  <a:rPr lang="en-US" altLang="zh-CN" sz="2000">
                    <a:ea typeface="宋体" pitchFamily="2" charset="-122"/>
                  </a:rPr>
                  <a:t>+1</a:t>
                </a:r>
              </a:p>
            </p:txBody>
          </p:sp>
          <p:sp>
            <p:nvSpPr>
              <p:cNvPr id="1160261" name="Text Box 69"/>
              <p:cNvSpPr txBox="1">
                <a:spLocks noChangeArrowheads="1"/>
              </p:cNvSpPr>
              <p:nvPr/>
            </p:nvSpPr>
            <p:spPr bwMode="auto">
              <a:xfrm>
                <a:off x="2041" y="2138"/>
                <a:ext cx="553" cy="250"/>
              </a:xfrm>
              <a:prstGeom prst="rect">
                <a:avLst/>
              </a:prstGeom>
              <a:noFill/>
              <a:ln w="9525">
                <a:noFill/>
                <a:miter lim="800000"/>
                <a:headEnd/>
                <a:tailEnd/>
              </a:ln>
              <a:effectLst/>
            </p:spPr>
            <p:txBody>
              <a:bodyPr wrap="none">
                <a:spAutoFit/>
              </a:bodyPr>
              <a:lstStyle/>
              <a:p>
                <a:pPr algn="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+1</a:t>
                </a:r>
              </a:p>
            </p:txBody>
          </p:sp>
          <p:sp>
            <p:nvSpPr>
              <p:cNvPr id="1160262" name="Text Box 70"/>
              <p:cNvSpPr txBox="1">
                <a:spLocks noChangeArrowheads="1"/>
              </p:cNvSpPr>
              <p:nvPr/>
            </p:nvSpPr>
            <p:spPr bwMode="auto">
              <a:xfrm>
                <a:off x="2046" y="3195"/>
                <a:ext cx="553" cy="250"/>
              </a:xfrm>
              <a:prstGeom prst="rect">
                <a:avLst/>
              </a:prstGeom>
              <a:noFill/>
              <a:ln w="9525">
                <a:noFill/>
                <a:miter lim="800000"/>
                <a:headEnd/>
                <a:tailEnd/>
              </a:ln>
              <a:effectLst/>
            </p:spPr>
            <p:txBody>
              <a:bodyPr wrap="none">
                <a:spAutoFit/>
              </a:bodyPr>
              <a:lstStyle/>
              <a:p>
                <a:pPr algn="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+1</a:t>
                </a:r>
              </a:p>
            </p:txBody>
          </p:sp>
        </p:grpSp>
        <p:grpSp>
          <p:nvGrpSpPr>
            <p:cNvPr id="1160263" name="Group 71"/>
            <p:cNvGrpSpPr>
              <a:grpSpLocks/>
            </p:cNvGrpSpPr>
            <p:nvPr/>
          </p:nvGrpSpPr>
          <p:grpSpPr bwMode="auto">
            <a:xfrm>
              <a:off x="2079" y="1272"/>
              <a:ext cx="755" cy="2401"/>
              <a:chOff x="1935" y="1248"/>
              <a:chExt cx="755" cy="2401"/>
            </a:xfrm>
          </p:grpSpPr>
          <p:sp>
            <p:nvSpPr>
              <p:cNvPr id="1160264" name="Text Box 72"/>
              <p:cNvSpPr txBox="1">
                <a:spLocks noChangeArrowheads="1"/>
              </p:cNvSpPr>
              <p:nvPr/>
            </p:nvSpPr>
            <p:spPr bwMode="auto">
              <a:xfrm>
                <a:off x="1935" y="1248"/>
                <a:ext cx="724" cy="250"/>
              </a:xfrm>
              <a:prstGeom prst="rect">
                <a:avLst/>
              </a:prstGeom>
              <a:noFill/>
              <a:ln w="9525">
                <a:noFill/>
                <a:miter lim="800000"/>
                <a:headEnd/>
                <a:tailEnd/>
              </a:ln>
              <a:effectLst/>
            </p:spPr>
            <p:txBody>
              <a:bodyPr wrap="none">
                <a:spAutoFit/>
              </a:bodyPr>
              <a:lstStyle/>
              <a:p>
                <a:pPr algn="r">
                  <a:lnSpc>
                    <a:spcPct val="100000"/>
                  </a:lnSpc>
                  <a:spcBef>
                    <a:spcPct val="0"/>
                  </a:spcBef>
                </a:pPr>
                <a:r>
                  <a:rPr lang="en-US" altLang="zh-CN" sz="2000">
                    <a:ea typeface="宋体" pitchFamily="2" charset="-122"/>
                  </a:rPr>
                  <a:t>*(a+0)+1</a:t>
                </a:r>
              </a:p>
            </p:txBody>
          </p:sp>
          <p:sp>
            <p:nvSpPr>
              <p:cNvPr id="1160265" name="Text Box 73"/>
              <p:cNvSpPr txBox="1">
                <a:spLocks noChangeArrowheads="1"/>
              </p:cNvSpPr>
              <p:nvPr/>
            </p:nvSpPr>
            <p:spPr bwMode="auto">
              <a:xfrm>
                <a:off x="1966" y="2318"/>
                <a:ext cx="724" cy="250"/>
              </a:xfrm>
              <a:prstGeom prst="rect">
                <a:avLst/>
              </a:prstGeom>
              <a:noFill/>
              <a:ln w="9525">
                <a:noFill/>
                <a:miter lim="800000"/>
                <a:headEnd/>
                <a:tailEnd/>
              </a:ln>
              <a:effectLst/>
            </p:spPr>
            <p:txBody>
              <a:bodyPr wrap="none">
                <a:spAutoFit/>
              </a:bodyPr>
              <a:lstStyle/>
              <a:p>
                <a:pPr algn="r">
                  <a:lnSpc>
                    <a:spcPct val="100000"/>
                  </a:lnSpc>
                  <a:spcBef>
                    <a:spcPct val="0"/>
                  </a:spcBef>
                </a:pPr>
                <a:r>
                  <a:rPr lang="en-US" altLang="zh-CN" sz="2000">
                    <a:ea typeface="宋体" pitchFamily="2" charset="-122"/>
                  </a:rPr>
                  <a:t>*(a+1)+1</a:t>
                </a:r>
              </a:p>
            </p:txBody>
          </p:sp>
          <p:sp>
            <p:nvSpPr>
              <p:cNvPr id="1160266" name="Text Box 74"/>
              <p:cNvSpPr txBox="1">
                <a:spLocks noChangeArrowheads="1"/>
              </p:cNvSpPr>
              <p:nvPr/>
            </p:nvSpPr>
            <p:spPr bwMode="auto">
              <a:xfrm>
                <a:off x="1959" y="3399"/>
                <a:ext cx="724" cy="250"/>
              </a:xfrm>
              <a:prstGeom prst="rect">
                <a:avLst/>
              </a:prstGeom>
              <a:noFill/>
              <a:ln w="9525">
                <a:noFill/>
                <a:miter lim="800000"/>
                <a:headEnd/>
                <a:tailEnd/>
              </a:ln>
              <a:effectLst/>
            </p:spPr>
            <p:txBody>
              <a:bodyPr wrap="none">
                <a:spAutoFit/>
              </a:bodyPr>
              <a:lstStyle/>
              <a:p>
                <a:pPr algn="r">
                  <a:lnSpc>
                    <a:spcPct val="100000"/>
                  </a:lnSpc>
                  <a:spcBef>
                    <a:spcPct val="0"/>
                  </a:spcBef>
                </a:pPr>
                <a:r>
                  <a:rPr lang="en-US" altLang="zh-CN" sz="2000">
                    <a:ea typeface="宋体" pitchFamily="2" charset="-122"/>
                  </a:rPr>
                  <a:t>*(a+2)+1</a:t>
                </a:r>
              </a:p>
            </p:txBody>
          </p:sp>
        </p:grpSp>
      </p:grpSp>
      <p:sp useBgFill="1">
        <p:nvSpPr>
          <p:cNvPr id="1160267" name="Rectangle 75"/>
          <p:cNvSpPr>
            <a:spLocks noChangeArrowheads="1"/>
          </p:cNvSpPr>
          <p:nvPr/>
        </p:nvSpPr>
        <p:spPr bwMode="auto">
          <a:xfrm>
            <a:off x="5735960" y="1321796"/>
            <a:ext cx="521891" cy="463846"/>
          </a:xfrm>
          <a:prstGeom prst="rect">
            <a:avLst/>
          </a:prstGeom>
          <a:ln w="38100">
            <a:noFill/>
            <a:miter lim="800000"/>
            <a:headEnd/>
            <a:tailEnd/>
          </a:ln>
          <a:effectLst/>
        </p:spPr>
        <p:txBody>
          <a:bodyPr wrap="square" lIns="90000" tIns="46800" rIns="90000" bIns="46800" anchor="ctr">
            <a:spAutoFit/>
          </a:bodyPr>
          <a:lstStyle/>
          <a:p>
            <a:endParaRPr lang="zh-CN" altLang="en-US"/>
          </a:p>
        </p:txBody>
      </p:sp>
      <p:sp>
        <p:nvSpPr>
          <p:cNvPr id="1160271" name="Rectangle 79"/>
          <p:cNvSpPr>
            <a:spLocks noChangeArrowheads="1"/>
          </p:cNvSpPr>
          <p:nvPr/>
        </p:nvSpPr>
        <p:spPr bwMode="auto">
          <a:xfrm>
            <a:off x="623392" y="818207"/>
            <a:ext cx="6430169" cy="503238"/>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3</a:t>
            </a:r>
            <a:r>
              <a:rPr lang="zh-CN" altLang="en-US" sz="2800" b="1" dirty="0">
                <a:solidFill>
                  <a:srgbClr val="C00000"/>
                </a:solidFill>
                <a:latin typeface="+mn-lt"/>
                <a:ea typeface="楷体" pitchFamily="49" charset="-122"/>
                <a:sym typeface="Symbol" pitchFamily="18" charset="2"/>
              </a:rPr>
              <a:t>、指向多维数组的指针</a:t>
            </a:r>
            <a:r>
              <a:rPr lang="en-US" altLang="zh-CN" sz="2800" b="1" dirty="0">
                <a:solidFill>
                  <a:srgbClr val="C00000"/>
                </a:solidFill>
                <a:latin typeface="+mn-lt"/>
                <a:ea typeface="楷体" pitchFamily="49" charset="-122"/>
                <a:sym typeface="Symbol" pitchFamily="18" charset="2"/>
              </a:rPr>
              <a:t>____</a:t>
            </a:r>
            <a:r>
              <a:rPr lang="zh-CN" altLang="en-US" sz="2800" b="1" dirty="0">
                <a:solidFill>
                  <a:srgbClr val="C00000"/>
                </a:solidFill>
                <a:latin typeface="+mn-lt"/>
                <a:ea typeface="楷体" pitchFamily="49" charset="-122"/>
                <a:sym typeface="Symbol" pitchFamily="18" charset="2"/>
              </a:rPr>
              <a:t>数组指针</a:t>
            </a:r>
          </a:p>
        </p:txBody>
      </p:sp>
      <p:sp>
        <p:nvSpPr>
          <p:cNvPr id="1160272" name="Text Box 80"/>
          <p:cNvSpPr txBox="1">
            <a:spLocks noChangeArrowheads="1"/>
          </p:cNvSpPr>
          <p:nvPr/>
        </p:nvSpPr>
        <p:spPr bwMode="auto">
          <a:xfrm>
            <a:off x="1058045" y="1171600"/>
            <a:ext cx="2879725" cy="457200"/>
          </a:xfrm>
          <a:prstGeom prst="rect">
            <a:avLst/>
          </a:prstGeom>
          <a:noFill/>
          <a:ln w="9525">
            <a:noFill/>
            <a:miter lim="800000"/>
            <a:headEnd/>
            <a:tailEnd/>
          </a:ln>
          <a:effectLst/>
        </p:spPr>
        <p:txBody>
          <a:bodyPr>
            <a:spAutoFit/>
          </a:bodyPr>
          <a:lstStyle/>
          <a:p>
            <a:pPr>
              <a:lnSpc>
                <a:spcPct val="100000"/>
              </a:lnSpc>
              <a:spcBef>
                <a:spcPct val="50000"/>
              </a:spcBef>
            </a:pPr>
            <a:r>
              <a:rPr lang="zh-CN" altLang="en-US">
                <a:solidFill>
                  <a:srgbClr val="C00000"/>
                </a:solidFill>
                <a:ea typeface="隶书" pitchFamily="49" charset="-122"/>
              </a:rPr>
              <a:t>二维数组的理解：</a:t>
            </a:r>
          </a:p>
        </p:txBody>
      </p:sp>
      <p:sp>
        <p:nvSpPr>
          <p:cNvPr id="81" name="Rectangle 4">
            <a:extLst>
              <a:ext uri="{FF2B5EF4-FFF2-40B4-BE49-F238E27FC236}">
                <a16:creationId xmlns:a16="http://schemas.microsoft.com/office/drawing/2014/main" id="{3E3ECAE1-A1B9-4BCB-975F-567006FF1EA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0271">
                                            <p:txEl>
                                              <p:pRg st="0" end="0"/>
                                            </p:txEl>
                                          </p:spTgt>
                                        </p:tgtEl>
                                        <p:attrNameLst>
                                          <p:attrName>style.visibility</p:attrName>
                                        </p:attrNameLst>
                                      </p:cBhvr>
                                      <p:to>
                                        <p:strVal val="visible"/>
                                      </p:to>
                                    </p:set>
                                    <p:anim calcmode="lin" valueType="num">
                                      <p:cBhvr additive="base">
                                        <p:cTn id="7" dur="500" fill="hold"/>
                                        <p:tgtEl>
                                          <p:spTgt spid="11602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027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60272"/>
                                        </p:tgtEl>
                                        <p:attrNameLst>
                                          <p:attrName>style.visibility</p:attrName>
                                        </p:attrNameLst>
                                      </p:cBhvr>
                                      <p:to>
                                        <p:strVal val="visible"/>
                                      </p:to>
                                    </p:set>
                                    <p:animEffect transition="in" filter="box(in)">
                                      <p:cBhvr>
                                        <p:cTn id="13" dur="500"/>
                                        <p:tgtEl>
                                          <p:spTgt spid="1160272"/>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60204">
                                            <p:txEl>
                                              <p:pRg st="0" end="0"/>
                                            </p:txEl>
                                          </p:spTgt>
                                        </p:tgtEl>
                                        <p:attrNameLst>
                                          <p:attrName>style.visibility</p:attrName>
                                        </p:attrNameLst>
                                      </p:cBhvr>
                                      <p:to>
                                        <p:strVal val="visible"/>
                                      </p:to>
                                    </p:set>
                                    <p:animEffect transition="in" filter="box(out)">
                                      <p:cBhvr>
                                        <p:cTn id="18" dur="500"/>
                                        <p:tgtEl>
                                          <p:spTgt spid="1160204">
                                            <p:txEl>
                                              <p:pRg st="0" end="0"/>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60205"/>
                                        </p:tgtEl>
                                        <p:attrNameLst>
                                          <p:attrName>style.visibility</p:attrName>
                                        </p:attrNameLst>
                                      </p:cBhvr>
                                      <p:to>
                                        <p:strVal val="visible"/>
                                      </p:to>
                                    </p:set>
                                    <p:animEffect transition="in" filter="box(out)">
                                      <p:cBhvr>
                                        <p:cTn id="23" dur="500"/>
                                        <p:tgtEl>
                                          <p:spTgt spid="1160205"/>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par>
                          <p:cTn id="24" fill="hold">
                            <p:stCondLst>
                              <p:cond delay="500"/>
                            </p:stCondLst>
                            <p:childTnLst>
                              <p:par>
                                <p:cTn id="25" presetID="4" presetClass="entr" presetSubtype="32" fill="hold" grpId="0" nodeType="afterEffect">
                                  <p:stCondLst>
                                    <p:cond delay="0"/>
                                  </p:stCondLst>
                                  <p:childTnLst>
                                    <p:set>
                                      <p:cBhvr>
                                        <p:cTn id="26" dur="1" fill="hold">
                                          <p:stCondLst>
                                            <p:cond delay="0"/>
                                          </p:stCondLst>
                                        </p:cTn>
                                        <p:tgtEl>
                                          <p:spTgt spid="1160267"/>
                                        </p:tgtEl>
                                        <p:attrNameLst>
                                          <p:attrName>style.visibility</p:attrName>
                                        </p:attrNameLst>
                                      </p:cBhvr>
                                      <p:to>
                                        <p:strVal val="visible"/>
                                      </p:to>
                                    </p:set>
                                    <p:animEffect transition="in" filter="box(out)">
                                      <p:cBhvr>
                                        <p:cTn id="27" dur="500"/>
                                        <p:tgtEl>
                                          <p:spTgt spid="1160267"/>
                                        </p:tgtEl>
                                      </p:cBhvr>
                                    </p:animEffect>
                                  </p:childTnLst>
                                  <p:subTnLst>
                                    <p:set>
                                      <p:cBhvr override="childStyle">
                                        <p:cTn dur="1" fill="hold" display="0" masterRel="nextClick" afterEffect="1"/>
                                        <p:tgtEl>
                                          <p:spTgt spid="1160267"/>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160219"/>
                                        </p:tgtEl>
                                        <p:attrNameLst>
                                          <p:attrName>style.visibility</p:attrName>
                                        </p:attrNameLst>
                                      </p:cBhvr>
                                      <p:to>
                                        <p:strVal val="visible"/>
                                      </p:to>
                                    </p:set>
                                    <p:animEffect transition="in" filter="box(out)">
                                      <p:cBhvr>
                                        <p:cTn id="32" dur="500"/>
                                        <p:tgtEl>
                                          <p:spTgt spid="1160219"/>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160194"/>
                                        </p:tgtEl>
                                        <p:attrNameLst>
                                          <p:attrName>style.visibility</p:attrName>
                                        </p:attrNameLst>
                                      </p:cBhvr>
                                      <p:to>
                                        <p:strVal val="visible"/>
                                      </p:to>
                                    </p:set>
                                    <p:animEffect transition="in" filter="box(out)">
                                      <p:cBhvr>
                                        <p:cTn id="37" dur="500"/>
                                        <p:tgtEl>
                                          <p:spTgt spid="1160194"/>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160256"/>
                                        </p:tgtEl>
                                        <p:attrNameLst>
                                          <p:attrName>style.visibility</p:attrName>
                                        </p:attrNameLst>
                                      </p:cBhvr>
                                      <p:to>
                                        <p:strVal val="visible"/>
                                      </p:to>
                                    </p:set>
                                    <p:animEffect transition="in" filter="box(out)">
                                      <p:cBhvr>
                                        <p:cTn id="42" dur="500"/>
                                        <p:tgtEl>
                                          <p:spTgt spid="1160256"/>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160195"/>
                                        </p:tgtEl>
                                        <p:attrNameLst>
                                          <p:attrName>style.visibility</p:attrName>
                                        </p:attrNameLst>
                                      </p:cBhvr>
                                      <p:to>
                                        <p:strVal val="visible"/>
                                      </p:to>
                                    </p:set>
                                    <p:animEffect transition="in" filter="box(out)">
                                      <p:cBhvr>
                                        <p:cTn id="47" dur="500"/>
                                        <p:tgtEl>
                                          <p:spTgt spid="1160195"/>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1160258"/>
                                        </p:tgtEl>
                                        <p:attrNameLst>
                                          <p:attrName>style.visibility</p:attrName>
                                        </p:attrNameLst>
                                      </p:cBhvr>
                                      <p:to>
                                        <p:strVal val="visible"/>
                                      </p:to>
                                    </p:set>
                                    <p:animEffect transition="in" filter="box(out)">
                                      <p:cBhvr>
                                        <p:cTn id="52" dur="500"/>
                                        <p:tgtEl>
                                          <p:spTgt spid="1160258"/>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1160199"/>
                                        </p:tgtEl>
                                        <p:attrNameLst>
                                          <p:attrName>style.visibility</p:attrName>
                                        </p:attrNameLst>
                                      </p:cBhvr>
                                      <p:to>
                                        <p:strVal val="visible"/>
                                      </p:to>
                                    </p:set>
                                    <p:animEffect transition="in" filter="box(out)">
                                      <p:cBhvr>
                                        <p:cTn id="57" dur="500"/>
                                        <p:tgtEl>
                                          <p:spTgt spid="1160199"/>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1160257"/>
                                        </p:tgtEl>
                                        <p:attrNameLst>
                                          <p:attrName>style.visibility</p:attrName>
                                        </p:attrNameLst>
                                      </p:cBhvr>
                                      <p:to>
                                        <p:strVal val="visible"/>
                                      </p:to>
                                    </p:set>
                                    <p:animEffect transition="in" filter="box(out)">
                                      <p:cBhvr>
                                        <p:cTn id="62" dur="500"/>
                                        <p:tgtEl>
                                          <p:spTgt spid="1160257"/>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0194" grpId="0" animBg="1" autoUpdateAnimBg="0"/>
      <p:bldP spid="1160204" grpId="0" build="p" autoUpdateAnimBg="0"/>
      <p:bldP spid="1160256" grpId="0" animBg="1" autoUpdateAnimBg="0"/>
      <p:bldP spid="1160257" grpId="0" animBg="1" autoUpdateAnimBg="0"/>
      <p:bldP spid="1160267" grpId="0" animBg="1"/>
      <p:bldP spid="1160271" grpId="0" build="p" bldLvl="5" autoUpdateAnimBg="0"/>
      <p:bldP spid="1160272" grpId="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1219" name="Rectangle 3"/>
          <p:cNvSpPr>
            <a:spLocks noChangeArrowheads="1"/>
          </p:cNvSpPr>
          <p:nvPr/>
        </p:nvSpPr>
        <p:spPr bwMode="auto">
          <a:xfrm>
            <a:off x="6210870" y="4319859"/>
            <a:ext cx="4565650" cy="2160588"/>
          </a:xfrm>
          <a:prstGeom prst="rect">
            <a:avLst/>
          </a:prstGeom>
          <a:gradFill rotWithShape="1">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nSpc>
                <a:spcPct val="100000"/>
              </a:lnSpc>
              <a:buFont typeface="Wingdings" pitchFamily="2" charset="2"/>
              <a:buChar char="Ø"/>
            </a:pPr>
            <a:r>
              <a:rPr lang="en-US" altLang="zh-CN" sz="2000" dirty="0" err="1">
                <a:latin typeface="+mn-lt"/>
                <a:ea typeface="楷体" pitchFamily="49" charset="-122"/>
              </a:rPr>
              <a:t>a+i</a:t>
            </a:r>
            <a:r>
              <a:rPr lang="en-US" altLang="zh-CN" sz="2000" dirty="0">
                <a:latin typeface="+mn-lt"/>
                <a:ea typeface="楷体" pitchFamily="49" charset="-122"/>
              </a:rPr>
              <a:t> = &amp;a[</a:t>
            </a:r>
            <a:r>
              <a:rPr lang="en-US" altLang="zh-CN" sz="2000" dirty="0" err="1">
                <a:latin typeface="+mn-lt"/>
                <a:ea typeface="楷体" pitchFamily="49" charset="-122"/>
              </a:rPr>
              <a:t>i</a:t>
            </a:r>
            <a:r>
              <a:rPr lang="en-US" altLang="zh-CN" sz="2000" dirty="0">
                <a:latin typeface="+mn-lt"/>
                <a:ea typeface="楷体" pitchFamily="49" charset="-122"/>
              </a:rPr>
              <a:t>] = a[</a:t>
            </a:r>
            <a:r>
              <a:rPr lang="en-US" altLang="zh-CN" sz="2000" dirty="0" err="1">
                <a:latin typeface="+mn-lt"/>
                <a:ea typeface="楷体" pitchFamily="49" charset="-122"/>
              </a:rPr>
              <a:t>i</a:t>
            </a:r>
            <a:r>
              <a:rPr lang="en-US" altLang="zh-CN" sz="2000" dirty="0">
                <a:latin typeface="+mn-lt"/>
                <a:ea typeface="楷体" pitchFamily="49" charset="-122"/>
              </a:rPr>
              <a:t>] = *(</a:t>
            </a:r>
            <a:r>
              <a:rPr lang="en-US" altLang="zh-CN" sz="2000" dirty="0" err="1">
                <a:latin typeface="+mn-lt"/>
                <a:ea typeface="楷体" pitchFamily="49" charset="-122"/>
              </a:rPr>
              <a:t>a+i</a:t>
            </a:r>
            <a:r>
              <a:rPr lang="en-US" altLang="zh-CN" sz="2000" dirty="0">
                <a:latin typeface="+mn-lt"/>
                <a:ea typeface="楷体" pitchFamily="49" charset="-122"/>
              </a:rPr>
              <a:t>) = &amp;a[</a:t>
            </a:r>
            <a:r>
              <a:rPr lang="en-US" altLang="zh-CN" sz="2000" dirty="0" err="1">
                <a:latin typeface="+mn-lt"/>
                <a:ea typeface="楷体" pitchFamily="49" charset="-122"/>
              </a:rPr>
              <a:t>i</a:t>
            </a:r>
            <a:r>
              <a:rPr lang="en-US" altLang="zh-CN" sz="2000" dirty="0">
                <a:latin typeface="+mn-lt"/>
                <a:ea typeface="楷体" pitchFamily="49" charset="-122"/>
              </a:rPr>
              <a:t>][0],  </a:t>
            </a:r>
          </a:p>
          <a:p>
            <a:pPr marL="342900" indent="-342900">
              <a:lnSpc>
                <a:spcPct val="100000"/>
              </a:lnSpc>
            </a:pPr>
            <a:r>
              <a:rPr lang="en-US" altLang="zh-CN" sz="2000" dirty="0">
                <a:solidFill>
                  <a:srgbClr val="0000FF"/>
                </a:solidFill>
                <a:latin typeface="+mn-lt"/>
                <a:ea typeface="楷体" pitchFamily="49" charset="-122"/>
              </a:rPr>
              <a:t>     </a:t>
            </a:r>
            <a:r>
              <a:rPr lang="zh-CN" altLang="zh-CN" sz="2000" dirty="0">
                <a:solidFill>
                  <a:srgbClr val="002060"/>
                </a:solidFill>
                <a:latin typeface="+mn-lt"/>
                <a:ea typeface="楷体" pitchFamily="49" charset="-122"/>
              </a:rPr>
              <a:t>值相等，含义不同</a:t>
            </a:r>
            <a:endParaRPr lang="zh-CN" altLang="en-US" sz="2000" dirty="0">
              <a:solidFill>
                <a:srgbClr val="002060"/>
              </a:solidFill>
              <a:latin typeface="+mn-lt"/>
              <a:ea typeface="楷体" pitchFamily="49" charset="-122"/>
            </a:endParaRPr>
          </a:p>
          <a:p>
            <a:pPr marL="342900" indent="-342900">
              <a:lnSpc>
                <a:spcPct val="100000"/>
              </a:lnSpc>
              <a:buFont typeface="Wingdings" pitchFamily="2" charset="2"/>
              <a:buChar char="Ø"/>
            </a:pPr>
            <a:r>
              <a:rPr lang="en-US" altLang="zh-CN" sz="2000" dirty="0" err="1">
                <a:solidFill>
                  <a:srgbClr val="002060"/>
                </a:solidFill>
                <a:latin typeface="+mn-lt"/>
                <a:ea typeface="楷体" pitchFamily="49" charset="-122"/>
              </a:rPr>
              <a:t>a+i</a:t>
            </a:r>
            <a:r>
              <a:rPr lang="en-US" altLang="zh-CN" sz="2000" dirty="0">
                <a:solidFill>
                  <a:srgbClr val="002060"/>
                </a:solidFill>
                <a:latin typeface="+mn-lt"/>
                <a:ea typeface="楷体" pitchFamily="49" charset="-122"/>
              </a:rPr>
              <a:t> </a:t>
            </a:r>
            <a:r>
              <a:rPr lang="en-US" altLang="zh-CN" sz="2000" dirty="0">
                <a:solidFill>
                  <a:srgbClr val="002060"/>
                </a:solidFill>
                <a:latin typeface="+mn-lt"/>
                <a:ea typeface="楷体" pitchFamily="49" charset="-122"/>
                <a:sym typeface="Symbol" pitchFamily="18" charset="2"/>
              </a:rPr>
              <a:t></a:t>
            </a:r>
            <a:r>
              <a:rPr lang="en-US" altLang="zh-CN" sz="2000" dirty="0">
                <a:solidFill>
                  <a:srgbClr val="002060"/>
                </a:solidFill>
                <a:latin typeface="+mn-lt"/>
                <a:ea typeface="楷体" pitchFamily="49" charset="-122"/>
              </a:rPr>
              <a:t> &amp;a[</a:t>
            </a:r>
            <a:r>
              <a:rPr lang="en-US" altLang="zh-CN" sz="2000" dirty="0" err="1">
                <a:solidFill>
                  <a:srgbClr val="002060"/>
                </a:solidFill>
                <a:latin typeface="+mn-lt"/>
                <a:ea typeface="楷体" pitchFamily="49" charset="-122"/>
              </a:rPr>
              <a:t>i</a:t>
            </a:r>
            <a:r>
              <a:rPr lang="en-US" altLang="zh-CN" sz="2000" dirty="0">
                <a:solidFill>
                  <a:srgbClr val="002060"/>
                </a:solidFill>
                <a:latin typeface="+mn-lt"/>
                <a:ea typeface="楷体" pitchFamily="49" charset="-122"/>
              </a:rPr>
              <a:t>]</a:t>
            </a:r>
            <a:r>
              <a:rPr lang="zh-CN" altLang="en-US" sz="2000" dirty="0">
                <a:solidFill>
                  <a:schemeClr val="accent2"/>
                </a:solidFill>
                <a:latin typeface="+mn-lt"/>
                <a:ea typeface="楷体" pitchFamily="49" charset="-122"/>
              </a:rPr>
              <a:t>，</a:t>
            </a:r>
            <a:r>
              <a:rPr lang="zh-CN" altLang="zh-CN" sz="2000" dirty="0">
                <a:latin typeface="+mn-lt"/>
                <a:ea typeface="楷体" pitchFamily="49" charset="-122"/>
              </a:rPr>
              <a:t>表示第</a:t>
            </a:r>
            <a:r>
              <a:rPr lang="en-US" altLang="zh-CN" sz="2000" dirty="0" err="1">
                <a:latin typeface="+mn-lt"/>
                <a:ea typeface="楷体" pitchFamily="49" charset="-122"/>
              </a:rPr>
              <a:t>i</a:t>
            </a:r>
            <a:r>
              <a:rPr lang="zh-CN" altLang="zh-CN" sz="2000" dirty="0">
                <a:latin typeface="+mn-lt"/>
                <a:ea typeface="楷体" pitchFamily="49" charset="-122"/>
              </a:rPr>
              <a:t>行首地址，指向行</a:t>
            </a:r>
            <a:endParaRPr lang="zh-CN" altLang="en-US" sz="2000" dirty="0">
              <a:latin typeface="+mn-lt"/>
              <a:ea typeface="楷体" pitchFamily="49" charset="-122"/>
            </a:endParaRPr>
          </a:p>
          <a:p>
            <a:pPr marL="342900" indent="-342900">
              <a:lnSpc>
                <a:spcPct val="100000"/>
              </a:lnSpc>
              <a:buFont typeface="Wingdings" pitchFamily="2" charset="2"/>
              <a:buChar char="Ø"/>
            </a:pPr>
            <a:r>
              <a:rPr lang="en-US" altLang="zh-CN" sz="2000" dirty="0">
                <a:solidFill>
                  <a:schemeClr val="accent1">
                    <a:lumMod val="50000"/>
                  </a:schemeClr>
                </a:solidFill>
                <a:latin typeface="+mn-lt"/>
                <a:ea typeface="楷体" pitchFamily="49" charset="-122"/>
              </a:rPr>
              <a:t>a[</a:t>
            </a:r>
            <a:r>
              <a:rPr lang="en-US" altLang="zh-CN" sz="2000" dirty="0" err="1">
                <a:solidFill>
                  <a:schemeClr val="accent1">
                    <a:lumMod val="50000"/>
                  </a:schemeClr>
                </a:solidFill>
                <a:latin typeface="+mn-lt"/>
                <a:ea typeface="楷体" pitchFamily="49" charset="-122"/>
              </a:rPr>
              <a:t>i</a:t>
            </a:r>
            <a:r>
              <a:rPr lang="en-US" altLang="zh-CN" sz="2000" dirty="0">
                <a:solidFill>
                  <a:schemeClr val="accent1">
                    <a:lumMod val="50000"/>
                  </a:schemeClr>
                </a:solidFill>
                <a:latin typeface="+mn-lt"/>
                <a:ea typeface="楷体" pitchFamily="49" charset="-122"/>
              </a:rPr>
              <a:t>] </a:t>
            </a:r>
            <a:r>
              <a:rPr lang="en-US" altLang="zh-CN" sz="2000" dirty="0">
                <a:solidFill>
                  <a:schemeClr val="accent1">
                    <a:lumMod val="50000"/>
                  </a:schemeClr>
                </a:solidFill>
                <a:latin typeface="+mn-lt"/>
                <a:ea typeface="楷体" pitchFamily="49" charset="-122"/>
                <a:sym typeface="Symbol" pitchFamily="18" charset="2"/>
              </a:rPr>
              <a:t></a:t>
            </a:r>
            <a:r>
              <a:rPr lang="en-US" altLang="zh-CN" sz="2000" dirty="0">
                <a:solidFill>
                  <a:schemeClr val="accent1">
                    <a:lumMod val="50000"/>
                  </a:schemeClr>
                </a:solidFill>
                <a:latin typeface="+mn-lt"/>
                <a:ea typeface="楷体" pitchFamily="49" charset="-122"/>
              </a:rPr>
              <a:t> *(</a:t>
            </a:r>
            <a:r>
              <a:rPr lang="en-US" altLang="zh-CN" sz="2000" dirty="0" err="1">
                <a:solidFill>
                  <a:schemeClr val="accent1">
                    <a:lumMod val="50000"/>
                  </a:schemeClr>
                </a:solidFill>
                <a:latin typeface="+mn-lt"/>
                <a:ea typeface="楷体" pitchFamily="49" charset="-122"/>
              </a:rPr>
              <a:t>a+i</a:t>
            </a:r>
            <a:r>
              <a:rPr lang="en-US" altLang="zh-CN" sz="2000" dirty="0">
                <a:solidFill>
                  <a:schemeClr val="accent1">
                    <a:lumMod val="50000"/>
                  </a:schemeClr>
                </a:solidFill>
                <a:latin typeface="+mn-lt"/>
                <a:ea typeface="楷体" pitchFamily="49" charset="-122"/>
              </a:rPr>
              <a:t>) </a:t>
            </a:r>
            <a:r>
              <a:rPr lang="en-US" altLang="zh-CN" sz="2000" dirty="0">
                <a:solidFill>
                  <a:schemeClr val="accent1">
                    <a:lumMod val="50000"/>
                  </a:schemeClr>
                </a:solidFill>
                <a:latin typeface="+mn-lt"/>
                <a:ea typeface="楷体" pitchFamily="49" charset="-122"/>
                <a:sym typeface="Symbol" pitchFamily="18" charset="2"/>
              </a:rPr>
              <a:t></a:t>
            </a:r>
            <a:r>
              <a:rPr lang="en-US" altLang="zh-CN" sz="2000" dirty="0">
                <a:solidFill>
                  <a:schemeClr val="accent1">
                    <a:lumMod val="50000"/>
                  </a:schemeClr>
                </a:solidFill>
                <a:latin typeface="+mn-lt"/>
                <a:ea typeface="楷体" pitchFamily="49" charset="-122"/>
              </a:rPr>
              <a:t> &amp;a[</a:t>
            </a:r>
            <a:r>
              <a:rPr lang="en-US" altLang="zh-CN" sz="2000" dirty="0" err="1">
                <a:solidFill>
                  <a:schemeClr val="accent1">
                    <a:lumMod val="50000"/>
                  </a:schemeClr>
                </a:solidFill>
                <a:latin typeface="+mn-lt"/>
                <a:ea typeface="楷体" pitchFamily="49" charset="-122"/>
              </a:rPr>
              <a:t>i</a:t>
            </a:r>
            <a:r>
              <a:rPr lang="en-US" altLang="zh-CN" sz="2000" dirty="0">
                <a:solidFill>
                  <a:schemeClr val="accent1">
                    <a:lumMod val="50000"/>
                  </a:schemeClr>
                </a:solidFill>
                <a:latin typeface="+mn-lt"/>
                <a:ea typeface="楷体" pitchFamily="49" charset="-122"/>
              </a:rPr>
              <a:t>][0]</a:t>
            </a:r>
            <a:r>
              <a:rPr lang="zh-CN" altLang="en-US" sz="2000" dirty="0">
                <a:solidFill>
                  <a:schemeClr val="accent1">
                    <a:lumMod val="50000"/>
                  </a:schemeClr>
                </a:solidFill>
                <a:latin typeface="+mn-lt"/>
                <a:ea typeface="楷体" pitchFamily="49" charset="-122"/>
              </a:rPr>
              <a:t>，</a:t>
            </a:r>
            <a:r>
              <a:rPr lang="zh-CN" altLang="zh-CN" sz="2000" dirty="0">
                <a:latin typeface="+mn-lt"/>
                <a:ea typeface="楷体" pitchFamily="49" charset="-122"/>
              </a:rPr>
              <a:t>表示第</a:t>
            </a:r>
            <a:r>
              <a:rPr lang="en-US" altLang="zh-CN" sz="2000" dirty="0" err="1">
                <a:latin typeface="+mn-lt"/>
                <a:ea typeface="楷体" pitchFamily="49" charset="-122"/>
              </a:rPr>
              <a:t>i</a:t>
            </a:r>
            <a:r>
              <a:rPr lang="zh-CN" altLang="zh-CN" sz="2000" dirty="0">
                <a:latin typeface="+mn-lt"/>
                <a:ea typeface="楷体" pitchFamily="49" charset="-122"/>
              </a:rPr>
              <a:t>行第0列元素地址，指向列</a:t>
            </a:r>
          </a:p>
        </p:txBody>
      </p:sp>
      <p:sp>
        <p:nvSpPr>
          <p:cNvPr id="1161221" name="Text Box 5"/>
          <p:cNvSpPr txBox="1">
            <a:spLocks noChangeArrowheads="1"/>
          </p:cNvSpPr>
          <p:nvPr/>
        </p:nvSpPr>
        <p:spPr bwMode="auto">
          <a:xfrm>
            <a:off x="3279533" y="755015"/>
            <a:ext cx="2180405" cy="52322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800" dirty="0">
                <a:solidFill>
                  <a:srgbClr val="C00000"/>
                </a:solidFill>
                <a:ea typeface="宋体" pitchFamily="2" charset="-122"/>
              </a:rPr>
              <a:t>short  a[3][4];</a:t>
            </a:r>
          </a:p>
        </p:txBody>
      </p:sp>
      <p:grpSp>
        <p:nvGrpSpPr>
          <p:cNvPr id="1161294" name="Group 78"/>
          <p:cNvGrpSpPr>
            <a:grpSpLocks/>
          </p:cNvGrpSpPr>
          <p:nvPr/>
        </p:nvGrpSpPr>
        <p:grpSpPr bwMode="auto">
          <a:xfrm>
            <a:off x="1620784" y="1314723"/>
            <a:ext cx="3651250" cy="5354637"/>
            <a:chOff x="303" y="709"/>
            <a:chExt cx="2300" cy="3373"/>
          </a:xfrm>
        </p:grpSpPr>
        <p:grpSp>
          <p:nvGrpSpPr>
            <p:cNvPr id="1161293" name="Group 77"/>
            <p:cNvGrpSpPr>
              <a:grpSpLocks/>
            </p:cNvGrpSpPr>
            <p:nvPr/>
          </p:nvGrpSpPr>
          <p:grpSpPr bwMode="auto">
            <a:xfrm>
              <a:off x="1446" y="709"/>
              <a:ext cx="1157" cy="3299"/>
              <a:chOff x="1446" y="709"/>
              <a:chExt cx="1157" cy="3299"/>
            </a:xfrm>
          </p:grpSpPr>
          <p:grpSp>
            <p:nvGrpSpPr>
              <p:cNvPr id="1161290" name="Group 74"/>
              <p:cNvGrpSpPr>
                <a:grpSpLocks/>
              </p:cNvGrpSpPr>
              <p:nvPr/>
            </p:nvGrpSpPr>
            <p:grpSpPr bwMode="auto">
              <a:xfrm>
                <a:off x="1501" y="709"/>
                <a:ext cx="422" cy="2589"/>
                <a:chOff x="1483" y="718"/>
                <a:chExt cx="422" cy="2589"/>
              </a:xfrm>
            </p:grpSpPr>
            <p:sp>
              <p:nvSpPr>
                <p:cNvPr id="1161243" name="Text Box 27"/>
                <p:cNvSpPr txBox="1">
                  <a:spLocks noChangeArrowheads="1"/>
                </p:cNvSpPr>
                <p:nvPr/>
              </p:nvSpPr>
              <p:spPr bwMode="auto">
                <a:xfrm>
                  <a:off x="1501" y="718"/>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a typeface="宋体" pitchFamily="2" charset="-122"/>
                    </a:rPr>
                    <a:t>2000</a:t>
                  </a:r>
                </a:p>
              </p:txBody>
            </p:sp>
            <p:sp>
              <p:nvSpPr>
                <p:cNvPr id="1161244" name="Text Box 28"/>
                <p:cNvSpPr txBox="1">
                  <a:spLocks noChangeArrowheads="1"/>
                </p:cNvSpPr>
                <p:nvPr/>
              </p:nvSpPr>
              <p:spPr bwMode="auto">
                <a:xfrm>
                  <a:off x="1501" y="937"/>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a typeface="宋体" pitchFamily="2" charset="-122"/>
                    </a:rPr>
                    <a:t>2002</a:t>
                  </a:r>
                </a:p>
              </p:txBody>
            </p:sp>
            <p:sp>
              <p:nvSpPr>
                <p:cNvPr id="1161247" name="Text Box 31"/>
                <p:cNvSpPr txBox="1">
                  <a:spLocks noChangeArrowheads="1"/>
                </p:cNvSpPr>
                <p:nvPr/>
              </p:nvSpPr>
              <p:spPr bwMode="auto">
                <a:xfrm>
                  <a:off x="1492" y="1806"/>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a typeface="宋体" pitchFamily="2" charset="-122"/>
                    </a:rPr>
                    <a:t>2008</a:t>
                  </a:r>
                </a:p>
              </p:txBody>
            </p:sp>
            <p:sp>
              <p:nvSpPr>
                <p:cNvPr id="1161248" name="Text Box 32"/>
                <p:cNvSpPr txBox="1">
                  <a:spLocks noChangeArrowheads="1"/>
                </p:cNvSpPr>
                <p:nvPr/>
              </p:nvSpPr>
              <p:spPr bwMode="auto">
                <a:xfrm>
                  <a:off x="1493" y="2043"/>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a typeface="宋体" pitchFamily="2" charset="-122"/>
                    </a:rPr>
                    <a:t>2010</a:t>
                  </a:r>
                </a:p>
              </p:txBody>
            </p:sp>
            <p:sp>
              <p:nvSpPr>
                <p:cNvPr id="1161249" name="Text Box 33"/>
                <p:cNvSpPr txBox="1">
                  <a:spLocks noChangeArrowheads="1"/>
                </p:cNvSpPr>
                <p:nvPr/>
              </p:nvSpPr>
              <p:spPr bwMode="auto">
                <a:xfrm>
                  <a:off x="1483" y="2841"/>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a typeface="宋体" pitchFamily="2" charset="-122"/>
                    </a:rPr>
                    <a:t>2016</a:t>
                  </a:r>
                </a:p>
              </p:txBody>
            </p:sp>
            <p:sp>
              <p:nvSpPr>
                <p:cNvPr id="1161250" name="Text Box 34"/>
                <p:cNvSpPr txBox="1">
                  <a:spLocks noChangeArrowheads="1"/>
                </p:cNvSpPr>
                <p:nvPr/>
              </p:nvSpPr>
              <p:spPr bwMode="auto">
                <a:xfrm>
                  <a:off x="1492" y="3076"/>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a typeface="宋体" pitchFamily="2" charset="-122"/>
                    </a:rPr>
                    <a:t>2018</a:t>
                  </a:r>
                </a:p>
              </p:txBody>
            </p:sp>
          </p:grpSp>
          <p:grpSp>
            <p:nvGrpSpPr>
              <p:cNvPr id="1161292" name="Group 76"/>
              <p:cNvGrpSpPr>
                <a:grpSpLocks/>
              </p:cNvGrpSpPr>
              <p:nvPr/>
            </p:nvGrpSpPr>
            <p:grpSpPr bwMode="auto">
              <a:xfrm>
                <a:off x="1446" y="775"/>
                <a:ext cx="1157" cy="3233"/>
                <a:chOff x="1446" y="775"/>
                <a:chExt cx="1157" cy="3233"/>
              </a:xfrm>
            </p:grpSpPr>
            <p:grpSp>
              <p:nvGrpSpPr>
                <p:cNvPr id="1161289" name="Group 73"/>
                <p:cNvGrpSpPr>
                  <a:grpSpLocks/>
                </p:cNvGrpSpPr>
                <p:nvPr/>
              </p:nvGrpSpPr>
              <p:grpSpPr bwMode="auto">
                <a:xfrm>
                  <a:off x="1446" y="910"/>
                  <a:ext cx="493" cy="2366"/>
                  <a:chOff x="1446" y="910"/>
                  <a:chExt cx="493" cy="2366"/>
                </a:xfrm>
              </p:grpSpPr>
              <p:grpSp>
                <p:nvGrpSpPr>
                  <p:cNvPr id="1161237" name="Group 21"/>
                  <p:cNvGrpSpPr>
                    <a:grpSpLocks/>
                  </p:cNvGrpSpPr>
                  <p:nvPr/>
                </p:nvGrpSpPr>
                <p:grpSpPr bwMode="auto">
                  <a:xfrm>
                    <a:off x="1446" y="910"/>
                    <a:ext cx="493" cy="2133"/>
                    <a:chOff x="1925" y="881"/>
                    <a:chExt cx="1365" cy="2133"/>
                  </a:xfrm>
                </p:grpSpPr>
                <p:sp>
                  <p:nvSpPr>
                    <p:cNvPr id="1161238" name="Line 22"/>
                    <p:cNvSpPr>
                      <a:spLocks noChangeShapeType="1"/>
                    </p:cNvSpPr>
                    <p:nvPr/>
                  </p:nvSpPr>
                  <p:spPr bwMode="auto">
                    <a:xfrm>
                      <a:off x="1951" y="881"/>
                      <a:ext cx="1339" cy="0"/>
                    </a:xfrm>
                    <a:prstGeom prst="line">
                      <a:avLst/>
                    </a:prstGeom>
                    <a:noFill/>
                    <a:ln w="19050">
                      <a:solidFill>
                        <a:srgbClr val="7030A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1239" name="Line 23"/>
                    <p:cNvSpPr>
                      <a:spLocks noChangeShapeType="1"/>
                    </p:cNvSpPr>
                    <p:nvPr/>
                  </p:nvSpPr>
                  <p:spPr bwMode="auto">
                    <a:xfrm>
                      <a:off x="1941" y="1970"/>
                      <a:ext cx="1326" cy="0"/>
                    </a:xfrm>
                    <a:prstGeom prst="line">
                      <a:avLst/>
                    </a:prstGeom>
                    <a:noFill/>
                    <a:ln w="19050">
                      <a:solidFill>
                        <a:srgbClr val="7030A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1240" name="Line 24"/>
                    <p:cNvSpPr>
                      <a:spLocks noChangeShapeType="1"/>
                    </p:cNvSpPr>
                    <p:nvPr/>
                  </p:nvSpPr>
                  <p:spPr bwMode="auto">
                    <a:xfrm>
                      <a:off x="1925" y="3013"/>
                      <a:ext cx="1320" cy="1"/>
                    </a:xfrm>
                    <a:prstGeom prst="line">
                      <a:avLst/>
                    </a:prstGeom>
                    <a:noFill/>
                    <a:ln w="19050">
                      <a:solidFill>
                        <a:srgbClr val="7030A0"/>
                      </a:solidFill>
                      <a:round/>
                      <a:headEnd/>
                      <a:tailEnd type="stealth" w="lg" len="lg"/>
                    </a:ln>
                    <a:effectLst>
                      <a:outerShdw dist="35921" dir="2700000" algn="ctr" rotWithShape="0">
                        <a:schemeClr val="bg2"/>
                      </a:outerShdw>
                    </a:effectLst>
                  </p:spPr>
                  <p:txBody>
                    <a:bodyPr wrap="none" anchor="ctr"/>
                    <a:lstStyle/>
                    <a:p>
                      <a:endParaRPr lang="zh-CN" altLang="en-US"/>
                    </a:p>
                  </p:txBody>
                </p:sp>
              </p:grpSp>
              <p:sp>
                <p:nvSpPr>
                  <p:cNvPr id="1161242" name="Line 26"/>
                  <p:cNvSpPr>
                    <a:spLocks noChangeShapeType="1"/>
                  </p:cNvSpPr>
                  <p:nvPr/>
                </p:nvSpPr>
                <p:spPr bwMode="auto">
                  <a:xfrm>
                    <a:off x="1619" y="1135"/>
                    <a:ext cx="310" cy="0"/>
                  </a:xfrm>
                  <a:prstGeom prst="line">
                    <a:avLst/>
                  </a:prstGeom>
                  <a:noFill/>
                  <a:ln w="19050">
                    <a:solidFill>
                      <a:srgbClr val="7030A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1245" name="Line 29"/>
                  <p:cNvSpPr>
                    <a:spLocks noChangeShapeType="1"/>
                  </p:cNvSpPr>
                  <p:nvPr/>
                </p:nvSpPr>
                <p:spPr bwMode="auto">
                  <a:xfrm flipV="1">
                    <a:off x="1646" y="2240"/>
                    <a:ext cx="283" cy="1"/>
                  </a:xfrm>
                  <a:prstGeom prst="line">
                    <a:avLst/>
                  </a:prstGeom>
                  <a:noFill/>
                  <a:ln w="19050">
                    <a:solidFill>
                      <a:srgbClr val="7030A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1246" name="Line 30"/>
                  <p:cNvSpPr>
                    <a:spLocks noChangeShapeType="1"/>
                  </p:cNvSpPr>
                  <p:nvPr/>
                </p:nvSpPr>
                <p:spPr bwMode="auto">
                  <a:xfrm>
                    <a:off x="1610" y="3276"/>
                    <a:ext cx="314" cy="0"/>
                  </a:xfrm>
                  <a:prstGeom prst="line">
                    <a:avLst/>
                  </a:prstGeom>
                  <a:noFill/>
                  <a:ln w="19050">
                    <a:solidFill>
                      <a:srgbClr val="7030A0"/>
                    </a:solidFill>
                    <a:round/>
                    <a:headEnd/>
                    <a:tailEnd type="stealth" w="lg" len="lg"/>
                  </a:ln>
                  <a:effectLst>
                    <a:outerShdw dist="35921" dir="2700000" algn="ctr" rotWithShape="0">
                      <a:schemeClr val="bg2"/>
                    </a:outerShdw>
                  </a:effectLst>
                </p:spPr>
                <p:txBody>
                  <a:bodyPr wrap="none" anchor="ctr"/>
                  <a:lstStyle/>
                  <a:p>
                    <a:endParaRPr lang="zh-CN" altLang="en-US"/>
                  </a:p>
                </p:txBody>
              </p:sp>
            </p:grpSp>
            <p:grpSp>
              <p:nvGrpSpPr>
                <p:cNvPr id="1161251" name="Group 35"/>
                <p:cNvGrpSpPr>
                  <a:grpSpLocks/>
                </p:cNvGrpSpPr>
                <p:nvPr/>
              </p:nvGrpSpPr>
              <p:grpSpPr bwMode="auto">
                <a:xfrm>
                  <a:off x="1926" y="775"/>
                  <a:ext cx="677" cy="3233"/>
                  <a:chOff x="2983" y="841"/>
                  <a:chExt cx="804" cy="3233"/>
                </a:xfrm>
              </p:grpSpPr>
              <p:sp>
                <p:nvSpPr>
                  <p:cNvPr id="1161252" name="Rectangle 36"/>
                  <p:cNvSpPr>
                    <a:spLocks noChangeArrowheads="1"/>
                  </p:cNvSpPr>
                  <p:nvPr/>
                </p:nvSpPr>
                <p:spPr bwMode="auto">
                  <a:xfrm>
                    <a:off x="2983" y="841"/>
                    <a:ext cx="747" cy="3233"/>
                  </a:xfrm>
                  <a:prstGeom prst="rect">
                    <a:avLst/>
                  </a:prstGeom>
                  <a:noFill/>
                  <a:ln w="9525">
                    <a:solidFill>
                      <a:schemeClr val="tx1"/>
                    </a:solidFill>
                    <a:miter lim="800000"/>
                    <a:headEnd/>
                    <a:tailEnd/>
                  </a:ln>
                  <a:effectLst/>
                </p:spPr>
                <p:txBody>
                  <a:bodyPr wrap="none" anchor="ctr"/>
                  <a:lstStyle/>
                  <a:p>
                    <a:endParaRPr lang="zh-CN" altLang="en-US"/>
                  </a:p>
                </p:txBody>
              </p:sp>
              <p:sp>
                <p:nvSpPr>
                  <p:cNvPr id="1161253" name="Line 37"/>
                  <p:cNvSpPr>
                    <a:spLocks noChangeShapeType="1"/>
                  </p:cNvSpPr>
                  <p:nvPr/>
                </p:nvSpPr>
                <p:spPr bwMode="auto">
                  <a:xfrm>
                    <a:off x="2998" y="1091"/>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54" name="Line 38"/>
                  <p:cNvSpPr>
                    <a:spLocks noChangeShapeType="1"/>
                  </p:cNvSpPr>
                  <p:nvPr/>
                </p:nvSpPr>
                <p:spPr bwMode="auto">
                  <a:xfrm>
                    <a:off x="2986" y="1366"/>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55" name="Line 39"/>
                  <p:cNvSpPr>
                    <a:spLocks noChangeShapeType="1"/>
                  </p:cNvSpPr>
                  <p:nvPr/>
                </p:nvSpPr>
                <p:spPr bwMode="auto">
                  <a:xfrm>
                    <a:off x="2986" y="1916"/>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56" name="Line 40"/>
                  <p:cNvSpPr>
                    <a:spLocks noChangeShapeType="1"/>
                  </p:cNvSpPr>
                  <p:nvPr/>
                </p:nvSpPr>
                <p:spPr bwMode="auto">
                  <a:xfrm>
                    <a:off x="2986" y="2192"/>
                    <a:ext cx="738" cy="0"/>
                  </a:xfrm>
                  <a:prstGeom prst="line">
                    <a:avLst/>
                  </a:prstGeom>
                  <a:noFill/>
                  <a:ln w="9525">
                    <a:solidFill>
                      <a:schemeClr val="tx1"/>
                    </a:solidFill>
                    <a:round/>
                    <a:headEnd/>
                    <a:tailEnd/>
                  </a:ln>
                  <a:effectLst/>
                </p:spPr>
                <p:txBody>
                  <a:bodyPr wrap="none" anchor="ctr"/>
                  <a:lstStyle/>
                  <a:p>
                    <a:endParaRPr lang="zh-CN" altLang="en-US"/>
                  </a:p>
                </p:txBody>
              </p:sp>
              <p:sp>
                <p:nvSpPr>
                  <p:cNvPr id="1161257" name="Line 41"/>
                  <p:cNvSpPr>
                    <a:spLocks noChangeShapeType="1"/>
                  </p:cNvSpPr>
                  <p:nvPr/>
                </p:nvSpPr>
                <p:spPr bwMode="auto">
                  <a:xfrm>
                    <a:off x="2986" y="2467"/>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58" name="Line 42"/>
                  <p:cNvSpPr>
                    <a:spLocks noChangeShapeType="1"/>
                  </p:cNvSpPr>
                  <p:nvPr/>
                </p:nvSpPr>
                <p:spPr bwMode="auto">
                  <a:xfrm>
                    <a:off x="2986" y="3018"/>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59" name="Line 43"/>
                  <p:cNvSpPr>
                    <a:spLocks noChangeShapeType="1"/>
                  </p:cNvSpPr>
                  <p:nvPr/>
                </p:nvSpPr>
                <p:spPr bwMode="auto">
                  <a:xfrm flipV="1">
                    <a:off x="2986" y="3293"/>
                    <a:ext cx="754" cy="1"/>
                  </a:xfrm>
                  <a:prstGeom prst="line">
                    <a:avLst/>
                  </a:prstGeom>
                  <a:noFill/>
                  <a:ln w="9525">
                    <a:solidFill>
                      <a:schemeClr val="tx1"/>
                    </a:solidFill>
                    <a:round/>
                    <a:headEnd/>
                    <a:tailEnd/>
                  </a:ln>
                  <a:effectLst/>
                </p:spPr>
                <p:txBody>
                  <a:bodyPr wrap="none" anchor="ctr"/>
                  <a:lstStyle/>
                  <a:p>
                    <a:endParaRPr lang="zh-CN" altLang="en-US"/>
                  </a:p>
                </p:txBody>
              </p:sp>
              <p:sp>
                <p:nvSpPr>
                  <p:cNvPr id="1161260" name="Line 44"/>
                  <p:cNvSpPr>
                    <a:spLocks noChangeShapeType="1"/>
                  </p:cNvSpPr>
                  <p:nvPr/>
                </p:nvSpPr>
                <p:spPr bwMode="auto">
                  <a:xfrm>
                    <a:off x="2986" y="3569"/>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61" name="Text Box 45"/>
                  <p:cNvSpPr txBox="1">
                    <a:spLocks noChangeArrowheads="1"/>
                  </p:cNvSpPr>
                  <p:nvPr/>
                </p:nvSpPr>
                <p:spPr bwMode="auto">
                  <a:xfrm>
                    <a:off x="3112" y="842"/>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a typeface="宋体" pitchFamily="2" charset="-122"/>
                      </a:rPr>
                      <a:t>a[0]</a:t>
                    </a:r>
                    <a:r>
                      <a:rPr lang="en-US" altLang="zh-CN" sz="2000">
                        <a:ea typeface="宋体" pitchFamily="2" charset="-122"/>
                      </a:rPr>
                      <a:t>[0]</a:t>
                    </a:r>
                  </a:p>
                </p:txBody>
              </p:sp>
              <p:sp>
                <p:nvSpPr>
                  <p:cNvPr id="1161262" name="Text Box 46"/>
                  <p:cNvSpPr txBox="1">
                    <a:spLocks noChangeArrowheads="1"/>
                  </p:cNvSpPr>
                  <p:nvPr/>
                </p:nvSpPr>
                <p:spPr bwMode="auto">
                  <a:xfrm>
                    <a:off x="3112" y="1112"/>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a typeface="宋体" pitchFamily="2" charset="-122"/>
                      </a:rPr>
                      <a:t>a[0]</a:t>
                    </a:r>
                    <a:r>
                      <a:rPr lang="en-US" altLang="zh-CN" sz="2000">
                        <a:ea typeface="宋体" pitchFamily="2" charset="-122"/>
                      </a:rPr>
                      <a:t>[1]</a:t>
                    </a:r>
                  </a:p>
                </p:txBody>
              </p:sp>
              <p:sp>
                <p:nvSpPr>
                  <p:cNvPr id="1161263" name="Text Box 47"/>
                  <p:cNvSpPr txBox="1">
                    <a:spLocks noChangeArrowheads="1"/>
                  </p:cNvSpPr>
                  <p:nvPr/>
                </p:nvSpPr>
                <p:spPr bwMode="auto">
                  <a:xfrm>
                    <a:off x="3112" y="1923"/>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[0]</a:t>
                    </a:r>
                  </a:p>
                </p:txBody>
              </p:sp>
              <p:sp>
                <p:nvSpPr>
                  <p:cNvPr id="1161264" name="Text Box 48"/>
                  <p:cNvSpPr txBox="1">
                    <a:spLocks noChangeArrowheads="1"/>
                  </p:cNvSpPr>
                  <p:nvPr/>
                </p:nvSpPr>
                <p:spPr bwMode="auto">
                  <a:xfrm>
                    <a:off x="3112" y="2193"/>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[1]</a:t>
                    </a:r>
                  </a:p>
                </p:txBody>
              </p:sp>
              <p:sp>
                <p:nvSpPr>
                  <p:cNvPr id="1161265" name="Text Box 49"/>
                  <p:cNvSpPr txBox="1">
                    <a:spLocks noChangeArrowheads="1"/>
                  </p:cNvSpPr>
                  <p:nvPr/>
                </p:nvSpPr>
                <p:spPr bwMode="auto">
                  <a:xfrm>
                    <a:off x="3112" y="3004"/>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[0]</a:t>
                    </a:r>
                  </a:p>
                </p:txBody>
              </p:sp>
              <p:sp>
                <p:nvSpPr>
                  <p:cNvPr id="1161266" name="Text Box 50"/>
                  <p:cNvSpPr txBox="1">
                    <a:spLocks noChangeArrowheads="1"/>
                  </p:cNvSpPr>
                  <p:nvPr/>
                </p:nvSpPr>
                <p:spPr bwMode="auto">
                  <a:xfrm>
                    <a:off x="3112" y="3275"/>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[1]</a:t>
                    </a:r>
                  </a:p>
                </p:txBody>
              </p:sp>
              <p:sp>
                <p:nvSpPr>
                  <p:cNvPr id="1161267" name="Line 51"/>
                  <p:cNvSpPr>
                    <a:spLocks noChangeShapeType="1"/>
                  </p:cNvSpPr>
                  <p:nvPr/>
                </p:nvSpPr>
                <p:spPr bwMode="auto">
                  <a:xfrm>
                    <a:off x="2986" y="1641"/>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68" name="Line 52"/>
                  <p:cNvSpPr>
                    <a:spLocks noChangeShapeType="1"/>
                  </p:cNvSpPr>
                  <p:nvPr/>
                </p:nvSpPr>
                <p:spPr bwMode="auto">
                  <a:xfrm>
                    <a:off x="2986" y="2742"/>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69" name="Line 53"/>
                  <p:cNvSpPr>
                    <a:spLocks noChangeShapeType="1"/>
                  </p:cNvSpPr>
                  <p:nvPr/>
                </p:nvSpPr>
                <p:spPr bwMode="auto">
                  <a:xfrm>
                    <a:off x="2998" y="3845"/>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70" name="Text Box 54"/>
                  <p:cNvSpPr txBox="1">
                    <a:spLocks noChangeArrowheads="1"/>
                  </p:cNvSpPr>
                  <p:nvPr/>
                </p:nvSpPr>
                <p:spPr bwMode="auto">
                  <a:xfrm>
                    <a:off x="3112" y="1382"/>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solidFill>
                          <a:schemeClr val="tx2"/>
                        </a:solidFill>
                        <a:ea typeface="宋体" pitchFamily="2" charset="-122"/>
                      </a:rPr>
                      <a:t>a[0]</a:t>
                    </a:r>
                    <a:r>
                      <a:rPr lang="en-US" altLang="zh-CN" sz="2000" dirty="0">
                        <a:ea typeface="宋体" pitchFamily="2" charset="-122"/>
                      </a:rPr>
                      <a:t>[2]</a:t>
                    </a:r>
                  </a:p>
                </p:txBody>
              </p:sp>
              <p:sp>
                <p:nvSpPr>
                  <p:cNvPr id="1161271" name="Text Box 55"/>
                  <p:cNvSpPr txBox="1">
                    <a:spLocks noChangeArrowheads="1"/>
                  </p:cNvSpPr>
                  <p:nvPr/>
                </p:nvSpPr>
                <p:spPr bwMode="auto">
                  <a:xfrm>
                    <a:off x="3112" y="1653"/>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a typeface="宋体" pitchFamily="2" charset="-122"/>
                      </a:rPr>
                      <a:t>a[0]</a:t>
                    </a:r>
                    <a:r>
                      <a:rPr lang="en-US" altLang="zh-CN" sz="2000">
                        <a:ea typeface="宋体" pitchFamily="2" charset="-122"/>
                      </a:rPr>
                      <a:t>[3]</a:t>
                    </a:r>
                  </a:p>
                </p:txBody>
              </p:sp>
              <p:sp>
                <p:nvSpPr>
                  <p:cNvPr id="1161272" name="Text Box 56"/>
                  <p:cNvSpPr txBox="1">
                    <a:spLocks noChangeArrowheads="1"/>
                  </p:cNvSpPr>
                  <p:nvPr/>
                </p:nvSpPr>
                <p:spPr bwMode="auto">
                  <a:xfrm>
                    <a:off x="3112" y="2464"/>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[2]</a:t>
                    </a:r>
                  </a:p>
                </p:txBody>
              </p:sp>
              <p:sp>
                <p:nvSpPr>
                  <p:cNvPr id="1161273" name="Text Box 57"/>
                  <p:cNvSpPr txBox="1">
                    <a:spLocks noChangeArrowheads="1"/>
                  </p:cNvSpPr>
                  <p:nvPr/>
                </p:nvSpPr>
                <p:spPr bwMode="auto">
                  <a:xfrm>
                    <a:off x="3112" y="2734"/>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[3]</a:t>
                    </a:r>
                  </a:p>
                </p:txBody>
              </p:sp>
              <p:sp>
                <p:nvSpPr>
                  <p:cNvPr id="1161274" name="Text Box 58"/>
                  <p:cNvSpPr txBox="1">
                    <a:spLocks noChangeArrowheads="1"/>
                  </p:cNvSpPr>
                  <p:nvPr/>
                </p:nvSpPr>
                <p:spPr bwMode="auto">
                  <a:xfrm>
                    <a:off x="3112" y="3545"/>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[2]</a:t>
                    </a:r>
                  </a:p>
                </p:txBody>
              </p:sp>
              <p:sp>
                <p:nvSpPr>
                  <p:cNvPr id="1161275" name="Text Box 59"/>
                  <p:cNvSpPr txBox="1">
                    <a:spLocks noChangeArrowheads="1"/>
                  </p:cNvSpPr>
                  <p:nvPr/>
                </p:nvSpPr>
                <p:spPr bwMode="auto">
                  <a:xfrm>
                    <a:off x="3112" y="3816"/>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[3]</a:t>
                    </a:r>
                  </a:p>
                </p:txBody>
              </p:sp>
            </p:grpSp>
          </p:grpSp>
        </p:grpSp>
        <p:grpSp>
          <p:nvGrpSpPr>
            <p:cNvPr id="1161288" name="Group 72"/>
            <p:cNvGrpSpPr>
              <a:grpSpLocks/>
            </p:cNvGrpSpPr>
            <p:nvPr/>
          </p:nvGrpSpPr>
          <p:grpSpPr bwMode="auto">
            <a:xfrm>
              <a:off x="303" y="722"/>
              <a:ext cx="1236" cy="3360"/>
              <a:chOff x="294" y="713"/>
              <a:chExt cx="1236" cy="3360"/>
            </a:xfrm>
          </p:grpSpPr>
          <p:grpSp>
            <p:nvGrpSpPr>
              <p:cNvPr id="1161286" name="Group 70"/>
              <p:cNvGrpSpPr>
                <a:grpSpLocks/>
              </p:cNvGrpSpPr>
              <p:nvPr/>
            </p:nvGrpSpPr>
            <p:grpSpPr bwMode="auto">
              <a:xfrm>
                <a:off x="941" y="769"/>
                <a:ext cx="589" cy="3304"/>
                <a:chOff x="941" y="769"/>
                <a:chExt cx="589" cy="3304"/>
              </a:xfrm>
            </p:grpSpPr>
            <p:grpSp>
              <p:nvGrpSpPr>
                <p:cNvPr id="1161284" name="Group 68"/>
                <p:cNvGrpSpPr>
                  <a:grpSpLocks/>
                </p:cNvGrpSpPr>
                <p:nvPr/>
              </p:nvGrpSpPr>
              <p:grpSpPr bwMode="auto">
                <a:xfrm>
                  <a:off x="941" y="807"/>
                  <a:ext cx="589" cy="3266"/>
                  <a:chOff x="941" y="807"/>
                  <a:chExt cx="589" cy="3266"/>
                </a:xfrm>
              </p:grpSpPr>
              <p:sp>
                <p:nvSpPr>
                  <p:cNvPr id="1161224" name="Line 8"/>
                  <p:cNvSpPr>
                    <a:spLocks noChangeShapeType="1"/>
                  </p:cNvSpPr>
                  <p:nvPr/>
                </p:nvSpPr>
                <p:spPr bwMode="auto">
                  <a:xfrm>
                    <a:off x="941" y="1921"/>
                    <a:ext cx="577" cy="0"/>
                  </a:xfrm>
                  <a:prstGeom prst="line">
                    <a:avLst/>
                  </a:prstGeom>
                  <a:noFill/>
                  <a:ln w="28575" cap="rnd">
                    <a:solidFill>
                      <a:schemeClr val="tx1"/>
                    </a:solidFill>
                    <a:prstDash val="sysDot"/>
                    <a:round/>
                    <a:headEnd/>
                    <a:tailEnd/>
                  </a:ln>
                  <a:effectLst/>
                </p:spPr>
                <p:txBody>
                  <a:bodyPr wrap="none" anchor="ctr"/>
                  <a:lstStyle/>
                  <a:p>
                    <a:endParaRPr lang="zh-CN" altLang="en-US"/>
                  </a:p>
                </p:txBody>
              </p:sp>
              <p:sp>
                <p:nvSpPr>
                  <p:cNvPr id="1161225" name="Line 9"/>
                  <p:cNvSpPr>
                    <a:spLocks noChangeShapeType="1"/>
                  </p:cNvSpPr>
                  <p:nvPr/>
                </p:nvSpPr>
                <p:spPr bwMode="auto">
                  <a:xfrm>
                    <a:off x="953" y="2932"/>
                    <a:ext cx="577" cy="0"/>
                  </a:xfrm>
                  <a:prstGeom prst="line">
                    <a:avLst/>
                  </a:prstGeom>
                  <a:noFill/>
                  <a:ln w="28575" cap="rnd">
                    <a:solidFill>
                      <a:schemeClr val="tx1"/>
                    </a:solidFill>
                    <a:prstDash val="sysDot"/>
                    <a:round/>
                    <a:headEnd/>
                    <a:tailEnd/>
                  </a:ln>
                  <a:effectLst/>
                </p:spPr>
                <p:txBody>
                  <a:bodyPr wrap="none" anchor="ctr"/>
                  <a:lstStyle/>
                  <a:p>
                    <a:endParaRPr lang="zh-CN" altLang="en-US"/>
                  </a:p>
                </p:txBody>
              </p:sp>
              <p:sp>
                <p:nvSpPr>
                  <p:cNvPr id="1161227" name="Rectangle 11"/>
                  <p:cNvSpPr>
                    <a:spLocks noChangeArrowheads="1"/>
                  </p:cNvSpPr>
                  <p:nvPr/>
                </p:nvSpPr>
                <p:spPr bwMode="auto">
                  <a:xfrm>
                    <a:off x="941" y="807"/>
                    <a:ext cx="577" cy="3266"/>
                  </a:xfrm>
                  <a:prstGeom prst="rect">
                    <a:avLst/>
                  </a:prstGeom>
                  <a:noFill/>
                  <a:ln w="28575" cap="rnd">
                    <a:solidFill>
                      <a:schemeClr val="tx1"/>
                    </a:solidFill>
                    <a:prstDash val="sysDot"/>
                    <a:miter lim="800000"/>
                    <a:headEnd/>
                    <a:tailEnd/>
                  </a:ln>
                  <a:effectLst/>
                </p:spPr>
                <p:txBody>
                  <a:bodyPr wrap="none" anchor="ctr"/>
                  <a:lstStyle/>
                  <a:p>
                    <a:endParaRPr lang="zh-CN" altLang="en-US"/>
                  </a:p>
                </p:txBody>
              </p:sp>
            </p:grpSp>
            <p:sp>
              <p:nvSpPr>
                <p:cNvPr id="1161228" name="Text Box 12"/>
                <p:cNvSpPr txBox="1">
                  <a:spLocks noChangeArrowheads="1"/>
                </p:cNvSpPr>
                <p:nvPr/>
              </p:nvSpPr>
              <p:spPr bwMode="auto">
                <a:xfrm>
                  <a:off x="1081" y="769"/>
                  <a:ext cx="382" cy="250"/>
                </a:xfrm>
                <a:prstGeom prst="rect">
                  <a:avLst/>
                </a:prstGeom>
                <a:noFill/>
                <a:ln w="9525" cap="rnd">
                  <a:noFill/>
                  <a:prstDash val="sysDot"/>
                  <a:miter lim="800000"/>
                  <a:headEnd/>
                  <a:tailEnd/>
                </a:ln>
                <a:effectLst/>
              </p:spPr>
              <p:txBody>
                <a:bodyPr wrap="none">
                  <a:spAutoFit/>
                </a:bodyPr>
                <a:lstStyle/>
                <a:p>
                  <a:pPr>
                    <a:lnSpc>
                      <a:spcPct val="100000"/>
                    </a:lnSpc>
                    <a:spcBef>
                      <a:spcPct val="0"/>
                    </a:spcBef>
                  </a:pPr>
                  <a:r>
                    <a:rPr lang="en-US" altLang="zh-CN" sz="2000">
                      <a:solidFill>
                        <a:schemeClr val="tx2"/>
                      </a:solidFill>
                      <a:ea typeface="宋体" pitchFamily="2" charset="-122"/>
                    </a:rPr>
                    <a:t>a[0]</a:t>
                  </a:r>
                  <a:endParaRPr lang="en-US" altLang="zh-CN" sz="2000">
                    <a:ea typeface="宋体" pitchFamily="2" charset="-122"/>
                  </a:endParaRPr>
                </a:p>
              </p:txBody>
            </p:sp>
            <p:sp>
              <p:nvSpPr>
                <p:cNvPr id="1161229" name="Text Box 13"/>
                <p:cNvSpPr txBox="1">
                  <a:spLocks noChangeArrowheads="1"/>
                </p:cNvSpPr>
                <p:nvPr/>
              </p:nvSpPr>
              <p:spPr bwMode="auto">
                <a:xfrm>
                  <a:off x="1067" y="1890"/>
                  <a:ext cx="382" cy="250"/>
                </a:xfrm>
                <a:prstGeom prst="rect">
                  <a:avLst/>
                </a:prstGeom>
                <a:noFill/>
                <a:ln w="9525" cap="rnd">
                  <a:noFill/>
                  <a:prstDash val="sysDot"/>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endParaRPr lang="en-US" altLang="zh-CN" sz="2000">
                    <a:ea typeface="宋体" pitchFamily="2" charset="-122"/>
                  </a:endParaRPr>
                </a:p>
              </p:txBody>
            </p:sp>
            <p:sp>
              <p:nvSpPr>
                <p:cNvPr id="1161230" name="Text Box 14"/>
                <p:cNvSpPr txBox="1">
                  <a:spLocks noChangeArrowheads="1"/>
                </p:cNvSpPr>
                <p:nvPr/>
              </p:nvSpPr>
              <p:spPr bwMode="auto">
                <a:xfrm>
                  <a:off x="1039" y="2895"/>
                  <a:ext cx="382" cy="250"/>
                </a:xfrm>
                <a:prstGeom prst="rect">
                  <a:avLst/>
                </a:prstGeom>
                <a:noFill/>
                <a:ln w="9525" cap="rnd">
                  <a:noFill/>
                  <a:prstDash val="sysDot"/>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endParaRPr lang="en-US" altLang="zh-CN" sz="2000">
                    <a:ea typeface="宋体" pitchFamily="2" charset="-122"/>
                  </a:endParaRPr>
                </a:p>
              </p:txBody>
            </p:sp>
          </p:grpSp>
          <p:sp>
            <p:nvSpPr>
              <p:cNvPr id="1161234" name="Text Box 18"/>
              <p:cNvSpPr txBox="1">
                <a:spLocks noChangeArrowheads="1"/>
              </p:cNvSpPr>
              <p:nvPr/>
            </p:nvSpPr>
            <p:spPr bwMode="auto">
              <a:xfrm>
                <a:off x="503" y="845"/>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a typeface="宋体" pitchFamily="2" charset="-122"/>
                  </a:rPr>
                  <a:t>2000</a:t>
                </a:r>
              </a:p>
            </p:txBody>
          </p:sp>
          <p:sp>
            <p:nvSpPr>
              <p:cNvPr id="1161236" name="Text Box 20"/>
              <p:cNvSpPr txBox="1">
                <a:spLocks noChangeArrowheads="1"/>
              </p:cNvSpPr>
              <p:nvPr/>
            </p:nvSpPr>
            <p:spPr bwMode="auto">
              <a:xfrm>
                <a:off x="549" y="2931"/>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a typeface="宋体" pitchFamily="2" charset="-122"/>
                  </a:rPr>
                  <a:t>2016</a:t>
                </a:r>
              </a:p>
            </p:txBody>
          </p:sp>
          <p:grpSp>
            <p:nvGrpSpPr>
              <p:cNvPr id="1161287" name="Group 71"/>
              <p:cNvGrpSpPr>
                <a:grpSpLocks/>
              </p:cNvGrpSpPr>
              <p:nvPr/>
            </p:nvGrpSpPr>
            <p:grpSpPr bwMode="auto">
              <a:xfrm>
                <a:off x="618" y="838"/>
                <a:ext cx="313" cy="2090"/>
                <a:chOff x="618" y="838"/>
                <a:chExt cx="313" cy="2090"/>
              </a:xfrm>
            </p:grpSpPr>
            <p:sp>
              <p:nvSpPr>
                <p:cNvPr id="1161232" name="Line 16"/>
                <p:cNvSpPr>
                  <a:spLocks noChangeShapeType="1"/>
                </p:cNvSpPr>
                <p:nvPr/>
              </p:nvSpPr>
              <p:spPr bwMode="auto">
                <a:xfrm>
                  <a:off x="636" y="1917"/>
                  <a:ext cx="295" cy="0"/>
                </a:xfrm>
                <a:prstGeom prst="line">
                  <a:avLst/>
                </a:prstGeom>
                <a:noFill/>
                <a:ln w="19050">
                  <a:solidFill>
                    <a:schemeClr val="tx1"/>
                  </a:solidFill>
                  <a:round/>
                  <a:headEnd/>
                  <a:tailEnd type="stealth" w="lg" len="lg"/>
                </a:ln>
                <a:effectLst/>
              </p:spPr>
              <p:txBody>
                <a:bodyPr wrap="none" anchor="ctr"/>
                <a:lstStyle/>
                <a:p>
                  <a:endParaRPr lang="zh-CN" altLang="en-US"/>
                </a:p>
              </p:txBody>
            </p:sp>
            <p:sp>
              <p:nvSpPr>
                <p:cNvPr id="1161233" name="Line 17"/>
                <p:cNvSpPr>
                  <a:spLocks noChangeShapeType="1"/>
                </p:cNvSpPr>
                <p:nvPr/>
              </p:nvSpPr>
              <p:spPr bwMode="auto">
                <a:xfrm>
                  <a:off x="636" y="2928"/>
                  <a:ext cx="295" cy="0"/>
                </a:xfrm>
                <a:prstGeom prst="line">
                  <a:avLst/>
                </a:prstGeom>
                <a:noFill/>
                <a:ln w="19050">
                  <a:solidFill>
                    <a:schemeClr val="tx1"/>
                  </a:solidFill>
                  <a:round/>
                  <a:headEnd/>
                  <a:tailEnd type="stealth" w="lg" len="lg"/>
                </a:ln>
                <a:effectLst/>
              </p:spPr>
              <p:txBody>
                <a:bodyPr wrap="none" anchor="ctr"/>
                <a:lstStyle/>
                <a:p>
                  <a:endParaRPr lang="zh-CN" altLang="en-US"/>
                </a:p>
              </p:txBody>
            </p:sp>
            <p:sp>
              <p:nvSpPr>
                <p:cNvPr id="1161231" name="Line 15"/>
                <p:cNvSpPr>
                  <a:spLocks noChangeShapeType="1"/>
                </p:cNvSpPr>
                <p:nvPr/>
              </p:nvSpPr>
              <p:spPr bwMode="auto">
                <a:xfrm>
                  <a:off x="618" y="838"/>
                  <a:ext cx="295" cy="0"/>
                </a:xfrm>
                <a:prstGeom prst="line">
                  <a:avLst/>
                </a:prstGeom>
                <a:noFill/>
                <a:ln w="19050">
                  <a:solidFill>
                    <a:schemeClr val="tx1"/>
                  </a:solidFill>
                  <a:round/>
                  <a:headEnd/>
                  <a:tailEnd type="stealth" w="lg" len="lg"/>
                </a:ln>
                <a:effectLst/>
              </p:spPr>
              <p:txBody>
                <a:bodyPr wrap="none" anchor="ctr"/>
                <a:lstStyle/>
                <a:p>
                  <a:endParaRPr lang="zh-CN" altLang="en-US"/>
                </a:p>
              </p:txBody>
            </p:sp>
          </p:grpSp>
          <p:sp>
            <p:nvSpPr>
              <p:cNvPr id="1161235" name="Text Box 19"/>
              <p:cNvSpPr txBox="1">
                <a:spLocks noChangeArrowheads="1"/>
              </p:cNvSpPr>
              <p:nvPr/>
            </p:nvSpPr>
            <p:spPr bwMode="auto">
              <a:xfrm>
                <a:off x="512" y="1931"/>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a typeface="宋体" pitchFamily="2" charset="-122"/>
                  </a:rPr>
                  <a:t>2008</a:t>
                </a:r>
              </a:p>
            </p:txBody>
          </p:sp>
          <p:sp>
            <p:nvSpPr>
              <p:cNvPr id="1161277" name="Text Box 61"/>
              <p:cNvSpPr txBox="1">
                <a:spLocks noChangeArrowheads="1"/>
              </p:cNvSpPr>
              <p:nvPr/>
            </p:nvSpPr>
            <p:spPr bwMode="auto">
              <a:xfrm>
                <a:off x="349" y="713"/>
                <a:ext cx="188"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002060"/>
                    </a:solidFill>
                    <a:ea typeface="宋体" pitchFamily="2" charset="-122"/>
                  </a:rPr>
                  <a:t>a</a:t>
                </a:r>
              </a:p>
            </p:txBody>
          </p:sp>
          <p:sp>
            <p:nvSpPr>
              <p:cNvPr id="1161278" name="Text Box 62"/>
              <p:cNvSpPr txBox="1">
                <a:spLocks noChangeArrowheads="1"/>
              </p:cNvSpPr>
              <p:nvPr/>
            </p:nvSpPr>
            <p:spPr bwMode="auto">
              <a:xfrm>
                <a:off x="294" y="1770"/>
                <a:ext cx="367"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002060"/>
                    </a:solidFill>
                    <a:ea typeface="宋体" pitchFamily="2" charset="-122"/>
                  </a:rPr>
                  <a:t>a+1</a:t>
                </a:r>
              </a:p>
            </p:txBody>
          </p:sp>
          <p:sp>
            <p:nvSpPr>
              <p:cNvPr id="1161279" name="Text Box 63"/>
              <p:cNvSpPr txBox="1">
                <a:spLocks noChangeArrowheads="1"/>
              </p:cNvSpPr>
              <p:nvPr/>
            </p:nvSpPr>
            <p:spPr bwMode="auto">
              <a:xfrm>
                <a:off x="295" y="2777"/>
                <a:ext cx="367"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002060"/>
                    </a:solidFill>
                    <a:ea typeface="宋体" pitchFamily="2" charset="-122"/>
                  </a:rPr>
                  <a:t>a+2</a:t>
                </a:r>
              </a:p>
            </p:txBody>
          </p:sp>
        </p:grpSp>
      </p:grpSp>
      <p:sp>
        <p:nvSpPr>
          <p:cNvPr id="1161280" name="Text Box 64"/>
          <p:cNvSpPr txBox="1">
            <a:spLocks noChangeArrowheads="1"/>
          </p:cNvSpPr>
          <p:nvPr/>
        </p:nvSpPr>
        <p:spPr bwMode="auto">
          <a:xfrm>
            <a:off x="601690" y="764678"/>
            <a:ext cx="2879725" cy="457200"/>
          </a:xfrm>
          <a:prstGeom prst="rect">
            <a:avLst/>
          </a:prstGeom>
          <a:noFill/>
          <a:ln w="9525">
            <a:noFill/>
            <a:miter lim="800000"/>
            <a:headEnd/>
            <a:tailEnd/>
          </a:ln>
          <a:effectLst/>
        </p:spPr>
        <p:txBody>
          <a:bodyPr>
            <a:spAutoFit/>
          </a:bodyPr>
          <a:lstStyle/>
          <a:p>
            <a:pPr>
              <a:lnSpc>
                <a:spcPct val="100000"/>
              </a:lnSpc>
              <a:spcBef>
                <a:spcPct val="50000"/>
              </a:spcBef>
            </a:pPr>
            <a:r>
              <a:rPr lang="zh-CN" altLang="en-US" dirty="0">
                <a:solidFill>
                  <a:srgbClr val="C00000"/>
                </a:solidFill>
                <a:ea typeface="隶书" pitchFamily="49" charset="-122"/>
              </a:rPr>
              <a:t>二维数组的理解：</a:t>
            </a:r>
          </a:p>
        </p:txBody>
      </p:sp>
      <p:sp>
        <p:nvSpPr>
          <p:cNvPr id="1161296" name="Rectangle 80"/>
          <p:cNvSpPr>
            <a:spLocks noChangeArrowheads="1"/>
          </p:cNvSpPr>
          <p:nvPr/>
        </p:nvSpPr>
        <p:spPr bwMode="auto">
          <a:xfrm>
            <a:off x="6199506" y="1268760"/>
            <a:ext cx="4572000" cy="2862322"/>
          </a:xfrm>
          <a:prstGeom prst="rect">
            <a:avLst/>
          </a:prstGeom>
          <a:gradFill rotWithShape="1">
            <a:gsLst>
              <a:gs pos="0">
                <a:srgbClr val="CFCFD1"/>
              </a:gs>
              <a:gs pos="100000">
                <a:schemeClr val="bg1"/>
              </a:gs>
            </a:gsLst>
            <a:lin ang="5400000" scaled="1"/>
          </a:gra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zh-CN" altLang="en-US" sz="2000" u="sng" dirty="0">
                <a:solidFill>
                  <a:srgbClr val="C00000"/>
                </a:solidFill>
                <a:latin typeface="+mn-lt"/>
                <a:ea typeface="楷体" pitchFamily="49" charset="-122"/>
              </a:rPr>
              <a:t>对二维数组  </a:t>
            </a:r>
            <a:r>
              <a:rPr lang="en-US" altLang="zh-CN" sz="2000" u="sng" dirty="0">
                <a:solidFill>
                  <a:srgbClr val="C00000"/>
                </a:solidFill>
                <a:latin typeface="+mn-lt"/>
                <a:ea typeface="楷体" pitchFamily="49" charset="-122"/>
              </a:rPr>
              <a:t>int  a[3][4]</a:t>
            </a:r>
            <a:r>
              <a:rPr lang="zh-CN" altLang="en-US" sz="2000" u="sng" dirty="0">
                <a:solidFill>
                  <a:srgbClr val="C00000"/>
                </a:solidFill>
                <a:latin typeface="+mn-lt"/>
                <a:ea typeface="楷体" pitchFamily="49" charset="-122"/>
              </a:rPr>
              <a:t>，</a:t>
            </a:r>
            <a:r>
              <a:rPr lang="zh-CN" altLang="zh-CN" sz="2000" u="sng" dirty="0">
                <a:solidFill>
                  <a:srgbClr val="C00000"/>
                </a:solidFill>
                <a:latin typeface="+mn-lt"/>
                <a:ea typeface="楷体" pitchFamily="49" charset="-122"/>
              </a:rPr>
              <a:t>有</a:t>
            </a:r>
            <a:r>
              <a:rPr lang="en-US" altLang="zh-CN" sz="2000" u="sng" dirty="0">
                <a:solidFill>
                  <a:srgbClr val="C00000"/>
                </a:solidFill>
                <a:latin typeface="+mn-lt"/>
                <a:ea typeface="楷体" pitchFamily="49" charset="-122"/>
              </a:rPr>
              <a:t>:</a:t>
            </a:r>
            <a:endParaRPr lang="zh-CN" altLang="zh-CN" sz="2000" u="sng" dirty="0">
              <a:solidFill>
                <a:srgbClr val="C00000"/>
              </a:solidFill>
              <a:latin typeface="+mn-lt"/>
              <a:ea typeface="楷体" pitchFamily="49" charset="-122"/>
            </a:endParaRPr>
          </a:p>
          <a:p>
            <a:pPr marL="342900" indent="-342900">
              <a:buClr>
                <a:srgbClr val="C01920"/>
              </a:buClr>
              <a:buFont typeface="Wingdings" pitchFamily="2" charset="2"/>
              <a:buChar char="Ø"/>
            </a:pPr>
            <a:r>
              <a:rPr lang="en-US" altLang="zh-CN" sz="2000" dirty="0">
                <a:latin typeface="+mn-lt"/>
                <a:ea typeface="楷体" pitchFamily="49" charset="-122"/>
              </a:rPr>
              <a:t>a-----</a:t>
            </a:r>
            <a:r>
              <a:rPr lang="zh-CN" altLang="zh-CN" sz="2000" dirty="0">
                <a:latin typeface="+mn-lt"/>
                <a:ea typeface="楷体" pitchFamily="49" charset="-122"/>
              </a:rPr>
              <a:t>二维数组的首地址，即第0行的首地址</a:t>
            </a:r>
          </a:p>
          <a:p>
            <a:pPr marL="342900" indent="-342900">
              <a:buClr>
                <a:srgbClr val="C01920"/>
              </a:buClr>
              <a:buFont typeface="Wingdings" pitchFamily="2" charset="2"/>
              <a:buChar char="Ø"/>
            </a:pPr>
            <a:r>
              <a:rPr lang="en-US" altLang="zh-CN" sz="2000" dirty="0" err="1">
                <a:latin typeface="+mn-lt"/>
                <a:ea typeface="楷体" pitchFamily="49" charset="-122"/>
              </a:rPr>
              <a:t>a+i</a:t>
            </a:r>
            <a:r>
              <a:rPr lang="en-US" altLang="zh-CN" sz="2000" dirty="0">
                <a:latin typeface="+mn-lt"/>
                <a:ea typeface="楷体" pitchFamily="49" charset="-122"/>
              </a:rPr>
              <a:t>-----</a:t>
            </a:r>
            <a:r>
              <a:rPr lang="zh-CN" altLang="zh-CN" sz="2000" dirty="0">
                <a:latin typeface="+mn-lt"/>
                <a:ea typeface="楷体" pitchFamily="49" charset="-122"/>
              </a:rPr>
              <a:t>第</a:t>
            </a:r>
            <a:r>
              <a:rPr lang="en-US" altLang="zh-CN" sz="2000" dirty="0" err="1">
                <a:latin typeface="+mn-lt"/>
                <a:ea typeface="楷体" pitchFamily="49" charset="-122"/>
              </a:rPr>
              <a:t>i</a:t>
            </a:r>
            <a:r>
              <a:rPr lang="zh-CN" altLang="zh-CN" sz="2000" dirty="0">
                <a:solidFill>
                  <a:srgbClr val="002060"/>
                </a:solidFill>
                <a:latin typeface="+mn-lt"/>
                <a:ea typeface="楷体" pitchFamily="49" charset="-122"/>
              </a:rPr>
              <a:t>行</a:t>
            </a:r>
            <a:r>
              <a:rPr lang="zh-CN" altLang="zh-CN" sz="2000" dirty="0">
                <a:latin typeface="+mn-lt"/>
                <a:ea typeface="楷体" pitchFamily="49" charset="-122"/>
              </a:rPr>
              <a:t>的首地址</a:t>
            </a:r>
          </a:p>
          <a:p>
            <a:pPr marL="342900" indent="-342900">
              <a:buClr>
                <a:srgbClr val="C01920"/>
              </a:buClr>
              <a:buFont typeface="Wingdings" pitchFamily="2" charset="2"/>
              <a:buChar char="Ø"/>
            </a:pPr>
            <a:r>
              <a:rPr lang="en-US" altLang="zh-CN" sz="2000" dirty="0">
                <a:latin typeface="+mn-lt"/>
                <a:ea typeface="楷体" pitchFamily="49" charset="-122"/>
              </a:rPr>
              <a:t>a[</a:t>
            </a:r>
            <a:r>
              <a:rPr lang="en-US" altLang="zh-CN" sz="2000" dirty="0" err="1">
                <a:latin typeface="+mn-lt"/>
                <a:ea typeface="楷体" pitchFamily="49" charset="-122"/>
              </a:rPr>
              <a:t>i</a:t>
            </a:r>
            <a:r>
              <a:rPr lang="en-US" altLang="zh-CN" sz="2000" dirty="0">
                <a:latin typeface="+mn-lt"/>
                <a:ea typeface="楷体" pitchFamily="49" charset="-122"/>
              </a:rPr>
              <a:t>] </a:t>
            </a:r>
            <a:r>
              <a:rPr lang="en-US" altLang="zh-CN" sz="2000" dirty="0">
                <a:latin typeface="+mn-lt"/>
                <a:ea typeface="楷体" pitchFamily="49" charset="-122"/>
                <a:sym typeface="Symbol" pitchFamily="18" charset="2"/>
              </a:rPr>
              <a:t> *(</a:t>
            </a:r>
            <a:r>
              <a:rPr lang="en-US" altLang="zh-CN" sz="2000" dirty="0" err="1">
                <a:latin typeface="+mn-lt"/>
                <a:ea typeface="楷体" pitchFamily="49" charset="-122"/>
                <a:sym typeface="Symbol" pitchFamily="18" charset="2"/>
              </a:rPr>
              <a:t>a+i</a:t>
            </a:r>
            <a:r>
              <a:rPr lang="en-US" altLang="zh-CN" sz="2000" dirty="0">
                <a:latin typeface="+mn-lt"/>
                <a:ea typeface="楷体" pitchFamily="49" charset="-122"/>
                <a:sym typeface="Symbol" pitchFamily="18" charset="2"/>
              </a:rPr>
              <a:t>)</a:t>
            </a:r>
            <a:r>
              <a:rPr lang="en-US" altLang="zh-CN" sz="2000" dirty="0">
                <a:latin typeface="+mn-lt"/>
                <a:ea typeface="楷体" pitchFamily="49" charset="-122"/>
              </a:rPr>
              <a:t>------</a:t>
            </a:r>
            <a:r>
              <a:rPr lang="zh-CN" altLang="zh-CN" sz="2000" dirty="0">
                <a:latin typeface="+mn-lt"/>
                <a:ea typeface="楷体" pitchFamily="49" charset="-122"/>
              </a:rPr>
              <a:t>第</a:t>
            </a:r>
            <a:r>
              <a:rPr lang="en-US" altLang="zh-CN" sz="2000" dirty="0" err="1">
                <a:latin typeface="+mn-lt"/>
                <a:ea typeface="楷体" pitchFamily="49" charset="-122"/>
              </a:rPr>
              <a:t>i</a:t>
            </a:r>
            <a:r>
              <a:rPr lang="zh-CN" altLang="zh-CN" sz="2000" dirty="0">
                <a:latin typeface="+mn-lt"/>
                <a:ea typeface="楷体" pitchFamily="49" charset="-122"/>
              </a:rPr>
              <a:t>行第0</a:t>
            </a:r>
            <a:r>
              <a:rPr lang="zh-CN" altLang="zh-CN" sz="2000" dirty="0">
                <a:solidFill>
                  <a:srgbClr val="002060"/>
                </a:solidFill>
                <a:latin typeface="+mn-lt"/>
                <a:ea typeface="楷体" pitchFamily="49" charset="-122"/>
              </a:rPr>
              <a:t>列</a:t>
            </a:r>
            <a:r>
              <a:rPr lang="zh-CN" altLang="zh-CN" sz="2000" dirty="0">
                <a:latin typeface="+mn-lt"/>
                <a:ea typeface="楷体" pitchFamily="49" charset="-122"/>
              </a:rPr>
              <a:t>的元素地址</a:t>
            </a:r>
          </a:p>
          <a:p>
            <a:pPr marL="342900" indent="-342900">
              <a:buClr>
                <a:srgbClr val="C01920"/>
              </a:buClr>
              <a:buFont typeface="Wingdings" pitchFamily="2" charset="2"/>
              <a:buChar char="Ø"/>
            </a:pPr>
            <a:r>
              <a:rPr lang="en-US" altLang="zh-CN" sz="2000" dirty="0">
                <a:latin typeface="+mn-lt"/>
                <a:ea typeface="楷体" pitchFamily="49" charset="-122"/>
              </a:rPr>
              <a:t>a[</a:t>
            </a:r>
            <a:r>
              <a:rPr lang="en-US" altLang="zh-CN" sz="2000" dirty="0" err="1">
                <a:latin typeface="+mn-lt"/>
                <a:ea typeface="楷体" pitchFamily="49" charset="-122"/>
              </a:rPr>
              <a:t>i</a:t>
            </a:r>
            <a:r>
              <a:rPr lang="en-US" altLang="zh-CN" sz="2000" dirty="0">
                <a:latin typeface="+mn-lt"/>
                <a:ea typeface="楷体" pitchFamily="49" charset="-122"/>
              </a:rPr>
              <a:t>]+j </a:t>
            </a:r>
            <a:r>
              <a:rPr lang="en-US" altLang="zh-CN" sz="2000" dirty="0">
                <a:latin typeface="+mn-lt"/>
                <a:ea typeface="楷体" pitchFamily="49" charset="-122"/>
                <a:sym typeface="Symbol" pitchFamily="18" charset="2"/>
              </a:rPr>
              <a:t> *(</a:t>
            </a:r>
            <a:r>
              <a:rPr lang="en-US" altLang="zh-CN" sz="2000" dirty="0" err="1">
                <a:latin typeface="+mn-lt"/>
                <a:ea typeface="楷体" pitchFamily="49" charset="-122"/>
                <a:sym typeface="Symbol" pitchFamily="18" charset="2"/>
              </a:rPr>
              <a:t>a+i</a:t>
            </a:r>
            <a:r>
              <a:rPr lang="en-US" altLang="zh-CN" sz="2000" dirty="0">
                <a:latin typeface="+mn-lt"/>
                <a:ea typeface="楷体" pitchFamily="49" charset="-122"/>
                <a:sym typeface="Symbol" pitchFamily="18" charset="2"/>
              </a:rPr>
              <a:t>)+j</a:t>
            </a:r>
            <a:r>
              <a:rPr lang="en-US" altLang="zh-CN" sz="2000" dirty="0">
                <a:latin typeface="+mn-lt"/>
                <a:ea typeface="楷体" pitchFamily="49" charset="-122"/>
              </a:rPr>
              <a:t> -----</a:t>
            </a:r>
            <a:r>
              <a:rPr lang="zh-CN" altLang="zh-CN" sz="2000" dirty="0">
                <a:latin typeface="+mn-lt"/>
                <a:ea typeface="楷体" pitchFamily="49" charset="-122"/>
              </a:rPr>
              <a:t>第</a:t>
            </a:r>
            <a:r>
              <a:rPr lang="en-US" altLang="zh-CN" sz="2000" dirty="0" err="1">
                <a:latin typeface="+mn-lt"/>
                <a:ea typeface="楷体" pitchFamily="49" charset="-122"/>
              </a:rPr>
              <a:t>i</a:t>
            </a:r>
            <a:r>
              <a:rPr lang="zh-CN" altLang="zh-CN" sz="2000" dirty="0">
                <a:latin typeface="+mn-lt"/>
                <a:ea typeface="楷体" pitchFamily="49" charset="-122"/>
              </a:rPr>
              <a:t>行第</a:t>
            </a:r>
            <a:r>
              <a:rPr lang="en-US" altLang="zh-CN" sz="2000" dirty="0">
                <a:latin typeface="+mn-lt"/>
                <a:ea typeface="楷体" pitchFamily="49" charset="-122"/>
              </a:rPr>
              <a:t>j</a:t>
            </a:r>
            <a:r>
              <a:rPr lang="zh-CN" altLang="zh-CN" sz="2000" dirty="0">
                <a:solidFill>
                  <a:srgbClr val="002060"/>
                </a:solidFill>
                <a:latin typeface="+mn-lt"/>
                <a:ea typeface="楷体" pitchFamily="49" charset="-122"/>
              </a:rPr>
              <a:t>列</a:t>
            </a:r>
            <a:r>
              <a:rPr lang="zh-CN" altLang="zh-CN" sz="2000" dirty="0">
                <a:latin typeface="+mn-lt"/>
                <a:ea typeface="楷体" pitchFamily="49" charset="-122"/>
              </a:rPr>
              <a:t>的元素地址</a:t>
            </a:r>
          </a:p>
          <a:p>
            <a:pPr marL="342900" indent="-342900">
              <a:buClr>
                <a:srgbClr val="C01920"/>
              </a:buClr>
              <a:buFont typeface="Wingdings" pitchFamily="2" charset="2"/>
              <a:buChar char="Ø"/>
            </a:pPr>
            <a:r>
              <a:rPr lang="zh-CN" altLang="en-US" sz="2000" dirty="0">
                <a:latin typeface="+mn-lt"/>
                <a:ea typeface="楷体" pitchFamily="49" charset="-122"/>
              </a:rPr>
              <a:t>*</a:t>
            </a:r>
            <a:r>
              <a:rPr lang="en-US" altLang="zh-CN" sz="2000" dirty="0">
                <a:latin typeface="+mn-lt"/>
                <a:ea typeface="楷体" pitchFamily="49" charset="-122"/>
              </a:rPr>
              <a:t>(a[</a:t>
            </a:r>
            <a:r>
              <a:rPr lang="en-US" altLang="zh-CN" sz="2000" dirty="0" err="1">
                <a:latin typeface="+mn-lt"/>
                <a:ea typeface="楷体" pitchFamily="49" charset="-122"/>
              </a:rPr>
              <a:t>i</a:t>
            </a:r>
            <a:r>
              <a:rPr lang="en-US" altLang="zh-CN" sz="2000" dirty="0">
                <a:latin typeface="+mn-lt"/>
                <a:ea typeface="楷体" pitchFamily="49" charset="-122"/>
              </a:rPr>
              <a:t>]+j) </a:t>
            </a:r>
            <a:r>
              <a:rPr lang="en-US" altLang="zh-CN" sz="2000" dirty="0">
                <a:latin typeface="+mn-lt"/>
                <a:ea typeface="楷体" pitchFamily="49" charset="-122"/>
                <a:sym typeface="Symbol" pitchFamily="18" charset="2"/>
              </a:rPr>
              <a:t> *(*(</a:t>
            </a:r>
            <a:r>
              <a:rPr lang="en-US" altLang="zh-CN" sz="2000" dirty="0" err="1">
                <a:latin typeface="+mn-lt"/>
                <a:ea typeface="楷体" pitchFamily="49" charset="-122"/>
                <a:sym typeface="Symbol" pitchFamily="18" charset="2"/>
              </a:rPr>
              <a:t>a+i</a:t>
            </a:r>
            <a:r>
              <a:rPr lang="en-US" altLang="zh-CN" sz="2000" dirty="0">
                <a:latin typeface="+mn-lt"/>
                <a:ea typeface="楷体" pitchFamily="49" charset="-122"/>
                <a:sym typeface="Symbol" pitchFamily="18" charset="2"/>
              </a:rPr>
              <a:t>)+j)  a[</a:t>
            </a:r>
            <a:r>
              <a:rPr lang="en-US" altLang="zh-CN" sz="2000" dirty="0" err="1">
                <a:latin typeface="+mn-lt"/>
                <a:ea typeface="楷体" pitchFamily="49" charset="-122"/>
                <a:sym typeface="Symbol" pitchFamily="18" charset="2"/>
              </a:rPr>
              <a:t>i</a:t>
            </a:r>
            <a:r>
              <a:rPr lang="en-US" altLang="zh-CN" sz="2000" dirty="0">
                <a:latin typeface="+mn-lt"/>
                <a:ea typeface="楷体" pitchFamily="49" charset="-122"/>
                <a:sym typeface="Symbol" pitchFamily="18" charset="2"/>
              </a:rPr>
              <a:t>][j]</a:t>
            </a:r>
          </a:p>
        </p:txBody>
      </p:sp>
      <p:sp>
        <p:nvSpPr>
          <p:cNvPr id="71" name="Rectangle 4">
            <a:extLst>
              <a:ext uri="{FF2B5EF4-FFF2-40B4-BE49-F238E27FC236}">
                <a16:creationId xmlns:a16="http://schemas.microsoft.com/office/drawing/2014/main" id="{7B235CB8-D9FF-4CEB-A4D8-7AE71329CF00}"/>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61221"/>
                                        </p:tgtEl>
                                        <p:attrNameLst>
                                          <p:attrName>style.visibility</p:attrName>
                                        </p:attrNameLst>
                                      </p:cBhvr>
                                      <p:to>
                                        <p:strVal val="visible"/>
                                      </p:to>
                                    </p:set>
                                    <p:animEffect transition="in" filter="box(out)">
                                      <p:cBhvr>
                                        <p:cTn id="7" dur="500"/>
                                        <p:tgtEl>
                                          <p:spTgt spid="116122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161294"/>
                                        </p:tgtEl>
                                        <p:attrNameLst>
                                          <p:attrName>style.visibility</p:attrName>
                                        </p:attrNameLst>
                                      </p:cBhvr>
                                      <p:to>
                                        <p:strVal val="visible"/>
                                      </p:to>
                                    </p:set>
                                    <p:animEffect transition="in" filter="box(out)">
                                      <p:cBhvr>
                                        <p:cTn id="12" dur="500"/>
                                        <p:tgtEl>
                                          <p:spTgt spid="1161294"/>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61296"/>
                                        </p:tgtEl>
                                        <p:attrNameLst>
                                          <p:attrName>style.visibility</p:attrName>
                                        </p:attrNameLst>
                                      </p:cBhvr>
                                      <p:to>
                                        <p:strVal val="visible"/>
                                      </p:to>
                                    </p:set>
                                    <p:animEffect transition="in" filter="box(out)">
                                      <p:cBhvr>
                                        <p:cTn id="17" dur="500"/>
                                        <p:tgtEl>
                                          <p:spTgt spid="1161296"/>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61219"/>
                                        </p:tgtEl>
                                        <p:attrNameLst>
                                          <p:attrName>style.visibility</p:attrName>
                                        </p:attrNameLst>
                                      </p:cBhvr>
                                      <p:to>
                                        <p:strVal val="visible"/>
                                      </p:to>
                                    </p:set>
                                    <p:animEffect transition="in" filter="box(out)">
                                      <p:cBhvr>
                                        <p:cTn id="22" dur="500"/>
                                        <p:tgtEl>
                                          <p:spTgt spid="1161219"/>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1219" grpId="0" animBg="1"/>
      <p:bldP spid="1161221" grpId="0"/>
      <p:bldP spid="116129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2242" name="Group 2"/>
          <p:cNvGrpSpPr>
            <a:grpSpLocks/>
          </p:cNvGrpSpPr>
          <p:nvPr/>
        </p:nvGrpSpPr>
        <p:grpSpPr bwMode="auto">
          <a:xfrm>
            <a:off x="1296137" y="748581"/>
            <a:ext cx="4092574" cy="5683250"/>
            <a:chOff x="456" y="368"/>
            <a:chExt cx="2578" cy="3580"/>
          </a:xfrm>
        </p:grpSpPr>
        <p:sp>
          <p:nvSpPr>
            <p:cNvPr id="1162243" name="Text Box 3"/>
            <p:cNvSpPr txBox="1">
              <a:spLocks noChangeArrowheads="1"/>
            </p:cNvSpPr>
            <p:nvPr/>
          </p:nvSpPr>
          <p:spPr bwMode="auto">
            <a:xfrm>
              <a:off x="1661" y="368"/>
              <a:ext cx="1373" cy="33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800" dirty="0">
                  <a:solidFill>
                    <a:srgbClr val="CC0000"/>
                  </a:solidFill>
                  <a:ea typeface="宋体" pitchFamily="2" charset="-122"/>
                </a:rPr>
                <a:t>short  a[3][4];</a:t>
              </a:r>
            </a:p>
          </p:txBody>
        </p:sp>
        <p:grpSp>
          <p:nvGrpSpPr>
            <p:cNvPr id="1162244" name="Group 4"/>
            <p:cNvGrpSpPr>
              <a:grpSpLocks/>
            </p:cNvGrpSpPr>
            <p:nvPr/>
          </p:nvGrpSpPr>
          <p:grpSpPr bwMode="auto">
            <a:xfrm>
              <a:off x="456" y="715"/>
              <a:ext cx="677" cy="3233"/>
              <a:chOff x="1656" y="703"/>
              <a:chExt cx="677" cy="3233"/>
            </a:xfrm>
          </p:grpSpPr>
          <p:sp>
            <p:nvSpPr>
              <p:cNvPr id="1162245" name="Rectangle 5"/>
              <p:cNvSpPr>
                <a:spLocks noChangeArrowheads="1"/>
              </p:cNvSpPr>
              <p:nvPr/>
            </p:nvSpPr>
            <p:spPr bwMode="auto">
              <a:xfrm>
                <a:off x="1656" y="703"/>
                <a:ext cx="629" cy="3233"/>
              </a:xfrm>
              <a:prstGeom prst="rect">
                <a:avLst/>
              </a:prstGeom>
              <a:noFill/>
              <a:ln w="28575">
                <a:solidFill>
                  <a:schemeClr val="tx1"/>
                </a:solidFill>
                <a:miter lim="800000"/>
                <a:headEnd/>
                <a:tailEnd/>
              </a:ln>
              <a:effectLst/>
            </p:spPr>
            <p:txBody>
              <a:bodyPr wrap="none" anchor="ctr"/>
              <a:lstStyle/>
              <a:p>
                <a:endParaRPr lang="zh-CN" altLang="en-US"/>
              </a:p>
            </p:txBody>
          </p:sp>
          <p:sp>
            <p:nvSpPr>
              <p:cNvPr id="1162246" name="Line 6"/>
              <p:cNvSpPr>
                <a:spLocks noChangeShapeType="1"/>
              </p:cNvSpPr>
              <p:nvPr/>
            </p:nvSpPr>
            <p:spPr bwMode="auto">
              <a:xfrm>
                <a:off x="1669" y="953"/>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47" name="Line 7"/>
              <p:cNvSpPr>
                <a:spLocks noChangeShapeType="1"/>
              </p:cNvSpPr>
              <p:nvPr/>
            </p:nvSpPr>
            <p:spPr bwMode="auto">
              <a:xfrm>
                <a:off x="1659" y="1228"/>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48" name="Line 8"/>
              <p:cNvSpPr>
                <a:spLocks noChangeShapeType="1"/>
              </p:cNvSpPr>
              <p:nvPr/>
            </p:nvSpPr>
            <p:spPr bwMode="auto">
              <a:xfrm>
                <a:off x="1659" y="1778"/>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49" name="Line 9"/>
              <p:cNvSpPr>
                <a:spLocks noChangeShapeType="1"/>
              </p:cNvSpPr>
              <p:nvPr/>
            </p:nvSpPr>
            <p:spPr bwMode="auto">
              <a:xfrm>
                <a:off x="1659" y="2054"/>
                <a:ext cx="621" cy="0"/>
              </a:xfrm>
              <a:prstGeom prst="line">
                <a:avLst/>
              </a:prstGeom>
              <a:noFill/>
              <a:ln w="9525">
                <a:solidFill>
                  <a:schemeClr val="tx1"/>
                </a:solidFill>
                <a:round/>
                <a:headEnd/>
                <a:tailEnd/>
              </a:ln>
              <a:effectLst/>
            </p:spPr>
            <p:txBody>
              <a:bodyPr wrap="none" anchor="ctr"/>
              <a:lstStyle/>
              <a:p>
                <a:endParaRPr lang="zh-CN" altLang="en-US"/>
              </a:p>
            </p:txBody>
          </p:sp>
          <p:sp>
            <p:nvSpPr>
              <p:cNvPr id="1162250" name="Line 10"/>
              <p:cNvSpPr>
                <a:spLocks noChangeShapeType="1"/>
              </p:cNvSpPr>
              <p:nvPr/>
            </p:nvSpPr>
            <p:spPr bwMode="auto">
              <a:xfrm>
                <a:off x="1659" y="2329"/>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51" name="Line 11"/>
              <p:cNvSpPr>
                <a:spLocks noChangeShapeType="1"/>
              </p:cNvSpPr>
              <p:nvPr/>
            </p:nvSpPr>
            <p:spPr bwMode="auto">
              <a:xfrm>
                <a:off x="1659" y="2880"/>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52" name="Line 12"/>
              <p:cNvSpPr>
                <a:spLocks noChangeShapeType="1"/>
              </p:cNvSpPr>
              <p:nvPr/>
            </p:nvSpPr>
            <p:spPr bwMode="auto">
              <a:xfrm flipV="1">
                <a:off x="1659" y="3155"/>
                <a:ext cx="635" cy="1"/>
              </a:xfrm>
              <a:prstGeom prst="line">
                <a:avLst/>
              </a:prstGeom>
              <a:noFill/>
              <a:ln w="9525">
                <a:solidFill>
                  <a:schemeClr val="tx1"/>
                </a:solidFill>
                <a:round/>
                <a:headEnd/>
                <a:tailEnd/>
              </a:ln>
              <a:effectLst/>
            </p:spPr>
            <p:txBody>
              <a:bodyPr wrap="none" anchor="ctr"/>
              <a:lstStyle/>
              <a:p>
                <a:endParaRPr lang="zh-CN" altLang="en-US"/>
              </a:p>
            </p:txBody>
          </p:sp>
          <p:sp>
            <p:nvSpPr>
              <p:cNvPr id="1162253" name="Line 13"/>
              <p:cNvSpPr>
                <a:spLocks noChangeShapeType="1"/>
              </p:cNvSpPr>
              <p:nvPr/>
            </p:nvSpPr>
            <p:spPr bwMode="auto">
              <a:xfrm>
                <a:off x="1659" y="3431"/>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54" name="Text Box 14"/>
              <p:cNvSpPr txBox="1">
                <a:spLocks noChangeArrowheads="1"/>
              </p:cNvSpPr>
              <p:nvPr/>
            </p:nvSpPr>
            <p:spPr bwMode="auto">
              <a:xfrm>
                <a:off x="1765" y="704"/>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solidFill>
                      <a:schemeClr val="tx2"/>
                    </a:solidFill>
                    <a:ea typeface="宋体" pitchFamily="2" charset="-122"/>
                  </a:rPr>
                  <a:t>a[0]</a:t>
                </a:r>
                <a:r>
                  <a:rPr lang="en-US" altLang="zh-CN" sz="2000" dirty="0">
                    <a:ea typeface="宋体" pitchFamily="2" charset="-122"/>
                  </a:rPr>
                  <a:t>[0]</a:t>
                </a:r>
              </a:p>
            </p:txBody>
          </p:sp>
          <p:sp>
            <p:nvSpPr>
              <p:cNvPr id="1162255" name="Text Box 15"/>
              <p:cNvSpPr txBox="1">
                <a:spLocks noChangeArrowheads="1"/>
              </p:cNvSpPr>
              <p:nvPr/>
            </p:nvSpPr>
            <p:spPr bwMode="auto">
              <a:xfrm>
                <a:off x="1765" y="974"/>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a typeface="宋体" pitchFamily="2" charset="-122"/>
                  </a:rPr>
                  <a:t>a[0]</a:t>
                </a:r>
                <a:r>
                  <a:rPr lang="en-US" altLang="zh-CN" sz="2000">
                    <a:ea typeface="宋体" pitchFamily="2" charset="-122"/>
                  </a:rPr>
                  <a:t>[1]</a:t>
                </a:r>
              </a:p>
            </p:txBody>
          </p:sp>
          <p:sp>
            <p:nvSpPr>
              <p:cNvPr id="1162256" name="Text Box 16"/>
              <p:cNvSpPr txBox="1">
                <a:spLocks noChangeArrowheads="1"/>
              </p:cNvSpPr>
              <p:nvPr/>
            </p:nvSpPr>
            <p:spPr bwMode="auto">
              <a:xfrm>
                <a:off x="1765" y="1785"/>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[0]</a:t>
                </a:r>
              </a:p>
            </p:txBody>
          </p:sp>
          <p:sp>
            <p:nvSpPr>
              <p:cNvPr id="1162257" name="Text Box 17"/>
              <p:cNvSpPr txBox="1">
                <a:spLocks noChangeArrowheads="1"/>
              </p:cNvSpPr>
              <p:nvPr/>
            </p:nvSpPr>
            <p:spPr bwMode="auto">
              <a:xfrm>
                <a:off x="1765" y="2055"/>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[1]</a:t>
                </a:r>
              </a:p>
            </p:txBody>
          </p:sp>
          <p:sp>
            <p:nvSpPr>
              <p:cNvPr id="1162258" name="Text Box 18"/>
              <p:cNvSpPr txBox="1">
                <a:spLocks noChangeArrowheads="1"/>
              </p:cNvSpPr>
              <p:nvPr/>
            </p:nvSpPr>
            <p:spPr bwMode="auto">
              <a:xfrm>
                <a:off x="1765" y="2866"/>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[0]</a:t>
                </a:r>
              </a:p>
            </p:txBody>
          </p:sp>
          <p:sp>
            <p:nvSpPr>
              <p:cNvPr id="1162259" name="Text Box 19"/>
              <p:cNvSpPr txBox="1">
                <a:spLocks noChangeArrowheads="1"/>
              </p:cNvSpPr>
              <p:nvPr/>
            </p:nvSpPr>
            <p:spPr bwMode="auto">
              <a:xfrm>
                <a:off x="1765" y="3137"/>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[1]</a:t>
                </a:r>
              </a:p>
            </p:txBody>
          </p:sp>
          <p:sp>
            <p:nvSpPr>
              <p:cNvPr id="1162260" name="Line 20"/>
              <p:cNvSpPr>
                <a:spLocks noChangeShapeType="1"/>
              </p:cNvSpPr>
              <p:nvPr/>
            </p:nvSpPr>
            <p:spPr bwMode="auto">
              <a:xfrm>
                <a:off x="1659" y="1503"/>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61" name="Line 21"/>
              <p:cNvSpPr>
                <a:spLocks noChangeShapeType="1"/>
              </p:cNvSpPr>
              <p:nvPr/>
            </p:nvSpPr>
            <p:spPr bwMode="auto">
              <a:xfrm>
                <a:off x="1659" y="2604"/>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62" name="Line 22"/>
              <p:cNvSpPr>
                <a:spLocks noChangeShapeType="1"/>
              </p:cNvSpPr>
              <p:nvPr/>
            </p:nvSpPr>
            <p:spPr bwMode="auto">
              <a:xfrm>
                <a:off x="1669" y="3707"/>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63" name="Text Box 23"/>
              <p:cNvSpPr txBox="1">
                <a:spLocks noChangeArrowheads="1"/>
              </p:cNvSpPr>
              <p:nvPr/>
            </p:nvSpPr>
            <p:spPr bwMode="auto">
              <a:xfrm>
                <a:off x="1765" y="1244"/>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a typeface="宋体" pitchFamily="2" charset="-122"/>
                  </a:rPr>
                  <a:t>a[0]</a:t>
                </a:r>
                <a:r>
                  <a:rPr lang="en-US" altLang="zh-CN" sz="2000">
                    <a:ea typeface="宋体" pitchFamily="2" charset="-122"/>
                  </a:rPr>
                  <a:t>[2]</a:t>
                </a:r>
              </a:p>
            </p:txBody>
          </p:sp>
          <p:sp>
            <p:nvSpPr>
              <p:cNvPr id="1162264" name="Text Box 24"/>
              <p:cNvSpPr txBox="1">
                <a:spLocks noChangeArrowheads="1"/>
              </p:cNvSpPr>
              <p:nvPr/>
            </p:nvSpPr>
            <p:spPr bwMode="auto">
              <a:xfrm>
                <a:off x="1765" y="1515"/>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a typeface="宋体" pitchFamily="2" charset="-122"/>
                  </a:rPr>
                  <a:t>a[0]</a:t>
                </a:r>
                <a:r>
                  <a:rPr lang="en-US" altLang="zh-CN" sz="2000">
                    <a:ea typeface="宋体" pitchFamily="2" charset="-122"/>
                  </a:rPr>
                  <a:t>[3]</a:t>
                </a:r>
              </a:p>
            </p:txBody>
          </p:sp>
          <p:sp>
            <p:nvSpPr>
              <p:cNvPr id="1162265" name="Text Box 25"/>
              <p:cNvSpPr txBox="1">
                <a:spLocks noChangeArrowheads="1"/>
              </p:cNvSpPr>
              <p:nvPr/>
            </p:nvSpPr>
            <p:spPr bwMode="auto">
              <a:xfrm>
                <a:off x="1765" y="2326"/>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[2]</a:t>
                </a:r>
              </a:p>
            </p:txBody>
          </p:sp>
          <p:sp>
            <p:nvSpPr>
              <p:cNvPr id="1162266" name="Text Box 26"/>
              <p:cNvSpPr txBox="1">
                <a:spLocks noChangeArrowheads="1"/>
              </p:cNvSpPr>
              <p:nvPr/>
            </p:nvSpPr>
            <p:spPr bwMode="auto">
              <a:xfrm>
                <a:off x="1765" y="2596"/>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a typeface="宋体" pitchFamily="2" charset="-122"/>
                  </a:rPr>
                  <a:t>a[1]</a:t>
                </a:r>
                <a:r>
                  <a:rPr lang="en-US" altLang="zh-CN" sz="2000">
                    <a:ea typeface="宋体" pitchFamily="2" charset="-122"/>
                  </a:rPr>
                  <a:t>[3]</a:t>
                </a:r>
              </a:p>
            </p:txBody>
          </p:sp>
          <p:sp>
            <p:nvSpPr>
              <p:cNvPr id="1162267" name="Text Box 27"/>
              <p:cNvSpPr txBox="1">
                <a:spLocks noChangeArrowheads="1"/>
              </p:cNvSpPr>
              <p:nvPr/>
            </p:nvSpPr>
            <p:spPr bwMode="auto">
              <a:xfrm>
                <a:off x="1765" y="3407"/>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[2]</a:t>
                </a:r>
              </a:p>
            </p:txBody>
          </p:sp>
          <p:sp>
            <p:nvSpPr>
              <p:cNvPr id="1162268" name="Text Box 28"/>
              <p:cNvSpPr txBox="1">
                <a:spLocks noChangeArrowheads="1"/>
              </p:cNvSpPr>
              <p:nvPr/>
            </p:nvSpPr>
            <p:spPr bwMode="auto">
              <a:xfrm>
                <a:off x="1765" y="3678"/>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a typeface="宋体" pitchFamily="2" charset="-122"/>
                  </a:rPr>
                  <a:t>a[2]</a:t>
                </a:r>
                <a:r>
                  <a:rPr lang="en-US" altLang="zh-CN" sz="2000">
                    <a:ea typeface="宋体" pitchFamily="2" charset="-122"/>
                  </a:rPr>
                  <a:t>[3]</a:t>
                </a:r>
              </a:p>
            </p:txBody>
          </p:sp>
        </p:grpSp>
      </p:grpSp>
      <p:sp>
        <p:nvSpPr>
          <p:cNvPr id="1162269" name="Text Box 29"/>
          <p:cNvSpPr txBox="1">
            <a:spLocks noChangeArrowheads="1"/>
          </p:cNvSpPr>
          <p:nvPr/>
        </p:nvSpPr>
        <p:spPr bwMode="auto">
          <a:xfrm>
            <a:off x="6886220" y="4174669"/>
            <a:ext cx="3602268" cy="1938992"/>
          </a:xfrm>
          <a:prstGeom prst="rect">
            <a:avLst/>
          </a:prstGeom>
          <a:noFill/>
          <a:ln w="9525">
            <a:noFill/>
            <a:miter lim="800000"/>
            <a:headEnd/>
            <a:tailEnd/>
          </a:ln>
          <a:effectLst/>
        </p:spPr>
        <p:txBody>
          <a:bodyPr wrap="none">
            <a:spAutoFit/>
          </a:bodyPr>
          <a:lstStyle/>
          <a:p>
            <a:pPr>
              <a:lnSpc>
                <a:spcPct val="100000"/>
              </a:lnSpc>
              <a:spcBef>
                <a:spcPct val="0"/>
              </a:spcBef>
            </a:pPr>
            <a:r>
              <a:rPr lang="zh-CN" altLang="en-US" u="sng" dirty="0">
                <a:solidFill>
                  <a:srgbClr val="C00000"/>
                </a:solidFill>
                <a:latin typeface="+mn-lt"/>
                <a:ea typeface="楷体" pitchFamily="49" charset="-122"/>
              </a:rPr>
              <a:t>二维数组元素表示形式：</a:t>
            </a:r>
          </a:p>
          <a:p>
            <a:pPr>
              <a:lnSpc>
                <a:spcPct val="100000"/>
              </a:lnSpc>
              <a:spcBef>
                <a:spcPct val="0"/>
              </a:spcBef>
            </a:pPr>
            <a:r>
              <a:rPr lang="zh-CN" altLang="en-US" dirty="0">
                <a:latin typeface="+mn-lt"/>
                <a:ea typeface="楷体" pitchFamily="49" charset="-122"/>
              </a:rPr>
              <a:t>（</a:t>
            </a:r>
            <a:r>
              <a:rPr lang="en-US" altLang="zh-CN" dirty="0">
                <a:latin typeface="+mn-lt"/>
                <a:ea typeface="楷体" pitchFamily="49" charset="-122"/>
              </a:rPr>
              <a:t>1</a:t>
            </a:r>
            <a:r>
              <a:rPr lang="zh-CN" altLang="en-US" dirty="0">
                <a:latin typeface="+mn-lt"/>
                <a:ea typeface="楷体" pitchFamily="49" charset="-122"/>
              </a:rPr>
              <a:t>）</a:t>
            </a:r>
            <a:r>
              <a:rPr lang="en-US" altLang="zh-CN" dirty="0">
                <a:latin typeface="+mn-lt"/>
                <a:ea typeface="楷体" pitchFamily="49" charset="-122"/>
              </a:rPr>
              <a:t>a[1][2]</a:t>
            </a:r>
          </a:p>
          <a:p>
            <a:pPr>
              <a:lnSpc>
                <a:spcPct val="100000"/>
              </a:lnSpc>
              <a:spcBef>
                <a:spcPct val="0"/>
              </a:spcBef>
            </a:pPr>
            <a:r>
              <a:rPr lang="zh-CN" altLang="en-US" dirty="0">
                <a:latin typeface="+mn-lt"/>
                <a:ea typeface="楷体" pitchFamily="49" charset="-122"/>
              </a:rPr>
              <a:t>（</a:t>
            </a:r>
            <a:r>
              <a:rPr lang="en-US" altLang="zh-CN" dirty="0">
                <a:latin typeface="+mn-lt"/>
                <a:ea typeface="楷体" pitchFamily="49" charset="-122"/>
              </a:rPr>
              <a:t>2</a:t>
            </a:r>
            <a:r>
              <a:rPr lang="zh-CN" altLang="en-US" dirty="0">
                <a:latin typeface="+mn-lt"/>
                <a:ea typeface="楷体" pitchFamily="49" charset="-122"/>
              </a:rPr>
              <a:t>）*</a:t>
            </a:r>
            <a:r>
              <a:rPr lang="en-US" altLang="zh-CN" dirty="0">
                <a:latin typeface="+mn-lt"/>
                <a:ea typeface="楷体" pitchFamily="49" charset="-122"/>
              </a:rPr>
              <a:t>(a[1]+2)</a:t>
            </a:r>
          </a:p>
          <a:p>
            <a:pPr>
              <a:lnSpc>
                <a:spcPct val="100000"/>
              </a:lnSpc>
              <a:spcBef>
                <a:spcPct val="0"/>
              </a:spcBef>
            </a:pPr>
            <a:r>
              <a:rPr lang="zh-CN" altLang="en-US" dirty="0">
                <a:latin typeface="+mn-lt"/>
                <a:ea typeface="楷体" pitchFamily="49" charset="-122"/>
              </a:rPr>
              <a:t>（</a:t>
            </a:r>
            <a:r>
              <a:rPr lang="en-US" altLang="zh-CN" dirty="0">
                <a:latin typeface="+mn-lt"/>
                <a:ea typeface="楷体" pitchFamily="49" charset="-122"/>
              </a:rPr>
              <a:t>3</a:t>
            </a:r>
            <a:r>
              <a:rPr lang="zh-CN" altLang="en-US" dirty="0">
                <a:latin typeface="+mn-lt"/>
                <a:ea typeface="楷体" pitchFamily="49" charset="-122"/>
              </a:rPr>
              <a:t>）*</a:t>
            </a:r>
            <a:r>
              <a:rPr lang="en-US" altLang="zh-CN" dirty="0">
                <a:latin typeface="+mn-lt"/>
                <a:ea typeface="楷体" pitchFamily="49" charset="-122"/>
              </a:rPr>
              <a:t>(*(a+1)+2)</a:t>
            </a:r>
          </a:p>
          <a:p>
            <a:pPr>
              <a:lnSpc>
                <a:spcPct val="100000"/>
              </a:lnSpc>
              <a:spcBef>
                <a:spcPct val="0"/>
              </a:spcBef>
            </a:pPr>
            <a:r>
              <a:rPr lang="zh-CN" altLang="en-US" dirty="0">
                <a:latin typeface="+mn-lt"/>
                <a:ea typeface="楷体" pitchFamily="49" charset="-122"/>
              </a:rPr>
              <a:t>（</a:t>
            </a:r>
            <a:r>
              <a:rPr lang="en-US" altLang="zh-CN" dirty="0">
                <a:latin typeface="+mn-lt"/>
                <a:ea typeface="楷体" pitchFamily="49" charset="-122"/>
              </a:rPr>
              <a:t>4</a:t>
            </a:r>
            <a:r>
              <a:rPr lang="zh-CN" altLang="en-US" dirty="0">
                <a:latin typeface="+mn-lt"/>
                <a:ea typeface="楷体" pitchFamily="49" charset="-122"/>
              </a:rPr>
              <a:t>）*</a:t>
            </a:r>
            <a:r>
              <a:rPr lang="en-US" altLang="zh-CN" dirty="0">
                <a:latin typeface="+mn-lt"/>
                <a:ea typeface="楷体" pitchFamily="49" charset="-122"/>
              </a:rPr>
              <a:t>(&amp;a[0][0]+1*4+2)</a:t>
            </a:r>
          </a:p>
        </p:txBody>
      </p:sp>
      <p:sp>
        <p:nvSpPr>
          <p:cNvPr id="1162270" name="Line 30"/>
          <p:cNvSpPr>
            <a:spLocks noChangeShapeType="1"/>
          </p:cNvSpPr>
          <p:nvPr/>
        </p:nvSpPr>
        <p:spPr bwMode="auto">
          <a:xfrm flipH="1">
            <a:off x="2331187" y="3233341"/>
            <a:ext cx="533400" cy="0"/>
          </a:xfrm>
          <a:prstGeom prst="line">
            <a:avLst/>
          </a:prstGeom>
          <a:noFill/>
          <a:ln w="38100">
            <a:solidFill>
              <a:srgbClr val="C00000"/>
            </a:solidFill>
            <a:round/>
            <a:headEnd/>
            <a:tailEnd type="stealth" w="lg" len="lg"/>
          </a:ln>
          <a:effectLst/>
        </p:spPr>
        <p:txBody>
          <a:bodyPr wrap="none" lIns="90000" tIns="46800" rIns="90000" bIns="46800" anchor="ctr">
            <a:spAutoFit/>
          </a:bodyPr>
          <a:lstStyle/>
          <a:p>
            <a:endParaRPr lang="zh-CN" altLang="en-US">
              <a:effectLst>
                <a:outerShdw blurRad="38100" dist="38100" dir="2700000" algn="tl">
                  <a:srgbClr val="000000">
                    <a:alpha val="43137"/>
                  </a:srgbClr>
                </a:outerShdw>
              </a:effectLst>
            </a:endParaRPr>
          </a:p>
        </p:txBody>
      </p:sp>
      <p:sp>
        <p:nvSpPr>
          <p:cNvPr id="1162271" name="Text Box 31"/>
          <p:cNvSpPr txBox="1">
            <a:spLocks noChangeArrowheads="1"/>
          </p:cNvSpPr>
          <p:nvPr/>
        </p:nvSpPr>
        <p:spPr bwMode="auto">
          <a:xfrm>
            <a:off x="4079776" y="1406527"/>
            <a:ext cx="2046051" cy="2310505"/>
          </a:xfrm>
          <a:prstGeom prst="rect">
            <a:avLst/>
          </a:prstGeom>
          <a:noFill/>
          <a:ln w="38100">
            <a:noFill/>
            <a:miter lim="800000"/>
            <a:headEnd/>
            <a:tailEnd/>
          </a:ln>
          <a:effectLst/>
        </p:spPr>
        <p:txBody>
          <a:bodyPr wrap="none" lIns="90000" tIns="46800" rIns="90000" bIns="46800" anchor="ctr">
            <a:spAutoFit/>
          </a:bodyPr>
          <a:lstStyle/>
          <a:p>
            <a:pPr eaLnBrk="0" hangingPunct="0">
              <a:lnSpc>
                <a:spcPct val="100000"/>
              </a:lnSpc>
              <a:spcBef>
                <a:spcPct val="0"/>
              </a:spcBef>
            </a:pPr>
            <a:r>
              <a:rPr lang="zh-CN" altLang="en-US" u="sng" dirty="0">
                <a:solidFill>
                  <a:srgbClr val="C00000"/>
                </a:solidFill>
                <a:latin typeface="+mn-lt"/>
                <a:ea typeface="楷体" pitchFamily="49" charset="-122"/>
              </a:rPr>
              <a:t>地址表示：</a:t>
            </a:r>
          </a:p>
          <a:p>
            <a:pPr eaLnBrk="0" hangingPunct="0">
              <a:lnSpc>
                <a:spcPct val="100000"/>
              </a:lnSpc>
              <a:spcBef>
                <a:spcPct val="0"/>
              </a:spcBef>
            </a:pPr>
            <a:r>
              <a:rPr lang="en-US" altLang="zh-CN" dirty="0">
                <a:latin typeface="+mn-lt"/>
                <a:ea typeface="楷体" pitchFamily="49" charset="-122"/>
              </a:rPr>
              <a:t>(1)  </a:t>
            </a:r>
            <a:r>
              <a:rPr lang="en-US" altLang="zh-CN" dirty="0">
                <a:solidFill>
                  <a:srgbClr val="002060"/>
                </a:solidFill>
                <a:latin typeface="+mn-lt"/>
                <a:ea typeface="楷体" pitchFamily="49" charset="-122"/>
              </a:rPr>
              <a:t>a+1     </a:t>
            </a:r>
          </a:p>
          <a:p>
            <a:pPr eaLnBrk="0" hangingPunct="0">
              <a:lnSpc>
                <a:spcPct val="100000"/>
              </a:lnSpc>
              <a:spcBef>
                <a:spcPct val="0"/>
              </a:spcBef>
            </a:pPr>
            <a:r>
              <a:rPr lang="en-US" altLang="zh-CN" dirty="0">
                <a:latin typeface="+mn-lt"/>
                <a:ea typeface="楷体" pitchFamily="49" charset="-122"/>
              </a:rPr>
              <a:t>(2)  &amp;a[1][0]</a:t>
            </a:r>
          </a:p>
          <a:p>
            <a:pPr eaLnBrk="0" hangingPunct="0">
              <a:lnSpc>
                <a:spcPct val="100000"/>
              </a:lnSpc>
              <a:spcBef>
                <a:spcPct val="0"/>
              </a:spcBef>
            </a:pPr>
            <a:r>
              <a:rPr lang="en-US" altLang="zh-CN" dirty="0">
                <a:latin typeface="+mn-lt"/>
                <a:ea typeface="楷体" pitchFamily="49" charset="-122"/>
              </a:rPr>
              <a:t>(3) a[1]</a:t>
            </a:r>
          </a:p>
          <a:p>
            <a:pPr eaLnBrk="0" hangingPunct="0">
              <a:lnSpc>
                <a:spcPct val="100000"/>
              </a:lnSpc>
              <a:spcBef>
                <a:spcPct val="0"/>
              </a:spcBef>
            </a:pPr>
            <a:r>
              <a:rPr lang="en-US" altLang="zh-CN" dirty="0">
                <a:latin typeface="+mn-lt"/>
                <a:ea typeface="楷体" pitchFamily="49" charset="-122"/>
              </a:rPr>
              <a:t>(4) *(a+1)</a:t>
            </a:r>
          </a:p>
          <a:p>
            <a:pPr eaLnBrk="0" hangingPunct="0">
              <a:lnSpc>
                <a:spcPct val="100000"/>
              </a:lnSpc>
              <a:spcBef>
                <a:spcPct val="0"/>
              </a:spcBef>
            </a:pPr>
            <a:r>
              <a:rPr lang="en-US" altLang="zh-CN" dirty="0">
                <a:latin typeface="+mn-lt"/>
                <a:ea typeface="楷体" pitchFamily="49" charset="-122"/>
              </a:rPr>
              <a:t>(5)(</a:t>
            </a:r>
            <a:r>
              <a:rPr lang="en-US" altLang="zh-CN" dirty="0" err="1">
                <a:latin typeface="+mn-lt"/>
                <a:ea typeface="楷体" pitchFamily="49" charset="-122"/>
              </a:rPr>
              <a:t>int</a:t>
            </a:r>
            <a:r>
              <a:rPr lang="en-US" altLang="zh-CN" dirty="0">
                <a:latin typeface="+mn-lt"/>
                <a:ea typeface="楷体" pitchFamily="49" charset="-122"/>
              </a:rPr>
              <a:t> *) (a+1)</a:t>
            </a:r>
          </a:p>
        </p:txBody>
      </p:sp>
      <p:grpSp>
        <p:nvGrpSpPr>
          <p:cNvPr id="1162272" name="Group 32"/>
          <p:cNvGrpSpPr>
            <a:grpSpLocks/>
          </p:cNvGrpSpPr>
          <p:nvPr/>
        </p:nvGrpSpPr>
        <p:grpSpPr bwMode="auto">
          <a:xfrm>
            <a:off x="5938710" y="1805766"/>
            <a:ext cx="1965326" cy="463550"/>
            <a:chOff x="3204" y="610"/>
            <a:chExt cx="1238" cy="292"/>
          </a:xfrm>
        </p:grpSpPr>
        <p:sp>
          <p:nvSpPr>
            <p:cNvPr id="1162273" name="Line 33"/>
            <p:cNvSpPr>
              <a:spLocks noChangeShapeType="1"/>
            </p:cNvSpPr>
            <p:nvPr/>
          </p:nvSpPr>
          <p:spPr bwMode="auto">
            <a:xfrm flipH="1">
              <a:off x="3204" y="768"/>
              <a:ext cx="576" cy="0"/>
            </a:xfrm>
            <a:prstGeom prst="line">
              <a:avLst/>
            </a:prstGeom>
            <a:noFill/>
            <a:ln w="38100">
              <a:solidFill>
                <a:srgbClr val="002060"/>
              </a:solidFill>
              <a:round/>
              <a:headEnd/>
              <a:tailEnd type="stealth" w="lg" len="lg"/>
            </a:ln>
            <a:effectLst>
              <a:outerShdw blurRad="50800" dist="38100" dir="2700000" algn="tl" rotWithShape="0">
                <a:prstClr val="black">
                  <a:alpha val="40000"/>
                </a:prstClr>
              </a:outerShdw>
            </a:effectLst>
          </p:spPr>
          <p:txBody>
            <a:bodyPr wrap="none" lIns="90000" tIns="46800" rIns="90000" bIns="46800" anchor="ctr">
              <a:spAutoFit/>
            </a:bodyPr>
            <a:lstStyle/>
            <a:p>
              <a:endParaRPr lang="zh-CN" altLang="en-US">
                <a:latin typeface="+mn-lt"/>
                <a:ea typeface="楷体" pitchFamily="49" charset="-122"/>
              </a:endParaRPr>
            </a:p>
          </p:txBody>
        </p:sp>
        <p:sp>
          <p:nvSpPr>
            <p:cNvPr id="1162274" name="Text Box 34"/>
            <p:cNvSpPr txBox="1">
              <a:spLocks noChangeArrowheads="1"/>
            </p:cNvSpPr>
            <p:nvPr/>
          </p:nvSpPr>
          <p:spPr bwMode="auto">
            <a:xfrm>
              <a:off x="3743" y="610"/>
              <a:ext cx="699" cy="292"/>
            </a:xfrm>
            <a:prstGeom prst="rect">
              <a:avLst/>
            </a:prstGeom>
            <a:noFill/>
            <a:ln w="38100">
              <a:noFill/>
              <a:miter lim="800000"/>
              <a:headEnd/>
              <a:tailEnd/>
            </a:ln>
            <a:effectLst/>
          </p:spPr>
          <p:txBody>
            <a:bodyPr wrap="none" lIns="90000" tIns="46800" rIns="90000" bIns="46800" anchor="ctr">
              <a:spAutoFit/>
            </a:bodyPr>
            <a:lstStyle/>
            <a:p>
              <a:pPr algn="ctr" eaLnBrk="0" hangingPunct="0">
                <a:lnSpc>
                  <a:spcPct val="100000"/>
                </a:lnSpc>
                <a:spcBef>
                  <a:spcPct val="0"/>
                </a:spcBef>
              </a:pPr>
              <a:r>
                <a:rPr lang="zh-CN" altLang="en-US" dirty="0">
                  <a:latin typeface="+mn-lt"/>
                  <a:ea typeface="楷体" pitchFamily="49" charset="-122"/>
                </a:rPr>
                <a:t>行指针</a:t>
              </a:r>
            </a:p>
          </p:txBody>
        </p:sp>
      </p:grpSp>
      <p:sp>
        <p:nvSpPr>
          <p:cNvPr id="1162278" name="Line 38"/>
          <p:cNvSpPr>
            <a:spLocks noChangeShapeType="1"/>
          </p:cNvSpPr>
          <p:nvPr/>
        </p:nvSpPr>
        <p:spPr bwMode="auto">
          <a:xfrm flipH="1">
            <a:off x="2331187" y="4097437"/>
            <a:ext cx="533400" cy="0"/>
          </a:xfrm>
          <a:prstGeom prst="line">
            <a:avLst/>
          </a:prstGeom>
          <a:noFill/>
          <a:ln w="38100">
            <a:solidFill>
              <a:srgbClr val="002060"/>
            </a:solidFill>
            <a:round/>
            <a:headEnd/>
            <a:tailEnd type="stealth" w="lg" len="lg"/>
          </a:ln>
          <a:effectLst/>
        </p:spPr>
        <p:txBody>
          <a:bodyPr wrap="none" lIns="90000" tIns="46800" rIns="90000" bIns="46800" anchor="ctr">
            <a:spAutoFit/>
          </a:bodyPr>
          <a:lstStyle/>
          <a:p>
            <a:endParaRPr lang="zh-CN" altLang="en-US">
              <a:effectLst>
                <a:outerShdw blurRad="38100" dist="38100" dir="2700000" algn="tl">
                  <a:srgbClr val="000000">
                    <a:alpha val="43137"/>
                  </a:srgbClr>
                </a:outerShdw>
              </a:effectLst>
            </a:endParaRPr>
          </a:p>
        </p:txBody>
      </p:sp>
      <p:sp>
        <p:nvSpPr>
          <p:cNvPr id="1162279" name="Text Box 39"/>
          <p:cNvSpPr txBox="1">
            <a:spLocks noChangeArrowheads="1"/>
          </p:cNvSpPr>
          <p:nvPr/>
        </p:nvSpPr>
        <p:spPr bwMode="auto">
          <a:xfrm>
            <a:off x="4103333" y="4162934"/>
            <a:ext cx="2634352" cy="1941173"/>
          </a:xfrm>
          <a:prstGeom prst="rect">
            <a:avLst/>
          </a:prstGeom>
          <a:noFill/>
          <a:ln w="38100">
            <a:noFill/>
            <a:miter lim="800000"/>
            <a:headEnd/>
            <a:tailEnd/>
          </a:ln>
          <a:effectLst/>
        </p:spPr>
        <p:txBody>
          <a:bodyPr wrap="none" lIns="90000" tIns="46800" rIns="90000" bIns="46800" anchor="ctr">
            <a:spAutoFit/>
          </a:bodyPr>
          <a:lstStyle/>
          <a:p>
            <a:pPr eaLnBrk="0" hangingPunct="0">
              <a:lnSpc>
                <a:spcPct val="100000"/>
              </a:lnSpc>
              <a:spcBef>
                <a:spcPct val="0"/>
              </a:spcBef>
            </a:pPr>
            <a:r>
              <a:rPr lang="zh-CN" altLang="en-US" u="sng" dirty="0">
                <a:solidFill>
                  <a:srgbClr val="C00000"/>
                </a:solidFill>
                <a:latin typeface="+mn-lt"/>
                <a:ea typeface="楷体" pitchFamily="49" charset="-122"/>
              </a:rPr>
              <a:t>地址表示：</a:t>
            </a:r>
          </a:p>
          <a:p>
            <a:pPr eaLnBrk="0" hangingPunct="0">
              <a:lnSpc>
                <a:spcPct val="100000"/>
              </a:lnSpc>
              <a:spcBef>
                <a:spcPct val="0"/>
              </a:spcBef>
            </a:pPr>
            <a:r>
              <a:rPr lang="en-US" altLang="zh-CN" dirty="0">
                <a:latin typeface="+mn-lt"/>
                <a:ea typeface="楷体" pitchFamily="49" charset="-122"/>
              </a:rPr>
              <a:t>(1)  &amp;a[1][2]</a:t>
            </a:r>
          </a:p>
          <a:p>
            <a:pPr eaLnBrk="0" hangingPunct="0">
              <a:lnSpc>
                <a:spcPct val="100000"/>
              </a:lnSpc>
              <a:spcBef>
                <a:spcPct val="0"/>
              </a:spcBef>
            </a:pPr>
            <a:r>
              <a:rPr lang="en-US" altLang="zh-CN" dirty="0">
                <a:latin typeface="+mn-lt"/>
                <a:ea typeface="楷体" pitchFamily="49" charset="-122"/>
              </a:rPr>
              <a:t>(2) a[1]+2</a:t>
            </a:r>
          </a:p>
          <a:p>
            <a:pPr eaLnBrk="0" hangingPunct="0">
              <a:lnSpc>
                <a:spcPct val="100000"/>
              </a:lnSpc>
              <a:spcBef>
                <a:spcPct val="0"/>
              </a:spcBef>
            </a:pPr>
            <a:r>
              <a:rPr lang="en-US" altLang="zh-CN" dirty="0">
                <a:latin typeface="+mn-lt"/>
                <a:ea typeface="楷体" pitchFamily="49" charset="-122"/>
              </a:rPr>
              <a:t>(3) *(a+1)+2</a:t>
            </a:r>
          </a:p>
          <a:p>
            <a:pPr eaLnBrk="0" hangingPunct="0">
              <a:lnSpc>
                <a:spcPct val="100000"/>
              </a:lnSpc>
              <a:spcBef>
                <a:spcPct val="0"/>
              </a:spcBef>
            </a:pPr>
            <a:r>
              <a:rPr lang="en-US" altLang="zh-CN" dirty="0">
                <a:latin typeface="+mn-lt"/>
                <a:ea typeface="楷体" pitchFamily="49" charset="-122"/>
              </a:rPr>
              <a:t>(4)&amp;a[0][0]+1*4+2</a:t>
            </a:r>
          </a:p>
        </p:txBody>
      </p:sp>
      <p:sp>
        <p:nvSpPr>
          <p:cNvPr id="1162280" name="Text Box 40"/>
          <p:cNvSpPr txBox="1">
            <a:spLocks noChangeArrowheads="1"/>
          </p:cNvSpPr>
          <p:nvPr/>
        </p:nvSpPr>
        <p:spPr bwMode="auto">
          <a:xfrm>
            <a:off x="623392" y="781339"/>
            <a:ext cx="2879725" cy="457200"/>
          </a:xfrm>
          <a:prstGeom prst="rect">
            <a:avLst/>
          </a:prstGeom>
          <a:noFill/>
          <a:ln w="9525">
            <a:noFill/>
            <a:miter lim="800000"/>
            <a:headEnd/>
            <a:tailEnd/>
          </a:ln>
          <a:effectLst/>
        </p:spPr>
        <p:txBody>
          <a:bodyPr>
            <a:spAutoFit/>
          </a:bodyPr>
          <a:lstStyle/>
          <a:p>
            <a:pPr>
              <a:lnSpc>
                <a:spcPct val="100000"/>
              </a:lnSpc>
              <a:spcBef>
                <a:spcPct val="50000"/>
              </a:spcBef>
            </a:pPr>
            <a:r>
              <a:rPr lang="zh-CN" altLang="en-US" dirty="0">
                <a:solidFill>
                  <a:srgbClr val="C00000"/>
                </a:solidFill>
                <a:ea typeface="隶书" pitchFamily="49" charset="-122"/>
              </a:rPr>
              <a:t>二维数组的理解：</a:t>
            </a:r>
          </a:p>
        </p:txBody>
      </p:sp>
      <p:grpSp>
        <p:nvGrpSpPr>
          <p:cNvPr id="46" name="组合 45"/>
          <p:cNvGrpSpPr/>
          <p:nvPr/>
        </p:nvGrpSpPr>
        <p:grpSpPr>
          <a:xfrm>
            <a:off x="6304235" y="2361778"/>
            <a:ext cx="1613953" cy="1224136"/>
            <a:chOff x="5220072" y="1628800"/>
            <a:chExt cx="1613953" cy="1224136"/>
          </a:xfrm>
        </p:grpSpPr>
        <p:sp>
          <p:nvSpPr>
            <p:cNvPr id="1162277" name="Text Box 37"/>
            <p:cNvSpPr txBox="1">
              <a:spLocks noChangeArrowheads="1"/>
            </p:cNvSpPr>
            <p:nvPr/>
          </p:nvSpPr>
          <p:spPr bwMode="auto">
            <a:xfrm>
              <a:off x="5724128" y="1976808"/>
              <a:ext cx="1109897" cy="463846"/>
            </a:xfrm>
            <a:prstGeom prst="rect">
              <a:avLst/>
            </a:prstGeom>
            <a:noFill/>
            <a:ln w="38100">
              <a:noFill/>
              <a:miter lim="800000"/>
              <a:headEnd/>
              <a:tailEnd/>
            </a:ln>
            <a:effectLst/>
          </p:spPr>
          <p:txBody>
            <a:bodyPr wrap="none" lIns="90000" tIns="46800" rIns="90000" bIns="46800" anchor="ctr">
              <a:spAutoFit/>
            </a:bodyPr>
            <a:lstStyle/>
            <a:p>
              <a:pPr algn="ctr" eaLnBrk="0" hangingPunct="0">
                <a:lnSpc>
                  <a:spcPct val="100000"/>
                </a:lnSpc>
                <a:spcBef>
                  <a:spcPct val="0"/>
                </a:spcBef>
              </a:pPr>
              <a:r>
                <a:rPr lang="zh-CN" altLang="en-US" dirty="0">
                  <a:latin typeface="+mn-lt"/>
                  <a:ea typeface="楷体" pitchFamily="49" charset="-122"/>
                </a:rPr>
                <a:t>列指针</a:t>
              </a:r>
            </a:p>
          </p:txBody>
        </p:sp>
        <p:sp>
          <p:nvSpPr>
            <p:cNvPr id="44" name="右大括号 43"/>
            <p:cNvSpPr/>
            <p:nvPr/>
          </p:nvSpPr>
          <p:spPr bwMode="auto">
            <a:xfrm>
              <a:off x="5220072" y="1628800"/>
              <a:ext cx="432048" cy="1224136"/>
            </a:xfrm>
            <a:prstGeom prst="rightBrace">
              <a:avLst>
                <a:gd name="adj1" fmla="val 33396"/>
                <a:gd name="adj2" fmla="val 50000"/>
              </a:avLst>
            </a:prstGeom>
            <a:noFill/>
            <a:ln w="25400" cap="rnd" cmpd="sng" algn="ctr">
              <a:solidFill>
                <a:srgbClr val="00206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342900" indent="-342900"/>
              <a:endParaRPr lang="zh-CN" altLang="en-US"/>
            </a:p>
          </p:txBody>
        </p:sp>
      </p:grpSp>
      <p:grpSp>
        <p:nvGrpSpPr>
          <p:cNvPr id="45" name="Group 2">
            <a:extLst>
              <a:ext uri="{FF2B5EF4-FFF2-40B4-BE49-F238E27FC236}">
                <a16:creationId xmlns:a16="http://schemas.microsoft.com/office/drawing/2014/main" id="{EFB8ABBC-3CDE-4225-A79A-95F3311810A2}"/>
              </a:ext>
            </a:extLst>
          </p:cNvPr>
          <p:cNvGrpSpPr>
            <a:grpSpLocks/>
          </p:cNvGrpSpPr>
          <p:nvPr/>
        </p:nvGrpSpPr>
        <p:grpSpPr bwMode="auto">
          <a:xfrm>
            <a:off x="3071664" y="2386410"/>
            <a:ext cx="8416925" cy="3316287"/>
            <a:chOff x="116" y="622"/>
            <a:chExt cx="5485" cy="2089"/>
          </a:xfrm>
        </p:grpSpPr>
        <p:sp>
          <p:nvSpPr>
            <p:cNvPr id="47" name="Rectangle 3">
              <a:extLst>
                <a:ext uri="{FF2B5EF4-FFF2-40B4-BE49-F238E27FC236}">
                  <a16:creationId xmlns:a16="http://schemas.microsoft.com/office/drawing/2014/main" id="{1727D6DA-9BAD-4999-819C-8CF14F6F5D3C}"/>
                </a:ext>
              </a:extLst>
            </p:cNvPr>
            <p:cNvSpPr>
              <a:spLocks noChangeArrowheads="1"/>
            </p:cNvSpPr>
            <p:nvPr/>
          </p:nvSpPr>
          <p:spPr bwMode="auto">
            <a:xfrm>
              <a:off x="167" y="633"/>
              <a:ext cx="5434" cy="2078"/>
            </a:xfrm>
            <a:prstGeom prst="rect">
              <a:avLst/>
            </a:prstGeom>
            <a:solidFill>
              <a:schemeClr val="bg1">
                <a:lumMod val="95000"/>
              </a:schemeClr>
            </a:solidFill>
            <a:ln w="28575">
              <a:solidFill>
                <a:schemeClr val="tx2"/>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lnSpc>
                  <a:spcPct val="100000"/>
                </a:lnSpc>
                <a:spcBef>
                  <a:spcPct val="0"/>
                </a:spcBef>
              </a:pPr>
              <a:endParaRPr lang="zh-CN" altLang="zh-CN" sz="2000">
                <a:ea typeface="宋体" pitchFamily="2" charset="-122"/>
              </a:endParaRPr>
            </a:p>
          </p:txBody>
        </p:sp>
        <p:sp useBgFill="1">
          <p:nvSpPr>
            <p:cNvPr id="48" name="Line 4">
              <a:extLst>
                <a:ext uri="{FF2B5EF4-FFF2-40B4-BE49-F238E27FC236}">
                  <a16:creationId xmlns:a16="http://schemas.microsoft.com/office/drawing/2014/main" id="{7E7699D6-9A0A-44AE-8E39-28F5B6CCD139}"/>
                </a:ext>
              </a:extLst>
            </p:cNvPr>
            <p:cNvSpPr>
              <a:spLocks noChangeShapeType="1"/>
            </p:cNvSpPr>
            <p:nvPr/>
          </p:nvSpPr>
          <p:spPr bwMode="auto">
            <a:xfrm>
              <a:off x="156" y="911"/>
              <a:ext cx="5434" cy="0"/>
            </a:xfrm>
            <a:prstGeom prst="line">
              <a:avLst/>
            </a:prstGeom>
            <a:ln w="9525">
              <a:solidFill>
                <a:schemeClr val="tx2"/>
              </a:solidFill>
              <a:round/>
              <a:headEnd/>
              <a:tailEnd/>
            </a:ln>
            <a:effectLst/>
          </p:spPr>
          <p:txBody>
            <a:bodyPr wrap="none" anchor="ctr"/>
            <a:lstStyle/>
            <a:p>
              <a:endParaRPr lang="zh-CN" altLang="en-US"/>
            </a:p>
          </p:txBody>
        </p:sp>
        <p:sp>
          <p:nvSpPr>
            <p:cNvPr id="49" name="Text Box 5">
              <a:extLst>
                <a:ext uri="{FF2B5EF4-FFF2-40B4-BE49-F238E27FC236}">
                  <a16:creationId xmlns:a16="http://schemas.microsoft.com/office/drawing/2014/main" id="{7381A49A-0D70-4D84-AEF3-D370FCA2A39C}"/>
                </a:ext>
              </a:extLst>
            </p:cNvPr>
            <p:cNvSpPr txBox="1">
              <a:spLocks noChangeArrowheads="1"/>
            </p:cNvSpPr>
            <p:nvPr/>
          </p:nvSpPr>
          <p:spPr bwMode="auto">
            <a:xfrm>
              <a:off x="730" y="630"/>
              <a:ext cx="78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dirty="0">
                  <a:solidFill>
                    <a:srgbClr val="CC0000"/>
                  </a:solidFill>
                  <a:latin typeface="+mn-lt"/>
                  <a:ea typeface="楷体" pitchFamily="49" charset="-122"/>
                </a:rPr>
                <a:t>表示形式</a:t>
              </a:r>
            </a:p>
          </p:txBody>
        </p:sp>
        <p:sp>
          <p:nvSpPr>
            <p:cNvPr id="50" name="Text Box 6">
              <a:extLst>
                <a:ext uri="{FF2B5EF4-FFF2-40B4-BE49-F238E27FC236}">
                  <a16:creationId xmlns:a16="http://schemas.microsoft.com/office/drawing/2014/main" id="{2028B256-19CB-4096-8BE4-323E21C654CE}"/>
                </a:ext>
              </a:extLst>
            </p:cNvPr>
            <p:cNvSpPr txBox="1">
              <a:spLocks noChangeArrowheads="1"/>
            </p:cNvSpPr>
            <p:nvPr/>
          </p:nvSpPr>
          <p:spPr bwMode="auto">
            <a:xfrm>
              <a:off x="3046" y="651"/>
              <a:ext cx="624"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dirty="0">
                  <a:solidFill>
                    <a:srgbClr val="CC0000"/>
                  </a:solidFill>
                  <a:latin typeface="+mn-lt"/>
                  <a:ea typeface="楷体" pitchFamily="49" charset="-122"/>
                </a:rPr>
                <a:t>含    义</a:t>
              </a:r>
            </a:p>
          </p:txBody>
        </p:sp>
        <p:sp>
          <p:nvSpPr>
            <p:cNvPr id="51" name="Text Box 7">
              <a:extLst>
                <a:ext uri="{FF2B5EF4-FFF2-40B4-BE49-F238E27FC236}">
                  <a16:creationId xmlns:a16="http://schemas.microsoft.com/office/drawing/2014/main" id="{31756B56-EB04-4AA6-A350-E19B5F40AB79}"/>
                </a:ext>
              </a:extLst>
            </p:cNvPr>
            <p:cNvSpPr txBox="1">
              <a:spLocks noChangeArrowheads="1"/>
            </p:cNvSpPr>
            <p:nvPr/>
          </p:nvSpPr>
          <p:spPr bwMode="auto">
            <a:xfrm>
              <a:off x="4687" y="641"/>
              <a:ext cx="582"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dirty="0">
                  <a:solidFill>
                    <a:srgbClr val="CC0000"/>
                  </a:solidFill>
                  <a:latin typeface="+mn-lt"/>
                  <a:ea typeface="楷体" pitchFamily="49" charset="-122"/>
                </a:rPr>
                <a:t>地   址</a:t>
              </a:r>
            </a:p>
          </p:txBody>
        </p:sp>
        <p:sp useBgFill="1">
          <p:nvSpPr>
            <p:cNvPr id="52" name="Line 8">
              <a:extLst>
                <a:ext uri="{FF2B5EF4-FFF2-40B4-BE49-F238E27FC236}">
                  <a16:creationId xmlns:a16="http://schemas.microsoft.com/office/drawing/2014/main" id="{1C3389BE-6E00-41B8-842A-5B66FC16166F}"/>
                </a:ext>
              </a:extLst>
            </p:cNvPr>
            <p:cNvSpPr>
              <a:spLocks noChangeShapeType="1"/>
            </p:cNvSpPr>
            <p:nvPr/>
          </p:nvSpPr>
          <p:spPr bwMode="auto">
            <a:xfrm>
              <a:off x="4423" y="622"/>
              <a:ext cx="0" cy="2067"/>
            </a:xfrm>
            <a:prstGeom prst="line">
              <a:avLst/>
            </a:prstGeom>
            <a:ln w="9525">
              <a:solidFill>
                <a:schemeClr val="tx2"/>
              </a:solidFill>
              <a:round/>
              <a:headEnd/>
              <a:tailEnd/>
            </a:ln>
            <a:effectLst/>
          </p:spPr>
          <p:txBody>
            <a:bodyPr wrap="none" anchor="ctr"/>
            <a:lstStyle/>
            <a:p>
              <a:endParaRPr lang="zh-CN" altLang="en-US"/>
            </a:p>
          </p:txBody>
        </p:sp>
        <p:sp useBgFill="1">
          <p:nvSpPr>
            <p:cNvPr id="53" name="Line 9">
              <a:extLst>
                <a:ext uri="{FF2B5EF4-FFF2-40B4-BE49-F238E27FC236}">
                  <a16:creationId xmlns:a16="http://schemas.microsoft.com/office/drawing/2014/main" id="{74DC4668-C331-4F2D-B403-DC933D960F3C}"/>
                </a:ext>
              </a:extLst>
            </p:cNvPr>
            <p:cNvSpPr>
              <a:spLocks noChangeShapeType="1"/>
            </p:cNvSpPr>
            <p:nvPr/>
          </p:nvSpPr>
          <p:spPr bwMode="auto">
            <a:xfrm>
              <a:off x="156" y="1222"/>
              <a:ext cx="5422" cy="0"/>
            </a:xfrm>
            <a:prstGeom prst="line">
              <a:avLst/>
            </a:prstGeom>
            <a:ln w="9525">
              <a:solidFill>
                <a:schemeClr val="tx2"/>
              </a:solidFill>
              <a:round/>
              <a:headEnd/>
              <a:tailEnd/>
            </a:ln>
            <a:effectLst/>
          </p:spPr>
          <p:txBody>
            <a:bodyPr wrap="none" anchor="ctr"/>
            <a:lstStyle/>
            <a:p>
              <a:endParaRPr lang="zh-CN" altLang="en-US"/>
            </a:p>
          </p:txBody>
        </p:sp>
        <p:sp>
          <p:nvSpPr>
            <p:cNvPr id="54" name="Text Box 10">
              <a:extLst>
                <a:ext uri="{FF2B5EF4-FFF2-40B4-BE49-F238E27FC236}">
                  <a16:creationId xmlns:a16="http://schemas.microsoft.com/office/drawing/2014/main" id="{118E1BEA-E1D1-481C-A23D-0DB108D9F3A5}"/>
                </a:ext>
              </a:extLst>
            </p:cNvPr>
            <p:cNvSpPr txBox="1">
              <a:spLocks noChangeArrowheads="1"/>
            </p:cNvSpPr>
            <p:nvPr/>
          </p:nvSpPr>
          <p:spPr bwMode="auto">
            <a:xfrm>
              <a:off x="592" y="929"/>
              <a:ext cx="195"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t>a</a:t>
              </a:r>
            </a:p>
          </p:txBody>
        </p:sp>
        <p:sp>
          <p:nvSpPr>
            <p:cNvPr id="55" name="Text Box 11">
              <a:extLst>
                <a:ext uri="{FF2B5EF4-FFF2-40B4-BE49-F238E27FC236}">
                  <a16:creationId xmlns:a16="http://schemas.microsoft.com/office/drawing/2014/main" id="{C37020AB-93F9-4A28-9579-358D4B648126}"/>
                </a:ext>
              </a:extLst>
            </p:cNvPr>
            <p:cNvSpPr txBox="1">
              <a:spLocks noChangeArrowheads="1"/>
            </p:cNvSpPr>
            <p:nvPr/>
          </p:nvSpPr>
          <p:spPr bwMode="auto">
            <a:xfrm>
              <a:off x="2391" y="963"/>
              <a:ext cx="195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dirty="0">
                  <a:latin typeface="+mn-lt"/>
                  <a:ea typeface="楷体" pitchFamily="49" charset="-122"/>
                </a:rPr>
                <a:t>二维数组名，数组首地址</a:t>
              </a:r>
            </a:p>
          </p:txBody>
        </p:sp>
        <p:sp>
          <p:nvSpPr>
            <p:cNvPr id="56" name="Text Box 12">
              <a:extLst>
                <a:ext uri="{FF2B5EF4-FFF2-40B4-BE49-F238E27FC236}">
                  <a16:creationId xmlns:a16="http://schemas.microsoft.com/office/drawing/2014/main" id="{DDDC5D08-CC76-4DF6-8B56-055532AD2227}"/>
                </a:ext>
              </a:extLst>
            </p:cNvPr>
            <p:cNvSpPr txBox="1">
              <a:spLocks noChangeArrowheads="1"/>
            </p:cNvSpPr>
            <p:nvPr/>
          </p:nvSpPr>
          <p:spPr bwMode="auto">
            <a:xfrm>
              <a:off x="191" y="1253"/>
              <a:ext cx="1095"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t>a[0],*(a+0),*a</a:t>
              </a:r>
            </a:p>
          </p:txBody>
        </p:sp>
        <p:sp useBgFill="1">
          <p:nvSpPr>
            <p:cNvPr id="57" name="Line 13">
              <a:extLst>
                <a:ext uri="{FF2B5EF4-FFF2-40B4-BE49-F238E27FC236}">
                  <a16:creationId xmlns:a16="http://schemas.microsoft.com/office/drawing/2014/main" id="{A5831486-97E7-4697-ACFC-F04304C2108E}"/>
                </a:ext>
              </a:extLst>
            </p:cNvPr>
            <p:cNvSpPr>
              <a:spLocks noChangeShapeType="1"/>
            </p:cNvSpPr>
            <p:nvPr/>
          </p:nvSpPr>
          <p:spPr bwMode="auto">
            <a:xfrm>
              <a:off x="156" y="1522"/>
              <a:ext cx="5434" cy="0"/>
            </a:xfrm>
            <a:prstGeom prst="line">
              <a:avLst/>
            </a:prstGeom>
            <a:ln w="9525">
              <a:solidFill>
                <a:schemeClr val="tx2"/>
              </a:solidFill>
              <a:round/>
              <a:headEnd/>
              <a:tailEnd/>
            </a:ln>
            <a:effectLst/>
          </p:spPr>
          <p:txBody>
            <a:bodyPr wrap="none" anchor="ctr"/>
            <a:lstStyle/>
            <a:p>
              <a:endParaRPr lang="zh-CN" altLang="en-US"/>
            </a:p>
          </p:txBody>
        </p:sp>
        <p:sp>
          <p:nvSpPr>
            <p:cNvPr id="58" name="Text Box 14">
              <a:extLst>
                <a:ext uri="{FF2B5EF4-FFF2-40B4-BE49-F238E27FC236}">
                  <a16:creationId xmlns:a16="http://schemas.microsoft.com/office/drawing/2014/main" id="{8BD65A5B-DCC6-4492-A92F-20AC90774B4A}"/>
                </a:ext>
              </a:extLst>
            </p:cNvPr>
            <p:cNvSpPr txBox="1">
              <a:spLocks noChangeArrowheads="1"/>
            </p:cNvSpPr>
            <p:nvPr/>
          </p:nvSpPr>
          <p:spPr bwMode="auto">
            <a:xfrm>
              <a:off x="2389" y="1275"/>
              <a:ext cx="1635"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dirty="0">
                  <a:latin typeface="+mn-lt"/>
                  <a:ea typeface="楷体" pitchFamily="49" charset="-122"/>
                </a:rPr>
                <a:t>第</a:t>
              </a:r>
              <a:r>
                <a:rPr lang="en-US" altLang="zh-CN" sz="2000" dirty="0">
                  <a:latin typeface="+mn-lt"/>
                  <a:ea typeface="楷体" pitchFamily="49" charset="-122"/>
                </a:rPr>
                <a:t>0</a:t>
              </a:r>
              <a:r>
                <a:rPr lang="zh-CN" altLang="en-US" sz="2000" dirty="0">
                  <a:latin typeface="+mn-lt"/>
                  <a:ea typeface="楷体" pitchFamily="49" charset="-122"/>
                </a:rPr>
                <a:t>行第</a:t>
              </a:r>
              <a:r>
                <a:rPr lang="en-US" altLang="zh-CN" sz="2000" dirty="0">
                  <a:latin typeface="+mn-lt"/>
                  <a:ea typeface="楷体" pitchFamily="49" charset="-122"/>
                </a:rPr>
                <a:t>0</a:t>
              </a:r>
              <a:r>
                <a:rPr lang="zh-CN" altLang="en-US" sz="2000" dirty="0">
                  <a:latin typeface="+mn-lt"/>
                  <a:ea typeface="楷体" pitchFamily="49" charset="-122"/>
                </a:rPr>
                <a:t>列元素地址</a:t>
              </a:r>
            </a:p>
          </p:txBody>
        </p:sp>
        <p:sp useBgFill="1">
          <p:nvSpPr>
            <p:cNvPr id="59" name="Line 15">
              <a:extLst>
                <a:ext uri="{FF2B5EF4-FFF2-40B4-BE49-F238E27FC236}">
                  <a16:creationId xmlns:a16="http://schemas.microsoft.com/office/drawing/2014/main" id="{909D4A3B-4889-4F83-96F9-F95E3DE43A71}"/>
                </a:ext>
              </a:extLst>
            </p:cNvPr>
            <p:cNvSpPr>
              <a:spLocks noChangeShapeType="1"/>
            </p:cNvSpPr>
            <p:nvPr/>
          </p:nvSpPr>
          <p:spPr bwMode="auto">
            <a:xfrm>
              <a:off x="167" y="1822"/>
              <a:ext cx="5434" cy="0"/>
            </a:xfrm>
            <a:prstGeom prst="line">
              <a:avLst/>
            </a:prstGeom>
            <a:ln w="9525">
              <a:solidFill>
                <a:schemeClr val="tx2"/>
              </a:solidFill>
              <a:round/>
              <a:headEnd/>
              <a:tailEnd/>
            </a:ln>
            <a:effectLst/>
          </p:spPr>
          <p:txBody>
            <a:bodyPr wrap="none" anchor="ctr"/>
            <a:lstStyle/>
            <a:p>
              <a:endParaRPr lang="zh-CN" altLang="en-US"/>
            </a:p>
          </p:txBody>
        </p:sp>
        <p:sp>
          <p:nvSpPr>
            <p:cNvPr id="60" name="Text Box 16">
              <a:extLst>
                <a:ext uri="{FF2B5EF4-FFF2-40B4-BE49-F238E27FC236}">
                  <a16:creationId xmlns:a16="http://schemas.microsoft.com/office/drawing/2014/main" id="{3A92A7E9-5316-4BFB-930B-E5CF0CF8F7EF}"/>
                </a:ext>
              </a:extLst>
            </p:cNvPr>
            <p:cNvSpPr txBox="1">
              <a:spLocks noChangeArrowheads="1"/>
            </p:cNvSpPr>
            <p:nvPr/>
          </p:nvSpPr>
          <p:spPr bwMode="auto">
            <a:xfrm>
              <a:off x="444" y="1519"/>
              <a:ext cx="380"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t>a+1</a:t>
              </a:r>
            </a:p>
          </p:txBody>
        </p:sp>
        <p:sp>
          <p:nvSpPr>
            <p:cNvPr id="61" name="Text Box 17">
              <a:extLst>
                <a:ext uri="{FF2B5EF4-FFF2-40B4-BE49-F238E27FC236}">
                  <a16:creationId xmlns:a16="http://schemas.microsoft.com/office/drawing/2014/main" id="{3EA4372A-8435-4A05-B6A9-597D32A4A819}"/>
                </a:ext>
              </a:extLst>
            </p:cNvPr>
            <p:cNvSpPr txBox="1">
              <a:spLocks noChangeArrowheads="1"/>
            </p:cNvSpPr>
            <p:nvPr/>
          </p:nvSpPr>
          <p:spPr bwMode="auto">
            <a:xfrm>
              <a:off x="2405" y="1563"/>
              <a:ext cx="1046"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a:latin typeface="+mn-lt"/>
                  <a:ea typeface="楷体" pitchFamily="49" charset="-122"/>
                </a:rPr>
                <a:t>第</a:t>
              </a:r>
              <a:r>
                <a:rPr lang="en-US" altLang="zh-CN" sz="2000">
                  <a:latin typeface="+mn-lt"/>
                  <a:ea typeface="楷体" pitchFamily="49" charset="-122"/>
                </a:rPr>
                <a:t>1</a:t>
              </a:r>
              <a:r>
                <a:rPr lang="zh-CN" altLang="en-US" sz="2000">
                  <a:latin typeface="+mn-lt"/>
                  <a:ea typeface="楷体" pitchFamily="49" charset="-122"/>
                </a:rPr>
                <a:t>行首地址</a:t>
              </a:r>
            </a:p>
          </p:txBody>
        </p:sp>
        <p:sp useBgFill="1">
          <p:nvSpPr>
            <p:cNvPr id="62" name="Line 18">
              <a:extLst>
                <a:ext uri="{FF2B5EF4-FFF2-40B4-BE49-F238E27FC236}">
                  <a16:creationId xmlns:a16="http://schemas.microsoft.com/office/drawing/2014/main" id="{EB5EF3FA-67A6-4974-AF4B-938EF84A77F7}"/>
                </a:ext>
              </a:extLst>
            </p:cNvPr>
            <p:cNvSpPr>
              <a:spLocks noChangeShapeType="1"/>
            </p:cNvSpPr>
            <p:nvPr/>
          </p:nvSpPr>
          <p:spPr bwMode="auto">
            <a:xfrm>
              <a:off x="178" y="2100"/>
              <a:ext cx="5423" cy="0"/>
            </a:xfrm>
            <a:prstGeom prst="line">
              <a:avLst/>
            </a:prstGeom>
            <a:ln w="9525">
              <a:solidFill>
                <a:schemeClr val="tx2"/>
              </a:solidFill>
              <a:round/>
              <a:headEnd/>
              <a:tailEnd/>
            </a:ln>
            <a:effectLst/>
          </p:spPr>
          <p:txBody>
            <a:bodyPr wrap="none" anchor="ctr"/>
            <a:lstStyle/>
            <a:p>
              <a:endParaRPr lang="zh-CN" altLang="en-US"/>
            </a:p>
          </p:txBody>
        </p:sp>
        <p:sp>
          <p:nvSpPr>
            <p:cNvPr id="63" name="Text Box 19">
              <a:extLst>
                <a:ext uri="{FF2B5EF4-FFF2-40B4-BE49-F238E27FC236}">
                  <a16:creationId xmlns:a16="http://schemas.microsoft.com/office/drawing/2014/main" id="{0A76717D-C0AB-472E-88D1-DB1DF7CB34E9}"/>
                </a:ext>
              </a:extLst>
            </p:cNvPr>
            <p:cNvSpPr txBox="1">
              <a:spLocks noChangeArrowheads="1"/>
            </p:cNvSpPr>
            <p:nvPr/>
          </p:nvSpPr>
          <p:spPr bwMode="auto">
            <a:xfrm>
              <a:off x="237" y="1853"/>
              <a:ext cx="889"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t>a[1],*(a+1)</a:t>
              </a:r>
            </a:p>
          </p:txBody>
        </p:sp>
        <p:sp>
          <p:nvSpPr>
            <p:cNvPr id="64" name="Text Box 20">
              <a:extLst>
                <a:ext uri="{FF2B5EF4-FFF2-40B4-BE49-F238E27FC236}">
                  <a16:creationId xmlns:a16="http://schemas.microsoft.com/office/drawing/2014/main" id="{B6031C68-9B56-4B60-B9FD-BD3B7350E755}"/>
                </a:ext>
              </a:extLst>
            </p:cNvPr>
            <p:cNvSpPr txBox="1">
              <a:spLocks noChangeArrowheads="1"/>
            </p:cNvSpPr>
            <p:nvPr/>
          </p:nvSpPr>
          <p:spPr bwMode="auto">
            <a:xfrm>
              <a:off x="2389" y="1815"/>
              <a:ext cx="1635"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a:latin typeface="+mn-lt"/>
                  <a:ea typeface="楷体" pitchFamily="49" charset="-122"/>
                </a:rPr>
                <a:t>第</a:t>
              </a:r>
              <a:r>
                <a:rPr lang="en-US" altLang="zh-CN" sz="2000">
                  <a:latin typeface="+mn-lt"/>
                  <a:ea typeface="楷体" pitchFamily="49" charset="-122"/>
                </a:rPr>
                <a:t>1</a:t>
              </a:r>
              <a:r>
                <a:rPr lang="zh-CN" altLang="en-US" sz="2000">
                  <a:latin typeface="+mn-lt"/>
                  <a:ea typeface="楷体" pitchFamily="49" charset="-122"/>
                </a:rPr>
                <a:t>行第</a:t>
              </a:r>
              <a:r>
                <a:rPr lang="en-US" altLang="zh-CN" sz="2000">
                  <a:latin typeface="+mn-lt"/>
                  <a:ea typeface="楷体" pitchFamily="49" charset="-122"/>
                </a:rPr>
                <a:t>0</a:t>
              </a:r>
              <a:r>
                <a:rPr lang="zh-CN" altLang="en-US" sz="2000">
                  <a:latin typeface="+mn-lt"/>
                  <a:ea typeface="楷体" pitchFamily="49" charset="-122"/>
                </a:rPr>
                <a:t>列元素地址</a:t>
              </a:r>
            </a:p>
          </p:txBody>
        </p:sp>
        <p:sp useBgFill="1">
          <p:nvSpPr>
            <p:cNvPr id="65" name="Line 21">
              <a:extLst>
                <a:ext uri="{FF2B5EF4-FFF2-40B4-BE49-F238E27FC236}">
                  <a16:creationId xmlns:a16="http://schemas.microsoft.com/office/drawing/2014/main" id="{3A729D15-0E13-4362-A14B-2CFDFF55AD10}"/>
                </a:ext>
              </a:extLst>
            </p:cNvPr>
            <p:cNvSpPr>
              <a:spLocks noChangeShapeType="1"/>
            </p:cNvSpPr>
            <p:nvPr/>
          </p:nvSpPr>
          <p:spPr bwMode="auto">
            <a:xfrm>
              <a:off x="167" y="2389"/>
              <a:ext cx="5434" cy="0"/>
            </a:xfrm>
            <a:prstGeom prst="line">
              <a:avLst/>
            </a:prstGeom>
            <a:ln w="9525">
              <a:solidFill>
                <a:schemeClr val="tx2"/>
              </a:solidFill>
              <a:round/>
              <a:headEnd/>
              <a:tailEnd/>
            </a:ln>
            <a:effectLst/>
          </p:spPr>
          <p:txBody>
            <a:bodyPr wrap="none" anchor="ctr"/>
            <a:lstStyle/>
            <a:p>
              <a:endParaRPr lang="zh-CN" altLang="en-US"/>
            </a:p>
          </p:txBody>
        </p:sp>
        <p:sp>
          <p:nvSpPr>
            <p:cNvPr id="66" name="Text Box 22">
              <a:extLst>
                <a:ext uri="{FF2B5EF4-FFF2-40B4-BE49-F238E27FC236}">
                  <a16:creationId xmlns:a16="http://schemas.microsoft.com/office/drawing/2014/main" id="{52C3B9CF-98DF-41DB-A009-FD16B8E9AAD8}"/>
                </a:ext>
              </a:extLst>
            </p:cNvPr>
            <p:cNvSpPr txBox="1">
              <a:spLocks noChangeArrowheads="1"/>
            </p:cNvSpPr>
            <p:nvPr/>
          </p:nvSpPr>
          <p:spPr bwMode="auto">
            <a:xfrm>
              <a:off x="163" y="2130"/>
              <a:ext cx="1889"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t>a[1]+2,*(a+1)+2,&amp;a[1][2]</a:t>
              </a:r>
            </a:p>
          </p:txBody>
        </p:sp>
        <p:sp>
          <p:nvSpPr>
            <p:cNvPr id="67" name="Text Box 23">
              <a:extLst>
                <a:ext uri="{FF2B5EF4-FFF2-40B4-BE49-F238E27FC236}">
                  <a16:creationId xmlns:a16="http://schemas.microsoft.com/office/drawing/2014/main" id="{ABB1CA59-B5A5-4496-806C-EEA4977B00C4}"/>
                </a:ext>
              </a:extLst>
            </p:cNvPr>
            <p:cNvSpPr txBox="1">
              <a:spLocks noChangeArrowheads="1"/>
            </p:cNvSpPr>
            <p:nvPr/>
          </p:nvSpPr>
          <p:spPr bwMode="auto">
            <a:xfrm>
              <a:off x="2389" y="2116"/>
              <a:ext cx="1635"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a:latin typeface="+mn-lt"/>
                  <a:ea typeface="楷体" pitchFamily="49" charset="-122"/>
                </a:rPr>
                <a:t>第</a:t>
              </a:r>
              <a:r>
                <a:rPr lang="en-US" altLang="zh-CN" sz="2000">
                  <a:latin typeface="+mn-lt"/>
                  <a:ea typeface="楷体" pitchFamily="49" charset="-122"/>
                </a:rPr>
                <a:t>1</a:t>
              </a:r>
              <a:r>
                <a:rPr lang="zh-CN" altLang="en-US" sz="2000">
                  <a:latin typeface="+mn-lt"/>
                  <a:ea typeface="楷体" pitchFamily="49" charset="-122"/>
                </a:rPr>
                <a:t>行第</a:t>
              </a:r>
              <a:r>
                <a:rPr lang="en-US" altLang="zh-CN" sz="2000">
                  <a:latin typeface="+mn-lt"/>
                  <a:ea typeface="楷体" pitchFamily="49" charset="-122"/>
                </a:rPr>
                <a:t>2</a:t>
              </a:r>
              <a:r>
                <a:rPr lang="zh-CN" altLang="en-US" sz="2000">
                  <a:latin typeface="+mn-lt"/>
                  <a:ea typeface="楷体" pitchFamily="49" charset="-122"/>
                </a:rPr>
                <a:t>列元素地址</a:t>
              </a:r>
            </a:p>
          </p:txBody>
        </p:sp>
        <p:sp>
          <p:nvSpPr>
            <p:cNvPr id="68" name="Text Box 24">
              <a:extLst>
                <a:ext uri="{FF2B5EF4-FFF2-40B4-BE49-F238E27FC236}">
                  <a16:creationId xmlns:a16="http://schemas.microsoft.com/office/drawing/2014/main" id="{A1AF981A-6E30-4067-B457-BC69EBA50545}"/>
                </a:ext>
              </a:extLst>
            </p:cNvPr>
            <p:cNvSpPr txBox="1">
              <a:spLocks noChangeArrowheads="1"/>
            </p:cNvSpPr>
            <p:nvPr/>
          </p:nvSpPr>
          <p:spPr bwMode="auto">
            <a:xfrm>
              <a:off x="116" y="2427"/>
              <a:ext cx="2178"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t>*(a[1]+2),*(*(a+1)+2), a[1][2]</a:t>
              </a:r>
            </a:p>
          </p:txBody>
        </p:sp>
        <p:sp>
          <p:nvSpPr>
            <p:cNvPr id="69" name="Text Box 25">
              <a:extLst>
                <a:ext uri="{FF2B5EF4-FFF2-40B4-BE49-F238E27FC236}">
                  <a16:creationId xmlns:a16="http://schemas.microsoft.com/office/drawing/2014/main" id="{256E6B60-C081-4BA1-AAFD-EA649DDCACB2}"/>
                </a:ext>
              </a:extLst>
            </p:cNvPr>
            <p:cNvSpPr txBox="1">
              <a:spLocks noChangeArrowheads="1"/>
            </p:cNvSpPr>
            <p:nvPr/>
          </p:nvSpPr>
          <p:spPr bwMode="auto">
            <a:xfrm>
              <a:off x="2394" y="2412"/>
              <a:ext cx="1467"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a:latin typeface="+mn-lt"/>
                  <a:ea typeface="楷体" pitchFamily="49" charset="-122"/>
                </a:rPr>
                <a:t>第</a:t>
              </a:r>
              <a:r>
                <a:rPr lang="en-US" altLang="zh-CN" sz="2000">
                  <a:latin typeface="+mn-lt"/>
                  <a:ea typeface="楷体" pitchFamily="49" charset="-122"/>
                </a:rPr>
                <a:t>1</a:t>
              </a:r>
              <a:r>
                <a:rPr lang="zh-CN" altLang="en-US" sz="2000">
                  <a:latin typeface="+mn-lt"/>
                  <a:ea typeface="楷体" pitchFamily="49" charset="-122"/>
                </a:rPr>
                <a:t>行第</a:t>
              </a:r>
              <a:r>
                <a:rPr lang="en-US" altLang="zh-CN" sz="2000">
                  <a:latin typeface="+mn-lt"/>
                  <a:ea typeface="楷体" pitchFamily="49" charset="-122"/>
                </a:rPr>
                <a:t>2</a:t>
              </a:r>
              <a:r>
                <a:rPr lang="zh-CN" altLang="en-US" sz="2000">
                  <a:latin typeface="+mn-lt"/>
                  <a:ea typeface="楷体" pitchFamily="49" charset="-122"/>
                </a:rPr>
                <a:t>列元素值</a:t>
              </a:r>
            </a:p>
          </p:txBody>
        </p:sp>
        <p:sp>
          <p:nvSpPr>
            <p:cNvPr id="70" name="Text Box 26">
              <a:extLst>
                <a:ext uri="{FF2B5EF4-FFF2-40B4-BE49-F238E27FC236}">
                  <a16:creationId xmlns:a16="http://schemas.microsoft.com/office/drawing/2014/main" id="{7FE70DC9-1E0F-4825-BB85-D3D04E5586CE}"/>
                </a:ext>
              </a:extLst>
            </p:cNvPr>
            <p:cNvSpPr txBox="1">
              <a:spLocks noChangeArrowheads="1"/>
            </p:cNvSpPr>
            <p:nvPr/>
          </p:nvSpPr>
          <p:spPr bwMode="auto">
            <a:xfrm>
              <a:off x="4760" y="953"/>
              <a:ext cx="451"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t>2000</a:t>
              </a:r>
            </a:p>
          </p:txBody>
        </p:sp>
        <p:sp>
          <p:nvSpPr>
            <p:cNvPr id="71" name="Text Box 27">
              <a:extLst>
                <a:ext uri="{FF2B5EF4-FFF2-40B4-BE49-F238E27FC236}">
                  <a16:creationId xmlns:a16="http://schemas.microsoft.com/office/drawing/2014/main" id="{21B36D84-1A7B-4AD1-8748-813DEF762AF5}"/>
                </a:ext>
              </a:extLst>
            </p:cNvPr>
            <p:cNvSpPr txBox="1">
              <a:spLocks noChangeArrowheads="1"/>
            </p:cNvSpPr>
            <p:nvPr/>
          </p:nvSpPr>
          <p:spPr bwMode="auto">
            <a:xfrm>
              <a:off x="4760" y="1227"/>
              <a:ext cx="451"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t>2000</a:t>
              </a:r>
            </a:p>
          </p:txBody>
        </p:sp>
        <p:sp>
          <p:nvSpPr>
            <p:cNvPr id="72" name="Text Box 28">
              <a:extLst>
                <a:ext uri="{FF2B5EF4-FFF2-40B4-BE49-F238E27FC236}">
                  <a16:creationId xmlns:a16="http://schemas.microsoft.com/office/drawing/2014/main" id="{763E56C7-05DC-4EBD-8554-C0EB3897A924}"/>
                </a:ext>
              </a:extLst>
            </p:cNvPr>
            <p:cNvSpPr txBox="1">
              <a:spLocks noChangeArrowheads="1"/>
            </p:cNvSpPr>
            <p:nvPr/>
          </p:nvSpPr>
          <p:spPr bwMode="auto">
            <a:xfrm>
              <a:off x="4760" y="1516"/>
              <a:ext cx="451"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t>2008</a:t>
              </a:r>
            </a:p>
          </p:txBody>
        </p:sp>
        <p:sp>
          <p:nvSpPr>
            <p:cNvPr id="73" name="Text Box 29">
              <a:extLst>
                <a:ext uri="{FF2B5EF4-FFF2-40B4-BE49-F238E27FC236}">
                  <a16:creationId xmlns:a16="http://schemas.microsoft.com/office/drawing/2014/main" id="{ECCB2A36-48C0-4DDD-89E6-A84AA5BC7C3D}"/>
                </a:ext>
              </a:extLst>
            </p:cNvPr>
            <p:cNvSpPr txBox="1">
              <a:spLocks noChangeArrowheads="1"/>
            </p:cNvSpPr>
            <p:nvPr/>
          </p:nvSpPr>
          <p:spPr bwMode="auto">
            <a:xfrm>
              <a:off x="4760" y="1804"/>
              <a:ext cx="451"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t>2008</a:t>
              </a:r>
            </a:p>
          </p:txBody>
        </p:sp>
        <p:sp>
          <p:nvSpPr>
            <p:cNvPr id="74" name="Text Box 30">
              <a:extLst>
                <a:ext uri="{FF2B5EF4-FFF2-40B4-BE49-F238E27FC236}">
                  <a16:creationId xmlns:a16="http://schemas.microsoft.com/office/drawing/2014/main" id="{4A83CC35-CDB0-4AA1-813E-92288573C079}"/>
                </a:ext>
              </a:extLst>
            </p:cNvPr>
            <p:cNvSpPr txBox="1">
              <a:spLocks noChangeArrowheads="1"/>
            </p:cNvSpPr>
            <p:nvPr/>
          </p:nvSpPr>
          <p:spPr bwMode="auto">
            <a:xfrm>
              <a:off x="4760" y="2071"/>
              <a:ext cx="451"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t>2012</a:t>
              </a:r>
            </a:p>
          </p:txBody>
        </p:sp>
        <p:sp>
          <p:nvSpPr>
            <p:cNvPr id="75" name="Text Box 31">
              <a:extLst>
                <a:ext uri="{FF2B5EF4-FFF2-40B4-BE49-F238E27FC236}">
                  <a16:creationId xmlns:a16="http://schemas.microsoft.com/office/drawing/2014/main" id="{304B4ED1-3FC0-41A7-B440-BE5BF5E8ED2C}"/>
                </a:ext>
              </a:extLst>
            </p:cNvPr>
            <p:cNvSpPr txBox="1">
              <a:spLocks noChangeArrowheads="1"/>
            </p:cNvSpPr>
            <p:nvPr/>
          </p:nvSpPr>
          <p:spPr bwMode="auto">
            <a:xfrm>
              <a:off x="4763" y="2419"/>
              <a:ext cx="28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t>13</a:t>
              </a:r>
            </a:p>
          </p:txBody>
        </p:sp>
        <p:sp useBgFill="1">
          <p:nvSpPr>
            <p:cNvPr id="76" name="Line 32">
              <a:extLst>
                <a:ext uri="{FF2B5EF4-FFF2-40B4-BE49-F238E27FC236}">
                  <a16:creationId xmlns:a16="http://schemas.microsoft.com/office/drawing/2014/main" id="{11B63262-632A-48A5-8420-E978A5F648E1}"/>
                </a:ext>
              </a:extLst>
            </p:cNvPr>
            <p:cNvSpPr>
              <a:spLocks noChangeShapeType="1"/>
            </p:cNvSpPr>
            <p:nvPr/>
          </p:nvSpPr>
          <p:spPr bwMode="auto">
            <a:xfrm>
              <a:off x="2311" y="622"/>
              <a:ext cx="0" cy="2078"/>
            </a:xfrm>
            <a:prstGeom prst="line">
              <a:avLst/>
            </a:prstGeom>
            <a:ln w="9525">
              <a:solidFill>
                <a:schemeClr val="tx2"/>
              </a:solidFill>
              <a:round/>
              <a:headEnd/>
              <a:tailEnd/>
            </a:ln>
            <a:effectLst/>
          </p:spPr>
          <p:txBody>
            <a:bodyPr wrap="none" anchor="ctr"/>
            <a:lstStyle/>
            <a:p>
              <a:endParaRPr lang="zh-CN" altLang="en-US"/>
            </a:p>
          </p:txBody>
        </p:sp>
      </p:grpSp>
      <p:sp>
        <p:nvSpPr>
          <p:cNvPr id="77" name="Rectangle 4">
            <a:extLst>
              <a:ext uri="{FF2B5EF4-FFF2-40B4-BE49-F238E27FC236}">
                <a16:creationId xmlns:a16="http://schemas.microsoft.com/office/drawing/2014/main" id="{E3C62C3B-77BE-4197-9F9C-AFF683EAE1F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62242"/>
                                        </p:tgtEl>
                                        <p:attrNameLst>
                                          <p:attrName>style.visibility</p:attrName>
                                        </p:attrNameLst>
                                      </p:cBhvr>
                                      <p:to>
                                        <p:strVal val="visible"/>
                                      </p:to>
                                    </p:set>
                                    <p:animEffect transition="in" filter="box(out)">
                                      <p:cBhvr>
                                        <p:cTn id="7" dur="500"/>
                                        <p:tgtEl>
                                          <p:spTgt spid="116224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62270"/>
                                        </p:tgtEl>
                                        <p:attrNameLst>
                                          <p:attrName>style.visibility</p:attrName>
                                        </p:attrNameLst>
                                      </p:cBhvr>
                                      <p:to>
                                        <p:strVal val="visible"/>
                                      </p:to>
                                    </p:set>
                                    <p:animEffect transition="in" filter="box(out)">
                                      <p:cBhvr>
                                        <p:cTn id="12" dur="500"/>
                                        <p:tgtEl>
                                          <p:spTgt spid="116227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62271">
                                            <p:txEl>
                                              <p:pRg st="0" end="0"/>
                                            </p:txEl>
                                          </p:spTgt>
                                        </p:tgtEl>
                                        <p:attrNameLst>
                                          <p:attrName>style.visibility</p:attrName>
                                        </p:attrNameLst>
                                      </p:cBhvr>
                                      <p:to>
                                        <p:strVal val="visible"/>
                                      </p:to>
                                    </p:set>
                                    <p:animEffect transition="in" filter="box(out)">
                                      <p:cBhvr>
                                        <p:cTn id="17" dur="500"/>
                                        <p:tgtEl>
                                          <p:spTgt spid="1162271">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62271">
                                            <p:txEl>
                                              <p:pRg st="1" end="1"/>
                                            </p:txEl>
                                          </p:spTgt>
                                        </p:tgtEl>
                                        <p:attrNameLst>
                                          <p:attrName>style.visibility</p:attrName>
                                        </p:attrNameLst>
                                      </p:cBhvr>
                                      <p:to>
                                        <p:strVal val="visible"/>
                                      </p:to>
                                    </p:set>
                                    <p:animEffect transition="in" filter="box(out)">
                                      <p:cBhvr>
                                        <p:cTn id="22" dur="500"/>
                                        <p:tgtEl>
                                          <p:spTgt spid="1162271">
                                            <p:txEl>
                                              <p:pRg st="1" end="1"/>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62271">
                                            <p:txEl>
                                              <p:pRg st="2" end="2"/>
                                            </p:txEl>
                                          </p:spTgt>
                                        </p:tgtEl>
                                        <p:attrNameLst>
                                          <p:attrName>style.visibility</p:attrName>
                                        </p:attrNameLst>
                                      </p:cBhvr>
                                      <p:to>
                                        <p:strVal val="visible"/>
                                      </p:to>
                                    </p:set>
                                    <p:animEffect transition="in" filter="box(out)">
                                      <p:cBhvr>
                                        <p:cTn id="27" dur="500"/>
                                        <p:tgtEl>
                                          <p:spTgt spid="1162271">
                                            <p:txEl>
                                              <p:pRg st="2" end="2"/>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62271">
                                            <p:txEl>
                                              <p:pRg st="3" end="3"/>
                                            </p:txEl>
                                          </p:spTgt>
                                        </p:tgtEl>
                                        <p:attrNameLst>
                                          <p:attrName>style.visibility</p:attrName>
                                        </p:attrNameLst>
                                      </p:cBhvr>
                                      <p:to>
                                        <p:strVal val="visible"/>
                                      </p:to>
                                    </p:set>
                                    <p:animEffect transition="in" filter="box(out)">
                                      <p:cBhvr>
                                        <p:cTn id="32" dur="500"/>
                                        <p:tgtEl>
                                          <p:spTgt spid="1162271">
                                            <p:txEl>
                                              <p:pRg st="3" end="3"/>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162271">
                                            <p:txEl>
                                              <p:pRg st="4" end="4"/>
                                            </p:txEl>
                                          </p:spTgt>
                                        </p:tgtEl>
                                        <p:attrNameLst>
                                          <p:attrName>style.visibility</p:attrName>
                                        </p:attrNameLst>
                                      </p:cBhvr>
                                      <p:to>
                                        <p:strVal val="visible"/>
                                      </p:to>
                                    </p:set>
                                    <p:animEffect transition="in" filter="box(out)">
                                      <p:cBhvr>
                                        <p:cTn id="37" dur="500"/>
                                        <p:tgtEl>
                                          <p:spTgt spid="1162271">
                                            <p:txEl>
                                              <p:pRg st="4" end="4"/>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162271">
                                            <p:txEl>
                                              <p:pRg st="5" end="5"/>
                                            </p:txEl>
                                          </p:spTgt>
                                        </p:tgtEl>
                                        <p:attrNameLst>
                                          <p:attrName>style.visibility</p:attrName>
                                        </p:attrNameLst>
                                      </p:cBhvr>
                                      <p:to>
                                        <p:strVal val="visible"/>
                                      </p:to>
                                    </p:set>
                                    <p:animEffect transition="in" filter="box(out)">
                                      <p:cBhvr>
                                        <p:cTn id="42" dur="500"/>
                                        <p:tgtEl>
                                          <p:spTgt spid="1162271">
                                            <p:txEl>
                                              <p:pRg st="5" end="5"/>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162272"/>
                                        </p:tgtEl>
                                        <p:attrNameLst>
                                          <p:attrName>style.visibility</p:attrName>
                                        </p:attrNameLst>
                                      </p:cBhvr>
                                      <p:to>
                                        <p:strVal val="visible"/>
                                      </p:to>
                                    </p:set>
                                    <p:animEffect transition="in" filter="box(out)">
                                      <p:cBhvr>
                                        <p:cTn id="47" dur="500"/>
                                        <p:tgtEl>
                                          <p:spTgt spid="1162272"/>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18" presetClass="entr" presetSubtype="6" fill="hold" nodeType="click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strips(downRight)">
                                      <p:cBhvr>
                                        <p:cTn id="52" dur="500"/>
                                        <p:tgtEl>
                                          <p:spTgt spid="46"/>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1162278"/>
                                        </p:tgtEl>
                                        <p:attrNameLst>
                                          <p:attrName>style.visibility</p:attrName>
                                        </p:attrNameLst>
                                      </p:cBhvr>
                                      <p:to>
                                        <p:strVal val="visible"/>
                                      </p:to>
                                    </p:set>
                                    <p:animEffect transition="in" filter="box(out)">
                                      <p:cBhvr>
                                        <p:cTn id="57" dur="500"/>
                                        <p:tgtEl>
                                          <p:spTgt spid="1162278"/>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1162279">
                                            <p:txEl>
                                              <p:pRg st="0" end="0"/>
                                            </p:txEl>
                                          </p:spTgt>
                                        </p:tgtEl>
                                        <p:attrNameLst>
                                          <p:attrName>style.visibility</p:attrName>
                                        </p:attrNameLst>
                                      </p:cBhvr>
                                      <p:to>
                                        <p:strVal val="visible"/>
                                      </p:to>
                                    </p:set>
                                    <p:animEffect transition="in" filter="box(out)">
                                      <p:cBhvr>
                                        <p:cTn id="62" dur="500"/>
                                        <p:tgtEl>
                                          <p:spTgt spid="1162279">
                                            <p:txEl>
                                              <p:pRg st="0" end="0"/>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1162279">
                                            <p:txEl>
                                              <p:pRg st="1" end="1"/>
                                            </p:txEl>
                                          </p:spTgt>
                                        </p:tgtEl>
                                        <p:attrNameLst>
                                          <p:attrName>style.visibility</p:attrName>
                                        </p:attrNameLst>
                                      </p:cBhvr>
                                      <p:to>
                                        <p:strVal val="visible"/>
                                      </p:to>
                                    </p:set>
                                    <p:animEffect transition="in" filter="box(out)">
                                      <p:cBhvr>
                                        <p:cTn id="67" dur="500"/>
                                        <p:tgtEl>
                                          <p:spTgt spid="1162279">
                                            <p:txEl>
                                              <p:pRg st="1" end="1"/>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1162279">
                                            <p:txEl>
                                              <p:pRg st="2" end="2"/>
                                            </p:txEl>
                                          </p:spTgt>
                                        </p:tgtEl>
                                        <p:attrNameLst>
                                          <p:attrName>style.visibility</p:attrName>
                                        </p:attrNameLst>
                                      </p:cBhvr>
                                      <p:to>
                                        <p:strVal val="visible"/>
                                      </p:to>
                                    </p:set>
                                    <p:animEffect transition="in" filter="box(out)">
                                      <p:cBhvr>
                                        <p:cTn id="72" dur="500"/>
                                        <p:tgtEl>
                                          <p:spTgt spid="1162279">
                                            <p:txEl>
                                              <p:pRg st="2" end="2"/>
                                            </p:txEl>
                                          </p:spTgt>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1162279">
                                            <p:txEl>
                                              <p:pRg st="3" end="3"/>
                                            </p:txEl>
                                          </p:spTgt>
                                        </p:tgtEl>
                                        <p:attrNameLst>
                                          <p:attrName>style.visibility</p:attrName>
                                        </p:attrNameLst>
                                      </p:cBhvr>
                                      <p:to>
                                        <p:strVal val="visible"/>
                                      </p:to>
                                    </p:set>
                                    <p:animEffect transition="in" filter="box(out)">
                                      <p:cBhvr>
                                        <p:cTn id="77" dur="500"/>
                                        <p:tgtEl>
                                          <p:spTgt spid="1162279">
                                            <p:txEl>
                                              <p:pRg st="3" end="3"/>
                                            </p:txEl>
                                          </p:spTgt>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1162279">
                                            <p:txEl>
                                              <p:pRg st="4" end="4"/>
                                            </p:txEl>
                                          </p:spTgt>
                                        </p:tgtEl>
                                        <p:attrNameLst>
                                          <p:attrName>style.visibility</p:attrName>
                                        </p:attrNameLst>
                                      </p:cBhvr>
                                      <p:to>
                                        <p:strVal val="visible"/>
                                      </p:to>
                                    </p:set>
                                    <p:animEffect transition="in" filter="box(out)">
                                      <p:cBhvr>
                                        <p:cTn id="82" dur="500"/>
                                        <p:tgtEl>
                                          <p:spTgt spid="1162279">
                                            <p:txEl>
                                              <p:pRg st="4" end="4"/>
                                            </p:txEl>
                                          </p:spTgt>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childTnLst>
                    </p:cTn>
                  </p:par>
                  <p:par>
                    <p:cTn id="83" fill="hold">
                      <p:stCondLst>
                        <p:cond delay="indefinite"/>
                      </p:stCondLst>
                      <p:childTnLst>
                        <p:par>
                          <p:cTn id="84" fill="hold">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1162269">
                                            <p:txEl>
                                              <p:pRg st="0" end="0"/>
                                            </p:txEl>
                                          </p:spTgt>
                                        </p:tgtEl>
                                        <p:attrNameLst>
                                          <p:attrName>style.visibility</p:attrName>
                                        </p:attrNameLst>
                                      </p:cBhvr>
                                      <p:to>
                                        <p:strVal val="visible"/>
                                      </p:to>
                                    </p:set>
                                    <p:animEffect transition="in" filter="box(out)">
                                      <p:cBhvr>
                                        <p:cTn id="87" dur="500"/>
                                        <p:tgtEl>
                                          <p:spTgt spid="1162269">
                                            <p:txEl>
                                              <p:pRg st="0" end="0"/>
                                            </p:txEl>
                                          </p:spTgt>
                                        </p:tgtEl>
                                      </p:cBhvr>
                                    </p:animEffect>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childTnLst>
                    </p:cTn>
                  </p:par>
                  <p:par>
                    <p:cTn id="88" fill="hold">
                      <p:stCondLst>
                        <p:cond delay="indefinite"/>
                      </p:stCondLst>
                      <p:childTnLst>
                        <p:par>
                          <p:cTn id="89" fill="hold">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1162269">
                                            <p:txEl>
                                              <p:pRg st="1" end="1"/>
                                            </p:txEl>
                                          </p:spTgt>
                                        </p:tgtEl>
                                        <p:attrNameLst>
                                          <p:attrName>style.visibility</p:attrName>
                                        </p:attrNameLst>
                                      </p:cBhvr>
                                      <p:to>
                                        <p:strVal val="visible"/>
                                      </p:to>
                                    </p:set>
                                    <p:animEffect transition="in" filter="box(out)">
                                      <p:cBhvr>
                                        <p:cTn id="92" dur="500"/>
                                        <p:tgtEl>
                                          <p:spTgt spid="1162269">
                                            <p:txEl>
                                              <p:pRg st="1" end="1"/>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2" name="CAMERA.WAV"/>
                                        </p:tgtEl>
                                      </p:cMediaNode>
                                    </p:audio>
                                  </p:subTnLst>
                                </p:cTn>
                              </p:par>
                            </p:childTnLst>
                          </p:cTn>
                        </p:par>
                      </p:childTnLst>
                    </p:cTn>
                  </p:par>
                  <p:par>
                    <p:cTn id="93" fill="hold">
                      <p:stCondLst>
                        <p:cond delay="indefinite"/>
                      </p:stCondLst>
                      <p:childTnLst>
                        <p:par>
                          <p:cTn id="94" fill="hold">
                            <p:stCondLst>
                              <p:cond delay="0"/>
                            </p:stCondLst>
                            <p:childTnLst>
                              <p:par>
                                <p:cTn id="95" presetID="4" presetClass="entr" presetSubtype="32" fill="hold" grpId="0" nodeType="clickEffect">
                                  <p:stCondLst>
                                    <p:cond delay="0"/>
                                  </p:stCondLst>
                                  <p:childTnLst>
                                    <p:set>
                                      <p:cBhvr>
                                        <p:cTn id="96" dur="1" fill="hold">
                                          <p:stCondLst>
                                            <p:cond delay="0"/>
                                          </p:stCondLst>
                                        </p:cTn>
                                        <p:tgtEl>
                                          <p:spTgt spid="1162269">
                                            <p:txEl>
                                              <p:pRg st="2" end="2"/>
                                            </p:txEl>
                                          </p:spTgt>
                                        </p:tgtEl>
                                        <p:attrNameLst>
                                          <p:attrName>style.visibility</p:attrName>
                                        </p:attrNameLst>
                                      </p:cBhvr>
                                      <p:to>
                                        <p:strVal val="visible"/>
                                      </p:to>
                                    </p:set>
                                    <p:animEffect transition="in" filter="box(out)">
                                      <p:cBhvr>
                                        <p:cTn id="97" dur="500"/>
                                        <p:tgtEl>
                                          <p:spTgt spid="1162269">
                                            <p:txEl>
                                              <p:pRg st="2" end="2"/>
                                            </p:txEl>
                                          </p:spTgt>
                                        </p:tgtEl>
                                      </p:cBhvr>
                                    </p:animEffect>
                                  </p:childTnLst>
                                  <p:subTnLst>
                                    <p:audio>
                                      <p:cMediaNode>
                                        <p:cTn display="0" masterRel="sameClick">
                                          <p:stCondLst>
                                            <p:cond evt="begin" delay="0">
                                              <p:tn val="95"/>
                                            </p:cond>
                                          </p:stCondLst>
                                          <p:endCondLst>
                                            <p:cond evt="onStopAudio" delay="0">
                                              <p:tgtEl>
                                                <p:sldTgt/>
                                              </p:tgtEl>
                                            </p:cond>
                                          </p:endCondLst>
                                        </p:cTn>
                                        <p:tgtEl>
                                          <p:sndTgt r:embed="rId2"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1162269">
                                            <p:txEl>
                                              <p:pRg st="3" end="3"/>
                                            </p:txEl>
                                          </p:spTgt>
                                        </p:tgtEl>
                                        <p:attrNameLst>
                                          <p:attrName>style.visibility</p:attrName>
                                        </p:attrNameLst>
                                      </p:cBhvr>
                                      <p:to>
                                        <p:strVal val="visible"/>
                                      </p:to>
                                    </p:set>
                                    <p:animEffect transition="in" filter="box(out)">
                                      <p:cBhvr>
                                        <p:cTn id="102" dur="500"/>
                                        <p:tgtEl>
                                          <p:spTgt spid="1162269">
                                            <p:txEl>
                                              <p:pRg st="3" end="3"/>
                                            </p:txEl>
                                          </p:spTgt>
                                        </p:tgtEl>
                                      </p:cBhvr>
                                    </p:animEffect>
                                  </p:childTnLst>
                                  <p:subTnLst>
                                    <p:audio>
                                      <p:cMediaNode>
                                        <p:cTn display="0" masterRel="sameClick">
                                          <p:stCondLst>
                                            <p:cond evt="begin" delay="0">
                                              <p:tn val="100"/>
                                            </p:cond>
                                          </p:stCondLst>
                                          <p:endCondLst>
                                            <p:cond evt="onStopAudio" delay="0">
                                              <p:tgtEl>
                                                <p:sldTgt/>
                                              </p:tgtEl>
                                            </p:cond>
                                          </p:endCondLst>
                                        </p:cTn>
                                        <p:tgtEl>
                                          <p:sndTgt r:embed="rId2"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4" presetClass="entr" presetSubtype="32" fill="hold" grpId="0" nodeType="clickEffect">
                                  <p:stCondLst>
                                    <p:cond delay="0"/>
                                  </p:stCondLst>
                                  <p:childTnLst>
                                    <p:set>
                                      <p:cBhvr>
                                        <p:cTn id="106" dur="1" fill="hold">
                                          <p:stCondLst>
                                            <p:cond delay="0"/>
                                          </p:stCondLst>
                                        </p:cTn>
                                        <p:tgtEl>
                                          <p:spTgt spid="1162269">
                                            <p:txEl>
                                              <p:pRg st="4" end="4"/>
                                            </p:txEl>
                                          </p:spTgt>
                                        </p:tgtEl>
                                        <p:attrNameLst>
                                          <p:attrName>style.visibility</p:attrName>
                                        </p:attrNameLst>
                                      </p:cBhvr>
                                      <p:to>
                                        <p:strVal val="visible"/>
                                      </p:to>
                                    </p:set>
                                    <p:animEffect transition="in" filter="box(out)">
                                      <p:cBhvr>
                                        <p:cTn id="107" dur="500"/>
                                        <p:tgtEl>
                                          <p:spTgt spid="1162269">
                                            <p:txEl>
                                              <p:pRg st="4" end="4"/>
                                            </p:txEl>
                                          </p:spTgt>
                                        </p:tgtEl>
                                      </p:cBhvr>
                                    </p:animEffect>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8" presetClass="entr" presetSubtype="16" fill="hold" nodeType="clickEffect">
                                  <p:stCondLst>
                                    <p:cond delay="0"/>
                                  </p:stCondLst>
                                  <p:childTnLst>
                                    <p:set>
                                      <p:cBhvr>
                                        <p:cTn id="111" dur="1" fill="hold">
                                          <p:stCondLst>
                                            <p:cond delay="0"/>
                                          </p:stCondLst>
                                        </p:cTn>
                                        <p:tgtEl>
                                          <p:spTgt spid="45"/>
                                        </p:tgtEl>
                                        <p:attrNameLst>
                                          <p:attrName>style.visibility</p:attrName>
                                        </p:attrNameLst>
                                      </p:cBhvr>
                                      <p:to>
                                        <p:strVal val="visible"/>
                                      </p:to>
                                    </p:set>
                                    <p:animEffect transition="in" filter="diamond(in)">
                                      <p:cBhvr>
                                        <p:cTn id="112" dur="2000"/>
                                        <p:tgtEl>
                                          <p:spTgt spid="45"/>
                                        </p:tgtEl>
                                      </p:cBhvr>
                                    </p:animEffect>
                                  </p:childTnLst>
                                  <p:subTnLst>
                                    <p:audio>
                                      <p:cMediaNode>
                                        <p:cTn display="0" masterRel="sameClick">
                                          <p:stCondLst>
                                            <p:cond evt="begin" delay="0">
                                              <p:tn val="1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2269" grpId="0" build="p" autoUpdateAnimBg="0"/>
      <p:bldP spid="1162270" grpId="0" animBg="1"/>
      <p:bldP spid="1162271" grpId="0" build="p" autoUpdateAnimBg="0"/>
      <p:bldP spid="1162278" grpId="0" animBg="1"/>
      <p:bldP spid="1162279"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9170" name="Rectangle 2"/>
          <p:cNvSpPr>
            <a:spLocks noChangeArrowheads="1"/>
          </p:cNvSpPr>
          <p:nvPr/>
        </p:nvSpPr>
        <p:spPr bwMode="auto">
          <a:xfrm>
            <a:off x="601366" y="836986"/>
            <a:ext cx="7006802" cy="503237"/>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3</a:t>
            </a:r>
            <a:r>
              <a:rPr lang="zh-CN" altLang="en-US" sz="2800" b="1" dirty="0">
                <a:solidFill>
                  <a:srgbClr val="C00000"/>
                </a:solidFill>
                <a:latin typeface="+mn-lt"/>
                <a:ea typeface="楷体" pitchFamily="49" charset="-122"/>
                <a:sym typeface="Symbol" pitchFamily="18" charset="2"/>
              </a:rPr>
              <a:t>、指向多维数组的指针</a:t>
            </a:r>
            <a:r>
              <a:rPr lang="en-US" altLang="zh-CN" sz="2800" b="1" dirty="0">
                <a:solidFill>
                  <a:srgbClr val="C00000"/>
                </a:solidFill>
                <a:latin typeface="+mn-lt"/>
                <a:ea typeface="楷体" pitchFamily="49" charset="-122"/>
                <a:sym typeface="Symbol" pitchFamily="18" charset="2"/>
              </a:rPr>
              <a:t>____</a:t>
            </a:r>
            <a:r>
              <a:rPr lang="zh-CN" altLang="en-US" sz="2800" b="1" dirty="0">
                <a:solidFill>
                  <a:srgbClr val="C00000"/>
                </a:solidFill>
                <a:latin typeface="+mn-lt"/>
                <a:ea typeface="楷体" pitchFamily="49" charset="-122"/>
                <a:sym typeface="Symbol" pitchFamily="18" charset="2"/>
              </a:rPr>
              <a:t>数组指针</a:t>
            </a:r>
          </a:p>
        </p:txBody>
      </p:sp>
      <p:sp>
        <p:nvSpPr>
          <p:cNvPr id="1159174" name="Rectangle 6" descr="信纸"/>
          <p:cNvSpPr>
            <a:spLocks noChangeArrowheads="1"/>
          </p:cNvSpPr>
          <p:nvPr/>
        </p:nvSpPr>
        <p:spPr bwMode="auto">
          <a:xfrm>
            <a:off x="911300" y="2029050"/>
            <a:ext cx="6696868" cy="463846"/>
          </a:xfrm>
          <a:prstGeom prst="rect">
            <a:avLst/>
          </a:prstGeom>
          <a:noFill/>
          <a:ln w="38100" algn="ctr">
            <a:noFill/>
            <a:miter lim="800000"/>
            <a:headEnd/>
            <a:tailEnd/>
          </a:ln>
          <a:effectLst/>
        </p:spPr>
        <p:txBody>
          <a:bodyPr wrap="square" lIns="90000" tIns="46800" rIns="90000" bIns="46800" anchor="ctr">
            <a:spAutoFit/>
          </a:bodyPr>
          <a:lstStyle/>
          <a:p>
            <a:pPr>
              <a:lnSpc>
                <a:spcPct val="100000"/>
              </a:lnSpc>
            </a:pPr>
            <a:r>
              <a:rPr lang="en-US" altLang="zh-CN" dirty="0">
                <a:latin typeface="+mn-lt"/>
                <a:ea typeface="楷体" pitchFamily="49" charset="-122"/>
              </a:rPr>
              <a:t>        </a:t>
            </a:r>
            <a:r>
              <a:rPr lang="zh-CN" altLang="en-US" dirty="0">
                <a:latin typeface="+mn-lt"/>
                <a:ea typeface="楷体" pitchFamily="49" charset="-122"/>
              </a:rPr>
              <a:t>指向二维数组的行指针变量的定义格式： </a:t>
            </a:r>
          </a:p>
        </p:txBody>
      </p:sp>
      <p:sp>
        <p:nvSpPr>
          <p:cNvPr id="1159271" name="Text Box 103"/>
          <p:cNvSpPr txBox="1">
            <a:spLocks noChangeArrowheads="1"/>
          </p:cNvSpPr>
          <p:nvPr/>
        </p:nvSpPr>
        <p:spPr bwMode="auto">
          <a:xfrm>
            <a:off x="1660872" y="2813423"/>
            <a:ext cx="8467576" cy="504825"/>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2000" dirty="0">
                <a:solidFill>
                  <a:srgbClr val="C00000"/>
                </a:solidFill>
                <a:latin typeface="+mn-lt"/>
                <a:ea typeface="隶书" pitchFamily="49" charset="-122"/>
              </a:rPr>
              <a:t>数据类型符 （*指针变量名）</a:t>
            </a:r>
            <a:r>
              <a:rPr lang="en-US" altLang="zh-CN" sz="2000" dirty="0">
                <a:solidFill>
                  <a:srgbClr val="C00000"/>
                </a:solidFill>
                <a:latin typeface="+mn-lt"/>
                <a:ea typeface="隶书" pitchFamily="49" charset="-122"/>
              </a:rPr>
              <a:t>[</a:t>
            </a:r>
            <a:r>
              <a:rPr lang="zh-CN" altLang="en-US" sz="2000" dirty="0">
                <a:solidFill>
                  <a:srgbClr val="C00000"/>
                </a:solidFill>
                <a:latin typeface="+mn-lt"/>
                <a:ea typeface="隶书" pitchFamily="49" charset="-122"/>
              </a:rPr>
              <a:t>常量表达式</a:t>
            </a:r>
            <a:r>
              <a:rPr lang="en-US" altLang="zh-CN" sz="2000" dirty="0">
                <a:solidFill>
                  <a:srgbClr val="C00000"/>
                </a:solidFill>
                <a:latin typeface="+mn-lt"/>
                <a:ea typeface="隶书" pitchFamily="49" charset="-122"/>
              </a:rPr>
              <a:t>];</a:t>
            </a:r>
          </a:p>
        </p:txBody>
      </p:sp>
      <p:sp>
        <p:nvSpPr>
          <p:cNvPr id="1159272" name="AutoShape 104"/>
          <p:cNvSpPr>
            <a:spLocks noChangeArrowheads="1"/>
          </p:cNvSpPr>
          <p:nvPr/>
        </p:nvSpPr>
        <p:spPr bwMode="auto">
          <a:xfrm>
            <a:off x="7392367" y="3634161"/>
            <a:ext cx="2232025" cy="719137"/>
          </a:xfrm>
          <a:prstGeom prst="wedgeRoundRectCallout">
            <a:avLst>
              <a:gd name="adj1" fmla="val -43458"/>
              <a:gd name="adj2" fmla="val -111810"/>
              <a:gd name="adj3" fmla="val 16667"/>
            </a:avLst>
          </a:prstGeom>
          <a:gradFill rotWithShape="1">
            <a:gsLst>
              <a:gs pos="0">
                <a:srgbClr val="CFCFD1"/>
              </a:gs>
              <a:gs pos="100000">
                <a:schemeClr val="bg1"/>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2000">
                <a:solidFill>
                  <a:srgbClr val="C00000"/>
                </a:solidFill>
                <a:latin typeface="隶书" pitchFamily="49" charset="-122"/>
                <a:ea typeface="隶书" pitchFamily="49" charset="-122"/>
              </a:rPr>
              <a:t>二维数组第二维的大小</a:t>
            </a:r>
            <a:r>
              <a:rPr lang="zh-CN" altLang="en-US" sz="2000" b="0">
                <a:solidFill>
                  <a:srgbClr val="C00000"/>
                </a:solidFill>
                <a:latin typeface="隶书" pitchFamily="49" charset="-122"/>
                <a:ea typeface="隶书" pitchFamily="49" charset="-122"/>
              </a:rPr>
              <a:t> </a:t>
            </a:r>
          </a:p>
        </p:txBody>
      </p:sp>
      <p:sp>
        <p:nvSpPr>
          <p:cNvPr id="1159273" name="AutoShape 105"/>
          <p:cNvSpPr>
            <a:spLocks noChangeArrowheads="1"/>
          </p:cNvSpPr>
          <p:nvPr/>
        </p:nvSpPr>
        <p:spPr bwMode="auto">
          <a:xfrm>
            <a:off x="4079999" y="3717280"/>
            <a:ext cx="2232025" cy="431800"/>
          </a:xfrm>
          <a:prstGeom prst="wedgeRoundRectCallout">
            <a:avLst>
              <a:gd name="adj1" fmla="val -8124"/>
              <a:gd name="adj2" fmla="val -182058"/>
              <a:gd name="adj3" fmla="val 16667"/>
            </a:avLst>
          </a:prstGeom>
          <a:gradFill rotWithShape="1">
            <a:gsLst>
              <a:gs pos="0">
                <a:srgbClr val="CFCFD1"/>
              </a:gs>
              <a:gs pos="100000">
                <a:schemeClr val="bg1"/>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2000">
                <a:solidFill>
                  <a:srgbClr val="C00000"/>
                </a:solidFill>
                <a:latin typeface="隶书" pitchFamily="49" charset="-122"/>
                <a:ea typeface="隶书" pitchFamily="49" charset="-122"/>
              </a:rPr>
              <a:t>括号不能省</a:t>
            </a:r>
            <a:endParaRPr lang="zh-CN" altLang="en-US" sz="2000" b="0">
              <a:solidFill>
                <a:srgbClr val="C00000"/>
              </a:solidFill>
              <a:latin typeface="隶书" pitchFamily="49" charset="-122"/>
              <a:ea typeface="隶书" pitchFamily="49" charset="-122"/>
            </a:endParaRPr>
          </a:p>
        </p:txBody>
      </p:sp>
      <p:sp>
        <p:nvSpPr>
          <p:cNvPr id="1159274" name="Text Box 106" descr="信纸"/>
          <p:cNvSpPr txBox="1">
            <a:spLocks noChangeArrowheads="1"/>
          </p:cNvSpPr>
          <p:nvPr/>
        </p:nvSpPr>
        <p:spPr bwMode="auto">
          <a:xfrm>
            <a:off x="3287688" y="4509120"/>
            <a:ext cx="5494038" cy="195580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C00000"/>
                </a:solidFill>
                <a:ea typeface="隶书" pitchFamily="49" charset="-122"/>
              </a:rPr>
              <a:t>例：</a:t>
            </a:r>
            <a:r>
              <a:rPr lang="en-US" altLang="zh-CN" dirty="0" err="1">
                <a:ea typeface="宋体" pitchFamily="2" charset="-122"/>
              </a:rPr>
              <a:t>int</a:t>
            </a:r>
            <a:r>
              <a:rPr lang="en-US" altLang="zh-CN" dirty="0">
                <a:ea typeface="宋体" pitchFamily="2" charset="-122"/>
              </a:rPr>
              <a:t> a[2][3];</a:t>
            </a:r>
          </a:p>
          <a:p>
            <a:pPr eaLnBrk="0" hangingPunct="0">
              <a:lnSpc>
                <a:spcPct val="100000"/>
              </a:lnSpc>
              <a:spcBef>
                <a:spcPct val="0"/>
              </a:spcBef>
            </a:pPr>
            <a:endParaRPr lang="en-US" altLang="zh-CN" dirty="0">
              <a:ea typeface="宋体" pitchFamily="2" charset="-122"/>
            </a:endParaRP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(*p)[3];   (</a:t>
            </a:r>
            <a:r>
              <a:rPr lang="en-US" altLang="zh-CN" dirty="0">
                <a:solidFill>
                  <a:srgbClr val="C00000"/>
                </a:solidFill>
                <a:ea typeface="宋体" pitchFamily="2" charset="-122"/>
                <a:sym typeface="Wingdings" pitchFamily="2" charset="2"/>
              </a:rPr>
              <a:t></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*p[3];      (</a:t>
            </a:r>
            <a:r>
              <a:rPr lang="en-US" altLang="zh-CN" dirty="0">
                <a:solidFill>
                  <a:srgbClr val="002060"/>
                </a:solidFill>
                <a:ea typeface="宋体" pitchFamily="2" charset="-122"/>
                <a:sym typeface="Symbol" pitchFamily="18" charset="2"/>
              </a:rPr>
              <a:t></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(*p)[2];   (</a:t>
            </a:r>
            <a:r>
              <a:rPr lang="en-US" altLang="zh-CN" dirty="0">
                <a:solidFill>
                  <a:srgbClr val="002060"/>
                </a:solidFill>
                <a:ea typeface="宋体" pitchFamily="2" charset="-122"/>
                <a:sym typeface="Symbol" pitchFamily="18" charset="2"/>
              </a:rPr>
              <a:t></a:t>
            </a:r>
            <a:r>
              <a:rPr lang="en-US" altLang="zh-CN" dirty="0">
                <a:ea typeface="宋体" pitchFamily="2" charset="-122"/>
              </a:rPr>
              <a:t>)</a:t>
            </a:r>
          </a:p>
        </p:txBody>
      </p:sp>
      <p:sp>
        <p:nvSpPr>
          <p:cNvPr id="1159278" name="Rectangle 110"/>
          <p:cNvSpPr>
            <a:spLocks noChangeArrowheads="1"/>
          </p:cNvSpPr>
          <p:nvPr/>
        </p:nvSpPr>
        <p:spPr bwMode="auto">
          <a:xfrm>
            <a:off x="335360" y="1385616"/>
            <a:ext cx="6418745" cy="461665"/>
          </a:xfrm>
          <a:prstGeom prst="rect">
            <a:avLst/>
          </a:prstGeom>
          <a:noFill/>
          <a:ln w="9525" algn="ctr">
            <a:noFill/>
            <a:miter lim="800000"/>
            <a:headEnd/>
            <a:tailEnd/>
          </a:ln>
          <a:effectLst/>
        </p:spPr>
        <p:txBody>
          <a:bodyPr wrap="none" anchor="ctr">
            <a:spAutoFit/>
          </a:bodyPr>
          <a:lstStyle/>
          <a:p>
            <a:pPr lvl="1">
              <a:lnSpc>
                <a:spcPct val="100000"/>
              </a:lnSpc>
              <a:spcBef>
                <a:spcPct val="0"/>
              </a:spcBef>
              <a:buClr>
                <a:srgbClr val="333333"/>
              </a:buClr>
              <a:tabLst>
                <a:tab pos="457200" algn="l"/>
              </a:tabLst>
            </a:pPr>
            <a:r>
              <a:rPr lang="en-US" altLang="zh-CN">
                <a:solidFill>
                  <a:srgbClr val="C00000"/>
                </a:solidFill>
                <a:latin typeface="+mn-lt"/>
                <a:ea typeface="楷体" pitchFamily="49" charset="-122"/>
              </a:rPr>
              <a:t>(2)  </a:t>
            </a:r>
            <a:r>
              <a:rPr lang="zh-CN" altLang="en-US">
                <a:solidFill>
                  <a:srgbClr val="C00000"/>
                </a:solidFill>
                <a:latin typeface="+mn-lt"/>
                <a:ea typeface="楷体" pitchFamily="49" charset="-122"/>
              </a:rPr>
              <a:t>通过二维数组的行指针来访问二维数组</a:t>
            </a:r>
          </a:p>
        </p:txBody>
      </p:sp>
      <p:sp>
        <p:nvSpPr>
          <p:cNvPr id="12" name="Rectangle 4">
            <a:extLst>
              <a:ext uri="{FF2B5EF4-FFF2-40B4-BE49-F238E27FC236}">
                <a16:creationId xmlns:a16="http://schemas.microsoft.com/office/drawing/2014/main" id="{3F7034A5-B689-48A1-84CF-9D4A9D7875C3}"/>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59170">
                                            <p:txEl>
                                              <p:pRg st="0" end="0"/>
                                            </p:txEl>
                                          </p:spTgt>
                                        </p:tgtEl>
                                        <p:attrNameLst>
                                          <p:attrName>style.visibility</p:attrName>
                                        </p:attrNameLst>
                                      </p:cBhvr>
                                      <p:to>
                                        <p:strVal val="visible"/>
                                      </p:to>
                                    </p:set>
                                    <p:anim calcmode="lin" valueType="num">
                                      <p:cBhvr additive="base">
                                        <p:cTn id="7" dur="500" fill="hold"/>
                                        <p:tgtEl>
                                          <p:spTgt spid="115917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5917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59278"/>
                                        </p:tgtEl>
                                        <p:attrNameLst>
                                          <p:attrName>style.visibility</p:attrName>
                                        </p:attrNameLst>
                                      </p:cBhvr>
                                      <p:to>
                                        <p:strVal val="visible"/>
                                      </p:to>
                                    </p:set>
                                    <p:animEffect transition="in" filter="box(in)">
                                      <p:cBhvr>
                                        <p:cTn id="13" dur="500"/>
                                        <p:tgtEl>
                                          <p:spTgt spid="1159278"/>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59174"/>
                                        </p:tgtEl>
                                        <p:attrNameLst>
                                          <p:attrName>style.visibility</p:attrName>
                                        </p:attrNameLst>
                                      </p:cBhvr>
                                      <p:to>
                                        <p:strVal val="visible"/>
                                      </p:to>
                                    </p:set>
                                    <p:animEffect transition="in" filter="box(out)">
                                      <p:cBhvr>
                                        <p:cTn id="18" dur="500"/>
                                        <p:tgtEl>
                                          <p:spTgt spid="1159174"/>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59271"/>
                                        </p:tgtEl>
                                        <p:attrNameLst>
                                          <p:attrName>style.visibility</p:attrName>
                                        </p:attrNameLst>
                                      </p:cBhvr>
                                      <p:to>
                                        <p:strVal val="visible"/>
                                      </p:to>
                                    </p:set>
                                    <p:animEffect transition="in" filter="box(out)">
                                      <p:cBhvr>
                                        <p:cTn id="23" dur="500"/>
                                        <p:tgtEl>
                                          <p:spTgt spid="1159271"/>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1159273"/>
                                        </p:tgtEl>
                                        <p:attrNameLst>
                                          <p:attrName>style.visibility</p:attrName>
                                        </p:attrNameLst>
                                      </p:cBhvr>
                                      <p:to>
                                        <p:strVal val="visible"/>
                                      </p:to>
                                    </p:set>
                                    <p:animEffect transition="in" filter="strips(downRight)">
                                      <p:cBhvr>
                                        <p:cTn id="28" dur="500"/>
                                        <p:tgtEl>
                                          <p:spTgt spid="1159273"/>
                                        </p:tgtEl>
                                      </p:cBhvr>
                                    </p:animEffect>
                                  </p:childTnLst>
                                  <p:subTnLst>
                                    <p:audio>
                                      <p:cMediaNode>
                                        <p:cTn display="0" masterRel="sameClick">
                                          <p:stCondLst>
                                            <p:cond evt="begin" delay="0">
                                              <p:tn val="26"/>
                                            </p:cond>
                                          </p:stCondLst>
                                          <p:endCondLst>
                                            <p:cond evt="onStopAudio" delay="0">
                                              <p:tgtEl>
                                                <p:sldTgt/>
                                              </p:tgtEl>
                                            </p:cond>
                                          </p:endCondLst>
                                        </p:cTn>
                                        <p:tgtEl>
                                          <p:sndTgt r:embed="rId3" name="laser.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1159272"/>
                                        </p:tgtEl>
                                        <p:attrNameLst>
                                          <p:attrName>style.visibility</p:attrName>
                                        </p:attrNameLst>
                                      </p:cBhvr>
                                      <p:to>
                                        <p:strVal val="visible"/>
                                      </p:to>
                                    </p:set>
                                    <p:animEffect transition="in" filter="strips(downRight)">
                                      <p:cBhvr>
                                        <p:cTn id="33" dur="500"/>
                                        <p:tgtEl>
                                          <p:spTgt spid="1159272"/>
                                        </p:tgtEl>
                                      </p:cBhvr>
                                    </p:animEffect>
                                  </p:childTnLst>
                                  <p:subTnLst>
                                    <p:audio>
                                      <p:cMediaNode>
                                        <p:cTn display="0" masterRel="sameClick">
                                          <p:stCondLst>
                                            <p:cond evt="begin" delay="0">
                                              <p:tn val="31"/>
                                            </p:cond>
                                          </p:stCondLst>
                                          <p:endCondLst>
                                            <p:cond evt="onStopAudio" delay="0">
                                              <p:tgtEl>
                                                <p:sldTgt/>
                                              </p:tgtEl>
                                            </p:cond>
                                          </p:endCondLst>
                                        </p:cTn>
                                        <p:tgtEl>
                                          <p:sndTgt r:embed="rId3" name="laser.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159274"/>
                                        </p:tgtEl>
                                        <p:attrNameLst>
                                          <p:attrName>style.visibility</p:attrName>
                                        </p:attrNameLst>
                                      </p:cBhvr>
                                      <p:to>
                                        <p:strVal val="visible"/>
                                      </p:to>
                                    </p:set>
                                    <p:animEffect transition="in" filter="box(out)">
                                      <p:cBhvr>
                                        <p:cTn id="38" dur="500"/>
                                        <p:tgtEl>
                                          <p:spTgt spid="1159274"/>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9170" grpId="0" build="p" bldLvl="5" autoUpdateAnimBg="0"/>
      <p:bldP spid="1159174" grpId="0"/>
      <p:bldP spid="1159271" grpId="0" animBg="1"/>
      <p:bldP spid="1159272" grpId="0" animBg="1"/>
      <p:bldP spid="1159273" grpId="0" animBg="1"/>
      <p:bldP spid="1159274" grpId="0" animBg="1" autoUpdateAnimBg="0"/>
      <p:bldP spid="115927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4290" name="Rectangle 2"/>
          <p:cNvSpPr>
            <a:spLocks noChangeArrowheads="1"/>
          </p:cNvSpPr>
          <p:nvPr/>
        </p:nvSpPr>
        <p:spPr bwMode="auto">
          <a:xfrm>
            <a:off x="601367" y="764001"/>
            <a:ext cx="8281987" cy="503237"/>
          </a:xfrm>
          <a:prstGeom prst="rect">
            <a:avLst/>
          </a:prstGeom>
          <a:noFill/>
          <a:ln w="9525">
            <a:noFill/>
            <a:miter lim="800000"/>
            <a:headEnd/>
            <a:tailEnd/>
          </a:ln>
          <a:effectLst/>
        </p:spPr>
        <p:txBody>
          <a:bodyPr/>
          <a:lstStyle/>
          <a:p>
            <a:pPr marL="342900" indent="-342900">
              <a:lnSpc>
                <a:spcPct val="100000"/>
              </a:lnSpc>
            </a:pPr>
            <a:r>
              <a:rPr lang="en-US" altLang="zh-CN" b="1" dirty="0">
                <a:solidFill>
                  <a:srgbClr val="CC0000"/>
                </a:solidFill>
                <a:latin typeface="楷体" panose="02010609060101010101" pitchFamily="49" charset="-122"/>
                <a:ea typeface="楷体" panose="02010609060101010101" pitchFamily="49" charset="-122"/>
                <a:sym typeface="Symbol" pitchFamily="18" charset="2"/>
              </a:rPr>
              <a:t>【</a:t>
            </a:r>
            <a:r>
              <a:rPr lang="zh-CN" altLang="en-US" b="1" dirty="0">
                <a:solidFill>
                  <a:srgbClr val="CC0000"/>
                </a:solidFill>
                <a:latin typeface="楷体" panose="02010609060101010101" pitchFamily="49" charset="-122"/>
                <a:ea typeface="楷体" panose="02010609060101010101" pitchFamily="49" charset="-122"/>
                <a:sym typeface="Symbol" pitchFamily="18" charset="2"/>
              </a:rPr>
              <a:t>例</a:t>
            </a:r>
            <a:r>
              <a:rPr lang="en-US" altLang="zh-CN" b="1" dirty="0">
                <a:solidFill>
                  <a:srgbClr val="CC0000"/>
                </a:solidFill>
                <a:latin typeface="楷体" panose="02010609060101010101" pitchFamily="49" charset="-122"/>
                <a:ea typeface="楷体" panose="02010609060101010101" pitchFamily="49" charset="-122"/>
                <a:sym typeface="Symbol" pitchFamily="18" charset="2"/>
              </a:rPr>
              <a:t>】</a:t>
            </a:r>
            <a:r>
              <a:rPr lang="zh-CN" altLang="en-US" b="1" dirty="0">
                <a:solidFill>
                  <a:srgbClr val="CC0000"/>
                </a:solidFill>
                <a:latin typeface="楷体" panose="02010609060101010101" pitchFamily="49" charset="-122"/>
                <a:ea typeface="楷体" panose="02010609060101010101" pitchFamily="49" charset="-122"/>
                <a:sym typeface="Symbol" pitchFamily="18" charset="2"/>
              </a:rPr>
              <a:t>利用指向二维数组的行指针变量对二维数组的引用。</a:t>
            </a:r>
          </a:p>
        </p:txBody>
      </p:sp>
      <p:sp>
        <p:nvSpPr>
          <p:cNvPr id="1164298" name="Text Box 10" descr="信纸"/>
          <p:cNvSpPr txBox="1">
            <a:spLocks noChangeArrowheads="1"/>
          </p:cNvSpPr>
          <p:nvPr/>
        </p:nvSpPr>
        <p:spPr bwMode="auto">
          <a:xfrm>
            <a:off x="1134442" y="1196752"/>
            <a:ext cx="5198367" cy="5632311"/>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dirty="0"/>
              <a:t>#include  &lt;</a:t>
            </a:r>
            <a:r>
              <a:rPr lang="en-US" altLang="zh-CN" sz="2000" dirty="0" err="1"/>
              <a:t>stdio.h</a:t>
            </a:r>
            <a:r>
              <a:rPr lang="en-US" altLang="zh-CN" sz="2000" dirty="0"/>
              <a:t>&gt;</a:t>
            </a:r>
          </a:p>
          <a:p>
            <a:pPr marL="457200" indent="-457200"/>
            <a:r>
              <a:rPr lang="en-US" altLang="zh-CN" sz="2000" dirty="0">
                <a:solidFill>
                  <a:srgbClr val="CC0000"/>
                </a:solidFill>
              </a:rPr>
              <a:t>void main ( )</a:t>
            </a:r>
          </a:p>
          <a:p>
            <a:pPr marL="457200" indent="-457200"/>
            <a:r>
              <a:rPr lang="en-US" altLang="zh-CN" sz="2000" dirty="0"/>
              <a:t>{</a:t>
            </a:r>
          </a:p>
          <a:p>
            <a:pPr marL="457200" indent="-457200"/>
            <a:r>
              <a:rPr lang="en-US" altLang="zh-CN" sz="2000" dirty="0"/>
              <a:t>  short </a:t>
            </a:r>
            <a:r>
              <a:rPr lang="en-US" altLang="zh-CN" sz="2000" dirty="0" err="1"/>
              <a:t>int</a:t>
            </a:r>
            <a:r>
              <a:rPr lang="en-US" altLang="zh-CN" sz="2000" dirty="0"/>
              <a:t> a[2][3] = {{1, 2, 3}, </a:t>
            </a:r>
          </a:p>
          <a:p>
            <a:pPr marL="457200" indent="-457200"/>
            <a:r>
              <a:rPr lang="en-US" altLang="zh-CN" sz="2000" dirty="0"/>
              <a:t>                                   {4, 5, 6}};</a:t>
            </a:r>
          </a:p>
          <a:p>
            <a:pPr marL="457200" indent="-457200"/>
            <a:r>
              <a:rPr lang="en-US" altLang="zh-CN" sz="2000" dirty="0"/>
              <a:t>  </a:t>
            </a:r>
            <a:r>
              <a:rPr lang="en-US" altLang="zh-CN" sz="2000" dirty="0">
                <a:solidFill>
                  <a:srgbClr val="C00000"/>
                </a:solidFill>
              </a:rPr>
              <a:t>short </a:t>
            </a:r>
            <a:r>
              <a:rPr lang="en-US" altLang="zh-CN" sz="2000" dirty="0" err="1">
                <a:solidFill>
                  <a:srgbClr val="C00000"/>
                </a:solidFill>
              </a:rPr>
              <a:t>int</a:t>
            </a:r>
            <a:r>
              <a:rPr lang="en-US" altLang="zh-CN" sz="2000" dirty="0">
                <a:solidFill>
                  <a:srgbClr val="C00000"/>
                </a:solidFill>
              </a:rPr>
              <a:t> (*p)[3];</a:t>
            </a:r>
          </a:p>
          <a:p>
            <a:pPr marL="457200" indent="-457200"/>
            <a:r>
              <a:rPr lang="en-US" altLang="zh-CN" sz="2000" dirty="0"/>
              <a:t>  short </a:t>
            </a:r>
            <a:r>
              <a:rPr lang="en-US" altLang="zh-CN" sz="2000" dirty="0" err="1"/>
              <a:t>int</a:t>
            </a:r>
            <a:r>
              <a:rPr lang="en-US" altLang="zh-CN" sz="2000" dirty="0"/>
              <a:t> </a:t>
            </a:r>
            <a:r>
              <a:rPr lang="en-US" altLang="zh-CN" sz="2000" dirty="0" err="1"/>
              <a:t>i</a:t>
            </a:r>
            <a:r>
              <a:rPr lang="en-US" altLang="zh-CN" sz="2000" dirty="0"/>
              <a:t>, j;</a:t>
            </a:r>
          </a:p>
          <a:p>
            <a:pPr marL="457200" indent="-457200"/>
            <a:r>
              <a:rPr lang="en-US" altLang="zh-CN" sz="2000" dirty="0">
                <a:solidFill>
                  <a:schemeClr val="accent1">
                    <a:lumMod val="50000"/>
                  </a:schemeClr>
                </a:solidFill>
              </a:rPr>
              <a:t>  p = a; </a:t>
            </a:r>
          </a:p>
          <a:p>
            <a:pPr marL="457200" indent="-457200"/>
            <a:r>
              <a:rPr lang="en-US" altLang="zh-CN" sz="2000" dirty="0"/>
              <a:t>  for (</a:t>
            </a:r>
            <a:r>
              <a:rPr lang="en-US" altLang="zh-CN" sz="2000" dirty="0" err="1"/>
              <a:t>i</a:t>
            </a:r>
            <a:r>
              <a:rPr lang="en-US" altLang="zh-CN" sz="2000" dirty="0"/>
              <a:t> = 0; </a:t>
            </a:r>
            <a:r>
              <a:rPr lang="en-US" altLang="zh-CN" sz="2000" dirty="0" err="1"/>
              <a:t>i</a:t>
            </a:r>
            <a:r>
              <a:rPr lang="en-US" altLang="zh-CN" sz="2000" dirty="0"/>
              <a:t> &lt; 2; </a:t>
            </a:r>
            <a:r>
              <a:rPr lang="en-US" altLang="zh-CN" sz="2000" dirty="0" err="1"/>
              <a:t>i</a:t>
            </a:r>
            <a:r>
              <a:rPr lang="en-US" altLang="zh-CN" sz="2000" dirty="0"/>
              <a:t>++)</a:t>
            </a:r>
          </a:p>
          <a:p>
            <a:pPr marL="457200" indent="-457200"/>
            <a:r>
              <a:rPr lang="en-US" altLang="zh-CN" sz="2000" dirty="0"/>
              <a:t>  {</a:t>
            </a:r>
          </a:p>
          <a:p>
            <a:pPr marL="457200" indent="-457200"/>
            <a:r>
              <a:rPr lang="en-US" altLang="zh-CN" sz="2000" dirty="0"/>
              <a:t>    for (j = 0; j &lt; 3; j++)</a:t>
            </a:r>
          </a:p>
          <a:p>
            <a:pPr marL="457200" indent="-457200"/>
            <a:r>
              <a:rPr lang="en-US" altLang="zh-CN" sz="2000" dirty="0"/>
              <a:t>       </a:t>
            </a:r>
            <a:r>
              <a:rPr lang="en-US" altLang="zh-CN" sz="2000" dirty="0" err="1"/>
              <a:t>printf</a:t>
            </a:r>
            <a:r>
              <a:rPr lang="en-US" altLang="zh-CN" sz="2000" dirty="0"/>
              <a:t> ("a[%d][%d] = %d ", </a:t>
            </a:r>
            <a:r>
              <a:rPr lang="en-US" altLang="zh-CN" sz="2000" dirty="0" err="1"/>
              <a:t>i</a:t>
            </a:r>
            <a:r>
              <a:rPr lang="en-US" altLang="zh-CN" sz="2000" dirty="0"/>
              <a:t>, j, p[</a:t>
            </a:r>
            <a:r>
              <a:rPr lang="en-US" altLang="zh-CN" sz="2000" dirty="0" err="1"/>
              <a:t>i</a:t>
            </a:r>
            <a:r>
              <a:rPr lang="en-US" altLang="zh-CN" sz="2000" dirty="0"/>
              <a:t>][j] );</a:t>
            </a:r>
          </a:p>
          <a:p>
            <a:pPr marL="457200" indent="-457200"/>
            <a:r>
              <a:rPr lang="en-US" altLang="zh-CN" sz="2000" dirty="0"/>
              <a:t>    </a:t>
            </a:r>
            <a:r>
              <a:rPr lang="en-US" altLang="zh-CN" sz="2000" dirty="0" err="1"/>
              <a:t>printf</a:t>
            </a:r>
            <a:r>
              <a:rPr lang="en-US" altLang="zh-CN" sz="2000" dirty="0"/>
              <a:t> ("\n"); </a:t>
            </a:r>
          </a:p>
          <a:p>
            <a:pPr marL="457200" indent="-457200"/>
            <a:r>
              <a:rPr lang="en-US" altLang="zh-CN" sz="2000" dirty="0"/>
              <a:t>  }  </a:t>
            </a:r>
          </a:p>
          <a:p>
            <a:pPr marL="457200" indent="-457200"/>
            <a:r>
              <a:rPr lang="en-US" altLang="zh-CN" sz="2000" dirty="0">
                <a:solidFill>
                  <a:schemeClr val="accent1">
                    <a:lumMod val="50000"/>
                  </a:schemeClr>
                </a:solidFill>
              </a:rPr>
              <a:t>  p++; </a:t>
            </a:r>
          </a:p>
          <a:p>
            <a:pPr marL="457200" indent="-457200"/>
            <a:r>
              <a:rPr lang="en-US" altLang="zh-CN" sz="2000" dirty="0"/>
              <a:t>  for (j = 0; j &lt; 3; j++) </a:t>
            </a:r>
          </a:p>
          <a:p>
            <a:pPr marL="457200" indent="-457200"/>
            <a:r>
              <a:rPr lang="en-US" altLang="zh-CN" sz="2000" dirty="0"/>
              <a:t>      </a:t>
            </a:r>
            <a:r>
              <a:rPr lang="en-US" altLang="zh-CN" sz="2000" dirty="0" err="1"/>
              <a:t>printf</a:t>
            </a:r>
            <a:r>
              <a:rPr lang="en-US" altLang="zh-CN" sz="2000" dirty="0"/>
              <a:t> ("%d  ", p[0][j]);</a:t>
            </a:r>
          </a:p>
          <a:p>
            <a:pPr marL="457200" indent="-457200"/>
            <a:r>
              <a:rPr lang="en-US" altLang="zh-CN" sz="2000" dirty="0"/>
              <a:t>}</a:t>
            </a:r>
          </a:p>
        </p:txBody>
      </p:sp>
      <p:grpSp>
        <p:nvGrpSpPr>
          <p:cNvPr id="1164299" name="Group 11"/>
          <p:cNvGrpSpPr>
            <a:grpSpLocks/>
          </p:cNvGrpSpPr>
          <p:nvPr/>
        </p:nvGrpSpPr>
        <p:grpSpPr bwMode="auto">
          <a:xfrm>
            <a:off x="6321673" y="1664112"/>
            <a:ext cx="2806700" cy="3771900"/>
            <a:chOff x="3532" y="1575"/>
            <a:chExt cx="1768" cy="2376"/>
          </a:xfrm>
        </p:grpSpPr>
        <p:grpSp>
          <p:nvGrpSpPr>
            <p:cNvPr id="1164300" name="Group 12"/>
            <p:cNvGrpSpPr>
              <a:grpSpLocks/>
            </p:cNvGrpSpPr>
            <p:nvPr/>
          </p:nvGrpSpPr>
          <p:grpSpPr bwMode="auto">
            <a:xfrm>
              <a:off x="4364" y="1575"/>
              <a:ext cx="936" cy="2376"/>
              <a:chOff x="4157" y="1008"/>
              <a:chExt cx="936" cy="2376"/>
            </a:xfrm>
          </p:grpSpPr>
          <p:grpSp>
            <p:nvGrpSpPr>
              <p:cNvPr id="1164301" name="Group 13"/>
              <p:cNvGrpSpPr>
                <a:grpSpLocks/>
              </p:cNvGrpSpPr>
              <p:nvPr/>
            </p:nvGrpSpPr>
            <p:grpSpPr bwMode="auto">
              <a:xfrm>
                <a:off x="4157" y="1008"/>
                <a:ext cx="936" cy="2376"/>
                <a:chOff x="4032" y="444"/>
                <a:chExt cx="936" cy="2376"/>
              </a:xfrm>
            </p:grpSpPr>
            <p:sp>
              <p:nvSpPr>
                <p:cNvPr id="1164302" name="AutoShape 14"/>
                <p:cNvSpPr>
                  <a:spLocks noChangeArrowheads="1"/>
                </p:cNvSpPr>
                <p:nvPr/>
              </p:nvSpPr>
              <p:spPr bwMode="auto">
                <a:xfrm>
                  <a:off x="4032" y="444"/>
                  <a:ext cx="936" cy="2376"/>
                </a:xfrm>
                <a:prstGeom prst="foldedCorner">
                  <a:avLst>
                    <a:gd name="adj" fmla="val 13745"/>
                  </a:avLst>
                </a:prstGeom>
                <a:solidFill>
                  <a:srgbClr val="DDFAED"/>
                </a:solidFill>
                <a:ln w="38100">
                  <a:solidFill>
                    <a:schemeClr val="tx1"/>
                  </a:solidFill>
                  <a:round/>
                  <a:headEnd type="none" w="lg" len="lg"/>
                  <a:tailEnd/>
                </a:ln>
                <a:effectLst>
                  <a:outerShdw dist="107763" dir="2700000" algn="ctr" rotWithShape="0">
                    <a:schemeClr val="bg2">
                      <a:alpha val="50000"/>
                    </a:schemeClr>
                  </a:outerShdw>
                </a:effectLst>
              </p:spPr>
              <p:txBody>
                <a:bodyPr wrap="none" lIns="90000" tIns="46800" rIns="90000" bIns="46800" anchor="ctr"/>
                <a:lstStyle/>
                <a:p>
                  <a:pPr algn="ctr">
                    <a:lnSpc>
                      <a:spcPct val="100000"/>
                    </a:lnSpc>
                    <a:spcBef>
                      <a:spcPct val="0"/>
                    </a:spcBef>
                  </a:pPr>
                  <a:endParaRPr lang="zh-CN" altLang="zh-CN" b="0">
                    <a:solidFill>
                      <a:srgbClr val="0000FF"/>
                    </a:solidFill>
                    <a:ea typeface="隶书" pitchFamily="49" charset="-122"/>
                  </a:endParaRPr>
                </a:p>
              </p:txBody>
            </p:sp>
            <p:sp>
              <p:nvSpPr>
                <p:cNvPr id="1164303" name="Line 15"/>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04" name="Line 16"/>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05" name="Line 17"/>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06" name="Line 18"/>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07" name="Line 19"/>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08" name="Line 20"/>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09" name="Line 21"/>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10" name="Line 22"/>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11" name="Line 23"/>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grpSp>
          <p:grpSp>
            <p:nvGrpSpPr>
              <p:cNvPr id="1164312" name="Group 24"/>
              <p:cNvGrpSpPr>
                <a:grpSpLocks/>
              </p:cNvGrpSpPr>
              <p:nvPr/>
            </p:nvGrpSpPr>
            <p:grpSpPr bwMode="auto">
              <a:xfrm>
                <a:off x="4157" y="1428"/>
                <a:ext cx="60" cy="1368"/>
                <a:chOff x="4032" y="864"/>
                <a:chExt cx="60" cy="1368"/>
              </a:xfrm>
            </p:grpSpPr>
            <p:sp>
              <p:nvSpPr>
                <p:cNvPr id="1164313" name="Line 25"/>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14" name="Line 26"/>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15" name="Line 27"/>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16" name="Line 28"/>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17" name="Line 29"/>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18" name="Line 30"/>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64319" name="Line 31"/>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64320" name="Group 32"/>
              <p:cNvGrpSpPr>
                <a:grpSpLocks/>
              </p:cNvGrpSpPr>
              <p:nvPr/>
            </p:nvGrpSpPr>
            <p:grpSpPr bwMode="auto">
              <a:xfrm>
                <a:off x="5021" y="1440"/>
                <a:ext cx="60" cy="1368"/>
                <a:chOff x="4032" y="864"/>
                <a:chExt cx="60" cy="1368"/>
              </a:xfrm>
            </p:grpSpPr>
            <p:sp>
              <p:nvSpPr>
                <p:cNvPr id="1164321" name="Line 33"/>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22" name="Line 34"/>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23" name="Line 35"/>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24" name="Line 36"/>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25" name="Line 37"/>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26" name="Line 38"/>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64327" name="Line 39"/>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grpSp>
          <p:nvGrpSpPr>
            <p:cNvPr id="1164328" name="Group 40"/>
            <p:cNvGrpSpPr>
              <a:grpSpLocks/>
            </p:cNvGrpSpPr>
            <p:nvPr/>
          </p:nvGrpSpPr>
          <p:grpSpPr bwMode="auto">
            <a:xfrm>
              <a:off x="3801" y="1868"/>
              <a:ext cx="733" cy="1397"/>
              <a:chOff x="3819" y="1868"/>
              <a:chExt cx="733" cy="1397"/>
            </a:xfrm>
          </p:grpSpPr>
          <p:sp>
            <p:nvSpPr>
              <p:cNvPr id="1164329" name="Text Box 41"/>
              <p:cNvSpPr txBox="1">
                <a:spLocks noChangeArrowheads="1"/>
              </p:cNvSpPr>
              <p:nvPr/>
            </p:nvSpPr>
            <p:spPr bwMode="auto">
              <a:xfrm>
                <a:off x="3966" y="1868"/>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a typeface="隶书" pitchFamily="49" charset="-122"/>
                  </a:rPr>
                  <a:t>2000</a:t>
                </a:r>
              </a:p>
            </p:txBody>
          </p:sp>
          <p:sp>
            <p:nvSpPr>
              <p:cNvPr id="1164330" name="Text Box 42"/>
              <p:cNvSpPr txBox="1">
                <a:spLocks noChangeArrowheads="1"/>
              </p:cNvSpPr>
              <p:nvPr/>
            </p:nvSpPr>
            <p:spPr bwMode="auto">
              <a:xfrm>
                <a:off x="3966" y="2094"/>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a typeface="隶书" pitchFamily="49" charset="-122"/>
                  </a:rPr>
                  <a:t>2002</a:t>
                </a:r>
              </a:p>
            </p:txBody>
          </p:sp>
          <p:sp>
            <p:nvSpPr>
              <p:cNvPr id="1164331" name="Text Box 43"/>
              <p:cNvSpPr txBox="1">
                <a:spLocks noChangeArrowheads="1"/>
              </p:cNvSpPr>
              <p:nvPr/>
            </p:nvSpPr>
            <p:spPr bwMode="auto">
              <a:xfrm>
                <a:off x="3966" y="2320"/>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a typeface="隶书" pitchFamily="49" charset="-122"/>
                  </a:rPr>
                  <a:t>2004</a:t>
                </a:r>
              </a:p>
            </p:txBody>
          </p:sp>
          <p:sp>
            <p:nvSpPr>
              <p:cNvPr id="1164332" name="Text Box 44"/>
              <p:cNvSpPr txBox="1">
                <a:spLocks noChangeArrowheads="1"/>
              </p:cNvSpPr>
              <p:nvPr/>
            </p:nvSpPr>
            <p:spPr bwMode="auto">
              <a:xfrm>
                <a:off x="3966" y="2546"/>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a typeface="隶书" pitchFamily="49" charset="-122"/>
                  </a:rPr>
                  <a:t>2006</a:t>
                </a:r>
              </a:p>
            </p:txBody>
          </p:sp>
          <p:sp>
            <p:nvSpPr>
              <p:cNvPr id="1164333" name="Text Box 45"/>
              <p:cNvSpPr txBox="1">
                <a:spLocks noChangeArrowheads="1"/>
              </p:cNvSpPr>
              <p:nvPr/>
            </p:nvSpPr>
            <p:spPr bwMode="auto">
              <a:xfrm>
                <a:off x="3819" y="2768"/>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a typeface="隶书" pitchFamily="49" charset="-122"/>
                  </a:rPr>
                  <a:t>2008</a:t>
                </a:r>
              </a:p>
            </p:txBody>
          </p:sp>
          <p:sp>
            <p:nvSpPr>
              <p:cNvPr id="1164334" name="Text Box 46"/>
              <p:cNvSpPr txBox="1">
                <a:spLocks noChangeArrowheads="1"/>
              </p:cNvSpPr>
              <p:nvPr/>
            </p:nvSpPr>
            <p:spPr bwMode="auto">
              <a:xfrm>
                <a:off x="3820" y="3012"/>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a typeface="隶书" pitchFamily="49" charset="-122"/>
                  </a:rPr>
                  <a:t>2010</a:t>
                </a:r>
              </a:p>
            </p:txBody>
          </p:sp>
        </p:grpSp>
        <p:grpSp>
          <p:nvGrpSpPr>
            <p:cNvPr id="1164335" name="Group 47"/>
            <p:cNvGrpSpPr>
              <a:grpSpLocks/>
            </p:cNvGrpSpPr>
            <p:nvPr/>
          </p:nvGrpSpPr>
          <p:grpSpPr bwMode="auto">
            <a:xfrm>
              <a:off x="3532" y="1960"/>
              <a:ext cx="437" cy="545"/>
              <a:chOff x="3532" y="1960"/>
              <a:chExt cx="437" cy="545"/>
            </a:xfrm>
          </p:grpSpPr>
          <p:sp>
            <p:nvSpPr>
              <p:cNvPr id="1164336" name="AutoShape 48"/>
              <p:cNvSpPr>
                <a:spLocks/>
              </p:cNvSpPr>
              <p:nvPr/>
            </p:nvSpPr>
            <p:spPr bwMode="auto">
              <a:xfrm>
                <a:off x="3878" y="1960"/>
                <a:ext cx="91" cy="545"/>
              </a:xfrm>
              <a:prstGeom prst="leftBrace">
                <a:avLst>
                  <a:gd name="adj1" fmla="val 49908"/>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64337" name="Text Box 49"/>
              <p:cNvSpPr txBox="1">
                <a:spLocks noChangeArrowheads="1"/>
              </p:cNvSpPr>
              <p:nvPr/>
            </p:nvSpPr>
            <p:spPr bwMode="auto">
              <a:xfrm>
                <a:off x="3532" y="2079"/>
                <a:ext cx="409"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CC0000"/>
                    </a:solidFill>
                    <a:ea typeface="宋体" pitchFamily="2" charset="-122"/>
                  </a:rPr>
                  <a:t>a[0]</a:t>
                </a:r>
              </a:p>
            </p:txBody>
          </p:sp>
        </p:grpSp>
        <p:grpSp>
          <p:nvGrpSpPr>
            <p:cNvPr id="1164338" name="Group 50"/>
            <p:cNvGrpSpPr>
              <a:grpSpLocks/>
            </p:cNvGrpSpPr>
            <p:nvPr/>
          </p:nvGrpSpPr>
          <p:grpSpPr bwMode="auto">
            <a:xfrm>
              <a:off x="3533" y="2636"/>
              <a:ext cx="437" cy="545"/>
              <a:chOff x="3532" y="1960"/>
              <a:chExt cx="437" cy="545"/>
            </a:xfrm>
          </p:grpSpPr>
          <p:sp>
            <p:nvSpPr>
              <p:cNvPr id="1164339" name="AutoShape 51"/>
              <p:cNvSpPr>
                <a:spLocks/>
              </p:cNvSpPr>
              <p:nvPr/>
            </p:nvSpPr>
            <p:spPr bwMode="auto">
              <a:xfrm>
                <a:off x="3878" y="1960"/>
                <a:ext cx="91" cy="545"/>
              </a:xfrm>
              <a:prstGeom prst="leftBrace">
                <a:avLst>
                  <a:gd name="adj1" fmla="val 49908"/>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64340" name="Text Box 52"/>
              <p:cNvSpPr txBox="1">
                <a:spLocks noChangeArrowheads="1"/>
              </p:cNvSpPr>
              <p:nvPr/>
            </p:nvSpPr>
            <p:spPr bwMode="auto">
              <a:xfrm>
                <a:off x="3532" y="2079"/>
                <a:ext cx="409"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339933"/>
                    </a:solidFill>
                    <a:ea typeface="宋体" pitchFamily="2" charset="-122"/>
                  </a:rPr>
                  <a:t>a[1]</a:t>
                </a:r>
              </a:p>
            </p:txBody>
          </p:sp>
        </p:grpSp>
        <p:sp>
          <p:nvSpPr>
            <p:cNvPr id="1164341" name="Text Box 53"/>
            <p:cNvSpPr txBox="1">
              <a:spLocks noChangeArrowheads="1"/>
            </p:cNvSpPr>
            <p:nvPr/>
          </p:nvSpPr>
          <p:spPr bwMode="auto">
            <a:xfrm>
              <a:off x="4603" y="1598"/>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rgbClr val="C00000"/>
                  </a:solidFill>
                  <a:ea typeface="宋体" pitchFamily="2" charset="-122"/>
                </a:rPr>
                <a:t>p  2000</a:t>
              </a:r>
            </a:p>
          </p:txBody>
        </p:sp>
        <p:grpSp>
          <p:nvGrpSpPr>
            <p:cNvPr id="1164342" name="Group 54"/>
            <p:cNvGrpSpPr>
              <a:grpSpLocks/>
            </p:cNvGrpSpPr>
            <p:nvPr/>
          </p:nvGrpSpPr>
          <p:grpSpPr bwMode="auto">
            <a:xfrm>
              <a:off x="4404" y="1842"/>
              <a:ext cx="824" cy="1403"/>
              <a:chOff x="4559" y="1851"/>
              <a:chExt cx="708" cy="1403"/>
            </a:xfrm>
          </p:grpSpPr>
          <p:sp>
            <p:nvSpPr>
              <p:cNvPr id="1164343" name="Text Box 55"/>
              <p:cNvSpPr txBox="1">
                <a:spLocks noChangeArrowheads="1"/>
              </p:cNvSpPr>
              <p:nvPr/>
            </p:nvSpPr>
            <p:spPr bwMode="auto">
              <a:xfrm>
                <a:off x="4559" y="1851"/>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rgbClr val="CC0000"/>
                    </a:solidFill>
                    <a:ea typeface="宋体" pitchFamily="2" charset="-122"/>
                  </a:rPr>
                  <a:t>a[0]</a:t>
                </a:r>
                <a:r>
                  <a:rPr lang="en-US" altLang="zh-CN" sz="2000" dirty="0">
                    <a:solidFill>
                      <a:schemeClr val="accent2">
                        <a:lumMod val="50000"/>
                      </a:schemeClr>
                    </a:solidFill>
                    <a:ea typeface="宋体" pitchFamily="2" charset="-122"/>
                  </a:rPr>
                  <a:t>[0]  </a:t>
                </a:r>
                <a:r>
                  <a:rPr lang="en-US" altLang="zh-CN" sz="2000" dirty="0">
                    <a:solidFill>
                      <a:srgbClr val="C00000"/>
                    </a:solidFill>
                    <a:ea typeface="宋体" pitchFamily="2" charset="-122"/>
                  </a:rPr>
                  <a:t>1</a:t>
                </a:r>
              </a:p>
            </p:txBody>
          </p:sp>
          <p:sp>
            <p:nvSpPr>
              <p:cNvPr id="1164344" name="Text Box 56"/>
              <p:cNvSpPr txBox="1">
                <a:spLocks noChangeArrowheads="1"/>
              </p:cNvSpPr>
              <p:nvPr/>
            </p:nvSpPr>
            <p:spPr bwMode="auto">
              <a:xfrm>
                <a:off x="4569" y="2086"/>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rgbClr val="CC0000"/>
                    </a:solidFill>
                    <a:ea typeface="宋体" pitchFamily="2" charset="-122"/>
                  </a:rPr>
                  <a:t>a[0]</a:t>
                </a:r>
                <a:r>
                  <a:rPr lang="en-US" altLang="zh-CN" sz="2000" dirty="0">
                    <a:solidFill>
                      <a:schemeClr val="accent2">
                        <a:lumMod val="50000"/>
                      </a:schemeClr>
                    </a:solidFill>
                    <a:ea typeface="宋体" pitchFamily="2" charset="-122"/>
                  </a:rPr>
                  <a:t>[1]  </a:t>
                </a:r>
                <a:r>
                  <a:rPr lang="en-US" altLang="zh-CN" sz="2000" dirty="0">
                    <a:solidFill>
                      <a:srgbClr val="C00000"/>
                    </a:solidFill>
                    <a:ea typeface="宋体" pitchFamily="2" charset="-122"/>
                  </a:rPr>
                  <a:t>2</a:t>
                </a:r>
              </a:p>
            </p:txBody>
          </p:sp>
          <p:sp>
            <p:nvSpPr>
              <p:cNvPr id="1164345" name="Text Box 57"/>
              <p:cNvSpPr txBox="1">
                <a:spLocks noChangeArrowheads="1"/>
              </p:cNvSpPr>
              <p:nvPr/>
            </p:nvSpPr>
            <p:spPr bwMode="auto">
              <a:xfrm>
                <a:off x="4578" y="2302"/>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rgbClr val="CC0000"/>
                    </a:solidFill>
                    <a:ea typeface="宋体" pitchFamily="2" charset="-122"/>
                  </a:rPr>
                  <a:t>a[0]</a:t>
                </a:r>
                <a:r>
                  <a:rPr lang="en-US" altLang="zh-CN" sz="2000" dirty="0">
                    <a:solidFill>
                      <a:schemeClr val="accent2">
                        <a:lumMod val="50000"/>
                      </a:schemeClr>
                    </a:solidFill>
                    <a:ea typeface="宋体" pitchFamily="2" charset="-122"/>
                  </a:rPr>
                  <a:t>[2]  </a:t>
                </a:r>
                <a:r>
                  <a:rPr lang="en-US" altLang="zh-CN" sz="2000" dirty="0">
                    <a:solidFill>
                      <a:srgbClr val="C00000"/>
                    </a:solidFill>
                    <a:ea typeface="宋体" pitchFamily="2" charset="-122"/>
                  </a:rPr>
                  <a:t>3</a:t>
                </a:r>
              </a:p>
            </p:txBody>
          </p:sp>
          <p:sp>
            <p:nvSpPr>
              <p:cNvPr id="1164346" name="Text Box 58"/>
              <p:cNvSpPr txBox="1">
                <a:spLocks noChangeArrowheads="1"/>
              </p:cNvSpPr>
              <p:nvPr/>
            </p:nvSpPr>
            <p:spPr bwMode="auto">
              <a:xfrm>
                <a:off x="4587" y="2536"/>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rgbClr val="339933"/>
                    </a:solidFill>
                    <a:ea typeface="宋体" pitchFamily="2" charset="-122"/>
                  </a:rPr>
                  <a:t>a[1]</a:t>
                </a:r>
                <a:r>
                  <a:rPr lang="en-US" altLang="zh-CN" sz="2000" dirty="0">
                    <a:solidFill>
                      <a:schemeClr val="accent2">
                        <a:lumMod val="50000"/>
                      </a:schemeClr>
                    </a:solidFill>
                    <a:ea typeface="宋体" pitchFamily="2" charset="-122"/>
                  </a:rPr>
                  <a:t>[0]  </a:t>
                </a:r>
                <a:r>
                  <a:rPr lang="en-US" altLang="zh-CN" sz="2000" dirty="0">
                    <a:solidFill>
                      <a:srgbClr val="C00000"/>
                    </a:solidFill>
                    <a:ea typeface="宋体" pitchFamily="2" charset="-122"/>
                  </a:rPr>
                  <a:t>4</a:t>
                </a:r>
              </a:p>
            </p:txBody>
          </p:sp>
          <p:sp>
            <p:nvSpPr>
              <p:cNvPr id="1164347" name="Text Box 59"/>
              <p:cNvSpPr txBox="1">
                <a:spLocks noChangeArrowheads="1"/>
              </p:cNvSpPr>
              <p:nvPr/>
            </p:nvSpPr>
            <p:spPr bwMode="auto">
              <a:xfrm>
                <a:off x="4587" y="2761"/>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rgbClr val="339933"/>
                    </a:solidFill>
                    <a:ea typeface="宋体" pitchFamily="2" charset="-122"/>
                  </a:rPr>
                  <a:t>a[1]</a:t>
                </a:r>
                <a:r>
                  <a:rPr lang="en-US" altLang="zh-CN" sz="2000" dirty="0">
                    <a:solidFill>
                      <a:schemeClr val="accent2">
                        <a:lumMod val="50000"/>
                      </a:schemeClr>
                    </a:solidFill>
                    <a:ea typeface="宋体" pitchFamily="2" charset="-122"/>
                  </a:rPr>
                  <a:t>[1]  </a:t>
                </a:r>
                <a:r>
                  <a:rPr lang="en-US" altLang="zh-CN" sz="2000" dirty="0">
                    <a:solidFill>
                      <a:srgbClr val="C00000"/>
                    </a:solidFill>
                    <a:ea typeface="宋体" pitchFamily="2" charset="-122"/>
                  </a:rPr>
                  <a:t>5</a:t>
                </a:r>
              </a:p>
            </p:txBody>
          </p:sp>
          <p:sp>
            <p:nvSpPr>
              <p:cNvPr id="1164348" name="Text Box 60"/>
              <p:cNvSpPr txBox="1">
                <a:spLocks noChangeArrowheads="1"/>
              </p:cNvSpPr>
              <p:nvPr/>
            </p:nvSpPr>
            <p:spPr bwMode="auto">
              <a:xfrm>
                <a:off x="4587" y="3004"/>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rgbClr val="339933"/>
                    </a:solidFill>
                    <a:ea typeface="宋体" pitchFamily="2" charset="-122"/>
                  </a:rPr>
                  <a:t>a[1]</a:t>
                </a:r>
                <a:r>
                  <a:rPr lang="en-US" altLang="zh-CN" sz="2000" dirty="0">
                    <a:solidFill>
                      <a:schemeClr val="accent2">
                        <a:lumMod val="50000"/>
                      </a:schemeClr>
                    </a:solidFill>
                    <a:ea typeface="宋体" pitchFamily="2" charset="-122"/>
                  </a:rPr>
                  <a:t>[2]  </a:t>
                </a:r>
                <a:r>
                  <a:rPr lang="en-US" altLang="zh-CN" sz="2000" dirty="0">
                    <a:solidFill>
                      <a:srgbClr val="C00000"/>
                    </a:solidFill>
                    <a:ea typeface="宋体" pitchFamily="2" charset="-122"/>
                  </a:rPr>
                  <a:t>6</a:t>
                </a:r>
              </a:p>
            </p:txBody>
          </p:sp>
        </p:grpSp>
      </p:grpSp>
      <p:grpSp>
        <p:nvGrpSpPr>
          <p:cNvPr id="1164355" name="Group 67"/>
          <p:cNvGrpSpPr>
            <a:grpSpLocks/>
          </p:cNvGrpSpPr>
          <p:nvPr/>
        </p:nvGrpSpPr>
        <p:grpSpPr bwMode="auto">
          <a:xfrm>
            <a:off x="9561760" y="2729326"/>
            <a:ext cx="1238250" cy="874712"/>
            <a:chOff x="4822" y="1933"/>
            <a:chExt cx="780" cy="551"/>
          </a:xfrm>
          <a:solidFill>
            <a:srgbClr val="DDFAED"/>
          </a:solidFill>
        </p:grpSpPr>
        <p:grpSp>
          <p:nvGrpSpPr>
            <p:cNvPr id="1164352" name="Group 64"/>
            <p:cNvGrpSpPr>
              <a:grpSpLocks/>
            </p:cNvGrpSpPr>
            <p:nvPr/>
          </p:nvGrpSpPr>
          <p:grpSpPr bwMode="auto">
            <a:xfrm>
              <a:off x="4830" y="1933"/>
              <a:ext cx="772" cy="545"/>
              <a:chOff x="4830" y="1933"/>
              <a:chExt cx="590" cy="545"/>
            </a:xfrm>
            <a:grpFill/>
          </p:grpSpPr>
          <p:sp>
            <p:nvSpPr>
              <p:cNvPr id="1164349" name="Rectangle 61"/>
              <p:cNvSpPr>
                <a:spLocks noChangeArrowheads="1"/>
              </p:cNvSpPr>
              <p:nvPr/>
            </p:nvSpPr>
            <p:spPr bwMode="auto">
              <a:xfrm>
                <a:off x="4830" y="1933"/>
                <a:ext cx="590" cy="545"/>
              </a:xfrm>
              <a:prstGeom prst="rect">
                <a:avLst/>
              </a:prstGeom>
              <a:grpFill/>
              <a:ln w="28575" algn="ctr">
                <a:solidFill>
                  <a:schemeClr val="tx1"/>
                </a:solidFill>
                <a:prstDash val="sysDot"/>
                <a:miter lim="800000"/>
                <a:headEnd/>
                <a:tailEnd/>
              </a:ln>
              <a:effectLst/>
            </p:spPr>
            <p:txBody>
              <a:bodyPr wrap="none" anchor="ctr"/>
              <a:lstStyle/>
              <a:p>
                <a:endParaRPr lang="zh-CN" altLang="en-US"/>
              </a:p>
            </p:txBody>
          </p:sp>
          <p:sp>
            <p:nvSpPr>
              <p:cNvPr id="1164350" name="Line 62"/>
              <p:cNvSpPr>
                <a:spLocks noChangeShapeType="1"/>
              </p:cNvSpPr>
              <p:nvPr/>
            </p:nvSpPr>
            <p:spPr bwMode="auto">
              <a:xfrm>
                <a:off x="4830" y="2187"/>
                <a:ext cx="590" cy="0"/>
              </a:xfrm>
              <a:prstGeom prst="line">
                <a:avLst/>
              </a:prstGeom>
              <a:grpFill/>
              <a:ln w="28575">
                <a:solidFill>
                  <a:schemeClr val="tx1"/>
                </a:solidFill>
                <a:prstDash val="sysDot"/>
                <a:round/>
                <a:headEnd/>
                <a:tailEnd/>
              </a:ln>
              <a:effectLst/>
            </p:spPr>
            <p:txBody>
              <a:bodyPr/>
              <a:lstStyle/>
              <a:p>
                <a:endParaRPr lang="zh-CN" altLang="en-US"/>
              </a:p>
            </p:txBody>
          </p:sp>
        </p:grpSp>
        <p:grpSp>
          <p:nvGrpSpPr>
            <p:cNvPr id="1164354" name="Group 66"/>
            <p:cNvGrpSpPr>
              <a:grpSpLocks/>
            </p:cNvGrpSpPr>
            <p:nvPr/>
          </p:nvGrpSpPr>
          <p:grpSpPr bwMode="auto">
            <a:xfrm>
              <a:off x="4822" y="1961"/>
              <a:ext cx="779" cy="523"/>
              <a:chOff x="4831" y="1952"/>
              <a:chExt cx="779" cy="523"/>
            </a:xfrm>
            <a:grpFill/>
          </p:grpSpPr>
          <p:sp>
            <p:nvSpPr>
              <p:cNvPr id="1164351" name="Text Box 63"/>
              <p:cNvSpPr txBox="1">
                <a:spLocks noChangeArrowheads="1"/>
              </p:cNvSpPr>
              <p:nvPr/>
            </p:nvSpPr>
            <p:spPr bwMode="auto">
              <a:xfrm>
                <a:off x="4839" y="1952"/>
                <a:ext cx="771"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a:solidFill>
                      <a:srgbClr val="C00000"/>
                    </a:solidFill>
                  </a:rPr>
                  <a:t>a[0](2000)</a:t>
                </a:r>
              </a:p>
            </p:txBody>
          </p:sp>
          <p:sp>
            <p:nvSpPr>
              <p:cNvPr id="1164353" name="Text Box 65"/>
              <p:cNvSpPr txBox="1">
                <a:spLocks noChangeArrowheads="1"/>
              </p:cNvSpPr>
              <p:nvPr/>
            </p:nvSpPr>
            <p:spPr bwMode="auto">
              <a:xfrm>
                <a:off x="4831" y="2223"/>
                <a:ext cx="771"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a:solidFill>
                      <a:srgbClr val="339933"/>
                    </a:solidFill>
                  </a:rPr>
                  <a:t>a[1]</a:t>
                </a:r>
                <a:r>
                  <a:rPr lang="en-US" altLang="zh-CN" sz="2000" dirty="0"/>
                  <a:t>(</a:t>
                </a:r>
                <a:r>
                  <a:rPr lang="en-US" altLang="zh-CN" sz="2000" dirty="0">
                    <a:solidFill>
                      <a:srgbClr val="C00000"/>
                    </a:solidFill>
                  </a:rPr>
                  <a:t>2006</a:t>
                </a:r>
                <a:r>
                  <a:rPr lang="en-US" altLang="zh-CN" sz="2000" dirty="0"/>
                  <a:t>)</a:t>
                </a:r>
              </a:p>
            </p:txBody>
          </p:sp>
        </p:grpSp>
      </p:grpSp>
      <p:grpSp>
        <p:nvGrpSpPr>
          <p:cNvPr id="1164363" name="Group 75"/>
          <p:cNvGrpSpPr>
            <a:grpSpLocks/>
          </p:cNvGrpSpPr>
          <p:nvPr/>
        </p:nvGrpSpPr>
        <p:grpSpPr bwMode="auto">
          <a:xfrm>
            <a:off x="9114086" y="2240376"/>
            <a:ext cx="576263" cy="719137"/>
            <a:chOff x="4468" y="1616"/>
            <a:chExt cx="363" cy="453"/>
          </a:xfrm>
        </p:grpSpPr>
        <p:sp>
          <p:nvSpPr>
            <p:cNvPr id="1164360" name="Line 72"/>
            <p:cNvSpPr>
              <a:spLocks noChangeShapeType="1"/>
            </p:cNvSpPr>
            <p:nvPr/>
          </p:nvSpPr>
          <p:spPr bwMode="auto">
            <a:xfrm flipH="1">
              <a:off x="4468" y="1616"/>
              <a:ext cx="136" cy="0"/>
            </a:xfrm>
            <a:prstGeom prst="line">
              <a:avLst/>
            </a:prstGeom>
            <a:noFill/>
            <a:ln w="28575">
              <a:solidFill>
                <a:srgbClr val="002060"/>
              </a:solidFill>
              <a:round/>
              <a:headEnd/>
              <a:tailEnd type="stealth" w="lg" len="lg"/>
            </a:ln>
            <a:effectLst/>
          </p:spPr>
          <p:txBody>
            <a:bodyPr/>
            <a:lstStyle/>
            <a:p>
              <a:endParaRPr lang="zh-CN" altLang="en-US"/>
            </a:p>
          </p:txBody>
        </p:sp>
        <p:sp>
          <p:nvSpPr>
            <p:cNvPr id="1164361" name="Line 73"/>
            <p:cNvSpPr>
              <a:spLocks noChangeShapeType="1"/>
            </p:cNvSpPr>
            <p:nvPr/>
          </p:nvSpPr>
          <p:spPr bwMode="auto">
            <a:xfrm>
              <a:off x="4604" y="1616"/>
              <a:ext cx="0" cy="453"/>
            </a:xfrm>
            <a:prstGeom prst="line">
              <a:avLst/>
            </a:prstGeom>
            <a:noFill/>
            <a:ln w="28575">
              <a:solidFill>
                <a:srgbClr val="002060"/>
              </a:solidFill>
              <a:round/>
              <a:headEnd/>
              <a:tailEnd/>
            </a:ln>
            <a:effectLst/>
          </p:spPr>
          <p:txBody>
            <a:bodyPr/>
            <a:lstStyle/>
            <a:p>
              <a:endParaRPr lang="zh-CN" altLang="en-US"/>
            </a:p>
          </p:txBody>
        </p:sp>
        <p:sp>
          <p:nvSpPr>
            <p:cNvPr id="1164362" name="Line 74"/>
            <p:cNvSpPr>
              <a:spLocks noChangeShapeType="1"/>
            </p:cNvSpPr>
            <p:nvPr/>
          </p:nvSpPr>
          <p:spPr bwMode="auto">
            <a:xfrm>
              <a:off x="4604" y="2069"/>
              <a:ext cx="227" cy="0"/>
            </a:xfrm>
            <a:prstGeom prst="line">
              <a:avLst/>
            </a:prstGeom>
            <a:noFill/>
            <a:ln w="28575">
              <a:solidFill>
                <a:srgbClr val="002060"/>
              </a:solidFill>
              <a:round/>
              <a:headEnd/>
              <a:tailEnd/>
            </a:ln>
            <a:effectLst/>
          </p:spPr>
          <p:txBody>
            <a:bodyPr/>
            <a:lstStyle/>
            <a:p>
              <a:endParaRPr lang="zh-CN" altLang="en-US"/>
            </a:p>
          </p:txBody>
        </p:sp>
      </p:grpSp>
      <p:sp>
        <p:nvSpPr>
          <p:cNvPr id="1164364" name="Line 76"/>
          <p:cNvSpPr>
            <a:spLocks noChangeShapeType="1"/>
          </p:cNvSpPr>
          <p:nvPr/>
        </p:nvSpPr>
        <p:spPr bwMode="auto">
          <a:xfrm flipH="1">
            <a:off x="9128374" y="3319875"/>
            <a:ext cx="503237" cy="0"/>
          </a:xfrm>
          <a:prstGeom prst="line">
            <a:avLst/>
          </a:prstGeom>
          <a:noFill/>
          <a:ln w="28575">
            <a:solidFill>
              <a:srgbClr val="002060"/>
            </a:solidFill>
            <a:round/>
            <a:headEnd/>
            <a:tailEnd type="stealth" w="lg" len="lg"/>
          </a:ln>
          <a:effectLst/>
        </p:spPr>
        <p:txBody>
          <a:bodyPr/>
          <a:lstStyle/>
          <a:p>
            <a:endParaRPr lang="zh-CN" altLang="en-US"/>
          </a:p>
        </p:txBody>
      </p:sp>
      <p:sp>
        <p:nvSpPr>
          <p:cNvPr id="1164365" name="AutoShape 77"/>
          <p:cNvSpPr>
            <a:spLocks noChangeArrowheads="1"/>
          </p:cNvSpPr>
          <p:nvPr/>
        </p:nvSpPr>
        <p:spPr bwMode="auto">
          <a:xfrm>
            <a:off x="8725148" y="4399375"/>
            <a:ext cx="2087562" cy="360362"/>
          </a:xfrm>
          <a:prstGeom prst="wedgeRoundRectCallout">
            <a:avLst>
              <a:gd name="adj1" fmla="val -648"/>
              <a:gd name="adj2" fmla="val -289208"/>
              <a:gd name="adj3" fmla="val 16667"/>
            </a:avLst>
          </a:prstGeom>
          <a:gradFill rotWithShape="1">
            <a:gsLst>
              <a:gs pos="0">
                <a:srgbClr val="CFCFD1"/>
              </a:gs>
              <a:gs pos="100000">
                <a:schemeClr val="bg1"/>
              </a:gs>
            </a:gsLst>
            <a:lin ang="5400000" scaled="1"/>
          </a:gradFill>
          <a:ln w="28575"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2000" dirty="0">
                <a:solidFill>
                  <a:srgbClr val="CC0000"/>
                </a:solidFill>
                <a:latin typeface="隶书" pitchFamily="49" charset="-122"/>
                <a:ea typeface="隶书" pitchFamily="49" charset="-122"/>
              </a:rPr>
              <a:t>看成一维数组</a:t>
            </a:r>
          </a:p>
        </p:txBody>
      </p:sp>
      <p:grpSp>
        <p:nvGrpSpPr>
          <p:cNvPr id="1164372" name="Group 84"/>
          <p:cNvGrpSpPr>
            <a:grpSpLocks/>
          </p:cNvGrpSpPr>
          <p:nvPr/>
        </p:nvGrpSpPr>
        <p:grpSpPr bwMode="auto">
          <a:xfrm>
            <a:off x="9269660" y="3305588"/>
            <a:ext cx="1871662" cy="2447925"/>
            <a:chOff x="4584" y="2287"/>
            <a:chExt cx="1179" cy="1542"/>
          </a:xfrm>
        </p:grpSpPr>
        <p:sp>
          <p:nvSpPr>
            <p:cNvPr id="1164366" name="Line 78"/>
            <p:cNvSpPr>
              <a:spLocks noChangeShapeType="1"/>
            </p:cNvSpPr>
            <p:nvPr/>
          </p:nvSpPr>
          <p:spPr bwMode="auto">
            <a:xfrm flipH="1">
              <a:off x="5556" y="2296"/>
              <a:ext cx="136" cy="0"/>
            </a:xfrm>
            <a:prstGeom prst="line">
              <a:avLst/>
            </a:prstGeom>
            <a:noFill/>
            <a:ln w="28575">
              <a:solidFill>
                <a:srgbClr val="C00000"/>
              </a:solidFill>
              <a:prstDash val="sysDot"/>
              <a:round/>
              <a:headEnd/>
              <a:tailEnd type="stealth" w="lg" len="lg"/>
            </a:ln>
            <a:effectLst/>
          </p:spPr>
          <p:txBody>
            <a:bodyPr/>
            <a:lstStyle/>
            <a:p>
              <a:endParaRPr lang="zh-CN" altLang="en-US"/>
            </a:p>
          </p:txBody>
        </p:sp>
        <p:grpSp>
          <p:nvGrpSpPr>
            <p:cNvPr id="1164371" name="Group 83"/>
            <p:cNvGrpSpPr>
              <a:grpSpLocks/>
            </p:cNvGrpSpPr>
            <p:nvPr/>
          </p:nvGrpSpPr>
          <p:grpSpPr bwMode="auto">
            <a:xfrm>
              <a:off x="4584" y="2287"/>
              <a:ext cx="1179" cy="1542"/>
              <a:chOff x="4584" y="2287"/>
              <a:chExt cx="1179" cy="1542"/>
            </a:xfrm>
          </p:grpSpPr>
          <p:sp>
            <p:nvSpPr>
              <p:cNvPr id="1164367" name="Line 79"/>
              <p:cNvSpPr>
                <a:spLocks noChangeShapeType="1"/>
              </p:cNvSpPr>
              <p:nvPr/>
            </p:nvSpPr>
            <p:spPr bwMode="auto">
              <a:xfrm>
                <a:off x="5706" y="2287"/>
                <a:ext cx="0" cy="1542"/>
              </a:xfrm>
              <a:prstGeom prst="line">
                <a:avLst/>
              </a:prstGeom>
              <a:noFill/>
              <a:ln w="28575">
                <a:solidFill>
                  <a:srgbClr val="C00000"/>
                </a:solidFill>
                <a:prstDash val="sysDot"/>
                <a:round/>
                <a:headEnd/>
                <a:tailEnd/>
              </a:ln>
              <a:effectLst/>
            </p:spPr>
            <p:txBody>
              <a:bodyPr/>
              <a:lstStyle/>
              <a:p>
                <a:endParaRPr lang="zh-CN" altLang="en-US" dirty="0"/>
              </a:p>
            </p:txBody>
          </p:sp>
          <p:sp>
            <p:nvSpPr>
              <p:cNvPr id="1164368" name="Text Box 80"/>
              <p:cNvSpPr txBox="1">
                <a:spLocks noChangeArrowheads="1"/>
              </p:cNvSpPr>
              <p:nvPr/>
            </p:nvSpPr>
            <p:spPr bwMode="auto">
              <a:xfrm>
                <a:off x="4584" y="3482"/>
                <a:ext cx="1179"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a:solidFill>
                      <a:schemeClr val="accent1">
                        <a:lumMod val="50000"/>
                      </a:schemeClr>
                    </a:solidFill>
                    <a:latin typeface="+mn-lt"/>
                    <a:ea typeface="楷体" pitchFamily="49" charset="-122"/>
                  </a:rPr>
                  <a:t>p++</a:t>
                </a:r>
                <a:r>
                  <a:rPr lang="zh-CN" altLang="en-US" sz="2000" b="1" dirty="0">
                    <a:solidFill>
                      <a:schemeClr val="accent1">
                        <a:lumMod val="50000"/>
                      </a:schemeClr>
                    </a:solidFill>
                    <a:latin typeface="+mn-lt"/>
                    <a:ea typeface="楷体" pitchFamily="49" charset="-122"/>
                  </a:rPr>
                  <a:t>后</a:t>
                </a:r>
                <a:r>
                  <a:rPr lang="en-US" altLang="zh-CN" sz="2000" b="1" dirty="0">
                    <a:solidFill>
                      <a:schemeClr val="accent1">
                        <a:lumMod val="50000"/>
                      </a:schemeClr>
                    </a:solidFill>
                    <a:latin typeface="+mn-lt"/>
                    <a:ea typeface="楷体" pitchFamily="49" charset="-122"/>
                  </a:rPr>
                  <a:t>p</a:t>
                </a:r>
                <a:r>
                  <a:rPr lang="zh-CN" altLang="en-US" sz="2000" b="1" dirty="0">
                    <a:solidFill>
                      <a:schemeClr val="accent1">
                        <a:lumMod val="50000"/>
                      </a:schemeClr>
                    </a:solidFill>
                    <a:latin typeface="+mn-lt"/>
                    <a:ea typeface="楷体" pitchFamily="49" charset="-122"/>
                  </a:rPr>
                  <a:t>的指向</a:t>
                </a:r>
              </a:p>
            </p:txBody>
          </p:sp>
        </p:grpSp>
      </p:grpSp>
      <p:grpSp>
        <p:nvGrpSpPr>
          <p:cNvPr id="1164370" name="Group 82"/>
          <p:cNvGrpSpPr>
            <a:grpSpLocks/>
          </p:cNvGrpSpPr>
          <p:nvPr/>
        </p:nvGrpSpPr>
        <p:grpSpPr bwMode="auto">
          <a:xfrm>
            <a:off x="8941048" y="1591087"/>
            <a:ext cx="2087562" cy="1296988"/>
            <a:chOff x="4377" y="1207"/>
            <a:chExt cx="1315" cy="817"/>
          </a:xfrm>
        </p:grpSpPr>
        <p:grpSp>
          <p:nvGrpSpPr>
            <p:cNvPr id="1164359" name="Group 71"/>
            <p:cNvGrpSpPr>
              <a:grpSpLocks/>
            </p:cNvGrpSpPr>
            <p:nvPr/>
          </p:nvGrpSpPr>
          <p:grpSpPr bwMode="auto">
            <a:xfrm>
              <a:off x="4377" y="1434"/>
              <a:ext cx="1315" cy="590"/>
              <a:chOff x="4377" y="1434"/>
              <a:chExt cx="1315" cy="590"/>
            </a:xfrm>
          </p:grpSpPr>
          <p:sp>
            <p:nvSpPr>
              <p:cNvPr id="1164356" name="Line 68"/>
              <p:cNvSpPr>
                <a:spLocks noChangeShapeType="1"/>
              </p:cNvSpPr>
              <p:nvPr/>
            </p:nvSpPr>
            <p:spPr bwMode="auto">
              <a:xfrm>
                <a:off x="4377" y="1434"/>
                <a:ext cx="1315" cy="0"/>
              </a:xfrm>
              <a:prstGeom prst="line">
                <a:avLst/>
              </a:prstGeom>
              <a:noFill/>
              <a:ln w="28575">
                <a:solidFill>
                  <a:srgbClr val="C00000"/>
                </a:solidFill>
                <a:round/>
                <a:headEnd/>
                <a:tailEnd/>
              </a:ln>
              <a:effectLst/>
            </p:spPr>
            <p:txBody>
              <a:bodyPr/>
              <a:lstStyle/>
              <a:p>
                <a:endParaRPr lang="zh-CN" altLang="en-US"/>
              </a:p>
            </p:txBody>
          </p:sp>
          <p:sp>
            <p:nvSpPr>
              <p:cNvPr id="1164357" name="Line 69"/>
              <p:cNvSpPr>
                <a:spLocks noChangeShapeType="1"/>
              </p:cNvSpPr>
              <p:nvPr/>
            </p:nvSpPr>
            <p:spPr bwMode="auto">
              <a:xfrm flipH="1">
                <a:off x="5556" y="2024"/>
                <a:ext cx="136" cy="0"/>
              </a:xfrm>
              <a:prstGeom prst="line">
                <a:avLst/>
              </a:prstGeom>
              <a:noFill/>
              <a:ln w="28575">
                <a:solidFill>
                  <a:srgbClr val="C00000"/>
                </a:solidFill>
                <a:round/>
                <a:headEnd/>
                <a:tailEnd type="stealth" w="lg" len="lg"/>
              </a:ln>
              <a:effectLst/>
            </p:spPr>
            <p:txBody>
              <a:bodyPr/>
              <a:lstStyle/>
              <a:p>
                <a:endParaRPr lang="zh-CN" altLang="en-US"/>
              </a:p>
            </p:txBody>
          </p:sp>
          <p:sp>
            <p:nvSpPr>
              <p:cNvPr id="1164358" name="Line 70"/>
              <p:cNvSpPr>
                <a:spLocks noChangeShapeType="1"/>
              </p:cNvSpPr>
              <p:nvPr/>
            </p:nvSpPr>
            <p:spPr bwMode="auto">
              <a:xfrm>
                <a:off x="5688" y="1434"/>
                <a:ext cx="0" cy="589"/>
              </a:xfrm>
              <a:prstGeom prst="line">
                <a:avLst/>
              </a:prstGeom>
              <a:noFill/>
              <a:ln w="28575">
                <a:solidFill>
                  <a:srgbClr val="C00000"/>
                </a:solidFill>
                <a:round/>
                <a:headEnd/>
                <a:tailEnd/>
              </a:ln>
              <a:effectLst/>
            </p:spPr>
            <p:txBody>
              <a:bodyPr/>
              <a:lstStyle/>
              <a:p>
                <a:endParaRPr lang="zh-CN" altLang="en-US"/>
              </a:p>
            </p:txBody>
          </p:sp>
        </p:grpSp>
        <p:sp>
          <p:nvSpPr>
            <p:cNvPr id="1164369" name="Text Box 81"/>
            <p:cNvSpPr txBox="1">
              <a:spLocks noChangeArrowheads="1"/>
            </p:cNvSpPr>
            <p:nvPr/>
          </p:nvSpPr>
          <p:spPr bwMode="auto">
            <a:xfrm>
              <a:off x="4921" y="1207"/>
              <a:ext cx="499"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a:solidFill>
                    <a:schemeClr val="accent1">
                      <a:lumMod val="50000"/>
                    </a:schemeClr>
                  </a:solidFill>
                </a:rPr>
                <a:t>p = a</a:t>
              </a:r>
            </a:p>
          </p:txBody>
        </p:sp>
      </p:grpSp>
      <p:sp>
        <p:nvSpPr>
          <p:cNvPr id="1164373" name="Text Box 85"/>
          <p:cNvSpPr txBox="1">
            <a:spLocks noChangeArrowheads="1"/>
          </p:cNvSpPr>
          <p:nvPr/>
        </p:nvSpPr>
        <p:spPr bwMode="auto">
          <a:xfrm>
            <a:off x="6572125" y="5459770"/>
            <a:ext cx="4450135" cy="1223962"/>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sz="2000" dirty="0">
                <a:solidFill>
                  <a:srgbClr val="C00000"/>
                </a:solidFill>
                <a:latin typeface="隶书" pitchFamily="49" charset="-122"/>
                <a:ea typeface="隶书" pitchFamily="49" charset="-122"/>
              </a:rPr>
              <a:t>运行结果：</a:t>
            </a:r>
          </a:p>
          <a:p>
            <a:pPr marL="342900" indent="-342900" algn="just"/>
            <a:r>
              <a:rPr lang="en-US" altLang="zh-CN" sz="2000" dirty="0">
                <a:solidFill>
                  <a:srgbClr val="002060"/>
                </a:solidFill>
                <a:ea typeface="宋体" pitchFamily="2" charset="-122"/>
              </a:rPr>
              <a:t>a[0][0] = 1  a[0][1] = 2  a[0][2] = 3</a:t>
            </a:r>
          </a:p>
          <a:p>
            <a:pPr marL="342900" indent="-342900" algn="just"/>
            <a:r>
              <a:rPr lang="en-US" altLang="zh-CN" sz="2000" dirty="0">
                <a:solidFill>
                  <a:srgbClr val="002060"/>
                </a:solidFill>
                <a:ea typeface="宋体" pitchFamily="2" charset="-122"/>
              </a:rPr>
              <a:t>a[1][0] = 4  a[1][1] = 5  a[1][2] = 6</a:t>
            </a:r>
          </a:p>
          <a:p>
            <a:pPr marL="342900" indent="-342900" algn="just"/>
            <a:r>
              <a:rPr lang="en-US" altLang="zh-CN" sz="2000" dirty="0">
                <a:solidFill>
                  <a:srgbClr val="002060"/>
                </a:solidFill>
              </a:rPr>
              <a:t>4  5  6</a:t>
            </a:r>
          </a:p>
        </p:txBody>
      </p:sp>
      <p:grpSp>
        <p:nvGrpSpPr>
          <p:cNvPr id="1164376" name="Group 88"/>
          <p:cNvGrpSpPr>
            <a:grpSpLocks/>
          </p:cNvGrpSpPr>
          <p:nvPr/>
        </p:nvGrpSpPr>
        <p:grpSpPr bwMode="auto">
          <a:xfrm>
            <a:off x="4439816" y="1315318"/>
            <a:ext cx="1939925" cy="3625850"/>
            <a:chOff x="1229" y="729"/>
            <a:chExt cx="1222" cy="2284"/>
          </a:xfrm>
        </p:grpSpPr>
        <p:sp>
          <p:nvSpPr>
            <p:cNvPr id="1164374" name="Oval 86"/>
            <p:cNvSpPr>
              <a:spLocks noChangeArrowheads="1"/>
            </p:cNvSpPr>
            <p:nvPr/>
          </p:nvSpPr>
          <p:spPr bwMode="auto">
            <a:xfrm>
              <a:off x="1510" y="2786"/>
              <a:ext cx="454" cy="227"/>
            </a:xfrm>
            <a:prstGeom prst="ellipse">
              <a:avLst/>
            </a:prstGeom>
            <a:noFill/>
            <a:ln w="28575" algn="ctr">
              <a:solidFill>
                <a:srgbClr val="C00000"/>
              </a:solidFill>
              <a:round/>
              <a:headEnd/>
              <a:tailEnd/>
            </a:ln>
            <a:effectLst/>
          </p:spPr>
          <p:txBody>
            <a:bodyPr wrap="none" anchor="ctr"/>
            <a:lstStyle/>
            <a:p>
              <a:endParaRPr lang="zh-CN" altLang="en-US"/>
            </a:p>
          </p:txBody>
        </p:sp>
        <p:sp>
          <p:nvSpPr>
            <p:cNvPr id="1164375" name="AutoShape 87"/>
            <p:cNvSpPr>
              <a:spLocks/>
            </p:cNvSpPr>
            <p:nvPr/>
          </p:nvSpPr>
          <p:spPr bwMode="auto">
            <a:xfrm>
              <a:off x="1229" y="729"/>
              <a:ext cx="1222" cy="454"/>
            </a:xfrm>
            <a:prstGeom prst="borderCallout2">
              <a:avLst>
                <a:gd name="adj1" fmla="val 15861"/>
                <a:gd name="adj2" fmla="val -3926"/>
                <a:gd name="adj3" fmla="val 15861"/>
                <a:gd name="adj4" fmla="val -20542"/>
                <a:gd name="adj5" fmla="val 453568"/>
                <a:gd name="adj6" fmla="val 34665"/>
              </a:avLst>
            </a:prstGeom>
            <a:gradFill rotWithShape="1">
              <a:gsLst>
                <a:gs pos="0">
                  <a:srgbClr val="CFCFD1"/>
                </a:gs>
                <a:gs pos="100000">
                  <a:schemeClr val="bg1"/>
                </a:gs>
              </a:gsLst>
              <a:lin ang="5400000" scaled="1"/>
            </a:gradFill>
            <a:ln w="19050" algn="ctr">
              <a:solidFill>
                <a:srgbClr val="C00000"/>
              </a:solidFill>
              <a:miter lim="800000"/>
              <a:headEnd/>
              <a:tailEnd/>
            </a:ln>
            <a:effectLst>
              <a:outerShdw dist="107763" dir="2700000" algn="ctr" rotWithShape="0">
                <a:schemeClr val="bg2">
                  <a:alpha val="50000"/>
                </a:schemeClr>
              </a:outerShdw>
            </a:effectLst>
          </p:spPr>
          <p:txBody>
            <a:bodyPr/>
            <a:lstStyle/>
            <a:p>
              <a:pPr marL="342900" indent="-342900" algn="ctr"/>
              <a:r>
                <a:rPr lang="en-US" altLang="zh-CN" sz="2000" dirty="0"/>
                <a:t>*(*</a:t>
              </a:r>
              <a:r>
                <a:rPr lang="en-US" altLang="zh-CN" sz="2000" dirty="0" err="1"/>
                <a:t>p+i</a:t>
              </a:r>
              <a:r>
                <a:rPr lang="en-US" altLang="zh-CN" sz="2000" dirty="0"/>
                <a:t>*3+j)</a:t>
              </a:r>
            </a:p>
            <a:p>
              <a:pPr marL="342900" indent="-342900" algn="ctr"/>
              <a:r>
                <a:rPr lang="zh-CN" altLang="en-US" sz="2000" dirty="0">
                  <a:latin typeface="+mn-lt"/>
                  <a:ea typeface="楷体" pitchFamily="49" charset="-122"/>
                </a:rPr>
                <a:t>或</a:t>
              </a:r>
              <a:r>
                <a:rPr lang="en-US" altLang="zh-CN" sz="2000" dirty="0"/>
                <a:t>(*</a:t>
              </a:r>
              <a:r>
                <a:rPr lang="en-US" altLang="zh-CN" sz="2000" dirty="0" err="1"/>
                <a:t>p+i</a:t>
              </a:r>
              <a:r>
                <a:rPr lang="en-US" altLang="zh-CN" sz="2000" dirty="0"/>
                <a:t>*3)[j] </a:t>
              </a:r>
            </a:p>
          </p:txBody>
        </p:sp>
      </p:grpSp>
      <p:sp>
        <p:nvSpPr>
          <p:cNvPr id="1164377" name="Rectangle 89"/>
          <p:cNvSpPr>
            <a:spLocks noChangeArrowheads="1"/>
          </p:cNvSpPr>
          <p:nvPr/>
        </p:nvSpPr>
        <p:spPr bwMode="auto">
          <a:xfrm>
            <a:off x="1090066" y="2791188"/>
            <a:ext cx="8064500" cy="2308324"/>
          </a:xfrm>
          <a:prstGeom prst="rect">
            <a:avLst/>
          </a:prstGeom>
          <a:gradFill rotWithShape="1">
            <a:gsLst>
              <a:gs pos="0">
                <a:srgbClr val="CFCFD1"/>
              </a:gs>
              <a:gs pos="100000">
                <a:schemeClr val="bg1">
                  <a:lumMod val="95000"/>
                </a:schemeClr>
              </a:gs>
            </a:gsLst>
            <a:lin ang="5400000" scaled="1"/>
          </a:gra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457200">
              <a:tabLst>
                <a:tab pos="342900" algn="l"/>
              </a:tabLst>
            </a:pPr>
            <a:r>
              <a:rPr lang="zh-CN" altLang="en-US" dirty="0">
                <a:solidFill>
                  <a:srgbClr val="C00000"/>
                </a:solidFill>
                <a:latin typeface="隶书" pitchFamily="49" charset="-122"/>
                <a:ea typeface="隶书" pitchFamily="49" charset="-122"/>
              </a:rPr>
              <a:t> 注 意：</a:t>
            </a:r>
          </a:p>
          <a:p>
            <a:pPr lvl="1" indent="-276225">
              <a:buClr>
                <a:srgbClr val="C01920"/>
              </a:buClr>
              <a:buFont typeface="Wingdings" pitchFamily="2" charset="2"/>
              <a:buChar char="Ø"/>
              <a:tabLst>
                <a:tab pos="342900" algn="l"/>
              </a:tabLst>
            </a:pPr>
            <a:r>
              <a:rPr lang="zh-CN" altLang="en-US" dirty="0">
                <a:latin typeface="+mn-lt"/>
                <a:ea typeface="楷体" pitchFamily="49" charset="-122"/>
              </a:rPr>
              <a:t>对指向二维数组的行指针变量进行赋值一般形式为：</a:t>
            </a:r>
          </a:p>
          <a:p>
            <a:pPr marL="457200" indent="-276225">
              <a:buClr>
                <a:srgbClr val="CC0099"/>
              </a:buClr>
              <a:tabLst>
                <a:tab pos="342900" algn="l"/>
              </a:tabLst>
            </a:pPr>
            <a:r>
              <a:rPr lang="zh-CN" altLang="en-US" dirty="0">
                <a:solidFill>
                  <a:srgbClr val="C00000"/>
                </a:solidFill>
                <a:latin typeface="+mn-lt"/>
                <a:ea typeface="楷体" pitchFamily="49" charset="-122"/>
              </a:rPr>
              <a:t>     </a:t>
            </a:r>
            <a:r>
              <a:rPr lang="en-US" altLang="zh-CN" dirty="0">
                <a:solidFill>
                  <a:srgbClr val="C00000"/>
                </a:solidFill>
                <a:latin typeface="+mn-lt"/>
                <a:ea typeface="楷体" pitchFamily="49" charset="-122"/>
              </a:rPr>
              <a:t>(1) </a:t>
            </a:r>
            <a:r>
              <a:rPr lang="zh-CN" altLang="en-US" dirty="0">
                <a:solidFill>
                  <a:srgbClr val="C00000"/>
                </a:solidFill>
                <a:latin typeface="+mn-lt"/>
                <a:ea typeface="楷体" pitchFamily="49" charset="-122"/>
              </a:rPr>
              <a:t>二维数组名</a:t>
            </a:r>
            <a:r>
              <a:rPr lang="en-US" altLang="zh-CN" dirty="0">
                <a:solidFill>
                  <a:srgbClr val="C00000"/>
                </a:solidFill>
                <a:latin typeface="+mn-lt"/>
                <a:ea typeface="楷体" pitchFamily="49" charset="-122"/>
              </a:rPr>
              <a:t>+</a:t>
            </a:r>
            <a:r>
              <a:rPr lang="zh-CN" altLang="en-US" dirty="0">
                <a:solidFill>
                  <a:srgbClr val="C00000"/>
                </a:solidFill>
                <a:latin typeface="+mn-lt"/>
                <a:ea typeface="楷体" pitchFamily="49" charset="-122"/>
              </a:rPr>
              <a:t>整型常数</a:t>
            </a:r>
            <a:r>
              <a:rPr lang="en-US" altLang="zh-CN" dirty="0">
                <a:solidFill>
                  <a:srgbClr val="C00000"/>
                </a:solidFill>
                <a:latin typeface="+mn-lt"/>
                <a:ea typeface="楷体" pitchFamily="49" charset="-122"/>
              </a:rPr>
              <a:t>n</a:t>
            </a:r>
            <a:r>
              <a:rPr lang="zh-CN" altLang="en-US" dirty="0">
                <a:solidFill>
                  <a:srgbClr val="C00000"/>
                </a:solidFill>
                <a:latin typeface="+mn-lt"/>
                <a:ea typeface="楷体" pitchFamily="49" charset="-122"/>
              </a:rPr>
              <a:t>，如：</a:t>
            </a:r>
            <a:r>
              <a:rPr lang="en-US" altLang="zh-CN" dirty="0">
                <a:solidFill>
                  <a:srgbClr val="C00000"/>
                </a:solidFill>
                <a:latin typeface="+mn-lt"/>
                <a:ea typeface="楷体" pitchFamily="49" charset="-122"/>
              </a:rPr>
              <a:t>p = a + 1; </a:t>
            </a:r>
            <a:r>
              <a:rPr lang="zh-CN" altLang="en-US" dirty="0">
                <a:solidFill>
                  <a:srgbClr val="C00000"/>
                </a:solidFill>
                <a:latin typeface="+mn-lt"/>
                <a:ea typeface="楷体" pitchFamily="49" charset="-122"/>
              </a:rPr>
              <a:t>或 </a:t>
            </a:r>
          </a:p>
          <a:p>
            <a:pPr marL="457200" indent="-276225">
              <a:buClr>
                <a:srgbClr val="CC0099"/>
              </a:buClr>
              <a:tabLst>
                <a:tab pos="342900" algn="l"/>
              </a:tabLst>
            </a:pPr>
            <a:r>
              <a:rPr lang="zh-CN" altLang="en-US" dirty="0">
                <a:solidFill>
                  <a:srgbClr val="C00000"/>
                </a:solidFill>
                <a:latin typeface="+mn-lt"/>
                <a:ea typeface="楷体" pitchFamily="49" charset="-122"/>
              </a:rPr>
              <a:t>     </a:t>
            </a:r>
            <a:r>
              <a:rPr lang="en-US" altLang="zh-CN" dirty="0">
                <a:solidFill>
                  <a:srgbClr val="C00000"/>
                </a:solidFill>
                <a:latin typeface="+mn-lt"/>
                <a:ea typeface="楷体" pitchFamily="49" charset="-122"/>
              </a:rPr>
              <a:t>(2) &amp;</a:t>
            </a:r>
            <a:r>
              <a:rPr lang="zh-CN" altLang="en-US" dirty="0">
                <a:solidFill>
                  <a:srgbClr val="C00000"/>
                </a:solidFill>
                <a:latin typeface="+mn-lt"/>
                <a:ea typeface="楷体" pitchFamily="49" charset="-122"/>
              </a:rPr>
              <a:t>二维数组名</a:t>
            </a:r>
            <a:r>
              <a:rPr lang="en-US" altLang="zh-CN" dirty="0">
                <a:solidFill>
                  <a:srgbClr val="C00000"/>
                </a:solidFill>
                <a:latin typeface="+mn-lt"/>
                <a:ea typeface="楷体" pitchFamily="49" charset="-122"/>
              </a:rPr>
              <a:t>[</a:t>
            </a:r>
            <a:r>
              <a:rPr lang="zh-CN" altLang="en-US" dirty="0">
                <a:solidFill>
                  <a:srgbClr val="C00000"/>
                </a:solidFill>
                <a:latin typeface="+mn-lt"/>
                <a:ea typeface="楷体" pitchFamily="49" charset="-122"/>
              </a:rPr>
              <a:t>整型常量</a:t>
            </a:r>
            <a:r>
              <a:rPr lang="en-US" altLang="zh-CN" dirty="0">
                <a:solidFill>
                  <a:srgbClr val="C00000"/>
                </a:solidFill>
                <a:latin typeface="+mn-lt"/>
                <a:ea typeface="楷体" pitchFamily="49" charset="-122"/>
              </a:rPr>
              <a:t>n]</a:t>
            </a:r>
            <a:r>
              <a:rPr lang="zh-CN" altLang="en-US" dirty="0">
                <a:solidFill>
                  <a:srgbClr val="C00000"/>
                </a:solidFill>
                <a:latin typeface="+mn-lt"/>
                <a:ea typeface="楷体" pitchFamily="49" charset="-122"/>
              </a:rPr>
              <a:t>，如：</a:t>
            </a:r>
            <a:r>
              <a:rPr lang="en-US" altLang="zh-CN" dirty="0">
                <a:solidFill>
                  <a:srgbClr val="C00000"/>
                </a:solidFill>
                <a:latin typeface="+mn-lt"/>
                <a:ea typeface="楷体" pitchFamily="49" charset="-122"/>
              </a:rPr>
              <a:t>p = &amp;a[1]</a:t>
            </a:r>
            <a:r>
              <a:rPr lang="zh-CN" altLang="en-US" dirty="0">
                <a:solidFill>
                  <a:srgbClr val="C00000"/>
                </a:solidFill>
                <a:latin typeface="+mn-lt"/>
                <a:ea typeface="楷体" pitchFamily="49" charset="-122"/>
              </a:rPr>
              <a:t>。</a:t>
            </a:r>
          </a:p>
          <a:p>
            <a:pPr lvl="1" indent="-276225">
              <a:buClr>
                <a:srgbClr val="C01920"/>
              </a:buClr>
              <a:buFont typeface="Wingdings" pitchFamily="2" charset="2"/>
              <a:buChar char="Ø"/>
              <a:tabLst>
                <a:tab pos="342900" algn="l"/>
              </a:tabLst>
            </a:pPr>
            <a:r>
              <a:rPr lang="zh-CN" altLang="en-US" dirty="0">
                <a:latin typeface="+mn-lt"/>
                <a:ea typeface="楷体" pitchFamily="49" charset="-122"/>
              </a:rPr>
              <a:t>不可用数组单元地址对其赋值。</a:t>
            </a:r>
          </a:p>
          <a:p>
            <a:pPr marL="457200" indent="-276225">
              <a:buClr>
                <a:srgbClr val="CC0099"/>
              </a:buClr>
              <a:tabLst>
                <a:tab pos="342900" algn="l"/>
              </a:tabLst>
            </a:pPr>
            <a:r>
              <a:rPr lang="zh-CN" altLang="en-US" dirty="0">
                <a:latin typeface="+mn-lt"/>
                <a:ea typeface="楷体" pitchFamily="49" charset="-122"/>
              </a:rPr>
              <a:t>    如：</a:t>
            </a:r>
            <a:r>
              <a:rPr lang="en-US" altLang="zh-CN" dirty="0">
                <a:latin typeface="+mn-lt"/>
                <a:ea typeface="楷体" pitchFamily="49" charset="-122"/>
              </a:rPr>
              <a:t>p = a[0];</a:t>
            </a:r>
            <a:r>
              <a:rPr lang="zh-CN" altLang="en-US" dirty="0">
                <a:latin typeface="+mn-lt"/>
                <a:ea typeface="楷体" pitchFamily="49" charset="-122"/>
              </a:rPr>
              <a:t>或</a:t>
            </a:r>
            <a:r>
              <a:rPr lang="en-US" altLang="zh-CN" dirty="0">
                <a:latin typeface="+mn-lt"/>
                <a:ea typeface="楷体" pitchFamily="49" charset="-122"/>
              </a:rPr>
              <a:t>p = &amp;a[0][0]</a:t>
            </a:r>
            <a:r>
              <a:rPr lang="zh-CN" altLang="en-US" dirty="0">
                <a:latin typeface="+mn-lt"/>
                <a:ea typeface="楷体" pitchFamily="49" charset="-122"/>
              </a:rPr>
              <a:t>都是错误的。</a:t>
            </a:r>
          </a:p>
        </p:txBody>
      </p:sp>
      <p:sp>
        <p:nvSpPr>
          <p:cNvPr id="86" name="Rectangle 4">
            <a:extLst>
              <a:ext uri="{FF2B5EF4-FFF2-40B4-BE49-F238E27FC236}">
                <a16:creationId xmlns:a16="http://schemas.microsoft.com/office/drawing/2014/main" id="{204C389A-9036-4AC1-AC15-986F14FEE795}"/>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4290">
                                            <p:txEl>
                                              <p:pRg st="0" end="0"/>
                                            </p:txEl>
                                          </p:spTgt>
                                        </p:tgtEl>
                                        <p:attrNameLst>
                                          <p:attrName>style.visibility</p:attrName>
                                        </p:attrNameLst>
                                      </p:cBhvr>
                                      <p:to>
                                        <p:strVal val="visible"/>
                                      </p:to>
                                    </p:set>
                                    <p:anim calcmode="lin" valueType="num">
                                      <p:cBhvr additive="base">
                                        <p:cTn id="7" dur="500" fill="hold"/>
                                        <p:tgtEl>
                                          <p:spTgt spid="116429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429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64298"/>
                                        </p:tgtEl>
                                        <p:attrNameLst>
                                          <p:attrName>style.visibility</p:attrName>
                                        </p:attrNameLst>
                                      </p:cBhvr>
                                      <p:to>
                                        <p:strVal val="visible"/>
                                      </p:to>
                                    </p:set>
                                    <p:animEffect transition="in" filter="box(out)">
                                      <p:cBhvr>
                                        <p:cTn id="13" dur="500"/>
                                        <p:tgtEl>
                                          <p:spTgt spid="1164298"/>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64299"/>
                                        </p:tgtEl>
                                        <p:attrNameLst>
                                          <p:attrName>style.visibility</p:attrName>
                                        </p:attrNameLst>
                                      </p:cBhvr>
                                      <p:to>
                                        <p:strVal val="visible"/>
                                      </p:to>
                                    </p:set>
                                    <p:animEffect transition="in" filter="box(out)">
                                      <p:cBhvr>
                                        <p:cTn id="18" dur="500"/>
                                        <p:tgtEl>
                                          <p:spTgt spid="1164299"/>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64355"/>
                                        </p:tgtEl>
                                        <p:attrNameLst>
                                          <p:attrName>style.visibility</p:attrName>
                                        </p:attrNameLst>
                                      </p:cBhvr>
                                      <p:to>
                                        <p:strVal val="visible"/>
                                      </p:to>
                                    </p:set>
                                    <p:animEffect transition="in" filter="box(out)">
                                      <p:cBhvr>
                                        <p:cTn id="23" dur="500"/>
                                        <p:tgtEl>
                                          <p:spTgt spid="1164355"/>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18" presetClass="entr" presetSubtype="9" fill="hold" nodeType="afterEffect">
                                  <p:stCondLst>
                                    <p:cond delay="0"/>
                                  </p:stCondLst>
                                  <p:childTnLst>
                                    <p:set>
                                      <p:cBhvr>
                                        <p:cTn id="26" dur="1" fill="hold">
                                          <p:stCondLst>
                                            <p:cond delay="0"/>
                                          </p:stCondLst>
                                        </p:cTn>
                                        <p:tgtEl>
                                          <p:spTgt spid="1164363"/>
                                        </p:tgtEl>
                                        <p:attrNameLst>
                                          <p:attrName>style.visibility</p:attrName>
                                        </p:attrNameLst>
                                      </p:cBhvr>
                                      <p:to>
                                        <p:strVal val="visible"/>
                                      </p:to>
                                    </p:set>
                                    <p:animEffect transition="in" filter="strips(upLeft)">
                                      <p:cBhvr>
                                        <p:cTn id="27" dur="500"/>
                                        <p:tgtEl>
                                          <p:spTgt spid="1164363"/>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8" fill="hold">
                            <p:stCondLst>
                              <p:cond delay="1000"/>
                            </p:stCondLst>
                            <p:childTnLst>
                              <p:par>
                                <p:cTn id="29" presetID="18" presetClass="entr" presetSubtype="9" fill="hold" grpId="0" nodeType="afterEffect">
                                  <p:stCondLst>
                                    <p:cond delay="0"/>
                                  </p:stCondLst>
                                  <p:childTnLst>
                                    <p:set>
                                      <p:cBhvr>
                                        <p:cTn id="30" dur="1" fill="hold">
                                          <p:stCondLst>
                                            <p:cond delay="0"/>
                                          </p:stCondLst>
                                        </p:cTn>
                                        <p:tgtEl>
                                          <p:spTgt spid="1164364"/>
                                        </p:tgtEl>
                                        <p:attrNameLst>
                                          <p:attrName>style.visibility</p:attrName>
                                        </p:attrNameLst>
                                      </p:cBhvr>
                                      <p:to>
                                        <p:strVal val="visible"/>
                                      </p:to>
                                    </p:set>
                                    <p:animEffect transition="in" filter="strips(upLeft)">
                                      <p:cBhvr>
                                        <p:cTn id="31" dur="500"/>
                                        <p:tgtEl>
                                          <p:spTgt spid="1164364"/>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18" presetClass="entr" presetSubtype="12" fill="hold" grpId="0" nodeType="clickEffect">
                                  <p:stCondLst>
                                    <p:cond delay="0"/>
                                  </p:stCondLst>
                                  <p:childTnLst>
                                    <p:set>
                                      <p:cBhvr>
                                        <p:cTn id="35" dur="1" fill="hold">
                                          <p:stCondLst>
                                            <p:cond delay="0"/>
                                          </p:stCondLst>
                                        </p:cTn>
                                        <p:tgtEl>
                                          <p:spTgt spid="1164365"/>
                                        </p:tgtEl>
                                        <p:attrNameLst>
                                          <p:attrName>style.visibility</p:attrName>
                                        </p:attrNameLst>
                                      </p:cBhvr>
                                      <p:to>
                                        <p:strVal val="visible"/>
                                      </p:to>
                                    </p:set>
                                    <p:animEffect transition="in" filter="strips(downLeft)">
                                      <p:cBhvr>
                                        <p:cTn id="36" dur="500"/>
                                        <p:tgtEl>
                                          <p:spTgt spid="1164365"/>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6" fill="hold" nodeType="clickEffect">
                                  <p:stCondLst>
                                    <p:cond delay="0"/>
                                  </p:stCondLst>
                                  <p:childTnLst>
                                    <p:set>
                                      <p:cBhvr>
                                        <p:cTn id="40" dur="1" fill="hold">
                                          <p:stCondLst>
                                            <p:cond delay="0"/>
                                          </p:stCondLst>
                                        </p:cTn>
                                        <p:tgtEl>
                                          <p:spTgt spid="1164370"/>
                                        </p:tgtEl>
                                        <p:attrNameLst>
                                          <p:attrName>style.visibility</p:attrName>
                                        </p:attrNameLst>
                                      </p:cBhvr>
                                      <p:to>
                                        <p:strVal val="visible"/>
                                      </p:to>
                                    </p:set>
                                    <p:animEffect transition="in" filter="strips(downRight)">
                                      <p:cBhvr>
                                        <p:cTn id="41" dur="500"/>
                                        <p:tgtEl>
                                          <p:spTgt spid="1164370"/>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3" fill="hold" nodeType="clickEffect">
                                  <p:stCondLst>
                                    <p:cond delay="0"/>
                                  </p:stCondLst>
                                  <p:childTnLst>
                                    <p:set>
                                      <p:cBhvr>
                                        <p:cTn id="45" dur="1" fill="hold">
                                          <p:stCondLst>
                                            <p:cond delay="0"/>
                                          </p:stCondLst>
                                        </p:cTn>
                                        <p:tgtEl>
                                          <p:spTgt spid="1164372"/>
                                        </p:tgtEl>
                                        <p:attrNameLst>
                                          <p:attrName>style.visibility</p:attrName>
                                        </p:attrNameLst>
                                      </p:cBhvr>
                                      <p:to>
                                        <p:strVal val="visible"/>
                                      </p:to>
                                    </p:set>
                                    <p:animEffect transition="in" filter="strips(upRight)">
                                      <p:cBhvr>
                                        <p:cTn id="46" dur="500"/>
                                        <p:tgtEl>
                                          <p:spTgt spid="1164372"/>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3" fill="hold" nodeType="clickEffect">
                                  <p:stCondLst>
                                    <p:cond delay="0"/>
                                  </p:stCondLst>
                                  <p:childTnLst>
                                    <p:set>
                                      <p:cBhvr>
                                        <p:cTn id="50" dur="1" fill="hold">
                                          <p:stCondLst>
                                            <p:cond delay="0"/>
                                          </p:stCondLst>
                                        </p:cTn>
                                        <p:tgtEl>
                                          <p:spTgt spid="1164376"/>
                                        </p:tgtEl>
                                        <p:attrNameLst>
                                          <p:attrName>style.visibility</p:attrName>
                                        </p:attrNameLst>
                                      </p:cBhvr>
                                      <p:to>
                                        <p:strVal val="visible"/>
                                      </p:to>
                                    </p:set>
                                    <p:animEffect transition="in" filter="strips(upRight)">
                                      <p:cBhvr>
                                        <p:cTn id="51" dur="500"/>
                                        <p:tgtEl>
                                          <p:spTgt spid="1164376"/>
                                        </p:tgtEl>
                                      </p:cBhvr>
                                    </p:animEffect>
                                  </p:childTnLst>
                                  <p:subTnLst>
                                    <p:audio>
                                      <p:cMediaNode>
                                        <p:cTn display="0" masterRel="sameClick">
                                          <p:stCondLst>
                                            <p:cond evt="begin" delay="0">
                                              <p:tn val="49"/>
                                            </p:cond>
                                          </p:stCondLst>
                                          <p:endCondLst>
                                            <p:cond evt="onStopAudio" delay="0">
                                              <p:tgtEl>
                                                <p:sldTgt/>
                                              </p:tgtEl>
                                            </p:cond>
                                          </p:endCondLst>
                                        </p:cTn>
                                        <p:tgtEl>
                                          <p:sndTgt r:embed="rId4" name="laser.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1164373"/>
                                        </p:tgtEl>
                                        <p:attrNameLst>
                                          <p:attrName>style.visibility</p:attrName>
                                        </p:attrNameLst>
                                      </p:cBhvr>
                                      <p:to>
                                        <p:strVal val="visible"/>
                                      </p:to>
                                    </p:set>
                                    <p:animEffect transition="in" filter="box(out)">
                                      <p:cBhvr>
                                        <p:cTn id="56" dur="500"/>
                                        <p:tgtEl>
                                          <p:spTgt spid="1164373"/>
                                        </p:tgtEl>
                                      </p:cBhvr>
                                    </p:animEffect>
                                  </p:childTnLst>
                                  <p:subTnLst>
                                    <p:audio>
                                      <p:cMediaNode>
                                        <p:cTn display="0" masterRel="sameClick">
                                          <p:stCondLst>
                                            <p:cond evt="begin" delay="0">
                                              <p:tn val="54"/>
                                            </p:cond>
                                          </p:stCondLst>
                                          <p:endCondLst>
                                            <p:cond evt="onStopAudio" delay="0">
                                              <p:tgtEl>
                                                <p:sldTgt/>
                                              </p:tgtEl>
                                            </p:cond>
                                          </p:endCondLst>
                                        </p:cTn>
                                        <p:tgtEl>
                                          <p:sndTgt r:embed="rId5" name="chimes.wav"/>
                                        </p:tgtEl>
                                      </p:cMediaNode>
                                    </p:audio>
                                  </p:subTnLst>
                                </p:cTn>
                              </p:par>
                            </p:childTnLst>
                          </p:cTn>
                        </p:par>
                      </p:childTnLst>
                    </p:cTn>
                  </p:par>
                  <p:par>
                    <p:cTn id="57" fill="hold">
                      <p:stCondLst>
                        <p:cond delay="indefinite"/>
                      </p:stCondLst>
                      <p:childTnLst>
                        <p:par>
                          <p:cTn id="58" fill="hold">
                            <p:stCondLst>
                              <p:cond delay="0"/>
                            </p:stCondLst>
                            <p:childTnLst>
                              <p:par>
                                <p:cTn id="59" presetID="8" presetClass="entr" presetSubtype="16" fill="hold" grpId="0" nodeType="clickEffect">
                                  <p:stCondLst>
                                    <p:cond delay="0"/>
                                  </p:stCondLst>
                                  <p:childTnLst>
                                    <p:set>
                                      <p:cBhvr>
                                        <p:cTn id="60" dur="1" fill="hold">
                                          <p:stCondLst>
                                            <p:cond delay="0"/>
                                          </p:stCondLst>
                                        </p:cTn>
                                        <p:tgtEl>
                                          <p:spTgt spid="1164377"/>
                                        </p:tgtEl>
                                        <p:attrNameLst>
                                          <p:attrName>style.visibility</p:attrName>
                                        </p:attrNameLst>
                                      </p:cBhvr>
                                      <p:to>
                                        <p:strVal val="visible"/>
                                      </p:to>
                                    </p:set>
                                    <p:animEffect transition="in" filter="diamond(in)">
                                      <p:cBhvr>
                                        <p:cTn id="61" dur="2000"/>
                                        <p:tgtEl>
                                          <p:spTgt spid="1164377"/>
                                        </p:tgtEl>
                                      </p:cBhvr>
                                    </p:animEffect>
                                  </p:childTnLst>
                                  <p:subTnLst>
                                    <p:audio>
                                      <p:cMediaNode>
                                        <p:cTn display="0" masterRel="sameClick">
                                          <p:stCondLst>
                                            <p:cond evt="begin" delay="0">
                                              <p:tn val="59"/>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4290" grpId="0" build="p" bldLvl="5" autoUpdateAnimBg="0"/>
      <p:bldP spid="1164298" grpId="0" animBg="1" autoUpdateAnimBg="0"/>
      <p:bldP spid="1164364" grpId="0" animBg="1"/>
      <p:bldP spid="1164365" grpId="0" animBg="1"/>
      <p:bldP spid="1164373" grpId="0" animBg="1"/>
      <p:bldP spid="116437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5314" name="Rectangle 2"/>
          <p:cNvSpPr>
            <a:spLocks noChangeArrowheads="1"/>
          </p:cNvSpPr>
          <p:nvPr/>
        </p:nvSpPr>
        <p:spPr bwMode="auto">
          <a:xfrm>
            <a:off x="601366" y="809576"/>
            <a:ext cx="5854674" cy="503237"/>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4</a:t>
            </a:r>
            <a:r>
              <a:rPr lang="zh-CN" altLang="en-US" sz="2800" b="1" dirty="0">
                <a:solidFill>
                  <a:srgbClr val="C00000"/>
                </a:solidFill>
                <a:latin typeface="+mn-lt"/>
                <a:ea typeface="楷体" pitchFamily="49" charset="-122"/>
                <a:sym typeface="Symbol" pitchFamily="18" charset="2"/>
              </a:rPr>
              <a:t>、元素为指针的数组</a:t>
            </a:r>
            <a:r>
              <a:rPr lang="en-US" altLang="zh-CN" sz="2800" b="1" dirty="0">
                <a:solidFill>
                  <a:srgbClr val="C00000"/>
                </a:solidFill>
                <a:latin typeface="+mn-lt"/>
                <a:ea typeface="楷体" pitchFamily="49" charset="-122"/>
                <a:sym typeface="Symbol" pitchFamily="18" charset="2"/>
              </a:rPr>
              <a:t>____</a:t>
            </a:r>
            <a:r>
              <a:rPr lang="zh-CN" altLang="en-US" sz="2800" b="1" dirty="0">
                <a:solidFill>
                  <a:srgbClr val="C00000"/>
                </a:solidFill>
                <a:latin typeface="+mn-lt"/>
                <a:ea typeface="楷体" pitchFamily="49" charset="-122"/>
                <a:sym typeface="Symbol" pitchFamily="18" charset="2"/>
              </a:rPr>
              <a:t>指针数组</a:t>
            </a:r>
          </a:p>
        </p:txBody>
      </p:sp>
      <p:sp>
        <p:nvSpPr>
          <p:cNvPr id="1165318" name="Rectangle 6" descr="信纸"/>
          <p:cNvSpPr>
            <a:spLocks noChangeArrowheads="1"/>
          </p:cNvSpPr>
          <p:nvPr/>
        </p:nvSpPr>
        <p:spPr bwMode="auto">
          <a:xfrm>
            <a:off x="529927" y="1385837"/>
            <a:ext cx="11038677" cy="833178"/>
          </a:xfrm>
          <a:prstGeom prst="rect">
            <a:avLst/>
          </a:prstGeom>
          <a:noFill/>
          <a:ln w="38100" algn="ctr">
            <a:noFill/>
            <a:miter lim="800000"/>
            <a:headEnd/>
            <a:tailEnd/>
          </a:ln>
          <a:effectLst/>
        </p:spPr>
        <p:txBody>
          <a:bodyPr wrap="square" lIns="90000" tIns="46800" rIns="90000" bIns="46800" anchor="ctr">
            <a:spAutoFit/>
          </a:bodyPr>
          <a:lstStyle/>
          <a:p>
            <a:pPr>
              <a:lnSpc>
                <a:spcPct val="100000"/>
              </a:lnSpc>
            </a:pPr>
            <a:r>
              <a:rPr lang="en-US" altLang="zh-CN" dirty="0">
                <a:latin typeface="+mn-lt"/>
                <a:ea typeface="楷体" pitchFamily="49" charset="-122"/>
              </a:rPr>
              <a:t>        </a:t>
            </a:r>
            <a:r>
              <a:rPr lang="zh-CN" altLang="zh-CN" dirty="0">
                <a:latin typeface="+mn-lt"/>
                <a:ea typeface="楷体" pitchFamily="49" charset="-122"/>
              </a:rPr>
              <a:t>当某个数组单元都是指针型数据时，这个数组被称为</a:t>
            </a:r>
            <a:r>
              <a:rPr lang="zh-CN" altLang="zh-CN" dirty="0">
                <a:solidFill>
                  <a:srgbClr val="C00000"/>
                </a:solidFill>
                <a:latin typeface="+mn-lt"/>
                <a:ea typeface="楷体" pitchFamily="49" charset="-122"/>
              </a:rPr>
              <a:t>指针数组。</a:t>
            </a:r>
            <a:r>
              <a:rPr lang="zh-CN" altLang="zh-CN" dirty="0">
                <a:latin typeface="+mn-lt"/>
                <a:ea typeface="楷体" pitchFamily="49" charset="-122"/>
              </a:rPr>
              <a:t>其定义的一般格式为：</a:t>
            </a:r>
            <a:endParaRPr lang="zh-CN" altLang="en-US" dirty="0">
              <a:latin typeface="+mn-lt"/>
              <a:ea typeface="楷体" pitchFamily="49" charset="-122"/>
            </a:endParaRPr>
          </a:p>
        </p:txBody>
      </p:sp>
      <p:sp>
        <p:nvSpPr>
          <p:cNvPr id="1165319" name="Text Box 7"/>
          <p:cNvSpPr txBox="1">
            <a:spLocks noChangeArrowheads="1"/>
          </p:cNvSpPr>
          <p:nvPr/>
        </p:nvSpPr>
        <p:spPr bwMode="auto">
          <a:xfrm>
            <a:off x="2779985" y="2176685"/>
            <a:ext cx="6556375" cy="504825"/>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2000" dirty="0">
                <a:solidFill>
                  <a:srgbClr val="C00000"/>
                </a:solidFill>
                <a:latin typeface="+mn-lt"/>
                <a:ea typeface="隶书" pitchFamily="49" charset="-122"/>
              </a:rPr>
              <a:t>数据类型符   *变量名</a:t>
            </a:r>
            <a:r>
              <a:rPr lang="en-US" altLang="zh-CN" sz="2000" dirty="0">
                <a:solidFill>
                  <a:srgbClr val="C00000"/>
                </a:solidFill>
                <a:latin typeface="+mn-lt"/>
                <a:ea typeface="隶书" pitchFamily="49" charset="-122"/>
              </a:rPr>
              <a:t>[</a:t>
            </a:r>
            <a:r>
              <a:rPr lang="zh-CN" altLang="en-US" sz="2000" dirty="0">
                <a:solidFill>
                  <a:srgbClr val="C00000"/>
                </a:solidFill>
                <a:latin typeface="+mn-lt"/>
                <a:ea typeface="隶书" pitchFamily="49" charset="-122"/>
              </a:rPr>
              <a:t>常量表达式</a:t>
            </a:r>
            <a:r>
              <a:rPr lang="en-US" altLang="zh-CN" sz="2000" dirty="0">
                <a:solidFill>
                  <a:srgbClr val="C00000"/>
                </a:solidFill>
                <a:latin typeface="+mn-lt"/>
                <a:ea typeface="隶书" pitchFamily="49" charset="-122"/>
              </a:rPr>
              <a:t>];</a:t>
            </a:r>
          </a:p>
        </p:txBody>
      </p:sp>
      <p:sp>
        <p:nvSpPr>
          <p:cNvPr id="1165322" name="Text Box 10" descr="信纸"/>
          <p:cNvSpPr txBox="1">
            <a:spLocks noChangeArrowheads="1"/>
          </p:cNvSpPr>
          <p:nvPr/>
        </p:nvSpPr>
        <p:spPr bwMode="auto">
          <a:xfrm>
            <a:off x="1775520" y="3287909"/>
            <a:ext cx="4554167" cy="2677656"/>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dirty="0">
                <a:solidFill>
                  <a:srgbClr val="C00000"/>
                </a:solidFill>
                <a:ea typeface="隶书" pitchFamily="49" charset="-122"/>
              </a:rPr>
              <a:t>例：</a:t>
            </a:r>
          </a:p>
          <a:p>
            <a:r>
              <a:rPr lang="zh-CN" altLang="en-US" dirty="0">
                <a:solidFill>
                  <a:srgbClr val="FF0000"/>
                </a:solidFill>
                <a:ea typeface="隶书" pitchFamily="49" charset="-122"/>
              </a:rPr>
              <a:t>   </a:t>
            </a:r>
            <a:r>
              <a:rPr lang="en-US" altLang="zh-CN" dirty="0"/>
              <a:t>char c[3] = {'a', 'b', 'c'};</a:t>
            </a:r>
          </a:p>
          <a:p>
            <a:r>
              <a:rPr lang="en-US" altLang="zh-CN" dirty="0"/>
              <a:t>   </a:t>
            </a:r>
            <a:r>
              <a:rPr lang="en-US" altLang="zh-CN" dirty="0">
                <a:solidFill>
                  <a:srgbClr val="CC0000"/>
                </a:solidFill>
              </a:rPr>
              <a:t>char *p[3];</a:t>
            </a:r>
          </a:p>
          <a:p>
            <a:endParaRPr lang="en-US" altLang="zh-CN" dirty="0"/>
          </a:p>
          <a:p>
            <a:r>
              <a:rPr lang="en-US" altLang="zh-CN" dirty="0"/>
              <a:t>   p[0] = &amp;c[0];</a:t>
            </a:r>
          </a:p>
          <a:p>
            <a:r>
              <a:rPr lang="en-US" altLang="zh-CN" dirty="0"/>
              <a:t>   p[1] = &amp;c[1];</a:t>
            </a:r>
          </a:p>
          <a:p>
            <a:r>
              <a:rPr lang="en-US" altLang="zh-CN" dirty="0"/>
              <a:t>   p[2] = &amp;c[2]; </a:t>
            </a:r>
          </a:p>
        </p:txBody>
      </p:sp>
      <p:grpSp>
        <p:nvGrpSpPr>
          <p:cNvPr id="1165392" name="Group 80"/>
          <p:cNvGrpSpPr>
            <a:grpSpLocks/>
          </p:cNvGrpSpPr>
          <p:nvPr/>
        </p:nvGrpSpPr>
        <p:grpSpPr bwMode="auto">
          <a:xfrm>
            <a:off x="6644011" y="2852936"/>
            <a:ext cx="3051175" cy="3771900"/>
            <a:chOff x="2971" y="1661"/>
            <a:chExt cx="1922" cy="2376"/>
          </a:xfrm>
        </p:grpSpPr>
        <p:grpSp>
          <p:nvGrpSpPr>
            <p:cNvPr id="1165390" name="Group 78"/>
            <p:cNvGrpSpPr>
              <a:grpSpLocks/>
            </p:cNvGrpSpPr>
            <p:nvPr/>
          </p:nvGrpSpPr>
          <p:grpSpPr bwMode="auto">
            <a:xfrm>
              <a:off x="2979" y="2046"/>
              <a:ext cx="953" cy="545"/>
              <a:chOff x="2979" y="2046"/>
              <a:chExt cx="953" cy="545"/>
            </a:xfrm>
          </p:grpSpPr>
          <p:sp>
            <p:nvSpPr>
              <p:cNvPr id="1165360" name="AutoShape 48"/>
              <p:cNvSpPr>
                <a:spLocks/>
              </p:cNvSpPr>
              <p:nvPr/>
            </p:nvSpPr>
            <p:spPr bwMode="auto">
              <a:xfrm>
                <a:off x="3804" y="2046"/>
                <a:ext cx="91" cy="545"/>
              </a:xfrm>
              <a:prstGeom prst="leftBrace">
                <a:avLst>
                  <a:gd name="adj1" fmla="val 49908"/>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65361" name="Text Box 49"/>
              <p:cNvSpPr txBox="1">
                <a:spLocks noChangeArrowheads="1"/>
              </p:cNvSpPr>
              <p:nvPr/>
            </p:nvSpPr>
            <p:spPr bwMode="auto">
              <a:xfrm>
                <a:off x="2979" y="2178"/>
                <a:ext cx="953" cy="250"/>
              </a:xfrm>
              <a:prstGeom prst="rect">
                <a:avLst/>
              </a:prstGeom>
              <a:noFill/>
              <a:ln w="9525">
                <a:noFill/>
                <a:miter lim="800000"/>
                <a:headEnd/>
                <a:tailEnd/>
              </a:ln>
              <a:effectLst/>
            </p:spPr>
            <p:txBody>
              <a:bodyPr>
                <a:spAutoFit/>
              </a:bodyPr>
              <a:lstStyle/>
              <a:p>
                <a:pPr>
                  <a:lnSpc>
                    <a:spcPct val="100000"/>
                  </a:lnSpc>
                  <a:spcBef>
                    <a:spcPct val="50000"/>
                  </a:spcBef>
                </a:pPr>
                <a:r>
                  <a:rPr lang="zh-CN" altLang="en-US" sz="2000" dirty="0">
                    <a:solidFill>
                      <a:srgbClr val="C00000"/>
                    </a:solidFill>
                    <a:latin typeface="+mn-lt"/>
                    <a:ea typeface="楷体" pitchFamily="49" charset="-122"/>
                  </a:rPr>
                  <a:t>指针数组</a:t>
                </a:r>
                <a:r>
                  <a:rPr lang="en-US" altLang="zh-CN" sz="2000" dirty="0">
                    <a:solidFill>
                      <a:srgbClr val="C00000"/>
                    </a:solidFill>
                    <a:latin typeface="+mn-lt"/>
                    <a:ea typeface="楷体" pitchFamily="49" charset="-122"/>
                  </a:rPr>
                  <a:t>p</a:t>
                </a:r>
              </a:p>
            </p:txBody>
          </p:sp>
        </p:grpSp>
        <p:grpSp>
          <p:nvGrpSpPr>
            <p:cNvPr id="1165391" name="Group 79"/>
            <p:cNvGrpSpPr>
              <a:grpSpLocks/>
            </p:cNvGrpSpPr>
            <p:nvPr/>
          </p:nvGrpSpPr>
          <p:grpSpPr bwMode="auto">
            <a:xfrm>
              <a:off x="2971" y="2846"/>
              <a:ext cx="1020" cy="705"/>
              <a:chOff x="2971" y="2846"/>
              <a:chExt cx="1020" cy="705"/>
            </a:xfrm>
          </p:grpSpPr>
          <p:grpSp>
            <p:nvGrpSpPr>
              <p:cNvPr id="1165387" name="Group 75"/>
              <p:cNvGrpSpPr>
                <a:grpSpLocks/>
              </p:cNvGrpSpPr>
              <p:nvPr/>
            </p:nvGrpSpPr>
            <p:grpSpPr bwMode="auto">
              <a:xfrm>
                <a:off x="3553" y="2846"/>
                <a:ext cx="438" cy="705"/>
                <a:chOff x="3553" y="2846"/>
                <a:chExt cx="438" cy="705"/>
              </a:xfrm>
            </p:grpSpPr>
            <p:sp>
              <p:nvSpPr>
                <p:cNvPr id="1165353" name="Text Box 41"/>
                <p:cNvSpPr txBox="1">
                  <a:spLocks noChangeArrowheads="1"/>
                </p:cNvSpPr>
                <p:nvPr/>
              </p:nvSpPr>
              <p:spPr bwMode="auto">
                <a:xfrm>
                  <a:off x="3553" y="2846"/>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a typeface="隶书" pitchFamily="49" charset="-122"/>
                    </a:rPr>
                    <a:t>2000</a:t>
                  </a:r>
                </a:p>
              </p:txBody>
            </p:sp>
            <p:sp>
              <p:nvSpPr>
                <p:cNvPr id="1165354" name="Text Box 42"/>
                <p:cNvSpPr txBox="1">
                  <a:spLocks noChangeArrowheads="1"/>
                </p:cNvSpPr>
                <p:nvPr/>
              </p:nvSpPr>
              <p:spPr bwMode="auto">
                <a:xfrm>
                  <a:off x="3553" y="3072"/>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a typeface="隶书" pitchFamily="49" charset="-122"/>
                    </a:rPr>
                    <a:t>2001</a:t>
                  </a:r>
                </a:p>
              </p:txBody>
            </p:sp>
            <p:sp>
              <p:nvSpPr>
                <p:cNvPr id="1165355" name="Text Box 43"/>
                <p:cNvSpPr txBox="1">
                  <a:spLocks noChangeArrowheads="1"/>
                </p:cNvSpPr>
                <p:nvPr/>
              </p:nvSpPr>
              <p:spPr bwMode="auto">
                <a:xfrm>
                  <a:off x="3555" y="3298"/>
                  <a:ext cx="434"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a typeface="隶书" pitchFamily="49" charset="-122"/>
                    </a:rPr>
                    <a:t>2002</a:t>
                  </a:r>
                </a:p>
              </p:txBody>
            </p:sp>
          </p:grpSp>
          <p:sp>
            <p:nvSpPr>
              <p:cNvPr id="1165363" name="AutoShape 51"/>
              <p:cNvSpPr>
                <a:spLocks/>
              </p:cNvSpPr>
              <p:nvPr/>
            </p:nvSpPr>
            <p:spPr bwMode="auto">
              <a:xfrm>
                <a:off x="3489" y="2949"/>
                <a:ext cx="91" cy="545"/>
              </a:xfrm>
              <a:prstGeom prst="leftBrace">
                <a:avLst>
                  <a:gd name="adj1" fmla="val 49908"/>
                  <a:gd name="adj2" fmla="val 50000"/>
                </a:avLst>
              </a:prstGeom>
              <a:noFill/>
              <a:ln w="25400">
                <a:solidFill>
                  <a:schemeClr val="accent1">
                    <a:lumMod val="50000"/>
                  </a:schemeClr>
                </a:solidFill>
                <a:round/>
                <a:headEnd/>
                <a:tailEnd/>
              </a:ln>
              <a:effectLst>
                <a:outerShdw dist="35921" dir="2700000" algn="ctr" rotWithShape="0">
                  <a:schemeClr val="bg2"/>
                </a:outerShdw>
              </a:effectLst>
            </p:spPr>
            <p:txBody>
              <a:bodyPr wrap="none" anchor="ctr"/>
              <a:lstStyle/>
              <a:p>
                <a:pPr marL="342900" indent="-342900" algn="ctr"/>
                <a:endParaRPr lang="zh-CN" altLang="zh-CN" sz="2000">
                  <a:solidFill>
                    <a:srgbClr val="339933"/>
                  </a:solidFill>
                </a:endParaRPr>
              </a:p>
            </p:txBody>
          </p:sp>
          <p:sp>
            <p:nvSpPr>
              <p:cNvPr id="1165364" name="Text Box 52"/>
              <p:cNvSpPr txBox="1">
                <a:spLocks noChangeArrowheads="1"/>
              </p:cNvSpPr>
              <p:nvPr/>
            </p:nvSpPr>
            <p:spPr bwMode="auto">
              <a:xfrm>
                <a:off x="2971" y="3067"/>
                <a:ext cx="544" cy="250"/>
              </a:xfrm>
              <a:prstGeom prst="rect">
                <a:avLst/>
              </a:prstGeom>
              <a:noFill/>
              <a:ln w="9525">
                <a:noFill/>
                <a:miter lim="800000"/>
                <a:headEnd/>
                <a:tailEnd/>
              </a:ln>
              <a:effectLst/>
            </p:spPr>
            <p:txBody>
              <a:bodyPr>
                <a:spAutoFit/>
              </a:bodyPr>
              <a:lstStyle/>
              <a:p>
                <a:pPr>
                  <a:lnSpc>
                    <a:spcPct val="100000"/>
                  </a:lnSpc>
                  <a:spcBef>
                    <a:spcPct val="50000"/>
                  </a:spcBef>
                </a:pPr>
                <a:r>
                  <a:rPr lang="zh-CN" altLang="en-US" sz="2000" dirty="0">
                    <a:solidFill>
                      <a:schemeClr val="accent1">
                        <a:lumMod val="50000"/>
                      </a:schemeClr>
                    </a:solidFill>
                    <a:latin typeface="+mn-lt"/>
                    <a:ea typeface="楷体" pitchFamily="49" charset="-122"/>
                  </a:rPr>
                  <a:t>数组</a:t>
                </a:r>
                <a:r>
                  <a:rPr lang="en-US" altLang="zh-CN" sz="2000" dirty="0">
                    <a:solidFill>
                      <a:schemeClr val="accent1">
                        <a:lumMod val="50000"/>
                      </a:schemeClr>
                    </a:solidFill>
                    <a:latin typeface="+mn-lt"/>
                    <a:ea typeface="楷体" pitchFamily="49" charset="-122"/>
                  </a:rPr>
                  <a:t>c</a:t>
                </a:r>
              </a:p>
            </p:txBody>
          </p:sp>
        </p:grpSp>
        <p:grpSp>
          <p:nvGrpSpPr>
            <p:cNvPr id="1165389" name="Group 77"/>
            <p:cNvGrpSpPr>
              <a:grpSpLocks/>
            </p:cNvGrpSpPr>
            <p:nvPr/>
          </p:nvGrpSpPr>
          <p:grpSpPr bwMode="auto">
            <a:xfrm>
              <a:off x="3957" y="1661"/>
              <a:ext cx="936" cy="2376"/>
              <a:chOff x="3957" y="1661"/>
              <a:chExt cx="936" cy="2376"/>
            </a:xfrm>
          </p:grpSpPr>
          <p:grpSp>
            <p:nvGrpSpPr>
              <p:cNvPr id="1165373" name="Group 61"/>
              <p:cNvGrpSpPr>
                <a:grpSpLocks/>
              </p:cNvGrpSpPr>
              <p:nvPr/>
            </p:nvGrpSpPr>
            <p:grpSpPr bwMode="auto">
              <a:xfrm>
                <a:off x="3957" y="1661"/>
                <a:ext cx="936" cy="2376"/>
                <a:chOff x="3957" y="1661"/>
                <a:chExt cx="936" cy="2376"/>
              </a:xfrm>
            </p:grpSpPr>
            <p:grpSp>
              <p:nvGrpSpPr>
                <p:cNvPr id="1165325" name="Group 13"/>
                <p:cNvGrpSpPr>
                  <a:grpSpLocks/>
                </p:cNvGrpSpPr>
                <p:nvPr/>
              </p:nvGrpSpPr>
              <p:grpSpPr bwMode="auto">
                <a:xfrm>
                  <a:off x="3957" y="1661"/>
                  <a:ext cx="936" cy="2376"/>
                  <a:chOff x="4032" y="444"/>
                  <a:chExt cx="936" cy="2376"/>
                </a:xfrm>
              </p:grpSpPr>
              <p:sp>
                <p:nvSpPr>
                  <p:cNvPr id="1165326" name="AutoShape 14"/>
                  <p:cNvSpPr>
                    <a:spLocks noChangeArrowheads="1"/>
                  </p:cNvSpPr>
                  <p:nvPr/>
                </p:nvSpPr>
                <p:spPr bwMode="auto">
                  <a:xfrm>
                    <a:off x="4032" y="444"/>
                    <a:ext cx="936" cy="2376"/>
                  </a:xfrm>
                  <a:prstGeom prst="foldedCorner">
                    <a:avLst>
                      <a:gd name="adj" fmla="val 13745"/>
                    </a:avLst>
                  </a:prstGeom>
                  <a:solidFill>
                    <a:srgbClr val="DDFAED"/>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a typeface="隶书" pitchFamily="49" charset="-122"/>
                    </a:endParaRPr>
                  </a:p>
                </p:txBody>
              </p:sp>
              <p:sp>
                <p:nvSpPr>
                  <p:cNvPr id="1165327" name="Line 15"/>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28" name="Line 16"/>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29" name="Line 17"/>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30" name="Line 18"/>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31" name="Line 19"/>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32" name="Line 20"/>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33" name="Line 21"/>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34" name="Line 22"/>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35" name="Line 23"/>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grpSp>
            <p:sp>
              <p:nvSpPr>
                <p:cNvPr id="1165370" name="Text Box 58"/>
                <p:cNvSpPr txBox="1">
                  <a:spLocks noChangeArrowheads="1"/>
                </p:cNvSpPr>
                <p:nvPr/>
              </p:nvSpPr>
              <p:spPr bwMode="auto">
                <a:xfrm>
                  <a:off x="4056" y="2844"/>
                  <a:ext cx="791"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chemeClr val="accent1">
                          <a:lumMod val="50000"/>
                        </a:schemeClr>
                      </a:solidFill>
                      <a:ea typeface="宋体" pitchFamily="2" charset="-122"/>
                    </a:rPr>
                    <a:t>c[0]  </a:t>
                  </a:r>
                  <a:r>
                    <a:rPr lang="en-US" altLang="zh-CN" sz="2000" dirty="0"/>
                    <a:t>'a' </a:t>
                  </a:r>
                </a:p>
              </p:txBody>
            </p:sp>
            <p:sp>
              <p:nvSpPr>
                <p:cNvPr id="1165371" name="Text Box 59"/>
                <p:cNvSpPr txBox="1">
                  <a:spLocks noChangeArrowheads="1"/>
                </p:cNvSpPr>
                <p:nvPr/>
              </p:nvSpPr>
              <p:spPr bwMode="auto">
                <a:xfrm>
                  <a:off x="4056" y="3078"/>
                  <a:ext cx="791"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chemeClr val="accent1">
                          <a:lumMod val="50000"/>
                        </a:schemeClr>
                      </a:solidFill>
                      <a:ea typeface="宋体" pitchFamily="2" charset="-122"/>
                    </a:rPr>
                    <a:t>c[1]  </a:t>
                  </a:r>
                  <a:r>
                    <a:rPr lang="en-US" altLang="zh-CN" sz="2000" dirty="0"/>
                    <a:t>'b' </a:t>
                  </a:r>
                </a:p>
              </p:txBody>
            </p:sp>
            <p:sp>
              <p:nvSpPr>
                <p:cNvPr id="1165372" name="Text Box 60"/>
                <p:cNvSpPr txBox="1">
                  <a:spLocks noChangeArrowheads="1"/>
                </p:cNvSpPr>
                <p:nvPr/>
              </p:nvSpPr>
              <p:spPr bwMode="auto">
                <a:xfrm>
                  <a:off x="4056" y="3303"/>
                  <a:ext cx="791"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chemeClr val="accent1">
                          <a:lumMod val="50000"/>
                        </a:schemeClr>
                      </a:solidFill>
                      <a:ea typeface="宋体" pitchFamily="2" charset="-122"/>
                    </a:rPr>
                    <a:t>c[2]  </a:t>
                  </a:r>
                  <a:r>
                    <a:rPr lang="en-US" altLang="zh-CN" sz="2000" dirty="0"/>
                    <a:t>'c' </a:t>
                  </a:r>
                </a:p>
              </p:txBody>
            </p:sp>
          </p:grpSp>
          <p:grpSp>
            <p:nvGrpSpPr>
              <p:cNvPr id="1165388" name="Group 76"/>
              <p:cNvGrpSpPr>
                <a:grpSpLocks/>
              </p:cNvGrpSpPr>
              <p:nvPr/>
            </p:nvGrpSpPr>
            <p:grpSpPr bwMode="auto">
              <a:xfrm>
                <a:off x="4023" y="1934"/>
                <a:ext cx="814" cy="701"/>
                <a:chOff x="4023" y="1934"/>
                <a:chExt cx="814" cy="701"/>
              </a:xfrm>
            </p:grpSpPr>
            <p:sp>
              <p:nvSpPr>
                <p:cNvPr id="1165367" name="Text Box 55"/>
                <p:cNvSpPr txBox="1">
                  <a:spLocks noChangeArrowheads="1"/>
                </p:cNvSpPr>
                <p:nvPr/>
              </p:nvSpPr>
              <p:spPr bwMode="auto">
                <a:xfrm>
                  <a:off x="4023" y="1934"/>
                  <a:ext cx="791" cy="250"/>
                </a:xfrm>
                <a:prstGeom prst="rect">
                  <a:avLst/>
                </a:prstGeom>
                <a:noFill/>
                <a:ln w="9525">
                  <a:noFill/>
                  <a:miter lim="800000"/>
                  <a:headEnd/>
                  <a:tailEnd/>
                </a:ln>
                <a:effectLst/>
              </p:spPr>
              <p:txBody>
                <a:bodyPr>
                  <a:spAutoFit/>
                </a:bodyPr>
                <a:lstStyle/>
                <a:p>
                  <a:pPr>
                    <a:lnSpc>
                      <a:spcPct val="100000"/>
                    </a:lnSpc>
                    <a:spcBef>
                      <a:spcPct val="50000"/>
                    </a:spcBef>
                  </a:pPr>
                  <a:r>
                    <a:rPr kumimoji="0" lang="en-US" altLang="zh-CN" sz="2000" dirty="0">
                      <a:solidFill>
                        <a:schemeClr val="accent2">
                          <a:lumMod val="50000"/>
                        </a:schemeClr>
                      </a:solidFill>
                      <a:ea typeface="宋体" pitchFamily="2" charset="-122"/>
                    </a:rPr>
                    <a:t>p[</a:t>
                  </a:r>
                  <a:r>
                    <a:rPr lang="en-US" altLang="zh-CN" sz="2000" dirty="0">
                      <a:solidFill>
                        <a:schemeClr val="accent2">
                          <a:lumMod val="50000"/>
                        </a:schemeClr>
                      </a:solidFill>
                      <a:ea typeface="宋体" pitchFamily="2" charset="-122"/>
                    </a:rPr>
                    <a:t>0]  </a:t>
                  </a:r>
                  <a:r>
                    <a:rPr lang="en-US" altLang="zh-CN" sz="2000" dirty="0">
                      <a:solidFill>
                        <a:srgbClr val="C00000"/>
                      </a:solidFill>
                      <a:ea typeface="宋体" pitchFamily="2" charset="-122"/>
                    </a:rPr>
                    <a:t>2000</a:t>
                  </a:r>
                </a:p>
              </p:txBody>
            </p:sp>
            <p:sp>
              <p:nvSpPr>
                <p:cNvPr id="1165368" name="Text Box 56"/>
                <p:cNvSpPr txBox="1">
                  <a:spLocks noChangeArrowheads="1"/>
                </p:cNvSpPr>
                <p:nvPr/>
              </p:nvSpPr>
              <p:spPr bwMode="auto">
                <a:xfrm>
                  <a:off x="4035" y="2169"/>
                  <a:ext cx="791"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chemeClr val="accent2">
                          <a:lumMod val="50000"/>
                        </a:schemeClr>
                      </a:solidFill>
                      <a:ea typeface="宋体" pitchFamily="2" charset="-122"/>
                    </a:rPr>
                    <a:t>p[1]  </a:t>
                  </a:r>
                  <a:r>
                    <a:rPr lang="en-US" altLang="zh-CN" sz="2000" dirty="0">
                      <a:solidFill>
                        <a:srgbClr val="C00000"/>
                      </a:solidFill>
                      <a:ea typeface="宋体" pitchFamily="2" charset="-122"/>
                    </a:rPr>
                    <a:t>2001</a:t>
                  </a:r>
                </a:p>
              </p:txBody>
            </p:sp>
            <p:sp>
              <p:nvSpPr>
                <p:cNvPr id="1165369" name="Text Box 57"/>
                <p:cNvSpPr txBox="1">
                  <a:spLocks noChangeArrowheads="1"/>
                </p:cNvSpPr>
                <p:nvPr/>
              </p:nvSpPr>
              <p:spPr bwMode="auto">
                <a:xfrm>
                  <a:off x="4045" y="2385"/>
                  <a:ext cx="792"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dirty="0">
                      <a:solidFill>
                        <a:schemeClr val="accent2">
                          <a:lumMod val="50000"/>
                        </a:schemeClr>
                      </a:solidFill>
                      <a:ea typeface="宋体" pitchFamily="2" charset="-122"/>
                    </a:rPr>
                    <a:t>p[2]  </a:t>
                  </a:r>
                  <a:r>
                    <a:rPr lang="en-US" altLang="zh-CN" sz="2000" dirty="0">
                      <a:solidFill>
                        <a:srgbClr val="C00000"/>
                      </a:solidFill>
                      <a:ea typeface="宋体" pitchFamily="2" charset="-122"/>
                    </a:rPr>
                    <a:t>2002</a:t>
                  </a:r>
                </a:p>
              </p:txBody>
            </p:sp>
          </p:grpSp>
        </p:grpSp>
      </p:grpSp>
      <p:grpSp>
        <p:nvGrpSpPr>
          <p:cNvPr id="1165377" name="Group 65"/>
          <p:cNvGrpSpPr>
            <a:grpSpLocks/>
          </p:cNvGrpSpPr>
          <p:nvPr/>
        </p:nvGrpSpPr>
        <p:grpSpPr bwMode="auto">
          <a:xfrm>
            <a:off x="9595172" y="3494286"/>
            <a:ext cx="433388" cy="1439862"/>
            <a:chOff x="4830" y="2065"/>
            <a:chExt cx="273" cy="907"/>
          </a:xfrm>
        </p:grpSpPr>
        <p:sp>
          <p:nvSpPr>
            <p:cNvPr id="1165374" name="Line 62"/>
            <p:cNvSpPr>
              <a:spLocks noChangeShapeType="1"/>
            </p:cNvSpPr>
            <p:nvPr/>
          </p:nvSpPr>
          <p:spPr bwMode="auto">
            <a:xfrm>
              <a:off x="4830" y="2073"/>
              <a:ext cx="273" cy="0"/>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sp>
          <p:nvSpPr>
            <p:cNvPr id="1165375" name="Line 63"/>
            <p:cNvSpPr>
              <a:spLocks noChangeShapeType="1"/>
            </p:cNvSpPr>
            <p:nvPr/>
          </p:nvSpPr>
          <p:spPr bwMode="auto">
            <a:xfrm>
              <a:off x="5099" y="2065"/>
              <a:ext cx="0" cy="907"/>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sp>
          <p:nvSpPr>
            <p:cNvPr id="1165376" name="Line 64"/>
            <p:cNvSpPr>
              <a:spLocks noChangeShapeType="1"/>
            </p:cNvSpPr>
            <p:nvPr/>
          </p:nvSpPr>
          <p:spPr bwMode="auto">
            <a:xfrm flipH="1">
              <a:off x="4912" y="2971"/>
              <a:ext cx="182"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1165378" name="Group 66"/>
          <p:cNvGrpSpPr>
            <a:grpSpLocks/>
          </p:cNvGrpSpPr>
          <p:nvPr/>
        </p:nvGrpSpPr>
        <p:grpSpPr bwMode="auto">
          <a:xfrm>
            <a:off x="9568186" y="3881636"/>
            <a:ext cx="604837" cy="1439862"/>
            <a:chOff x="4830" y="2065"/>
            <a:chExt cx="273" cy="907"/>
          </a:xfrm>
        </p:grpSpPr>
        <p:sp>
          <p:nvSpPr>
            <p:cNvPr id="1165379" name="Line 67"/>
            <p:cNvSpPr>
              <a:spLocks noChangeShapeType="1"/>
            </p:cNvSpPr>
            <p:nvPr/>
          </p:nvSpPr>
          <p:spPr bwMode="auto">
            <a:xfrm>
              <a:off x="4830" y="2073"/>
              <a:ext cx="273" cy="0"/>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sp>
          <p:nvSpPr>
            <p:cNvPr id="1165380" name="Line 68"/>
            <p:cNvSpPr>
              <a:spLocks noChangeShapeType="1"/>
            </p:cNvSpPr>
            <p:nvPr/>
          </p:nvSpPr>
          <p:spPr bwMode="auto">
            <a:xfrm>
              <a:off x="5100" y="2065"/>
              <a:ext cx="0" cy="907"/>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sp>
          <p:nvSpPr>
            <p:cNvPr id="1165381" name="Line 69"/>
            <p:cNvSpPr>
              <a:spLocks noChangeShapeType="1"/>
            </p:cNvSpPr>
            <p:nvPr/>
          </p:nvSpPr>
          <p:spPr bwMode="auto">
            <a:xfrm flipH="1">
              <a:off x="4918" y="2967"/>
              <a:ext cx="182"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1165386" name="Group 74"/>
          <p:cNvGrpSpPr>
            <a:grpSpLocks/>
          </p:cNvGrpSpPr>
          <p:nvPr/>
        </p:nvGrpSpPr>
        <p:grpSpPr bwMode="auto">
          <a:xfrm>
            <a:off x="9569772" y="4254699"/>
            <a:ext cx="774700" cy="1439863"/>
            <a:chOff x="4814" y="2544"/>
            <a:chExt cx="488" cy="907"/>
          </a:xfrm>
        </p:grpSpPr>
        <p:sp>
          <p:nvSpPr>
            <p:cNvPr id="1165383" name="Line 71"/>
            <p:cNvSpPr>
              <a:spLocks noChangeShapeType="1"/>
            </p:cNvSpPr>
            <p:nvPr/>
          </p:nvSpPr>
          <p:spPr bwMode="auto">
            <a:xfrm>
              <a:off x="4814" y="2552"/>
              <a:ext cx="488" cy="0"/>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sp>
          <p:nvSpPr>
            <p:cNvPr id="1165384" name="Line 72"/>
            <p:cNvSpPr>
              <a:spLocks noChangeShapeType="1"/>
            </p:cNvSpPr>
            <p:nvPr/>
          </p:nvSpPr>
          <p:spPr bwMode="auto">
            <a:xfrm>
              <a:off x="5298" y="2544"/>
              <a:ext cx="0" cy="907"/>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sp>
          <p:nvSpPr>
            <p:cNvPr id="1165385" name="Line 73"/>
            <p:cNvSpPr>
              <a:spLocks noChangeShapeType="1"/>
            </p:cNvSpPr>
            <p:nvPr/>
          </p:nvSpPr>
          <p:spPr bwMode="auto">
            <a:xfrm flipH="1">
              <a:off x="4929" y="3450"/>
              <a:ext cx="370"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52" name="Rectangle 4">
            <a:extLst>
              <a:ext uri="{FF2B5EF4-FFF2-40B4-BE49-F238E27FC236}">
                <a16:creationId xmlns:a16="http://schemas.microsoft.com/office/drawing/2014/main" id="{2E91E318-BA2E-40D5-8148-1CCE602D14E0}"/>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5314">
                                            <p:txEl>
                                              <p:pRg st="0" end="0"/>
                                            </p:txEl>
                                          </p:spTgt>
                                        </p:tgtEl>
                                        <p:attrNameLst>
                                          <p:attrName>style.visibility</p:attrName>
                                        </p:attrNameLst>
                                      </p:cBhvr>
                                      <p:to>
                                        <p:strVal val="visible"/>
                                      </p:to>
                                    </p:set>
                                    <p:anim calcmode="lin" valueType="num">
                                      <p:cBhvr additive="base">
                                        <p:cTn id="7" dur="500" fill="hold"/>
                                        <p:tgtEl>
                                          <p:spTgt spid="116531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531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65318"/>
                                        </p:tgtEl>
                                        <p:attrNameLst>
                                          <p:attrName>style.visibility</p:attrName>
                                        </p:attrNameLst>
                                      </p:cBhvr>
                                      <p:to>
                                        <p:strVal val="visible"/>
                                      </p:to>
                                    </p:set>
                                    <p:animEffect transition="in" filter="box(out)">
                                      <p:cBhvr>
                                        <p:cTn id="13" dur="500"/>
                                        <p:tgtEl>
                                          <p:spTgt spid="1165318"/>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65319"/>
                                        </p:tgtEl>
                                        <p:attrNameLst>
                                          <p:attrName>style.visibility</p:attrName>
                                        </p:attrNameLst>
                                      </p:cBhvr>
                                      <p:to>
                                        <p:strVal val="visible"/>
                                      </p:to>
                                    </p:set>
                                    <p:animEffect transition="in" filter="box(out)">
                                      <p:cBhvr>
                                        <p:cTn id="18" dur="500"/>
                                        <p:tgtEl>
                                          <p:spTgt spid="1165319"/>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65322"/>
                                        </p:tgtEl>
                                        <p:attrNameLst>
                                          <p:attrName>style.visibility</p:attrName>
                                        </p:attrNameLst>
                                      </p:cBhvr>
                                      <p:to>
                                        <p:strVal val="visible"/>
                                      </p:to>
                                    </p:set>
                                    <p:animEffect transition="in" filter="box(out)">
                                      <p:cBhvr>
                                        <p:cTn id="23" dur="500"/>
                                        <p:tgtEl>
                                          <p:spTgt spid="1165322"/>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165392"/>
                                        </p:tgtEl>
                                        <p:attrNameLst>
                                          <p:attrName>style.visibility</p:attrName>
                                        </p:attrNameLst>
                                      </p:cBhvr>
                                      <p:to>
                                        <p:strVal val="visible"/>
                                      </p:to>
                                    </p:set>
                                    <p:animEffect transition="in" filter="box(out)">
                                      <p:cBhvr>
                                        <p:cTn id="28" dur="500"/>
                                        <p:tgtEl>
                                          <p:spTgt spid="1165392"/>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12" fill="hold" nodeType="clickEffect">
                                  <p:stCondLst>
                                    <p:cond delay="0"/>
                                  </p:stCondLst>
                                  <p:childTnLst>
                                    <p:set>
                                      <p:cBhvr>
                                        <p:cTn id="32" dur="1" fill="hold">
                                          <p:stCondLst>
                                            <p:cond delay="0"/>
                                          </p:stCondLst>
                                        </p:cTn>
                                        <p:tgtEl>
                                          <p:spTgt spid="1165377"/>
                                        </p:tgtEl>
                                        <p:attrNameLst>
                                          <p:attrName>style.visibility</p:attrName>
                                        </p:attrNameLst>
                                      </p:cBhvr>
                                      <p:to>
                                        <p:strVal val="visible"/>
                                      </p:to>
                                    </p:set>
                                    <p:animEffect transition="in" filter="strips(downLeft)">
                                      <p:cBhvr>
                                        <p:cTn id="33" dur="500"/>
                                        <p:tgtEl>
                                          <p:spTgt spid="1165377"/>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12" fill="hold" nodeType="clickEffect">
                                  <p:stCondLst>
                                    <p:cond delay="0"/>
                                  </p:stCondLst>
                                  <p:childTnLst>
                                    <p:set>
                                      <p:cBhvr>
                                        <p:cTn id="37" dur="1" fill="hold">
                                          <p:stCondLst>
                                            <p:cond delay="0"/>
                                          </p:stCondLst>
                                        </p:cTn>
                                        <p:tgtEl>
                                          <p:spTgt spid="1165378"/>
                                        </p:tgtEl>
                                        <p:attrNameLst>
                                          <p:attrName>style.visibility</p:attrName>
                                        </p:attrNameLst>
                                      </p:cBhvr>
                                      <p:to>
                                        <p:strVal val="visible"/>
                                      </p:to>
                                    </p:set>
                                    <p:animEffect transition="in" filter="strips(downLeft)">
                                      <p:cBhvr>
                                        <p:cTn id="38" dur="500"/>
                                        <p:tgtEl>
                                          <p:spTgt spid="1165378"/>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1165386"/>
                                        </p:tgtEl>
                                        <p:attrNameLst>
                                          <p:attrName>style.visibility</p:attrName>
                                        </p:attrNameLst>
                                      </p:cBhvr>
                                      <p:to>
                                        <p:strVal val="visible"/>
                                      </p:to>
                                    </p:set>
                                    <p:animEffect transition="in" filter="strips(downLeft)">
                                      <p:cBhvr>
                                        <p:cTn id="43" dur="500"/>
                                        <p:tgtEl>
                                          <p:spTgt spid="1165386"/>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314" grpId="0" build="p" bldLvl="5" autoUpdateAnimBg="0"/>
      <p:bldP spid="1165318" grpId="0"/>
      <p:bldP spid="1165319" grpId="0" animBg="1"/>
      <p:bldP spid="1165322"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338" name="Rectangle 2"/>
          <p:cNvSpPr>
            <a:spLocks noChangeArrowheads="1"/>
          </p:cNvSpPr>
          <p:nvPr/>
        </p:nvSpPr>
        <p:spPr bwMode="auto">
          <a:xfrm>
            <a:off x="601366" y="821613"/>
            <a:ext cx="5473700" cy="503237"/>
          </a:xfrm>
          <a:prstGeom prst="rect">
            <a:avLst/>
          </a:prstGeom>
          <a:noFill/>
          <a:ln w="9525">
            <a:noFill/>
            <a:miter lim="800000"/>
            <a:headEnd/>
            <a:tailEnd/>
          </a:ln>
          <a:effectLst/>
        </p:spPr>
        <p:txBody>
          <a:bodyPr/>
          <a:lstStyle/>
          <a:p>
            <a:pPr marL="342900" indent="-342900">
              <a:lnSpc>
                <a:spcPct val="100000"/>
              </a:lnSpc>
            </a:pPr>
            <a:r>
              <a:rPr lang="en-US" altLang="zh-CN" sz="2800" b="1" dirty="0">
                <a:solidFill>
                  <a:srgbClr val="C00000"/>
                </a:solidFill>
                <a:latin typeface="+mn-lt"/>
                <a:ea typeface="楷体" pitchFamily="49" charset="-122"/>
                <a:sym typeface="Symbol" pitchFamily="18" charset="2"/>
              </a:rPr>
              <a:t>4</a:t>
            </a:r>
            <a:r>
              <a:rPr lang="zh-CN" altLang="en-US" sz="2800" b="1" dirty="0">
                <a:solidFill>
                  <a:srgbClr val="C00000"/>
                </a:solidFill>
                <a:latin typeface="+mn-lt"/>
                <a:ea typeface="楷体" pitchFamily="49" charset="-122"/>
                <a:sym typeface="Symbol" pitchFamily="18" charset="2"/>
              </a:rPr>
              <a:t>、指针数组与数组指针的比较</a:t>
            </a:r>
          </a:p>
        </p:txBody>
      </p:sp>
      <p:grpSp>
        <p:nvGrpSpPr>
          <p:cNvPr id="1166418" name="Group 82"/>
          <p:cNvGrpSpPr>
            <a:grpSpLocks/>
          </p:cNvGrpSpPr>
          <p:nvPr/>
        </p:nvGrpSpPr>
        <p:grpSpPr bwMode="auto">
          <a:xfrm>
            <a:off x="997083" y="1484784"/>
            <a:ext cx="5004662" cy="3078163"/>
            <a:chOff x="476" y="709"/>
            <a:chExt cx="2728" cy="1939"/>
          </a:xfrm>
          <a:effectLst>
            <a:outerShdw blurRad="50800" dist="106680" dir="2700000" algn="tl" rotWithShape="0">
              <a:prstClr val="black">
                <a:alpha val="43000"/>
              </a:prstClr>
            </a:outerShdw>
          </a:effectLst>
        </p:grpSpPr>
        <p:sp>
          <p:nvSpPr>
            <p:cNvPr id="1166415" name="Rectangle 79"/>
            <p:cNvSpPr>
              <a:spLocks noChangeArrowheads="1"/>
            </p:cNvSpPr>
            <p:nvPr/>
          </p:nvSpPr>
          <p:spPr bwMode="auto">
            <a:xfrm>
              <a:off x="476" y="709"/>
              <a:ext cx="2728" cy="1939"/>
            </a:xfrm>
            <a:prstGeom prst="rect">
              <a:avLst/>
            </a:prstGeom>
            <a:gradFill rotWithShape="1">
              <a:gsLst>
                <a:gs pos="0">
                  <a:srgbClr val="CFCFD1"/>
                </a:gs>
                <a:gs pos="100000">
                  <a:schemeClr val="bg1"/>
                </a:gs>
              </a:gsLst>
              <a:lin ang="5400000" scaled="1"/>
            </a:gradFill>
            <a:ln w="38100" algn="ctr">
              <a:solidFill>
                <a:srgbClr val="C0000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none" anchor="ctr"/>
            <a:lstStyle/>
            <a:p>
              <a:endParaRPr lang="zh-CN" altLang="en-US"/>
            </a:p>
          </p:txBody>
        </p:sp>
        <p:grpSp>
          <p:nvGrpSpPr>
            <p:cNvPr id="1166413" name="Group 77"/>
            <p:cNvGrpSpPr>
              <a:grpSpLocks/>
            </p:cNvGrpSpPr>
            <p:nvPr/>
          </p:nvGrpSpPr>
          <p:grpSpPr bwMode="auto">
            <a:xfrm>
              <a:off x="764" y="772"/>
              <a:ext cx="2366" cy="1761"/>
              <a:chOff x="836" y="781"/>
              <a:chExt cx="2366" cy="1761"/>
            </a:xfrm>
          </p:grpSpPr>
          <p:sp>
            <p:nvSpPr>
              <p:cNvPr id="1166394" name="Text Box 58"/>
              <p:cNvSpPr txBox="1">
                <a:spLocks noChangeArrowheads="1"/>
              </p:cNvSpPr>
              <p:nvPr/>
            </p:nvSpPr>
            <p:spPr bwMode="auto">
              <a:xfrm>
                <a:off x="836" y="1108"/>
                <a:ext cx="1548"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dirty="0">
                    <a:solidFill>
                      <a:srgbClr val="CC0000"/>
                    </a:solidFill>
                  </a:rPr>
                  <a:t>int   *  p[3];</a:t>
                </a:r>
              </a:p>
            </p:txBody>
          </p:sp>
          <p:sp>
            <p:nvSpPr>
              <p:cNvPr id="1166395" name="AutoShape 59"/>
              <p:cNvSpPr>
                <a:spLocks/>
              </p:cNvSpPr>
              <p:nvPr/>
            </p:nvSpPr>
            <p:spPr bwMode="auto">
              <a:xfrm rot="5400000">
                <a:off x="1469" y="1243"/>
                <a:ext cx="91" cy="310"/>
              </a:xfrm>
              <a:prstGeom prst="rightBrace">
                <a:avLst>
                  <a:gd name="adj1" fmla="val 28388"/>
                  <a:gd name="adj2" fmla="val 50000"/>
                </a:avLst>
              </a:prstGeom>
              <a:noFill/>
              <a:ln w="25400">
                <a:solidFill>
                  <a:srgbClr val="000000"/>
                </a:solidFill>
                <a:round/>
                <a:headEnd/>
                <a:tailEnd/>
              </a:ln>
              <a:effectLst/>
              <a:scene3d>
                <a:camera prst="orthographicFront"/>
                <a:lightRig rig="threePt" dir="t"/>
              </a:scene3d>
              <a:sp3d>
                <a:bevelT w="114300" prst="hardEdge"/>
              </a:sp3d>
            </p:spPr>
            <p:txBody>
              <a:bodyPr/>
              <a:lstStyle/>
              <a:p>
                <a:endParaRPr lang="zh-CN" altLang="en-US"/>
              </a:p>
            </p:txBody>
          </p:sp>
          <p:sp>
            <p:nvSpPr>
              <p:cNvPr id="1166396" name="AutoShape 60"/>
              <p:cNvSpPr>
                <a:spLocks/>
              </p:cNvSpPr>
              <p:nvPr/>
            </p:nvSpPr>
            <p:spPr bwMode="auto">
              <a:xfrm rot="5400000">
                <a:off x="1431" y="1522"/>
                <a:ext cx="105" cy="473"/>
              </a:xfrm>
              <a:prstGeom prst="rightBrace">
                <a:avLst>
                  <a:gd name="adj1" fmla="val 37540"/>
                  <a:gd name="adj2" fmla="val 50000"/>
                </a:avLst>
              </a:prstGeom>
              <a:noFill/>
              <a:ln w="25400">
                <a:solidFill>
                  <a:srgbClr val="000000"/>
                </a:solidFill>
                <a:round/>
                <a:headEnd/>
                <a:tailEnd/>
              </a:ln>
              <a:effectLst/>
              <a:scene3d>
                <a:camera prst="orthographicFront"/>
                <a:lightRig rig="threePt" dir="t"/>
              </a:scene3d>
              <a:sp3d>
                <a:bevelT w="114300" prst="hardEdge"/>
              </a:sp3d>
            </p:spPr>
            <p:txBody>
              <a:bodyPr/>
              <a:lstStyle/>
              <a:p>
                <a:endParaRPr lang="zh-CN" altLang="en-US"/>
              </a:p>
            </p:txBody>
          </p:sp>
          <p:sp>
            <p:nvSpPr>
              <p:cNvPr id="1166397" name="Text Box 61"/>
              <p:cNvSpPr txBox="1">
                <a:spLocks noChangeArrowheads="1"/>
              </p:cNvSpPr>
              <p:nvPr/>
            </p:nvSpPr>
            <p:spPr bwMode="auto">
              <a:xfrm>
                <a:off x="1383" y="1480"/>
                <a:ext cx="1411"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sz="1800" dirty="0">
                    <a:latin typeface="+mn-lt"/>
                    <a:ea typeface="楷体" pitchFamily="49" charset="-122"/>
                  </a:rPr>
                  <a:t>① </a:t>
                </a:r>
                <a:r>
                  <a:rPr lang="zh-CN" altLang="en-US" sz="1800" u="sng" dirty="0">
                    <a:latin typeface="+mn-lt"/>
                    <a:ea typeface="楷体" pitchFamily="49" charset="-122"/>
                  </a:rPr>
                  <a:t>表明</a:t>
                </a:r>
                <a:r>
                  <a:rPr lang="en-US" altLang="zh-CN" sz="1800" u="sng" dirty="0">
                    <a:latin typeface="+mn-lt"/>
                    <a:ea typeface="楷体" pitchFamily="49" charset="-122"/>
                  </a:rPr>
                  <a:t>p</a:t>
                </a:r>
                <a:r>
                  <a:rPr lang="zh-CN" altLang="en-US" sz="1800" u="sng" dirty="0">
                    <a:latin typeface="+mn-lt"/>
                    <a:ea typeface="楷体" pitchFamily="49" charset="-122"/>
                  </a:rPr>
                  <a:t>是数组变量</a:t>
                </a:r>
                <a:endParaRPr lang="zh-CN" altLang="en-US" sz="1800" dirty="0">
                  <a:latin typeface="+mn-lt"/>
                  <a:ea typeface="楷体" pitchFamily="49" charset="-122"/>
                </a:endParaRPr>
              </a:p>
            </p:txBody>
          </p:sp>
          <p:sp>
            <p:nvSpPr>
              <p:cNvPr id="1166398" name="Text Box 62"/>
              <p:cNvSpPr txBox="1">
                <a:spLocks noChangeArrowheads="1"/>
              </p:cNvSpPr>
              <p:nvPr/>
            </p:nvSpPr>
            <p:spPr bwMode="auto">
              <a:xfrm>
                <a:off x="1357" y="1870"/>
                <a:ext cx="1676"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sz="1800" dirty="0">
                    <a:latin typeface="+mn-lt"/>
                    <a:ea typeface="楷体" pitchFamily="49" charset="-122"/>
                  </a:rPr>
                  <a:t>② </a:t>
                </a:r>
                <a:r>
                  <a:rPr lang="zh-CN" altLang="en-US" sz="1800" dirty="0">
                    <a:latin typeface="+mn-lt"/>
                    <a:ea typeface="楷体" pitchFamily="49" charset="-122"/>
                  </a:rPr>
                  <a:t>表明</a:t>
                </a:r>
                <a:r>
                  <a:rPr lang="en-US" altLang="zh-CN" sz="1800" dirty="0">
                    <a:latin typeface="+mn-lt"/>
                    <a:ea typeface="楷体" pitchFamily="49" charset="-122"/>
                  </a:rPr>
                  <a:t>p</a:t>
                </a:r>
                <a:r>
                  <a:rPr lang="zh-CN" altLang="en-US" sz="1800" dirty="0">
                    <a:latin typeface="+mn-lt"/>
                    <a:ea typeface="楷体" pitchFamily="49" charset="-122"/>
                  </a:rPr>
                  <a:t>中的单元都是指针</a:t>
                </a:r>
              </a:p>
            </p:txBody>
          </p:sp>
          <p:sp>
            <p:nvSpPr>
              <p:cNvPr id="1166399" name="AutoShape 63"/>
              <p:cNvSpPr>
                <a:spLocks/>
              </p:cNvSpPr>
              <p:nvPr/>
            </p:nvSpPr>
            <p:spPr bwMode="auto">
              <a:xfrm rot="5400000">
                <a:off x="1253" y="1728"/>
                <a:ext cx="96" cy="834"/>
              </a:xfrm>
              <a:prstGeom prst="rightBrace">
                <a:avLst>
                  <a:gd name="adj1" fmla="val 72396"/>
                  <a:gd name="adj2" fmla="val 50000"/>
                </a:avLst>
              </a:prstGeom>
              <a:noFill/>
              <a:ln w="25400">
                <a:solidFill>
                  <a:srgbClr val="000000"/>
                </a:solidFill>
                <a:round/>
                <a:headEnd/>
                <a:tailEnd/>
              </a:ln>
              <a:effectLst/>
              <a:scene3d>
                <a:camera prst="orthographicFront"/>
                <a:lightRig rig="threePt" dir="t"/>
              </a:scene3d>
              <a:sp3d>
                <a:bevelT w="114300" prst="hardEdge"/>
              </a:sp3d>
            </p:spPr>
            <p:txBody>
              <a:bodyPr/>
              <a:lstStyle/>
              <a:p>
                <a:endParaRPr lang="zh-CN" altLang="en-US"/>
              </a:p>
            </p:txBody>
          </p:sp>
          <p:sp>
            <p:nvSpPr>
              <p:cNvPr id="1166400" name="Text Box 64"/>
              <p:cNvSpPr txBox="1">
                <a:spLocks noChangeArrowheads="1"/>
              </p:cNvSpPr>
              <p:nvPr/>
            </p:nvSpPr>
            <p:spPr bwMode="auto">
              <a:xfrm>
                <a:off x="1174" y="2270"/>
                <a:ext cx="2028"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sz="1800" dirty="0">
                    <a:latin typeface="+mn-lt"/>
                    <a:ea typeface="楷体" pitchFamily="49" charset="-122"/>
                  </a:rPr>
                  <a:t>③ </a:t>
                </a:r>
                <a:r>
                  <a:rPr lang="zh-CN" altLang="en-US" sz="1800" dirty="0">
                    <a:latin typeface="+mn-lt"/>
                    <a:ea typeface="楷体" pitchFamily="49" charset="-122"/>
                  </a:rPr>
                  <a:t>表明</a:t>
                </a:r>
                <a:r>
                  <a:rPr lang="en-US" altLang="zh-CN" sz="1800" dirty="0">
                    <a:latin typeface="+mn-lt"/>
                    <a:ea typeface="楷体" pitchFamily="49" charset="-122"/>
                  </a:rPr>
                  <a:t>p</a:t>
                </a:r>
                <a:r>
                  <a:rPr lang="zh-CN" altLang="en-US" sz="1800" dirty="0">
                    <a:latin typeface="+mn-lt"/>
                    <a:ea typeface="楷体" pitchFamily="49" charset="-122"/>
                  </a:rPr>
                  <a:t>中的单元都是</a:t>
                </a:r>
                <a:r>
                  <a:rPr lang="en-US" altLang="zh-CN" sz="1800" dirty="0">
                    <a:latin typeface="+mn-lt"/>
                    <a:ea typeface="楷体" pitchFamily="49" charset="-122"/>
                  </a:rPr>
                  <a:t>int</a:t>
                </a:r>
                <a:r>
                  <a:rPr lang="zh-CN" altLang="en-US" sz="1800" dirty="0">
                    <a:latin typeface="+mn-lt"/>
                    <a:ea typeface="楷体" pitchFamily="49" charset="-122"/>
                  </a:rPr>
                  <a:t>型的指针</a:t>
                </a:r>
              </a:p>
            </p:txBody>
          </p:sp>
          <p:sp>
            <p:nvSpPr>
              <p:cNvPr id="1166401" name="Text Box 65"/>
              <p:cNvSpPr txBox="1">
                <a:spLocks noChangeArrowheads="1"/>
              </p:cNvSpPr>
              <p:nvPr/>
            </p:nvSpPr>
            <p:spPr bwMode="auto">
              <a:xfrm>
                <a:off x="1350" y="781"/>
                <a:ext cx="1043"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zh-CN" altLang="en-US" u="sng" dirty="0">
                    <a:solidFill>
                      <a:srgbClr val="C00000"/>
                    </a:solidFill>
                    <a:ea typeface="隶书" pitchFamily="49" charset="-122"/>
                  </a:rPr>
                  <a:t>指针数组</a:t>
                </a:r>
              </a:p>
            </p:txBody>
          </p:sp>
        </p:grpSp>
      </p:grpSp>
      <p:grpSp>
        <p:nvGrpSpPr>
          <p:cNvPr id="1166419" name="Group 83"/>
          <p:cNvGrpSpPr>
            <a:grpSpLocks/>
          </p:cNvGrpSpPr>
          <p:nvPr/>
        </p:nvGrpSpPr>
        <p:grpSpPr bwMode="auto">
          <a:xfrm>
            <a:off x="6204767" y="1484784"/>
            <a:ext cx="5003801" cy="3078163"/>
            <a:chOff x="3052" y="727"/>
            <a:chExt cx="3152" cy="1939"/>
          </a:xfrm>
          <a:effectLst>
            <a:outerShdw blurRad="50800" dist="106680" dir="2700000" algn="tl" rotWithShape="0">
              <a:prstClr val="black">
                <a:alpha val="43000"/>
              </a:prstClr>
            </a:outerShdw>
          </a:effectLst>
        </p:grpSpPr>
        <p:sp>
          <p:nvSpPr>
            <p:cNvPr id="1166417" name="Rectangle 81"/>
            <p:cNvSpPr>
              <a:spLocks noChangeArrowheads="1"/>
            </p:cNvSpPr>
            <p:nvPr/>
          </p:nvSpPr>
          <p:spPr bwMode="auto">
            <a:xfrm>
              <a:off x="3052" y="727"/>
              <a:ext cx="3152" cy="1939"/>
            </a:xfrm>
            <a:prstGeom prst="rect">
              <a:avLst/>
            </a:prstGeom>
            <a:gradFill rotWithShape="1">
              <a:gsLst>
                <a:gs pos="0">
                  <a:srgbClr val="CFCFD1"/>
                </a:gs>
                <a:gs pos="100000">
                  <a:schemeClr val="bg1"/>
                </a:gs>
              </a:gsLst>
              <a:lin ang="5400000" scaled="1"/>
            </a:gradFill>
            <a:ln w="38100" algn="ctr">
              <a:solidFill>
                <a:srgbClr val="C0000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none" anchor="ctr"/>
            <a:lstStyle/>
            <a:p>
              <a:endParaRPr lang="zh-CN" altLang="en-US"/>
            </a:p>
          </p:txBody>
        </p:sp>
        <p:grpSp>
          <p:nvGrpSpPr>
            <p:cNvPr id="1166414" name="Group 78"/>
            <p:cNvGrpSpPr>
              <a:grpSpLocks/>
            </p:cNvGrpSpPr>
            <p:nvPr/>
          </p:nvGrpSpPr>
          <p:grpSpPr bwMode="auto">
            <a:xfrm>
              <a:off x="3149" y="772"/>
              <a:ext cx="2670" cy="1728"/>
              <a:chOff x="3149" y="754"/>
              <a:chExt cx="2670" cy="1728"/>
            </a:xfrm>
          </p:grpSpPr>
          <p:sp>
            <p:nvSpPr>
              <p:cNvPr id="1166404" name="Text Box 68"/>
              <p:cNvSpPr txBox="1">
                <a:spLocks noChangeArrowheads="1"/>
              </p:cNvSpPr>
              <p:nvPr/>
            </p:nvSpPr>
            <p:spPr bwMode="auto">
              <a:xfrm>
                <a:off x="3149" y="1108"/>
                <a:ext cx="1548"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a:solidFill>
                      <a:srgbClr val="CC0000"/>
                    </a:solidFill>
                  </a:rPr>
                  <a:t>int   (* p)[3];</a:t>
                </a:r>
              </a:p>
            </p:txBody>
          </p:sp>
          <p:sp>
            <p:nvSpPr>
              <p:cNvPr id="1166405" name="AutoShape 69"/>
              <p:cNvSpPr>
                <a:spLocks/>
              </p:cNvSpPr>
              <p:nvPr/>
            </p:nvSpPr>
            <p:spPr bwMode="auto">
              <a:xfrm rot="5400000">
                <a:off x="3712" y="1264"/>
                <a:ext cx="127" cy="284"/>
              </a:xfrm>
              <a:prstGeom prst="rightBrace">
                <a:avLst>
                  <a:gd name="adj1" fmla="val 18635"/>
                  <a:gd name="adj2" fmla="val 50000"/>
                </a:avLst>
              </a:prstGeom>
              <a:noFill/>
              <a:ln w="25400">
                <a:solidFill>
                  <a:srgbClr val="000000"/>
                </a:solidFill>
                <a:round/>
                <a:headEnd/>
                <a:tailEnd/>
              </a:ln>
              <a:effectLst/>
              <a:scene3d>
                <a:camera prst="orthographicFront"/>
                <a:lightRig rig="threePt" dir="t"/>
              </a:scene3d>
              <a:sp3d>
                <a:bevelT w="114300" prst="hardEdge"/>
              </a:sp3d>
            </p:spPr>
            <p:txBody>
              <a:bodyPr/>
              <a:lstStyle/>
              <a:p>
                <a:endParaRPr lang="zh-CN" altLang="en-US"/>
              </a:p>
            </p:txBody>
          </p:sp>
          <p:sp>
            <p:nvSpPr>
              <p:cNvPr id="1166406" name="AutoShape 70"/>
              <p:cNvSpPr>
                <a:spLocks/>
              </p:cNvSpPr>
              <p:nvPr/>
            </p:nvSpPr>
            <p:spPr bwMode="auto">
              <a:xfrm rot="5400000">
                <a:off x="3853" y="1523"/>
                <a:ext cx="105" cy="473"/>
              </a:xfrm>
              <a:prstGeom prst="rightBrace">
                <a:avLst>
                  <a:gd name="adj1" fmla="val 37540"/>
                  <a:gd name="adj2" fmla="val 50000"/>
                </a:avLst>
              </a:prstGeom>
              <a:noFill/>
              <a:ln w="25400">
                <a:solidFill>
                  <a:srgbClr val="000000"/>
                </a:solidFill>
                <a:round/>
                <a:headEnd/>
                <a:tailEnd/>
              </a:ln>
              <a:effectLst/>
              <a:scene3d>
                <a:camera prst="orthographicFront"/>
                <a:lightRig rig="threePt" dir="t"/>
              </a:scene3d>
              <a:sp3d>
                <a:bevelT w="114300" prst="hardEdge"/>
              </a:sp3d>
            </p:spPr>
            <p:txBody>
              <a:bodyPr/>
              <a:lstStyle/>
              <a:p>
                <a:endParaRPr lang="zh-CN" altLang="en-US"/>
              </a:p>
            </p:txBody>
          </p:sp>
          <p:sp>
            <p:nvSpPr>
              <p:cNvPr id="1166407" name="Text Box 71"/>
              <p:cNvSpPr txBox="1">
                <a:spLocks noChangeArrowheads="1"/>
              </p:cNvSpPr>
              <p:nvPr/>
            </p:nvSpPr>
            <p:spPr bwMode="auto">
              <a:xfrm>
                <a:off x="3659" y="1489"/>
                <a:ext cx="1410" cy="217"/>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sz="1800" dirty="0">
                    <a:latin typeface="+mn-lt"/>
                    <a:ea typeface="楷体" pitchFamily="49" charset="-122"/>
                  </a:rPr>
                  <a:t>① </a:t>
                </a:r>
                <a:r>
                  <a:rPr lang="zh-CN" altLang="en-US" sz="1800" u="sng" dirty="0">
                    <a:latin typeface="+mn-lt"/>
                    <a:ea typeface="楷体" pitchFamily="49" charset="-122"/>
                  </a:rPr>
                  <a:t>表明</a:t>
                </a:r>
                <a:r>
                  <a:rPr lang="en-US" altLang="zh-CN" sz="1800" u="sng" dirty="0">
                    <a:latin typeface="+mn-lt"/>
                    <a:ea typeface="楷体" pitchFamily="49" charset="-122"/>
                  </a:rPr>
                  <a:t>p</a:t>
                </a:r>
                <a:r>
                  <a:rPr lang="zh-CN" altLang="en-US" sz="1800" u="sng" dirty="0">
                    <a:latin typeface="+mn-lt"/>
                    <a:ea typeface="楷体" pitchFamily="49" charset="-122"/>
                  </a:rPr>
                  <a:t>是指针变量</a:t>
                </a:r>
                <a:endParaRPr lang="zh-CN" altLang="en-US" sz="1800" dirty="0">
                  <a:latin typeface="+mn-lt"/>
                  <a:ea typeface="楷体" pitchFamily="49" charset="-122"/>
                </a:endParaRPr>
              </a:p>
            </p:txBody>
          </p:sp>
          <p:sp>
            <p:nvSpPr>
              <p:cNvPr id="1166408" name="Text Box 72"/>
              <p:cNvSpPr txBox="1">
                <a:spLocks noChangeArrowheads="1"/>
              </p:cNvSpPr>
              <p:nvPr/>
            </p:nvSpPr>
            <p:spPr bwMode="auto">
              <a:xfrm>
                <a:off x="3779" y="1842"/>
                <a:ext cx="1964"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sz="1800">
                    <a:latin typeface="+mn-lt"/>
                    <a:ea typeface="楷体" pitchFamily="49" charset="-122"/>
                  </a:rPr>
                  <a:t>② </a:t>
                </a:r>
                <a:r>
                  <a:rPr lang="zh-CN" altLang="en-US" sz="1800">
                    <a:latin typeface="+mn-lt"/>
                    <a:ea typeface="楷体" pitchFamily="49" charset="-122"/>
                  </a:rPr>
                  <a:t>表明</a:t>
                </a:r>
                <a:r>
                  <a:rPr lang="en-US" altLang="zh-CN" sz="1800">
                    <a:latin typeface="+mn-lt"/>
                    <a:ea typeface="楷体" pitchFamily="49" charset="-122"/>
                  </a:rPr>
                  <a:t>p</a:t>
                </a:r>
                <a:r>
                  <a:rPr lang="zh-CN" altLang="en-US" sz="1800">
                    <a:latin typeface="+mn-lt"/>
                    <a:ea typeface="楷体" pitchFamily="49" charset="-122"/>
                  </a:rPr>
                  <a:t>指向大小为</a:t>
                </a:r>
                <a:r>
                  <a:rPr lang="en-US" altLang="zh-CN" sz="1800">
                    <a:latin typeface="+mn-lt"/>
                    <a:ea typeface="楷体" pitchFamily="49" charset="-122"/>
                  </a:rPr>
                  <a:t>3</a:t>
                </a:r>
                <a:r>
                  <a:rPr lang="zh-CN" altLang="en-US" sz="1800">
                    <a:latin typeface="+mn-lt"/>
                    <a:ea typeface="楷体" pitchFamily="49" charset="-122"/>
                  </a:rPr>
                  <a:t>的数组</a:t>
                </a:r>
              </a:p>
            </p:txBody>
          </p:sp>
          <p:sp>
            <p:nvSpPr>
              <p:cNvPr id="1166409" name="AutoShape 73"/>
              <p:cNvSpPr>
                <a:spLocks/>
              </p:cNvSpPr>
              <p:nvPr/>
            </p:nvSpPr>
            <p:spPr bwMode="auto">
              <a:xfrm rot="5400000">
                <a:off x="3658" y="1705"/>
                <a:ext cx="96" cy="834"/>
              </a:xfrm>
              <a:prstGeom prst="rightBrace">
                <a:avLst>
                  <a:gd name="adj1" fmla="val 72396"/>
                  <a:gd name="adj2" fmla="val 50000"/>
                </a:avLst>
              </a:prstGeom>
              <a:noFill/>
              <a:ln w="25400">
                <a:solidFill>
                  <a:srgbClr val="000000"/>
                </a:solidFill>
                <a:round/>
                <a:headEnd/>
                <a:tailEnd/>
              </a:ln>
              <a:effectLst/>
              <a:scene3d>
                <a:camera prst="orthographicFront"/>
                <a:lightRig rig="threePt" dir="t"/>
              </a:scene3d>
              <a:sp3d>
                <a:bevelT w="114300" prst="hardEdge"/>
              </a:sp3d>
            </p:spPr>
            <p:txBody>
              <a:bodyPr/>
              <a:lstStyle/>
              <a:p>
                <a:endParaRPr lang="zh-CN" altLang="en-US"/>
              </a:p>
            </p:txBody>
          </p:sp>
          <p:sp>
            <p:nvSpPr>
              <p:cNvPr id="1166410" name="Text Box 74"/>
              <p:cNvSpPr txBox="1">
                <a:spLocks noChangeArrowheads="1"/>
              </p:cNvSpPr>
              <p:nvPr/>
            </p:nvSpPr>
            <p:spPr bwMode="auto">
              <a:xfrm>
                <a:off x="3569" y="2210"/>
                <a:ext cx="2250"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sz="1800" dirty="0">
                    <a:latin typeface="+mn-lt"/>
                    <a:ea typeface="楷体" pitchFamily="49" charset="-122"/>
                  </a:rPr>
                  <a:t>③ </a:t>
                </a:r>
                <a:r>
                  <a:rPr lang="zh-CN" altLang="en-US" sz="1800" dirty="0">
                    <a:latin typeface="+mn-lt"/>
                    <a:ea typeface="楷体" pitchFamily="49" charset="-122"/>
                  </a:rPr>
                  <a:t>表明</a:t>
                </a:r>
                <a:r>
                  <a:rPr lang="en-US" altLang="zh-CN" sz="1800" dirty="0">
                    <a:latin typeface="+mn-lt"/>
                    <a:ea typeface="楷体" pitchFamily="49" charset="-122"/>
                  </a:rPr>
                  <a:t>p</a:t>
                </a:r>
                <a:r>
                  <a:rPr lang="zh-CN" altLang="en-US" sz="1800" dirty="0">
                    <a:latin typeface="+mn-lt"/>
                    <a:ea typeface="楷体" pitchFamily="49" charset="-122"/>
                  </a:rPr>
                  <a:t>指向的数组是</a:t>
                </a:r>
                <a:r>
                  <a:rPr lang="en-US" altLang="zh-CN" sz="1800" dirty="0">
                    <a:latin typeface="+mn-lt"/>
                    <a:ea typeface="楷体" pitchFamily="49" charset="-122"/>
                  </a:rPr>
                  <a:t>int</a:t>
                </a:r>
                <a:r>
                  <a:rPr lang="zh-CN" altLang="en-US" sz="1800" dirty="0">
                    <a:latin typeface="+mn-lt"/>
                    <a:ea typeface="楷体" pitchFamily="49" charset="-122"/>
                  </a:rPr>
                  <a:t>型数组</a:t>
                </a:r>
              </a:p>
            </p:txBody>
          </p:sp>
          <p:sp>
            <p:nvSpPr>
              <p:cNvPr id="1166411" name="Text Box 75"/>
              <p:cNvSpPr txBox="1">
                <a:spLocks noChangeArrowheads="1"/>
              </p:cNvSpPr>
              <p:nvPr/>
            </p:nvSpPr>
            <p:spPr bwMode="auto">
              <a:xfrm>
                <a:off x="3924" y="754"/>
                <a:ext cx="1089"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zh-CN" altLang="en-US" u="sng" dirty="0">
                    <a:solidFill>
                      <a:srgbClr val="C00000"/>
                    </a:solidFill>
                    <a:ea typeface="隶书" pitchFamily="49" charset="-122"/>
                  </a:rPr>
                  <a:t>数组指针</a:t>
                </a:r>
                <a:endParaRPr lang="zh-CN" altLang="en-US" dirty="0">
                  <a:solidFill>
                    <a:srgbClr val="C00000"/>
                  </a:solidFill>
                  <a:ea typeface="隶书" pitchFamily="49" charset="-122"/>
                </a:endParaRPr>
              </a:p>
            </p:txBody>
          </p:sp>
        </p:grpSp>
      </p:grpSp>
      <p:graphicFrame>
        <p:nvGraphicFramePr>
          <p:cNvPr id="1166500" name="Group 164"/>
          <p:cNvGraphicFramePr>
            <a:graphicFrameLocks noGrp="1"/>
          </p:cNvGraphicFramePr>
          <p:nvPr>
            <p:extLst>
              <p:ext uri="{D42A27DB-BD31-4B8C-83A1-F6EECF244321}">
                <p14:modId xmlns:p14="http://schemas.microsoft.com/office/powerpoint/2010/main" val="2926759219"/>
              </p:ext>
            </p:extLst>
          </p:nvPr>
        </p:nvGraphicFramePr>
        <p:xfrm>
          <a:off x="1455355" y="4998558"/>
          <a:ext cx="9239421" cy="1402080"/>
        </p:xfrm>
        <a:graphic>
          <a:graphicData uri="http://schemas.openxmlformats.org/drawingml/2006/table">
            <a:tbl>
              <a:tblPr>
                <a:effectLst>
                  <a:outerShdw blurRad="50800" dist="38100" dir="2700000" algn="tl" rotWithShape="0">
                    <a:prstClr val="black">
                      <a:alpha val="40000"/>
                    </a:prstClr>
                  </a:outerShdw>
                </a:effectLst>
              </a:tblPr>
              <a:tblGrid>
                <a:gridCol w="1606573">
                  <a:extLst>
                    <a:ext uri="{9D8B030D-6E8A-4147-A177-3AD203B41FA5}">
                      <a16:colId xmlns:a16="http://schemas.microsoft.com/office/drawing/2014/main" val="20000"/>
                    </a:ext>
                  </a:extLst>
                </a:gridCol>
                <a:gridCol w="3816424">
                  <a:extLst>
                    <a:ext uri="{9D8B030D-6E8A-4147-A177-3AD203B41FA5}">
                      <a16:colId xmlns:a16="http://schemas.microsoft.com/office/drawing/2014/main" val="20001"/>
                    </a:ext>
                  </a:extLst>
                </a:gridCol>
                <a:gridCol w="3816424">
                  <a:extLst>
                    <a:ext uri="{9D8B030D-6E8A-4147-A177-3AD203B41FA5}">
                      <a16:colId xmlns:a16="http://schemas.microsoft.com/office/drawing/2014/main" val="20002"/>
                    </a:ext>
                  </a:extLst>
                </a:gridCol>
              </a:tblGrid>
              <a:tr h="2873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horzOverflow="overflow">
                    <a:lnL w="381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cs typeface="Times New Roman" pitchFamily="18" charset="0"/>
                        </a:rPr>
                        <a:t>指针数组</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cs typeface="Times New Roman" pitchFamily="18" charset="0"/>
                        </a:rPr>
                        <a:t>二维数组指针</a:t>
                      </a:r>
                    </a:p>
                  </a:txBody>
                  <a:tcPr horzOverflow="overflow">
                    <a:lnL w="12700"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0000"/>
                    </a:solidFill>
                  </a:tcPr>
                </a:tc>
                <a:extLst>
                  <a:ext uri="{0D108BD9-81ED-4DB2-BD59-A6C34878D82A}">
                    <a16:rowId xmlns:a16="http://schemas.microsoft.com/office/drawing/2014/main" val="10000"/>
                  </a:ext>
                </a:extLst>
              </a:tr>
              <a:tr h="26828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变量定义</a:t>
                      </a:r>
                    </a:p>
                  </a:txBody>
                  <a:tcPr horzOverflow="overflow">
                    <a:lnL w="381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*p[20];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(*p)[20];</a:t>
                      </a:r>
                    </a:p>
                  </a:txBody>
                  <a:tcPr horzOverflow="overflow">
                    <a:lnL w="12700"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269875">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变量性质</a:t>
                      </a:r>
                    </a:p>
                  </a:txBody>
                  <a:tcPr anchor="ctr" horzOverflow="overflow">
                    <a:lnL w="381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是数组名，不是指针变量，不可对</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赋值</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是指针变量，不是数组名，可对</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赋值</a:t>
                      </a:r>
                    </a:p>
                  </a:txBody>
                  <a:tcPr horzOverflow="overflow">
                    <a:lnL w="12700"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29" name="Rectangle 4">
            <a:extLst>
              <a:ext uri="{FF2B5EF4-FFF2-40B4-BE49-F238E27FC236}">
                <a16:creationId xmlns:a16="http://schemas.microsoft.com/office/drawing/2014/main" id="{148BAE8F-C20F-431C-BB50-E02FE10355E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6338">
                                            <p:txEl>
                                              <p:pRg st="0" end="0"/>
                                            </p:txEl>
                                          </p:spTgt>
                                        </p:tgtEl>
                                        <p:attrNameLst>
                                          <p:attrName>style.visibility</p:attrName>
                                        </p:attrNameLst>
                                      </p:cBhvr>
                                      <p:to>
                                        <p:strVal val="visible"/>
                                      </p:to>
                                    </p:set>
                                    <p:anim calcmode="lin" valueType="num">
                                      <p:cBhvr additive="base">
                                        <p:cTn id="7" dur="500" fill="hold"/>
                                        <p:tgtEl>
                                          <p:spTgt spid="116633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633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66418"/>
                                        </p:tgtEl>
                                        <p:attrNameLst>
                                          <p:attrName>style.visibility</p:attrName>
                                        </p:attrNameLst>
                                      </p:cBhvr>
                                      <p:to>
                                        <p:strVal val="visible"/>
                                      </p:to>
                                    </p:set>
                                    <p:animEffect transition="in" filter="box(out)">
                                      <p:cBhvr>
                                        <p:cTn id="13" dur="500"/>
                                        <p:tgtEl>
                                          <p:spTgt spid="1166418"/>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66419"/>
                                        </p:tgtEl>
                                        <p:attrNameLst>
                                          <p:attrName>style.visibility</p:attrName>
                                        </p:attrNameLst>
                                      </p:cBhvr>
                                      <p:to>
                                        <p:strVal val="visible"/>
                                      </p:to>
                                    </p:set>
                                    <p:animEffect transition="in" filter="box(out)">
                                      <p:cBhvr>
                                        <p:cTn id="18" dur="500"/>
                                        <p:tgtEl>
                                          <p:spTgt spid="1166419"/>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66500"/>
                                        </p:tgtEl>
                                        <p:attrNameLst>
                                          <p:attrName>style.visibility</p:attrName>
                                        </p:attrNameLst>
                                      </p:cBhvr>
                                      <p:to>
                                        <p:strVal val="visible"/>
                                      </p:to>
                                    </p:set>
                                    <p:animEffect transition="in" filter="box(out)">
                                      <p:cBhvr>
                                        <p:cTn id="23" dur="500"/>
                                        <p:tgtEl>
                                          <p:spTgt spid="1166500"/>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6338" grpId="0" build="p" bldLvl="5"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08CA2005-5708-4D3F-A815-C914F505911E}"/>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
        <p:nvSpPr>
          <p:cNvPr id="1167362" name="Rectangle 2"/>
          <p:cNvSpPr>
            <a:spLocks noChangeArrowheads="1"/>
          </p:cNvSpPr>
          <p:nvPr/>
        </p:nvSpPr>
        <p:spPr bwMode="auto">
          <a:xfrm>
            <a:off x="839738" y="819436"/>
            <a:ext cx="8856662" cy="503238"/>
          </a:xfrm>
          <a:prstGeom prst="rect">
            <a:avLst/>
          </a:prstGeom>
          <a:noFill/>
          <a:ln w="9525">
            <a:noFill/>
            <a:miter lim="800000"/>
            <a:headEnd/>
            <a:tailEnd/>
          </a:ln>
          <a:effectLst/>
        </p:spPr>
        <p:txBody>
          <a:bodyPr/>
          <a:lstStyle/>
          <a:p>
            <a:pPr marL="342900" indent="-342900">
              <a:lnSpc>
                <a:spcPct val="100000"/>
              </a:lnSpc>
            </a:pPr>
            <a:r>
              <a:rPr lang="en-US" altLang="zh-CN" b="1" dirty="0">
                <a:solidFill>
                  <a:srgbClr val="CC0000"/>
                </a:solidFill>
                <a:latin typeface="楷体" panose="02010609060101010101" pitchFamily="49" charset="-122"/>
                <a:ea typeface="楷体" panose="02010609060101010101" pitchFamily="49" charset="-122"/>
                <a:sym typeface="Symbol" pitchFamily="18" charset="2"/>
              </a:rPr>
              <a:t>【</a:t>
            </a:r>
            <a:r>
              <a:rPr lang="zh-CN" altLang="en-US" b="1" dirty="0">
                <a:solidFill>
                  <a:srgbClr val="CC0000"/>
                </a:solidFill>
                <a:latin typeface="楷体" panose="02010609060101010101" pitchFamily="49" charset="-122"/>
                <a:ea typeface="楷体" panose="02010609060101010101" pitchFamily="49" charset="-122"/>
                <a:sym typeface="Symbol" pitchFamily="18" charset="2"/>
              </a:rPr>
              <a:t>例</a:t>
            </a:r>
            <a:r>
              <a:rPr lang="en-US" altLang="zh-CN" b="1" dirty="0">
                <a:solidFill>
                  <a:srgbClr val="CC0000"/>
                </a:solidFill>
                <a:latin typeface="楷体" panose="02010609060101010101" pitchFamily="49" charset="-122"/>
                <a:ea typeface="楷体" panose="02010609060101010101" pitchFamily="49" charset="-122"/>
                <a:sym typeface="Symbol" pitchFamily="18" charset="2"/>
              </a:rPr>
              <a:t>】</a:t>
            </a:r>
            <a:r>
              <a:rPr lang="zh-CN" altLang="en-US" b="1" dirty="0">
                <a:solidFill>
                  <a:srgbClr val="CC0000"/>
                </a:solidFill>
                <a:latin typeface="楷体" panose="02010609060101010101" pitchFamily="49" charset="-122"/>
                <a:ea typeface="楷体" panose="02010609060101010101" pitchFamily="49" charset="-122"/>
                <a:sym typeface="Symbol" pitchFamily="18" charset="2"/>
              </a:rPr>
              <a:t>利用指针数组对键盘输入的</a:t>
            </a:r>
            <a:r>
              <a:rPr lang="en-US" altLang="zh-CN" b="1" dirty="0">
                <a:solidFill>
                  <a:srgbClr val="CC0000"/>
                </a:solidFill>
                <a:latin typeface="楷体" panose="02010609060101010101" pitchFamily="49" charset="-122"/>
                <a:ea typeface="楷体" panose="02010609060101010101" pitchFamily="49" charset="-122"/>
                <a:sym typeface="Symbol" pitchFamily="18" charset="2"/>
              </a:rPr>
              <a:t>5</a:t>
            </a:r>
            <a:r>
              <a:rPr lang="zh-CN" altLang="en-US" b="1" dirty="0">
                <a:solidFill>
                  <a:srgbClr val="CC0000"/>
                </a:solidFill>
                <a:latin typeface="楷体" panose="02010609060101010101" pitchFamily="49" charset="-122"/>
                <a:ea typeface="楷体" panose="02010609060101010101" pitchFamily="49" charset="-122"/>
                <a:sym typeface="Symbol" pitchFamily="18" charset="2"/>
              </a:rPr>
              <a:t>个整数进行从小到大排序。</a:t>
            </a:r>
          </a:p>
        </p:txBody>
      </p:sp>
      <p:sp>
        <p:nvSpPr>
          <p:cNvPr id="1167406" name="Text Box 46" descr="信纸"/>
          <p:cNvSpPr txBox="1">
            <a:spLocks noChangeArrowheads="1"/>
          </p:cNvSpPr>
          <p:nvPr/>
        </p:nvSpPr>
        <p:spPr bwMode="auto">
          <a:xfrm>
            <a:off x="1443360" y="355189"/>
            <a:ext cx="9908902" cy="6247864"/>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dirty="0"/>
              <a:t>#include &lt;</a:t>
            </a:r>
            <a:r>
              <a:rPr lang="en-US" altLang="zh-CN" sz="2000" dirty="0" err="1"/>
              <a:t>stdio.h</a:t>
            </a:r>
            <a:r>
              <a:rPr lang="en-US" altLang="zh-CN" sz="2000" dirty="0"/>
              <a:t>&gt;</a:t>
            </a:r>
          </a:p>
          <a:p>
            <a:pPr marL="457200" indent="-457200"/>
            <a:r>
              <a:rPr lang="en-US" altLang="zh-CN" sz="2000" dirty="0" err="1">
                <a:solidFill>
                  <a:srgbClr val="CC0000"/>
                </a:solidFill>
              </a:rPr>
              <a:t>int</a:t>
            </a:r>
            <a:r>
              <a:rPr lang="en-US" altLang="zh-CN" sz="2000" dirty="0">
                <a:solidFill>
                  <a:srgbClr val="CC0000"/>
                </a:solidFill>
              </a:rPr>
              <a:t> main ( )</a:t>
            </a:r>
          </a:p>
          <a:p>
            <a:pPr marL="457200" indent="-457200"/>
            <a:r>
              <a:rPr lang="en-US" altLang="zh-CN" sz="2000" dirty="0"/>
              <a:t>{</a:t>
            </a:r>
          </a:p>
          <a:p>
            <a:pPr marL="457200" indent="-457200"/>
            <a:r>
              <a:rPr lang="en-US" altLang="zh-CN" sz="2000" dirty="0"/>
              <a:t>  </a:t>
            </a:r>
            <a:r>
              <a:rPr lang="en-US" altLang="zh-CN" sz="2000" dirty="0" err="1"/>
              <a:t>int</a:t>
            </a:r>
            <a:r>
              <a:rPr lang="en-US" altLang="zh-CN" sz="2000" dirty="0"/>
              <a:t> </a:t>
            </a:r>
            <a:r>
              <a:rPr lang="en-US" altLang="zh-CN" sz="2000" dirty="0" err="1"/>
              <a:t>i</a:t>
            </a:r>
            <a:r>
              <a:rPr lang="en-US" altLang="zh-CN" sz="2000" dirty="0"/>
              <a:t>, j, t;</a:t>
            </a:r>
          </a:p>
          <a:p>
            <a:pPr marL="457200" indent="-457200"/>
            <a:r>
              <a:rPr lang="en-US" altLang="zh-CN" sz="2000" dirty="0"/>
              <a:t>  </a:t>
            </a:r>
            <a:r>
              <a:rPr lang="en-US" altLang="zh-CN" sz="2000" dirty="0" err="1"/>
              <a:t>int</a:t>
            </a:r>
            <a:r>
              <a:rPr lang="en-US" altLang="zh-CN" sz="2000" dirty="0"/>
              <a:t> a, b, c, d, e;</a:t>
            </a:r>
          </a:p>
          <a:p>
            <a:pPr marL="457200" indent="-457200"/>
            <a:r>
              <a:rPr lang="en-US" altLang="zh-CN" sz="2000" dirty="0"/>
              <a:t>  int *p[5] = {&amp;a, &amp;b, &amp;c, &amp;d, &amp;e};     </a:t>
            </a:r>
            <a:r>
              <a:rPr lang="en-US" altLang="zh-CN" sz="1600" dirty="0">
                <a:solidFill>
                  <a:srgbClr val="002060"/>
                </a:solidFill>
                <a:ea typeface="楷体" pitchFamily="49" charset="-122"/>
              </a:rPr>
              <a:t>//</a:t>
            </a:r>
            <a:r>
              <a:rPr lang="zh-CN" altLang="en-US" sz="1600" dirty="0">
                <a:solidFill>
                  <a:srgbClr val="002060"/>
                </a:solidFill>
                <a:ea typeface="楷体" pitchFamily="49" charset="-122"/>
              </a:rPr>
              <a:t>将</a:t>
            </a:r>
            <a:r>
              <a:rPr lang="en-US" altLang="zh-CN" sz="1600" dirty="0" err="1">
                <a:solidFill>
                  <a:srgbClr val="002060"/>
                </a:solidFill>
                <a:ea typeface="楷体" pitchFamily="49" charset="-122"/>
              </a:rPr>
              <a:t>a,b,c,d,e</a:t>
            </a:r>
            <a:r>
              <a:rPr lang="zh-CN" altLang="en-US" sz="1600" dirty="0">
                <a:solidFill>
                  <a:srgbClr val="002060"/>
                </a:solidFill>
                <a:ea typeface="楷体" pitchFamily="49" charset="-122"/>
              </a:rPr>
              <a:t>的内存地址分别赋给</a:t>
            </a:r>
            <a:r>
              <a:rPr lang="en-US" altLang="zh-CN" sz="1600" dirty="0">
                <a:solidFill>
                  <a:srgbClr val="002060"/>
                </a:solidFill>
                <a:ea typeface="楷体" pitchFamily="49" charset="-122"/>
              </a:rPr>
              <a:t>p[0]...p[4]</a:t>
            </a:r>
            <a:endParaRPr lang="en-US" altLang="zh-CN" sz="1600" dirty="0">
              <a:solidFill>
                <a:srgbClr val="002060"/>
              </a:solidFill>
            </a:endParaRPr>
          </a:p>
          <a:p>
            <a:pPr marL="457200" indent="-457200"/>
            <a:r>
              <a:rPr lang="en-US" altLang="zh-CN" sz="2000" dirty="0"/>
              <a:t>  </a:t>
            </a:r>
          </a:p>
          <a:p>
            <a:pPr marL="457200" indent="-457200"/>
            <a:r>
              <a:rPr lang="en-US" altLang="zh-CN" sz="2000" dirty="0"/>
              <a:t>  </a:t>
            </a:r>
            <a:r>
              <a:rPr lang="en-US" altLang="zh-CN" sz="2000" dirty="0" err="1"/>
              <a:t>scanf</a:t>
            </a:r>
            <a:r>
              <a:rPr lang="en-US" altLang="zh-CN" sz="2000" dirty="0"/>
              <a:t> ("%</a:t>
            </a:r>
            <a:r>
              <a:rPr lang="en-US" altLang="zh-CN" sz="2000" dirty="0" err="1"/>
              <a:t>d,%d,%d,%d,%d</a:t>
            </a:r>
            <a:r>
              <a:rPr lang="en-US" altLang="zh-CN" sz="2000" dirty="0"/>
              <a:t>", p[0], p[1], p[2], p[3], p[4]);    </a:t>
            </a:r>
            <a:r>
              <a:rPr lang="en-US" altLang="zh-CN" sz="1600" dirty="0">
                <a:solidFill>
                  <a:srgbClr val="002060"/>
                </a:solidFill>
                <a:ea typeface="楷体" pitchFamily="49" charset="-122"/>
              </a:rPr>
              <a:t>//</a:t>
            </a:r>
            <a:r>
              <a:rPr lang="zh-CN" altLang="en-US" sz="1600" dirty="0">
                <a:solidFill>
                  <a:srgbClr val="002060"/>
                </a:solidFill>
                <a:ea typeface="楷体" pitchFamily="49" charset="-122"/>
              </a:rPr>
              <a:t>对</a:t>
            </a:r>
            <a:r>
              <a:rPr lang="en-US" altLang="zh-CN" sz="1600" dirty="0" err="1">
                <a:solidFill>
                  <a:srgbClr val="002060"/>
                </a:solidFill>
                <a:ea typeface="楷体" pitchFamily="49" charset="-122"/>
              </a:rPr>
              <a:t>a,b,c,d,e</a:t>
            </a:r>
            <a:r>
              <a:rPr lang="zh-CN" altLang="en-US" sz="1600" dirty="0">
                <a:solidFill>
                  <a:srgbClr val="002060"/>
                </a:solidFill>
                <a:ea typeface="楷体" pitchFamily="49" charset="-122"/>
              </a:rPr>
              <a:t>赋值</a:t>
            </a:r>
            <a:endParaRPr lang="en-US" altLang="zh-CN" sz="1600" dirty="0">
              <a:solidFill>
                <a:srgbClr val="002060"/>
              </a:solidFill>
              <a:ea typeface="楷体" pitchFamily="49" charset="-122"/>
            </a:endParaRPr>
          </a:p>
          <a:p>
            <a:pPr marL="457200" indent="-457200"/>
            <a:r>
              <a:rPr lang="en-US" altLang="zh-CN" sz="2000" dirty="0"/>
              <a:t>  for (</a:t>
            </a:r>
            <a:r>
              <a:rPr lang="en-US" altLang="zh-CN" sz="2000" dirty="0" err="1"/>
              <a:t>i</a:t>
            </a:r>
            <a:r>
              <a:rPr lang="en-US" altLang="zh-CN" sz="2000" dirty="0"/>
              <a:t> = 0; </a:t>
            </a:r>
            <a:r>
              <a:rPr lang="en-US" altLang="zh-CN" sz="2000" dirty="0" err="1"/>
              <a:t>i</a:t>
            </a:r>
            <a:r>
              <a:rPr lang="en-US" altLang="zh-CN" sz="2000" dirty="0"/>
              <a:t> &lt; 4; </a:t>
            </a:r>
            <a:r>
              <a:rPr lang="en-US" altLang="zh-CN" sz="2000" dirty="0" err="1"/>
              <a:t>i</a:t>
            </a:r>
            <a:r>
              <a:rPr lang="en-US" altLang="zh-CN" sz="2000" dirty="0"/>
              <a:t>++)       </a:t>
            </a:r>
            <a:r>
              <a:rPr lang="en-US" altLang="zh-CN" sz="1600" dirty="0">
                <a:solidFill>
                  <a:srgbClr val="002060"/>
                </a:solidFill>
                <a:ea typeface="楷体" pitchFamily="49" charset="-122"/>
              </a:rPr>
              <a:t>//</a:t>
            </a:r>
            <a:r>
              <a:rPr lang="zh-CN" altLang="en-US" sz="1600" dirty="0">
                <a:solidFill>
                  <a:srgbClr val="002060"/>
                </a:solidFill>
                <a:ea typeface="楷体" pitchFamily="49" charset="-122"/>
              </a:rPr>
              <a:t>利用冒泡法排序</a:t>
            </a:r>
          </a:p>
          <a:p>
            <a:pPr marL="457200" indent="-457200"/>
            <a:r>
              <a:rPr lang="zh-CN" altLang="en-US" sz="2000" dirty="0"/>
              <a:t>    </a:t>
            </a:r>
            <a:r>
              <a:rPr lang="en-US" altLang="zh-CN" sz="2000" dirty="0"/>
              <a:t>for (j = </a:t>
            </a:r>
            <a:r>
              <a:rPr lang="en-US" altLang="zh-CN" sz="2000" dirty="0" err="1"/>
              <a:t>i</a:t>
            </a:r>
            <a:r>
              <a:rPr lang="en-US" altLang="zh-CN" sz="2000" dirty="0"/>
              <a:t> + 1; j &lt; 5; </a:t>
            </a:r>
            <a:r>
              <a:rPr lang="en-US" altLang="zh-CN" sz="2000" dirty="0" err="1"/>
              <a:t>j++</a:t>
            </a:r>
            <a:r>
              <a:rPr lang="en-US" altLang="zh-CN" sz="2000" dirty="0"/>
              <a:t>)</a:t>
            </a:r>
          </a:p>
          <a:p>
            <a:pPr marL="457200" indent="-457200"/>
            <a:r>
              <a:rPr lang="en-US" altLang="zh-CN" sz="2000" dirty="0"/>
              <a:t>      if (*p[</a:t>
            </a:r>
            <a:r>
              <a:rPr lang="en-US" altLang="zh-CN" sz="2000" dirty="0" err="1"/>
              <a:t>i</a:t>
            </a:r>
            <a:r>
              <a:rPr lang="en-US" altLang="zh-CN" sz="2000" dirty="0"/>
              <a:t>] &gt; *p[j])         </a:t>
            </a:r>
            <a:r>
              <a:rPr lang="en-US" altLang="zh-CN" sz="1600" dirty="0">
                <a:solidFill>
                  <a:srgbClr val="002060"/>
                </a:solidFill>
                <a:ea typeface="楷体" pitchFamily="49" charset="-122"/>
              </a:rPr>
              <a:t>//</a:t>
            </a:r>
            <a:r>
              <a:rPr lang="zh-CN" altLang="en-US" sz="1600" dirty="0">
                <a:solidFill>
                  <a:srgbClr val="002060"/>
                </a:solidFill>
                <a:ea typeface="楷体" pitchFamily="49" charset="-122"/>
              </a:rPr>
              <a:t>交换</a:t>
            </a:r>
            <a:r>
              <a:rPr lang="en-US" altLang="zh-CN" sz="1600" dirty="0">
                <a:solidFill>
                  <a:srgbClr val="002060"/>
                </a:solidFill>
                <a:ea typeface="楷体" pitchFamily="49" charset="-122"/>
              </a:rPr>
              <a:t>p[</a:t>
            </a:r>
            <a:r>
              <a:rPr lang="en-US" altLang="zh-CN" sz="1600" dirty="0" err="1">
                <a:solidFill>
                  <a:srgbClr val="002060"/>
                </a:solidFill>
                <a:ea typeface="楷体" pitchFamily="49" charset="-122"/>
              </a:rPr>
              <a:t>i</a:t>
            </a:r>
            <a:r>
              <a:rPr lang="en-US" altLang="zh-CN" sz="1600" dirty="0">
                <a:solidFill>
                  <a:srgbClr val="002060"/>
                </a:solidFill>
                <a:ea typeface="楷体" pitchFamily="49" charset="-122"/>
              </a:rPr>
              <a:t>]</a:t>
            </a:r>
            <a:r>
              <a:rPr lang="zh-CN" altLang="en-US" sz="1600" dirty="0">
                <a:solidFill>
                  <a:srgbClr val="002060"/>
                </a:solidFill>
                <a:ea typeface="楷体" pitchFamily="49" charset="-122"/>
              </a:rPr>
              <a:t>、</a:t>
            </a:r>
            <a:r>
              <a:rPr lang="en-US" altLang="zh-CN" sz="1600" dirty="0">
                <a:solidFill>
                  <a:srgbClr val="002060"/>
                </a:solidFill>
                <a:ea typeface="楷体" pitchFamily="49" charset="-122"/>
              </a:rPr>
              <a:t>p[j]</a:t>
            </a:r>
            <a:r>
              <a:rPr lang="zh-CN" altLang="en-US" sz="1600" dirty="0">
                <a:solidFill>
                  <a:srgbClr val="002060"/>
                </a:solidFill>
                <a:ea typeface="楷体" pitchFamily="49" charset="-122"/>
              </a:rPr>
              <a:t>所指向的变量值</a:t>
            </a:r>
          </a:p>
          <a:p>
            <a:pPr marL="457200" indent="-457200"/>
            <a:r>
              <a:rPr lang="zh-CN" altLang="en-US" sz="2000" dirty="0"/>
              <a:t>      </a:t>
            </a:r>
            <a:r>
              <a:rPr lang="en-US" altLang="zh-CN" sz="2000" dirty="0"/>
              <a:t>{</a:t>
            </a:r>
          </a:p>
          <a:p>
            <a:pPr marL="457200" indent="-457200"/>
            <a:r>
              <a:rPr lang="en-US" altLang="zh-CN" sz="2000" dirty="0"/>
              <a:t>        t = *p[</a:t>
            </a:r>
            <a:r>
              <a:rPr lang="en-US" altLang="zh-CN" sz="2000" dirty="0" err="1"/>
              <a:t>i</a:t>
            </a:r>
            <a:r>
              <a:rPr lang="en-US" altLang="zh-CN" sz="2000" dirty="0"/>
              <a:t>];</a:t>
            </a:r>
          </a:p>
          <a:p>
            <a:pPr marL="457200" indent="-457200"/>
            <a:r>
              <a:rPr lang="en-US" altLang="zh-CN" sz="2000" dirty="0"/>
              <a:t>        *p[</a:t>
            </a:r>
            <a:r>
              <a:rPr lang="en-US" altLang="zh-CN" sz="2000" dirty="0" err="1"/>
              <a:t>i</a:t>
            </a:r>
            <a:r>
              <a:rPr lang="en-US" altLang="zh-CN" sz="2000" dirty="0"/>
              <a:t>] = *p[j];</a:t>
            </a:r>
          </a:p>
          <a:p>
            <a:pPr marL="457200" indent="-457200"/>
            <a:r>
              <a:rPr lang="en-US" altLang="zh-CN" sz="2000" dirty="0"/>
              <a:t>        *p[j] = t;</a:t>
            </a:r>
          </a:p>
          <a:p>
            <a:pPr marL="457200" indent="-457200"/>
            <a:r>
              <a:rPr lang="en-US" altLang="zh-CN" sz="2000" dirty="0"/>
              <a:t>      }</a:t>
            </a:r>
          </a:p>
          <a:p>
            <a:pPr marL="457200" indent="-457200"/>
            <a:r>
              <a:rPr lang="en-US" altLang="zh-CN" sz="2000" dirty="0"/>
              <a:t>  for (</a:t>
            </a:r>
            <a:r>
              <a:rPr lang="en-US" altLang="zh-CN" sz="2000" dirty="0" err="1"/>
              <a:t>i</a:t>
            </a:r>
            <a:r>
              <a:rPr lang="en-US" altLang="zh-CN" sz="2000" dirty="0"/>
              <a:t> = 0; </a:t>
            </a:r>
            <a:r>
              <a:rPr lang="en-US" altLang="zh-CN" sz="2000" dirty="0" err="1"/>
              <a:t>i</a:t>
            </a:r>
            <a:r>
              <a:rPr lang="en-US" altLang="zh-CN" sz="2000" dirty="0"/>
              <a:t> &lt; 5; </a:t>
            </a:r>
            <a:r>
              <a:rPr lang="en-US" altLang="zh-CN" sz="2000" dirty="0" err="1"/>
              <a:t>i</a:t>
            </a:r>
            <a:r>
              <a:rPr lang="en-US" altLang="zh-CN" sz="2000" dirty="0"/>
              <a:t>++)      </a:t>
            </a:r>
            <a:r>
              <a:rPr lang="en-US" altLang="zh-CN" sz="1600" dirty="0">
                <a:solidFill>
                  <a:srgbClr val="002060"/>
                </a:solidFill>
                <a:ea typeface="楷体" pitchFamily="49" charset="-122"/>
              </a:rPr>
              <a:t>//</a:t>
            </a:r>
            <a:r>
              <a:rPr lang="zh-CN" altLang="en-US" sz="1600" dirty="0">
                <a:solidFill>
                  <a:srgbClr val="002060"/>
                </a:solidFill>
                <a:ea typeface="楷体" pitchFamily="49" charset="-122"/>
              </a:rPr>
              <a:t>显示排序后的结果</a:t>
            </a:r>
          </a:p>
          <a:p>
            <a:pPr marL="457200" indent="-457200"/>
            <a:r>
              <a:rPr lang="zh-CN" altLang="en-US" sz="2000" dirty="0"/>
              <a:t>    </a:t>
            </a:r>
            <a:r>
              <a:rPr lang="en-US" altLang="zh-CN" sz="2000" dirty="0" err="1"/>
              <a:t>printf</a:t>
            </a:r>
            <a:r>
              <a:rPr lang="en-US" altLang="zh-CN" sz="2000" dirty="0"/>
              <a:t>("%d  ", *p[</a:t>
            </a:r>
            <a:r>
              <a:rPr lang="en-US" altLang="zh-CN" sz="2000" dirty="0" err="1"/>
              <a:t>i</a:t>
            </a:r>
            <a:r>
              <a:rPr lang="en-US" altLang="zh-CN" sz="2000" dirty="0"/>
              <a:t>]);</a:t>
            </a:r>
          </a:p>
          <a:p>
            <a:pPr marL="457200" indent="-457200"/>
            <a:r>
              <a:rPr lang="en-US" altLang="zh-CN" sz="2000" dirty="0"/>
              <a:t>  return 0;</a:t>
            </a:r>
          </a:p>
          <a:p>
            <a:pPr marL="457200" indent="-457200"/>
            <a:r>
              <a:rPr lang="en-US" altLang="zh-CN" sz="2000" dirty="0"/>
              <a:t>}</a:t>
            </a:r>
          </a:p>
        </p:txBody>
      </p:sp>
      <p:sp>
        <p:nvSpPr>
          <p:cNvPr id="1167407" name="Text Box 47"/>
          <p:cNvSpPr txBox="1">
            <a:spLocks noChangeArrowheads="1"/>
          </p:cNvSpPr>
          <p:nvPr/>
        </p:nvSpPr>
        <p:spPr bwMode="auto">
          <a:xfrm>
            <a:off x="7385666" y="5714714"/>
            <a:ext cx="3887787" cy="64770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sz="2000" dirty="0">
                <a:solidFill>
                  <a:srgbClr val="C00000"/>
                </a:solidFill>
                <a:latin typeface="+mn-lt"/>
                <a:ea typeface="隶书" pitchFamily="49" charset="-122"/>
              </a:rPr>
              <a:t>运行结果</a:t>
            </a:r>
            <a:r>
              <a:rPr lang="en-US" altLang="zh-CN" sz="2000" dirty="0">
                <a:solidFill>
                  <a:srgbClr val="C00000"/>
                </a:solidFill>
                <a:latin typeface="+mn-lt"/>
                <a:ea typeface="隶书" pitchFamily="49" charset="-122"/>
              </a:rPr>
              <a:t>(</a:t>
            </a:r>
            <a:r>
              <a:rPr lang="zh-CN" altLang="en-US" sz="2000" dirty="0">
                <a:solidFill>
                  <a:srgbClr val="C00000"/>
                </a:solidFill>
                <a:latin typeface="+mn-lt"/>
                <a:ea typeface="隶书" pitchFamily="49" charset="-122"/>
              </a:rPr>
              <a:t>假设输入：</a:t>
            </a:r>
            <a:r>
              <a:rPr lang="en-US" altLang="zh-CN" sz="2000" dirty="0">
                <a:solidFill>
                  <a:srgbClr val="C00000"/>
                </a:solidFill>
                <a:latin typeface="+mn-lt"/>
                <a:ea typeface="隶书" pitchFamily="49" charset="-122"/>
              </a:rPr>
              <a:t>3 8 7 6 4)</a:t>
            </a:r>
            <a:r>
              <a:rPr lang="zh-CN" altLang="en-US" sz="2000" dirty="0">
                <a:solidFill>
                  <a:srgbClr val="C00000"/>
                </a:solidFill>
                <a:latin typeface="+mn-lt"/>
                <a:ea typeface="隶书" pitchFamily="49" charset="-122"/>
              </a:rPr>
              <a:t>：</a:t>
            </a:r>
          </a:p>
          <a:p>
            <a:pPr marL="342900" indent="-342900" algn="just"/>
            <a:r>
              <a:rPr lang="en-US" altLang="zh-CN" sz="2000" dirty="0">
                <a:solidFill>
                  <a:srgbClr val="002060"/>
                </a:solidFill>
              </a:rPr>
              <a:t>3  4  6  7  8</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7362">
                                            <p:txEl>
                                              <p:pRg st="0" end="0"/>
                                            </p:txEl>
                                          </p:spTgt>
                                        </p:tgtEl>
                                        <p:attrNameLst>
                                          <p:attrName>style.visibility</p:attrName>
                                        </p:attrNameLst>
                                      </p:cBhvr>
                                      <p:to>
                                        <p:strVal val="visible"/>
                                      </p:to>
                                    </p:set>
                                    <p:anim calcmode="lin" valueType="num">
                                      <p:cBhvr additive="base">
                                        <p:cTn id="7" dur="500" fill="hold"/>
                                        <p:tgtEl>
                                          <p:spTgt spid="116736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736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67406"/>
                                        </p:tgtEl>
                                        <p:attrNameLst>
                                          <p:attrName>style.visibility</p:attrName>
                                        </p:attrNameLst>
                                      </p:cBhvr>
                                      <p:to>
                                        <p:strVal val="visible"/>
                                      </p:to>
                                    </p:set>
                                    <p:animEffect transition="in" filter="box(out)">
                                      <p:cBhvr>
                                        <p:cTn id="13" dur="500"/>
                                        <p:tgtEl>
                                          <p:spTgt spid="1167406"/>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67407"/>
                                        </p:tgtEl>
                                        <p:attrNameLst>
                                          <p:attrName>style.visibility</p:attrName>
                                        </p:attrNameLst>
                                      </p:cBhvr>
                                      <p:to>
                                        <p:strVal val="visible"/>
                                      </p:to>
                                    </p:set>
                                    <p:animEffect transition="in" filter="box(out)">
                                      <p:cBhvr>
                                        <p:cTn id="18" dur="500"/>
                                        <p:tgtEl>
                                          <p:spTgt spid="1167407"/>
                                        </p:tgtEl>
                                      </p:cBhvr>
                                    </p:animEffect>
                                  </p:childTnLst>
                                  <p:subTnLst>
                                    <p:audio>
                                      <p:cMediaNode>
                                        <p:cTn display="0" masterRel="sameClick">
                                          <p:stCondLst>
                                            <p:cond evt="begin" delay="0">
                                              <p:tn val="16"/>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2" grpId="0" build="p" bldLvl="5" autoUpdateAnimBg="0"/>
      <p:bldP spid="1167406" grpId="0" animBg="1" autoUpdateAnimBg="0"/>
      <p:bldP spid="116740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468" name="Text Box 84"/>
          <p:cNvSpPr txBox="1">
            <a:spLocks noChangeArrowheads="1"/>
          </p:cNvSpPr>
          <p:nvPr/>
        </p:nvSpPr>
        <p:spPr bwMode="auto">
          <a:xfrm>
            <a:off x="3776537" y="1489076"/>
            <a:ext cx="1255712" cy="396875"/>
          </a:xfrm>
          <a:prstGeom prst="rect">
            <a:avLst/>
          </a:prstGeom>
          <a:noFill/>
          <a:ln w="9525">
            <a:noFill/>
            <a:miter lim="800000"/>
            <a:headEnd/>
            <a:tailEnd/>
          </a:ln>
          <a:effectLst/>
        </p:spPr>
        <p:txBody>
          <a:bodyPr>
            <a:spAutoFit/>
          </a:bodyPr>
          <a:lstStyle/>
          <a:p>
            <a:pPr>
              <a:lnSpc>
                <a:spcPct val="100000"/>
              </a:lnSpc>
              <a:spcBef>
                <a:spcPct val="50000"/>
              </a:spcBef>
            </a:pPr>
            <a:endParaRPr lang="zh-CN" altLang="zh-CN" sz="2000">
              <a:solidFill>
                <a:srgbClr val="FF0000"/>
              </a:solidFill>
              <a:ea typeface="宋体" pitchFamily="2" charset="-122"/>
            </a:endParaRPr>
          </a:p>
        </p:txBody>
      </p:sp>
      <p:grpSp>
        <p:nvGrpSpPr>
          <p:cNvPr id="1168475" name="Group 91"/>
          <p:cNvGrpSpPr>
            <a:grpSpLocks/>
          </p:cNvGrpSpPr>
          <p:nvPr/>
        </p:nvGrpSpPr>
        <p:grpSpPr bwMode="auto">
          <a:xfrm>
            <a:off x="2257299" y="692150"/>
            <a:ext cx="3282950" cy="3771900"/>
            <a:chOff x="494" y="436"/>
            <a:chExt cx="2068" cy="2376"/>
          </a:xfrm>
        </p:grpSpPr>
        <p:grpSp>
          <p:nvGrpSpPr>
            <p:cNvPr id="1168424" name="Group 40"/>
            <p:cNvGrpSpPr>
              <a:grpSpLocks/>
            </p:cNvGrpSpPr>
            <p:nvPr/>
          </p:nvGrpSpPr>
          <p:grpSpPr bwMode="auto">
            <a:xfrm>
              <a:off x="1626" y="436"/>
              <a:ext cx="936" cy="2376"/>
              <a:chOff x="4157" y="1008"/>
              <a:chExt cx="936" cy="2376"/>
            </a:xfrm>
          </p:grpSpPr>
          <p:grpSp>
            <p:nvGrpSpPr>
              <p:cNvPr id="1168425" name="Group 41"/>
              <p:cNvGrpSpPr>
                <a:grpSpLocks/>
              </p:cNvGrpSpPr>
              <p:nvPr/>
            </p:nvGrpSpPr>
            <p:grpSpPr bwMode="auto">
              <a:xfrm>
                <a:off x="4157" y="1008"/>
                <a:ext cx="936" cy="2376"/>
                <a:chOff x="4032" y="444"/>
                <a:chExt cx="936" cy="2376"/>
              </a:xfrm>
            </p:grpSpPr>
            <p:sp>
              <p:nvSpPr>
                <p:cNvPr id="1168426" name="AutoShape 42"/>
                <p:cNvSpPr>
                  <a:spLocks noChangeArrowheads="1"/>
                </p:cNvSpPr>
                <p:nvPr/>
              </p:nvSpPr>
              <p:spPr bwMode="auto">
                <a:xfrm>
                  <a:off x="4032" y="444"/>
                  <a:ext cx="936" cy="2376"/>
                </a:xfrm>
                <a:prstGeom prst="foldedCorner">
                  <a:avLst>
                    <a:gd name="adj" fmla="val 13745"/>
                  </a:avLst>
                </a:prstGeom>
                <a:solidFill>
                  <a:srgbClr val="DDFAED"/>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a typeface="隶书" pitchFamily="49" charset="-122"/>
                  </a:endParaRPr>
                </a:p>
              </p:txBody>
            </p:sp>
            <p:sp>
              <p:nvSpPr>
                <p:cNvPr id="1168427" name="Line 43"/>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28" name="Line 44"/>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29" name="Line 45"/>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30" name="Line 46"/>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31" name="Line 47"/>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32" name="Line 48"/>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33" name="Line 49"/>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34" name="Line 50"/>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35" name="Line 51"/>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grpSp>
          <p:grpSp>
            <p:nvGrpSpPr>
              <p:cNvPr id="1168436" name="Group 52"/>
              <p:cNvGrpSpPr>
                <a:grpSpLocks/>
              </p:cNvGrpSpPr>
              <p:nvPr/>
            </p:nvGrpSpPr>
            <p:grpSpPr bwMode="auto">
              <a:xfrm>
                <a:off x="4157" y="1428"/>
                <a:ext cx="60" cy="1368"/>
                <a:chOff x="4032" y="864"/>
                <a:chExt cx="60" cy="1368"/>
              </a:xfrm>
            </p:grpSpPr>
            <p:sp>
              <p:nvSpPr>
                <p:cNvPr id="1168437" name="Line 53"/>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38" name="Line 54"/>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39" name="Line 55"/>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0" name="Line 56"/>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1" name="Line 57"/>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2" name="Line 58"/>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68443" name="Line 59"/>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68444" name="Group 60"/>
              <p:cNvGrpSpPr>
                <a:grpSpLocks/>
              </p:cNvGrpSpPr>
              <p:nvPr/>
            </p:nvGrpSpPr>
            <p:grpSpPr bwMode="auto">
              <a:xfrm>
                <a:off x="5021" y="1440"/>
                <a:ext cx="60" cy="1368"/>
                <a:chOff x="4032" y="864"/>
                <a:chExt cx="60" cy="1368"/>
              </a:xfrm>
            </p:grpSpPr>
            <p:sp>
              <p:nvSpPr>
                <p:cNvPr id="1168445" name="Line 61"/>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6" name="Line 62"/>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7" name="Line 63"/>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8" name="Line 64"/>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9" name="Line 65"/>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50" name="Line 66"/>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68451" name="Line 67"/>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grpSp>
          <p:nvGrpSpPr>
            <p:cNvPr id="1168474" name="Group 90"/>
            <p:cNvGrpSpPr>
              <a:grpSpLocks/>
            </p:cNvGrpSpPr>
            <p:nvPr/>
          </p:nvGrpSpPr>
          <p:grpSpPr bwMode="auto">
            <a:xfrm>
              <a:off x="1079" y="729"/>
              <a:ext cx="733" cy="1397"/>
              <a:chOff x="836" y="729"/>
              <a:chExt cx="733" cy="1397"/>
            </a:xfrm>
          </p:grpSpPr>
          <p:sp>
            <p:nvSpPr>
              <p:cNvPr id="1168453" name="Text Box 69"/>
              <p:cNvSpPr txBox="1">
                <a:spLocks noChangeArrowheads="1"/>
              </p:cNvSpPr>
              <p:nvPr/>
            </p:nvSpPr>
            <p:spPr bwMode="auto">
              <a:xfrm>
                <a:off x="983" y="729"/>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a typeface="隶书" pitchFamily="49" charset="-122"/>
                  </a:rPr>
                  <a:t>2000</a:t>
                </a:r>
              </a:p>
            </p:txBody>
          </p:sp>
          <p:sp>
            <p:nvSpPr>
              <p:cNvPr id="1168455" name="Text Box 71"/>
              <p:cNvSpPr txBox="1">
                <a:spLocks noChangeArrowheads="1"/>
              </p:cNvSpPr>
              <p:nvPr/>
            </p:nvSpPr>
            <p:spPr bwMode="auto">
              <a:xfrm>
                <a:off x="983" y="1181"/>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a typeface="隶书" pitchFamily="49" charset="-122"/>
                  </a:rPr>
                  <a:t>2010</a:t>
                </a:r>
              </a:p>
            </p:txBody>
          </p:sp>
          <p:sp>
            <p:nvSpPr>
              <p:cNvPr id="1168456" name="Text Box 72"/>
              <p:cNvSpPr txBox="1">
                <a:spLocks noChangeArrowheads="1"/>
              </p:cNvSpPr>
              <p:nvPr/>
            </p:nvSpPr>
            <p:spPr bwMode="auto">
              <a:xfrm>
                <a:off x="983" y="1407"/>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a typeface="隶书" pitchFamily="49" charset="-122"/>
                  </a:rPr>
                  <a:t>2020</a:t>
                </a:r>
              </a:p>
            </p:txBody>
          </p:sp>
          <p:sp>
            <p:nvSpPr>
              <p:cNvPr id="1168457" name="Text Box 73"/>
              <p:cNvSpPr txBox="1">
                <a:spLocks noChangeArrowheads="1"/>
              </p:cNvSpPr>
              <p:nvPr/>
            </p:nvSpPr>
            <p:spPr bwMode="auto">
              <a:xfrm>
                <a:off x="836" y="1629"/>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a typeface="隶书" pitchFamily="49" charset="-122"/>
                  </a:rPr>
                  <a:t>2030</a:t>
                </a:r>
              </a:p>
            </p:txBody>
          </p:sp>
          <p:sp>
            <p:nvSpPr>
              <p:cNvPr id="1168458" name="Text Box 74"/>
              <p:cNvSpPr txBox="1">
                <a:spLocks noChangeArrowheads="1"/>
              </p:cNvSpPr>
              <p:nvPr/>
            </p:nvSpPr>
            <p:spPr bwMode="auto">
              <a:xfrm>
                <a:off x="837" y="1873"/>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a typeface="隶书" pitchFamily="49" charset="-122"/>
                  </a:rPr>
                  <a:t>2040</a:t>
                </a:r>
              </a:p>
            </p:txBody>
          </p:sp>
        </p:grpSp>
        <p:sp>
          <p:nvSpPr>
            <p:cNvPr id="1168460" name="AutoShape 76"/>
            <p:cNvSpPr>
              <a:spLocks/>
            </p:cNvSpPr>
            <p:nvPr/>
          </p:nvSpPr>
          <p:spPr bwMode="auto">
            <a:xfrm>
              <a:off x="1133" y="845"/>
              <a:ext cx="85" cy="1134"/>
            </a:xfrm>
            <a:prstGeom prst="leftBrace">
              <a:avLst>
                <a:gd name="adj1" fmla="val 111176"/>
                <a:gd name="adj2" fmla="val 50000"/>
              </a:avLst>
            </a:prstGeom>
            <a:noFill/>
            <a:ln w="25400">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1168461" name="Text Box 77"/>
            <p:cNvSpPr txBox="1">
              <a:spLocks noChangeArrowheads="1"/>
            </p:cNvSpPr>
            <p:nvPr/>
          </p:nvSpPr>
          <p:spPr bwMode="auto">
            <a:xfrm>
              <a:off x="494" y="926"/>
              <a:ext cx="725" cy="1018"/>
            </a:xfrm>
            <a:prstGeom prst="rect">
              <a:avLst/>
            </a:prstGeom>
            <a:noFill/>
            <a:ln w="9525">
              <a:noFill/>
              <a:miter lim="800000"/>
              <a:headEnd/>
              <a:tailEnd/>
            </a:ln>
            <a:effectLst/>
          </p:spPr>
          <p:txBody>
            <a:bodyPr>
              <a:spAutoFit/>
            </a:bodyPr>
            <a:lstStyle/>
            <a:p>
              <a:pPr>
                <a:lnSpc>
                  <a:spcPct val="100000"/>
                </a:lnSpc>
                <a:spcBef>
                  <a:spcPct val="50000"/>
                </a:spcBef>
              </a:pPr>
              <a:r>
                <a:rPr lang="zh-CN" altLang="en-US" sz="2000" dirty="0">
                  <a:latin typeface="+mn-lt"/>
                  <a:ea typeface="楷体" pitchFamily="49" charset="-122"/>
                </a:rPr>
                <a:t>变量所占内存单元</a:t>
              </a:r>
              <a:r>
                <a:rPr lang="en-US" altLang="zh-CN" sz="2000" dirty="0">
                  <a:latin typeface="+mn-lt"/>
                  <a:ea typeface="楷体" pitchFamily="49" charset="-122"/>
                </a:rPr>
                <a:t>(</a:t>
              </a:r>
              <a:r>
                <a:rPr lang="zh-CN" altLang="en-US" sz="2000" dirty="0">
                  <a:solidFill>
                    <a:srgbClr val="C00000"/>
                  </a:solidFill>
                  <a:latin typeface="+mn-lt"/>
                  <a:ea typeface="楷体" pitchFamily="49" charset="-122"/>
                </a:rPr>
                <a:t>不一定连续</a:t>
              </a:r>
              <a:r>
                <a:rPr lang="en-US" altLang="zh-CN" sz="2000" dirty="0">
                  <a:latin typeface="+mn-lt"/>
                  <a:ea typeface="楷体" pitchFamily="49" charset="-122"/>
                </a:rPr>
                <a:t>)</a:t>
              </a:r>
            </a:p>
          </p:txBody>
        </p:sp>
        <p:grpSp>
          <p:nvGrpSpPr>
            <p:cNvPr id="1168473" name="Group 89"/>
            <p:cNvGrpSpPr>
              <a:grpSpLocks/>
            </p:cNvGrpSpPr>
            <p:nvPr/>
          </p:nvGrpSpPr>
          <p:grpSpPr bwMode="auto">
            <a:xfrm>
              <a:off x="1679" y="703"/>
              <a:ext cx="808" cy="1412"/>
              <a:chOff x="1436" y="703"/>
              <a:chExt cx="808" cy="1412"/>
            </a:xfrm>
          </p:grpSpPr>
          <p:sp>
            <p:nvSpPr>
              <p:cNvPr id="1168467" name="Text Box 83"/>
              <p:cNvSpPr txBox="1">
                <a:spLocks noChangeArrowheads="1"/>
              </p:cNvSpPr>
              <p:nvPr/>
            </p:nvSpPr>
            <p:spPr bwMode="auto">
              <a:xfrm>
                <a:off x="1439" y="703"/>
                <a:ext cx="791"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dirty="0">
                    <a:solidFill>
                      <a:srgbClr val="CC0000"/>
                    </a:solidFill>
                    <a:ea typeface="宋体" pitchFamily="2" charset="-122"/>
                  </a:rPr>
                  <a:t>a</a:t>
                </a:r>
                <a:endParaRPr lang="en-US" altLang="zh-CN" sz="2000" dirty="0">
                  <a:solidFill>
                    <a:srgbClr val="FF0000"/>
                  </a:solidFill>
                  <a:ea typeface="宋体" pitchFamily="2" charset="-122"/>
                </a:endParaRPr>
              </a:p>
            </p:txBody>
          </p:sp>
          <p:sp>
            <p:nvSpPr>
              <p:cNvPr id="1168469" name="Text Box 85"/>
              <p:cNvSpPr txBox="1">
                <a:spLocks noChangeArrowheads="1"/>
              </p:cNvSpPr>
              <p:nvPr/>
            </p:nvSpPr>
            <p:spPr bwMode="auto">
              <a:xfrm>
                <a:off x="1452" y="1154"/>
                <a:ext cx="792"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a typeface="宋体" pitchFamily="2" charset="-122"/>
                  </a:rPr>
                  <a:t>b</a:t>
                </a:r>
                <a:endParaRPr lang="en-US" altLang="zh-CN" sz="2000">
                  <a:solidFill>
                    <a:srgbClr val="FF0000"/>
                  </a:solidFill>
                  <a:ea typeface="宋体" pitchFamily="2" charset="-122"/>
                </a:endParaRPr>
              </a:p>
            </p:txBody>
          </p:sp>
          <p:sp>
            <p:nvSpPr>
              <p:cNvPr id="1168470" name="Text Box 86"/>
              <p:cNvSpPr txBox="1">
                <a:spLocks noChangeArrowheads="1"/>
              </p:cNvSpPr>
              <p:nvPr/>
            </p:nvSpPr>
            <p:spPr bwMode="auto">
              <a:xfrm>
                <a:off x="1436" y="1388"/>
                <a:ext cx="791"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a typeface="宋体" pitchFamily="2" charset="-122"/>
                  </a:rPr>
                  <a:t>c</a:t>
                </a:r>
              </a:p>
            </p:txBody>
          </p:sp>
          <p:sp>
            <p:nvSpPr>
              <p:cNvPr id="1168471" name="Text Box 87"/>
              <p:cNvSpPr txBox="1">
                <a:spLocks noChangeArrowheads="1"/>
              </p:cNvSpPr>
              <p:nvPr/>
            </p:nvSpPr>
            <p:spPr bwMode="auto">
              <a:xfrm>
                <a:off x="1436" y="1631"/>
                <a:ext cx="791"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a typeface="宋体" pitchFamily="2" charset="-122"/>
                  </a:rPr>
                  <a:t>d</a:t>
                </a:r>
              </a:p>
            </p:txBody>
          </p:sp>
          <p:sp>
            <p:nvSpPr>
              <p:cNvPr id="1168472" name="Text Box 88"/>
              <p:cNvSpPr txBox="1">
                <a:spLocks noChangeArrowheads="1"/>
              </p:cNvSpPr>
              <p:nvPr/>
            </p:nvSpPr>
            <p:spPr bwMode="auto">
              <a:xfrm>
                <a:off x="1436" y="1865"/>
                <a:ext cx="791"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a typeface="宋体" pitchFamily="2" charset="-122"/>
                  </a:rPr>
                  <a:t>e</a:t>
                </a:r>
              </a:p>
            </p:txBody>
          </p:sp>
        </p:grpSp>
      </p:grpSp>
      <p:grpSp>
        <p:nvGrpSpPr>
          <p:cNvPr id="1168526" name="Group 142"/>
          <p:cNvGrpSpPr>
            <a:grpSpLocks/>
          </p:cNvGrpSpPr>
          <p:nvPr/>
        </p:nvGrpSpPr>
        <p:grpSpPr bwMode="auto">
          <a:xfrm>
            <a:off x="7143625" y="693738"/>
            <a:ext cx="3344863" cy="3771900"/>
            <a:chOff x="3653" y="419"/>
            <a:chExt cx="2107" cy="2376"/>
          </a:xfrm>
        </p:grpSpPr>
        <p:grpSp>
          <p:nvGrpSpPr>
            <p:cNvPr id="1168477" name="Group 93"/>
            <p:cNvGrpSpPr>
              <a:grpSpLocks/>
            </p:cNvGrpSpPr>
            <p:nvPr/>
          </p:nvGrpSpPr>
          <p:grpSpPr bwMode="auto">
            <a:xfrm>
              <a:off x="3678" y="419"/>
              <a:ext cx="936" cy="2376"/>
              <a:chOff x="4157" y="1008"/>
              <a:chExt cx="936" cy="2376"/>
            </a:xfrm>
          </p:grpSpPr>
          <p:grpSp>
            <p:nvGrpSpPr>
              <p:cNvPr id="1168478" name="Group 94"/>
              <p:cNvGrpSpPr>
                <a:grpSpLocks/>
              </p:cNvGrpSpPr>
              <p:nvPr/>
            </p:nvGrpSpPr>
            <p:grpSpPr bwMode="auto">
              <a:xfrm>
                <a:off x="4157" y="1008"/>
                <a:ext cx="936" cy="2376"/>
                <a:chOff x="4032" y="444"/>
                <a:chExt cx="936" cy="2376"/>
              </a:xfrm>
            </p:grpSpPr>
            <p:sp>
              <p:nvSpPr>
                <p:cNvPr id="1168479" name="AutoShape 95"/>
                <p:cNvSpPr>
                  <a:spLocks noChangeArrowheads="1"/>
                </p:cNvSpPr>
                <p:nvPr/>
              </p:nvSpPr>
              <p:spPr bwMode="auto">
                <a:xfrm>
                  <a:off x="4032" y="444"/>
                  <a:ext cx="936" cy="2376"/>
                </a:xfrm>
                <a:prstGeom prst="foldedCorner">
                  <a:avLst>
                    <a:gd name="adj" fmla="val 13745"/>
                  </a:avLst>
                </a:prstGeom>
                <a:solidFill>
                  <a:srgbClr val="DDFAED"/>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a typeface="隶书" pitchFamily="49" charset="-122"/>
                  </a:endParaRPr>
                </a:p>
              </p:txBody>
            </p:sp>
            <p:sp>
              <p:nvSpPr>
                <p:cNvPr id="1168480" name="Line 96"/>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1" name="Line 97"/>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2" name="Line 98"/>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3" name="Line 99"/>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4" name="Line 100"/>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5" name="Line 101"/>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6" name="Line 102"/>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7" name="Line 103"/>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8" name="Line 104"/>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grpSp>
          <p:grpSp>
            <p:nvGrpSpPr>
              <p:cNvPr id="1168489" name="Group 105"/>
              <p:cNvGrpSpPr>
                <a:grpSpLocks/>
              </p:cNvGrpSpPr>
              <p:nvPr/>
            </p:nvGrpSpPr>
            <p:grpSpPr bwMode="auto">
              <a:xfrm>
                <a:off x="4157" y="1428"/>
                <a:ext cx="60" cy="1368"/>
                <a:chOff x="4032" y="864"/>
                <a:chExt cx="60" cy="1368"/>
              </a:xfrm>
            </p:grpSpPr>
            <p:sp>
              <p:nvSpPr>
                <p:cNvPr id="1168490" name="Line 106"/>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91" name="Line 107"/>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92" name="Line 108"/>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93" name="Line 109"/>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94" name="Line 110"/>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95" name="Line 111"/>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68496" name="Line 112"/>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68497" name="Group 113"/>
              <p:cNvGrpSpPr>
                <a:grpSpLocks/>
              </p:cNvGrpSpPr>
              <p:nvPr/>
            </p:nvGrpSpPr>
            <p:grpSpPr bwMode="auto">
              <a:xfrm>
                <a:off x="5021" y="1440"/>
                <a:ext cx="60" cy="1368"/>
                <a:chOff x="4032" y="864"/>
                <a:chExt cx="60" cy="1368"/>
              </a:xfrm>
            </p:grpSpPr>
            <p:sp>
              <p:nvSpPr>
                <p:cNvPr id="1168498" name="Line 114"/>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99" name="Line 115"/>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500" name="Line 116"/>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501" name="Line 117"/>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502" name="Line 118"/>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503" name="Line 119"/>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68504" name="Line 120"/>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grpSp>
          <p:nvGrpSpPr>
            <p:cNvPr id="1168523" name="Group 139"/>
            <p:cNvGrpSpPr>
              <a:grpSpLocks/>
            </p:cNvGrpSpPr>
            <p:nvPr/>
          </p:nvGrpSpPr>
          <p:grpSpPr bwMode="auto">
            <a:xfrm>
              <a:off x="3653" y="929"/>
              <a:ext cx="998" cy="1163"/>
              <a:chOff x="3653" y="929"/>
              <a:chExt cx="998" cy="1163"/>
            </a:xfrm>
          </p:grpSpPr>
          <p:sp>
            <p:nvSpPr>
              <p:cNvPr id="1168514" name="Text Box 130"/>
              <p:cNvSpPr txBox="1">
                <a:spLocks noChangeArrowheads="1"/>
              </p:cNvSpPr>
              <p:nvPr/>
            </p:nvSpPr>
            <p:spPr bwMode="auto">
              <a:xfrm>
                <a:off x="3653" y="929"/>
                <a:ext cx="987"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a typeface="宋体" pitchFamily="2" charset="-122"/>
                  </a:rPr>
                  <a:t>p[0]  2000</a:t>
                </a:r>
                <a:endParaRPr lang="en-US" altLang="zh-CN" sz="2000">
                  <a:solidFill>
                    <a:srgbClr val="FF0000"/>
                  </a:solidFill>
                  <a:ea typeface="宋体" pitchFamily="2" charset="-122"/>
                </a:endParaRPr>
              </a:p>
            </p:txBody>
          </p:sp>
          <p:sp>
            <p:nvSpPr>
              <p:cNvPr id="1168519" name="Text Box 135"/>
              <p:cNvSpPr txBox="1">
                <a:spLocks noChangeArrowheads="1"/>
              </p:cNvSpPr>
              <p:nvPr/>
            </p:nvSpPr>
            <p:spPr bwMode="auto">
              <a:xfrm>
                <a:off x="3663" y="1146"/>
                <a:ext cx="987"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a typeface="宋体" pitchFamily="2" charset="-122"/>
                  </a:rPr>
                  <a:t>p[1]  2010</a:t>
                </a:r>
                <a:endParaRPr lang="en-US" altLang="zh-CN" sz="2000">
                  <a:solidFill>
                    <a:srgbClr val="FF0000"/>
                  </a:solidFill>
                  <a:ea typeface="宋体" pitchFamily="2" charset="-122"/>
                </a:endParaRPr>
              </a:p>
            </p:txBody>
          </p:sp>
          <p:sp>
            <p:nvSpPr>
              <p:cNvPr id="1168520" name="Text Box 136"/>
              <p:cNvSpPr txBox="1">
                <a:spLocks noChangeArrowheads="1"/>
              </p:cNvSpPr>
              <p:nvPr/>
            </p:nvSpPr>
            <p:spPr bwMode="auto">
              <a:xfrm>
                <a:off x="3664" y="1372"/>
                <a:ext cx="987"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a typeface="宋体" pitchFamily="2" charset="-122"/>
                  </a:rPr>
                  <a:t>p[2]  2020</a:t>
                </a:r>
                <a:endParaRPr lang="en-US" altLang="zh-CN" sz="2000">
                  <a:solidFill>
                    <a:srgbClr val="FF0000"/>
                  </a:solidFill>
                  <a:ea typeface="宋体" pitchFamily="2" charset="-122"/>
                </a:endParaRPr>
              </a:p>
            </p:txBody>
          </p:sp>
          <p:sp>
            <p:nvSpPr>
              <p:cNvPr id="1168521" name="Text Box 137"/>
              <p:cNvSpPr txBox="1">
                <a:spLocks noChangeArrowheads="1"/>
              </p:cNvSpPr>
              <p:nvPr/>
            </p:nvSpPr>
            <p:spPr bwMode="auto">
              <a:xfrm>
                <a:off x="3656" y="1607"/>
                <a:ext cx="987"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a typeface="宋体" pitchFamily="2" charset="-122"/>
                  </a:rPr>
                  <a:t>p[3]  2030</a:t>
                </a:r>
                <a:endParaRPr lang="en-US" altLang="zh-CN" sz="2000">
                  <a:solidFill>
                    <a:srgbClr val="FF0000"/>
                  </a:solidFill>
                  <a:ea typeface="宋体" pitchFamily="2" charset="-122"/>
                </a:endParaRPr>
              </a:p>
            </p:txBody>
          </p:sp>
          <p:sp>
            <p:nvSpPr>
              <p:cNvPr id="1168522" name="Text Box 138"/>
              <p:cNvSpPr txBox="1">
                <a:spLocks noChangeArrowheads="1"/>
              </p:cNvSpPr>
              <p:nvPr/>
            </p:nvSpPr>
            <p:spPr bwMode="auto">
              <a:xfrm>
                <a:off x="3657" y="1842"/>
                <a:ext cx="987"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a typeface="宋体" pitchFamily="2" charset="-122"/>
                  </a:rPr>
                  <a:t>p[4]  2040</a:t>
                </a:r>
                <a:endParaRPr lang="en-US" altLang="zh-CN" sz="2000">
                  <a:solidFill>
                    <a:srgbClr val="FF0000"/>
                  </a:solidFill>
                  <a:ea typeface="宋体" pitchFamily="2" charset="-122"/>
                </a:endParaRPr>
              </a:p>
            </p:txBody>
          </p:sp>
        </p:grpSp>
        <p:sp>
          <p:nvSpPr>
            <p:cNvPr id="1168524" name="AutoShape 140"/>
            <p:cNvSpPr>
              <a:spLocks/>
            </p:cNvSpPr>
            <p:nvPr/>
          </p:nvSpPr>
          <p:spPr bwMode="auto">
            <a:xfrm>
              <a:off x="4667" y="990"/>
              <a:ext cx="91" cy="1088"/>
            </a:xfrm>
            <a:prstGeom prst="rightBrace">
              <a:avLst>
                <a:gd name="adj1" fmla="val 99634"/>
                <a:gd name="adj2" fmla="val 50000"/>
              </a:avLst>
            </a:prstGeom>
            <a:noFill/>
            <a:ln w="25400">
              <a:solidFill>
                <a:srgbClr val="CC0000"/>
              </a:solidFill>
              <a:round/>
              <a:headEnd/>
              <a:tailEnd/>
            </a:ln>
            <a:effectLst>
              <a:outerShdw dist="35921" dir="2700000" algn="ctr" rotWithShape="0">
                <a:schemeClr val="bg2"/>
              </a:outerShdw>
            </a:effectLst>
          </p:spPr>
          <p:txBody>
            <a:bodyPr wrap="none" anchor="ctr"/>
            <a:lstStyle/>
            <a:p>
              <a:endParaRPr lang="zh-CN" altLang="en-US"/>
            </a:p>
          </p:txBody>
        </p:sp>
        <p:sp>
          <p:nvSpPr>
            <p:cNvPr id="1168525" name="Text Box 141"/>
            <p:cNvSpPr txBox="1">
              <a:spLocks noChangeArrowheads="1"/>
            </p:cNvSpPr>
            <p:nvPr/>
          </p:nvSpPr>
          <p:spPr bwMode="auto">
            <a:xfrm>
              <a:off x="4740" y="1263"/>
              <a:ext cx="1020" cy="640"/>
            </a:xfrm>
            <a:prstGeom prst="rect">
              <a:avLst/>
            </a:prstGeom>
            <a:noFill/>
            <a:ln w="9525" algn="ctr">
              <a:noFill/>
              <a:miter lim="800000"/>
              <a:headEnd/>
              <a:tailEnd/>
            </a:ln>
            <a:effectLst/>
          </p:spPr>
          <p:txBody>
            <a:bodyPr>
              <a:spAutoFit/>
            </a:bodyPr>
            <a:lstStyle/>
            <a:p>
              <a:pPr marL="342900" indent="-342900"/>
              <a:r>
                <a:rPr lang="zh-CN" altLang="en-US" sz="2000" dirty="0">
                  <a:latin typeface="+mn-lt"/>
                  <a:ea typeface="楷体" pitchFamily="49" charset="-122"/>
                </a:rPr>
                <a:t>指针数组</a:t>
              </a:r>
              <a:r>
                <a:rPr lang="en-US" altLang="zh-CN" sz="2000" dirty="0">
                  <a:latin typeface="+mn-lt"/>
                  <a:ea typeface="楷体" pitchFamily="49" charset="-122"/>
                </a:rPr>
                <a:t>p</a:t>
              </a:r>
            </a:p>
            <a:p>
              <a:pPr marL="342900" indent="-342900"/>
              <a:r>
                <a:rPr lang="en-US" altLang="zh-CN" sz="2000" dirty="0">
                  <a:latin typeface="+mn-lt"/>
                  <a:ea typeface="楷体" pitchFamily="49" charset="-122"/>
                </a:rPr>
                <a:t>(</a:t>
              </a:r>
              <a:r>
                <a:rPr lang="zh-CN" altLang="en-US" sz="2000" dirty="0">
                  <a:latin typeface="+mn-lt"/>
                  <a:ea typeface="楷体" pitchFamily="49" charset="-122"/>
                </a:rPr>
                <a:t>占用</a:t>
              </a:r>
              <a:r>
                <a:rPr lang="zh-CN" altLang="en-US" sz="2000" dirty="0">
                  <a:solidFill>
                    <a:srgbClr val="C00000"/>
                  </a:solidFill>
                  <a:latin typeface="+mn-lt"/>
                  <a:ea typeface="楷体" pitchFamily="49" charset="-122"/>
                </a:rPr>
                <a:t>连续的存储单元</a:t>
              </a:r>
              <a:r>
                <a:rPr lang="en-US" altLang="zh-CN" sz="2000" dirty="0">
                  <a:latin typeface="+mn-lt"/>
                  <a:ea typeface="楷体" pitchFamily="49" charset="-122"/>
                </a:rPr>
                <a:t>)</a:t>
              </a:r>
            </a:p>
          </p:txBody>
        </p:sp>
      </p:grpSp>
      <p:grpSp>
        <p:nvGrpSpPr>
          <p:cNvPr id="1168531" name="Group 147"/>
          <p:cNvGrpSpPr>
            <a:grpSpLocks/>
          </p:cNvGrpSpPr>
          <p:nvPr/>
        </p:nvGrpSpPr>
        <p:grpSpPr bwMode="auto">
          <a:xfrm>
            <a:off x="5540249" y="1268413"/>
            <a:ext cx="1728788" cy="431800"/>
            <a:chOff x="2562" y="799"/>
            <a:chExt cx="1089" cy="272"/>
          </a:xfrm>
        </p:grpSpPr>
        <p:sp>
          <p:nvSpPr>
            <p:cNvPr id="1168528" name="Line 144"/>
            <p:cNvSpPr>
              <a:spLocks noChangeShapeType="1"/>
            </p:cNvSpPr>
            <p:nvPr/>
          </p:nvSpPr>
          <p:spPr bwMode="auto">
            <a:xfrm flipH="1">
              <a:off x="2562" y="799"/>
              <a:ext cx="409"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68529" name="Line 145"/>
            <p:cNvSpPr>
              <a:spLocks noChangeShapeType="1"/>
            </p:cNvSpPr>
            <p:nvPr/>
          </p:nvSpPr>
          <p:spPr bwMode="auto">
            <a:xfrm flipH="1">
              <a:off x="2971" y="1071"/>
              <a:ext cx="680" cy="0"/>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sp>
          <p:nvSpPr>
            <p:cNvPr id="1168530" name="Line 146"/>
            <p:cNvSpPr>
              <a:spLocks noChangeShapeType="1"/>
            </p:cNvSpPr>
            <p:nvPr/>
          </p:nvSpPr>
          <p:spPr bwMode="auto">
            <a:xfrm>
              <a:off x="2971" y="799"/>
              <a:ext cx="0" cy="272"/>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grpSp>
      <p:sp>
        <p:nvSpPr>
          <p:cNvPr id="1168532" name="Line 148"/>
          <p:cNvSpPr>
            <a:spLocks noChangeShapeType="1"/>
          </p:cNvSpPr>
          <p:nvPr/>
        </p:nvSpPr>
        <p:spPr bwMode="auto">
          <a:xfrm flipH="1">
            <a:off x="5540249" y="2074863"/>
            <a:ext cx="1728788"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68533" name="Line 149"/>
          <p:cNvSpPr>
            <a:spLocks noChangeShapeType="1"/>
          </p:cNvSpPr>
          <p:nvPr/>
        </p:nvSpPr>
        <p:spPr bwMode="auto">
          <a:xfrm flipH="1">
            <a:off x="5556124" y="2447925"/>
            <a:ext cx="1728788"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68534" name="Line 150"/>
          <p:cNvSpPr>
            <a:spLocks noChangeShapeType="1"/>
          </p:cNvSpPr>
          <p:nvPr/>
        </p:nvSpPr>
        <p:spPr bwMode="auto">
          <a:xfrm flipH="1">
            <a:off x="5543424" y="2806700"/>
            <a:ext cx="1728788"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68535" name="Line 151"/>
          <p:cNvSpPr>
            <a:spLocks noChangeShapeType="1"/>
          </p:cNvSpPr>
          <p:nvPr/>
        </p:nvSpPr>
        <p:spPr bwMode="auto">
          <a:xfrm flipH="1">
            <a:off x="5545013" y="3151188"/>
            <a:ext cx="1728787"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68536" name="AutoShape 152"/>
          <p:cNvSpPr>
            <a:spLocks noChangeArrowheads="1"/>
          </p:cNvSpPr>
          <p:nvPr/>
        </p:nvSpPr>
        <p:spPr bwMode="auto">
          <a:xfrm>
            <a:off x="2516063" y="4652964"/>
            <a:ext cx="7921625" cy="2088404"/>
          </a:xfrm>
          <a:prstGeom prst="cloudCallout">
            <a:avLst>
              <a:gd name="adj1" fmla="val -20759"/>
              <a:gd name="adj2" fmla="val -93250"/>
            </a:avLst>
          </a:prstGeom>
          <a:gradFill rotWithShape="1">
            <a:gsLst>
              <a:gs pos="0">
                <a:srgbClr val="CFCFD1"/>
              </a:gs>
              <a:gs pos="100000">
                <a:schemeClr val="bg1"/>
              </a:gs>
            </a:gsLst>
            <a:lin ang="5400000" scaled="1"/>
          </a:gradFill>
          <a:ln w="25400">
            <a:solidFill>
              <a:srgbClr val="C00000"/>
            </a:solidFill>
            <a:round/>
            <a:headEnd/>
            <a:tailEnd/>
          </a:ln>
          <a:effectLst>
            <a:outerShdw blurRad="50800" dist="106680" dir="2700000" algn="tl" rotWithShape="0">
              <a:prstClr val="black">
                <a:alpha val="43000"/>
              </a:prstClr>
            </a:outerShdw>
          </a:effectLst>
          <a:scene3d>
            <a:camera prst="orthographicFront"/>
            <a:lightRig rig="threePt" dir="t"/>
          </a:scene3d>
          <a:sp3d>
            <a:bevelT w="165100" prst="coolSlant"/>
          </a:sp3d>
        </p:spPr>
        <p:txBody>
          <a:bodyPr/>
          <a:lstStyle/>
          <a:p>
            <a:pPr marL="342900" indent="-342900"/>
            <a:r>
              <a:rPr lang="zh-CN" altLang="en-US" dirty="0">
                <a:solidFill>
                  <a:srgbClr val="C00000"/>
                </a:solidFill>
                <a:latin typeface="+mn-lt"/>
                <a:ea typeface="隶书" pitchFamily="49" charset="-122"/>
              </a:rPr>
              <a:t>注意：</a:t>
            </a:r>
            <a:r>
              <a:rPr lang="zh-CN" altLang="en-US" dirty="0">
                <a:solidFill>
                  <a:srgbClr val="002060"/>
                </a:solidFill>
                <a:latin typeface="+mn-lt"/>
                <a:ea typeface="隶书" pitchFamily="49" charset="-122"/>
              </a:rPr>
              <a:t>该方法是将</a:t>
            </a:r>
            <a:r>
              <a:rPr lang="en-US" altLang="zh-CN" dirty="0" err="1">
                <a:solidFill>
                  <a:srgbClr val="002060"/>
                </a:solidFill>
                <a:latin typeface="+mn-lt"/>
                <a:ea typeface="隶书" pitchFamily="49" charset="-122"/>
              </a:rPr>
              <a:t>a,b,c,d,e</a:t>
            </a:r>
            <a:r>
              <a:rPr lang="zh-CN" altLang="en-US" dirty="0">
                <a:solidFill>
                  <a:srgbClr val="002060"/>
                </a:solidFill>
                <a:latin typeface="+mn-lt"/>
                <a:ea typeface="隶书" pitchFamily="49" charset="-122"/>
              </a:rPr>
              <a:t>所对应的内存单元的值进行交换，而指针数组并无变化。</a:t>
            </a:r>
            <a:r>
              <a:rPr lang="zh-CN" altLang="en-US" dirty="0">
                <a:solidFill>
                  <a:srgbClr val="C00000"/>
                </a:solidFill>
                <a:latin typeface="+mn-lt"/>
                <a:ea typeface="隶书" pitchFamily="49" charset="-122"/>
              </a:rPr>
              <a:t>问：如果</a:t>
            </a:r>
            <a:r>
              <a:rPr lang="en-US" altLang="zh-CN" dirty="0" err="1">
                <a:solidFill>
                  <a:srgbClr val="C00000"/>
                </a:solidFill>
                <a:latin typeface="+mn-lt"/>
                <a:ea typeface="隶书" pitchFamily="49" charset="-122"/>
              </a:rPr>
              <a:t>a,b,c,d,e</a:t>
            </a:r>
            <a:r>
              <a:rPr lang="zh-CN" altLang="en-US" dirty="0">
                <a:solidFill>
                  <a:srgbClr val="C00000"/>
                </a:solidFill>
                <a:latin typeface="+mn-lt"/>
                <a:ea typeface="隶书" pitchFamily="49" charset="-122"/>
              </a:rPr>
              <a:t>的值不变，能否进行排序？</a:t>
            </a:r>
          </a:p>
        </p:txBody>
      </p:sp>
      <p:sp>
        <p:nvSpPr>
          <p:cNvPr id="95" name="Rectangle 4">
            <a:extLst>
              <a:ext uri="{FF2B5EF4-FFF2-40B4-BE49-F238E27FC236}">
                <a16:creationId xmlns:a16="http://schemas.microsoft.com/office/drawing/2014/main" id="{87EFA253-B019-46F0-9817-AD67B5DBBE1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68475"/>
                                        </p:tgtEl>
                                        <p:attrNameLst>
                                          <p:attrName>style.visibility</p:attrName>
                                        </p:attrNameLst>
                                      </p:cBhvr>
                                      <p:to>
                                        <p:strVal val="visible"/>
                                      </p:to>
                                    </p:set>
                                    <p:animEffect transition="in" filter="box(out)">
                                      <p:cBhvr>
                                        <p:cTn id="7" dur="500"/>
                                        <p:tgtEl>
                                          <p:spTgt spid="1168475"/>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168526"/>
                                        </p:tgtEl>
                                        <p:attrNameLst>
                                          <p:attrName>style.visibility</p:attrName>
                                        </p:attrNameLst>
                                      </p:cBhvr>
                                      <p:to>
                                        <p:strVal val="visible"/>
                                      </p:to>
                                    </p:set>
                                    <p:animEffect transition="in" filter="box(out)">
                                      <p:cBhvr>
                                        <p:cTn id="12" dur="500"/>
                                        <p:tgtEl>
                                          <p:spTgt spid="116852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168531"/>
                                        </p:tgtEl>
                                        <p:attrNameLst>
                                          <p:attrName>style.visibility</p:attrName>
                                        </p:attrNameLst>
                                      </p:cBhvr>
                                      <p:to>
                                        <p:strVal val="visible"/>
                                      </p:to>
                                    </p:set>
                                    <p:animEffect transition="in" filter="strips(downLeft)">
                                      <p:cBhvr>
                                        <p:cTn id="17" dur="500"/>
                                        <p:tgtEl>
                                          <p:spTgt spid="1168531"/>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par>
                          <p:cTn id="18" fill="hold">
                            <p:stCondLst>
                              <p:cond delay="500"/>
                            </p:stCondLst>
                            <p:childTnLst>
                              <p:par>
                                <p:cTn id="19" presetID="18" presetClass="entr" presetSubtype="12" fill="hold" grpId="0" nodeType="afterEffect">
                                  <p:stCondLst>
                                    <p:cond delay="0"/>
                                  </p:stCondLst>
                                  <p:childTnLst>
                                    <p:set>
                                      <p:cBhvr>
                                        <p:cTn id="20" dur="1" fill="hold">
                                          <p:stCondLst>
                                            <p:cond delay="0"/>
                                          </p:stCondLst>
                                        </p:cTn>
                                        <p:tgtEl>
                                          <p:spTgt spid="1168532"/>
                                        </p:tgtEl>
                                        <p:attrNameLst>
                                          <p:attrName>style.visibility</p:attrName>
                                        </p:attrNameLst>
                                      </p:cBhvr>
                                      <p:to>
                                        <p:strVal val="visible"/>
                                      </p:to>
                                    </p:set>
                                    <p:animEffect transition="in" filter="strips(downLeft)">
                                      <p:cBhvr>
                                        <p:cTn id="21" dur="500"/>
                                        <p:tgtEl>
                                          <p:spTgt spid="1168532"/>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par>
                          <p:cTn id="22" fill="hold">
                            <p:stCondLst>
                              <p:cond delay="1000"/>
                            </p:stCondLst>
                            <p:childTnLst>
                              <p:par>
                                <p:cTn id="23" presetID="18" presetClass="entr" presetSubtype="12" fill="hold" grpId="0" nodeType="afterEffect">
                                  <p:stCondLst>
                                    <p:cond delay="0"/>
                                  </p:stCondLst>
                                  <p:childTnLst>
                                    <p:set>
                                      <p:cBhvr>
                                        <p:cTn id="24" dur="1" fill="hold">
                                          <p:stCondLst>
                                            <p:cond delay="0"/>
                                          </p:stCondLst>
                                        </p:cTn>
                                        <p:tgtEl>
                                          <p:spTgt spid="1168533"/>
                                        </p:tgtEl>
                                        <p:attrNameLst>
                                          <p:attrName>style.visibility</p:attrName>
                                        </p:attrNameLst>
                                      </p:cBhvr>
                                      <p:to>
                                        <p:strVal val="visible"/>
                                      </p:to>
                                    </p:set>
                                    <p:animEffect transition="in" filter="strips(downLeft)">
                                      <p:cBhvr>
                                        <p:cTn id="25" dur="500"/>
                                        <p:tgtEl>
                                          <p:spTgt spid="1168533"/>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par>
                          <p:cTn id="26" fill="hold">
                            <p:stCondLst>
                              <p:cond delay="1500"/>
                            </p:stCondLst>
                            <p:childTnLst>
                              <p:par>
                                <p:cTn id="27" presetID="18" presetClass="entr" presetSubtype="12" fill="hold" grpId="0" nodeType="afterEffect">
                                  <p:stCondLst>
                                    <p:cond delay="0"/>
                                  </p:stCondLst>
                                  <p:childTnLst>
                                    <p:set>
                                      <p:cBhvr>
                                        <p:cTn id="28" dur="1" fill="hold">
                                          <p:stCondLst>
                                            <p:cond delay="0"/>
                                          </p:stCondLst>
                                        </p:cTn>
                                        <p:tgtEl>
                                          <p:spTgt spid="1168534"/>
                                        </p:tgtEl>
                                        <p:attrNameLst>
                                          <p:attrName>style.visibility</p:attrName>
                                        </p:attrNameLst>
                                      </p:cBhvr>
                                      <p:to>
                                        <p:strVal val="visible"/>
                                      </p:to>
                                    </p:set>
                                    <p:animEffect transition="in" filter="strips(downLeft)">
                                      <p:cBhvr>
                                        <p:cTn id="29" dur="500"/>
                                        <p:tgtEl>
                                          <p:spTgt spid="1168534"/>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par>
                          <p:cTn id="30" fill="hold">
                            <p:stCondLst>
                              <p:cond delay="2000"/>
                            </p:stCondLst>
                            <p:childTnLst>
                              <p:par>
                                <p:cTn id="31" presetID="18" presetClass="entr" presetSubtype="12" fill="hold" grpId="0" nodeType="afterEffect">
                                  <p:stCondLst>
                                    <p:cond delay="0"/>
                                  </p:stCondLst>
                                  <p:childTnLst>
                                    <p:set>
                                      <p:cBhvr>
                                        <p:cTn id="32" dur="1" fill="hold">
                                          <p:stCondLst>
                                            <p:cond delay="0"/>
                                          </p:stCondLst>
                                        </p:cTn>
                                        <p:tgtEl>
                                          <p:spTgt spid="1168535"/>
                                        </p:tgtEl>
                                        <p:attrNameLst>
                                          <p:attrName>style.visibility</p:attrName>
                                        </p:attrNameLst>
                                      </p:cBhvr>
                                      <p:to>
                                        <p:strVal val="visible"/>
                                      </p:to>
                                    </p:set>
                                    <p:animEffect transition="in" filter="strips(downLeft)">
                                      <p:cBhvr>
                                        <p:cTn id="33" dur="500"/>
                                        <p:tgtEl>
                                          <p:spTgt spid="1168535"/>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6" fill="hold" grpId="0" nodeType="clickEffect">
                                  <p:stCondLst>
                                    <p:cond delay="0"/>
                                  </p:stCondLst>
                                  <p:childTnLst>
                                    <p:set>
                                      <p:cBhvr>
                                        <p:cTn id="37" dur="1" fill="hold">
                                          <p:stCondLst>
                                            <p:cond delay="0"/>
                                          </p:stCondLst>
                                        </p:cTn>
                                        <p:tgtEl>
                                          <p:spTgt spid="1168536"/>
                                        </p:tgtEl>
                                        <p:attrNameLst>
                                          <p:attrName>style.visibility</p:attrName>
                                        </p:attrNameLst>
                                      </p:cBhvr>
                                      <p:to>
                                        <p:strVal val="visible"/>
                                      </p:to>
                                    </p:set>
                                    <p:animEffect transition="in" filter="strips(downRight)">
                                      <p:cBhvr>
                                        <p:cTn id="38" dur="500"/>
                                        <p:tgtEl>
                                          <p:spTgt spid="1168536"/>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8532" grpId="0" animBg="1"/>
      <p:bldP spid="1168533" grpId="0" animBg="1"/>
      <p:bldP spid="1168534" grpId="0" animBg="1"/>
      <p:bldP spid="1168535" grpId="0" animBg="1"/>
      <p:bldP spid="1168536"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9410" name="Rectangle 2"/>
          <p:cNvSpPr>
            <a:spLocks noGrp="1" noChangeArrowheads="1"/>
          </p:cNvSpPr>
          <p:nvPr>
            <p:ph type="body" idx="4294967295"/>
          </p:nvPr>
        </p:nvSpPr>
        <p:spPr>
          <a:xfrm>
            <a:off x="248561" y="939247"/>
            <a:ext cx="5651500" cy="905428"/>
          </a:xfrm>
        </p:spPr>
        <p:txBody>
          <a:bodyPr/>
          <a:lstStyle/>
          <a:p>
            <a:pPr lvl="1">
              <a:buFontTx/>
              <a:buNone/>
            </a:pPr>
            <a:r>
              <a:rPr lang="en-US" altLang="zh-CN" dirty="0">
                <a:solidFill>
                  <a:srgbClr val="C00000"/>
                </a:solidFill>
                <a:effectLst/>
                <a:ea typeface="楷体" pitchFamily="49" charset="-122"/>
              </a:rPr>
              <a:t>1</a:t>
            </a:r>
            <a:r>
              <a:rPr lang="zh-CN" altLang="en-US" dirty="0">
                <a:solidFill>
                  <a:srgbClr val="C00000"/>
                </a:solidFill>
                <a:effectLst/>
                <a:ea typeface="楷体" pitchFamily="49" charset="-122"/>
              </a:rPr>
              <a:t>、字符串表示形式</a:t>
            </a:r>
          </a:p>
          <a:p>
            <a:pPr lvl="2">
              <a:buFont typeface="Wingdings" pitchFamily="2" charset="2"/>
              <a:buChar char="Ø"/>
            </a:pPr>
            <a:r>
              <a:rPr lang="zh-CN" altLang="en-US" dirty="0">
                <a:solidFill>
                  <a:srgbClr val="C00000"/>
                </a:solidFill>
                <a:effectLst/>
                <a:ea typeface="楷体" pitchFamily="49" charset="-122"/>
              </a:rPr>
              <a:t> 用字符数组实现</a:t>
            </a:r>
          </a:p>
        </p:txBody>
      </p:sp>
      <p:sp>
        <p:nvSpPr>
          <p:cNvPr id="1169411" name="Text Box 3" descr="信纸"/>
          <p:cNvSpPr txBox="1">
            <a:spLocks noChangeArrowheads="1"/>
          </p:cNvSpPr>
          <p:nvPr/>
        </p:nvSpPr>
        <p:spPr bwMode="auto">
          <a:xfrm>
            <a:off x="1792775" y="2087564"/>
            <a:ext cx="5933866" cy="3046988"/>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C01920"/>
                </a:solidFill>
                <a:latin typeface="隶书" pitchFamily="49" charset="-122"/>
                <a:ea typeface="隶书" pitchFamily="49" charset="-122"/>
              </a:rPr>
              <a:t>例</a:t>
            </a:r>
            <a:r>
              <a:rPr lang="en-US" altLang="zh-CN" dirty="0">
                <a:solidFill>
                  <a:srgbClr val="C01920"/>
                </a:solidFill>
                <a:latin typeface="隶书" pitchFamily="49" charset="-122"/>
                <a:ea typeface="隶书" pitchFamily="49" charset="-122"/>
              </a:rPr>
              <a:t>:</a:t>
            </a:r>
          </a:p>
          <a:p>
            <a:pPr eaLnBrk="0" hangingPunct="0">
              <a:lnSpc>
                <a:spcPct val="100000"/>
              </a:lnSpc>
              <a:spcBef>
                <a:spcPct val="0"/>
              </a:spcBef>
            </a:pPr>
            <a:r>
              <a:rPr lang="en-US" altLang="zh-CN" dirty="0" err="1">
                <a:solidFill>
                  <a:srgbClr val="C01920"/>
                </a:solidFill>
                <a:ea typeface="宋体" pitchFamily="2" charset="-122"/>
              </a:rPr>
              <a:t>int</a:t>
            </a:r>
            <a:r>
              <a:rPr lang="en-US" altLang="zh-CN" dirty="0">
                <a:solidFill>
                  <a:srgbClr val="C01920"/>
                </a:solidFill>
                <a:ea typeface="宋体" pitchFamily="2" charset="-122"/>
              </a:rPr>
              <a:t>  main (  )</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char string[] = </a:t>
            </a:r>
            <a:r>
              <a:rPr lang="en-US" altLang="zh-CN" dirty="0"/>
              <a:t>"</a:t>
            </a:r>
            <a:r>
              <a:rPr lang="en-US" altLang="zh-CN" dirty="0">
                <a:ea typeface="宋体" pitchFamily="2" charset="-122"/>
              </a:rPr>
              <a:t>I love China!</a:t>
            </a:r>
            <a:r>
              <a:rPr lang="en-US" altLang="zh-CN" dirty="0"/>
              <a:t>"</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a:t>
            </a:r>
            <a:r>
              <a:rPr lang="en-US" altLang="zh-CN" dirty="0"/>
              <a:t>"</a:t>
            </a:r>
            <a:r>
              <a:rPr lang="en-US" altLang="zh-CN" dirty="0">
                <a:ea typeface="宋体" pitchFamily="2" charset="-122"/>
              </a:rPr>
              <a:t>%s\n</a:t>
            </a:r>
            <a:r>
              <a:rPr lang="en-US" altLang="zh-CN" dirty="0"/>
              <a:t>"</a:t>
            </a:r>
            <a:r>
              <a:rPr lang="en-US" altLang="zh-CN" dirty="0">
                <a:ea typeface="宋体" pitchFamily="2" charset="-122"/>
              </a:rPr>
              <a:t>, string);</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a:t>
            </a:r>
            <a:r>
              <a:rPr lang="en-US" altLang="zh-CN" dirty="0"/>
              <a:t>"</a:t>
            </a:r>
            <a:r>
              <a:rPr lang="en-US" altLang="zh-CN" dirty="0">
                <a:ea typeface="宋体" pitchFamily="2" charset="-122"/>
              </a:rPr>
              <a:t>%s\n</a:t>
            </a:r>
            <a:r>
              <a:rPr lang="en-US" altLang="zh-CN" dirty="0"/>
              <a:t>"</a:t>
            </a:r>
            <a:r>
              <a:rPr lang="en-US" altLang="zh-CN" dirty="0">
                <a:ea typeface="宋体" pitchFamily="2" charset="-122"/>
              </a:rPr>
              <a:t>, </a:t>
            </a:r>
            <a:r>
              <a:rPr lang="en-US" altLang="zh-CN" dirty="0">
                <a:solidFill>
                  <a:srgbClr val="C01920"/>
                </a:solidFill>
                <a:ea typeface="宋体" pitchFamily="2" charset="-122"/>
              </a:rPr>
              <a:t>string + 7</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return 0;</a:t>
            </a:r>
          </a:p>
          <a:p>
            <a:pPr eaLnBrk="0" hangingPunct="0">
              <a:lnSpc>
                <a:spcPct val="100000"/>
              </a:lnSpc>
              <a:spcBef>
                <a:spcPct val="0"/>
              </a:spcBef>
            </a:pPr>
            <a:r>
              <a:rPr lang="en-US" altLang="zh-CN" dirty="0">
                <a:ea typeface="宋体" pitchFamily="2" charset="-122"/>
              </a:rPr>
              <a:t>}</a:t>
            </a:r>
          </a:p>
        </p:txBody>
      </p:sp>
      <p:grpSp>
        <p:nvGrpSpPr>
          <p:cNvPr id="1169412" name="Group 4"/>
          <p:cNvGrpSpPr>
            <a:grpSpLocks/>
          </p:cNvGrpSpPr>
          <p:nvPr/>
        </p:nvGrpSpPr>
        <p:grpSpPr bwMode="auto">
          <a:xfrm>
            <a:off x="7954763" y="1244601"/>
            <a:ext cx="3325813" cy="4911725"/>
            <a:chOff x="3410" y="1084"/>
            <a:chExt cx="2095" cy="3094"/>
          </a:xfrm>
        </p:grpSpPr>
        <p:sp>
          <p:nvSpPr>
            <p:cNvPr id="1169413" name="Text Box 5"/>
            <p:cNvSpPr txBox="1">
              <a:spLocks noChangeArrowheads="1"/>
            </p:cNvSpPr>
            <p:nvPr/>
          </p:nvSpPr>
          <p:spPr bwMode="auto">
            <a:xfrm>
              <a:off x="4316" y="1195"/>
              <a:ext cx="179"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I</a:t>
              </a:r>
            </a:p>
          </p:txBody>
        </p:sp>
        <p:sp>
          <p:nvSpPr>
            <p:cNvPr id="1169414" name="Text Box 6"/>
            <p:cNvSpPr txBox="1">
              <a:spLocks noChangeArrowheads="1"/>
            </p:cNvSpPr>
            <p:nvPr/>
          </p:nvSpPr>
          <p:spPr bwMode="auto">
            <a:xfrm>
              <a:off x="4316" y="1615"/>
              <a:ext cx="16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l</a:t>
              </a:r>
            </a:p>
          </p:txBody>
        </p:sp>
        <p:sp>
          <p:nvSpPr>
            <p:cNvPr id="1169415" name="Text Box 7"/>
            <p:cNvSpPr txBox="1">
              <a:spLocks noChangeArrowheads="1"/>
            </p:cNvSpPr>
            <p:nvPr/>
          </p:nvSpPr>
          <p:spPr bwMode="auto">
            <a:xfrm>
              <a:off x="4316" y="1824"/>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o</a:t>
              </a:r>
            </a:p>
          </p:txBody>
        </p:sp>
        <p:sp>
          <p:nvSpPr>
            <p:cNvPr id="1169416" name="Text Box 8"/>
            <p:cNvSpPr txBox="1">
              <a:spLocks noChangeArrowheads="1"/>
            </p:cNvSpPr>
            <p:nvPr/>
          </p:nvSpPr>
          <p:spPr bwMode="auto">
            <a:xfrm>
              <a:off x="4316" y="2034"/>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v</a:t>
              </a:r>
            </a:p>
          </p:txBody>
        </p:sp>
        <p:sp>
          <p:nvSpPr>
            <p:cNvPr id="1169417" name="Text Box 9"/>
            <p:cNvSpPr txBox="1">
              <a:spLocks noChangeArrowheads="1"/>
            </p:cNvSpPr>
            <p:nvPr/>
          </p:nvSpPr>
          <p:spPr bwMode="auto">
            <a:xfrm>
              <a:off x="4316" y="2243"/>
              <a:ext cx="187"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dirty="0">
                  <a:solidFill>
                    <a:srgbClr val="002060"/>
                  </a:solidFill>
                  <a:ea typeface="宋体" pitchFamily="2" charset="-122"/>
                </a:rPr>
                <a:t>e</a:t>
              </a:r>
            </a:p>
          </p:txBody>
        </p:sp>
        <p:sp>
          <p:nvSpPr>
            <p:cNvPr id="1169418" name="Text Box 10"/>
            <p:cNvSpPr txBox="1">
              <a:spLocks noChangeArrowheads="1"/>
            </p:cNvSpPr>
            <p:nvPr/>
          </p:nvSpPr>
          <p:spPr bwMode="auto">
            <a:xfrm>
              <a:off x="4316" y="2662"/>
              <a:ext cx="232"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C</a:t>
              </a:r>
            </a:p>
          </p:txBody>
        </p:sp>
        <p:sp>
          <p:nvSpPr>
            <p:cNvPr id="1169419" name="Text Box 11"/>
            <p:cNvSpPr txBox="1">
              <a:spLocks noChangeArrowheads="1"/>
            </p:cNvSpPr>
            <p:nvPr/>
          </p:nvSpPr>
          <p:spPr bwMode="auto">
            <a:xfrm>
              <a:off x="4316" y="2872"/>
              <a:ext cx="206"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h</a:t>
              </a:r>
            </a:p>
          </p:txBody>
        </p:sp>
        <p:sp>
          <p:nvSpPr>
            <p:cNvPr id="1169420" name="Text Box 12"/>
            <p:cNvSpPr txBox="1">
              <a:spLocks noChangeArrowheads="1"/>
            </p:cNvSpPr>
            <p:nvPr/>
          </p:nvSpPr>
          <p:spPr bwMode="auto">
            <a:xfrm>
              <a:off x="4316" y="3081"/>
              <a:ext cx="16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i</a:t>
              </a:r>
            </a:p>
          </p:txBody>
        </p:sp>
        <p:sp>
          <p:nvSpPr>
            <p:cNvPr id="1169421" name="Text Box 13"/>
            <p:cNvSpPr txBox="1">
              <a:spLocks noChangeArrowheads="1"/>
            </p:cNvSpPr>
            <p:nvPr/>
          </p:nvSpPr>
          <p:spPr bwMode="auto">
            <a:xfrm>
              <a:off x="4724" y="1184"/>
              <a:ext cx="70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string[0]</a:t>
              </a:r>
            </a:p>
          </p:txBody>
        </p:sp>
        <p:sp>
          <p:nvSpPr>
            <p:cNvPr id="1169422" name="Text Box 14"/>
            <p:cNvSpPr txBox="1">
              <a:spLocks noChangeArrowheads="1"/>
            </p:cNvSpPr>
            <p:nvPr/>
          </p:nvSpPr>
          <p:spPr bwMode="auto">
            <a:xfrm>
              <a:off x="4724" y="1394"/>
              <a:ext cx="70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string[1]</a:t>
              </a:r>
            </a:p>
          </p:txBody>
        </p:sp>
        <p:sp>
          <p:nvSpPr>
            <p:cNvPr id="1169423" name="Text Box 15"/>
            <p:cNvSpPr txBox="1">
              <a:spLocks noChangeArrowheads="1"/>
            </p:cNvSpPr>
            <p:nvPr/>
          </p:nvSpPr>
          <p:spPr bwMode="auto">
            <a:xfrm>
              <a:off x="4724" y="1604"/>
              <a:ext cx="70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string[2]</a:t>
              </a:r>
            </a:p>
          </p:txBody>
        </p:sp>
        <p:sp>
          <p:nvSpPr>
            <p:cNvPr id="1169424" name="Text Box 16"/>
            <p:cNvSpPr txBox="1">
              <a:spLocks noChangeArrowheads="1"/>
            </p:cNvSpPr>
            <p:nvPr/>
          </p:nvSpPr>
          <p:spPr bwMode="auto">
            <a:xfrm>
              <a:off x="4724" y="1814"/>
              <a:ext cx="70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string[3]</a:t>
              </a:r>
            </a:p>
          </p:txBody>
        </p:sp>
        <p:sp>
          <p:nvSpPr>
            <p:cNvPr id="1169425" name="Text Box 17"/>
            <p:cNvSpPr txBox="1">
              <a:spLocks noChangeArrowheads="1"/>
            </p:cNvSpPr>
            <p:nvPr/>
          </p:nvSpPr>
          <p:spPr bwMode="auto">
            <a:xfrm>
              <a:off x="4724" y="2024"/>
              <a:ext cx="70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string[4]</a:t>
              </a:r>
            </a:p>
          </p:txBody>
        </p:sp>
        <p:sp>
          <p:nvSpPr>
            <p:cNvPr id="1169426" name="Text Box 18"/>
            <p:cNvSpPr txBox="1">
              <a:spLocks noChangeArrowheads="1"/>
            </p:cNvSpPr>
            <p:nvPr/>
          </p:nvSpPr>
          <p:spPr bwMode="auto">
            <a:xfrm>
              <a:off x="4724" y="2234"/>
              <a:ext cx="70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string[5]</a:t>
              </a:r>
            </a:p>
          </p:txBody>
        </p:sp>
        <p:sp>
          <p:nvSpPr>
            <p:cNvPr id="1169427" name="Text Box 19"/>
            <p:cNvSpPr txBox="1">
              <a:spLocks noChangeArrowheads="1"/>
            </p:cNvSpPr>
            <p:nvPr/>
          </p:nvSpPr>
          <p:spPr bwMode="auto">
            <a:xfrm>
              <a:off x="4724" y="2444"/>
              <a:ext cx="70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string[6]</a:t>
              </a:r>
            </a:p>
          </p:txBody>
        </p:sp>
        <p:sp>
          <p:nvSpPr>
            <p:cNvPr id="1169428" name="Text Box 20"/>
            <p:cNvSpPr txBox="1">
              <a:spLocks noChangeArrowheads="1"/>
            </p:cNvSpPr>
            <p:nvPr/>
          </p:nvSpPr>
          <p:spPr bwMode="auto">
            <a:xfrm>
              <a:off x="4724" y="2654"/>
              <a:ext cx="70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string[7]</a:t>
              </a:r>
            </a:p>
          </p:txBody>
        </p:sp>
        <p:sp>
          <p:nvSpPr>
            <p:cNvPr id="1169429" name="Text Box 21"/>
            <p:cNvSpPr txBox="1">
              <a:spLocks noChangeArrowheads="1"/>
            </p:cNvSpPr>
            <p:nvPr/>
          </p:nvSpPr>
          <p:spPr bwMode="auto">
            <a:xfrm>
              <a:off x="4724" y="2864"/>
              <a:ext cx="70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string[8]</a:t>
              </a:r>
            </a:p>
          </p:txBody>
        </p:sp>
        <p:sp>
          <p:nvSpPr>
            <p:cNvPr id="1169430" name="Text Box 22"/>
            <p:cNvSpPr txBox="1">
              <a:spLocks noChangeArrowheads="1"/>
            </p:cNvSpPr>
            <p:nvPr/>
          </p:nvSpPr>
          <p:spPr bwMode="auto">
            <a:xfrm>
              <a:off x="4724" y="3074"/>
              <a:ext cx="70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string[9]</a:t>
              </a:r>
            </a:p>
          </p:txBody>
        </p:sp>
        <p:sp>
          <p:nvSpPr>
            <p:cNvPr id="1169431" name="Line 23"/>
            <p:cNvSpPr>
              <a:spLocks noChangeShapeType="1"/>
            </p:cNvSpPr>
            <p:nvPr/>
          </p:nvSpPr>
          <p:spPr bwMode="auto">
            <a:xfrm>
              <a:off x="3801" y="1222"/>
              <a:ext cx="333" cy="0"/>
            </a:xfrm>
            <a:prstGeom prst="line">
              <a:avLst/>
            </a:prstGeom>
            <a:noFill/>
            <a:ln w="9525">
              <a:solidFill>
                <a:schemeClr val="tx1"/>
              </a:solidFill>
              <a:round/>
              <a:headEnd/>
              <a:tailEnd type="triangle" w="med" len="med"/>
            </a:ln>
            <a:effectLst/>
          </p:spPr>
          <p:txBody>
            <a:bodyPr wrap="none" anchor="ctr"/>
            <a:lstStyle/>
            <a:p>
              <a:endParaRPr lang="zh-CN" altLang="en-US" b="1"/>
            </a:p>
          </p:txBody>
        </p:sp>
        <p:sp>
          <p:nvSpPr>
            <p:cNvPr id="1169432" name="Text Box 24"/>
            <p:cNvSpPr txBox="1">
              <a:spLocks noChangeArrowheads="1"/>
            </p:cNvSpPr>
            <p:nvPr/>
          </p:nvSpPr>
          <p:spPr bwMode="auto">
            <a:xfrm>
              <a:off x="3410" y="1084"/>
              <a:ext cx="519"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a:t>
              </a:r>
            </a:p>
          </p:txBody>
        </p:sp>
        <p:grpSp>
          <p:nvGrpSpPr>
            <p:cNvPr id="1169433" name="Group 25"/>
            <p:cNvGrpSpPr>
              <a:grpSpLocks/>
            </p:cNvGrpSpPr>
            <p:nvPr/>
          </p:nvGrpSpPr>
          <p:grpSpPr bwMode="auto">
            <a:xfrm>
              <a:off x="4134" y="1211"/>
              <a:ext cx="612" cy="2967"/>
              <a:chOff x="4134" y="1211"/>
              <a:chExt cx="834" cy="2967"/>
            </a:xfrm>
          </p:grpSpPr>
          <p:sp>
            <p:nvSpPr>
              <p:cNvPr id="1169434" name="Rectangle 26"/>
              <p:cNvSpPr>
                <a:spLocks noChangeArrowheads="1"/>
              </p:cNvSpPr>
              <p:nvPr/>
            </p:nvSpPr>
            <p:spPr bwMode="auto">
              <a:xfrm>
                <a:off x="4134" y="1211"/>
                <a:ext cx="834" cy="2967"/>
              </a:xfrm>
              <a:prstGeom prst="rect">
                <a:avLst/>
              </a:prstGeom>
              <a:noFill/>
              <a:ln w="28575">
                <a:solidFill>
                  <a:schemeClr val="tx1"/>
                </a:solidFill>
                <a:miter lim="800000"/>
                <a:headEnd/>
                <a:tailEnd/>
              </a:ln>
              <a:effectLst/>
            </p:spPr>
            <p:txBody>
              <a:bodyPr wrap="none" anchor="ctr"/>
              <a:lstStyle/>
              <a:p>
                <a:endParaRPr lang="zh-CN" altLang="en-US" b="1"/>
              </a:p>
            </p:txBody>
          </p:sp>
          <p:sp>
            <p:nvSpPr>
              <p:cNvPr id="1169435" name="Line 27"/>
              <p:cNvSpPr>
                <a:spLocks noChangeShapeType="1"/>
              </p:cNvSpPr>
              <p:nvPr/>
            </p:nvSpPr>
            <p:spPr bwMode="auto">
              <a:xfrm>
                <a:off x="4134" y="1411"/>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69436" name="Line 28"/>
              <p:cNvSpPr>
                <a:spLocks noChangeShapeType="1"/>
              </p:cNvSpPr>
              <p:nvPr/>
            </p:nvSpPr>
            <p:spPr bwMode="auto">
              <a:xfrm>
                <a:off x="4134" y="1623"/>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69437" name="Line 29"/>
              <p:cNvSpPr>
                <a:spLocks noChangeShapeType="1"/>
              </p:cNvSpPr>
              <p:nvPr/>
            </p:nvSpPr>
            <p:spPr bwMode="auto">
              <a:xfrm>
                <a:off x="4134" y="1836"/>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69438" name="Line 30"/>
              <p:cNvSpPr>
                <a:spLocks noChangeShapeType="1"/>
              </p:cNvSpPr>
              <p:nvPr/>
            </p:nvSpPr>
            <p:spPr bwMode="auto">
              <a:xfrm>
                <a:off x="4134" y="2048"/>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69439" name="Line 31"/>
              <p:cNvSpPr>
                <a:spLocks noChangeShapeType="1"/>
              </p:cNvSpPr>
              <p:nvPr/>
            </p:nvSpPr>
            <p:spPr bwMode="auto">
              <a:xfrm>
                <a:off x="4134" y="2261"/>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69440" name="Line 32"/>
              <p:cNvSpPr>
                <a:spLocks noChangeShapeType="1"/>
              </p:cNvSpPr>
              <p:nvPr/>
            </p:nvSpPr>
            <p:spPr bwMode="auto">
              <a:xfrm>
                <a:off x="4134" y="2474"/>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69441" name="Line 33"/>
              <p:cNvSpPr>
                <a:spLocks noChangeShapeType="1"/>
              </p:cNvSpPr>
              <p:nvPr/>
            </p:nvSpPr>
            <p:spPr bwMode="auto">
              <a:xfrm>
                <a:off x="4134" y="2686"/>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69442" name="Line 34"/>
              <p:cNvSpPr>
                <a:spLocks noChangeShapeType="1"/>
              </p:cNvSpPr>
              <p:nvPr/>
            </p:nvSpPr>
            <p:spPr bwMode="auto">
              <a:xfrm>
                <a:off x="4134" y="2899"/>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69443" name="Line 35"/>
              <p:cNvSpPr>
                <a:spLocks noChangeShapeType="1"/>
              </p:cNvSpPr>
              <p:nvPr/>
            </p:nvSpPr>
            <p:spPr bwMode="auto">
              <a:xfrm>
                <a:off x="4134" y="3112"/>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69444" name="Line 36"/>
              <p:cNvSpPr>
                <a:spLocks noChangeShapeType="1"/>
              </p:cNvSpPr>
              <p:nvPr/>
            </p:nvSpPr>
            <p:spPr bwMode="auto">
              <a:xfrm>
                <a:off x="4145" y="3333"/>
                <a:ext cx="822" cy="0"/>
              </a:xfrm>
              <a:prstGeom prst="line">
                <a:avLst/>
              </a:prstGeom>
              <a:noFill/>
              <a:ln w="9525">
                <a:solidFill>
                  <a:schemeClr val="tx1"/>
                </a:solidFill>
                <a:round/>
                <a:headEnd/>
                <a:tailEnd/>
              </a:ln>
              <a:effectLst/>
            </p:spPr>
            <p:txBody>
              <a:bodyPr wrap="none" anchor="ctr"/>
              <a:lstStyle/>
              <a:p>
                <a:endParaRPr lang="zh-CN" altLang="en-US" b="1"/>
              </a:p>
            </p:txBody>
          </p:sp>
          <p:sp>
            <p:nvSpPr>
              <p:cNvPr id="1169445" name="Line 37"/>
              <p:cNvSpPr>
                <a:spLocks noChangeShapeType="1"/>
              </p:cNvSpPr>
              <p:nvPr/>
            </p:nvSpPr>
            <p:spPr bwMode="auto">
              <a:xfrm>
                <a:off x="4141" y="3540"/>
                <a:ext cx="822" cy="0"/>
              </a:xfrm>
              <a:prstGeom prst="line">
                <a:avLst/>
              </a:prstGeom>
              <a:noFill/>
              <a:ln w="9525">
                <a:solidFill>
                  <a:schemeClr val="tx1"/>
                </a:solidFill>
                <a:round/>
                <a:headEnd/>
                <a:tailEnd/>
              </a:ln>
              <a:effectLst/>
            </p:spPr>
            <p:txBody>
              <a:bodyPr wrap="none" anchor="ctr"/>
              <a:lstStyle/>
              <a:p>
                <a:endParaRPr lang="zh-CN" altLang="en-US" b="1"/>
              </a:p>
            </p:txBody>
          </p:sp>
          <p:sp>
            <p:nvSpPr>
              <p:cNvPr id="1169446" name="Line 38"/>
              <p:cNvSpPr>
                <a:spLocks noChangeShapeType="1"/>
              </p:cNvSpPr>
              <p:nvPr/>
            </p:nvSpPr>
            <p:spPr bwMode="auto">
              <a:xfrm>
                <a:off x="4141" y="3762"/>
                <a:ext cx="822" cy="0"/>
              </a:xfrm>
              <a:prstGeom prst="line">
                <a:avLst/>
              </a:prstGeom>
              <a:noFill/>
              <a:ln w="9525">
                <a:solidFill>
                  <a:schemeClr val="tx1"/>
                </a:solidFill>
                <a:round/>
                <a:headEnd/>
                <a:tailEnd/>
              </a:ln>
              <a:effectLst/>
            </p:spPr>
            <p:txBody>
              <a:bodyPr wrap="none" anchor="ctr"/>
              <a:lstStyle/>
              <a:p>
                <a:endParaRPr lang="zh-CN" altLang="en-US" b="1"/>
              </a:p>
            </p:txBody>
          </p:sp>
          <p:sp>
            <p:nvSpPr>
              <p:cNvPr id="1169447" name="Line 39"/>
              <p:cNvSpPr>
                <a:spLocks noChangeShapeType="1"/>
              </p:cNvSpPr>
              <p:nvPr/>
            </p:nvSpPr>
            <p:spPr bwMode="auto">
              <a:xfrm>
                <a:off x="4141" y="3973"/>
                <a:ext cx="822" cy="0"/>
              </a:xfrm>
              <a:prstGeom prst="line">
                <a:avLst/>
              </a:prstGeom>
              <a:noFill/>
              <a:ln w="9525">
                <a:solidFill>
                  <a:schemeClr val="tx1"/>
                </a:solidFill>
                <a:round/>
                <a:headEnd/>
                <a:tailEnd/>
              </a:ln>
              <a:effectLst/>
            </p:spPr>
            <p:txBody>
              <a:bodyPr wrap="none" anchor="ctr"/>
              <a:lstStyle/>
              <a:p>
                <a:endParaRPr lang="zh-CN" altLang="en-US" b="1"/>
              </a:p>
            </p:txBody>
          </p:sp>
        </p:grpSp>
        <p:sp>
          <p:nvSpPr>
            <p:cNvPr id="1169448" name="Text Box 40"/>
            <p:cNvSpPr txBox="1">
              <a:spLocks noChangeArrowheads="1"/>
            </p:cNvSpPr>
            <p:nvPr/>
          </p:nvSpPr>
          <p:spPr bwMode="auto">
            <a:xfrm>
              <a:off x="4724" y="3284"/>
              <a:ext cx="78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string[10]</a:t>
              </a:r>
            </a:p>
          </p:txBody>
        </p:sp>
        <p:sp>
          <p:nvSpPr>
            <p:cNvPr id="1169449" name="Text Box 41"/>
            <p:cNvSpPr txBox="1">
              <a:spLocks noChangeArrowheads="1"/>
            </p:cNvSpPr>
            <p:nvPr/>
          </p:nvSpPr>
          <p:spPr bwMode="auto">
            <a:xfrm>
              <a:off x="4724" y="3494"/>
              <a:ext cx="779"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string[11]</a:t>
              </a:r>
            </a:p>
          </p:txBody>
        </p:sp>
        <p:sp>
          <p:nvSpPr>
            <p:cNvPr id="1169450" name="Text Box 42"/>
            <p:cNvSpPr txBox="1">
              <a:spLocks noChangeArrowheads="1"/>
            </p:cNvSpPr>
            <p:nvPr/>
          </p:nvSpPr>
          <p:spPr bwMode="auto">
            <a:xfrm>
              <a:off x="4724" y="3704"/>
              <a:ext cx="78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string[12]</a:t>
              </a:r>
            </a:p>
          </p:txBody>
        </p:sp>
        <p:sp>
          <p:nvSpPr>
            <p:cNvPr id="1169451" name="Text Box 43"/>
            <p:cNvSpPr txBox="1">
              <a:spLocks noChangeArrowheads="1"/>
            </p:cNvSpPr>
            <p:nvPr/>
          </p:nvSpPr>
          <p:spPr bwMode="auto">
            <a:xfrm>
              <a:off x="4724" y="3914"/>
              <a:ext cx="78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string[13]</a:t>
              </a:r>
            </a:p>
          </p:txBody>
        </p:sp>
        <p:sp>
          <p:nvSpPr>
            <p:cNvPr id="1169452" name="Text Box 44"/>
            <p:cNvSpPr txBox="1">
              <a:spLocks noChangeArrowheads="1"/>
            </p:cNvSpPr>
            <p:nvPr/>
          </p:nvSpPr>
          <p:spPr bwMode="auto">
            <a:xfrm>
              <a:off x="4316" y="3292"/>
              <a:ext cx="206"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n</a:t>
              </a:r>
            </a:p>
          </p:txBody>
        </p:sp>
        <p:sp>
          <p:nvSpPr>
            <p:cNvPr id="1169453" name="Text Box 45"/>
            <p:cNvSpPr txBox="1">
              <a:spLocks noChangeArrowheads="1"/>
            </p:cNvSpPr>
            <p:nvPr/>
          </p:nvSpPr>
          <p:spPr bwMode="auto">
            <a:xfrm>
              <a:off x="4316" y="3714"/>
              <a:ext cx="169"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dirty="0">
                  <a:solidFill>
                    <a:srgbClr val="002060"/>
                  </a:solidFill>
                  <a:ea typeface="宋体" pitchFamily="2" charset="-122"/>
                </a:rPr>
                <a:t>!</a:t>
              </a:r>
            </a:p>
          </p:txBody>
        </p:sp>
        <p:sp>
          <p:nvSpPr>
            <p:cNvPr id="1169454" name="Text Box 46"/>
            <p:cNvSpPr txBox="1">
              <a:spLocks noChangeArrowheads="1"/>
            </p:cNvSpPr>
            <p:nvPr/>
          </p:nvSpPr>
          <p:spPr bwMode="auto">
            <a:xfrm>
              <a:off x="4316" y="3503"/>
              <a:ext cx="19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a</a:t>
              </a:r>
            </a:p>
          </p:txBody>
        </p:sp>
        <p:sp>
          <p:nvSpPr>
            <p:cNvPr id="1169455" name="Text Box 47"/>
            <p:cNvSpPr txBox="1">
              <a:spLocks noChangeArrowheads="1"/>
            </p:cNvSpPr>
            <p:nvPr/>
          </p:nvSpPr>
          <p:spPr bwMode="auto">
            <a:xfrm>
              <a:off x="4316" y="3925"/>
              <a:ext cx="24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\0</a:t>
              </a:r>
            </a:p>
          </p:txBody>
        </p:sp>
      </p:grpSp>
      <p:sp>
        <p:nvSpPr>
          <p:cNvPr id="1169456" name="Text Box 48"/>
          <p:cNvSpPr txBox="1">
            <a:spLocks noChangeArrowheads="1"/>
          </p:cNvSpPr>
          <p:nvPr/>
        </p:nvSpPr>
        <p:spPr bwMode="auto">
          <a:xfrm>
            <a:off x="2805509" y="5283201"/>
            <a:ext cx="4203171" cy="115252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dirty="0">
                <a:solidFill>
                  <a:srgbClr val="C01920"/>
                </a:solidFill>
                <a:latin typeface="隶书" pitchFamily="49" charset="-122"/>
                <a:ea typeface="隶书" pitchFamily="49" charset="-122"/>
              </a:rPr>
              <a:t>运行结果：</a:t>
            </a:r>
          </a:p>
          <a:p>
            <a:pPr marL="342900" indent="-342900" algn="just"/>
            <a:r>
              <a:rPr lang="en-US" altLang="zh-CN" dirty="0">
                <a:solidFill>
                  <a:srgbClr val="002060"/>
                </a:solidFill>
              </a:rPr>
              <a:t>I love China!</a:t>
            </a:r>
          </a:p>
          <a:p>
            <a:pPr marL="342900" indent="-342900" algn="just"/>
            <a:r>
              <a:rPr lang="en-US" altLang="zh-CN" dirty="0">
                <a:solidFill>
                  <a:srgbClr val="002060"/>
                </a:solidFill>
              </a:rPr>
              <a:t>China!</a:t>
            </a:r>
          </a:p>
        </p:txBody>
      </p:sp>
      <p:sp>
        <p:nvSpPr>
          <p:cNvPr id="52" name="Rectangle 4">
            <a:extLst>
              <a:ext uri="{FF2B5EF4-FFF2-40B4-BE49-F238E27FC236}">
                <a16:creationId xmlns:a16="http://schemas.microsoft.com/office/drawing/2014/main" id="{4CC8C2CA-D9BB-4860-AB3E-DC3BA53006B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指针与字符串</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9410">
                                            <p:txEl>
                                              <p:pRg st="0" end="0"/>
                                            </p:txEl>
                                          </p:spTgt>
                                        </p:tgtEl>
                                        <p:attrNameLst>
                                          <p:attrName>style.visibility</p:attrName>
                                        </p:attrNameLst>
                                      </p:cBhvr>
                                      <p:to>
                                        <p:strVal val="visible"/>
                                      </p:to>
                                    </p:set>
                                    <p:anim calcmode="lin" valueType="num">
                                      <p:cBhvr additive="base">
                                        <p:cTn id="7" dur="500" fill="hold"/>
                                        <p:tgtEl>
                                          <p:spTgt spid="11694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941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69410">
                                            <p:txEl>
                                              <p:pRg st="1" end="1"/>
                                            </p:txEl>
                                          </p:spTgt>
                                        </p:tgtEl>
                                        <p:attrNameLst>
                                          <p:attrName>style.visibility</p:attrName>
                                        </p:attrNameLst>
                                      </p:cBhvr>
                                      <p:to>
                                        <p:strVal val="visible"/>
                                      </p:to>
                                    </p:set>
                                    <p:anim calcmode="lin" valueType="num">
                                      <p:cBhvr additive="base">
                                        <p:cTn id="13" dur="500" fill="hold"/>
                                        <p:tgtEl>
                                          <p:spTgt spid="116941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6941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69411"/>
                                        </p:tgtEl>
                                        <p:attrNameLst>
                                          <p:attrName>style.visibility</p:attrName>
                                        </p:attrNameLst>
                                      </p:cBhvr>
                                      <p:to>
                                        <p:strVal val="visible"/>
                                      </p:to>
                                    </p:set>
                                    <p:anim calcmode="lin" valueType="num">
                                      <p:cBhvr additive="base">
                                        <p:cTn id="19" dur="500" fill="hold"/>
                                        <p:tgtEl>
                                          <p:spTgt spid="1169411"/>
                                        </p:tgtEl>
                                        <p:attrNameLst>
                                          <p:attrName>ppt_x</p:attrName>
                                        </p:attrNameLst>
                                      </p:cBhvr>
                                      <p:tavLst>
                                        <p:tav tm="0">
                                          <p:val>
                                            <p:strVal val="0-#ppt_w/2"/>
                                          </p:val>
                                        </p:tav>
                                        <p:tav tm="100000">
                                          <p:val>
                                            <p:strVal val="#ppt_x"/>
                                          </p:val>
                                        </p:tav>
                                      </p:tavLst>
                                    </p:anim>
                                    <p:anim calcmode="lin" valueType="num">
                                      <p:cBhvr additive="base">
                                        <p:cTn id="20" dur="500" fill="hold"/>
                                        <p:tgtEl>
                                          <p:spTgt spid="11694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169412"/>
                                        </p:tgtEl>
                                        <p:attrNameLst>
                                          <p:attrName>style.visibility</p:attrName>
                                        </p:attrNameLst>
                                      </p:cBhvr>
                                      <p:to>
                                        <p:strVal val="visible"/>
                                      </p:to>
                                    </p:set>
                                    <p:anim calcmode="lin" valueType="num">
                                      <p:cBhvr additive="base">
                                        <p:cTn id="25" dur="500" fill="hold"/>
                                        <p:tgtEl>
                                          <p:spTgt spid="1169412"/>
                                        </p:tgtEl>
                                        <p:attrNameLst>
                                          <p:attrName>ppt_x</p:attrName>
                                        </p:attrNameLst>
                                      </p:cBhvr>
                                      <p:tavLst>
                                        <p:tav tm="0">
                                          <p:val>
                                            <p:strVal val="0-#ppt_w/2"/>
                                          </p:val>
                                        </p:tav>
                                        <p:tav tm="100000">
                                          <p:val>
                                            <p:strVal val="#ppt_x"/>
                                          </p:val>
                                        </p:tav>
                                      </p:tavLst>
                                    </p:anim>
                                    <p:anim calcmode="lin" valueType="num">
                                      <p:cBhvr additive="base">
                                        <p:cTn id="26" dur="500" fill="hold"/>
                                        <p:tgtEl>
                                          <p:spTgt spid="11694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169456"/>
                                        </p:tgtEl>
                                        <p:attrNameLst>
                                          <p:attrName>style.visibility</p:attrName>
                                        </p:attrNameLst>
                                      </p:cBhvr>
                                      <p:to>
                                        <p:strVal val="visible"/>
                                      </p:to>
                                    </p:set>
                                    <p:animEffect transition="in" filter="box(out)">
                                      <p:cBhvr>
                                        <p:cTn id="31" dur="500"/>
                                        <p:tgtEl>
                                          <p:spTgt spid="1169456"/>
                                        </p:tgtEl>
                                      </p:cBhvr>
                                    </p:animEffect>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9410" grpId="0" build="p" bldLvl="5" autoUpdateAnimBg="0"/>
      <p:bldP spid="1169411" grpId="0" animBg="1" autoUpdateAnimBg="0"/>
      <p:bldP spid="116945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434" name="Rectangle 2"/>
          <p:cNvSpPr>
            <a:spLocks noChangeArrowheads="1"/>
          </p:cNvSpPr>
          <p:nvPr/>
        </p:nvSpPr>
        <p:spPr bwMode="auto">
          <a:xfrm>
            <a:off x="1178694" y="1294158"/>
            <a:ext cx="4572000" cy="538163"/>
          </a:xfrm>
          <a:prstGeom prst="rect">
            <a:avLst/>
          </a:prstGeom>
          <a:noFill/>
          <a:ln w="9525">
            <a:noFill/>
            <a:miter lim="800000"/>
            <a:headEnd/>
            <a:tailEnd/>
          </a:ln>
          <a:effectLst/>
        </p:spPr>
        <p:txBody>
          <a:bodyPr/>
          <a:lstStyle/>
          <a:p>
            <a:pPr marL="342900" indent="-342900">
              <a:lnSpc>
                <a:spcPct val="100000"/>
              </a:lnSpc>
              <a:buFont typeface="Wingdings" pitchFamily="2" charset="2"/>
              <a:buChar char="Ø"/>
            </a:pPr>
            <a:r>
              <a:rPr lang="en-US" altLang="zh-CN" dirty="0">
                <a:solidFill>
                  <a:srgbClr val="C00000"/>
                </a:solidFill>
                <a:latin typeface="+mn-lt"/>
                <a:ea typeface="楷体" pitchFamily="49" charset="-122"/>
              </a:rPr>
              <a:t> </a:t>
            </a:r>
            <a:r>
              <a:rPr lang="zh-CN" altLang="en-US" dirty="0">
                <a:solidFill>
                  <a:srgbClr val="C00000"/>
                </a:solidFill>
                <a:latin typeface="+mn-lt"/>
                <a:ea typeface="楷体" pitchFamily="49" charset="-122"/>
              </a:rPr>
              <a:t>用字符指针实现</a:t>
            </a:r>
          </a:p>
        </p:txBody>
      </p:sp>
      <p:sp>
        <p:nvSpPr>
          <p:cNvPr id="1170435" name="Text Box 3" descr="信纸"/>
          <p:cNvSpPr txBox="1">
            <a:spLocks noChangeArrowheads="1"/>
          </p:cNvSpPr>
          <p:nvPr/>
        </p:nvSpPr>
        <p:spPr bwMode="auto">
          <a:xfrm>
            <a:off x="1199456" y="1772816"/>
            <a:ext cx="5760640" cy="4893647"/>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C00000"/>
                </a:solidFill>
                <a:latin typeface="隶书" pitchFamily="49" charset="-122"/>
                <a:ea typeface="隶书" pitchFamily="49" charset="-122"/>
              </a:rPr>
              <a:t>例：   </a:t>
            </a:r>
          </a:p>
          <a:p>
            <a:pPr eaLnBrk="0" hangingPunct="0">
              <a:lnSpc>
                <a:spcPct val="100000"/>
              </a:lnSpc>
              <a:spcBef>
                <a:spcPct val="0"/>
              </a:spcBef>
            </a:pPr>
            <a:r>
              <a:rPr lang="en-US" altLang="zh-CN" dirty="0" err="1">
                <a:solidFill>
                  <a:srgbClr val="C00000"/>
                </a:solidFill>
                <a:ea typeface="宋体" pitchFamily="2" charset="-122"/>
              </a:rPr>
              <a:t>int</a:t>
            </a:r>
            <a:r>
              <a:rPr lang="en-US" altLang="zh-CN" dirty="0">
                <a:solidFill>
                  <a:srgbClr val="C00000"/>
                </a:solidFill>
                <a:ea typeface="宋体" pitchFamily="2" charset="-122"/>
              </a:rPr>
              <a:t> main (  )</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a:solidFill>
                  <a:srgbClr val="002060"/>
                </a:solidFill>
                <a:ea typeface="宋体" pitchFamily="2" charset="-122"/>
              </a:rPr>
              <a:t>char  *string = </a:t>
            </a:r>
            <a:r>
              <a:rPr lang="en-US" altLang="zh-CN" dirty="0">
                <a:solidFill>
                  <a:srgbClr val="002060"/>
                </a:solidFill>
              </a:rPr>
              <a:t>"</a:t>
            </a:r>
            <a:r>
              <a:rPr lang="en-US" altLang="zh-CN" dirty="0">
                <a:solidFill>
                  <a:srgbClr val="002060"/>
                </a:solidFill>
                <a:ea typeface="宋体" pitchFamily="2" charset="-122"/>
              </a:rPr>
              <a:t>I  love China!</a:t>
            </a:r>
            <a:r>
              <a:rPr lang="en-US" altLang="zh-CN" dirty="0">
                <a:solidFill>
                  <a:srgbClr val="002060"/>
                </a:solidFill>
              </a:rPr>
              <a:t> "</a:t>
            </a:r>
            <a:r>
              <a:rPr lang="en-US" altLang="zh-CN" dirty="0">
                <a:solidFill>
                  <a:srgbClr val="002060"/>
                </a:solidFill>
                <a:ea typeface="宋体" pitchFamily="2" charset="-122"/>
              </a:rPr>
              <a:t>;</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a:t>
            </a:r>
            <a:r>
              <a:rPr lang="en-US" altLang="zh-CN" dirty="0"/>
              <a:t>"</a:t>
            </a:r>
            <a:r>
              <a:rPr lang="en-US" altLang="zh-CN" dirty="0">
                <a:ea typeface="宋体" pitchFamily="2" charset="-122"/>
              </a:rPr>
              <a:t>%s\n</a:t>
            </a:r>
            <a:r>
              <a:rPr lang="en-US" altLang="zh-CN" dirty="0"/>
              <a:t>"</a:t>
            </a:r>
            <a:r>
              <a:rPr lang="en-US" altLang="zh-CN" dirty="0">
                <a:ea typeface="宋体" pitchFamily="2" charset="-122"/>
              </a:rPr>
              <a:t>, string);</a:t>
            </a:r>
          </a:p>
          <a:p>
            <a:pPr eaLnBrk="0" hangingPunct="0">
              <a:lnSpc>
                <a:spcPct val="100000"/>
              </a:lnSpc>
              <a:spcBef>
                <a:spcPct val="0"/>
              </a:spcBef>
            </a:pPr>
            <a:r>
              <a:rPr lang="en-US" altLang="zh-CN" dirty="0">
                <a:ea typeface="宋体" pitchFamily="2" charset="-122"/>
              </a:rPr>
              <a:t>    </a:t>
            </a:r>
            <a:r>
              <a:rPr lang="en-US" altLang="zh-CN" dirty="0">
                <a:solidFill>
                  <a:srgbClr val="C01920"/>
                </a:solidFill>
                <a:ea typeface="宋体" pitchFamily="2" charset="-122"/>
              </a:rPr>
              <a:t>string += 7;</a:t>
            </a:r>
          </a:p>
          <a:p>
            <a:pPr eaLnBrk="0" hangingPunct="0">
              <a:lnSpc>
                <a:spcPct val="100000"/>
              </a:lnSpc>
              <a:spcBef>
                <a:spcPct val="0"/>
              </a:spcBef>
            </a:pPr>
            <a:r>
              <a:rPr lang="en-US" altLang="zh-CN" dirty="0">
                <a:ea typeface="宋体" pitchFamily="2" charset="-122"/>
              </a:rPr>
              <a:t>    while (*string)</a:t>
            </a:r>
          </a:p>
          <a:p>
            <a:pPr eaLnBrk="0" hangingPunct="0">
              <a:lnSpc>
                <a:spcPct val="100000"/>
              </a:lnSpc>
              <a:spcBef>
                <a:spcPct val="0"/>
              </a:spcBef>
            </a:pPr>
            <a:r>
              <a:rPr lang="en-US" altLang="zh-CN" dirty="0">
                <a:ea typeface="宋体" pitchFamily="2" charset="-122"/>
              </a:rPr>
              <a:t>    {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putchar</a:t>
            </a:r>
            <a:r>
              <a:rPr lang="en-US" altLang="zh-CN" dirty="0">
                <a:ea typeface="宋体" pitchFamily="2" charset="-122"/>
              </a:rPr>
              <a:t> (string[0]);</a:t>
            </a:r>
          </a:p>
          <a:p>
            <a:pPr eaLnBrk="0" hangingPunct="0">
              <a:lnSpc>
                <a:spcPct val="100000"/>
              </a:lnSpc>
              <a:spcBef>
                <a:spcPct val="0"/>
              </a:spcBef>
            </a:pPr>
            <a:r>
              <a:rPr lang="en-US" altLang="zh-CN" dirty="0">
                <a:ea typeface="宋体" pitchFamily="2" charset="-122"/>
              </a:rPr>
              <a:t>        string++;</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return 0;</a:t>
            </a:r>
          </a:p>
          <a:p>
            <a:pPr eaLnBrk="0" hangingPunct="0">
              <a:lnSpc>
                <a:spcPct val="100000"/>
              </a:lnSpc>
              <a:spcBef>
                <a:spcPct val="0"/>
              </a:spcBef>
            </a:pPr>
            <a:r>
              <a:rPr lang="en-US" altLang="zh-CN" dirty="0">
                <a:ea typeface="宋体" pitchFamily="2" charset="-122"/>
              </a:rPr>
              <a:t>}</a:t>
            </a:r>
          </a:p>
        </p:txBody>
      </p:sp>
      <p:grpSp>
        <p:nvGrpSpPr>
          <p:cNvPr id="1170438" name="Group 6"/>
          <p:cNvGrpSpPr>
            <a:grpSpLocks/>
          </p:cNvGrpSpPr>
          <p:nvPr/>
        </p:nvGrpSpPr>
        <p:grpSpPr bwMode="auto">
          <a:xfrm>
            <a:off x="8511604" y="1748426"/>
            <a:ext cx="2120900" cy="4911725"/>
            <a:chOff x="3554" y="784"/>
            <a:chExt cx="1336" cy="3094"/>
          </a:xfrm>
        </p:grpSpPr>
        <p:sp>
          <p:nvSpPr>
            <p:cNvPr id="1170439" name="Text Box 7"/>
            <p:cNvSpPr txBox="1">
              <a:spLocks noChangeArrowheads="1"/>
            </p:cNvSpPr>
            <p:nvPr/>
          </p:nvSpPr>
          <p:spPr bwMode="auto">
            <a:xfrm>
              <a:off x="4460" y="895"/>
              <a:ext cx="179"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I</a:t>
              </a:r>
            </a:p>
          </p:txBody>
        </p:sp>
        <p:sp>
          <p:nvSpPr>
            <p:cNvPr id="1170440" name="Text Box 8"/>
            <p:cNvSpPr txBox="1">
              <a:spLocks noChangeArrowheads="1"/>
            </p:cNvSpPr>
            <p:nvPr/>
          </p:nvSpPr>
          <p:spPr bwMode="auto">
            <a:xfrm>
              <a:off x="4460" y="1315"/>
              <a:ext cx="16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dirty="0">
                  <a:solidFill>
                    <a:srgbClr val="002060"/>
                  </a:solidFill>
                  <a:ea typeface="宋体" pitchFamily="2" charset="-122"/>
                </a:rPr>
                <a:t>l</a:t>
              </a:r>
            </a:p>
          </p:txBody>
        </p:sp>
        <p:sp>
          <p:nvSpPr>
            <p:cNvPr id="1170441" name="Text Box 9"/>
            <p:cNvSpPr txBox="1">
              <a:spLocks noChangeArrowheads="1"/>
            </p:cNvSpPr>
            <p:nvPr/>
          </p:nvSpPr>
          <p:spPr bwMode="auto">
            <a:xfrm>
              <a:off x="4460" y="1524"/>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o</a:t>
              </a:r>
            </a:p>
          </p:txBody>
        </p:sp>
        <p:sp>
          <p:nvSpPr>
            <p:cNvPr id="1170442" name="Text Box 10"/>
            <p:cNvSpPr txBox="1">
              <a:spLocks noChangeArrowheads="1"/>
            </p:cNvSpPr>
            <p:nvPr/>
          </p:nvSpPr>
          <p:spPr bwMode="auto">
            <a:xfrm>
              <a:off x="4460" y="1734"/>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v</a:t>
              </a:r>
            </a:p>
          </p:txBody>
        </p:sp>
        <p:sp>
          <p:nvSpPr>
            <p:cNvPr id="1170443" name="Text Box 11"/>
            <p:cNvSpPr txBox="1">
              <a:spLocks noChangeArrowheads="1"/>
            </p:cNvSpPr>
            <p:nvPr/>
          </p:nvSpPr>
          <p:spPr bwMode="auto">
            <a:xfrm>
              <a:off x="4460" y="1943"/>
              <a:ext cx="187"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e</a:t>
              </a:r>
            </a:p>
          </p:txBody>
        </p:sp>
        <p:sp>
          <p:nvSpPr>
            <p:cNvPr id="1170444" name="Text Box 12"/>
            <p:cNvSpPr txBox="1">
              <a:spLocks noChangeArrowheads="1"/>
            </p:cNvSpPr>
            <p:nvPr/>
          </p:nvSpPr>
          <p:spPr bwMode="auto">
            <a:xfrm>
              <a:off x="4460" y="2362"/>
              <a:ext cx="232"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C</a:t>
              </a:r>
            </a:p>
          </p:txBody>
        </p:sp>
        <p:sp>
          <p:nvSpPr>
            <p:cNvPr id="1170445" name="Text Box 13"/>
            <p:cNvSpPr txBox="1">
              <a:spLocks noChangeArrowheads="1"/>
            </p:cNvSpPr>
            <p:nvPr/>
          </p:nvSpPr>
          <p:spPr bwMode="auto">
            <a:xfrm>
              <a:off x="4460" y="2572"/>
              <a:ext cx="206"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h</a:t>
              </a:r>
            </a:p>
          </p:txBody>
        </p:sp>
        <p:sp>
          <p:nvSpPr>
            <p:cNvPr id="1170446" name="Text Box 14"/>
            <p:cNvSpPr txBox="1">
              <a:spLocks noChangeArrowheads="1"/>
            </p:cNvSpPr>
            <p:nvPr/>
          </p:nvSpPr>
          <p:spPr bwMode="auto">
            <a:xfrm>
              <a:off x="4460" y="2781"/>
              <a:ext cx="16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i</a:t>
              </a:r>
            </a:p>
          </p:txBody>
        </p:sp>
        <p:sp>
          <p:nvSpPr>
            <p:cNvPr id="1170447" name="Line 15"/>
            <p:cNvSpPr>
              <a:spLocks noChangeShapeType="1"/>
            </p:cNvSpPr>
            <p:nvPr/>
          </p:nvSpPr>
          <p:spPr bwMode="auto">
            <a:xfrm>
              <a:off x="3945" y="922"/>
              <a:ext cx="333" cy="0"/>
            </a:xfrm>
            <a:prstGeom prst="line">
              <a:avLst/>
            </a:prstGeom>
            <a:noFill/>
            <a:ln w="9525">
              <a:solidFill>
                <a:schemeClr val="tx1"/>
              </a:solidFill>
              <a:round/>
              <a:headEnd/>
              <a:tailEnd type="stealth" w="lg" len="lg"/>
            </a:ln>
            <a:effectLst/>
          </p:spPr>
          <p:txBody>
            <a:bodyPr wrap="none" anchor="ctr"/>
            <a:lstStyle/>
            <a:p>
              <a:endParaRPr lang="zh-CN" altLang="en-US" b="1"/>
            </a:p>
          </p:txBody>
        </p:sp>
        <p:sp>
          <p:nvSpPr>
            <p:cNvPr id="1170448" name="Text Box 16"/>
            <p:cNvSpPr txBox="1">
              <a:spLocks noChangeArrowheads="1"/>
            </p:cNvSpPr>
            <p:nvPr/>
          </p:nvSpPr>
          <p:spPr bwMode="auto">
            <a:xfrm>
              <a:off x="3554" y="784"/>
              <a:ext cx="519"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ea typeface="宋体" pitchFamily="2" charset="-122"/>
                </a:rPr>
                <a:t>string</a:t>
              </a:r>
            </a:p>
          </p:txBody>
        </p:sp>
        <p:grpSp>
          <p:nvGrpSpPr>
            <p:cNvPr id="1170449" name="Group 17"/>
            <p:cNvGrpSpPr>
              <a:grpSpLocks/>
            </p:cNvGrpSpPr>
            <p:nvPr/>
          </p:nvGrpSpPr>
          <p:grpSpPr bwMode="auto">
            <a:xfrm>
              <a:off x="4278" y="911"/>
              <a:ext cx="612" cy="2967"/>
              <a:chOff x="4134" y="1211"/>
              <a:chExt cx="834" cy="2967"/>
            </a:xfrm>
          </p:grpSpPr>
          <p:sp>
            <p:nvSpPr>
              <p:cNvPr id="1170450" name="Rectangle 18"/>
              <p:cNvSpPr>
                <a:spLocks noChangeArrowheads="1"/>
              </p:cNvSpPr>
              <p:nvPr/>
            </p:nvSpPr>
            <p:spPr bwMode="auto">
              <a:xfrm>
                <a:off x="4134" y="1211"/>
                <a:ext cx="834" cy="2967"/>
              </a:xfrm>
              <a:prstGeom prst="rect">
                <a:avLst/>
              </a:prstGeom>
              <a:noFill/>
              <a:ln w="28575">
                <a:solidFill>
                  <a:schemeClr val="tx1"/>
                </a:solidFill>
                <a:miter lim="800000"/>
                <a:headEnd/>
                <a:tailEnd/>
              </a:ln>
              <a:effectLst/>
            </p:spPr>
            <p:txBody>
              <a:bodyPr wrap="none" anchor="ctr"/>
              <a:lstStyle/>
              <a:p>
                <a:endParaRPr lang="zh-CN" altLang="en-US" b="1"/>
              </a:p>
            </p:txBody>
          </p:sp>
          <p:sp>
            <p:nvSpPr>
              <p:cNvPr id="1170451" name="Line 19"/>
              <p:cNvSpPr>
                <a:spLocks noChangeShapeType="1"/>
              </p:cNvSpPr>
              <p:nvPr/>
            </p:nvSpPr>
            <p:spPr bwMode="auto">
              <a:xfrm>
                <a:off x="4134" y="1411"/>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70452" name="Line 20"/>
              <p:cNvSpPr>
                <a:spLocks noChangeShapeType="1"/>
              </p:cNvSpPr>
              <p:nvPr/>
            </p:nvSpPr>
            <p:spPr bwMode="auto">
              <a:xfrm>
                <a:off x="4134" y="1623"/>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70453" name="Line 21"/>
              <p:cNvSpPr>
                <a:spLocks noChangeShapeType="1"/>
              </p:cNvSpPr>
              <p:nvPr/>
            </p:nvSpPr>
            <p:spPr bwMode="auto">
              <a:xfrm>
                <a:off x="4134" y="1836"/>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70454" name="Line 22"/>
              <p:cNvSpPr>
                <a:spLocks noChangeShapeType="1"/>
              </p:cNvSpPr>
              <p:nvPr/>
            </p:nvSpPr>
            <p:spPr bwMode="auto">
              <a:xfrm>
                <a:off x="4134" y="2048"/>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70455" name="Line 23"/>
              <p:cNvSpPr>
                <a:spLocks noChangeShapeType="1"/>
              </p:cNvSpPr>
              <p:nvPr/>
            </p:nvSpPr>
            <p:spPr bwMode="auto">
              <a:xfrm>
                <a:off x="4134" y="2261"/>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70456" name="Line 24"/>
              <p:cNvSpPr>
                <a:spLocks noChangeShapeType="1"/>
              </p:cNvSpPr>
              <p:nvPr/>
            </p:nvSpPr>
            <p:spPr bwMode="auto">
              <a:xfrm>
                <a:off x="4134" y="2474"/>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70457" name="Line 25"/>
              <p:cNvSpPr>
                <a:spLocks noChangeShapeType="1"/>
              </p:cNvSpPr>
              <p:nvPr/>
            </p:nvSpPr>
            <p:spPr bwMode="auto">
              <a:xfrm>
                <a:off x="4134" y="2686"/>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70458" name="Line 26"/>
              <p:cNvSpPr>
                <a:spLocks noChangeShapeType="1"/>
              </p:cNvSpPr>
              <p:nvPr/>
            </p:nvSpPr>
            <p:spPr bwMode="auto">
              <a:xfrm>
                <a:off x="4134" y="2899"/>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70459" name="Line 27"/>
              <p:cNvSpPr>
                <a:spLocks noChangeShapeType="1"/>
              </p:cNvSpPr>
              <p:nvPr/>
            </p:nvSpPr>
            <p:spPr bwMode="auto">
              <a:xfrm>
                <a:off x="4134" y="3112"/>
                <a:ext cx="834" cy="0"/>
              </a:xfrm>
              <a:prstGeom prst="line">
                <a:avLst/>
              </a:prstGeom>
              <a:noFill/>
              <a:ln w="9525">
                <a:solidFill>
                  <a:schemeClr val="tx1"/>
                </a:solidFill>
                <a:round/>
                <a:headEnd/>
                <a:tailEnd/>
              </a:ln>
              <a:effectLst/>
            </p:spPr>
            <p:txBody>
              <a:bodyPr wrap="none" anchor="ctr"/>
              <a:lstStyle/>
              <a:p>
                <a:endParaRPr lang="zh-CN" altLang="en-US" b="1"/>
              </a:p>
            </p:txBody>
          </p:sp>
          <p:sp>
            <p:nvSpPr>
              <p:cNvPr id="1170460" name="Line 28"/>
              <p:cNvSpPr>
                <a:spLocks noChangeShapeType="1"/>
              </p:cNvSpPr>
              <p:nvPr/>
            </p:nvSpPr>
            <p:spPr bwMode="auto">
              <a:xfrm>
                <a:off x="4145" y="3333"/>
                <a:ext cx="822" cy="0"/>
              </a:xfrm>
              <a:prstGeom prst="line">
                <a:avLst/>
              </a:prstGeom>
              <a:noFill/>
              <a:ln w="9525">
                <a:solidFill>
                  <a:schemeClr val="tx1"/>
                </a:solidFill>
                <a:round/>
                <a:headEnd/>
                <a:tailEnd/>
              </a:ln>
              <a:effectLst/>
            </p:spPr>
            <p:txBody>
              <a:bodyPr wrap="none" anchor="ctr"/>
              <a:lstStyle/>
              <a:p>
                <a:endParaRPr lang="zh-CN" altLang="en-US" b="1"/>
              </a:p>
            </p:txBody>
          </p:sp>
          <p:sp>
            <p:nvSpPr>
              <p:cNvPr id="1170461" name="Line 29"/>
              <p:cNvSpPr>
                <a:spLocks noChangeShapeType="1"/>
              </p:cNvSpPr>
              <p:nvPr/>
            </p:nvSpPr>
            <p:spPr bwMode="auto">
              <a:xfrm>
                <a:off x="4141" y="3540"/>
                <a:ext cx="822" cy="0"/>
              </a:xfrm>
              <a:prstGeom prst="line">
                <a:avLst/>
              </a:prstGeom>
              <a:noFill/>
              <a:ln w="9525">
                <a:solidFill>
                  <a:schemeClr val="tx1"/>
                </a:solidFill>
                <a:round/>
                <a:headEnd/>
                <a:tailEnd/>
              </a:ln>
              <a:effectLst/>
            </p:spPr>
            <p:txBody>
              <a:bodyPr wrap="none" anchor="ctr"/>
              <a:lstStyle/>
              <a:p>
                <a:endParaRPr lang="zh-CN" altLang="en-US" b="1"/>
              </a:p>
            </p:txBody>
          </p:sp>
          <p:sp>
            <p:nvSpPr>
              <p:cNvPr id="1170462" name="Line 30"/>
              <p:cNvSpPr>
                <a:spLocks noChangeShapeType="1"/>
              </p:cNvSpPr>
              <p:nvPr/>
            </p:nvSpPr>
            <p:spPr bwMode="auto">
              <a:xfrm>
                <a:off x="4141" y="3762"/>
                <a:ext cx="822" cy="0"/>
              </a:xfrm>
              <a:prstGeom prst="line">
                <a:avLst/>
              </a:prstGeom>
              <a:noFill/>
              <a:ln w="9525">
                <a:solidFill>
                  <a:schemeClr val="tx1"/>
                </a:solidFill>
                <a:round/>
                <a:headEnd/>
                <a:tailEnd/>
              </a:ln>
              <a:effectLst/>
            </p:spPr>
            <p:txBody>
              <a:bodyPr wrap="none" anchor="ctr"/>
              <a:lstStyle/>
              <a:p>
                <a:endParaRPr lang="zh-CN" altLang="en-US" b="1"/>
              </a:p>
            </p:txBody>
          </p:sp>
          <p:sp>
            <p:nvSpPr>
              <p:cNvPr id="1170463" name="Line 31"/>
              <p:cNvSpPr>
                <a:spLocks noChangeShapeType="1"/>
              </p:cNvSpPr>
              <p:nvPr/>
            </p:nvSpPr>
            <p:spPr bwMode="auto">
              <a:xfrm>
                <a:off x="4141" y="3973"/>
                <a:ext cx="822" cy="0"/>
              </a:xfrm>
              <a:prstGeom prst="line">
                <a:avLst/>
              </a:prstGeom>
              <a:noFill/>
              <a:ln w="9525">
                <a:solidFill>
                  <a:schemeClr val="tx1"/>
                </a:solidFill>
                <a:round/>
                <a:headEnd/>
                <a:tailEnd/>
              </a:ln>
              <a:effectLst/>
            </p:spPr>
            <p:txBody>
              <a:bodyPr wrap="none" anchor="ctr"/>
              <a:lstStyle/>
              <a:p>
                <a:endParaRPr lang="zh-CN" altLang="en-US" b="1"/>
              </a:p>
            </p:txBody>
          </p:sp>
        </p:grpSp>
        <p:sp>
          <p:nvSpPr>
            <p:cNvPr id="1170464" name="Text Box 32"/>
            <p:cNvSpPr txBox="1">
              <a:spLocks noChangeArrowheads="1"/>
            </p:cNvSpPr>
            <p:nvPr/>
          </p:nvSpPr>
          <p:spPr bwMode="auto">
            <a:xfrm>
              <a:off x="4460" y="2992"/>
              <a:ext cx="206"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n</a:t>
              </a:r>
            </a:p>
          </p:txBody>
        </p:sp>
        <p:sp>
          <p:nvSpPr>
            <p:cNvPr id="1170465" name="Text Box 33"/>
            <p:cNvSpPr txBox="1">
              <a:spLocks noChangeArrowheads="1"/>
            </p:cNvSpPr>
            <p:nvPr/>
          </p:nvSpPr>
          <p:spPr bwMode="auto">
            <a:xfrm>
              <a:off x="4460" y="3414"/>
              <a:ext cx="169"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a:solidFill>
                    <a:srgbClr val="002060"/>
                  </a:solidFill>
                  <a:ea typeface="宋体" pitchFamily="2" charset="-122"/>
                </a:rPr>
                <a:t>!</a:t>
              </a:r>
            </a:p>
          </p:txBody>
        </p:sp>
        <p:sp>
          <p:nvSpPr>
            <p:cNvPr id="1170466" name="Text Box 34"/>
            <p:cNvSpPr txBox="1">
              <a:spLocks noChangeArrowheads="1"/>
            </p:cNvSpPr>
            <p:nvPr/>
          </p:nvSpPr>
          <p:spPr bwMode="auto">
            <a:xfrm>
              <a:off x="4460" y="3203"/>
              <a:ext cx="197"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dirty="0">
                  <a:solidFill>
                    <a:srgbClr val="002060"/>
                  </a:solidFill>
                  <a:ea typeface="宋体" pitchFamily="2" charset="-122"/>
                </a:rPr>
                <a:t>a</a:t>
              </a:r>
            </a:p>
          </p:txBody>
        </p:sp>
        <p:sp>
          <p:nvSpPr>
            <p:cNvPr id="1170467" name="Text Box 35"/>
            <p:cNvSpPr txBox="1">
              <a:spLocks noChangeArrowheads="1"/>
            </p:cNvSpPr>
            <p:nvPr/>
          </p:nvSpPr>
          <p:spPr bwMode="auto">
            <a:xfrm>
              <a:off x="4460" y="3625"/>
              <a:ext cx="24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dirty="0">
                  <a:solidFill>
                    <a:srgbClr val="002060"/>
                  </a:solidFill>
                  <a:ea typeface="宋体" pitchFamily="2" charset="-122"/>
                </a:rPr>
                <a:t>\0</a:t>
              </a:r>
            </a:p>
          </p:txBody>
        </p:sp>
      </p:grpSp>
      <p:sp>
        <p:nvSpPr>
          <p:cNvPr id="1170468" name="AutoShape 36"/>
          <p:cNvSpPr>
            <a:spLocks noChangeArrowheads="1"/>
          </p:cNvSpPr>
          <p:nvPr/>
        </p:nvSpPr>
        <p:spPr bwMode="auto">
          <a:xfrm>
            <a:off x="4248797" y="530651"/>
            <a:ext cx="6027738" cy="1216025"/>
          </a:xfrm>
          <a:prstGeom prst="wedgeRectCallout">
            <a:avLst>
              <a:gd name="adj1" fmla="val -48916"/>
              <a:gd name="adj2" fmla="val 141280"/>
            </a:avLst>
          </a:prstGeom>
          <a:gradFill rotWithShape="1">
            <a:gsLst>
              <a:gs pos="0">
                <a:srgbClr val="CFCFD1"/>
              </a:gs>
              <a:gs pos="100000">
                <a:schemeClr val="bg1"/>
              </a:gs>
            </a:gsLst>
            <a:lin ang="5400000" scaled="1"/>
          </a:gradFill>
          <a:ln w="28575">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zh-CN" altLang="zh-CN" dirty="0">
                <a:latin typeface="隶书" pitchFamily="49" charset="-122"/>
                <a:ea typeface="隶书" pitchFamily="49" charset="-122"/>
              </a:rPr>
              <a:t>字符指针</a:t>
            </a:r>
            <a:r>
              <a:rPr lang="zh-CN" altLang="zh-CN" dirty="0">
                <a:solidFill>
                  <a:srgbClr val="002060"/>
                </a:solidFill>
                <a:latin typeface="隶书" pitchFamily="49" charset="-122"/>
                <a:ea typeface="隶书" pitchFamily="49" charset="-122"/>
              </a:rPr>
              <a:t>初始化</a:t>
            </a:r>
            <a:r>
              <a:rPr lang="zh-CN" altLang="zh-CN" dirty="0">
                <a:latin typeface="隶书" pitchFamily="49" charset="-122"/>
                <a:ea typeface="隶书" pitchFamily="49" charset="-122"/>
              </a:rPr>
              <a:t>:把字符串</a:t>
            </a:r>
            <a:r>
              <a:rPr lang="zh-CN" altLang="zh-CN" dirty="0">
                <a:solidFill>
                  <a:schemeClr val="accent1">
                    <a:lumMod val="50000"/>
                  </a:schemeClr>
                </a:solidFill>
                <a:latin typeface="隶书" pitchFamily="49" charset="-122"/>
                <a:ea typeface="隶书" pitchFamily="49" charset="-122"/>
              </a:rPr>
              <a:t>首地址</a:t>
            </a:r>
            <a:r>
              <a:rPr lang="zh-CN" altLang="zh-CN" dirty="0">
                <a:latin typeface="隶书" pitchFamily="49" charset="-122"/>
                <a:ea typeface="隶书" pitchFamily="49" charset="-122"/>
              </a:rPr>
              <a:t>赋给</a:t>
            </a:r>
            <a:r>
              <a:rPr lang="en-US" altLang="zh-CN" dirty="0">
                <a:ea typeface="隶书" pitchFamily="49" charset="-122"/>
              </a:rPr>
              <a:t>string</a:t>
            </a:r>
            <a:endParaRPr lang="en-US" altLang="zh-CN" dirty="0"/>
          </a:p>
          <a:p>
            <a:pPr>
              <a:lnSpc>
                <a:spcPct val="100000"/>
              </a:lnSpc>
              <a:spcBef>
                <a:spcPct val="0"/>
              </a:spcBef>
            </a:pPr>
            <a:r>
              <a:rPr lang="en-US" altLang="zh-CN" dirty="0">
                <a:ea typeface="宋体" pitchFamily="2" charset="-122"/>
                <a:sym typeface="Symbol" pitchFamily="18" charset="2"/>
              </a:rPr>
              <a:t> char  *string;</a:t>
            </a:r>
          </a:p>
          <a:p>
            <a:pPr>
              <a:lnSpc>
                <a:spcPct val="100000"/>
              </a:lnSpc>
              <a:spcBef>
                <a:spcPct val="0"/>
              </a:spcBef>
            </a:pPr>
            <a:r>
              <a:rPr lang="en-US" altLang="zh-CN" dirty="0">
                <a:ea typeface="宋体" pitchFamily="2" charset="-122"/>
                <a:sym typeface="Symbol" pitchFamily="18" charset="2"/>
              </a:rPr>
              <a:t>     string = </a:t>
            </a:r>
            <a:r>
              <a:rPr lang="en-US" altLang="zh-CN" dirty="0"/>
              <a:t>"</a:t>
            </a:r>
            <a:r>
              <a:rPr lang="en-US" altLang="zh-CN" dirty="0">
                <a:ea typeface="宋体" pitchFamily="2" charset="-122"/>
                <a:sym typeface="Symbol" pitchFamily="18" charset="2"/>
              </a:rPr>
              <a:t>I love China!</a:t>
            </a:r>
            <a:r>
              <a:rPr lang="en-US" altLang="zh-CN" dirty="0"/>
              <a:t>"</a:t>
            </a:r>
            <a:r>
              <a:rPr lang="en-US" altLang="zh-CN" dirty="0">
                <a:ea typeface="宋体" pitchFamily="2" charset="-122"/>
                <a:sym typeface="Symbol" pitchFamily="18" charset="2"/>
              </a:rPr>
              <a:t>;</a:t>
            </a:r>
          </a:p>
        </p:txBody>
      </p:sp>
      <p:grpSp>
        <p:nvGrpSpPr>
          <p:cNvPr id="1170469" name="Group 37"/>
          <p:cNvGrpSpPr>
            <a:grpSpLocks/>
          </p:cNvGrpSpPr>
          <p:nvPr/>
        </p:nvGrpSpPr>
        <p:grpSpPr bwMode="auto">
          <a:xfrm>
            <a:off x="8296545" y="4093162"/>
            <a:ext cx="1330324" cy="463550"/>
            <a:chOff x="4070" y="1630"/>
            <a:chExt cx="838" cy="292"/>
          </a:xfrm>
        </p:grpSpPr>
        <p:sp>
          <p:nvSpPr>
            <p:cNvPr id="1170470" name="Line 38"/>
            <p:cNvSpPr>
              <a:spLocks noChangeShapeType="1"/>
            </p:cNvSpPr>
            <p:nvPr/>
          </p:nvSpPr>
          <p:spPr bwMode="auto">
            <a:xfrm>
              <a:off x="4596" y="1812"/>
              <a:ext cx="312" cy="0"/>
            </a:xfrm>
            <a:prstGeom prst="line">
              <a:avLst/>
            </a:prstGeom>
            <a:noFill/>
            <a:ln w="38100">
              <a:solidFill>
                <a:srgbClr val="002060"/>
              </a:solidFill>
              <a:round/>
              <a:headEnd type="none" w="lg" len="lg"/>
              <a:tailEnd type="stealth" w="lg" len="lg"/>
            </a:ln>
            <a:effectLst/>
          </p:spPr>
          <p:txBody>
            <a:bodyPr wrap="none" lIns="90000" tIns="46800" rIns="90000" bIns="46800" anchor="ctr">
              <a:spAutoFit/>
            </a:bodyPr>
            <a:lstStyle/>
            <a:p>
              <a:endParaRPr lang="zh-CN" altLang="en-US" b="1">
                <a:solidFill>
                  <a:srgbClr val="002060"/>
                </a:solidFill>
              </a:endParaRPr>
            </a:p>
          </p:txBody>
        </p:sp>
        <p:sp>
          <p:nvSpPr>
            <p:cNvPr id="1170471" name="Text Box 39"/>
            <p:cNvSpPr txBox="1">
              <a:spLocks noChangeArrowheads="1"/>
            </p:cNvSpPr>
            <p:nvPr/>
          </p:nvSpPr>
          <p:spPr bwMode="auto">
            <a:xfrm>
              <a:off x="4070" y="1630"/>
              <a:ext cx="599" cy="292"/>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b="1" dirty="0">
                  <a:solidFill>
                    <a:srgbClr val="002060"/>
                  </a:solidFill>
                  <a:ea typeface="隶书" pitchFamily="49" charset="-122"/>
                </a:rPr>
                <a:t>string</a:t>
              </a:r>
            </a:p>
          </p:txBody>
        </p:sp>
      </p:grpSp>
      <p:sp>
        <p:nvSpPr>
          <p:cNvPr id="1170472" name="AutoShape 40"/>
          <p:cNvSpPr>
            <a:spLocks noChangeArrowheads="1"/>
          </p:cNvSpPr>
          <p:nvPr/>
        </p:nvSpPr>
        <p:spPr bwMode="auto">
          <a:xfrm>
            <a:off x="4530372" y="3947690"/>
            <a:ext cx="1619651" cy="463846"/>
          </a:xfrm>
          <a:prstGeom prst="wedgeRectCallout">
            <a:avLst>
              <a:gd name="adj1" fmla="val -112630"/>
              <a:gd name="adj2" fmla="val 10458"/>
            </a:avLst>
          </a:prstGeom>
          <a:gradFill rotWithShape="1">
            <a:gsLst>
              <a:gs pos="0">
                <a:srgbClr val="CFCFD1"/>
              </a:gs>
              <a:gs pos="100000">
                <a:srgbClr val="FFFFFF"/>
              </a:gs>
            </a:gsLst>
            <a:lin ang="5400000" scaled="1"/>
          </a:gradFill>
          <a:ln w="28575">
            <a:solidFill>
              <a:srgbClr val="002060"/>
            </a:solidFill>
            <a:miter lim="800000"/>
            <a:headEnd type="none" w="lg" len="lg"/>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en-US" altLang="zh-CN" dirty="0">
                <a:latin typeface="+mn-lt"/>
                <a:ea typeface="楷体" pitchFamily="49" charset="-122"/>
              </a:rPr>
              <a:t>*string != 0</a:t>
            </a:r>
          </a:p>
        </p:txBody>
      </p:sp>
      <p:sp>
        <p:nvSpPr>
          <p:cNvPr id="1170476" name="Text Box 44"/>
          <p:cNvSpPr txBox="1">
            <a:spLocks noChangeArrowheads="1"/>
          </p:cNvSpPr>
          <p:nvPr/>
        </p:nvSpPr>
        <p:spPr bwMode="auto">
          <a:xfrm>
            <a:off x="6311602" y="5504729"/>
            <a:ext cx="2952750" cy="115252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dirty="0">
                <a:solidFill>
                  <a:srgbClr val="C00000"/>
                </a:solidFill>
                <a:latin typeface="隶书" pitchFamily="49" charset="-122"/>
                <a:ea typeface="隶书" pitchFamily="49" charset="-122"/>
              </a:rPr>
              <a:t>运行结果：</a:t>
            </a:r>
          </a:p>
          <a:p>
            <a:pPr marL="342900" indent="-342900" algn="just"/>
            <a:r>
              <a:rPr lang="en-US" altLang="zh-CN" dirty="0">
                <a:solidFill>
                  <a:srgbClr val="002060"/>
                </a:solidFill>
              </a:rPr>
              <a:t>I love China!</a:t>
            </a:r>
          </a:p>
          <a:p>
            <a:pPr marL="342900" indent="-342900" algn="just"/>
            <a:r>
              <a:rPr lang="en-US" altLang="zh-CN" dirty="0">
                <a:solidFill>
                  <a:srgbClr val="002060"/>
                </a:solidFill>
              </a:rPr>
              <a:t>China!</a:t>
            </a:r>
          </a:p>
        </p:txBody>
      </p:sp>
      <p:grpSp>
        <p:nvGrpSpPr>
          <p:cNvPr id="1170481" name="Group 49"/>
          <p:cNvGrpSpPr>
            <a:grpSpLocks/>
          </p:cNvGrpSpPr>
          <p:nvPr/>
        </p:nvGrpSpPr>
        <p:grpSpPr bwMode="auto">
          <a:xfrm>
            <a:off x="1428056" y="3201565"/>
            <a:ext cx="6092825" cy="531812"/>
            <a:chOff x="630" y="1979"/>
            <a:chExt cx="3838" cy="335"/>
          </a:xfrm>
          <a:effectLst>
            <a:outerShdw blurRad="50800" dist="106680" dir="2700000" algn="tl" rotWithShape="0">
              <a:prstClr val="black">
                <a:alpha val="43000"/>
              </a:prstClr>
            </a:outerShdw>
          </a:effectLst>
        </p:grpSpPr>
        <p:sp>
          <p:nvSpPr>
            <p:cNvPr id="1170477" name="Oval 45"/>
            <p:cNvSpPr>
              <a:spLocks noChangeArrowheads="1"/>
            </p:cNvSpPr>
            <p:nvPr/>
          </p:nvSpPr>
          <p:spPr bwMode="auto">
            <a:xfrm>
              <a:off x="630" y="2042"/>
              <a:ext cx="2223" cy="272"/>
            </a:xfrm>
            <a:prstGeom prst="ellipse">
              <a:avLst/>
            </a:prstGeom>
            <a:noFill/>
            <a:ln w="28575" algn="ctr">
              <a:solidFill>
                <a:srgbClr val="C00000"/>
              </a:solidFill>
              <a:round/>
              <a:headEnd/>
              <a:tailEnd/>
            </a:ln>
            <a:effectLst/>
          </p:spPr>
          <p:txBody>
            <a:bodyPr wrap="none" anchor="ctr"/>
            <a:lstStyle/>
            <a:p>
              <a:endParaRPr lang="zh-CN" altLang="en-US">
                <a:latin typeface="+mn-lt"/>
                <a:ea typeface="楷体" pitchFamily="49" charset="-122"/>
              </a:endParaRPr>
            </a:p>
          </p:txBody>
        </p:sp>
        <p:sp>
          <p:nvSpPr>
            <p:cNvPr id="1170480" name="AutoShape 48"/>
            <p:cNvSpPr>
              <a:spLocks/>
            </p:cNvSpPr>
            <p:nvPr/>
          </p:nvSpPr>
          <p:spPr bwMode="auto">
            <a:xfrm>
              <a:off x="3615" y="1979"/>
              <a:ext cx="853" cy="226"/>
            </a:xfrm>
            <a:prstGeom prst="borderCallout2">
              <a:avLst>
                <a:gd name="adj1" fmla="val 31856"/>
                <a:gd name="adj2" fmla="val -5625"/>
                <a:gd name="adj3" fmla="val 31856"/>
                <a:gd name="adj4" fmla="val -50060"/>
                <a:gd name="adj5" fmla="val 68583"/>
                <a:gd name="adj6" fmla="val -96130"/>
              </a:avLst>
            </a:prstGeom>
            <a:gradFill rotWithShape="1">
              <a:gsLst>
                <a:gs pos="0">
                  <a:srgbClr val="CFCFD1"/>
                </a:gs>
                <a:gs pos="100000">
                  <a:schemeClr val="bg1"/>
                </a:gs>
              </a:gsLst>
              <a:lin ang="5400000" scaled="1"/>
            </a:gradFill>
            <a:ln w="19050" algn="ctr">
              <a:solidFill>
                <a:srgbClr val="C00000"/>
              </a:solidFill>
              <a:miter lim="800000"/>
              <a:headEnd/>
              <a:tailEnd/>
            </a:ln>
            <a:effectLst>
              <a:outerShdw blurRad="50800" dist="38100" dir="2700000" algn="tl" rotWithShape="0">
                <a:prstClr val="black">
                  <a:alpha val="40000"/>
                </a:prstClr>
              </a:outerShdw>
            </a:effectLst>
          </p:spPr>
          <p:txBody>
            <a:bodyPr/>
            <a:lstStyle/>
            <a:p>
              <a:pPr marL="342900" indent="-342900" algn="ctr"/>
              <a:r>
                <a:rPr lang="zh-CN" altLang="en-US" sz="2000" dirty="0">
                  <a:solidFill>
                    <a:srgbClr val="C00000"/>
                  </a:solidFill>
                  <a:latin typeface="+mn-lt"/>
                  <a:ea typeface="楷体" pitchFamily="49" charset="-122"/>
                </a:rPr>
                <a:t>整体引用</a:t>
              </a:r>
            </a:p>
          </p:txBody>
        </p:sp>
      </p:grpSp>
      <p:grpSp>
        <p:nvGrpSpPr>
          <p:cNvPr id="1170485" name="Group 53"/>
          <p:cNvGrpSpPr>
            <a:grpSpLocks/>
          </p:cNvGrpSpPr>
          <p:nvPr/>
        </p:nvGrpSpPr>
        <p:grpSpPr bwMode="auto">
          <a:xfrm>
            <a:off x="1615380" y="4674765"/>
            <a:ext cx="6408738" cy="531812"/>
            <a:chOff x="748" y="2907"/>
            <a:chExt cx="4037" cy="335"/>
          </a:xfrm>
          <a:effectLst>
            <a:outerShdw blurRad="50800" dist="106680" dir="2700000" algn="tl" rotWithShape="0">
              <a:prstClr val="black">
                <a:alpha val="43000"/>
              </a:prstClr>
            </a:outerShdw>
          </a:effectLst>
        </p:grpSpPr>
        <p:sp>
          <p:nvSpPr>
            <p:cNvPr id="1170483" name="Oval 51"/>
            <p:cNvSpPr>
              <a:spLocks noChangeArrowheads="1"/>
            </p:cNvSpPr>
            <p:nvPr/>
          </p:nvSpPr>
          <p:spPr bwMode="auto">
            <a:xfrm>
              <a:off x="748" y="2970"/>
              <a:ext cx="2223" cy="272"/>
            </a:xfrm>
            <a:prstGeom prst="ellipse">
              <a:avLst/>
            </a:prstGeom>
            <a:noFill/>
            <a:ln w="28575" algn="ctr">
              <a:solidFill>
                <a:srgbClr val="C00000"/>
              </a:solidFill>
              <a:round/>
              <a:headEnd/>
              <a:tailEnd/>
            </a:ln>
            <a:effectLst/>
          </p:spPr>
          <p:txBody>
            <a:bodyPr wrap="none" anchor="ctr"/>
            <a:lstStyle/>
            <a:p>
              <a:endParaRPr lang="zh-CN" altLang="en-US">
                <a:latin typeface="+mn-lt"/>
                <a:ea typeface="楷体" pitchFamily="49" charset="-122"/>
              </a:endParaRPr>
            </a:p>
          </p:txBody>
        </p:sp>
        <p:sp>
          <p:nvSpPr>
            <p:cNvPr id="1170484" name="AutoShape 52"/>
            <p:cNvSpPr>
              <a:spLocks/>
            </p:cNvSpPr>
            <p:nvPr/>
          </p:nvSpPr>
          <p:spPr bwMode="auto">
            <a:xfrm>
              <a:off x="3606" y="2907"/>
              <a:ext cx="1179" cy="226"/>
            </a:xfrm>
            <a:prstGeom prst="borderCallout2">
              <a:avLst>
                <a:gd name="adj1" fmla="val 31856"/>
                <a:gd name="adj2" fmla="val -4069"/>
                <a:gd name="adj3" fmla="val 31856"/>
                <a:gd name="adj4" fmla="val -30958"/>
                <a:gd name="adj5" fmla="val 68583"/>
                <a:gd name="adj6" fmla="val -58778"/>
              </a:avLst>
            </a:prstGeom>
            <a:gradFill rotWithShape="1">
              <a:gsLst>
                <a:gs pos="0">
                  <a:srgbClr val="CFCFD1"/>
                </a:gs>
                <a:gs pos="100000">
                  <a:schemeClr val="bg1"/>
                </a:gs>
              </a:gsLst>
              <a:lin ang="5400000" scaled="1"/>
            </a:gradFill>
            <a:ln w="19050" algn="ctr">
              <a:solidFill>
                <a:srgbClr val="C00000"/>
              </a:solidFill>
              <a:miter lim="800000"/>
              <a:headEnd/>
              <a:tailEnd/>
            </a:ln>
            <a:effectLst>
              <a:outerShdw blurRad="50800" dist="38100" dir="2700000" algn="tl" rotWithShape="0">
                <a:prstClr val="black">
                  <a:alpha val="40000"/>
                </a:prstClr>
              </a:outerShdw>
            </a:effectLst>
          </p:spPr>
          <p:txBody>
            <a:bodyPr/>
            <a:lstStyle/>
            <a:p>
              <a:pPr marL="342900" indent="-342900" algn="ctr"/>
              <a:r>
                <a:rPr lang="zh-CN" altLang="en-US" sz="2000">
                  <a:solidFill>
                    <a:srgbClr val="C00000"/>
                  </a:solidFill>
                  <a:latin typeface="+mn-lt"/>
                  <a:ea typeface="楷体" pitchFamily="49" charset="-122"/>
                </a:rPr>
                <a:t>逐个字符引用</a:t>
              </a:r>
            </a:p>
          </p:txBody>
        </p:sp>
      </p:grpSp>
      <p:sp>
        <p:nvSpPr>
          <p:cNvPr id="49" name="AutoShape 40">
            <a:extLst>
              <a:ext uri="{FF2B5EF4-FFF2-40B4-BE49-F238E27FC236}">
                <a16:creationId xmlns:a16="http://schemas.microsoft.com/office/drawing/2014/main" id="{1466C3BD-BA88-4797-9A25-B1785FA70EBA}"/>
              </a:ext>
            </a:extLst>
          </p:cNvPr>
          <p:cNvSpPr>
            <a:spLocks noChangeArrowheads="1"/>
          </p:cNvSpPr>
          <p:nvPr/>
        </p:nvSpPr>
        <p:spPr bwMode="auto">
          <a:xfrm>
            <a:off x="4804837" y="5257304"/>
            <a:ext cx="1036159" cy="463846"/>
          </a:xfrm>
          <a:prstGeom prst="wedgeRectCallout">
            <a:avLst>
              <a:gd name="adj1" fmla="val -146762"/>
              <a:gd name="adj2" fmla="val -75788"/>
            </a:avLst>
          </a:prstGeom>
          <a:gradFill rotWithShape="1">
            <a:gsLst>
              <a:gs pos="0">
                <a:srgbClr val="CFCFD1"/>
              </a:gs>
              <a:gs pos="100000">
                <a:srgbClr val="FFFFFF"/>
              </a:gs>
            </a:gsLst>
            <a:lin ang="5400000" scaled="1"/>
          </a:gradFill>
          <a:ln w="28575">
            <a:solidFill>
              <a:srgbClr val="002060"/>
            </a:solidFill>
            <a:miter lim="800000"/>
            <a:headEnd type="none" w="lg" len="lg"/>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en-US" altLang="zh-CN" dirty="0">
                <a:latin typeface="+mn-lt"/>
                <a:ea typeface="楷体" pitchFamily="49" charset="-122"/>
              </a:rPr>
              <a:t>*string</a:t>
            </a:r>
          </a:p>
        </p:txBody>
      </p:sp>
      <p:sp>
        <p:nvSpPr>
          <p:cNvPr id="50" name="Rectangle 4">
            <a:extLst>
              <a:ext uri="{FF2B5EF4-FFF2-40B4-BE49-F238E27FC236}">
                <a16:creationId xmlns:a16="http://schemas.microsoft.com/office/drawing/2014/main" id="{5C72C4DD-1F8C-4FAE-96AF-D334C268AB9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指针与字符串</a:t>
            </a:r>
          </a:p>
        </p:txBody>
      </p:sp>
      <p:sp>
        <p:nvSpPr>
          <p:cNvPr id="51" name="Rectangle 2">
            <a:extLst>
              <a:ext uri="{FF2B5EF4-FFF2-40B4-BE49-F238E27FC236}">
                <a16:creationId xmlns:a16="http://schemas.microsoft.com/office/drawing/2014/main" id="{BB23AC9A-7170-4A45-B5F1-2C42F47C122D}"/>
              </a:ext>
            </a:extLst>
          </p:cNvPr>
          <p:cNvSpPr txBox="1">
            <a:spLocks noChangeArrowheads="1"/>
          </p:cNvSpPr>
          <p:nvPr/>
        </p:nvSpPr>
        <p:spPr>
          <a:xfrm>
            <a:off x="189496" y="831754"/>
            <a:ext cx="5651500" cy="368245"/>
          </a:xfr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lvl="1">
              <a:buFontTx/>
              <a:buNone/>
            </a:pPr>
            <a:r>
              <a:rPr lang="en-US" altLang="zh-CN" kern="0" dirty="0">
                <a:solidFill>
                  <a:srgbClr val="C00000"/>
                </a:solidFill>
                <a:effectLst/>
                <a:ea typeface="楷体" pitchFamily="49" charset="-122"/>
              </a:rPr>
              <a:t>1</a:t>
            </a:r>
            <a:r>
              <a:rPr lang="zh-CN" altLang="en-US" kern="0" dirty="0">
                <a:solidFill>
                  <a:srgbClr val="C00000"/>
                </a:solidFill>
                <a:effectLst/>
                <a:ea typeface="楷体" pitchFamily="49" charset="-122"/>
              </a:rPr>
              <a:t>、字符串表示形式</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70434"/>
                                        </p:tgtEl>
                                        <p:attrNameLst>
                                          <p:attrName>style.visibility</p:attrName>
                                        </p:attrNameLst>
                                      </p:cBhvr>
                                      <p:to>
                                        <p:strVal val="visible"/>
                                      </p:to>
                                    </p:set>
                                    <p:animEffect transition="in" filter="box(out)">
                                      <p:cBhvr>
                                        <p:cTn id="7" dur="500"/>
                                        <p:tgtEl>
                                          <p:spTgt spid="117043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70435"/>
                                        </p:tgtEl>
                                        <p:attrNameLst>
                                          <p:attrName>style.visibility</p:attrName>
                                        </p:attrNameLst>
                                      </p:cBhvr>
                                      <p:to>
                                        <p:strVal val="visible"/>
                                      </p:to>
                                    </p:set>
                                    <p:animEffect transition="in" filter="box(out)">
                                      <p:cBhvr>
                                        <p:cTn id="12" dur="500"/>
                                        <p:tgtEl>
                                          <p:spTgt spid="1170435"/>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170438"/>
                                        </p:tgtEl>
                                        <p:attrNameLst>
                                          <p:attrName>style.visibility</p:attrName>
                                        </p:attrNameLst>
                                      </p:cBhvr>
                                      <p:to>
                                        <p:strVal val="visible"/>
                                      </p:to>
                                    </p:set>
                                    <p:animEffect transition="in" filter="box(out)">
                                      <p:cBhvr>
                                        <p:cTn id="17" dur="500"/>
                                        <p:tgtEl>
                                          <p:spTgt spid="1170438"/>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70468"/>
                                        </p:tgtEl>
                                        <p:attrNameLst>
                                          <p:attrName>style.visibility</p:attrName>
                                        </p:attrNameLst>
                                      </p:cBhvr>
                                      <p:to>
                                        <p:strVal val="visible"/>
                                      </p:to>
                                    </p:set>
                                    <p:animEffect transition="in" filter="box(out)">
                                      <p:cBhvr>
                                        <p:cTn id="22" dur="500"/>
                                        <p:tgtEl>
                                          <p:spTgt spid="1170468"/>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170469"/>
                                        </p:tgtEl>
                                        <p:attrNameLst>
                                          <p:attrName>style.visibility</p:attrName>
                                        </p:attrNameLst>
                                      </p:cBhvr>
                                      <p:to>
                                        <p:strVal val="visible"/>
                                      </p:to>
                                    </p:set>
                                    <p:animEffect transition="in" filter="box(out)">
                                      <p:cBhvr>
                                        <p:cTn id="27" dur="500"/>
                                        <p:tgtEl>
                                          <p:spTgt spid="1170469"/>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70472"/>
                                        </p:tgtEl>
                                        <p:attrNameLst>
                                          <p:attrName>style.visibility</p:attrName>
                                        </p:attrNameLst>
                                      </p:cBhvr>
                                      <p:to>
                                        <p:strVal val="visible"/>
                                      </p:to>
                                    </p:set>
                                    <p:animEffect transition="in" filter="box(out)">
                                      <p:cBhvr>
                                        <p:cTn id="32" dur="500"/>
                                        <p:tgtEl>
                                          <p:spTgt spid="1170472"/>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box(out)">
                                      <p:cBhvr>
                                        <p:cTn id="37" dur="500"/>
                                        <p:tgtEl>
                                          <p:spTgt spid="49"/>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3" fill="hold" nodeType="clickEffect">
                                  <p:stCondLst>
                                    <p:cond delay="0"/>
                                  </p:stCondLst>
                                  <p:childTnLst>
                                    <p:set>
                                      <p:cBhvr>
                                        <p:cTn id="41" dur="1" fill="hold">
                                          <p:stCondLst>
                                            <p:cond delay="0"/>
                                          </p:stCondLst>
                                        </p:cTn>
                                        <p:tgtEl>
                                          <p:spTgt spid="1170481"/>
                                        </p:tgtEl>
                                        <p:attrNameLst>
                                          <p:attrName>style.visibility</p:attrName>
                                        </p:attrNameLst>
                                      </p:cBhvr>
                                      <p:to>
                                        <p:strVal val="visible"/>
                                      </p:to>
                                    </p:set>
                                    <p:animEffect transition="in" filter="strips(upRight)">
                                      <p:cBhvr>
                                        <p:cTn id="42" dur="500"/>
                                        <p:tgtEl>
                                          <p:spTgt spid="1170481"/>
                                        </p:tgtEl>
                                      </p:cBhvr>
                                    </p:animEffect>
                                  </p:childTnLst>
                                  <p:subTnLst>
                                    <p:audio>
                                      <p:cMediaNode>
                                        <p:cTn display="0" masterRel="sameClick">
                                          <p:stCondLst>
                                            <p:cond evt="begin" delay="0">
                                              <p:tn val="40"/>
                                            </p:cond>
                                          </p:stCondLst>
                                          <p:endCondLst>
                                            <p:cond evt="onStopAudio" delay="0">
                                              <p:tgtEl>
                                                <p:sldTgt/>
                                              </p:tgtEl>
                                            </p:cond>
                                          </p:endCondLst>
                                        </p:cTn>
                                        <p:tgtEl>
                                          <p:sndTgt r:embed="rId3" name="laser.wav"/>
                                        </p:tgtEl>
                                      </p:cMediaNode>
                                    </p:audio>
                                  </p:subTnLst>
                                </p:cTn>
                              </p:par>
                            </p:childTnLst>
                          </p:cTn>
                        </p:par>
                      </p:childTnLst>
                    </p:cTn>
                  </p:par>
                  <p:par>
                    <p:cTn id="43" fill="hold">
                      <p:stCondLst>
                        <p:cond delay="indefinite"/>
                      </p:stCondLst>
                      <p:childTnLst>
                        <p:par>
                          <p:cTn id="44" fill="hold">
                            <p:stCondLst>
                              <p:cond delay="0"/>
                            </p:stCondLst>
                            <p:childTnLst>
                              <p:par>
                                <p:cTn id="45" presetID="18" presetClass="entr" presetSubtype="3" fill="hold" nodeType="clickEffect">
                                  <p:stCondLst>
                                    <p:cond delay="0"/>
                                  </p:stCondLst>
                                  <p:childTnLst>
                                    <p:set>
                                      <p:cBhvr>
                                        <p:cTn id="46" dur="1" fill="hold">
                                          <p:stCondLst>
                                            <p:cond delay="0"/>
                                          </p:stCondLst>
                                        </p:cTn>
                                        <p:tgtEl>
                                          <p:spTgt spid="1170485"/>
                                        </p:tgtEl>
                                        <p:attrNameLst>
                                          <p:attrName>style.visibility</p:attrName>
                                        </p:attrNameLst>
                                      </p:cBhvr>
                                      <p:to>
                                        <p:strVal val="visible"/>
                                      </p:to>
                                    </p:set>
                                    <p:animEffect transition="in" filter="strips(upRight)">
                                      <p:cBhvr>
                                        <p:cTn id="47" dur="500"/>
                                        <p:tgtEl>
                                          <p:spTgt spid="1170485"/>
                                        </p:tgtEl>
                                      </p:cBhvr>
                                    </p:animEffect>
                                  </p:childTnLst>
                                  <p:subTnLst>
                                    <p:audio>
                                      <p:cMediaNode>
                                        <p:cTn display="0" masterRel="sameClick">
                                          <p:stCondLst>
                                            <p:cond evt="begin" delay="0">
                                              <p:tn val="45"/>
                                            </p:cond>
                                          </p:stCondLst>
                                          <p:endCondLst>
                                            <p:cond evt="onStopAudio" delay="0">
                                              <p:tgtEl>
                                                <p:sldTgt/>
                                              </p:tgtEl>
                                            </p:cond>
                                          </p:endCondLst>
                                        </p:cTn>
                                        <p:tgtEl>
                                          <p:sndTgt r:embed="rId3" name="laser.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170476"/>
                                        </p:tgtEl>
                                        <p:attrNameLst>
                                          <p:attrName>style.visibility</p:attrName>
                                        </p:attrNameLst>
                                      </p:cBhvr>
                                      <p:to>
                                        <p:strVal val="visible"/>
                                      </p:to>
                                    </p:set>
                                    <p:animEffect transition="in" filter="box(out)">
                                      <p:cBhvr>
                                        <p:cTn id="52" dur="500"/>
                                        <p:tgtEl>
                                          <p:spTgt spid="1170476"/>
                                        </p:tgtEl>
                                      </p:cBhvr>
                                    </p:animEffect>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0434" grpId="0" autoUpdateAnimBg="0"/>
      <p:bldP spid="1170435" grpId="0" animBg="1" autoUpdateAnimBg="0"/>
      <p:bldP spid="1170468" grpId="0" animBg="1" autoUpdateAnimBg="0"/>
      <p:bldP spid="1170472" grpId="0" animBg="1" autoUpdateAnimBg="0"/>
      <p:bldP spid="1170476" grpId="0" animBg="1"/>
      <p:bldP spid="49"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2482" name="Rectangle 2"/>
          <p:cNvSpPr>
            <a:spLocks noGrp="1" noChangeArrowheads="1"/>
          </p:cNvSpPr>
          <p:nvPr>
            <p:ph type="body" idx="4294967295"/>
          </p:nvPr>
        </p:nvSpPr>
        <p:spPr>
          <a:xfrm>
            <a:off x="191344" y="908720"/>
            <a:ext cx="11117263" cy="3521075"/>
          </a:xfrm>
        </p:spPr>
        <p:txBody>
          <a:bodyPr/>
          <a:lstStyle/>
          <a:p>
            <a:pPr lvl="1">
              <a:buFontTx/>
              <a:buNone/>
            </a:pPr>
            <a:r>
              <a:rPr lang="en-US" altLang="zh-CN" dirty="0">
                <a:solidFill>
                  <a:srgbClr val="C00000"/>
                </a:solidFill>
                <a:effectLst/>
                <a:ea typeface="楷体" pitchFamily="49" charset="-122"/>
              </a:rPr>
              <a:t>2</a:t>
            </a:r>
            <a:r>
              <a:rPr lang="zh-CN" altLang="en-US" dirty="0">
                <a:solidFill>
                  <a:srgbClr val="C00000"/>
                </a:solidFill>
                <a:effectLst/>
                <a:ea typeface="楷体" pitchFamily="49" charset="-122"/>
              </a:rPr>
              <a:t>、字符指针变量与字符数组</a:t>
            </a:r>
          </a:p>
          <a:p>
            <a:pPr lvl="2">
              <a:buFontTx/>
              <a:buNone/>
            </a:pPr>
            <a:r>
              <a:rPr lang="en-US" altLang="zh-CN" dirty="0">
                <a:effectLst/>
                <a:ea typeface="楷体" pitchFamily="49" charset="-122"/>
              </a:rPr>
              <a:t>char  *cp;    </a:t>
            </a:r>
            <a:r>
              <a:rPr lang="zh-CN" altLang="zh-CN" dirty="0">
                <a:effectLst/>
                <a:ea typeface="楷体" pitchFamily="49" charset="-122"/>
              </a:rPr>
              <a:t>与</a:t>
            </a:r>
            <a:r>
              <a:rPr lang="zh-CN" altLang="en-US" dirty="0">
                <a:effectLst/>
                <a:ea typeface="楷体" pitchFamily="49" charset="-122"/>
              </a:rPr>
              <a:t>    </a:t>
            </a:r>
            <a:r>
              <a:rPr lang="en-US" altLang="zh-CN" dirty="0">
                <a:effectLst/>
                <a:ea typeface="楷体" pitchFamily="49" charset="-122"/>
              </a:rPr>
              <a:t>char </a:t>
            </a:r>
            <a:r>
              <a:rPr lang="en-US" altLang="zh-CN" dirty="0" err="1">
                <a:effectLst/>
                <a:ea typeface="楷体" pitchFamily="49" charset="-122"/>
              </a:rPr>
              <a:t>str</a:t>
            </a:r>
            <a:r>
              <a:rPr lang="en-US" altLang="zh-CN" dirty="0">
                <a:effectLst/>
                <a:ea typeface="楷体" pitchFamily="49" charset="-122"/>
              </a:rPr>
              <a:t>[20];</a:t>
            </a:r>
          </a:p>
          <a:p>
            <a:pPr lvl="2">
              <a:buClr>
                <a:srgbClr val="C00000"/>
              </a:buClr>
              <a:buFont typeface="Wingdings" pitchFamily="2" charset="2"/>
              <a:buChar char="l"/>
            </a:pPr>
            <a:r>
              <a:rPr lang="en-US" altLang="zh-CN" dirty="0">
                <a:effectLst/>
                <a:ea typeface="楷体" pitchFamily="49" charset="-122"/>
              </a:rPr>
              <a:t> </a:t>
            </a:r>
            <a:r>
              <a:rPr lang="en-US" altLang="zh-CN" dirty="0" err="1">
                <a:effectLst/>
                <a:ea typeface="楷体" pitchFamily="49" charset="-122"/>
              </a:rPr>
              <a:t>str</a:t>
            </a:r>
            <a:r>
              <a:rPr lang="zh-CN" altLang="zh-CN" dirty="0">
                <a:effectLst/>
                <a:ea typeface="楷体" pitchFamily="49" charset="-122"/>
              </a:rPr>
              <a:t>由若干元素组成，每个元素放一个字符；而</a:t>
            </a:r>
            <a:r>
              <a:rPr lang="en-US" altLang="zh-CN" dirty="0">
                <a:effectLst/>
                <a:ea typeface="楷体" pitchFamily="49" charset="-122"/>
              </a:rPr>
              <a:t>cp</a:t>
            </a:r>
            <a:r>
              <a:rPr lang="zh-CN" altLang="zh-CN" dirty="0">
                <a:effectLst/>
                <a:ea typeface="楷体" pitchFamily="49" charset="-122"/>
              </a:rPr>
              <a:t>中存放字符串首地址</a:t>
            </a:r>
          </a:p>
          <a:p>
            <a:pPr lvl="2">
              <a:buClr>
                <a:srgbClr val="C00000"/>
              </a:buClr>
              <a:buFont typeface="Wingdings" pitchFamily="2" charset="2"/>
              <a:buChar char="l"/>
            </a:pPr>
            <a:r>
              <a:rPr lang="zh-CN" altLang="zh-CN" dirty="0">
                <a:effectLst/>
                <a:ea typeface="楷体" pitchFamily="49" charset="-122"/>
              </a:rPr>
              <a:t> </a:t>
            </a:r>
            <a:r>
              <a:rPr lang="en-US" altLang="zh-CN" dirty="0">
                <a:effectLst/>
                <a:ea typeface="楷体" pitchFamily="49" charset="-122"/>
              </a:rPr>
              <a:t>char  </a:t>
            </a:r>
            <a:r>
              <a:rPr lang="en-US" altLang="zh-CN" dirty="0" err="1">
                <a:effectLst/>
                <a:ea typeface="楷体" pitchFamily="49" charset="-122"/>
              </a:rPr>
              <a:t>str</a:t>
            </a:r>
            <a:r>
              <a:rPr lang="en-US" altLang="zh-CN" dirty="0">
                <a:effectLst/>
                <a:ea typeface="楷体" pitchFamily="49" charset="-122"/>
              </a:rPr>
              <a:t>[20];     </a:t>
            </a:r>
            <a:r>
              <a:rPr lang="en-US" altLang="zh-CN" dirty="0" err="1">
                <a:effectLst/>
                <a:ea typeface="楷体" pitchFamily="49" charset="-122"/>
              </a:rPr>
              <a:t>str</a:t>
            </a:r>
            <a:r>
              <a:rPr lang="en-US" altLang="zh-CN" dirty="0">
                <a:effectLst/>
                <a:ea typeface="楷体" pitchFamily="49" charset="-122"/>
              </a:rPr>
              <a:t>=</a:t>
            </a:r>
            <a:r>
              <a:rPr lang="en-US" altLang="zh-CN" dirty="0">
                <a:effectLst/>
              </a:rPr>
              <a:t>"</a:t>
            </a:r>
            <a:r>
              <a:rPr lang="en-US" altLang="zh-CN" dirty="0">
                <a:effectLst/>
                <a:ea typeface="楷体" pitchFamily="49" charset="-122"/>
              </a:rPr>
              <a:t>I love China!</a:t>
            </a:r>
            <a:r>
              <a:rPr lang="en-US" altLang="zh-CN" dirty="0">
                <a:effectLst/>
              </a:rPr>
              <a:t>"</a:t>
            </a:r>
            <a:r>
              <a:rPr lang="en-US" altLang="zh-CN" dirty="0">
                <a:effectLst/>
                <a:ea typeface="楷体" pitchFamily="49" charset="-122"/>
              </a:rPr>
              <a:t>;    (</a:t>
            </a:r>
            <a:r>
              <a:rPr lang="en-US" altLang="zh-CN" dirty="0">
                <a:solidFill>
                  <a:srgbClr val="002060"/>
                </a:solidFill>
                <a:effectLst/>
                <a:ea typeface="楷体" pitchFamily="49" charset="-122"/>
                <a:sym typeface="Symbol" pitchFamily="18" charset="2"/>
              </a:rPr>
              <a:t></a:t>
            </a:r>
            <a:r>
              <a:rPr lang="en-US" altLang="zh-CN" dirty="0">
                <a:effectLst/>
                <a:ea typeface="楷体" pitchFamily="49" charset="-122"/>
              </a:rPr>
              <a:t>)</a:t>
            </a:r>
          </a:p>
          <a:p>
            <a:pPr lvl="2">
              <a:buClr>
                <a:srgbClr val="0000FF"/>
              </a:buClr>
              <a:buFont typeface="Wingdings" pitchFamily="2" charset="2"/>
              <a:buNone/>
            </a:pPr>
            <a:r>
              <a:rPr lang="en-US" altLang="zh-CN" dirty="0">
                <a:effectLst/>
                <a:ea typeface="楷体" pitchFamily="49" charset="-122"/>
              </a:rPr>
              <a:t>     char   *cp;         cp=</a:t>
            </a:r>
            <a:r>
              <a:rPr lang="en-US" altLang="zh-CN" dirty="0">
                <a:effectLst/>
              </a:rPr>
              <a:t>"</a:t>
            </a:r>
            <a:r>
              <a:rPr lang="en-US" altLang="zh-CN" dirty="0">
                <a:effectLst/>
                <a:ea typeface="楷体" pitchFamily="49" charset="-122"/>
              </a:rPr>
              <a:t>I love China!</a:t>
            </a:r>
            <a:r>
              <a:rPr lang="en-US" altLang="zh-CN" dirty="0">
                <a:effectLst/>
              </a:rPr>
              <a:t>"</a:t>
            </a:r>
            <a:r>
              <a:rPr lang="en-US" altLang="zh-CN" dirty="0">
                <a:effectLst/>
                <a:ea typeface="楷体" pitchFamily="49" charset="-122"/>
              </a:rPr>
              <a:t>;    (</a:t>
            </a:r>
            <a:r>
              <a:rPr lang="en-US" altLang="zh-CN" dirty="0">
                <a:solidFill>
                  <a:srgbClr val="C00000"/>
                </a:solidFill>
                <a:effectLst/>
                <a:ea typeface="楷体" pitchFamily="49" charset="-122"/>
                <a:sym typeface="Wingdings" pitchFamily="2" charset="2"/>
              </a:rPr>
              <a:t></a:t>
            </a:r>
            <a:r>
              <a:rPr lang="en-US" altLang="zh-CN" dirty="0">
                <a:effectLst/>
                <a:ea typeface="楷体" pitchFamily="49" charset="-122"/>
              </a:rPr>
              <a:t>)</a:t>
            </a:r>
          </a:p>
          <a:p>
            <a:pPr lvl="2">
              <a:buClr>
                <a:srgbClr val="C00000"/>
              </a:buClr>
              <a:buFont typeface="Wingdings" pitchFamily="2" charset="2"/>
              <a:buChar char="l"/>
            </a:pPr>
            <a:r>
              <a:rPr lang="en-US" altLang="zh-CN" dirty="0">
                <a:effectLst/>
                <a:ea typeface="楷体" pitchFamily="49" charset="-122"/>
              </a:rPr>
              <a:t> </a:t>
            </a:r>
            <a:r>
              <a:rPr lang="en-US" altLang="zh-CN" dirty="0" err="1">
                <a:effectLst/>
                <a:ea typeface="楷体" pitchFamily="49" charset="-122"/>
              </a:rPr>
              <a:t>str</a:t>
            </a:r>
            <a:r>
              <a:rPr lang="zh-CN" altLang="zh-CN" dirty="0">
                <a:effectLst/>
                <a:ea typeface="楷体" pitchFamily="49" charset="-122"/>
              </a:rPr>
              <a:t>是地址</a:t>
            </a:r>
            <a:r>
              <a:rPr lang="zh-CN" altLang="zh-CN" dirty="0">
                <a:solidFill>
                  <a:srgbClr val="002060"/>
                </a:solidFill>
                <a:effectLst/>
                <a:ea typeface="楷体" pitchFamily="49" charset="-122"/>
              </a:rPr>
              <a:t>常量</a:t>
            </a:r>
            <a:r>
              <a:rPr lang="zh-CN" altLang="zh-CN" dirty="0">
                <a:effectLst/>
                <a:ea typeface="楷体" pitchFamily="49" charset="-122"/>
              </a:rPr>
              <a:t>；</a:t>
            </a:r>
            <a:r>
              <a:rPr lang="en-US" altLang="zh-CN" dirty="0">
                <a:effectLst/>
                <a:ea typeface="楷体" pitchFamily="49" charset="-122"/>
              </a:rPr>
              <a:t>cp</a:t>
            </a:r>
            <a:r>
              <a:rPr lang="zh-CN" altLang="zh-CN" dirty="0">
                <a:effectLst/>
                <a:ea typeface="楷体" pitchFamily="49" charset="-122"/>
              </a:rPr>
              <a:t>是地址变量</a:t>
            </a:r>
          </a:p>
          <a:p>
            <a:pPr lvl="2">
              <a:buClr>
                <a:srgbClr val="C00000"/>
              </a:buClr>
              <a:buFont typeface="Wingdings" pitchFamily="2" charset="2"/>
              <a:buChar char="l"/>
            </a:pPr>
            <a:r>
              <a:rPr lang="zh-CN" altLang="en-US" dirty="0">
                <a:effectLst/>
                <a:ea typeface="楷体" pitchFamily="49" charset="-122"/>
              </a:rPr>
              <a:t> </a:t>
            </a:r>
            <a:r>
              <a:rPr lang="en-US" altLang="zh-CN" dirty="0">
                <a:effectLst/>
                <a:ea typeface="楷体" pitchFamily="49" charset="-122"/>
              </a:rPr>
              <a:t>cp</a:t>
            </a:r>
            <a:r>
              <a:rPr lang="zh-CN" altLang="zh-CN" dirty="0">
                <a:effectLst/>
                <a:ea typeface="楷体" pitchFamily="49" charset="-122"/>
              </a:rPr>
              <a:t>接受键入字符串时,必须</a:t>
            </a:r>
            <a:r>
              <a:rPr lang="zh-CN" altLang="zh-CN" dirty="0">
                <a:solidFill>
                  <a:srgbClr val="C00000"/>
                </a:solidFill>
                <a:effectLst/>
                <a:ea typeface="楷体" pitchFamily="49" charset="-122"/>
              </a:rPr>
              <a:t>先开辟存储空间</a:t>
            </a:r>
            <a:endParaRPr lang="zh-CN" altLang="en-US" dirty="0">
              <a:solidFill>
                <a:srgbClr val="C00000"/>
              </a:solidFill>
              <a:effectLst/>
              <a:ea typeface="楷体" pitchFamily="49" charset="-122"/>
            </a:endParaRPr>
          </a:p>
        </p:txBody>
      </p:sp>
      <p:sp>
        <p:nvSpPr>
          <p:cNvPr id="1172483" name="Text Box 3" descr="信纸"/>
          <p:cNvSpPr txBox="1">
            <a:spLocks noChangeArrowheads="1"/>
          </p:cNvSpPr>
          <p:nvPr/>
        </p:nvSpPr>
        <p:spPr bwMode="auto">
          <a:xfrm>
            <a:off x="1554880" y="4353520"/>
            <a:ext cx="4613128" cy="195580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C00000"/>
                </a:solidFill>
                <a:latin typeface="隶书" pitchFamily="49" charset="-122"/>
                <a:ea typeface="隶书" pitchFamily="49" charset="-122"/>
              </a:rPr>
              <a:t>例</a:t>
            </a:r>
            <a:r>
              <a:rPr lang="zh-CN" altLang="en-US" dirty="0">
                <a:solidFill>
                  <a:srgbClr val="C00000"/>
                </a:solidFill>
              </a:rPr>
              <a:t> </a:t>
            </a:r>
            <a:r>
              <a:rPr lang="zh-CN" altLang="en-US" dirty="0"/>
              <a:t>  </a:t>
            </a:r>
            <a:r>
              <a:rPr lang="en-US" altLang="zh-CN" dirty="0"/>
              <a:t>char  </a:t>
            </a:r>
            <a:r>
              <a:rPr lang="en-US" altLang="zh-CN" dirty="0" err="1"/>
              <a:t>str</a:t>
            </a:r>
            <a:r>
              <a:rPr lang="en-US" altLang="zh-CN" dirty="0"/>
              <a:t>[10];</a:t>
            </a:r>
          </a:p>
          <a:p>
            <a:pPr eaLnBrk="0" hangingPunct="0">
              <a:lnSpc>
                <a:spcPct val="100000"/>
              </a:lnSpc>
              <a:spcBef>
                <a:spcPct val="0"/>
              </a:spcBef>
            </a:pPr>
            <a:r>
              <a:rPr lang="en-US" altLang="zh-CN" dirty="0"/>
              <a:t>       </a:t>
            </a:r>
            <a:r>
              <a:rPr lang="en-US" altLang="zh-CN" dirty="0" err="1"/>
              <a:t>scanf</a:t>
            </a:r>
            <a:r>
              <a:rPr lang="en-US" altLang="zh-CN" dirty="0"/>
              <a:t>("%</a:t>
            </a:r>
            <a:r>
              <a:rPr lang="en-US" altLang="zh-CN" dirty="0" err="1"/>
              <a:t>s",str</a:t>
            </a:r>
            <a:r>
              <a:rPr lang="en-US" altLang="zh-CN" dirty="0"/>
              <a:t>);    (</a:t>
            </a:r>
            <a:r>
              <a:rPr lang="en-US" altLang="zh-CN" dirty="0">
                <a:solidFill>
                  <a:srgbClr val="C00000"/>
                </a:solidFill>
                <a:sym typeface="Wingdings" pitchFamily="2" charset="2"/>
              </a:rPr>
              <a:t></a:t>
            </a:r>
            <a:r>
              <a:rPr lang="en-US" altLang="zh-CN" dirty="0"/>
              <a:t>)</a:t>
            </a:r>
          </a:p>
          <a:p>
            <a:pPr eaLnBrk="0" hangingPunct="0">
              <a:lnSpc>
                <a:spcPct val="100000"/>
              </a:lnSpc>
              <a:spcBef>
                <a:spcPct val="0"/>
              </a:spcBef>
            </a:pPr>
            <a:endParaRPr lang="en-US" altLang="zh-CN" dirty="0"/>
          </a:p>
          <a:p>
            <a:pPr eaLnBrk="0" hangingPunct="0">
              <a:lnSpc>
                <a:spcPct val="100000"/>
              </a:lnSpc>
              <a:spcBef>
                <a:spcPct val="0"/>
              </a:spcBef>
            </a:pPr>
            <a:r>
              <a:rPr lang="zh-CN" altLang="zh-CN" dirty="0">
                <a:solidFill>
                  <a:srgbClr val="002060"/>
                </a:solidFill>
                <a:latin typeface="楷体" pitchFamily="49" charset="-122"/>
                <a:ea typeface="楷体" pitchFamily="49" charset="-122"/>
              </a:rPr>
              <a:t>而</a:t>
            </a:r>
            <a:r>
              <a:rPr lang="zh-CN" altLang="zh-CN" dirty="0">
                <a:solidFill>
                  <a:srgbClr val="002060"/>
                </a:solidFill>
              </a:rPr>
              <a:t>  </a:t>
            </a:r>
            <a:r>
              <a:rPr lang="zh-CN" altLang="zh-CN" dirty="0"/>
              <a:t> </a:t>
            </a:r>
            <a:r>
              <a:rPr lang="en-US" altLang="zh-CN" dirty="0"/>
              <a:t>char  *cp;</a:t>
            </a:r>
          </a:p>
          <a:p>
            <a:pPr eaLnBrk="0" hangingPunct="0">
              <a:lnSpc>
                <a:spcPct val="100000"/>
              </a:lnSpc>
              <a:spcBef>
                <a:spcPct val="0"/>
              </a:spcBef>
            </a:pPr>
            <a:r>
              <a:rPr lang="en-US" altLang="zh-CN" dirty="0"/>
              <a:t>       </a:t>
            </a:r>
            <a:r>
              <a:rPr lang="en-US" altLang="zh-CN" dirty="0" err="1"/>
              <a:t>scanf</a:t>
            </a:r>
            <a:r>
              <a:rPr lang="en-US" altLang="zh-CN" dirty="0"/>
              <a:t>("%s",  cp);    (</a:t>
            </a:r>
            <a:r>
              <a:rPr lang="en-US" altLang="zh-CN" dirty="0">
                <a:solidFill>
                  <a:srgbClr val="002060"/>
                </a:solidFill>
                <a:sym typeface="Symbol" pitchFamily="18" charset="2"/>
              </a:rPr>
              <a:t></a:t>
            </a:r>
            <a:r>
              <a:rPr lang="en-US" altLang="zh-CN" dirty="0">
                <a:sym typeface="Symbol" pitchFamily="18" charset="2"/>
              </a:rPr>
              <a:t>)</a:t>
            </a:r>
            <a:endParaRPr lang="en-US" altLang="zh-CN" dirty="0">
              <a:sym typeface="Wingdings 3" pitchFamily="18" charset="2"/>
            </a:endParaRPr>
          </a:p>
        </p:txBody>
      </p:sp>
      <p:sp>
        <p:nvSpPr>
          <p:cNvPr id="1172484" name="Text Box 4" descr="信纸"/>
          <p:cNvSpPr txBox="1">
            <a:spLocks noChangeArrowheads="1"/>
          </p:cNvSpPr>
          <p:nvPr/>
        </p:nvSpPr>
        <p:spPr bwMode="auto">
          <a:xfrm>
            <a:off x="6863457" y="5072186"/>
            <a:ext cx="3950120" cy="1200329"/>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eaLnBrk="0" hangingPunct="0">
              <a:lnSpc>
                <a:spcPct val="100000"/>
              </a:lnSpc>
              <a:spcBef>
                <a:spcPct val="0"/>
              </a:spcBef>
            </a:pPr>
            <a:r>
              <a:rPr lang="zh-CN" altLang="en-US" dirty="0">
                <a:solidFill>
                  <a:srgbClr val="C00000"/>
                </a:solidFill>
                <a:latin typeface="+mn-lt"/>
                <a:ea typeface="楷体" pitchFamily="49" charset="-122"/>
                <a:sym typeface="Wingdings 3" pitchFamily="18" charset="2"/>
              </a:rPr>
              <a:t>改为</a:t>
            </a:r>
            <a:r>
              <a:rPr lang="en-US" altLang="zh-CN" dirty="0">
                <a:solidFill>
                  <a:srgbClr val="C00000"/>
                </a:solidFill>
                <a:latin typeface="+mn-lt"/>
                <a:ea typeface="楷体" pitchFamily="49" charset="-122"/>
                <a:sym typeface="Wingdings 3" pitchFamily="18" charset="2"/>
              </a:rPr>
              <a:t>:  </a:t>
            </a:r>
            <a:r>
              <a:rPr lang="en-US" altLang="zh-CN" dirty="0">
                <a:sym typeface="Wingdings 3" pitchFamily="18" charset="2"/>
              </a:rPr>
              <a:t>char   *cp, </a:t>
            </a:r>
            <a:r>
              <a:rPr lang="en-US" altLang="zh-CN" dirty="0" err="1">
                <a:sym typeface="Wingdings 3" pitchFamily="18" charset="2"/>
              </a:rPr>
              <a:t>str</a:t>
            </a:r>
            <a:r>
              <a:rPr lang="en-US" altLang="zh-CN" dirty="0">
                <a:sym typeface="Wingdings 3" pitchFamily="18" charset="2"/>
              </a:rPr>
              <a:t>[10];</a:t>
            </a:r>
          </a:p>
          <a:p>
            <a:pPr eaLnBrk="0" hangingPunct="0">
              <a:lnSpc>
                <a:spcPct val="100000"/>
              </a:lnSpc>
              <a:spcBef>
                <a:spcPct val="0"/>
              </a:spcBef>
            </a:pPr>
            <a:r>
              <a:rPr lang="en-US" altLang="zh-CN" dirty="0">
                <a:sym typeface="Wingdings 3" pitchFamily="18" charset="2"/>
              </a:rPr>
              <a:t>           cp = </a:t>
            </a:r>
            <a:r>
              <a:rPr lang="en-US" altLang="zh-CN" dirty="0" err="1">
                <a:sym typeface="Wingdings 3" pitchFamily="18" charset="2"/>
              </a:rPr>
              <a:t>str</a:t>
            </a:r>
            <a:r>
              <a:rPr lang="en-US" altLang="zh-CN" dirty="0">
                <a:sym typeface="Wingdings 3" pitchFamily="18" charset="2"/>
              </a:rPr>
              <a:t>;</a:t>
            </a:r>
          </a:p>
          <a:p>
            <a:pPr eaLnBrk="0" hangingPunct="0">
              <a:lnSpc>
                <a:spcPct val="100000"/>
              </a:lnSpc>
              <a:spcBef>
                <a:spcPct val="0"/>
              </a:spcBef>
            </a:pPr>
            <a:r>
              <a:rPr lang="en-US" altLang="zh-CN" dirty="0">
                <a:sym typeface="Wingdings 3" pitchFamily="18" charset="2"/>
              </a:rPr>
              <a:t>           </a:t>
            </a:r>
            <a:r>
              <a:rPr lang="en-US" altLang="zh-CN" dirty="0" err="1">
                <a:sym typeface="Wingdings 3" pitchFamily="18" charset="2"/>
              </a:rPr>
              <a:t>scanf</a:t>
            </a:r>
            <a:r>
              <a:rPr lang="en-US" altLang="zh-CN" dirty="0">
                <a:sym typeface="Wingdings 3" pitchFamily="18" charset="2"/>
              </a:rPr>
              <a:t> (</a:t>
            </a:r>
            <a:r>
              <a:rPr lang="en-US" altLang="zh-CN" dirty="0"/>
              <a:t>"</a:t>
            </a:r>
            <a:r>
              <a:rPr lang="en-US" altLang="zh-CN" dirty="0">
                <a:sym typeface="Wingdings 3" pitchFamily="18" charset="2"/>
              </a:rPr>
              <a:t>%</a:t>
            </a:r>
            <a:r>
              <a:rPr lang="en-US" altLang="zh-CN" dirty="0" err="1">
                <a:sym typeface="Wingdings 3" pitchFamily="18" charset="2"/>
              </a:rPr>
              <a:t>s</a:t>
            </a:r>
            <a:r>
              <a:rPr lang="en-US" altLang="zh-CN" dirty="0" err="1"/>
              <a:t>"</a:t>
            </a:r>
            <a:r>
              <a:rPr lang="en-US" altLang="zh-CN" dirty="0" err="1">
                <a:sym typeface="Wingdings 3" pitchFamily="18" charset="2"/>
              </a:rPr>
              <a:t>,cp</a:t>
            </a:r>
            <a:r>
              <a:rPr lang="en-US" altLang="zh-CN" dirty="0">
                <a:sym typeface="Wingdings 3" pitchFamily="18" charset="2"/>
              </a:rPr>
              <a:t>);      (</a:t>
            </a:r>
            <a:r>
              <a:rPr lang="en-US" altLang="zh-CN" dirty="0">
                <a:solidFill>
                  <a:srgbClr val="C00000"/>
                </a:solidFill>
                <a:sym typeface="Wingdings" pitchFamily="2" charset="2"/>
              </a:rPr>
              <a:t></a:t>
            </a:r>
            <a:r>
              <a:rPr lang="en-US" altLang="zh-CN" dirty="0">
                <a:sym typeface="Wingdings 3" pitchFamily="18" charset="2"/>
              </a:rPr>
              <a:t>)</a:t>
            </a:r>
          </a:p>
        </p:txBody>
      </p:sp>
      <p:sp>
        <p:nvSpPr>
          <p:cNvPr id="8" name="Rectangle 4">
            <a:extLst>
              <a:ext uri="{FF2B5EF4-FFF2-40B4-BE49-F238E27FC236}">
                <a16:creationId xmlns:a16="http://schemas.microsoft.com/office/drawing/2014/main" id="{0C6173D7-C275-464B-993C-57F71D7C6DA5}"/>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指针与字符串</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2482">
                                            <p:txEl>
                                              <p:pRg st="0" end="0"/>
                                            </p:txEl>
                                          </p:spTgt>
                                        </p:tgtEl>
                                        <p:attrNameLst>
                                          <p:attrName>style.visibility</p:attrName>
                                        </p:attrNameLst>
                                      </p:cBhvr>
                                      <p:to>
                                        <p:strVal val="visible"/>
                                      </p:to>
                                    </p:set>
                                    <p:anim calcmode="lin" valueType="num">
                                      <p:cBhvr additive="base">
                                        <p:cTn id="7" dur="500" fill="hold"/>
                                        <p:tgtEl>
                                          <p:spTgt spid="117248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7248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72482">
                                            <p:txEl>
                                              <p:pRg st="1" end="1"/>
                                            </p:txEl>
                                          </p:spTgt>
                                        </p:tgtEl>
                                        <p:attrNameLst>
                                          <p:attrName>style.visibility</p:attrName>
                                        </p:attrNameLst>
                                      </p:cBhvr>
                                      <p:to>
                                        <p:strVal val="visible"/>
                                      </p:to>
                                    </p:set>
                                    <p:anim calcmode="lin" valueType="num">
                                      <p:cBhvr additive="base">
                                        <p:cTn id="13" dur="500" fill="hold"/>
                                        <p:tgtEl>
                                          <p:spTgt spid="117248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72482">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72482">
                                            <p:txEl>
                                              <p:pRg st="2" end="2"/>
                                            </p:txEl>
                                          </p:spTgt>
                                        </p:tgtEl>
                                        <p:attrNameLst>
                                          <p:attrName>style.visibility</p:attrName>
                                        </p:attrNameLst>
                                      </p:cBhvr>
                                      <p:to>
                                        <p:strVal val="visible"/>
                                      </p:to>
                                    </p:set>
                                    <p:anim calcmode="lin" valueType="num">
                                      <p:cBhvr additive="base">
                                        <p:cTn id="19" dur="500" fill="hold"/>
                                        <p:tgtEl>
                                          <p:spTgt spid="117248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72482">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72482">
                                            <p:txEl>
                                              <p:pRg st="3" end="3"/>
                                            </p:txEl>
                                          </p:spTgt>
                                        </p:tgtEl>
                                        <p:attrNameLst>
                                          <p:attrName>style.visibility</p:attrName>
                                        </p:attrNameLst>
                                      </p:cBhvr>
                                      <p:to>
                                        <p:strVal val="visible"/>
                                      </p:to>
                                    </p:set>
                                    <p:anim calcmode="lin" valueType="num">
                                      <p:cBhvr additive="base">
                                        <p:cTn id="25" dur="500" fill="hold"/>
                                        <p:tgtEl>
                                          <p:spTgt spid="117248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72482">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72482">
                                            <p:txEl>
                                              <p:pRg st="4" end="4"/>
                                            </p:txEl>
                                          </p:spTgt>
                                        </p:tgtEl>
                                        <p:attrNameLst>
                                          <p:attrName>style.visibility</p:attrName>
                                        </p:attrNameLst>
                                      </p:cBhvr>
                                      <p:to>
                                        <p:strVal val="visible"/>
                                      </p:to>
                                    </p:set>
                                    <p:anim calcmode="lin" valueType="num">
                                      <p:cBhvr additive="base">
                                        <p:cTn id="31" dur="500" fill="hold"/>
                                        <p:tgtEl>
                                          <p:spTgt spid="117248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72482">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72482">
                                            <p:txEl>
                                              <p:pRg st="5" end="5"/>
                                            </p:txEl>
                                          </p:spTgt>
                                        </p:tgtEl>
                                        <p:attrNameLst>
                                          <p:attrName>style.visibility</p:attrName>
                                        </p:attrNameLst>
                                      </p:cBhvr>
                                      <p:to>
                                        <p:strVal val="visible"/>
                                      </p:to>
                                    </p:set>
                                    <p:anim calcmode="lin" valueType="num">
                                      <p:cBhvr additive="base">
                                        <p:cTn id="37" dur="500" fill="hold"/>
                                        <p:tgtEl>
                                          <p:spTgt spid="117248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72482">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172482">
                                            <p:txEl>
                                              <p:pRg st="6" end="6"/>
                                            </p:txEl>
                                          </p:spTgt>
                                        </p:tgtEl>
                                        <p:attrNameLst>
                                          <p:attrName>style.visibility</p:attrName>
                                        </p:attrNameLst>
                                      </p:cBhvr>
                                      <p:to>
                                        <p:strVal val="visible"/>
                                      </p:to>
                                    </p:set>
                                    <p:anim calcmode="lin" valueType="num">
                                      <p:cBhvr additive="base">
                                        <p:cTn id="43" dur="500" fill="hold"/>
                                        <p:tgtEl>
                                          <p:spTgt spid="117248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172482">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172483"/>
                                        </p:tgtEl>
                                        <p:attrNameLst>
                                          <p:attrName>style.visibility</p:attrName>
                                        </p:attrNameLst>
                                      </p:cBhvr>
                                      <p:to>
                                        <p:strVal val="visible"/>
                                      </p:to>
                                    </p:set>
                                    <p:anim calcmode="lin" valueType="num">
                                      <p:cBhvr additive="base">
                                        <p:cTn id="49" dur="500" fill="hold"/>
                                        <p:tgtEl>
                                          <p:spTgt spid="1172483"/>
                                        </p:tgtEl>
                                        <p:attrNameLst>
                                          <p:attrName>ppt_x</p:attrName>
                                        </p:attrNameLst>
                                      </p:cBhvr>
                                      <p:tavLst>
                                        <p:tav tm="0">
                                          <p:val>
                                            <p:strVal val="0-#ppt_w/2"/>
                                          </p:val>
                                        </p:tav>
                                        <p:tav tm="100000">
                                          <p:val>
                                            <p:strVal val="#ppt_x"/>
                                          </p:val>
                                        </p:tav>
                                      </p:tavLst>
                                    </p:anim>
                                    <p:anim calcmode="lin" valueType="num">
                                      <p:cBhvr additive="base">
                                        <p:cTn id="50" dur="500" fill="hold"/>
                                        <p:tgtEl>
                                          <p:spTgt spid="117248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172484"/>
                                        </p:tgtEl>
                                        <p:attrNameLst>
                                          <p:attrName>style.visibility</p:attrName>
                                        </p:attrNameLst>
                                      </p:cBhvr>
                                      <p:to>
                                        <p:strVal val="visible"/>
                                      </p:to>
                                    </p:set>
                                    <p:anim calcmode="lin" valueType="num">
                                      <p:cBhvr additive="base">
                                        <p:cTn id="55" dur="500" fill="hold"/>
                                        <p:tgtEl>
                                          <p:spTgt spid="1172484"/>
                                        </p:tgtEl>
                                        <p:attrNameLst>
                                          <p:attrName>ppt_x</p:attrName>
                                        </p:attrNameLst>
                                      </p:cBhvr>
                                      <p:tavLst>
                                        <p:tav tm="0">
                                          <p:val>
                                            <p:strVal val="0-#ppt_w/2"/>
                                          </p:val>
                                        </p:tav>
                                        <p:tav tm="100000">
                                          <p:val>
                                            <p:strVal val="#ppt_x"/>
                                          </p:val>
                                        </p:tav>
                                      </p:tavLst>
                                    </p:anim>
                                    <p:anim calcmode="lin" valueType="num">
                                      <p:cBhvr additive="base">
                                        <p:cTn id="56" dur="500" fill="hold"/>
                                        <p:tgtEl>
                                          <p:spTgt spid="11724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2482" grpId="0" build="p" bldLvl="5" autoUpdateAnimBg="0"/>
      <p:bldP spid="1172483" grpId="0" animBg="1" autoUpdateAnimBg="0"/>
      <p:bldP spid="1172484"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3506" name="Rectangle 2"/>
          <p:cNvSpPr>
            <a:spLocks noGrp="1" noChangeArrowheads="1"/>
          </p:cNvSpPr>
          <p:nvPr>
            <p:ph type="body" idx="4294967295"/>
          </p:nvPr>
        </p:nvSpPr>
        <p:spPr>
          <a:xfrm>
            <a:off x="623392" y="880665"/>
            <a:ext cx="7772400" cy="3700463"/>
          </a:xfrm>
        </p:spPr>
        <p:txBody>
          <a:bodyPr/>
          <a:lstStyle/>
          <a:p>
            <a:pPr>
              <a:buFontTx/>
              <a:buNone/>
            </a:pPr>
            <a:r>
              <a:rPr lang="en-US" altLang="zh-CN" sz="2800" dirty="0">
                <a:solidFill>
                  <a:srgbClr val="C00000"/>
                </a:solidFill>
                <a:effectLst/>
                <a:ea typeface="楷体" pitchFamily="49" charset="-122"/>
              </a:rPr>
              <a:t>3</a:t>
            </a:r>
            <a:r>
              <a:rPr lang="zh-CN" altLang="en-US" sz="2800" dirty="0">
                <a:solidFill>
                  <a:srgbClr val="C00000"/>
                </a:solidFill>
                <a:effectLst/>
                <a:ea typeface="楷体" pitchFamily="49" charset="-122"/>
              </a:rPr>
              <a:t>、字符串与数组关</a:t>
            </a:r>
          </a:p>
          <a:p>
            <a:pPr lvl="1">
              <a:buClr>
                <a:srgbClr val="C00000"/>
              </a:buClr>
              <a:buFont typeface="Wingdings" pitchFamily="2" charset="2"/>
              <a:buChar char="ü"/>
            </a:pPr>
            <a:r>
              <a:rPr lang="zh-CN" altLang="en-US" sz="2400" dirty="0">
                <a:effectLst/>
                <a:ea typeface="楷体" pitchFamily="49" charset="-122"/>
              </a:rPr>
              <a:t>字符串用一维字符数组存放</a:t>
            </a:r>
            <a:endParaRPr lang="en-US" altLang="zh-CN" sz="2400" dirty="0">
              <a:effectLst/>
              <a:ea typeface="楷体" pitchFamily="49" charset="-122"/>
            </a:endParaRPr>
          </a:p>
          <a:p>
            <a:pPr lvl="1">
              <a:buClr>
                <a:srgbClr val="C00000"/>
              </a:buClr>
              <a:buFont typeface="Wingdings" pitchFamily="2" charset="2"/>
              <a:buChar char="ü"/>
            </a:pPr>
            <a:endParaRPr lang="zh-CN" altLang="en-US" sz="2400" dirty="0">
              <a:effectLst/>
              <a:ea typeface="楷体" pitchFamily="49" charset="-122"/>
            </a:endParaRPr>
          </a:p>
          <a:p>
            <a:pPr lvl="1">
              <a:buClr>
                <a:srgbClr val="C00000"/>
              </a:buClr>
              <a:buFont typeface="Wingdings" pitchFamily="2" charset="2"/>
              <a:buChar char="ü"/>
            </a:pPr>
            <a:r>
              <a:rPr lang="zh-CN" altLang="en-US" sz="2400" dirty="0">
                <a:effectLst/>
                <a:ea typeface="楷体" pitchFamily="49" charset="-122"/>
              </a:rPr>
              <a:t>字符数组具有一维数组的所有特点</a:t>
            </a:r>
          </a:p>
          <a:p>
            <a:pPr lvl="2">
              <a:buFont typeface="Wingdings" pitchFamily="2" charset="2"/>
              <a:buChar char="l"/>
            </a:pPr>
            <a:r>
              <a:rPr lang="zh-CN" altLang="en-US" sz="2000" dirty="0">
                <a:effectLst/>
                <a:ea typeface="楷体" pitchFamily="49" charset="-122"/>
              </a:rPr>
              <a:t>数组名是指向数组首地址的地址常量</a:t>
            </a:r>
          </a:p>
          <a:p>
            <a:pPr lvl="2">
              <a:buFont typeface="Wingdings" pitchFamily="2" charset="2"/>
              <a:buChar char="l"/>
            </a:pPr>
            <a:r>
              <a:rPr lang="zh-CN" altLang="en-US" sz="2000" dirty="0">
                <a:effectLst/>
                <a:ea typeface="楷体" pitchFamily="49" charset="-122"/>
              </a:rPr>
              <a:t>数组元素的引用方法可用指针法和下标法</a:t>
            </a:r>
          </a:p>
          <a:p>
            <a:pPr lvl="2">
              <a:buFont typeface="Wingdings" pitchFamily="2" charset="2"/>
              <a:buChar char="l"/>
            </a:pPr>
            <a:r>
              <a:rPr lang="zh-CN" altLang="en-US" sz="2000" dirty="0">
                <a:effectLst/>
                <a:ea typeface="楷体" pitchFamily="49" charset="-122"/>
              </a:rPr>
              <a:t>数组名作函数参数是地址传递等</a:t>
            </a:r>
            <a:endParaRPr lang="en-US" altLang="zh-CN" sz="2000" dirty="0">
              <a:effectLst/>
              <a:ea typeface="楷体" pitchFamily="49" charset="-122"/>
            </a:endParaRPr>
          </a:p>
          <a:p>
            <a:pPr marL="914400" lvl="2" indent="0">
              <a:buNone/>
            </a:pPr>
            <a:endParaRPr lang="zh-CN" altLang="en-US" sz="2000" dirty="0">
              <a:effectLst/>
              <a:ea typeface="楷体" pitchFamily="49" charset="-122"/>
            </a:endParaRPr>
          </a:p>
          <a:p>
            <a:pPr lvl="1">
              <a:buClr>
                <a:srgbClr val="C00000"/>
              </a:buClr>
              <a:buFont typeface="Wingdings" pitchFamily="2" charset="2"/>
              <a:buChar char="ü"/>
            </a:pPr>
            <a:r>
              <a:rPr lang="zh-CN" altLang="en-US" sz="2400" dirty="0">
                <a:effectLst/>
                <a:ea typeface="楷体" pitchFamily="49" charset="-122"/>
              </a:rPr>
              <a:t>区别</a:t>
            </a:r>
          </a:p>
          <a:p>
            <a:pPr lvl="2">
              <a:buFont typeface="Wingdings" pitchFamily="2" charset="2"/>
              <a:buChar char="l"/>
            </a:pPr>
            <a:r>
              <a:rPr lang="zh-CN" altLang="en-US" sz="2000" dirty="0">
                <a:effectLst/>
                <a:ea typeface="楷体" pitchFamily="49" charset="-122"/>
              </a:rPr>
              <a:t>存储格式：字符串结束标志</a:t>
            </a:r>
          </a:p>
          <a:p>
            <a:pPr lvl="2">
              <a:buFont typeface="Wingdings" pitchFamily="2" charset="2"/>
              <a:buChar char="l"/>
            </a:pPr>
            <a:r>
              <a:rPr lang="zh-CN" altLang="en-US" sz="2000" dirty="0">
                <a:effectLst/>
                <a:ea typeface="楷体" pitchFamily="49" charset="-122"/>
              </a:rPr>
              <a:t>赋值方式与初始化</a:t>
            </a:r>
          </a:p>
          <a:p>
            <a:pPr lvl="2">
              <a:buFont typeface="Wingdings" pitchFamily="2" charset="2"/>
              <a:buChar char="l"/>
            </a:pPr>
            <a:r>
              <a:rPr lang="zh-CN" altLang="en-US" sz="2000" dirty="0">
                <a:effectLst/>
                <a:ea typeface="楷体" pitchFamily="49" charset="-122"/>
              </a:rPr>
              <a:t>输入输出方式：</a:t>
            </a:r>
            <a:r>
              <a:rPr lang="en-US" altLang="zh-CN" sz="2000" dirty="0">
                <a:effectLst/>
                <a:ea typeface="楷体" pitchFamily="49" charset="-122"/>
              </a:rPr>
              <a:t>%s  %c</a:t>
            </a:r>
          </a:p>
        </p:txBody>
      </p:sp>
      <p:sp>
        <p:nvSpPr>
          <p:cNvPr id="1173507" name="Text Box 3" descr="信纸"/>
          <p:cNvSpPr txBox="1">
            <a:spLocks noChangeArrowheads="1"/>
          </p:cNvSpPr>
          <p:nvPr/>
        </p:nvSpPr>
        <p:spPr bwMode="auto">
          <a:xfrm>
            <a:off x="6545537" y="1019317"/>
            <a:ext cx="5383112" cy="2308324"/>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en-US" altLang="zh-CN" dirty="0">
                <a:ea typeface="宋体" pitchFamily="2" charset="-122"/>
              </a:rPr>
              <a:t>char   str[] = {</a:t>
            </a:r>
            <a:r>
              <a:rPr lang="en-US" altLang="zh-CN" dirty="0"/>
              <a:t>"</a:t>
            </a:r>
            <a:r>
              <a:rPr lang="en-US" altLang="zh-CN" dirty="0">
                <a:ea typeface="宋体" pitchFamily="2" charset="-122"/>
              </a:rPr>
              <a:t>Hello!</a:t>
            </a:r>
            <a:r>
              <a:rPr lang="en-US" altLang="zh-CN" dirty="0"/>
              <a:t>"</a:t>
            </a:r>
            <a:r>
              <a:rPr lang="en-US" altLang="zh-CN" dirty="0">
                <a:ea typeface="宋体" pitchFamily="2" charset="-122"/>
              </a:rPr>
              <a:t>};                    (</a:t>
            </a:r>
            <a:r>
              <a:rPr lang="en-US" altLang="zh-CN" dirty="0">
                <a:solidFill>
                  <a:srgbClr val="002060"/>
                </a:solidFill>
                <a:ea typeface="宋体" pitchFamily="2" charset="-122"/>
                <a:sym typeface="Symbol" pitchFamily="18" charset="2"/>
              </a:rPr>
              <a:t></a:t>
            </a:r>
            <a:r>
              <a:rPr lang="en-US" altLang="zh-CN" dirty="0">
                <a:ea typeface="宋体" pitchFamily="2" charset="-122"/>
                <a:sym typeface="Symbol" pitchFamily="18" charset="2"/>
              </a:rPr>
              <a:t>)</a:t>
            </a:r>
          </a:p>
          <a:p>
            <a:pPr>
              <a:lnSpc>
                <a:spcPct val="100000"/>
              </a:lnSpc>
              <a:spcBef>
                <a:spcPct val="0"/>
              </a:spcBef>
            </a:pPr>
            <a:r>
              <a:rPr lang="en-US" altLang="zh-CN" dirty="0">
                <a:ea typeface="宋体" pitchFamily="2" charset="-122"/>
                <a:sym typeface="Symbol" pitchFamily="18" charset="2"/>
              </a:rPr>
              <a:t>char   str[] = </a:t>
            </a:r>
            <a:r>
              <a:rPr lang="en-US" altLang="zh-CN" dirty="0"/>
              <a:t>"</a:t>
            </a:r>
            <a:r>
              <a:rPr lang="en-US" altLang="zh-CN" dirty="0">
                <a:ea typeface="宋体" pitchFamily="2" charset="-122"/>
                <a:sym typeface="Symbol" pitchFamily="18" charset="2"/>
              </a:rPr>
              <a:t>Hello!</a:t>
            </a:r>
            <a:r>
              <a:rPr lang="en-US" altLang="zh-CN" dirty="0"/>
              <a:t>"</a:t>
            </a:r>
            <a:r>
              <a:rPr lang="en-US" altLang="zh-CN" dirty="0">
                <a:ea typeface="宋体" pitchFamily="2" charset="-122"/>
                <a:sym typeface="Symbol" pitchFamily="18" charset="2"/>
              </a:rPr>
              <a:t>;</a:t>
            </a:r>
            <a:r>
              <a:rPr lang="en-US" altLang="zh-CN" dirty="0">
                <a:ea typeface="宋体" pitchFamily="2" charset="-122"/>
              </a:rPr>
              <a:t>                       (</a:t>
            </a:r>
            <a:r>
              <a:rPr lang="en-US" altLang="zh-CN" dirty="0">
                <a:solidFill>
                  <a:srgbClr val="002060"/>
                </a:solidFill>
                <a:sym typeface="Symbol" pitchFamily="18" charset="2"/>
              </a:rPr>
              <a:t></a:t>
            </a:r>
            <a:r>
              <a:rPr lang="en-US" altLang="zh-CN" dirty="0">
                <a:ea typeface="宋体" pitchFamily="2" charset="-122"/>
                <a:sym typeface="Symbol" pitchFamily="18" charset="2"/>
              </a:rPr>
              <a:t>)</a:t>
            </a:r>
          </a:p>
          <a:p>
            <a:pPr>
              <a:lnSpc>
                <a:spcPct val="100000"/>
              </a:lnSpc>
              <a:spcBef>
                <a:spcPct val="0"/>
              </a:spcBef>
            </a:pPr>
            <a:r>
              <a:rPr lang="en-US" altLang="zh-CN" dirty="0">
                <a:ea typeface="宋体" pitchFamily="2" charset="-122"/>
                <a:sym typeface="Symbol" pitchFamily="18" charset="2"/>
              </a:rPr>
              <a:t>char  str[] = {</a:t>
            </a:r>
            <a:r>
              <a:rPr lang="en-US" altLang="zh-CN" dirty="0"/>
              <a:t>'</a:t>
            </a:r>
            <a:r>
              <a:rPr lang="en-US" altLang="zh-CN" dirty="0">
                <a:ea typeface="宋体" pitchFamily="2" charset="-122"/>
                <a:sym typeface="Symbol" pitchFamily="18" charset="2"/>
              </a:rPr>
              <a:t>H</a:t>
            </a:r>
            <a:r>
              <a:rPr lang="en-US" altLang="zh-CN" dirty="0"/>
              <a:t>'</a:t>
            </a:r>
            <a:r>
              <a:rPr lang="en-US" altLang="zh-CN" dirty="0">
                <a:ea typeface="宋体" pitchFamily="2" charset="-122"/>
                <a:sym typeface="Symbol" pitchFamily="18" charset="2"/>
              </a:rPr>
              <a:t>,</a:t>
            </a:r>
            <a:r>
              <a:rPr lang="en-US" altLang="zh-CN" dirty="0"/>
              <a:t> '</a:t>
            </a:r>
            <a:r>
              <a:rPr lang="en-US" altLang="zh-CN" dirty="0">
                <a:ea typeface="宋体" pitchFamily="2" charset="-122"/>
                <a:sym typeface="Symbol" pitchFamily="18" charset="2"/>
              </a:rPr>
              <a:t>e</a:t>
            </a:r>
            <a:r>
              <a:rPr lang="en-US" altLang="zh-CN" dirty="0"/>
              <a:t>'</a:t>
            </a:r>
            <a:r>
              <a:rPr lang="en-US" altLang="zh-CN" dirty="0">
                <a:ea typeface="宋体" pitchFamily="2" charset="-122"/>
                <a:sym typeface="Symbol" pitchFamily="18" charset="2"/>
              </a:rPr>
              <a:t>,</a:t>
            </a:r>
            <a:r>
              <a:rPr lang="en-US" altLang="zh-CN" dirty="0"/>
              <a:t> '</a:t>
            </a:r>
            <a:r>
              <a:rPr lang="en-US" altLang="zh-CN" dirty="0">
                <a:ea typeface="宋体" pitchFamily="2" charset="-122"/>
                <a:sym typeface="Symbol" pitchFamily="18" charset="2"/>
              </a:rPr>
              <a:t>l</a:t>
            </a:r>
            <a:r>
              <a:rPr lang="en-US" altLang="zh-CN" dirty="0"/>
              <a:t>'</a:t>
            </a:r>
            <a:r>
              <a:rPr lang="en-US" altLang="zh-CN" dirty="0">
                <a:ea typeface="宋体" pitchFamily="2" charset="-122"/>
                <a:sym typeface="Symbol" pitchFamily="18" charset="2"/>
              </a:rPr>
              <a:t>,</a:t>
            </a:r>
            <a:r>
              <a:rPr lang="en-US" altLang="zh-CN" dirty="0"/>
              <a:t> '</a:t>
            </a:r>
            <a:r>
              <a:rPr lang="en-US" altLang="zh-CN" dirty="0">
                <a:ea typeface="宋体" pitchFamily="2" charset="-122"/>
                <a:sym typeface="Symbol" pitchFamily="18" charset="2"/>
              </a:rPr>
              <a:t>l</a:t>
            </a:r>
            <a:r>
              <a:rPr lang="en-US" altLang="zh-CN" dirty="0"/>
              <a:t>'</a:t>
            </a:r>
            <a:r>
              <a:rPr lang="en-US" altLang="zh-CN" dirty="0">
                <a:ea typeface="宋体" pitchFamily="2" charset="-122"/>
                <a:sym typeface="Symbol" pitchFamily="18" charset="2"/>
              </a:rPr>
              <a:t>,</a:t>
            </a:r>
            <a:r>
              <a:rPr lang="en-US" altLang="zh-CN" dirty="0"/>
              <a:t> '</a:t>
            </a:r>
            <a:r>
              <a:rPr lang="en-US" altLang="zh-CN" dirty="0">
                <a:ea typeface="宋体" pitchFamily="2" charset="-122"/>
                <a:sym typeface="Symbol" pitchFamily="18" charset="2"/>
              </a:rPr>
              <a:t>o</a:t>
            </a:r>
            <a:r>
              <a:rPr lang="en-US" altLang="zh-CN" dirty="0"/>
              <a:t>'</a:t>
            </a:r>
            <a:r>
              <a:rPr lang="en-US" altLang="zh-CN" dirty="0">
                <a:ea typeface="宋体" pitchFamily="2" charset="-122"/>
                <a:sym typeface="Symbol" pitchFamily="18" charset="2"/>
              </a:rPr>
              <a:t>,</a:t>
            </a:r>
            <a:r>
              <a:rPr lang="en-US" altLang="zh-CN" dirty="0"/>
              <a:t> '</a:t>
            </a:r>
            <a:r>
              <a:rPr lang="en-US" altLang="zh-CN" dirty="0">
                <a:ea typeface="宋体" pitchFamily="2" charset="-122"/>
                <a:sym typeface="Symbol" pitchFamily="18" charset="2"/>
              </a:rPr>
              <a:t>!</a:t>
            </a:r>
            <a:r>
              <a:rPr lang="en-US" altLang="zh-CN" dirty="0"/>
              <a:t>'</a:t>
            </a:r>
            <a:r>
              <a:rPr lang="en-US" altLang="zh-CN" dirty="0">
                <a:ea typeface="宋体" pitchFamily="2" charset="-122"/>
                <a:sym typeface="Symbol" pitchFamily="18" charset="2"/>
              </a:rPr>
              <a:t>};  </a:t>
            </a:r>
            <a:r>
              <a:rPr lang="en-US" altLang="zh-CN" dirty="0">
                <a:ea typeface="宋体" pitchFamily="2" charset="-122"/>
              </a:rPr>
              <a:t>(</a:t>
            </a:r>
            <a:r>
              <a:rPr lang="en-US" altLang="zh-CN" dirty="0">
                <a:solidFill>
                  <a:srgbClr val="002060"/>
                </a:solidFill>
                <a:sym typeface="Symbol" pitchFamily="18" charset="2"/>
              </a:rPr>
              <a:t></a:t>
            </a:r>
            <a:r>
              <a:rPr lang="en-US" altLang="zh-CN" dirty="0">
                <a:ea typeface="宋体" pitchFamily="2" charset="-122"/>
                <a:sym typeface="Symbol" pitchFamily="18" charset="2"/>
              </a:rPr>
              <a:t>)</a:t>
            </a:r>
          </a:p>
          <a:p>
            <a:pPr>
              <a:lnSpc>
                <a:spcPct val="100000"/>
              </a:lnSpc>
              <a:spcBef>
                <a:spcPct val="0"/>
              </a:spcBef>
            </a:pPr>
            <a:r>
              <a:rPr lang="en-US" altLang="zh-CN" dirty="0">
                <a:ea typeface="宋体" pitchFamily="2" charset="-122"/>
                <a:sym typeface="Symbol" pitchFamily="18" charset="2"/>
              </a:rPr>
              <a:t>char   *cp = </a:t>
            </a:r>
            <a:r>
              <a:rPr lang="en-US" altLang="zh-CN" dirty="0"/>
              <a:t>"</a:t>
            </a:r>
            <a:r>
              <a:rPr lang="en-US" altLang="zh-CN" dirty="0">
                <a:ea typeface="宋体" pitchFamily="2" charset="-122"/>
                <a:sym typeface="Symbol" pitchFamily="18" charset="2"/>
              </a:rPr>
              <a:t>Hello</a:t>
            </a:r>
            <a:r>
              <a:rPr lang="en-US" altLang="zh-CN" dirty="0"/>
              <a:t>"</a:t>
            </a:r>
            <a:r>
              <a:rPr lang="en-US" altLang="zh-CN" dirty="0">
                <a:ea typeface="宋体" pitchFamily="2" charset="-122"/>
                <a:sym typeface="Symbol" pitchFamily="18" charset="2"/>
              </a:rPr>
              <a:t>;                          </a:t>
            </a:r>
            <a:r>
              <a:rPr lang="en-US" altLang="zh-CN" dirty="0">
                <a:ea typeface="宋体" pitchFamily="2" charset="-122"/>
              </a:rPr>
              <a:t>(</a:t>
            </a:r>
            <a:r>
              <a:rPr lang="en-US" altLang="zh-CN" dirty="0">
                <a:solidFill>
                  <a:srgbClr val="002060"/>
                </a:solidFill>
                <a:sym typeface="Symbol" pitchFamily="18" charset="2"/>
              </a:rPr>
              <a:t></a:t>
            </a:r>
            <a:r>
              <a:rPr lang="en-US" altLang="zh-CN" dirty="0">
                <a:ea typeface="宋体" pitchFamily="2" charset="-122"/>
                <a:sym typeface="Symbol" pitchFamily="18" charset="2"/>
              </a:rPr>
              <a:t>)</a:t>
            </a:r>
          </a:p>
          <a:p>
            <a:pPr>
              <a:lnSpc>
                <a:spcPct val="100000"/>
              </a:lnSpc>
              <a:spcBef>
                <a:spcPct val="0"/>
              </a:spcBef>
            </a:pPr>
            <a:r>
              <a:rPr lang="en-US" altLang="zh-CN" dirty="0">
                <a:ea typeface="宋体" pitchFamily="2" charset="-122"/>
                <a:sym typeface="Symbol" pitchFamily="18" charset="2"/>
              </a:rPr>
              <a:t>int    a[] = {1,2,3,4,5};                          </a:t>
            </a:r>
            <a:r>
              <a:rPr lang="en-US" altLang="zh-CN" dirty="0">
                <a:ea typeface="宋体" pitchFamily="2" charset="-122"/>
              </a:rPr>
              <a:t>(</a:t>
            </a:r>
            <a:r>
              <a:rPr lang="en-US" altLang="zh-CN" dirty="0">
                <a:solidFill>
                  <a:srgbClr val="002060"/>
                </a:solidFill>
                <a:ea typeface="宋体" pitchFamily="2" charset="-122"/>
                <a:sym typeface="Symbol" pitchFamily="18" charset="2"/>
              </a:rPr>
              <a:t></a:t>
            </a:r>
            <a:r>
              <a:rPr lang="en-US" altLang="zh-CN" dirty="0">
                <a:ea typeface="宋体" pitchFamily="2" charset="-122"/>
                <a:sym typeface="Symbol" pitchFamily="18" charset="2"/>
              </a:rPr>
              <a:t>)</a:t>
            </a:r>
          </a:p>
          <a:p>
            <a:pPr>
              <a:lnSpc>
                <a:spcPct val="100000"/>
              </a:lnSpc>
              <a:spcBef>
                <a:spcPct val="0"/>
              </a:spcBef>
            </a:pPr>
            <a:r>
              <a:rPr lang="en-US" altLang="zh-CN" dirty="0">
                <a:ea typeface="宋体" pitchFamily="2" charset="-122"/>
                <a:sym typeface="Symbol" pitchFamily="18" charset="2"/>
              </a:rPr>
              <a:t>int   *p = {1,2,3,4,5};                           (</a:t>
            </a:r>
            <a:r>
              <a:rPr lang="en-US" altLang="zh-CN" dirty="0">
                <a:solidFill>
                  <a:srgbClr val="C00000"/>
                </a:solidFill>
                <a:ea typeface="宋体" pitchFamily="2" charset="-122"/>
                <a:sym typeface="Symbol" pitchFamily="18" charset="2"/>
              </a:rPr>
              <a:t></a:t>
            </a:r>
            <a:r>
              <a:rPr lang="en-US" altLang="zh-CN" dirty="0">
                <a:ea typeface="宋体" pitchFamily="2" charset="-122"/>
                <a:sym typeface="Symbol" pitchFamily="18" charset="2"/>
              </a:rPr>
              <a:t>)</a:t>
            </a:r>
          </a:p>
        </p:txBody>
      </p:sp>
      <p:sp>
        <p:nvSpPr>
          <p:cNvPr id="1173508" name="Text Box 4" descr="信纸"/>
          <p:cNvSpPr txBox="1">
            <a:spLocks noChangeArrowheads="1"/>
          </p:cNvSpPr>
          <p:nvPr/>
        </p:nvSpPr>
        <p:spPr bwMode="auto">
          <a:xfrm>
            <a:off x="5185438" y="4205820"/>
            <a:ext cx="3464614" cy="2308324"/>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en-US" altLang="zh-CN" dirty="0">
                <a:ea typeface="宋体" pitchFamily="2" charset="-122"/>
              </a:rPr>
              <a:t>char   </a:t>
            </a:r>
            <a:r>
              <a:rPr lang="en-US" altLang="zh-CN" dirty="0" err="1">
                <a:ea typeface="宋体" pitchFamily="2" charset="-122"/>
              </a:rPr>
              <a:t>str</a:t>
            </a:r>
            <a:r>
              <a:rPr lang="en-US" altLang="zh-CN" dirty="0">
                <a:ea typeface="宋体" pitchFamily="2" charset="-122"/>
              </a:rPr>
              <a:t>[10],*cp;</a:t>
            </a:r>
          </a:p>
          <a:p>
            <a:pPr>
              <a:lnSpc>
                <a:spcPct val="100000"/>
              </a:lnSpc>
              <a:spcBef>
                <a:spcPct val="0"/>
              </a:spcBef>
            </a:pPr>
            <a:r>
              <a:rPr lang="en-US" altLang="zh-CN" dirty="0" err="1">
                <a:ea typeface="宋体" pitchFamily="2" charset="-122"/>
              </a:rPr>
              <a:t>int</a:t>
            </a:r>
            <a:r>
              <a:rPr lang="en-US" altLang="zh-CN" dirty="0">
                <a:ea typeface="宋体" pitchFamily="2" charset="-122"/>
              </a:rPr>
              <a:t>    a[10], *p;</a:t>
            </a:r>
          </a:p>
          <a:p>
            <a:pPr>
              <a:lnSpc>
                <a:spcPct val="100000"/>
              </a:lnSpc>
              <a:spcBef>
                <a:spcPct val="0"/>
              </a:spcBef>
            </a:pPr>
            <a:r>
              <a:rPr lang="en-US" altLang="zh-CN" dirty="0">
                <a:ea typeface="宋体" pitchFamily="2" charset="-122"/>
              </a:rPr>
              <a:t>str = </a:t>
            </a:r>
            <a:r>
              <a:rPr lang="en-US" altLang="zh-CN" dirty="0"/>
              <a:t>"</a:t>
            </a:r>
            <a:r>
              <a:rPr lang="en-US" altLang="zh-CN" dirty="0">
                <a:ea typeface="宋体" pitchFamily="2" charset="-122"/>
              </a:rPr>
              <a:t>Hello</a:t>
            </a:r>
            <a:r>
              <a:rPr lang="en-US" altLang="zh-CN" dirty="0"/>
              <a:t>"</a:t>
            </a:r>
            <a:r>
              <a:rPr lang="en-US" altLang="zh-CN" dirty="0">
                <a:ea typeface="宋体" pitchFamily="2" charset="-122"/>
              </a:rPr>
              <a:t>;        (</a:t>
            </a:r>
            <a:r>
              <a:rPr lang="en-US" altLang="zh-CN" dirty="0">
                <a:solidFill>
                  <a:srgbClr val="C00000"/>
                </a:solidFill>
                <a:sym typeface="Symbol" pitchFamily="18" charset="2"/>
              </a:rPr>
              <a:t></a:t>
            </a:r>
            <a:r>
              <a:rPr lang="en-US" altLang="zh-CN" dirty="0">
                <a:ea typeface="宋体" pitchFamily="2" charset="-122"/>
                <a:sym typeface="Symbol" pitchFamily="18" charset="2"/>
              </a:rPr>
              <a:t>)</a:t>
            </a:r>
          </a:p>
          <a:p>
            <a:pPr>
              <a:lnSpc>
                <a:spcPct val="100000"/>
              </a:lnSpc>
              <a:spcBef>
                <a:spcPct val="0"/>
              </a:spcBef>
            </a:pPr>
            <a:r>
              <a:rPr lang="en-US" altLang="zh-CN" dirty="0">
                <a:ea typeface="宋体" pitchFamily="2" charset="-122"/>
                <a:sym typeface="Symbol" pitchFamily="18" charset="2"/>
              </a:rPr>
              <a:t>cp = </a:t>
            </a:r>
            <a:r>
              <a:rPr lang="en-US" altLang="zh-CN" dirty="0"/>
              <a:t>"</a:t>
            </a:r>
            <a:r>
              <a:rPr lang="en-US" altLang="zh-CN" dirty="0">
                <a:ea typeface="宋体" pitchFamily="2" charset="-122"/>
                <a:sym typeface="Symbol" pitchFamily="18" charset="2"/>
              </a:rPr>
              <a:t>Hello!</a:t>
            </a:r>
            <a:r>
              <a:rPr lang="en-US" altLang="zh-CN" dirty="0"/>
              <a:t>"</a:t>
            </a:r>
            <a:r>
              <a:rPr lang="en-US" altLang="zh-CN" dirty="0">
                <a:ea typeface="宋体" pitchFamily="2" charset="-122"/>
                <a:sym typeface="Symbol" pitchFamily="18" charset="2"/>
              </a:rPr>
              <a:t>;       </a:t>
            </a:r>
            <a:r>
              <a:rPr lang="en-US" altLang="zh-CN" dirty="0">
                <a:ea typeface="宋体" pitchFamily="2" charset="-122"/>
              </a:rPr>
              <a:t>(</a:t>
            </a:r>
            <a:r>
              <a:rPr lang="en-US" altLang="zh-CN" dirty="0">
                <a:solidFill>
                  <a:srgbClr val="002060"/>
                </a:solidFill>
                <a:ea typeface="宋体" pitchFamily="2" charset="-122"/>
                <a:sym typeface="Symbol" pitchFamily="18" charset="2"/>
              </a:rPr>
              <a:t></a:t>
            </a:r>
            <a:r>
              <a:rPr lang="en-US" altLang="zh-CN" dirty="0">
                <a:ea typeface="宋体" pitchFamily="2" charset="-122"/>
                <a:sym typeface="Symbol" pitchFamily="18" charset="2"/>
              </a:rPr>
              <a:t>)</a:t>
            </a:r>
          </a:p>
          <a:p>
            <a:pPr>
              <a:lnSpc>
                <a:spcPct val="100000"/>
              </a:lnSpc>
              <a:spcBef>
                <a:spcPct val="0"/>
              </a:spcBef>
            </a:pPr>
            <a:r>
              <a:rPr lang="en-US" altLang="zh-CN" dirty="0">
                <a:ea typeface="宋体" pitchFamily="2" charset="-122"/>
                <a:sym typeface="Symbol" pitchFamily="18" charset="2"/>
              </a:rPr>
              <a:t>a = {1,2,3,4,5};      </a:t>
            </a:r>
            <a:r>
              <a:rPr lang="en-US" altLang="zh-CN" dirty="0">
                <a:ea typeface="宋体" pitchFamily="2" charset="-122"/>
              </a:rPr>
              <a:t>(</a:t>
            </a:r>
            <a:r>
              <a:rPr lang="en-US" altLang="zh-CN" dirty="0">
                <a:solidFill>
                  <a:srgbClr val="C00000"/>
                </a:solidFill>
                <a:sym typeface="Symbol" pitchFamily="18" charset="2"/>
              </a:rPr>
              <a:t></a:t>
            </a:r>
            <a:r>
              <a:rPr lang="en-US" altLang="zh-CN" dirty="0">
                <a:ea typeface="宋体" pitchFamily="2" charset="-122"/>
                <a:sym typeface="Symbol" pitchFamily="18" charset="2"/>
              </a:rPr>
              <a:t>)</a:t>
            </a:r>
          </a:p>
          <a:p>
            <a:pPr>
              <a:lnSpc>
                <a:spcPct val="100000"/>
              </a:lnSpc>
              <a:spcBef>
                <a:spcPct val="0"/>
              </a:spcBef>
            </a:pPr>
            <a:r>
              <a:rPr lang="en-US" altLang="zh-CN" dirty="0">
                <a:ea typeface="宋体" pitchFamily="2" charset="-122"/>
                <a:sym typeface="Symbol" pitchFamily="18" charset="2"/>
              </a:rPr>
              <a:t>p = {1,2,3,4,5};      </a:t>
            </a:r>
            <a:r>
              <a:rPr lang="en-US" altLang="zh-CN" dirty="0">
                <a:ea typeface="宋体" pitchFamily="2" charset="-122"/>
              </a:rPr>
              <a:t>(</a:t>
            </a:r>
            <a:r>
              <a:rPr lang="en-US" altLang="zh-CN" dirty="0">
                <a:solidFill>
                  <a:srgbClr val="C00000"/>
                </a:solidFill>
                <a:sym typeface="Symbol" pitchFamily="18" charset="2"/>
              </a:rPr>
              <a:t></a:t>
            </a:r>
            <a:r>
              <a:rPr lang="en-US" altLang="zh-CN" dirty="0">
                <a:ea typeface="宋体" pitchFamily="2" charset="-122"/>
                <a:sym typeface="Symbol" pitchFamily="18" charset="2"/>
              </a:rPr>
              <a:t>)</a:t>
            </a:r>
          </a:p>
        </p:txBody>
      </p:sp>
      <p:sp>
        <p:nvSpPr>
          <p:cNvPr id="1173509" name="Text Box 5" descr="信纸"/>
          <p:cNvSpPr txBox="1">
            <a:spLocks noChangeArrowheads="1"/>
          </p:cNvSpPr>
          <p:nvPr/>
        </p:nvSpPr>
        <p:spPr bwMode="auto">
          <a:xfrm>
            <a:off x="8904312" y="4186353"/>
            <a:ext cx="3024337"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en-US" altLang="zh-CN" dirty="0" err="1">
                <a:ea typeface="宋体" pitchFamily="2" charset="-122"/>
              </a:rPr>
              <a:t>scanf</a:t>
            </a:r>
            <a:r>
              <a:rPr lang="en-US" altLang="zh-CN" dirty="0">
                <a:ea typeface="宋体" pitchFamily="2" charset="-122"/>
              </a:rPr>
              <a:t>(</a:t>
            </a:r>
            <a:r>
              <a:rPr lang="en-US" altLang="zh-CN" dirty="0"/>
              <a:t>"</a:t>
            </a:r>
            <a:r>
              <a:rPr lang="en-US" altLang="zh-CN" dirty="0">
                <a:ea typeface="宋体" pitchFamily="2" charset="-122"/>
              </a:rPr>
              <a:t>%s</a:t>
            </a:r>
            <a:r>
              <a:rPr lang="en-US" altLang="zh-CN" dirty="0"/>
              <a:t>"</a:t>
            </a:r>
            <a:r>
              <a:rPr lang="en-US" altLang="zh-CN" dirty="0">
                <a:ea typeface="宋体" pitchFamily="2" charset="-122"/>
              </a:rPr>
              <a:t>, str);</a:t>
            </a:r>
          </a:p>
          <a:p>
            <a:pPr>
              <a:lnSpc>
                <a:spcPct val="100000"/>
              </a:lnSpc>
              <a:spcBef>
                <a:spcPct val="0"/>
              </a:spcBef>
            </a:pPr>
            <a:r>
              <a:rPr lang="en-US" altLang="zh-CN" dirty="0" err="1">
                <a:ea typeface="宋体" pitchFamily="2" charset="-122"/>
              </a:rPr>
              <a:t>printf</a:t>
            </a:r>
            <a:r>
              <a:rPr lang="en-US" altLang="zh-CN" dirty="0">
                <a:ea typeface="宋体" pitchFamily="2" charset="-122"/>
              </a:rPr>
              <a:t>(</a:t>
            </a:r>
            <a:r>
              <a:rPr lang="en-US" altLang="zh-CN" dirty="0"/>
              <a:t>"</a:t>
            </a:r>
            <a:r>
              <a:rPr lang="en-US" altLang="zh-CN" dirty="0">
                <a:ea typeface="宋体" pitchFamily="2" charset="-122"/>
              </a:rPr>
              <a:t>%s</a:t>
            </a:r>
            <a:r>
              <a:rPr lang="en-US" altLang="zh-CN" dirty="0"/>
              <a:t>"</a:t>
            </a:r>
            <a:r>
              <a:rPr lang="en-US" altLang="zh-CN" dirty="0">
                <a:ea typeface="宋体" pitchFamily="2" charset="-122"/>
              </a:rPr>
              <a:t>, str);</a:t>
            </a:r>
          </a:p>
          <a:p>
            <a:pPr>
              <a:lnSpc>
                <a:spcPct val="100000"/>
              </a:lnSpc>
              <a:spcBef>
                <a:spcPct val="0"/>
              </a:spcBef>
            </a:pPr>
            <a:r>
              <a:rPr lang="en-US" altLang="zh-CN" dirty="0">
                <a:ea typeface="宋体" pitchFamily="2" charset="-122"/>
              </a:rPr>
              <a:t>gets(</a:t>
            </a:r>
            <a:r>
              <a:rPr lang="en-US" altLang="zh-CN" dirty="0" err="1">
                <a:ea typeface="宋体" pitchFamily="2" charset="-122"/>
              </a:rPr>
              <a:t>str</a:t>
            </a:r>
            <a:r>
              <a:rPr lang="en-US" altLang="zh-CN" dirty="0">
                <a:ea typeface="宋体" pitchFamily="2" charset="-122"/>
              </a:rPr>
              <a:t>);</a:t>
            </a:r>
          </a:p>
          <a:p>
            <a:pPr>
              <a:lnSpc>
                <a:spcPct val="100000"/>
              </a:lnSpc>
              <a:spcBef>
                <a:spcPct val="0"/>
              </a:spcBef>
            </a:pPr>
            <a:r>
              <a:rPr lang="en-US" altLang="zh-CN" dirty="0">
                <a:ea typeface="宋体" pitchFamily="2" charset="-122"/>
              </a:rPr>
              <a:t>puts(</a:t>
            </a:r>
            <a:r>
              <a:rPr lang="en-US" altLang="zh-CN" dirty="0" err="1">
                <a:ea typeface="宋体" pitchFamily="2" charset="-122"/>
              </a:rPr>
              <a:t>str</a:t>
            </a:r>
            <a:r>
              <a:rPr lang="en-US" altLang="zh-CN" dirty="0">
                <a:ea typeface="宋体" pitchFamily="2" charset="-122"/>
              </a:rPr>
              <a:t>);</a:t>
            </a:r>
          </a:p>
        </p:txBody>
      </p:sp>
      <p:sp>
        <p:nvSpPr>
          <p:cNvPr id="9" name="Rectangle 4">
            <a:extLst>
              <a:ext uri="{FF2B5EF4-FFF2-40B4-BE49-F238E27FC236}">
                <a16:creationId xmlns:a16="http://schemas.microsoft.com/office/drawing/2014/main" id="{DA47FD98-4767-4384-89F9-E38E7246AC1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指针与字符串</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73506">
                                            <p:txEl>
                                              <p:pRg st="0" end="0"/>
                                            </p:txEl>
                                          </p:spTgt>
                                        </p:tgtEl>
                                        <p:attrNameLst>
                                          <p:attrName>style.visibility</p:attrName>
                                        </p:attrNameLst>
                                      </p:cBhvr>
                                      <p:to>
                                        <p:strVal val="visible"/>
                                      </p:to>
                                    </p:set>
                                    <p:animEffect transition="in" filter="box(out)">
                                      <p:cBhvr>
                                        <p:cTn id="7" dur="500"/>
                                        <p:tgtEl>
                                          <p:spTgt spid="117350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73506">
                                            <p:txEl>
                                              <p:pRg st="1" end="1"/>
                                            </p:txEl>
                                          </p:spTgt>
                                        </p:tgtEl>
                                        <p:attrNameLst>
                                          <p:attrName>style.visibility</p:attrName>
                                        </p:attrNameLst>
                                      </p:cBhvr>
                                      <p:to>
                                        <p:strVal val="visible"/>
                                      </p:to>
                                    </p:set>
                                    <p:animEffect transition="in" filter="box(out)">
                                      <p:cBhvr>
                                        <p:cTn id="12" dur="500"/>
                                        <p:tgtEl>
                                          <p:spTgt spid="1173506">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73506">
                                            <p:txEl>
                                              <p:pRg st="3" end="3"/>
                                            </p:txEl>
                                          </p:spTgt>
                                        </p:tgtEl>
                                        <p:attrNameLst>
                                          <p:attrName>style.visibility</p:attrName>
                                        </p:attrNameLst>
                                      </p:cBhvr>
                                      <p:to>
                                        <p:strVal val="visible"/>
                                      </p:to>
                                    </p:set>
                                    <p:animEffect transition="in" filter="box(out)">
                                      <p:cBhvr>
                                        <p:cTn id="17" dur="500"/>
                                        <p:tgtEl>
                                          <p:spTgt spid="1173506">
                                            <p:txEl>
                                              <p:pRg st="3" end="3"/>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73506">
                                            <p:txEl>
                                              <p:pRg st="4" end="4"/>
                                            </p:txEl>
                                          </p:spTgt>
                                        </p:tgtEl>
                                        <p:attrNameLst>
                                          <p:attrName>style.visibility</p:attrName>
                                        </p:attrNameLst>
                                      </p:cBhvr>
                                      <p:to>
                                        <p:strVal val="visible"/>
                                      </p:to>
                                    </p:set>
                                    <p:animEffect transition="in" filter="box(out)">
                                      <p:cBhvr>
                                        <p:cTn id="22" dur="500"/>
                                        <p:tgtEl>
                                          <p:spTgt spid="1173506">
                                            <p:txEl>
                                              <p:pRg st="4" end="4"/>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73506">
                                            <p:txEl>
                                              <p:pRg st="5" end="5"/>
                                            </p:txEl>
                                          </p:spTgt>
                                        </p:tgtEl>
                                        <p:attrNameLst>
                                          <p:attrName>style.visibility</p:attrName>
                                        </p:attrNameLst>
                                      </p:cBhvr>
                                      <p:to>
                                        <p:strVal val="visible"/>
                                      </p:to>
                                    </p:set>
                                    <p:animEffect transition="in" filter="box(out)">
                                      <p:cBhvr>
                                        <p:cTn id="27" dur="500"/>
                                        <p:tgtEl>
                                          <p:spTgt spid="1173506">
                                            <p:txEl>
                                              <p:pRg st="5" end="5"/>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73506">
                                            <p:txEl>
                                              <p:pRg st="6" end="6"/>
                                            </p:txEl>
                                          </p:spTgt>
                                        </p:tgtEl>
                                        <p:attrNameLst>
                                          <p:attrName>style.visibility</p:attrName>
                                        </p:attrNameLst>
                                      </p:cBhvr>
                                      <p:to>
                                        <p:strVal val="visible"/>
                                      </p:to>
                                    </p:set>
                                    <p:animEffect transition="in" filter="box(out)">
                                      <p:cBhvr>
                                        <p:cTn id="32" dur="500"/>
                                        <p:tgtEl>
                                          <p:spTgt spid="1173506">
                                            <p:txEl>
                                              <p:pRg st="6" end="6"/>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173506">
                                            <p:txEl>
                                              <p:pRg st="8" end="8"/>
                                            </p:txEl>
                                          </p:spTgt>
                                        </p:tgtEl>
                                        <p:attrNameLst>
                                          <p:attrName>style.visibility</p:attrName>
                                        </p:attrNameLst>
                                      </p:cBhvr>
                                      <p:to>
                                        <p:strVal val="visible"/>
                                      </p:to>
                                    </p:set>
                                    <p:animEffect transition="in" filter="box(out)">
                                      <p:cBhvr>
                                        <p:cTn id="37" dur="500"/>
                                        <p:tgtEl>
                                          <p:spTgt spid="1173506">
                                            <p:txEl>
                                              <p:pRg st="8" end="8"/>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173506">
                                            <p:txEl>
                                              <p:pRg st="9" end="9"/>
                                            </p:txEl>
                                          </p:spTgt>
                                        </p:tgtEl>
                                        <p:attrNameLst>
                                          <p:attrName>style.visibility</p:attrName>
                                        </p:attrNameLst>
                                      </p:cBhvr>
                                      <p:to>
                                        <p:strVal val="visible"/>
                                      </p:to>
                                    </p:set>
                                    <p:animEffect transition="in" filter="box(out)">
                                      <p:cBhvr>
                                        <p:cTn id="42" dur="500"/>
                                        <p:tgtEl>
                                          <p:spTgt spid="1173506">
                                            <p:txEl>
                                              <p:pRg st="9" end="9"/>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173506">
                                            <p:txEl>
                                              <p:pRg st="10" end="10"/>
                                            </p:txEl>
                                          </p:spTgt>
                                        </p:tgtEl>
                                        <p:attrNameLst>
                                          <p:attrName>style.visibility</p:attrName>
                                        </p:attrNameLst>
                                      </p:cBhvr>
                                      <p:to>
                                        <p:strVal val="visible"/>
                                      </p:to>
                                    </p:set>
                                    <p:animEffect transition="in" filter="box(out)">
                                      <p:cBhvr>
                                        <p:cTn id="47" dur="500"/>
                                        <p:tgtEl>
                                          <p:spTgt spid="1173506">
                                            <p:txEl>
                                              <p:pRg st="10" end="1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173506">
                                            <p:txEl>
                                              <p:pRg st="11" end="11"/>
                                            </p:txEl>
                                          </p:spTgt>
                                        </p:tgtEl>
                                        <p:attrNameLst>
                                          <p:attrName>style.visibility</p:attrName>
                                        </p:attrNameLst>
                                      </p:cBhvr>
                                      <p:to>
                                        <p:strVal val="visible"/>
                                      </p:to>
                                    </p:set>
                                    <p:animEffect transition="in" filter="box(out)">
                                      <p:cBhvr>
                                        <p:cTn id="52" dur="500"/>
                                        <p:tgtEl>
                                          <p:spTgt spid="1173506">
                                            <p:txEl>
                                              <p:pRg st="11" end="11"/>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1173507">
                                            <p:txEl>
                                              <p:pRg st="0" end="0"/>
                                            </p:txEl>
                                          </p:spTgt>
                                        </p:tgtEl>
                                        <p:attrNameLst>
                                          <p:attrName>style.visibility</p:attrName>
                                        </p:attrNameLst>
                                      </p:cBhvr>
                                      <p:to>
                                        <p:strVal val="visible"/>
                                      </p:to>
                                    </p:set>
                                    <p:animEffect transition="in" filter="box(out)">
                                      <p:cBhvr>
                                        <p:cTn id="57" dur="500"/>
                                        <p:tgtEl>
                                          <p:spTgt spid="1173507">
                                            <p:txEl>
                                              <p:pRg st="0" end="0"/>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1173507">
                                            <p:txEl>
                                              <p:pRg st="1" end="1"/>
                                            </p:txEl>
                                          </p:spTgt>
                                        </p:tgtEl>
                                        <p:attrNameLst>
                                          <p:attrName>style.visibility</p:attrName>
                                        </p:attrNameLst>
                                      </p:cBhvr>
                                      <p:to>
                                        <p:strVal val="visible"/>
                                      </p:to>
                                    </p:set>
                                    <p:animEffect transition="in" filter="box(out)">
                                      <p:cBhvr>
                                        <p:cTn id="62" dur="500"/>
                                        <p:tgtEl>
                                          <p:spTgt spid="1173507">
                                            <p:txEl>
                                              <p:pRg st="1" end="1"/>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1173507">
                                            <p:txEl>
                                              <p:pRg st="2" end="2"/>
                                            </p:txEl>
                                          </p:spTgt>
                                        </p:tgtEl>
                                        <p:attrNameLst>
                                          <p:attrName>style.visibility</p:attrName>
                                        </p:attrNameLst>
                                      </p:cBhvr>
                                      <p:to>
                                        <p:strVal val="visible"/>
                                      </p:to>
                                    </p:set>
                                    <p:animEffect transition="in" filter="box(out)">
                                      <p:cBhvr>
                                        <p:cTn id="67" dur="500"/>
                                        <p:tgtEl>
                                          <p:spTgt spid="1173507">
                                            <p:txEl>
                                              <p:pRg st="2" end="2"/>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1173507">
                                            <p:txEl>
                                              <p:pRg st="3" end="3"/>
                                            </p:txEl>
                                          </p:spTgt>
                                        </p:tgtEl>
                                        <p:attrNameLst>
                                          <p:attrName>style.visibility</p:attrName>
                                        </p:attrNameLst>
                                      </p:cBhvr>
                                      <p:to>
                                        <p:strVal val="visible"/>
                                      </p:to>
                                    </p:set>
                                    <p:animEffect transition="in" filter="box(out)">
                                      <p:cBhvr>
                                        <p:cTn id="72" dur="500"/>
                                        <p:tgtEl>
                                          <p:spTgt spid="1173507">
                                            <p:txEl>
                                              <p:pRg st="3" end="3"/>
                                            </p:txEl>
                                          </p:spTgt>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1173507">
                                            <p:txEl>
                                              <p:pRg st="4" end="4"/>
                                            </p:txEl>
                                          </p:spTgt>
                                        </p:tgtEl>
                                        <p:attrNameLst>
                                          <p:attrName>style.visibility</p:attrName>
                                        </p:attrNameLst>
                                      </p:cBhvr>
                                      <p:to>
                                        <p:strVal val="visible"/>
                                      </p:to>
                                    </p:set>
                                    <p:animEffect transition="in" filter="box(out)">
                                      <p:cBhvr>
                                        <p:cTn id="77" dur="500"/>
                                        <p:tgtEl>
                                          <p:spTgt spid="1173507">
                                            <p:txEl>
                                              <p:pRg st="4" end="4"/>
                                            </p:txEl>
                                          </p:spTgt>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1173507">
                                            <p:txEl>
                                              <p:pRg st="5" end="5"/>
                                            </p:txEl>
                                          </p:spTgt>
                                        </p:tgtEl>
                                        <p:attrNameLst>
                                          <p:attrName>style.visibility</p:attrName>
                                        </p:attrNameLst>
                                      </p:cBhvr>
                                      <p:to>
                                        <p:strVal val="visible"/>
                                      </p:to>
                                    </p:set>
                                    <p:animEffect transition="in" filter="box(out)">
                                      <p:cBhvr>
                                        <p:cTn id="82" dur="500"/>
                                        <p:tgtEl>
                                          <p:spTgt spid="1173507">
                                            <p:txEl>
                                              <p:pRg st="5" end="5"/>
                                            </p:txEl>
                                          </p:spTgt>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childTnLst>
                    </p:cTn>
                  </p:par>
                  <p:par>
                    <p:cTn id="83" fill="hold">
                      <p:stCondLst>
                        <p:cond delay="indefinite"/>
                      </p:stCondLst>
                      <p:childTnLst>
                        <p:par>
                          <p:cTn id="84" fill="hold">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1173508">
                                            <p:txEl>
                                              <p:pRg st="0" end="0"/>
                                            </p:txEl>
                                          </p:spTgt>
                                        </p:tgtEl>
                                        <p:attrNameLst>
                                          <p:attrName>style.visibility</p:attrName>
                                        </p:attrNameLst>
                                      </p:cBhvr>
                                      <p:to>
                                        <p:strVal val="visible"/>
                                      </p:to>
                                    </p:set>
                                    <p:animEffect transition="in" filter="box(out)">
                                      <p:cBhvr>
                                        <p:cTn id="87" dur="500"/>
                                        <p:tgtEl>
                                          <p:spTgt spid="1173508">
                                            <p:txEl>
                                              <p:pRg st="0" end="0"/>
                                            </p:txEl>
                                          </p:spTgt>
                                        </p:tgtEl>
                                      </p:cBhvr>
                                    </p:animEffect>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childTnLst>
                    </p:cTn>
                  </p:par>
                  <p:par>
                    <p:cTn id="88" fill="hold">
                      <p:stCondLst>
                        <p:cond delay="indefinite"/>
                      </p:stCondLst>
                      <p:childTnLst>
                        <p:par>
                          <p:cTn id="89" fill="hold">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1173508">
                                            <p:txEl>
                                              <p:pRg st="1" end="1"/>
                                            </p:txEl>
                                          </p:spTgt>
                                        </p:tgtEl>
                                        <p:attrNameLst>
                                          <p:attrName>style.visibility</p:attrName>
                                        </p:attrNameLst>
                                      </p:cBhvr>
                                      <p:to>
                                        <p:strVal val="visible"/>
                                      </p:to>
                                    </p:set>
                                    <p:animEffect transition="in" filter="box(out)">
                                      <p:cBhvr>
                                        <p:cTn id="92" dur="500"/>
                                        <p:tgtEl>
                                          <p:spTgt spid="1173508">
                                            <p:txEl>
                                              <p:pRg st="1" end="1"/>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2" name="CAMERA.WAV"/>
                                        </p:tgtEl>
                                      </p:cMediaNode>
                                    </p:audio>
                                  </p:subTnLst>
                                </p:cTn>
                              </p:par>
                            </p:childTnLst>
                          </p:cTn>
                        </p:par>
                      </p:childTnLst>
                    </p:cTn>
                  </p:par>
                  <p:par>
                    <p:cTn id="93" fill="hold">
                      <p:stCondLst>
                        <p:cond delay="indefinite"/>
                      </p:stCondLst>
                      <p:childTnLst>
                        <p:par>
                          <p:cTn id="94" fill="hold">
                            <p:stCondLst>
                              <p:cond delay="0"/>
                            </p:stCondLst>
                            <p:childTnLst>
                              <p:par>
                                <p:cTn id="95" presetID="4" presetClass="entr" presetSubtype="32" fill="hold" grpId="0" nodeType="clickEffect">
                                  <p:stCondLst>
                                    <p:cond delay="0"/>
                                  </p:stCondLst>
                                  <p:childTnLst>
                                    <p:set>
                                      <p:cBhvr>
                                        <p:cTn id="96" dur="1" fill="hold">
                                          <p:stCondLst>
                                            <p:cond delay="0"/>
                                          </p:stCondLst>
                                        </p:cTn>
                                        <p:tgtEl>
                                          <p:spTgt spid="1173508">
                                            <p:txEl>
                                              <p:pRg st="2" end="2"/>
                                            </p:txEl>
                                          </p:spTgt>
                                        </p:tgtEl>
                                        <p:attrNameLst>
                                          <p:attrName>style.visibility</p:attrName>
                                        </p:attrNameLst>
                                      </p:cBhvr>
                                      <p:to>
                                        <p:strVal val="visible"/>
                                      </p:to>
                                    </p:set>
                                    <p:animEffect transition="in" filter="box(out)">
                                      <p:cBhvr>
                                        <p:cTn id="97" dur="500"/>
                                        <p:tgtEl>
                                          <p:spTgt spid="1173508">
                                            <p:txEl>
                                              <p:pRg st="2" end="2"/>
                                            </p:txEl>
                                          </p:spTgt>
                                        </p:tgtEl>
                                      </p:cBhvr>
                                    </p:animEffect>
                                  </p:childTnLst>
                                  <p:subTnLst>
                                    <p:audio>
                                      <p:cMediaNode>
                                        <p:cTn display="0" masterRel="sameClick">
                                          <p:stCondLst>
                                            <p:cond evt="begin" delay="0">
                                              <p:tn val="95"/>
                                            </p:cond>
                                          </p:stCondLst>
                                          <p:endCondLst>
                                            <p:cond evt="onStopAudio" delay="0">
                                              <p:tgtEl>
                                                <p:sldTgt/>
                                              </p:tgtEl>
                                            </p:cond>
                                          </p:endCondLst>
                                        </p:cTn>
                                        <p:tgtEl>
                                          <p:sndTgt r:embed="rId2"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1173508">
                                            <p:txEl>
                                              <p:pRg st="3" end="3"/>
                                            </p:txEl>
                                          </p:spTgt>
                                        </p:tgtEl>
                                        <p:attrNameLst>
                                          <p:attrName>style.visibility</p:attrName>
                                        </p:attrNameLst>
                                      </p:cBhvr>
                                      <p:to>
                                        <p:strVal val="visible"/>
                                      </p:to>
                                    </p:set>
                                    <p:animEffect transition="in" filter="box(out)">
                                      <p:cBhvr>
                                        <p:cTn id="102" dur="500"/>
                                        <p:tgtEl>
                                          <p:spTgt spid="1173508">
                                            <p:txEl>
                                              <p:pRg st="3" end="3"/>
                                            </p:txEl>
                                          </p:spTgt>
                                        </p:tgtEl>
                                      </p:cBhvr>
                                    </p:animEffect>
                                  </p:childTnLst>
                                  <p:subTnLst>
                                    <p:audio>
                                      <p:cMediaNode>
                                        <p:cTn display="0" masterRel="sameClick">
                                          <p:stCondLst>
                                            <p:cond evt="begin" delay="0">
                                              <p:tn val="100"/>
                                            </p:cond>
                                          </p:stCondLst>
                                          <p:endCondLst>
                                            <p:cond evt="onStopAudio" delay="0">
                                              <p:tgtEl>
                                                <p:sldTgt/>
                                              </p:tgtEl>
                                            </p:cond>
                                          </p:endCondLst>
                                        </p:cTn>
                                        <p:tgtEl>
                                          <p:sndTgt r:embed="rId2"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4" presetClass="entr" presetSubtype="32" fill="hold" grpId="0" nodeType="clickEffect">
                                  <p:stCondLst>
                                    <p:cond delay="0"/>
                                  </p:stCondLst>
                                  <p:childTnLst>
                                    <p:set>
                                      <p:cBhvr>
                                        <p:cTn id="106" dur="1" fill="hold">
                                          <p:stCondLst>
                                            <p:cond delay="0"/>
                                          </p:stCondLst>
                                        </p:cTn>
                                        <p:tgtEl>
                                          <p:spTgt spid="1173508">
                                            <p:txEl>
                                              <p:pRg st="4" end="4"/>
                                            </p:txEl>
                                          </p:spTgt>
                                        </p:tgtEl>
                                        <p:attrNameLst>
                                          <p:attrName>style.visibility</p:attrName>
                                        </p:attrNameLst>
                                      </p:cBhvr>
                                      <p:to>
                                        <p:strVal val="visible"/>
                                      </p:to>
                                    </p:set>
                                    <p:animEffect transition="in" filter="box(out)">
                                      <p:cBhvr>
                                        <p:cTn id="107" dur="500"/>
                                        <p:tgtEl>
                                          <p:spTgt spid="1173508">
                                            <p:txEl>
                                              <p:pRg st="4" end="4"/>
                                            </p:txEl>
                                          </p:spTgt>
                                        </p:tgtEl>
                                      </p:cBhvr>
                                    </p:animEffect>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4" presetClass="entr" presetSubtype="32" fill="hold" grpId="0" nodeType="clickEffect">
                                  <p:stCondLst>
                                    <p:cond delay="0"/>
                                  </p:stCondLst>
                                  <p:childTnLst>
                                    <p:set>
                                      <p:cBhvr>
                                        <p:cTn id="111" dur="1" fill="hold">
                                          <p:stCondLst>
                                            <p:cond delay="0"/>
                                          </p:stCondLst>
                                        </p:cTn>
                                        <p:tgtEl>
                                          <p:spTgt spid="1173508">
                                            <p:txEl>
                                              <p:pRg st="5" end="5"/>
                                            </p:txEl>
                                          </p:spTgt>
                                        </p:tgtEl>
                                        <p:attrNameLst>
                                          <p:attrName>style.visibility</p:attrName>
                                        </p:attrNameLst>
                                      </p:cBhvr>
                                      <p:to>
                                        <p:strVal val="visible"/>
                                      </p:to>
                                    </p:set>
                                    <p:animEffect transition="in" filter="box(out)">
                                      <p:cBhvr>
                                        <p:cTn id="112" dur="500"/>
                                        <p:tgtEl>
                                          <p:spTgt spid="1173508">
                                            <p:txEl>
                                              <p:pRg st="5" end="5"/>
                                            </p:txEl>
                                          </p:spTgt>
                                        </p:tgtEl>
                                      </p:cBhvr>
                                    </p:animEffect>
                                  </p:childTnLst>
                                  <p:subTnLs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4" presetClass="entr" presetSubtype="32" fill="hold" grpId="0" nodeType="clickEffect">
                                  <p:stCondLst>
                                    <p:cond delay="0"/>
                                  </p:stCondLst>
                                  <p:childTnLst>
                                    <p:set>
                                      <p:cBhvr>
                                        <p:cTn id="116" dur="1" fill="hold">
                                          <p:stCondLst>
                                            <p:cond delay="0"/>
                                          </p:stCondLst>
                                        </p:cTn>
                                        <p:tgtEl>
                                          <p:spTgt spid="1173509">
                                            <p:txEl>
                                              <p:pRg st="0" end="0"/>
                                            </p:txEl>
                                          </p:spTgt>
                                        </p:tgtEl>
                                        <p:attrNameLst>
                                          <p:attrName>style.visibility</p:attrName>
                                        </p:attrNameLst>
                                      </p:cBhvr>
                                      <p:to>
                                        <p:strVal val="visible"/>
                                      </p:to>
                                    </p:set>
                                    <p:animEffect transition="in" filter="box(out)">
                                      <p:cBhvr>
                                        <p:cTn id="117" dur="500"/>
                                        <p:tgtEl>
                                          <p:spTgt spid="1173509">
                                            <p:txEl>
                                              <p:pRg st="0" end="0"/>
                                            </p:txEl>
                                          </p:spTgt>
                                        </p:tgtEl>
                                      </p:cBhvr>
                                    </p:animEffect>
                                  </p:childTnLst>
                                  <p:subTnLst>
                                    <p:audio>
                                      <p:cMediaNode>
                                        <p:cTn display="0" masterRel="sameClick">
                                          <p:stCondLst>
                                            <p:cond evt="begin" delay="0">
                                              <p:tn val="115"/>
                                            </p:cond>
                                          </p:stCondLst>
                                          <p:endCondLst>
                                            <p:cond evt="onStopAudio" delay="0">
                                              <p:tgtEl>
                                                <p:sldTgt/>
                                              </p:tgtEl>
                                            </p:cond>
                                          </p:endCondLst>
                                        </p:cTn>
                                        <p:tgtEl>
                                          <p:sndTgt r:embed="rId2" name="CAMERA.WAV"/>
                                        </p:tgtEl>
                                      </p:cMediaNode>
                                    </p:audio>
                                  </p:subTnLst>
                                </p:cTn>
                              </p:par>
                            </p:childTnLst>
                          </p:cTn>
                        </p:par>
                      </p:childTnLst>
                    </p:cTn>
                  </p:par>
                  <p:par>
                    <p:cTn id="118" fill="hold">
                      <p:stCondLst>
                        <p:cond delay="indefinite"/>
                      </p:stCondLst>
                      <p:childTnLst>
                        <p:par>
                          <p:cTn id="119" fill="hold">
                            <p:stCondLst>
                              <p:cond delay="0"/>
                            </p:stCondLst>
                            <p:childTnLst>
                              <p:par>
                                <p:cTn id="120" presetID="4" presetClass="entr" presetSubtype="32" fill="hold" grpId="0" nodeType="clickEffect">
                                  <p:stCondLst>
                                    <p:cond delay="0"/>
                                  </p:stCondLst>
                                  <p:childTnLst>
                                    <p:set>
                                      <p:cBhvr>
                                        <p:cTn id="121" dur="1" fill="hold">
                                          <p:stCondLst>
                                            <p:cond delay="0"/>
                                          </p:stCondLst>
                                        </p:cTn>
                                        <p:tgtEl>
                                          <p:spTgt spid="1173509">
                                            <p:txEl>
                                              <p:pRg st="1" end="1"/>
                                            </p:txEl>
                                          </p:spTgt>
                                        </p:tgtEl>
                                        <p:attrNameLst>
                                          <p:attrName>style.visibility</p:attrName>
                                        </p:attrNameLst>
                                      </p:cBhvr>
                                      <p:to>
                                        <p:strVal val="visible"/>
                                      </p:to>
                                    </p:set>
                                    <p:animEffect transition="in" filter="box(out)">
                                      <p:cBhvr>
                                        <p:cTn id="122" dur="500"/>
                                        <p:tgtEl>
                                          <p:spTgt spid="1173509">
                                            <p:txEl>
                                              <p:pRg st="1" end="1"/>
                                            </p:txEl>
                                          </p:spTgt>
                                        </p:tgtEl>
                                      </p:cBhvr>
                                    </p:animEffect>
                                  </p:childTnLst>
                                  <p:subTnLst>
                                    <p:audio>
                                      <p:cMediaNode>
                                        <p:cTn display="0" masterRel="sameClick">
                                          <p:stCondLst>
                                            <p:cond evt="begin" delay="0">
                                              <p:tn val="120"/>
                                            </p:cond>
                                          </p:stCondLst>
                                          <p:endCondLst>
                                            <p:cond evt="onStopAudio" delay="0">
                                              <p:tgtEl>
                                                <p:sldTgt/>
                                              </p:tgtEl>
                                            </p:cond>
                                          </p:endCondLst>
                                        </p:cTn>
                                        <p:tgtEl>
                                          <p:sndTgt r:embed="rId2" name="CAMERA.WAV"/>
                                        </p:tgtEl>
                                      </p:cMediaNode>
                                    </p:audio>
                                  </p:subTnLst>
                                </p:cTn>
                              </p:par>
                            </p:childTnLst>
                          </p:cTn>
                        </p:par>
                      </p:childTnLst>
                    </p:cTn>
                  </p:par>
                  <p:par>
                    <p:cTn id="123" fill="hold">
                      <p:stCondLst>
                        <p:cond delay="indefinite"/>
                      </p:stCondLst>
                      <p:childTnLst>
                        <p:par>
                          <p:cTn id="124" fill="hold">
                            <p:stCondLst>
                              <p:cond delay="0"/>
                            </p:stCondLst>
                            <p:childTnLst>
                              <p:par>
                                <p:cTn id="125" presetID="4" presetClass="entr" presetSubtype="32" fill="hold" grpId="0" nodeType="clickEffect">
                                  <p:stCondLst>
                                    <p:cond delay="0"/>
                                  </p:stCondLst>
                                  <p:childTnLst>
                                    <p:set>
                                      <p:cBhvr>
                                        <p:cTn id="126" dur="1" fill="hold">
                                          <p:stCondLst>
                                            <p:cond delay="0"/>
                                          </p:stCondLst>
                                        </p:cTn>
                                        <p:tgtEl>
                                          <p:spTgt spid="1173509">
                                            <p:txEl>
                                              <p:pRg st="2" end="2"/>
                                            </p:txEl>
                                          </p:spTgt>
                                        </p:tgtEl>
                                        <p:attrNameLst>
                                          <p:attrName>style.visibility</p:attrName>
                                        </p:attrNameLst>
                                      </p:cBhvr>
                                      <p:to>
                                        <p:strVal val="visible"/>
                                      </p:to>
                                    </p:set>
                                    <p:animEffect transition="in" filter="box(out)">
                                      <p:cBhvr>
                                        <p:cTn id="127" dur="500"/>
                                        <p:tgtEl>
                                          <p:spTgt spid="1173509">
                                            <p:txEl>
                                              <p:pRg st="2" end="2"/>
                                            </p:txEl>
                                          </p:spTgt>
                                        </p:tgtEl>
                                      </p:cBhvr>
                                    </p:animEffect>
                                  </p:childTnLst>
                                  <p:subTnLst>
                                    <p:audio>
                                      <p:cMediaNode>
                                        <p:cTn display="0" masterRel="sameClick">
                                          <p:stCondLst>
                                            <p:cond evt="begin" delay="0">
                                              <p:tn val="125"/>
                                            </p:cond>
                                          </p:stCondLst>
                                          <p:endCondLst>
                                            <p:cond evt="onStopAudio" delay="0">
                                              <p:tgtEl>
                                                <p:sldTgt/>
                                              </p:tgtEl>
                                            </p:cond>
                                          </p:endCondLst>
                                        </p:cTn>
                                        <p:tgtEl>
                                          <p:sndTgt r:embed="rId2" name="CAMERA.WAV"/>
                                        </p:tgtEl>
                                      </p:cMediaNode>
                                    </p:audio>
                                  </p:subTnLst>
                                </p:cTn>
                              </p:par>
                            </p:childTnLst>
                          </p:cTn>
                        </p:par>
                      </p:childTnLst>
                    </p:cTn>
                  </p:par>
                  <p:par>
                    <p:cTn id="128" fill="hold">
                      <p:stCondLst>
                        <p:cond delay="indefinite"/>
                      </p:stCondLst>
                      <p:childTnLst>
                        <p:par>
                          <p:cTn id="129" fill="hold">
                            <p:stCondLst>
                              <p:cond delay="0"/>
                            </p:stCondLst>
                            <p:childTnLst>
                              <p:par>
                                <p:cTn id="130" presetID="4" presetClass="entr" presetSubtype="32" fill="hold" grpId="0" nodeType="clickEffect">
                                  <p:stCondLst>
                                    <p:cond delay="0"/>
                                  </p:stCondLst>
                                  <p:childTnLst>
                                    <p:set>
                                      <p:cBhvr>
                                        <p:cTn id="131" dur="1" fill="hold">
                                          <p:stCondLst>
                                            <p:cond delay="0"/>
                                          </p:stCondLst>
                                        </p:cTn>
                                        <p:tgtEl>
                                          <p:spTgt spid="1173509">
                                            <p:txEl>
                                              <p:pRg st="3" end="3"/>
                                            </p:txEl>
                                          </p:spTgt>
                                        </p:tgtEl>
                                        <p:attrNameLst>
                                          <p:attrName>style.visibility</p:attrName>
                                        </p:attrNameLst>
                                      </p:cBhvr>
                                      <p:to>
                                        <p:strVal val="visible"/>
                                      </p:to>
                                    </p:set>
                                    <p:animEffect transition="in" filter="box(out)">
                                      <p:cBhvr>
                                        <p:cTn id="132" dur="500"/>
                                        <p:tgtEl>
                                          <p:spTgt spid="1173509">
                                            <p:txEl>
                                              <p:pRg st="3" end="3"/>
                                            </p:txEl>
                                          </p:spTgt>
                                        </p:tgtEl>
                                      </p:cBhvr>
                                    </p:animEffect>
                                  </p:childTnLst>
                                  <p:subTnLst>
                                    <p:audio>
                                      <p:cMediaNode>
                                        <p:cTn display="0" masterRel="sameClick">
                                          <p:stCondLst>
                                            <p:cond evt="begin" delay="0">
                                              <p:tn val="13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3506" grpId="0" build="p" bldLvl="5" autoUpdateAnimBg="0"/>
      <p:bldP spid="1173507" grpId="0" build="p" autoUpdateAnimBg="0"/>
      <p:bldP spid="1173508" grpId="0" build="p" autoUpdateAnimBg="0"/>
      <p:bldP spid="1173509"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4530" name="Rectangle 2"/>
          <p:cNvSpPr>
            <a:spLocks noGrp="1" noChangeArrowheads="1"/>
          </p:cNvSpPr>
          <p:nvPr>
            <p:ph type="body" idx="4294967295"/>
          </p:nvPr>
        </p:nvSpPr>
        <p:spPr>
          <a:xfrm>
            <a:off x="191344" y="865088"/>
            <a:ext cx="8636000" cy="547688"/>
          </a:xfrm>
        </p:spPr>
        <p:txBody>
          <a:bodyPr/>
          <a:lstStyle/>
          <a:p>
            <a:pPr marL="990600" lvl="1" indent="-533400">
              <a:buNone/>
            </a:pPr>
            <a:r>
              <a:rPr lang="en-US" altLang="zh-CN" dirty="0">
                <a:solidFill>
                  <a:srgbClr val="C00000"/>
                </a:solidFill>
                <a:effectLst/>
                <a:ea typeface="楷体" pitchFamily="49" charset="-122"/>
              </a:rPr>
              <a:t>4</a:t>
            </a:r>
            <a:r>
              <a:rPr lang="zh-CN" altLang="en-US" dirty="0">
                <a:solidFill>
                  <a:srgbClr val="C00000"/>
                </a:solidFill>
                <a:effectLst/>
                <a:ea typeface="楷体" pitchFamily="49" charset="-122"/>
              </a:rPr>
              <a:t>、字符指针变量使用注意事项</a:t>
            </a:r>
          </a:p>
        </p:txBody>
      </p:sp>
      <p:sp>
        <p:nvSpPr>
          <p:cNvPr id="1174536" name="Rectangle 8"/>
          <p:cNvSpPr>
            <a:spLocks noChangeArrowheads="1"/>
          </p:cNvSpPr>
          <p:nvPr/>
        </p:nvSpPr>
        <p:spPr bwMode="auto">
          <a:xfrm>
            <a:off x="875543" y="1789365"/>
            <a:ext cx="10440913"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latin typeface="+mn-lt"/>
                <a:ea typeface="楷体" pitchFamily="49" charset="-122"/>
              </a:rPr>
              <a:t>        </a:t>
            </a:r>
            <a:r>
              <a:rPr lang="zh-CN" altLang="en-US" dirty="0">
                <a:latin typeface="+mn-lt"/>
                <a:ea typeface="楷体" pitchFamily="49" charset="-122"/>
              </a:rPr>
              <a:t>当字符指针指向字符串时，除了可以被赋值之外，与包含字符串的字符数组没有什么区别。 </a:t>
            </a:r>
          </a:p>
        </p:txBody>
      </p:sp>
      <p:sp>
        <p:nvSpPr>
          <p:cNvPr id="1174537" name="Rectangle 9" descr="信纸"/>
          <p:cNvSpPr>
            <a:spLocks noChangeArrowheads="1"/>
          </p:cNvSpPr>
          <p:nvPr/>
        </p:nvSpPr>
        <p:spPr bwMode="auto">
          <a:xfrm>
            <a:off x="1427895" y="2996952"/>
            <a:ext cx="9336210" cy="1631216"/>
          </a:xfrm>
          <a:prstGeom prst="rect">
            <a:avLst/>
          </a:prstGeom>
          <a:solidFill>
            <a:schemeClr val="bg1"/>
          </a:soli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sz="2000" dirty="0"/>
              <a:t>char </a:t>
            </a:r>
            <a:r>
              <a:rPr lang="en-US" altLang="zh-CN" sz="2000" dirty="0" err="1"/>
              <a:t>str</a:t>
            </a:r>
            <a:r>
              <a:rPr lang="en-US" altLang="zh-CN" sz="2000" dirty="0"/>
              <a:t>[10], </a:t>
            </a:r>
            <a:r>
              <a:rPr lang="en-US" altLang="zh-CN" sz="2000" dirty="0">
                <a:solidFill>
                  <a:srgbClr val="C00000"/>
                </a:solidFill>
              </a:rPr>
              <a:t>*</a:t>
            </a:r>
            <a:r>
              <a:rPr lang="en-US" altLang="zh-CN" sz="2000" dirty="0" err="1">
                <a:solidFill>
                  <a:srgbClr val="C00000"/>
                </a:solidFill>
              </a:rPr>
              <a:t>pstr</a:t>
            </a:r>
            <a:r>
              <a:rPr lang="en-US" altLang="zh-CN" sz="2000" dirty="0"/>
              <a:t>;</a:t>
            </a:r>
          </a:p>
          <a:p>
            <a:pPr indent="266700"/>
            <a:r>
              <a:rPr lang="en-US" altLang="zh-CN" sz="2000" dirty="0" err="1"/>
              <a:t>pstr</a:t>
            </a:r>
            <a:r>
              <a:rPr lang="en-US" altLang="zh-CN" sz="2000" dirty="0"/>
              <a:t> = "12345";     </a:t>
            </a:r>
            <a:r>
              <a:rPr lang="en-US" altLang="zh-CN" sz="2000" dirty="0">
                <a:solidFill>
                  <a:srgbClr val="002060"/>
                </a:solidFill>
                <a:latin typeface="+mn-lt"/>
                <a:ea typeface="楷体" pitchFamily="49" charset="-122"/>
              </a:rPr>
              <a:t>//</a:t>
            </a:r>
            <a:r>
              <a:rPr lang="en-US" altLang="zh-CN" sz="2000" dirty="0" err="1">
                <a:solidFill>
                  <a:srgbClr val="002060"/>
                </a:solidFill>
                <a:latin typeface="+mn-lt"/>
                <a:ea typeface="楷体" pitchFamily="49" charset="-122"/>
              </a:rPr>
              <a:t>pstr</a:t>
            </a:r>
            <a:r>
              <a:rPr lang="zh-CN" altLang="en-US" sz="2000" dirty="0">
                <a:solidFill>
                  <a:srgbClr val="002060"/>
                </a:solidFill>
                <a:latin typeface="+mn-lt"/>
                <a:ea typeface="楷体" pitchFamily="49" charset="-122"/>
              </a:rPr>
              <a:t>指向</a:t>
            </a:r>
            <a:r>
              <a:rPr lang="en-US" altLang="zh-CN" sz="2000" dirty="0">
                <a:solidFill>
                  <a:srgbClr val="002060"/>
                </a:solidFill>
                <a:latin typeface="+mn-lt"/>
                <a:ea typeface="楷体" pitchFamily="49" charset="-122"/>
              </a:rPr>
              <a:t>"12345"</a:t>
            </a:r>
          </a:p>
          <a:p>
            <a:pPr indent="266700"/>
            <a:r>
              <a:rPr lang="en-US" altLang="zh-CN" sz="2000" dirty="0" err="1"/>
              <a:t>strcpy</a:t>
            </a:r>
            <a:r>
              <a:rPr lang="en-US" altLang="zh-CN" sz="2000" dirty="0"/>
              <a:t> (</a:t>
            </a:r>
            <a:r>
              <a:rPr lang="en-US" altLang="zh-CN" sz="2000" dirty="0" err="1"/>
              <a:t>str</a:t>
            </a:r>
            <a:r>
              <a:rPr lang="en-US" altLang="zh-CN" sz="2000" dirty="0"/>
              <a:t>, </a:t>
            </a:r>
            <a:r>
              <a:rPr lang="en-US" altLang="zh-CN" sz="2000" dirty="0" err="1">
                <a:solidFill>
                  <a:srgbClr val="C00000"/>
                </a:solidFill>
              </a:rPr>
              <a:t>pstr</a:t>
            </a:r>
            <a:r>
              <a:rPr lang="en-US" altLang="zh-CN" sz="2000" dirty="0"/>
              <a:t>);   </a:t>
            </a:r>
            <a:r>
              <a:rPr lang="en-US" altLang="zh-CN" sz="2000" dirty="0">
                <a:solidFill>
                  <a:srgbClr val="002060"/>
                </a:solidFill>
                <a:latin typeface="+mn-lt"/>
                <a:ea typeface="楷体" pitchFamily="49" charset="-122"/>
              </a:rPr>
              <a:t>//</a:t>
            </a:r>
            <a:r>
              <a:rPr lang="zh-CN" altLang="en-US" sz="2000" dirty="0">
                <a:solidFill>
                  <a:srgbClr val="002060"/>
                </a:solidFill>
                <a:latin typeface="+mn-lt"/>
                <a:ea typeface="楷体" pitchFamily="49" charset="-122"/>
              </a:rPr>
              <a:t>将</a:t>
            </a:r>
            <a:r>
              <a:rPr lang="en-US" altLang="zh-CN" sz="2000" dirty="0" err="1">
                <a:solidFill>
                  <a:srgbClr val="002060"/>
                </a:solidFill>
                <a:latin typeface="+mn-lt"/>
                <a:ea typeface="楷体" pitchFamily="49" charset="-122"/>
              </a:rPr>
              <a:t>pstr</a:t>
            </a:r>
            <a:r>
              <a:rPr lang="zh-CN" altLang="en-US" sz="2000" dirty="0">
                <a:solidFill>
                  <a:srgbClr val="002060"/>
                </a:solidFill>
                <a:latin typeface="+mn-lt"/>
                <a:ea typeface="楷体" pitchFamily="49" charset="-122"/>
              </a:rPr>
              <a:t>所指向的字符串复制到数组</a:t>
            </a:r>
            <a:r>
              <a:rPr lang="en-US" altLang="zh-CN" sz="2000" dirty="0" err="1">
                <a:solidFill>
                  <a:srgbClr val="002060"/>
                </a:solidFill>
                <a:latin typeface="+mn-lt"/>
                <a:ea typeface="楷体" pitchFamily="49" charset="-122"/>
              </a:rPr>
              <a:t>str</a:t>
            </a:r>
            <a:r>
              <a:rPr lang="zh-CN" altLang="en-US" sz="2000" dirty="0">
                <a:solidFill>
                  <a:srgbClr val="002060"/>
                </a:solidFill>
                <a:latin typeface="+mn-lt"/>
                <a:ea typeface="楷体" pitchFamily="49" charset="-122"/>
              </a:rPr>
              <a:t>中</a:t>
            </a:r>
          </a:p>
          <a:p>
            <a:pPr indent="266700"/>
            <a:r>
              <a:rPr lang="en-US" altLang="zh-CN" sz="2000" dirty="0" err="1">
                <a:solidFill>
                  <a:srgbClr val="C00000"/>
                </a:solidFill>
              </a:rPr>
              <a:t>pstr</a:t>
            </a:r>
            <a:r>
              <a:rPr lang="en-US" altLang="zh-CN" sz="2000" dirty="0"/>
              <a:t> = </a:t>
            </a:r>
            <a:r>
              <a:rPr lang="en-US" altLang="zh-CN" sz="2000" dirty="0" err="1"/>
              <a:t>str</a:t>
            </a:r>
            <a:r>
              <a:rPr lang="en-US" altLang="zh-CN" sz="2000" dirty="0"/>
              <a:t>;</a:t>
            </a:r>
          </a:p>
          <a:p>
            <a:pPr indent="266700"/>
            <a:r>
              <a:rPr lang="en-US" altLang="zh-CN" sz="2000" dirty="0" err="1"/>
              <a:t>printf</a:t>
            </a:r>
            <a:r>
              <a:rPr lang="en-US" altLang="zh-CN" sz="2000" dirty="0"/>
              <a:t> ("The Length of </a:t>
            </a:r>
            <a:r>
              <a:rPr lang="en-US" altLang="zh-CN" sz="2000" dirty="0" err="1"/>
              <a:t>str</a:t>
            </a:r>
            <a:r>
              <a:rPr lang="en-US" altLang="zh-CN" sz="2000" dirty="0"/>
              <a:t> is: %d\n", </a:t>
            </a:r>
            <a:r>
              <a:rPr lang="en-US" altLang="zh-CN" sz="2000" dirty="0" err="1"/>
              <a:t>strlen</a:t>
            </a:r>
            <a:r>
              <a:rPr lang="en-US" altLang="zh-CN" sz="2000" dirty="0"/>
              <a:t>(</a:t>
            </a:r>
            <a:r>
              <a:rPr lang="en-US" altLang="zh-CN" sz="2000" dirty="0" err="1">
                <a:solidFill>
                  <a:srgbClr val="C00000"/>
                </a:solidFill>
              </a:rPr>
              <a:t>pstr</a:t>
            </a:r>
            <a:r>
              <a:rPr lang="en-US" altLang="zh-CN" sz="2000" dirty="0"/>
              <a:t>));   </a:t>
            </a:r>
            <a:r>
              <a:rPr lang="en-US" altLang="zh-CN" sz="2000" dirty="0">
                <a:solidFill>
                  <a:srgbClr val="002060"/>
                </a:solidFill>
                <a:latin typeface="+mn-lt"/>
                <a:ea typeface="楷体" pitchFamily="49" charset="-122"/>
              </a:rPr>
              <a:t>//</a:t>
            </a:r>
            <a:r>
              <a:rPr lang="zh-CN" altLang="en-US" sz="2000" dirty="0">
                <a:solidFill>
                  <a:srgbClr val="002060"/>
                </a:solidFill>
                <a:latin typeface="+mn-lt"/>
                <a:ea typeface="楷体" pitchFamily="49" charset="-122"/>
              </a:rPr>
              <a:t>输出字符串的长度</a:t>
            </a:r>
            <a:r>
              <a:rPr lang="en-US" altLang="zh-CN" sz="2000" dirty="0">
                <a:solidFill>
                  <a:srgbClr val="002060"/>
                </a:solidFill>
                <a:latin typeface="+mn-lt"/>
                <a:ea typeface="楷体" pitchFamily="49" charset="-122"/>
              </a:rPr>
              <a:t>5</a:t>
            </a:r>
          </a:p>
        </p:txBody>
      </p:sp>
      <p:sp>
        <p:nvSpPr>
          <p:cNvPr id="12" name="Rectangle 4">
            <a:extLst>
              <a:ext uri="{FF2B5EF4-FFF2-40B4-BE49-F238E27FC236}">
                <a16:creationId xmlns:a16="http://schemas.microsoft.com/office/drawing/2014/main" id="{7E8D595E-4201-493D-9683-28453AE7DF4C}"/>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指针与字符串</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4530">
                                            <p:txEl>
                                              <p:pRg st="0" end="0"/>
                                            </p:txEl>
                                          </p:spTgt>
                                        </p:tgtEl>
                                        <p:attrNameLst>
                                          <p:attrName>style.visibility</p:attrName>
                                        </p:attrNameLst>
                                      </p:cBhvr>
                                      <p:to>
                                        <p:strVal val="visible"/>
                                      </p:to>
                                    </p:set>
                                    <p:anim calcmode="lin" valueType="num">
                                      <p:cBhvr additive="base">
                                        <p:cTn id="7" dur="500" fill="hold"/>
                                        <p:tgtEl>
                                          <p:spTgt spid="11745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7453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74536"/>
                                        </p:tgtEl>
                                        <p:attrNameLst>
                                          <p:attrName>style.visibility</p:attrName>
                                        </p:attrNameLst>
                                      </p:cBhvr>
                                      <p:to>
                                        <p:strVal val="visible"/>
                                      </p:to>
                                    </p:set>
                                    <p:animEffect transition="in" filter="box(out)">
                                      <p:cBhvr>
                                        <p:cTn id="13" dur="500"/>
                                        <p:tgtEl>
                                          <p:spTgt spid="1174536"/>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74537"/>
                                        </p:tgtEl>
                                        <p:attrNameLst>
                                          <p:attrName>style.visibility</p:attrName>
                                        </p:attrNameLst>
                                      </p:cBhvr>
                                      <p:to>
                                        <p:strVal val="visible"/>
                                      </p:to>
                                    </p:set>
                                    <p:animEffect transition="in" filter="box(out)">
                                      <p:cBhvr>
                                        <p:cTn id="18" dur="500"/>
                                        <p:tgtEl>
                                          <p:spTgt spid="1174537"/>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4530" grpId="0" build="p" bldLvl="5" autoUpdateAnimBg="0"/>
      <p:bldP spid="1174536" grpId="0"/>
      <p:bldP spid="1174537"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4530" name="Rectangle 2"/>
          <p:cNvSpPr>
            <a:spLocks noGrp="1" noChangeArrowheads="1"/>
          </p:cNvSpPr>
          <p:nvPr>
            <p:ph type="body" idx="4294967295"/>
          </p:nvPr>
        </p:nvSpPr>
        <p:spPr>
          <a:xfrm>
            <a:off x="191344" y="777969"/>
            <a:ext cx="8636000" cy="547688"/>
          </a:xfrm>
        </p:spPr>
        <p:txBody>
          <a:bodyPr/>
          <a:lstStyle/>
          <a:p>
            <a:pPr marL="990600" lvl="1" indent="-533400">
              <a:buNone/>
            </a:pPr>
            <a:r>
              <a:rPr lang="en-US" altLang="zh-CN" dirty="0">
                <a:solidFill>
                  <a:srgbClr val="C00000"/>
                </a:solidFill>
                <a:effectLst/>
                <a:ea typeface="楷体" pitchFamily="49" charset="-122"/>
              </a:rPr>
              <a:t>4</a:t>
            </a:r>
            <a:r>
              <a:rPr lang="zh-CN" altLang="en-US" dirty="0">
                <a:solidFill>
                  <a:srgbClr val="C00000"/>
                </a:solidFill>
                <a:effectLst/>
                <a:ea typeface="楷体" pitchFamily="49" charset="-122"/>
              </a:rPr>
              <a:t>、字符指针变量使用注意事项</a:t>
            </a:r>
          </a:p>
        </p:txBody>
      </p:sp>
      <p:sp>
        <p:nvSpPr>
          <p:cNvPr id="1174538" name="Text Box 10"/>
          <p:cNvSpPr txBox="1">
            <a:spLocks noChangeArrowheads="1"/>
          </p:cNvSpPr>
          <p:nvPr/>
        </p:nvSpPr>
        <p:spPr bwMode="auto">
          <a:xfrm>
            <a:off x="1415480" y="1417568"/>
            <a:ext cx="4968875" cy="461665"/>
          </a:xfrm>
          <a:prstGeom prst="rect">
            <a:avLst/>
          </a:prstGeom>
          <a:noFill/>
          <a:ln w="9525" algn="ctr">
            <a:noFill/>
            <a:miter lim="800000"/>
            <a:headEnd/>
            <a:tailEnd/>
          </a:ln>
          <a:effectLst/>
        </p:spPr>
        <p:txBody>
          <a:bodyPr>
            <a:spAutoFit/>
          </a:bodyPr>
          <a:lstStyle/>
          <a:p>
            <a:pPr marL="342900" indent="-342900">
              <a:spcBef>
                <a:spcPct val="50000"/>
              </a:spcBef>
            </a:pPr>
            <a:r>
              <a:rPr lang="zh-CN" altLang="en-US">
                <a:solidFill>
                  <a:srgbClr val="C00000"/>
                </a:solidFill>
                <a:latin typeface="+mn-lt"/>
                <a:ea typeface="楷体" pitchFamily="49" charset="-122"/>
              </a:rPr>
              <a:t>注意“野指针”操作：</a:t>
            </a:r>
          </a:p>
        </p:txBody>
      </p:sp>
      <p:sp>
        <p:nvSpPr>
          <p:cNvPr id="1174539" name="Rectangle 11"/>
          <p:cNvSpPr>
            <a:spLocks noChangeArrowheads="1"/>
          </p:cNvSpPr>
          <p:nvPr/>
        </p:nvSpPr>
        <p:spPr bwMode="auto">
          <a:xfrm>
            <a:off x="847513" y="1854926"/>
            <a:ext cx="10496973" cy="1200329"/>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latin typeface="+mn-lt"/>
                <a:ea typeface="楷体" pitchFamily="49" charset="-122"/>
              </a:rPr>
              <a:t>        </a:t>
            </a:r>
            <a:r>
              <a:rPr lang="zh-CN" altLang="en-US" dirty="0">
                <a:latin typeface="+mn-lt"/>
                <a:ea typeface="楷体" pitchFamily="49" charset="-122"/>
              </a:rPr>
              <a:t>如果一个指针没有指向一个有效内存就被引用，则被称为“</a:t>
            </a:r>
            <a:r>
              <a:rPr lang="zh-CN" altLang="en-US" dirty="0">
                <a:solidFill>
                  <a:srgbClr val="C00000"/>
                </a:solidFill>
                <a:latin typeface="+mn-lt"/>
                <a:ea typeface="楷体" pitchFamily="49" charset="-122"/>
              </a:rPr>
              <a:t>野指针</a:t>
            </a:r>
            <a:r>
              <a:rPr lang="zh-CN" altLang="en-US" dirty="0">
                <a:latin typeface="+mn-lt"/>
                <a:ea typeface="楷体" pitchFamily="49" charset="-122"/>
              </a:rPr>
              <a:t>”操作或</a:t>
            </a:r>
            <a:r>
              <a:rPr lang="zh-CN" altLang="en-US" dirty="0">
                <a:solidFill>
                  <a:srgbClr val="C00000"/>
                </a:solidFill>
                <a:latin typeface="+mn-lt"/>
                <a:ea typeface="楷体" pitchFamily="49" charset="-122"/>
              </a:rPr>
              <a:t>空指针赋值</a:t>
            </a:r>
            <a:r>
              <a:rPr lang="zh-CN" altLang="en-US" dirty="0">
                <a:latin typeface="+mn-lt"/>
                <a:ea typeface="楷体" pitchFamily="49" charset="-122"/>
              </a:rPr>
              <a:t>。野指针操作尽管编译时不会出错，但很容易引起程序运行时表现异常，甚至导致系统崩溃。 </a:t>
            </a:r>
          </a:p>
        </p:txBody>
      </p:sp>
      <p:sp>
        <p:nvSpPr>
          <p:cNvPr id="1174540" name="Rectangle 12" descr="信纸"/>
          <p:cNvSpPr>
            <a:spLocks noChangeArrowheads="1"/>
          </p:cNvSpPr>
          <p:nvPr/>
        </p:nvSpPr>
        <p:spPr bwMode="auto">
          <a:xfrm>
            <a:off x="1263193" y="4455798"/>
            <a:ext cx="10008964" cy="1938992"/>
          </a:xfrm>
          <a:prstGeom prst="rect">
            <a:avLst/>
          </a:prstGeom>
          <a:solidFill>
            <a:schemeClr val="bg1"/>
          </a:soli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sz="2000" dirty="0"/>
              <a:t>char *</a:t>
            </a:r>
            <a:r>
              <a:rPr lang="en-US" altLang="zh-CN" sz="2000" dirty="0" err="1"/>
              <a:t>pstr</a:t>
            </a:r>
            <a:r>
              <a:rPr lang="en-US" altLang="zh-CN" sz="2000" dirty="0"/>
              <a:t>;</a:t>
            </a:r>
          </a:p>
          <a:p>
            <a:pPr indent="266700"/>
            <a:r>
              <a:rPr lang="en-US" altLang="zh-CN" sz="2000" dirty="0"/>
              <a:t>char </a:t>
            </a:r>
            <a:r>
              <a:rPr lang="en-US" altLang="zh-CN" sz="2000" dirty="0" err="1"/>
              <a:t>str</a:t>
            </a:r>
            <a:r>
              <a:rPr lang="en-US" altLang="zh-CN" sz="2000" dirty="0"/>
              <a:t>[8];</a:t>
            </a:r>
          </a:p>
          <a:p>
            <a:pPr indent="266700"/>
            <a:r>
              <a:rPr lang="en-US" altLang="zh-CN" sz="2000" dirty="0" err="1"/>
              <a:t>scanf</a:t>
            </a:r>
            <a:r>
              <a:rPr lang="en-US" altLang="zh-CN" sz="2000" dirty="0"/>
              <a:t> ("%</a:t>
            </a:r>
            <a:r>
              <a:rPr lang="en-US" altLang="zh-CN" sz="2000" dirty="0" err="1"/>
              <a:t>s",pstr</a:t>
            </a:r>
            <a:r>
              <a:rPr lang="en-US" altLang="zh-CN" sz="2000" dirty="0"/>
              <a:t>);              </a:t>
            </a:r>
            <a:r>
              <a:rPr lang="en-US" altLang="zh-CN" sz="2000" dirty="0">
                <a:solidFill>
                  <a:srgbClr val="002060"/>
                </a:solidFill>
                <a:latin typeface="+mn-lt"/>
                <a:ea typeface="楷体" pitchFamily="49" charset="-122"/>
              </a:rPr>
              <a:t>//</a:t>
            </a:r>
            <a:r>
              <a:rPr lang="zh-CN" altLang="en-US" sz="2000" dirty="0">
                <a:solidFill>
                  <a:srgbClr val="002060"/>
                </a:solidFill>
                <a:latin typeface="+mn-lt"/>
                <a:ea typeface="楷体" pitchFamily="49" charset="-122"/>
              </a:rPr>
              <a:t>野指针操作，</a:t>
            </a:r>
            <a:r>
              <a:rPr lang="en-US" altLang="zh-CN" sz="2000" dirty="0" err="1">
                <a:solidFill>
                  <a:srgbClr val="002060"/>
                </a:solidFill>
                <a:latin typeface="+mn-lt"/>
                <a:ea typeface="楷体" pitchFamily="49" charset="-122"/>
              </a:rPr>
              <a:t>pstr</a:t>
            </a:r>
            <a:r>
              <a:rPr lang="zh-CN" altLang="en-US" sz="2000" dirty="0">
                <a:solidFill>
                  <a:srgbClr val="002060"/>
                </a:solidFill>
                <a:latin typeface="+mn-lt"/>
                <a:ea typeface="楷体" pitchFamily="49" charset="-122"/>
              </a:rPr>
              <a:t>没有指向有效内存</a:t>
            </a:r>
          </a:p>
          <a:p>
            <a:pPr indent="266700"/>
            <a:r>
              <a:rPr lang="en-US" altLang="zh-CN" sz="2000" dirty="0" err="1"/>
              <a:t>strcpy</a:t>
            </a:r>
            <a:r>
              <a:rPr lang="en-US" altLang="zh-CN" sz="2000" dirty="0"/>
              <a:t> (</a:t>
            </a:r>
            <a:r>
              <a:rPr lang="en-US" altLang="zh-CN" sz="2000" dirty="0" err="1"/>
              <a:t>pstr</a:t>
            </a:r>
            <a:r>
              <a:rPr lang="en-US" altLang="zh-CN" sz="2000" dirty="0"/>
              <a:t>, "hello");         </a:t>
            </a:r>
            <a:r>
              <a:rPr lang="en-US" altLang="zh-CN" sz="2000" dirty="0">
                <a:solidFill>
                  <a:srgbClr val="002060"/>
                </a:solidFill>
                <a:latin typeface="+mn-lt"/>
                <a:ea typeface="楷体" pitchFamily="49" charset="-122"/>
              </a:rPr>
              <a:t>//</a:t>
            </a:r>
            <a:r>
              <a:rPr lang="zh-CN" altLang="en-US" sz="2000" dirty="0">
                <a:solidFill>
                  <a:srgbClr val="002060"/>
                </a:solidFill>
                <a:latin typeface="+mn-lt"/>
                <a:ea typeface="楷体" pitchFamily="49" charset="-122"/>
              </a:rPr>
              <a:t>野指针操作</a:t>
            </a:r>
          </a:p>
          <a:p>
            <a:pPr indent="266700"/>
            <a:r>
              <a:rPr lang="en-US" altLang="zh-CN" sz="2000" dirty="0" err="1"/>
              <a:t>pstr</a:t>
            </a:r>
            <a:r>
              <a:rPr lang="en-US" altLang="zh-CN" sz="2000" dirty="0"/>
              <a:t> = str;                            </a:t>
            </a:r>
            <a:r>
              <a:rPr lang="en-US" altLang="zh-CN" sz="2000" dirty="0">
                <a:solidFill>
                  <a:srgbClr val="002060"/>
                </a:solidFill>
                <a:latin typeface="+mn-lt"/>
                <a:ea typeface="楷体" pitchFamily="49" charset="-122"/>
              </a:rPr>
              <a:t>//</a:t>
            </a:r>
            <a:r>
              <a:rPr lang="en-US" altLang="zh-CN" sz="2000" dirty="0" err="1">
                <a:solidFill>
                  <a:srgbClr val="002060"/>
                </a:solidFill>
                <a:latin typeface="+mn-lt"/>
                <a:ea typeface="楷体" pitchFamily="49" charset="-122"/>
              </a:rPr>
              <a:t>pstr</a:t>
            </a:r>
            <a:r>
              <a:rPr lang="zh-CN" altLang="en-US" sz="2000" dirty="0">
                <a:solidFill>
                  <a:srgbClr val="002060"/>
                </a:solidFill>
                <a:latin typeface="+mn-lt"/>
                <a:ea typeface="楷体" pitchFamily="49" charset="-122"/>
              </a:rPr>
              <a:t>指向数组</a:t>
            </a:r>
            <a:r>
              <a:rPr lang="en-US" altLang="zh-CN" sz="2000" dirty="0" err="1">
                <a:solidFill>
                  <a:srgbClr val="002060"/>
                </a:solidFill>
                <a:latin typeface="+mn-lt"/>
                <a:ea typeface="楷体" pitchFamily="49" charset="-122"/>
              </a:rPr>
              <a:t>str</a:t>
            </a:r>
            <a:r>
              <a:rPr lang="zh-CN" altLang="en-US" sz="2000" dirty="0">
                <a:solidFill>
                  <a:srgbClr val="002060"/>
                </a:solidFill>
                <a:latin typeface="+mn-lt"/>
                <a:ea typeface="楷体" pitchFamily="49" charset="-122"/>
              </a:rPr>
              <a:t>所对应内存单元的首地址</a:t>
            </a:r>
          </a:p>
          <a:p>
            <a:pPr indent="266700"/>
            <a:r>
              <a:rPr lang="en-US" altLang="zh-CN" sz="2000" dirty="0" err="1"/>
              <a:t>strcpy</a:t>
            </a:r>
            <a:r>
              <a:rPr lang="en-US" altLang="zh-CN" sz="2000" dirty="0"/>
              <a:t> (</a:t>
            </a:r>
            <a:r>
              <a:rPr lang="en-US" altLang="zh-CN" sz="2000" dirty="0" err="1"/>
              <a:t>pstr</a:t>
            </a:r>
            <a:r>
              <a:rPr lang="en-US" altLang="zh-CN" sz="2000" dirty="0"/>
              <a:t>, "0123456789");   </a:t>
            </a:r>
            <a:r>
              <a:rPr lang="en-US" altLang="zh-CN" sz="2000" dirty="0">
                <a:solidFill>
                  <a:srgbClr val="002060"/>
                </a:solidFill>
                <a:latin typeface="+mn-lt"/>
                <a:ea typeface="楷体" pitchFamily="49" charset="-122"/>
              </a:rPr>
              <a:t>//</a:t>
            </a:r>
            <a:r>
              <a:rPr lang="zh-CN" altLang="en-US" sz="2000" dirty="0">
                <a:solidFill>
                  <a:srgbClr val="002060"/>
                </a:solidFill>
                <a:latin typeface="+mn-lt"/>
                <a:ea typeface="楷体" pitchFamily="49" charset="-122"/>
              </a:rPr>
              <a:t>不是野指针，但会造成数组越界</a:t>
            </a:r>
          </a:p>
        </p:txBody>
      </p:sp>
      <p:sp>
        <p:nvSpPr>
          <p:cNvPr id="1174541" name="AutoShape 13"/>
          <p:cNvSpPr>
            <a:spLocks noChangeArrowheads="1"/>
          </p:cNvSpPr>
          <p:nvPr/>
        </p:nvSpPr>
        <p:spPr bwMode="auto">
          <a:xfrm>
            <a:off x="5303838" y="2645372"/>
            <a:ext cx="5832475" cy="2087563"/>
          </a:xfrm>
          <a:prstGeom prst="cloudCallout">
            <a:avLst>
              <a:gd name="adj1" fmla="val -30992"/>
              <a:gd name="adj2" fmla="val 72738"/>
            </a:avLst>
          </a:prstGeom>
          <a:gradFill rotWithShape="1">
            <a:gsLst>
              <a:gs pos="0">
                <a:srgbClr val="CFCFD1"/>
              </a:gs>
              <a:gs pos="100000">
                <a:schemeClr val="bg1"/>
              </a:gs>
            </a:gsLst>
            <a:lin ang="5400000" scaled="1"/>
          </a:gradFill>
          <a:ln w="25400">
            <a:solidFill>
              <a:srgbClr val="C00000"/>
            </a:solidFill>
            <a:round/>
            <a:headEnd/>
            <a:tailEnd/>
          </a:ln>
          <a:effectLst>
            <a:outerShdw blurRad="50800" dist="106680" dir="2700000" algn="tl" rotWithShape="0">
              <a:prstClr val="black">
                <a:alpha val="43000"/>
              </a:prstClr>
            </a:outerShdw>
          </a:effectLst>
          <a:scene3d>
            <a:camera prst="orthographicFront"/>
            <a:lightRig rig="threePt" dir="t"/>
          </a:scene3d>
          <a:sp3d>
            <a:bevelT w="114300" prst="artDeco"/>
          </a:sp3d>
        </p:spPr>
        <p:txBody>
          <a:bodyPr/>
          <a:lstStyle/>
          <a:p>
            <a:pPr lvl="1"/>
            <a:r>
              <a:rPr lang="en-US" altLang="zh-CN" dirty="0">
                <a:solidFill>
                  <a:srgbClr val="C00000"/>
                </a:solidFill>
              </a:rPr>
              <a:t>      </a:t>
            </a:r>
            <a:r>
              <a:rPr lang="zh-CN" altLang="en-US" dirty="0">
                <a:solidFill>
                  <a:srgbClr val="C00000"/>
                </a:solidFill>
                <a:latin typeface="隶书" pitchFamily="49" charset="-122"/>
                <a:ea typeface="隶书" pitchFamily="49" charset="-122"/>
              </a:rPr>
              <a:t>为什么“野指针”操作会给程序运行带来极大的不确定性，甚至造成系统崩溃呢？ </a:t>
            </a:r>
          </a:p>
        </p:txBody>
      </p:sp>
      <p:sp>
        <p:nvSpPr>
          <p:cNvPr id="12" name="Rectangle 4">
            <a:extLst>
              <a:ext uri="{FF2B5EF4-FFF2-40B4-BE49-F238E27FC236}">
                <a16:creationId xmlns:a16="http://schemas.microsoft.com/office/drawing/2014/main" id="{7E8D595E-4201-493D-9683-28453AE7DF4C}"/>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指针与字符串</a:t>
            </a:r>
          </a:p>
        </p:txBody>
      </p:sp>
    </p:spTree>
    <p:extLst>
      <p:ext uri="{BB962C8B-B14F-4D97-AF65-F5344CB8AC3E}">
        <p14:creationId xmlns:p14="http://schemas.microsoft.com/office/powerpoint/2010/main" val="2624554593"/>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4530">
                                            <p:txEl>
                                              <p:pRg st="0" end="0"/>
                                            </p:txEl>
                                          </p:spTgt>
                                        </p:tgtEl>
                                        <p:attrNameLst>
                                          <p:attrName>style.visibility</p:attrName>
                                        </p:attrNameLst>
                                      </p:cBhvr>
                                      <p:to>
                                        <p:strVal val="visible"/>
                                      </p:to>
                                    </p:set>
                                    <p:anim calcmode="lin" valueType="num">
                                      <p:cBhvr additive="base">
                                        <p:cTn id="7" dur="500" fill="hold"/>
                                        <p:tgtEl>
                                          <p:spTgt spid="11745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7453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74538">
                                            <p:txEl>
                                              <p:pRg st="0" end="0"/>
                                            </p:txEl>
                                          </p:spTgt>
                                        </p:tgtEl>
                                        <p:attrNameLst>
                                          <p:attrName>style.visibility</p:attrName>
                                        </p:attrNameLst>
                                      </p:cBhvr>
                                      <p:to>
                                        <p:strVal val="visible"/>
                                      </p:to>
                                    </p:set>
                                    <p:animEffect transition="in" filter="box(out)">
                                      <p:cBhvr>
                                        <p:cTn id="13" dur="500"/>
                                        <p:tgtEl>
                                          <p:spTgt spid="1174538">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74539">
                                            <p:txEl>
                                              <p:pRg st="0" end="0"/>
                                            </p:txEl>
                                          </p:spTgt>
                                        </p:tgtEl>
                                        <p:attrNameLst>
                                          <p:attrName>style.visibility</p:attrName>
                                        </p:attrNameLst>
                                      </p:cBhvr>
                                      <p:to>
                                        <p:strVal val="visible"/>
                                      </p:to>
                                    </p:set>
                                    <p:animEffect transition="in" filter="box(out)">
                                      <p:cBhvr>
                                        <p:cTn id="18" dur="500"/>
                                        <p:tgtEl>
                                          <p:spTgt spid="1174539">
                                            <p:txEl>
                                              <p:pRg st="0" end="0"/>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74540"/>
                                        </p:tgtEl>
                                        <p:attrNameLst>
                                          <p:attrName>style.visibility</p:attrName>
                                        </p:attrNameLst>
                                      </p:cBhvr>
                                      <p:to>
                                        <p:strVal val="visible"/>
                                      </p:to>
                                    </p:set>
                                    <p:animEffect transition="in" filter="box(out)">
                                      <p:cBhvr>
                                        <p:cTn id="23" dur="500"/>
                                        <p:tgtEl>
                                          <p:spTgt spid="1174540"/>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3" fill="hold" grpId="0" nodeType="clickEffect">
                                  <p:stCondLst>
                                    <p:cond delay="0"/>
                                  </p:stCondLst>
                                  <p:childTnLst>
                                    <p:set>
                                      <p:cBhvr>
                                        <p:cTn id="27" dur="1" fill="hold">
                                          <p:stCondLst>
                                            <p:cond delay="0"/>
                                          </p:stCondLst>
                                        </p:cTn>
                                        <p:tgtEl>
                                          <p:spTgt spid="1174541"/>
                                        </p:tgtEl>
                                        <p:attrNameLst>
                                          <p:attrName>style.visibility</p:attrName>
                                        </p:attrNameLst>
                                      </p:cBhvr>
                                      <p:to>
                                        <p:strVal val="visible"/>
                                      </p:to>
                                    </p:set>
                                    <p:animEffect transition="in" filter="strips(upRight)">
                                      <p:cBhvr>
                                        <p:cTn id="28" dur="500"/>
                                        <p:tgtEl>
                                          <p:spTgt spid="1174541"/>
                                        </p:tgtEl>
                                      </p:cBhvr>
                                    </p:animEffect>
                                  </p:childTnLst>
                                  <p:subTnLst>
                                    <p:audio>
                                      <p:cMediaNode>
                                        <p:cTn display="0" masterRel="sameClick">
                                          <p:stCondLst>
                                            <p:cond evt="begin" delay="0">
                                              <p:tn val="26"/>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4530" grpId="0" build="p" bldLvl="5" autoUpdateAnimBg="0"/>
      <p:bldP spid="1174540" grpId="0" animBg="1"/>
      <p:bldP spid="1174541"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75612" name="Group 60"/>
          <p:cNvGrpSpPr>
            <a:grpSpLocks/>
          </p:cNvGrpSpPr>
          <p:nvPr/>
        </p:nvGrpSpPr>
        <p:grpSpPr bwMode="auto">
          <a:xfrm>
            <a:off x="4484117" y="2276548"/>
            <a:ext cx="2260600" cy="3771900"/>
            <a:chOff x="1683" y="845"/>
            <a:chExt cx="1424" cy="2376"/>
          </a:xfrm>
        </p:grpSpPr>
        <p:grpSp>
          <p:nvGrpSpPr>
            <p:cNvPr id="1175602" name="Group 50"/>
            <p:cNvGrpSpPr>
              <a:grpSpLocks/>
            </p:cNvGrpSpPr>
            <p:nvPr/>
          </p:nvGrpSpPr>
          <p:grpSpPr bwMode="auto">
            <a:xfrm>
              <a:off x="2089" y="845"/>
              <a:ext cx="1018" cy="2376"/>
              <a:chOff x="2089" y="845"/>
              <a:chExt cx="1018" cy="2376"/>
            </a:xfrm>
          </p:grpSpPr>
          <p:sp>
            <p:nvSpPr>
              <p:cNvPr id="1175567" name="AutoShape 15"/>
              <p:cNvSpPr>
                <a:spLocks noChangeArrowheads="1"/>
              </p:cNvSpPr>
              <p:nvPr/>
            </p:nvSpPr>
            <p:spPr bwMode="auto">
              <a:xfrm>
                <a:off x="2089" y="845"/>
                <a:ext cx="936" cy="2376"/>
              </a:xfrm>
              <a:prstGeom prst="foldedCorner">
                <a:avLst>
                  <a:gd name="adj" fmla="val 13745"/>
                </a:avLst>
              </a:prstGeom>
              <a:solidFill>
                <a:srgbClr val="DDFAED"/>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a typeface="隶书" pitchFamily="49" charset="-122"/>
                </a:endParaRPr>
              </a:p>
            </p:txBody>
          </p:sp>
          <p:sp>
            <p:nvSpPr>
              <p:cNvPr id="1175568" name="Line 16"/>
              <p:cNvSpPr>
                <a:spLocks noChangeShapeType="1"/>
              </p:cNvSpPr>
              <p:nvPr/>
            </p:nvSpPr>
            <p:spPr bwMode="auto">
              <a:xfrm>
                <a:off x="2089" y="1157"/>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75569" name="Line 17"/>
              <p:cNvSpPr>
                <a:spLocks noChangeShapeType="1"/>
              </p:cNvSpPr>
              <p:nvPr/>
            </p:nvSpPr>
            <p:spPr bwMode="auto">
              <a:xfrm>
                <a:off x="2089" y="1385"/>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75570" name="Line 18"/>
              <p:cNvSpPr>
                <a:spLocks noChangeShapeType="1"/>
              </p:cNvSpPr>
              <p:nvPr/>
            </p:nvSpPr>
            <p:spPr bwMode="auto">
              <a:xfrm>
                <a:off x="2089" y="1613"/>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75572" name="Line 20"/>
              <p:cNvSpPr>
                <a:spLocks noChangeShapeType="1"/>
              </p:cNvSpPr>
              <p:nvPr/>
            </p:nvSpPr>
            <p:spPr bwMode="auto">
              <a:xfrm>
                <a:off x="2089" y="2069"/>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75575" name="Line 23"/>
              <p:cNvSpPr>
                <a:spLocks noChangeShapeType="1"/>
              </p:cNvSpPr>
              <p:nvPr/>
            </p:nvSpPr>
            <p:spPr bwMode="auto">
              <a:xfrm>
                <a:off x="2089" y="2753"/>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75601" name="Text Box 49"/>
              <p:cNvSpPr txBox="1">
                <a:spLocks noChangeArrowheads="1"/>
              </p:cNvSpPr>
              <p:nvPr/>
            </p:nvSpPr>
            <p:spPr bwMode="auto">
              <a:xfrm>
                <a:off x="2109" y="2287"/>
                <a:ext cx="998" cy="252"/>
              </a:xfrm>
              <a:prstGeom prst="rect">
                <a:avLst/>
              </a:prstGeom>
              <a:noFill/>
              <a:ln w="9525" algn="ctr">
                <a:noFill/>
                <a:miter lim="800000"/>
                <a:headEnd/>
                <a:tailEnd/>
              </a:ln>
              <a:effectLst/>
            </p:spPr>
            <p:txBody>
              <a:bodyPr>
                <a:spAutoFit/>
              </a:bodyPr>
              <a:lstStyle/>
              <a:p>
                <a:pPr marL="342900" indent="-342900">
                  <a:spcBef>
                    <a:spcPct val="50000"/>
                  </a:spcBef>
                </a:pPr>
                <a:r>
                  <a:rPr lang="zh-CN" altLang="en-US" sz="2000" b="1" dirty="0">
                    <a:solidFill>
                      <a:srgbClr val="002060"/>
                    </a:solidFill>
                    <a:latin typeface="+mn-lt"/>
                    <a:ea typeface="楷体" pitchFamily="49" charset="-122"/>
                  </a:rPr>
                  <a:t>系统程序区</a:t>
                </a:r>
              </a:p>
            </p:txBody>
          </p:sp>
        </p:grpSp>
        <p:sp>
          <p:nvSpPr>
            <p:cNvPr id="1175608" name="Text Box 56"/>
            <p:cNvSpPr txBox="1">
              <a:spLocks noChangeArrowheads="1"/>
            </p:cNvSpPr>
            <p:nvPr/>
          </p:nvSpPr>
          <p:spPr bwMode="auto">
            <a:xfrm>
              <a:off x="1683" y="2070"/>
              <a:ext cx="453"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a:t>0001</a:t>
              </a:r>
            </a:p>
          </p:txBody>
        </p:sp>
      </p:grpSp>
      <p:sp>
        <p:nvSpPr>
          <p:cNvPr id="1175603" name="Text Box 51"/>
          <p:cNvSpPr txBox="1">
            <a:spLocks noChangeArrowheads="1"/>
          </p:cNvSpPr>
          <p:nvPr/>
        </p:nvSpPr>
        <p:spPr bwMode="auto">
          <a:xfrm>
            <a:off x="5231830" y="2376560"/>
            <a:ext cx="1368425"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err="1">
                <a:solidFill>
                  <a:srgbClr val="C00000"/>
                </a:solidFill>
              </a:rPr>
              <a:t>pstr</a:t>
            </a:r>
            <a:r>
              <a:rPr lang="en-US" altLang="zh-CN" sz="2000" b="1" dirty="0">
                <a:solidFill>
                  <a:srgbClr val="C00000"/>
                </a:solidFill>
              </a:rPr>
              <a:t> </a:t>
            </a:r>
            <a:r>
              <a:rPr lang="en-US" altLang="zh-CN" sz="2000" b="1" dirty="0"/>
              <a:t> 0001</a:t>
            </a:r>
          </a:p>
        </p:txBody>
      </p:sp>
      <p:grpSp>
        <p:nvGrpSpPr>
          <p:cNvPr id="1175607" name="Group 55"/>
          <p:cNvGrpSpPr>
            <a:grpSpLocks/>
          </p:cNvGrpSpPr>
          <p:nvPr/>
        </p:nvGrpSpPr>
        <p:grpSpPr bwMode="auto">
          <a:xfrm>
            <a:off x="6528817" y="2563885"/>
            <a:ext cx="792162" cy="1728788"/>
            <a:chOff x="2971" y="1026"/>
            <a:chExt cx="499" cy="1089"/>
          </a:xfrm>
        </p:grpSpPr>
        <p:sp>
          <p:nvSpPr>
            <p:cNvPr id="1175604" name="Line 52"/>
            <p:cNvSpPr>
              <a:spLocks noChangeShapeType="1"/>
            </p:cNvSpPr>
            <p:nvPr/>
          </p:nvSpPr>
          <p:spPr bwMode="auto">
            <a:xfrm>
              <a:off x="2971" y="1026"/>
              <a:ext cx="499" cy="0"/>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sp>
          <p:nvSpPr>
            <p:cNvPr id="1175605" name="Line 53"/>
            <p:cNvSpPr>
              <a:spLocks noChangeShapeType="1"/>
            </p:cNvSpPr>
            <p:nvPr/>
          </p:nvSpPr>
          <p:spPr bwMode="auto">
            <a:xfrm flipH="1">
              <a:off x="3016" y="2115"/>
              <a:ext cx="454"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75606" name="Line 54"/>
            <p:cNvSpPr>
              <a:spLocks noChangeShapeType="1"/>
            </p:cNvSpPr>
            <p:nvPr/>
          </p:nvSpPr>
          <p:spPr bwMode="auto">
            <a:xfrm>
              <a:off x="3470" y="1026"/>
              <a:ext cx="0" cy="1089"/>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grpSp>
      <p:sp>
        <p:nvSpPr>
          <p:cNvPr id="1175609" name="AutoShape 57"/>
          <p:cNvSpPr>
            <a:spLocks noChangeArrowheads="1"/>
          </p:cNvSpPr>
          <p:nvPr/>
        </p:nvSpPr>
        <p:spPr bwMode="auto">
          <a:xfrm>
            <a:off x="2928368" y="1411360"/>
            <a:ext cx="1800225" cy="647700"/>
          </a:xfrm>
          <a:prstGeom prst="wedgeRoundRectCallout">
            <a:avLst>
              <a:gd name="adj1" fmla="val 80690"/>
              <a:gd name="adj2" fmla="val 120833"/>
              <a:gd name="adj3" fmla="val 16667"/>
            </a:avLst>
          </a:prstGeom>
          <a:gradFill rotWithShape="1">
            <a:gsLst>
              <a:gs pos="0">
                <a:srgbClr val="CFCFD1"/>
              </a:gs>
              <a:gs pos="100000">
                <a:schemeClr val="bg1"/>
              </a:gs>
            </a:gsLst>
            <a:lin ang="5400000" scaled="1"/>
          </a:gradFill>
          <a:ln w="19050" algn="ctr">
            <a:solidFill>
              <a:srgbClr val="C00000"/>
            </a:solidFill>
            <a:miter lim="800000"/>
            <a:headEnd/>
            <a:tailEnd/>
          </a:ln>
          <a:effectLst>
            <a:outerShdw blurRad="50800" dist="106680" dir="2700000" algn="tl" rotWithShape="0">
              <a:prstClr val="black">
                <a:alpha val="43000"/>
              </a:prstClr>
            </a:outerShdw>
          </a:effectLst>
        </p:spPr>
        <p:txBody>
          <a:bodyPr/>
          <a:lstStyle/>
          <a:p>
            <a:pPr marL="342900" indent="-342900"/>
            <a:r>
              <a:rPr lang="zh-CN" altLang="en-US" sz="2000">
                <a:solidFill>
                  <a:srgbClr val="C00000"/>
                </a:solidFill>
                <a:latin typeface="+mn-lt"/>
                <a:ea typeface="楷体" pitchFamily="49" charset="-122"/>
              </a:rPr>
              <a:t>指针</a:t>
            </a:r>
            <a:r>
              <a:rPr lang="en-US" altLang="zh-CN" sz="2000">
                <a:solidFill>
                  <a:srgbClr val="C00000"/>
                </a:solidFill>
                <a:latin typeface="+mn-lt"/>
                <a:ea typeface="楷体" pitchFamily="49" charset="-122"/>
              </a:rPr>
              <a:t>pstr</a:t>
            </a:r>
            <a:r>
              <a:rPr lang="zh-CN" altLang="en-US" sz="2000">
                <a:solidFill>
                  <a:srgbClr val="C00000"/>
                </a:solidFill>
                <a:latin typeface="+mn-lt"/>
                <a:ea typeface="楷体" pitchFamily="49" charset="-122"/>
              </a:rPr>
              <a:t>所占内存</a:t>
            </a:r>
          </a:p>
        </p:txBody>
      </p:sp>
      <p:sp>
        <p:nvSpPr>
          <p:cNvPr id="1175611" name="Text Box 59"/>
          <p:cNvSpPr txBox="1">
            <a:spLocks noChangeArrowheads="1"/>
          </p:cNvSpPr>
          <p:nvPr/>
        </p:nvSpPr>
        <p:spPr bwMode="auto">
          <a:xfrm>
            <a:off x="2568005" y="2851223"/>
            <a:ext cx="2016125" cy="1015663"/>
          </a:xfrm>
          <a:prstGeom prst="rect">
            <a:avLst/>
          </a:prstGeom>
          <a:noFill/>
          <a:ln w="9525" algn="ctr">
            <a:noFill/>
            <a:miter lim="800000"/>
            <a:headEnd/>
            <a:tailEnd/>
          </a:ln>
          <a:effectLst/>
        </p:spPr>
        <p:txBody>
          <a:bodyPr>
            <a:spAutoFit/>
          </a:bodyPr>
          <a:lstStyle/>
          <a:p>
            <a:pPr marL="342900" indent="-342900">
              <a:spcBef>
                <a:spcPct val="50000"/>
              </a:spcBef>
            </a:pPr>
            <a:r>
              <a:rPr lang="en-US" altLang="zh-CN" dirty="0"/>
              <a:t>char *</a:t>
            </a:r>
            <a:r>
              <a:rPr lang="en-US" altLang="zh-CN" dirty="0" err="1"/>
              <a:t>pstr</a:t>
            </a:r>
            <a:r>
              <a:rPr lang="en-US" altLang="zh-CN" dirty="0"/>
              <a:t>;</a:t>
            </a:r>
          </a:p>
          <a:p>
            <a:pPr marL="342900" indent="-342900">
              <a:spcBef>
                <a:spcPct val="50000"/>
              </a:spcBef>
            </a:pPr>
            <a:r>
              <a:rPr lang="zh-CN" altLang="en-US" dirty="0"/>
              <a:t>*</a:t>
            </a:r>
            <a:r>
              <a:rPr lang="en-US" altLang="zh-CN" dirty="0" err="1"/>
              <a:t>pstr</a:t>
            </a:r>
            <a:r>
              <a:rPr lang="en-US" altLang="zh-CN" dirty="0"/>
              <a:t> = 'a';</a:t>
            </a:r>
          </a:p>
        </p:txBody>
      </p:sp>
      <p:grpSp>
        <p:nvGrpSpPr>
          <p:cNvPr id="1175616" name="Group 64"/>
          <p:cNvGrpSpPr>
            <a:grpSpLocks/>
          </p:cNvGrpSpPr>
          <p:nvPr/>
        </p:nvGrpSpPr>
        <p:grpSpPr bwMode="auto">
          <a:xfrm>
            <a:off x="5793804" y="1512960"/>
            <a:ext cx="4191000" cy="1150938"/>
            <a:chOff x="2508" y="364"/>
            <a:chExt cx="2640" cy="725"/>
          </a:xfrm>
        </p:grpSpPr>
        <p:sp>
          <p:nvSpPr>
            <p:cNvPr id="1175613" name="Oval 61"/>
            <p:cNvSpPr>
              <a:spLocks noChangeArrowheads="1"/>
            </p:cNvSpPr>
            <p:nvPr/>
          </p:nvSpPr>
          <p:spPr bwMode="auto">
            <a:xfrm>
              <a:off x="2508" y="908"/>
              <a:ext cx="454" cy="181"/>
            </a:xfrm>
            <a:prstGeom prst="ellipse">
              <a:avLst/>
            </a:prstGeom>
            <a:noFill/>
            <a:ln w="28575" algn="ctr">
              <a:solidFill>
                <a:srgbClr val="C01920"/>
              </a:solidFill>
              <a:round/>
              <a:headEnd/>
              <a:tailEnd/>
            </a:ln>
            <a:effectLst/>
          </p:spPr>
          <p:txBody>
            <a:bodyPr wrap="none" anchor="ctr"/>
            <a:lstStyle/>
            <a:p>
              <a:endParaRPr lang="zh-CN" altLang="en-US">
                <a:solidFill>
                  <a:srgbClr val="C00000"/>
                </a:solidFill>
              </a:endParaRPr>
            </a:p>
          </p:txBody>
        </p:sp>
        <p:sp>
          <p:nvSpPr>
            <p:cNvPr id="1175614" name="AutoShape 62"/>
            <p:cNvSpPr>
              <a:spLocks/>
            </p:cNvSpPr>
            <p:nvPr/>
          </p:nvSpPr>
          <p:spPr bwMode="auto">
            <a:xfrm>
              <a:off x="3651" y="364"/>
              <a:ext cx="1497" cy="384"/>
            </a:xfrm>
            <a:prstGeom prst="borderCallout2">
              <a:avLst>
                <a:gd name="adj1" fmla="val 18750"/>
                <a:gd name="adj2" fmla="val -3208"/>
                <a:gd name="adj3" fmla="val 18750"/>
                <a:gd name="adj4" fmla="val -30329"/>
                <a:gd name="adj5" fmla="val 138542"/>
                <a:gd name="adj6" fmla="val -58384"/>
              </a:avLst>
            </a:prstGeom>
            <a:gradFill rotWithShape="1">
              <a:gsLst>
                <a:gs pos="0">
                  <a:srgbClr val="CFCFD1"/>
                </a:gs>
                <a:gs pos="100000">
                  <a:schemeClr val="bg1"/>
                </a:gs>
              </a:gsLst>
              <a:lin ang="5400000" scaled="1"/>
            </a:gradFill>
            <a:ln w="22225" algn="ctr">
              <a:solidFill>
                <a:srgbClr val="C01920"/>
              </a:solidFill>
              <a:miter lim="800000"/>
              <a:headEnd/>
              <a:tailEnd/>
            </a:ln>
            <a:effectLst>
              <a:outerShdw blurRad="50800" dist="106680" dir="2700000" algn="tl" rotWithShape="0">
                <a:prstClr val="black">
                  <a:alpha val="43000"/>
                </a:prstClr>
              </a:outerShdw>
            </a:effectLst>
          </p:spPr>
          <p:txBody>
            <a:bodyPr/>
            <a:lstStyle/>
            <a:p>
              <a:pPr marL="342900" indent="-342900"/>
              <a:r>
                <a:rPr kumimoji="0" lang="zh-CN" altLang="en-US" sz="2000">
                  <a:solidFill>
                    <a:srgbClr val="C00000"/>
                  </a:solidFill>
                  <a:latin typeface="+mn-lt"/>
                  <a:ea typeface="楷体" pitchFamily="49" charset="-122"/>
                </a:rPr>
                <a:t>随机值，</a:t>
              </a:r>
              <a:r>
                <a:rPr lang="zh-CN" altLang="en-US" sz="2000">
                  <a:solidFill>
                    <a:srgbClr val="C00000"/>
                  </a:solidFill>
                  <a:latin typeface="+mn-lt"/>
                  <a:ea typeface="楷体" pitchFamily="49" charset="-122"/>
                </a:rPr>
                <a:t>有可能指向系统程序区</a:t>
              </a:r>
            </a:p>
          </p:txBody>
        </p:sp>
      </p:grpSp>
      <p:grpSp>
        <p:nvGrpSpPr>
          <p:cNvPr id="1175620" name="Group 68"/>
          <p:cNvGrpSpPr>
            <a:grpSpLocks/>
          </p:cNvGrpSpPr>
          <p:nvPr/>
        </p:nvGrpSpPr>
        <p:grpSpPr bwMode="auto">
          <a:xfrm>
            <a:off x="2496568" y="4233935"/>
            <a:ext cx="2663825" cy="1398588"/>
            <a:chOff x="431" y="2078"/>
            <a:chExt cx="1678" cy="881"/>
          </a:xfrm>
        </p:grpSpPr>
        <p:sp>
          <p:nvSpPr>
            <p:cNvPr id="1175618" name="Oval 66"/>
            <p:cNvSpPr>
              <a:spLocks noChangeArrowheads="1"/>
            </p:cNvSpPr>
            <p:nvPr/>
          </p:nvSpPr>
          <p:spPr bwMode="auto">
            <a:xfrm>
              <a:off x="1655" y="2078"/>
              <a:ext cx="454" cy="181"/>
            </a:xfrm>
            <a:prstGeom prst="ellipse">
              <a:avLst/>
            </a:prstGeom>
            <a:noFill/>
            <a:ln w="28575" algn="ctr">
              <a:solidFill>
                <a:srgbClr val="C01920"/>
              </a:solidFill>
              <a:round/>
              <a:headEnd/>
              <a:tailEnd/>
            </a:ln>
            <a:effectLst/>
          </p:spPr>
          <p:txBody>
            <a:bodyPr wrap="none" anchor="ctr"/>
            <a:lstStyle/>
            <a:p>
              <a:endParaRPr lang="zh-CN" altLang="en-US">
                <a:solidFill>
                  <a:srgbClr val="C00000"/>
                </a:solidFill>
                <a:latin typeface="+mn-lt"/>
                <a:ea typeface="楷体" pitchFamily="49" charset="-122"/>
              </a:endParaRPr>
            </a:p>
          </p:txBody>
        </p:sp>
        <p:sp>
          <p:nvSpPr>
            <p:cNvPr id="1175619" name="AutoShape 67"/>
            <p:cNvSpPr>
              <a:spLocks/>
            </p:cNvSpPr>
            <p:nvPr/>
          </p:nvSpPr>
          <p:spPr bwMode="auto">
            <a:xfrm>
              <a:off x="431" y="2568"/>
              <a:ext cx="1144" cy="391"/>
            </a:xfrm>
            <a:prstGeom prst="borderCallout2">
              <a:avLst>
                <a:gd name="adj1" fmla="val 18412"/>
                <a:gd name="adj2" fmla="val 104194"/>
                <a:gd name="adj3" fmla="val 18412"/>
                <a:gd name="adj4" fmla="val 117134"/>
                <a:gd name="adj5" fmla="val -78005"/>
                <a:gd name="adj6" fmla="val 133218"/>
              </a:avLst>
            </a:prstGeom>
            <a:gradFill rotWithShape="1">
              <a:gsLst>
                <a:gs pos="0">
                  <a:srgbClr val="CFCFD1"/>
                </a:gs>
                <a:gs pos="100000">
                  <a:schemeClr val="bg1"/>
                </a:gs>
              </a:gsLst>
              <a:lin ang="5400000" scaled="1"/>
            </a:gradFill>
            <a:ln w="22225" algn="ctr">
              <a:solidFill>
                <a:srgbClr val="C01920"/>
              </a:solidFill>
              <a:miter lim="800000"/>
              <a:headEnd/>
              <a:tailEnd/>
            </a:ln>
            <a:effectLst>
              <a:outerShdw blurRad="50800" dist="106680" dir="2700000" algn="tl" rotWithShape="0">
                <a:prstClr val="black">
                  <a:alpha val="43000"/>
                </a:prstClr>
              </a:outerShdw>
            </a:effectLst>
          </p:spPr>
          <p:txBody>
            <a:bodyPr/>
            <a:lstStyle/>
            <a:p>
              <a:pPr marL="342900" indent="-342900"/>
              <a:r>
                <a:rPr kumimoji="0" lang="zh-CN" altLang="en-US" sz="2000" dirty="0">
                  <a:solidFill>
                    <a:srgbClr val="C00000"/>
                  </a:solidFill>
                  <a:latin typeface="+mn-lt"/>
                  <a:ea typeface="楷体" pitchFamily="49" charset="-122"/>
                </a:rPr>
                <a:t>假设首地址为</a:t>
              </a:r>
              <a:r>
                <a:rPr kumimoji="0" lang="en-US" altLang="zh-CN" sz="2000" dirty="0">
                  <a:solidFill>
                    <a:srgbClr val="C00000"/>
                  </a:solidFill>
                  <a:latin typeface="+mn-lt"/>
                  <a:ea typeface="楷体" pitchFamily="49" charset="-122"/>
                </a:rPr>
                <a:t>0001</a:t>
              </a:r>
              <a:endParaRPr lang="en-US" altLang="zh-CN" sz="2000" dirty="0">
                <a:solidFill>
                  <a:srgbClr val="C00000"/>
                </a:solidFill>
                <a:latin typeface="+mn-lt"/>
                <a:ea typeface="楷体" pitchFamily="49" charset="-122"/>
              </a:endParaRPr>
            </a:p>
          </p:txBody>
        </p:sp>
      </p:grpSp>
      <p:grpSp>
        <p:nvGrpSpPr>
          <p:cNvPr id="1175623" name="Group 71"/>
          <p:cNvGrpSpPr>
            <a:grpSpLocks/>
          </p:cNvGrpSpPr>
          <p:nvPr/>
        </p:nvGrpSpPr>
        <p:grpSpPr bwMode="auto">
          <a:xfrm>
            <a:off x="6427217" y="4935610"/>
            <a:ext cx="3687762" cy="1044575"/>
            <a:chOff x="2907" y="2520"/>
            <a:chExt cx="2323" cy="658"/>
          </a:xfrm>
        </p:grpSpPr>
        <p:sp>
          <p:nvSpPr>
            <p:cNvPr id="1175621" name="AutoShape 69"/>
            <p:cNvSpPr>
              <a:spLocks noChangeArrowheads="1"/>
            </p:cNvSpPr>
            <p:nvPr/>
          </p:nvSpPr>
          <p:spPr bwMode="auto">
            <a:xfrm rot="12338285">
              <a:off x="2907" y="2520"/>
              <a:ext cx="908" cy="31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CFCFD1"/>
                </a:gs>
                <a:gs pos="100000">
                  <a:schemeClr val="bg1"/>
                </a:gs>
              </a:gsLst>
              <a:lin ang="5400000" scaled="1"/>
            </a:gradFill>
            <a:ln w="9525" algn="ctr">
              <a:solidFill>
                <a:srgbClr val="C00000"/>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dirty="0">
                <a:latin typeface="+mn-lt"/>
                <a:ea typeface="楷体" pitchFamily="49" charset="-122"/>
              </a:endParaRPr>
            </a:p>
          </p:txBody>
        </p:sp>
        <p:sp>
          <p:nvSpPr>
            <p:cNvPr id="1175622" name="Text Box 70"/>
            <p:cNvSpPr txBox="1">
              <a:spLocks noChangeArrowheads="1"/>
            </p:cNvSpPr>
            <p:nvPr/>
          </p:nvSpPr>
          <p:spPr bwMode="auto">
            <a:xfrm>
              <a:off x="3870" y="2732"/>
              <a:ext cx="1360" cy="446"/>
            </a:xfrm>
            <a:prstGeom prst="rect">
              <a:avLst/>
            </a:prstGeom>
            <a:gradFill rotWithShape="1">
              <a:gsLst>
                <a:gs pos="0">
                  <a:srgbClr val="CFCFD1"/>
                </a:gs>
                <a:gs pos="100000">
                  <a:schemeClr val="bg1"/>
                </a:gs>
              </a:gsLst>
              <a:lin ang="5400000" scaled="1"/>
            </a:gradFill>
            <a:ln w="19050" algn="ctr">
              <a:solidFill>
                <a:srgbClr val="C01920"/>
              </a:solidFill>
              <a:miter lim="800000"/>
              <a:headEnd/>
              <a:tailEnd/>
            </a:ln>
            <a:effectLst>
              <a:outerShdw blurRad="50800" dist="106680" dir="2700000" algn="tl" rotWithShape="0">
                <a:prstClr val="black">
                  <a:alpha val="43000"/>
                </a:prstClr>
              </a:outerShdw>
            </a:effectLst>
          </p:spPr>
          <p:txBody>
            <a:bodyPr>
              <a:spAutoFit/>
            </a:bodyPr>
            <a:lstStyle/>
            <a:p>
              <a:pPr marL="342900" indent="-342900">
                <a:spcBef>
                  <a:spcPct val="50000"/>
                </a:spcBef>
              </a:pPr>
              <a:r>
                <a:rPr lang="zh-CN" altLang="en-US" sz="2000">
                  <a:solidFill>
                    <a:srgbClr val="C00000"/>
                  </a:solidFill>
                  <a:latin typeface="+mn-lt"/>
                  <a:ea typeface="楷体" pitchFamily="49" charset="-122"/>
                </a:rPr>
                <a:t>此时对</a:t>
              </a:r>
              <a:r>
                <a:rPr lang="en-US" altLang="zh-CN" sz="2000">
                  <a:solidFill>
                    <a:srgbClr val="C00000"/>
                  </a:solidFill>
                  <a:latin typeface="+mn-lt"/>
                  <a:ea typeface="楷体" pitchFamily="49" charset="-122"/>
                </a:rPr>
                <a:t>pstr</a:t>
              </a:r>
              <a:r>
                <a:rPr lang="zh-CN" altLang="en-US" sz="2000">
                  <a:solidFill>
                    <a:srgbClr val="C00000"/>
                  </a:solidFill>
                  <a:latin typeface="+mn-lt"/>
                  <a:ea typeface="楷体" pitchFamily="49" charset="-122"/>
                </a:rPr>
                <a:t>指向的内存单元赋值</a:t>
              </a:r>
            </a:p>
          </p:txBody>
        </p:sp>
      </p:grpSp>
      <p:sp>
        <p:nvSpPr>
          <p:cNvPr id="1175624" name="AutoShape 72"/>
          <p:cNvSpPr>
            <a:spLocks noChangeArrowheads="1"/>
          </p:cNvSpPr>
          <p:nvPr/>
        </p:nvSpPr>
        <p:spPr bwMode="auto">
          <a:xfrm>
            <a:off x="5128011" y="5610954"/>
            <a:ext cx="4032250" cy="1368425"/>
          </a:xfrm>
          <a:prstGeom prst="irregularSeal1">
            <a:avLst/>
          </a:prstGeom>
          <a:gradFill rotWithShape="1">
            <a:gsLst>
              <a:gs pos="0">
                <a:srgbClr val="CFCFD1"/>
              </a:gs>
              <a:gs pos="100000">
                <a:schemeClr val="bg1"/>
              </a:gs>
            </a:gsLst>
            <a:lin ang="5400000" scaled="1"/>
          </a:gradFill>
          <a:ln w="28575" algn="ctr">
            <a:solidFill>
              <a:srgbClr val="C00000"/>
            </a:solidFill>
            <a:miter lim="800000"/>
            <a:headEnd/>
            <a:tailEnd/>
          </a:ln>
          <a:effectLst>
            <a:outerShdw blurRad="50800" dist="106680" dir="2700000" algn="tl" rotWithShape="0">
              <a:prstClr val="black">
                <a:alpha val="43000"/>
              </a:prstClr>
            </a:outerShdw>
          </a:effectLst>
        </p:spPr>
        <p:txBody>
          <a:bodyPr wrap="none" anchor="ctr"/>
          <a:lstStyle/>
          <a:p>
            <a:pPr marL="342900" indent="-342900" algn="ctr"/>
            <a:r>
              <a:rPr lang="zh-CN" altLang="en-US" b="1">
                <a:solidFill>
                  <a:srgbClr val="C00000"/>
                </a:solidFill>
                <a:latin typeface="+mn-lt"/>
                <a:ea typeface="楷体" pitchFamily="49" charset="-122"/>
              </a:rPr>
              <a:t>极其危险！</a:t>
            </a:r>
          </a:p>
        </p:txBody>
      </p:sp>
      <p:sp>
        <p:nvSpPr>
          <p:cNvPr id="1175625" name="Text Box 73"/>
          <p:cNvSpPr txBox="1">
            <a:spLocks noChangeArrowheads="1"/>
          </p:cNvSpPr>
          <p:nvPr/>
        </p:nvSpPr>
        <p:spPr bwMode="auto">
          <a:xfrm>
            <a:off x="631529" y="795411"/>
            <a:ext cx="7705725" cy="461665"/>
          </a:xfrm>
          <a:prstGeom prst="rect">
            <a:avLst/>
          </a:prstGeom>
          <a:noFill/>
          <a:ln w="9525" algn="ctr">
            <a:noFill/>
            <a:miter lim="800000"/>
            <a:headEnd/>
            <a:tailEnd/>
          </a:ln>
          <a:effectLst/>
        </p:spPr>
        <p:txBody>
          <a:bodyPr>
            <a:spAutoFit/>
          </a:bodyPr>
          <a:lstStyle/>
          <a:p>
            <a:pPr marL="342900" indent="-342900">
              <a:spcBef>
                <a:spcPct val="50000"/>
              </a:spcBef>
            </a:pPr>
            <a:r>
              <a:rPr lang="zh-CN" altLang="en-US" b="1" dirty="0">
                <a:solidFill>
                  <a:srgbClr val="C00000"/>
                </a:solidFill>
                <a:latin typeface="楷体" panose="02010609060101010101" pitchFamily="49" charset="-122"/>
                <a:ea typeface="楷体" panose="02010609060101010101" pitchFamily="49" charset="-122"/>
              </a:rPr>
              <a:t>为什么“野指针”赋值会给程序运行带来极大的危险？</a:t>
            </a:r>
          </a:p>
        </p:txBody>
      </p:sp>
      <p:sp>
        <p:nvSpPr>
          <p:cNvPr id="1175626" name="Rectangle 74"/>
          <p:cNvSpPr>
            <a:spLocks noChangeArrowheads="1"/>
          </p:cNvSpPr>
          <p:nvPr/>
        </p:nvSpPr>
        <p:spPr bwMode="auto">
          <a:xfrm>
            <a:off x="1991544" y="3183544"/>
            <a:ext cx="8641131" cy="1200329"/>
          </a:xfrm>
          <a:prstGeom prst="rect">
            <a:avLst/>
          </a:prstGeom>
          <a:gradFill rotWithShape="1">
            <a:gsLst>
              <a:gs pos="0">
                <a:srgbClr val="CFCFD1"/>
              </a:gs>
              <a:gs pos="100000">
                <a:schemeClr val="bg1">
                  <a:lumMod val="95000"/>
                </a:schemeClr>
              </a:gs>
            </a:gsLst>
            <a:lin ang="5400000" scaled="1"/>
          </a:gra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304800"/>
            <a:r>
              <a:rPr lang="zh-CN" altLang="en-US" dirty="0">
                <a:solidFill>
                  <a:srgbClr val="C00000"/>
                </a:solidFill>
                <a:ea typeface="隶书" pitchFamily="49" charset="-122"/>
              </a:rPr>
              <a:t>再次提醒：</a:t>
            </a:r>
          </a:p>
          <a:p>
            <a:pPr indent="304800"/>
            <a:r>
              <a:rPr lang="zh-CN" altLang="en-US" dirty="0">
                <a:ea typeface="隶书" pitchFamily="49" charset="-122"/>
              </a:rPr>
              <a:t>    指针变量只有与内存建立联系以后才可使用，否则将造成程序运行异常，甚至导致系统死机！</a:t>
            </a:r>
          </a:p>
        </p:txBody>
      </p:sp>
      <p:sp>
        <p:nvSpPr>
          <p:cNvPr id="34" name="Rectangle 4">
            <a:extLst>
              <a:ext uri="{FF2B5EF4-FFF2-40B4-BE49-F238E27FC236}">
                <a16:creationId xmlns:a16="http://schemas.microsoft.com/office/drawing/2014/main" id="{65E07F73-9DF2-425D-9F8A-7DBEE7F442EC}"/>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指针与字符串</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5625"/>
                                        </p:tgtEl>
                                        <p:attrNameLst>
                                          <p:attrName>style.visibility</p:attrName>
                                        </p:attrNameLst>
                                      </p:cBhvr>
                                      <p:to>
                                        <p:strVal val="visible"/>
                                      </p:to>
                                    </p:set>
                                    <p:anim calcmode="lin" valueType="num">
                                      <p:cBhvr additive="base">
                                        <p:cTn id="7" dur="500" fill="hold"/>
                                        <p:tgtEl>
                                          <p:spTgt spid="1175625"/>
                                        </p:tgtEl>
                                        <p:attrNameLst>
                                          <p:attrName>ppt_x</p:attrName>
                                        </p:attrNameLst>
                                      </p:cBhvr>
                                      <p:tavLst>
                                        <p:tav tm="0">
                                          <p:val>
                                            <p:strVal val="0-#ppt_w/2"/>
                                          </p:val>
                                        </p:tav>
                                        <p:tav tm="100000">
                                          <p:val>
                                            <p:strVal val="#ppt_x"/>
                                          </p:val>
                                        </p:tav>
                                      </p:tavLst>
                                    </p:anim>
                                    <p:anim calcmode="lin" valueType="num">
                                      <p:cBhvr additive="base">
                                        <p:cTn id="8" dur="500" fill="hold"/>
                                        <p:tgtEl>
                                          <p:spTgt spid="11756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75612"/>
                                        </p:tgtEl>
                                        <p:attrNameLst>
                                          <p:attrName>style.visibility</p:attrName>
                                        </p:attrNameLst>
                                      </p:cBhvr>
                                      <p:to>
                                        <p:strVal val="visible"/>
                                      </p:to>
                                    </p:set>
                                    <p:animEffect transition="in" filter="box(out)">
                                      <p:cBhvr>
                                        <p:cTn id="13" dur="500"/>
                                        <p:tgtEl>
                                          <p:spTgt spid="1175612"/>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75611">
                                            <p:txEl>
                                              <p:pRg st="0" end="0"/>
                                            </p:txEl>
                                          </p:spTgt>
                                        </p:tgtEl>
                                        <p:attrNameLst>
                                          <p:attrName>style.visibility</p:attrName>
                                        </p:attrNameLst>
                                      </p:cBhvr>
                                      <p:to>
                                        <p:strVal val="visible"/>
                                      </p:to>
                                    </p:set>
                                    <p:anim calcmode="lin" valueType="num">
                                      <p:cBhvr additive="base">
                                        <p:cTn id="18" dur="500" fill="hold"/>
                                        <p:tgtEl>
                                          <p:spTgt spid="1175611">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175611">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75603"/>
                                        </p:tgtEl>
                                        <p:attrNameLst>
                                          <p:attrName>style.visibility</p:attrName>
                                        </p:attrNameLst>
                                      </p:cBhvr>
                                      <p:to>
                                        <p:strVal val="visible"/>
                                      </p:to>
                                    </p:set>
                                    <p:animEffect transition="in" filter="box(out)">
                                      <p:cBhvr>
                                        <p:cTn id="24" dur="500"/>
                                        <p:tgtEl>
                                          <p:spTgt spid="1175603"/>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par>
                          <p:cTn id="25" fill="hold">
                            <p:stCondLst>
                              <p:cond delay="500"/>
                            </p:stCondLst>
                            <p:childTnLst>
                              <p:par>
                                <p:cTn id="26" presetID="18" presetClass="entr" presetSubtype="12" fill="hold" grpId="0" nodeType="afterEffect">
                                  <p:stCondLst>
                                    <p:cond delay="0"/>
                                  </p:stCondLst>
                                  <p:childTnLst>
                                    <p:set>
                                      <p:cBhvr>
                                        <p:cTn id="27" dur="1" fill="hold">
                                          <p:stCondLst>
                                            <p:cond delay="0"/>
                                          </p:stCondLst>
                                        </p:cTn>
                                        <p:tgtEl>
                                          <p:spTgt spid="1175609"/>
                                        </p:tgtEl>
                                        <p:attrNameLst>
                                          <p:attrName>style.visibility</p:attrName>
                                        </p:attrNameLst>
                                      </p:cBhvr>
                                      <p:to>
                                        <p:strVal val="visible"/>
                                      </p:to>
                                    </p:set>
                                    <p:animEffect transition="in" filter="strips(downLeft)">
                                      <p:cBhvr>
                                        <p:cTn id="28" dur="500"/>
                                        <p:tgtEl>
                                          <p:spTgt spid="1175609"/>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1000"/>
                            </p:stCondLst>
                            <p:childTnLst>
                              <p:par>
                                <p:cTn id="30" presetID="18" presetClass="entr" presetSubtype="12" fill="hold" nodeType="afterEffect">
                                  <p:stCondLst>
                                    <p:cond delay="0"/>
                                  </p:stCondLst>
                                  <p:childTnLst>
                                    <p:set>
                                      <p:cBhvr>
                                        <p:cTn id="31" dur="1" fill="hold">
                                          <p:stCondLst>
                                            <p:cond delay="0"/>
                                          </p:stCondLst>
                                        </p:cTn>
                                        <p:tgtEl>
                                          <p:spTgt spid="1175607"/>
                                        </p:tgtEl>
                                        <p:attrNameLst>
                                          <p:attrName>style.visibility</p:attrName>
                                        </p:attrNameLst>
                                      </p:cBhvr>
                                      <p:to>
                                        <p:strVal val="visible"/>
                                      </p:to>
                                    </p:set>
                                    <p:animEffect transition="in" filter="strips(downLeft)">
                                      <p:cBhvr>
                                        <p:cTn id="32" dur="500"/>
                                        <p:tgtEl>
                                          <p:spTgt spid="1175607"/>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1500"/>
                            </p:stCondLst>
                            <p:childTnLst>
                              <p:par>
                                <p:cTn id="34" presetID="18" presetClass="entr" presetSubtype="3" fill="hold" nodeType="afterEffect">
                                  <p:stCondLst>
                                    <p:cond delay="0"/>
                                  </p:stCondLst>
                                  <p:childTnLst>
                                    <p:set>
                                      <p:cBhvr>
                                        <p:cTn id="35" dur="1" fill="hold">
                                          <p:stCondLst>
                                            <p:cond delay="0"/>
                                          </p:stCondLst>
                                        </p:cTn>
                                        <p:tgtEl>
                                          <p:spTgt spid="1175616"/>
                                        </p:tgtEl>
                                        <p:attrNameLst>
                                          <p:attrName>style.visibility</p:attrName>
                                        </p:attrNameLst>
                                      </p:cBhvr>
                                      <p:to>
                                        <p:strVal val="visible"/>
                                      </p:to>
                                    </p:set>
                                    <p:animEffect transition="in" filter="strips(upRight)">
                                      <p:cBhvr>
                                        <p:cTn id="36" dur="500"/>
                                        <p:tgtEl>
                                          <p:spTgt spid="1175616"/>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par>
                          <p:cTn id="37" fill="hold">
                            <p:stCondLst>
                              <p:cond delay="2000"/>
                            </p:stCondLst>
                            <p:childTnLst>
                              <p:par>
                                <p:cTn id="38" presetID="18" presetClass="entr" presetSubtype="12" fill="hold" nodeType="afterEffect">
                                  <p:stCondLst>
                                    <p:cond delay="0"/>
                                  </p:stCondLst>
                                  <p:childTnLst>
                                    <p:set>
                                      <p:cBhvr>
                                        <p:cTn id="39" dur="1" fill="hold">
                                          <p:stCondLst>
                                            <p:cond delay="0"/>
                                          </p:stCondLst>
                                        </p:cTn>
                                        <p:tgtEl>
                                          <p:spTgt spid="1175620"/>
                                        </p:tgtEl>
                                        <p:attrNameLst>
                                          <p:attrName>style.visibility</p:attrName>
                                        </p:attrNameLst>
                                      </p:cBhvr>
                                      <p:to>
                                        <p:strVal val="visible"/>
                                      </p:to>
                                    </p:set>
                                    <p:animEffect transition="in" filter="strips(downLeft)">
                                      <p:cBhvr>
                                        <p:cTn id="40" dur="500"/>
                                        <p:tgtEl>
                                          <p:spTgt spid="1175620"/>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175611">
                                            <p:txEl>
                                              <p:pRg st="1" end="1"/>
                                            </p:txEl>
                                          </p:spTgt>
                                        </p:tgtEl>
                                        <p:attrNameLst>
                                          <p:attrName>style.visibility</p:attrName>
                                        </p:attrNameLst>
                                      </p:cBhvr>
                                      <p:to>
                                        <p:strVal val="visible"/>
                                      </p:to>
                                    </p:set>
                                    <p:anim calcmode="lin" valueType="num">
                                      <p:cBhvr additive="base">
                                        <p:cTn id="45" dur="500" fill="hold"/>
                                        <p:tgtEl>
                                          <p:spTgt spid="1175611">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17561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1175623"/>
                                        </p:tgtEl>
                                        <p:attrNameLst>
                                          <p:attrName>style.visibility</p:attrName>
                                        </p:attrNameLst>
                                      </p:cBhvr>
                                      <p:to>
                                        <p:strVal val="visible"/>
                                      </p:to>
                                    </p:set>
                                    <p:animEffect transition="in" filter="strips(downLeft)">
                                      <p:cBhvr>
                                        <p:cTn id="51" dur="500"/>
                                        <p:tgtEl>
                                          <p:spTgt spid="1175623"/>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16" fill="hold" grpId="0" nodeType="clickEffect">
                                  <p:stCondLst>
                                    <p:cond delay="0"/>
                                  </p:stCondLst>
                                  <p:childTnLst>
                                    <p:set>
                                      <p:cBhvr>
                                        <p:cTn id="55" dur="1" fill="hold">
                                          <p:stCondLst>
                                            <p:cond delay="0"/>
                                          </p:stCondLst>
                                        </p:cTn>
                                        <p:tgtEl>
                                          <p:spTgt spid="1175624"/>
                                        </p:tgtEl>
                                        <p:attrNameLst>
                                          <p:attrName>style.visibility</p:attrName>
                                        </p:attrNameLst>
                                      </p:cBhvr>
                                      <p:to>
                                        <p:strVal val="visible"/>
                                      </p:to>
                                    </p:set>
                                    <p:animEffect transition="in" filter="box(in)">
                                      <p:cBhvr>
                                        <p:cTn id="56" dur="500"/>
                                        <p:tgtEl>
                                          <p:spTgt spid="1175624"/>
                                        </p:tgtEl>
                                      </p:cBhvr>
                                    </p:animEffect>
                                  </p:childTnLst>
                                  <p:subTnLst>
                                    <p:audio>
                                      <p:cMediaNode>
                                        <p:cTn display="0" masterRel="sameClick">
                                          <p:stCondLst>
                                            <p:cond evt="begin" delay="0">
                                              <p:tn val="54"/>
                                            </p:cond>
                                          </p:stCondLst>
                                          <p:endCondLst>
                                            <p:cond evt="onStopAudio" delay="0">
                                              <p:tgtEl>
                                                <p:sldTgt/>
                                              </p:tgtEl>
                                            </p:cond>
                                          </p:endCondLst>
                                        </p:cTn>
                                        <p:tgtEl>
                                          <p:sndTgt r:embed="rId4" name="bomb.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grpId="0" nodeType="clickEffect">
                                  <p:stCondLst>
                                    <p:cond delay="0"/>
                                  </p:stCondLst>
                                  <p:childTnLst>
                                    <p:set>
                                      <p:cBhvr>
                                        <p:cTn id="60" dur="1" fill="hold">
                                          <p:stCondLst>
                                            <p:cond delay="0"/>
                                          </p:stCondLst>
                                        </p:cTn>
                                        <p:tgtEl>
                                          <p:spTgt spid="1175626"/>
                                        </p:tgtEl>
                                        <p:attrNameLst>
                                          <p:attrName>style.visibility</p:attrName>
                                        </p:attrNameLst>
                                      </p:cBhvr>
                                      <p:to>
                                        <p:strVal val="visible"/>
                                      </p:to>
                                    </p:set>
                                    <p:animEffect transition="in" filter="box(out)">
                                      <p:cBhvr>
                                        <p:cTn id="61" dur="500"/>
                                        <p:tgtEl>
                                          <p:spTgt spid="1175626"/>
                                        </p:tgtEl>
                                      </p:cBhvr>
                                    </p:animEffect>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603" grpId="0"/>
      <p:bldP spid="1175609" grpId="0" animBg="1"/>
      <p:bldP spid="1175624" grpId="0" animBg="1"/>
      <p:bldP spid="1175625" grpId="0"/>
      <p:bldP spid="1175626"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6608" name="Text Box 32"/>
          <p:cNvSpPr txBox="1">
            <a:spLocks noChangeArrowheads="1"/>
          </p:cNvSpPr>
          <p:nvPr/>
        </p:nvSpPr>
        <p:spPr bwMode="auto">
          <a:xfrm>
            <a:off x="838547" y="847285"/>
            <a:ext cx="7705725" cy="461665"/>
          </a:xfrm>
          <a:prstGeom prst="rect">
            <a:avLst/>
          </a:prstGeom>
          <a:noFill/>
          <a:ln w="9525" algn="ctr">
            <a:noFill/>
            <a:miter lim="800000"/>
            <a:headEnd/>
            <a:tailEnd/>
          </a:ln>
          <a:effectLst/>
        </p:spPr>
        <p:txBody>
          <a:bodyPr>
            <a:spAutoFit/>
          </a:bodyPr>
          <a:lstStyle/>
          <a:p>
            <a:pPr marL="342900" indent="-342900">
              <a:spcBef>
                <a:spcPct val="50000"/>
              </a:spcBef>
            </a:pPr>
            <a:r>
              <a:rPr lang="zh-CN" altLang="zh-CN"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利用字符指针实现字符串的倒序排列</a:t>
            </a:r>
            <a:r>
              <a:rPr lang="zh-CN" altLang="en-US" sz="2000" b="1" dirty="0">
                <a:solidFill>
                  <a:srgbClr val="C00000"/>
                </a:solidFill>
                <a:latin typeface="楷体" panose="02010609060101010101" pitchFamily="49" charset="-122"/>
                <a:ea typeface="楷体" panose="02010609060101010101" pitchFamily="49" charset="-122"/>
              </a:rPr>
              <a:t> </a:t>
            </a:r>
          </a:p>
        </p:txBody>
      </p:sp>
      <p:sp>
        <p:nvSpPr>
          <p:cNvPr id="1176610" name="Rectangle 34" descr="信纸"/>
          <p:cNvSpPr>
            <a:spLocks noChangeArrowheads="1"/>
          </p:cNvSpPr>
          <p:nvPr/>
        </p:nvSpPr>
        <p:spPr bwMode="auto">
          <a:xfrm>
            <a:off x="1819715" y="1252087"/>
            <a:ext cx="9533738" cy="5632311"/>
          </a:xfrm>
          <a:prstGeom prst="rect">
            <a:avLst/>
          </a:prstGeom>
          <a:gradFill>
            <a:gsLst>
              <a:gs pos="0">
                <a:srgbClr val="CFCFD1"/>
              </a:gs>
              <a:gs pos="100000">
                <a:schemeClr val="bg1">
                  <a:lumMod val="95000"/>
                </a:schemeClr>
              </a:gs>
            </a:gsLst>
            <a:lin ang="54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sz="2000" dirty="0"/>
              <a:t>#include &lt;</a:t>
            </a:r>
            <a:r>
              <a:rPr lang="en-US" altLang="zh-CN" sz="2000" dirty="0" err="1"/>
              <a:t>stdio.h</a:t>
            </a:r>
            <a:r>
              <a:rPr lang="en-US" altLang="zh-CN" sz="2000" dirty="0"/>
              <a:t>&gt;</a:t>
            </a:r>
          </a:p>
          <a:p>
            <a:pPr indent="-266700"/>
            <a:r>
              <a:rPr lang="en-US" altLang="zh-CN" sz="2000" dirty="0"/>
              <a:t>#include &lt;</a:t>
            </a:r>
            <a:r>
              <a:rPr lang="en-US" altLang="zh-CN" sz="2000" dirty="0" err="1"/>
              <a:t>string.h</a:t>
            </a:r>
            <a:r>
              <a:rPr lang="en-US" altLang="zh-CN" sz="2000" dirty="0"/>
              <a:t>&gt;</a:t>
            </a:r>
          </a:p>
          <a:p>
            <a:pPr indent="-266700"/>
            <a:r>
              <a:rPr lang="en-US" altLang="zh-CN" sz="2000" dirty="0" err="1">
                <a:solidFill>
                  <a:srgbClr val="CC0099"/>
                </a:solidFill>
              </a:rPr>
              <a:t>int</a:t>
            </a:r>
            <a:r>
              <a:rPr lang="en-US" altLang="zh-CN" sz="2000" dirty="0">
                <a:solidFill>
                  <a:srgbClr val="CC0099"/>
                </a:solidFill>
              </a:rPr>
              <a:t> main ( )</a:t>
            </a:r>
          </a:p>
          <a:p>
            <a:pPr indent="-266700"/>
            <a:r>
              <a:rPr lang="en-US" altLang="zh-CN" sz="2000" dirty="0"/>
              <a:t>{</a:t>
            </a:r>
          </a:p>
          <a:p>
            <a:pPr indent="-266700"/>
            <a:r>
              <a:rPr lang="en-US" altLang="zh-CN" sz="2000" dirty="0"/>
              <a:t>  char </a:t>
            </a:r>
            <a:r>
              <a:rPr lang="en-US" altLang="zh-CN" sz="2000" dirty="0" err="1"/>
              <a:t>str</a:t>
            </a:r>
            <a:r>
              <a:rPr lang="en-US" altLang="zh-CN" sz="2000" dirty="0"/>
              <a:t>[200], </a:t>
            </a:r>
            <a:r>
              <a:rPr lang="en-US" altLang="zh-CN" sz="2000" dirty="0" err="1"/>
              <a:t>ch</a:t>
            </a:r>
            <a:r>
              <a:rPr lang="en-US" altLang="zh-CN" sz="2000" dirty="0"/>
              <a:t>;</a:t>
            </a:r>
          </a:p>
          <a:p>
            <a:pPr indent="-266700"/>
            <a:r>
              <a:rPr lang="en-US" altLang="zh-CN" sz="2000" dirty="0"/>
              <a:t>  char *p, *q;</a:t>
            </a:r>
          </a:p>
          <a:p>
            <a:pPr indent="-266700"/>
            <a:r>
              <a:rPr lang="en-US" altLang="zh-CN" sz="2000" dirty="0"/>
              <a:t>  gets (</a:t>
            </a:r>
            <a:r>
              <a:rPr lang="en-US" altLang="zh-CN" sz="2000" dirty="0" err="1"/>
              <a:t>str</a:t>
            </a:r>
            <a:r>
              <a:rPr lang="en-US" altLang="zh-CN" sz="2000" dirty="0"/>
              <a:t>);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读取一个字符串</a:t>
            </a:r>
          </a:p>
          <a:p>
            <a:pPr indent="-266700"/>
            <a:r>
              <a:rPr lang="zh-CN" altLang="en-US" sz="2000" dirty="0"/>
              <a:t>  </a:t>
            </a:r>
            <a:r>
              <a:rPr lang="en-US" altLang="zh-CN" sz="2000" dirty="0"/>
              <a:t>p = </a:t>
            </a:r>
            <a:r>
              <a:rPr lang="en-US" altLang="zh-CN" sz="2000" dirty="0" err="1"/>
              <a:t>str</a:t>
            </a:r>
            <a:r>
              <a:rPr lang="en-US" altLang="zh-CN" sz="2000" dirty="0"/>
              <a:t>;                         </a:t>
            </a:r>
            <a:r>
              <a:rPr lang="en-US" altLang="zh-CN" sz="1800" dirty="0">
                <a:solidFill>
                  <a:srgbClr val="002060"/>
                </a:solidFill>
                <a:latin typeface="+mn-lt"/>
                <a:ea typeface="楷体" pitchFamily="49" charset="-122"/>
              </a:rPr>
              <a:t>//p</a:t>
            </a:r>
            <a:r>
              <a:rPr lang="zh-CN" altLang="en-US" sz="1800" dirty="0">
                <a:solidFill>
                  <a:srgbClr val="002060"/>
                </a:solidFill>
                <a:latin typeface="+mn-lt"/>
                <a:ea typeface="楷体" pitchFamily="49" charset="-122"/>
              </a:rPr>
              <a:t>指向字符串的首地址</a:t>
            </a:r>
          </a:p>
          <a:p>
            <a:pPr indent="-266700"/>
            <a:r>
              <a:rPr lang="zh-CN" altLang="en-US" sz="2000" dirty="0"/>
              <a:t>  </a:t>
            </a:r>
            <a:r>
              <a:rPr lang="en-US" altLang="zh-CN" sz="2000" dirty="0"/>
              <a:t>q = p + </a:t>
            </a:r>
            <a:r>
              <a:rPr lang="en-US" altLang="zh-CN" sz="2000" dirty="0" err="1"/>
              <a:t>strlen</a:t>
            </a:r>
            <a:r>
              <a:rPr lang="en-US" altLang="zh-CN" sz="2000" dirty="0"/>
              <a:t>(p) - 1;   </a:t>
            </a:r>
            <a:r>
              <a:rPr lang="en-US" altLang="zh-CN" sz="1800" dirty="0">
                <a:solidFill>
                  <a:srgbClr val="002060"/>
                </a:solidFill>
                <a:latin typeface="+mn-lt"/>
                <a:ea typeface="楷体" pitchFamily="49" charset="-122"/>
              </a:rPr>
              <a:t>//q</a:t>
            </a:r>
            <a:r>
              <a:rPr lang="zh-CN" altLang="en-US" sz="1800" dirty="0">
                <a:solidFill>
                  <a:srgbClr val="002060"/>
                </a:solidFill>
                <a:latin typeface="+mn-lt"/>
                <a:ea typeface="楷体" pitchFamily="49" charset="-122"/>
              </a:rPr>
              <a:t>指向字符串的末地址</a:t>
            </a:r>
          </a:p>
          <a:p>
            <a:pPr indent="-266700"/>
            <a:r>
              <a:rPr lang="zh-CN" altLang="en-US" sz="2000" dirty="0"/>
              <a:t>  </a:t>
            </a:r>
            <a:r>
              <a:rPr lang="en-US" altLang="zh-CN" sz="2000" dirty="0"/>
              <a:t>while (p &lt; q)</a:t>
            </a:r>
          </a:p>
          <a:p>
            <a:pPr indent="-266700"/>
            <a:r>
              <a:rPr lang="en-US" altLang="zh-CN" sz="2000" dirty="0"/>
              <a:t>  {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交换</a:t>
            </a:r>
            <a:r>
              <a:rPr lang="en-US" altLang="zh-CN" sz="1800" dirty="0">
                <a:solidFill>
                  <a:srgbClr val="002060"/>
                </a:solidFill>
                <a:latin typeface="+mn-lt"/>
                <a:ea typeface="楷体" pitchFamily="49" charset="-122"/>
              </a:rPr>
              <a:t>p</a:t>
            </a:r>
            <a:r>
              <a:rPr lang="zh-CN" altLang="en-US" sz="1800" dirty="0">
                <a:solidFill>
                  <a:srgbClr val="002060"/>
                </a:solidFill>
                <a:latin typeface="+mn-lt"/>
                <a:ea typeface="楷体" pitchFamily="49" charset="-122"/>
              </a:rPr>
              <a:t>和</a:t>
            </a:r>
            <a:r>
              <a:rPr lang="en-US" altLang="zh-CN" sz="1800" dirty="0">
                <a:solidFill>
                  <a:srgbClr val="002060"/>
                </a:solidFill>
                <a:latin typeface="+mn-lt"/>
                <a:ea typeface="楷体" pitchFamily="49" charset="-122"/>
              </a:rPr>
              <a:t>q</a:t>
            </a:r>
            <a:r>
              <a:rPr lang="zh-CN" altLang="en-US" sz="1800" dirty="0">
                <a:solidFill>
                  <a:srgbClr val="002060"/>
                </a:solidFill>
                <a:latin typeface="+mn-lt"/>
                <a:ea typeface="楷体" pitchFamily="49" charset="-122"/>
              </a:rPr>
              <a:t>各自指向的字符</a:t>
            </a:r>
          </a:p>
          <a:p>
            <a:pPr indent="-266700"/>
            <a:r>
              <a:rPr lang="zh-CN" altLang="en-US" sz="2000" dirty="0"/>
              <a:t>    </a:t>
            </a:r>
            <a:r>
              <a:rPr lang="en-US" altLang="zh-CN" sz="2000" dirty="0" err="1"/>
              <a:t>ch</a:t>
            </a:r>
            <a:r>
              <a:rPr lang="en-US" altLang="zh-CN" sz="2000" dirty="0"/>
              <a:t> = *p;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将</a:t>
            </a:r>
            <a:r>
              <a:rPr lang="en-US" altLang="zh-CN" sz="1800" dirty="0">
                <a:solidFill>
                  <a:srgbClr val="002060"/>
                </a:solidFill>
                <a:latin typeface="+mn-lt"/>
                <a:ea typeface="楷体" pitchFamily="49" charset="-122"/>
              </a:rPr>
              <a:t>p</a:t>
            </a:r>
            <a:r>
              <a:rPr lang="zh-CN" altLang="en-US" sz="1800" dirty="0">
                <a:solidFill>
                  <a:srgbClr val="002060"/>
                </a:solidFill>
                <a:latin typeface="+mn-lt"/>
                <a:ea typeface="楷体" pitchFamily="49" charset="-122"/>
              </a:rPr>
              <a:t>所指向的字符保存在</a:t>
            </a:r>
            <a:r>
              <a:rPr lang="en-US" altLang="zh-CN" sz="1800" dirty="0" err="1">
                <a:solidFill>
                  <a:srgbClr val="002060"/>
                </a:solidFill>
                <a:latin typeface="+mn-lt"/>
                <a:ea typeface="楷体" pitchFamily="49" charset="-122"/>
              </a:rPr>
              <a:t>ch</a:t>
            </a:r>
            <a:r>
              <a:rPr lang="zh-CN" altLang="en-US" sz="1800" dirty="0">
                <a:solidFill>
                  <a:srgbClr val="002060"/>
                </a:solidFill>
                <a:latin typeface="+mn-lt"/>
                <a:ea typeface="楷体" pitchFamily="49" charset="-122"/>
              </a:rPr>
              <a:t>中</a:t>
            </a:r>
          </a:p>
          <a:p>
            <a:pPr indent="-266700"/>
            <a:r>
              <a:rPr lang="zh-CN" altLang="en-US" sz="2000" dirty="0"/>
              <a:t>    *</a:t>
            </a:r>
            <a:r>
              <a:rPr lang="en-US" altLang="zh-CN" sz="2000" dirty="0"/>
              <a:t>p++ = *q;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先将</a:t>
            </a:r>
            <a:r>
              <a:rPr lang="en-US" altLang="zh-CN" sz="1800" dirty="0">
                <a:solidFill>
                  <a:srgbClr val="002060"/>
                </a:solidFill>
                <a:latin typeface="+mn-lt"/>
                <a:ea typeface="楷体" pitchFamily="49" charset="-122"/>
              </a:rPr>
              <a:t>q</a:t>
            </a:r>
            <a:r>
              <a:rPr lang="zh-CN" altLang="en-US" sz="1800" dirty="0">
                <a:solidFill>
                  <a:srgbClr val="002060"/>
                </a:solidFill>
                <a:latin typeface="+mn-lt"/>
                <a:ea typeface="楷体" pitchFamily="49" charset="-122"/>
              </a:rPr>
              <a:t>指向的字符赋给</a:t>
            </a:r>
            <a:r>
              <a:rPr lang="en-US" altLang="zh-CN" sz="1800" dirty="0">
                <a:solidFill>
                  <a:srgbClr val="002060"/>
                </a:solidFill>
                <a:latin typeface="+mn-lt"/>
                <a:ea typeface="楷体" pitchFamily="49" charset="-122"/>
              </a:rPr>
              <a:t>p</a:t>
            </a:r>
            <a:r>
              <a:rPr lang="zh-CN" altLang="en-US" sz="1800" dirty="0">
                <a:solidFill>
                  <a:srgbClr val="002060"/>
                </a:solidFill>
                <a:latin typeface="+mn-lt"/>
                <a:ea typeface="楷体" pitchFamily="49" charset="-122"/>
              </a:rPr>
              <a:t>指向的字符单元，</a:t>
            </a:r>
            <a:r>
              <a:rPr lang="en-US" altLang="zh-CN" sz="1800" dirty="0">
                <a:solidFill>
                  <a:srgbClr val="002060"/>
                </a:solidFill>
                <a:latin typeface="+mn-lt"/>
                <a:ea typeface="楷体" pitchFamily="49" charset="-122"/>
              </a:rPr>
              <a:t>p</a:t>
            </a:r>
            <a:r>
              <a:rPr lang="zh-CN" altLang="en-US" sz="1800" dirty="0">
                <a:solidFill>
                  <a:srgbClr val="002060"/>
                </a:solidFill>
                <a:latin typeface="+mn-lt"/>
                <a:ea typeface="楷体" pitchFamily="49" charset="-122"/>
              </a:rPr>
              <a:t>再增</a:t>
            </a:r>
            <a:r>
              <a:rPr lang="en-US" altLang="zh-CN" sz="1800" dirty="0">
                <a:solidFill>
                  <a:srgbClr val="002060"/>
                </a:solidFill>
                <a:latin typeface="+mn-lt"/>
                <a:ea typeface="楷体" pitchFamily="49" charset="-122"/>
              </a:rPr>
              <a:t>1</a:t>
            </a:r>
          </a:p>
          <a:p>
            <a:pPr indent="-266700"/>
            <a:r>
              <a:rPr lang="en-US" altLang="zh-CN" sz="2000" dirty="0"/>
              <a:t>    *q-- = </a:t>
            </a:r>
            <a:r>
              <a:rPr lang="en-US" altLang="zh-CN" sz="2000" dirty="0" err="1"/>
              <a:t>ch</a:t>
            </a:r>
            <a:r>
              <a:rPr lang="en-US" altLang="zh-CN" sz="2000" dirty="0"/>
              <a:t>;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先将</a:t>
            </a:r>
            <a:r>
              <a:rPr lang="en-US" altLang="zh-CN" sz="1800" dirty="0" err="1">
                <a:solidFill>
                  <a:srgbClr val="002060"/>
                </a:solidFill>
                <a:latin typeface="+mn-lt"/>
                <a:ea typeface="楷体" pitchFamily="49" charset="-122"/>
              </a:rPr>
              <a:t>ch</a:t>
            </a:r>
            <a:r>
              <a:rPr lang="zh-CN" altLang="en-US" sz="1800" dirty="0">
                <a:solidFill>
                  <a:srgbClr val="002060"/>
                </a:solidFill>
                <a:latin typeface="+mn-lt"/>
                <a:ea typeface="楷体" pitchFamily="49" charset="-122"/>
              </a:rPr>
              <a:t>的值赋给</a:t>
            </a:r>
            <a:r>
              <a:rPr lang="en-US" altLang="zh-CN" sz="1800" dirty="0">
                <a:solidFill>
                  <a:srgbClr val="002060"/>
                </a:solidFill>
                <a:latin typeface="+mn-lt"/>
                <a:ea typeface="楷体" pitchFamily="49" charset="-122"/>
              </a:rPr>
              <a:t>q</a:t>
            </a:r>
            <a:r>
              <a:rPr lang="zh-CN" altLang="en-US" sz="1800" dirty="0">
                <a:solidFill>
                  <a:srgbClr val="002060"/>
                </a:solidFill>
                <a:latin typeface="+mn-lt"/>
                <a:ea typeface="楷体" pitchFamily="49" charset="-122"/>
              </a:rPr>
              <a:t>指向的字符单元，</a:t>
            </a:r>
            <a:r>
              <a:rPr lang="en-US" altLang="zh-CN" sz="1800" dirty="0">
                <a:solidFill>
                  <a:srgbClr val="002060"/>
                </a:solidFill>
                <a:latin typeface="+mn-lt"/>
                <a:ea typeface="楷体" pitchFamily="49" charset="-122"/>
              </a:rPr>
              <a:t>q</a:t>
            </a:r>
            <a:r>
              <a:rPr lang="zh-CN" altLang="en-US" sz="1800" dirty="0">
                <a:solidFill>
                  <a:srgbClr val="002060"/>
                </a:solidFill>
                <a:latin typeface="+mn-lt"/>
                <a:ea typeface="楷体" pitchFamily="49" charset="-122"/>
              </a:rPr>
              <a:t>再减</a:t>
            </a:r>
            <a:r>
              <a:rPr lang="en-US" altLang="zh-CN" sz="1800" dirty="0">
                <a:solidFill>
                  <a:srgbClr val="002060"/>
                </a:solidFill>
                <a:latin typeface="+mn-lt"/>
                <a:ea typeface="楷体" pitchFamily="49" charset="-122"/>
              </a:rPr>
              <a:t>1</a:t>
            </a:r>
          </a:p>
          <a:p>
            <a:pPr indent="-266700"/>
            <a:r>
              <a:rPr lang="en-US" altLang="zh-CN" sz="2000" dirty="0"/>
              <a:t>  }</a:t>
            </a:r>
          </a:p>
          <a:p>
            <a:pPr indent="-266700"/>
            <a:r>
              <a:rPr lang="en-US" altLang="zh-CN" sz="2000" dirty="0"/>
              <a:t>  </a:t>
            </a:r>
            <a:r>
              <a:rPr lang="en-US" altLang="zh-CN" sz="2000" dirty="0" err="1"/>
              <a:t>printf</a:t>
            </a:r>
            <a:r>
              <a:rPr lang="en-US" altLang="zh-CN" sz="2000" dirty="0"/>
              <a:t> ("%s\n", </a:t>
            </a:r>
            <a:r>
              <a:rPr lang="en-US" altLang="zh-CN" sz="2000" dirty="0" err="1"/>
              <a:t>str</a:t>
            </a:r>
            <a:r>
              <a:rPr lang="en-US" altLang="zh-CN" sz="2000" dirty="0"/>
              <a:t>);  </a:t>
            </a:r>
          </a:p>
          <a:p>
            <a:pPr indent="-266700"/>
            <a:r>
              <a:rPr lang="en-US" altLang="zh-CN" sz="2000" dirty="0"/>
              <a:t>  return 0;</a:t>
            </a:r>
          </a:p>
          <a:p>
            <a:pPr indent="-266700"/>
            <a:r>
              <a:rPr lang="en-US" altLang="zh-CN" sz="2000" dirty="0"/>
              <a:t>}</a:t>
            </a:r>
          </a:p>
        </p:txBody>
      </p:sp>
      <p:sp>
        <p:nvSpPr>
          <p:cNvPr id="1176611" name="Text Box 35"/>
          <p:cNvSpPr txBox="1">
            <a:spLocks noChangeArrowheads="1"/>
          </p:cNvSpPr>
          <p:nvPr/>
        </p:nvSpPr>
        <p:spPr bwMode="auto">
          <a:xfrm>
            <a:off x="8525507" y="5393743"/>
            <a:ext cx="2520280" cy="115252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dirty="0">
                <a:solidFill>
                  <a:srgbClr val="C00000"/>
                </a:solidFill>
                <a:latin typeface="隶书" pitchFamily="49" charset="-122"/>
                <a:ea typeface="隶书" pitchFamily="49" charset="-122"/>
              </a:rPr>
              <a:t>运行结果：</a:t>
            </a:r>
          </a:p>
          <a:p>
            <a:pPr marL="342900" indent="-342900" algn="just"/>
            <a:r>
              <a:rPr lang="en-US" altLang="zh-CN" dirty="0"/>
              <a:t>I love China! </a:t>
            </a:r>
            <a:r>
              <a:rPr lang="en-US" altLang="zh-CN" sz="2000" dirty="0">
                <a:latin typeface="+mn-ea"/>
                <a:ea typeface="+mn-ea"/>
              </a:rPr>
              <a:t>↙</a:t>
            </a:r>
            <a:endParaRPr lang="en-US" altLang="zh-CN" dirty="0">
              <a:latin typeface="+mn-ea"/>
              <a:ea typeface="+mn-ea"/>
            </a:endParaRPr>
          </a:p>
          <a:p>
            <a:pPr marL="342900" indent="-342900" algn="just"/>
            <a:r>
              <a:rPr lang="en-US" altLang="zh-CN" dirty="0">
                <a:solidFill>
                  <a:srgbClr val="002060"/>
                </a:solidFill>
              </a:rPr>
              <a:t>!</a:t>
            </a:r>
            <a:r>
              <a:rPr lang="en-US" altLang="zh-CN" dirty="0" err="1">
                <a:solidFill>
                  <a:srgbClr val="002060"/>
                </a:solidFill>
              </a:rPr>
              <a:t>anihC</a:t>
            </a:r>
            <a:r>
              <a:rPr lang="en-US" altLang="zh-CN" dirty="0">
                <a:solidFill>
                  <a:srgbClr val="002060"/>
                </a:solidFill>
              </a:rPr>
              <a:t> </a:t>
            </a:r>
            <a:r>
              <a:rPr lang="en-US" altLang="zh-CN" dirty="0" err="1">
                <a:solidFill>
                  <a:srgbClr val="002060"/>
                </a:solidFill>
              </a:rPr>
              <a:t>evol</a:t>
            </a:r>
            <a:r>
              <a:rPr lang="en-US" altLang="zh-CN" dirty="0">
                <a:solidFill>
                  <a:srgbClr val="002060"/>
                </a:solidFill>
              </a:rPr>
              <a:t> I</a:t>
            </a:r>
          </a:p>
        </p:txBody>
      </p:sp>
      <p:sp>
        <p:nvSpPr>
          <p:cNvPr id="8" name="Rectangle 4">
            <a:extLst>
              <a:ext uri="{FF2B5EF4-FFF2-40B4-BE49-F238E27FC236}">
                <a16:creationId xmlns:a16="http://schemas.microsoft.com/office/drawing/2014/main" id="{4D67E7A3-BAE5-4F38-B079-0EFF61976C8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指针与字符串</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6608"/>
                                        </p:tgtEl>
                                        <p:attrNameLst>
                                          <p:attrName>style.visibility</p:attrName>
                                        </p:attrNameLst>
                                      </p:cBhvr>
                                      <p:to>
                                        <p:strVal val="visible"/>
                                      </p:to>
                                    </p:set>
                                    <p:anim calcmode="lin" valueType="num">
                                      <p:cBhvr additive="base">
                                        <p:cTn id="7" dur="500" fill="hold"/>
                                        <p:tgtEl>
                                          <p:spTgt spid="1176608"/>
                                        </p:tgtEl>
                                        <p:attrNameLst>
                                          <p:attrName>ppt_x</p:attrName>
                                        </p:attrNameLst>
                                      </p:cBhvr>
                                      <p:tavLst>
                                        <p:tav tm="0">
                                          <p:val>
                                            <p:strVal val="0-#ppt_w/2"/>
                                          </p:val>
                                        </p:tav>
                                        <p:tav tm="100000">
                                          <p:val>
                                            <p:strVal val="#ppt_x"/>
                                          </p:val>
                                        </p:tav>
                                      </p:tavLst>
                                    </p:anim>
                                    <p:anim calcmode="lin" valueType="num">
                                      <p:cBhvr additive="base">
                                        <p:cTn id="8" dur="500" fill="hold"/>
                                        <p:tgtEl>
                                          <p:spTgt spid="117660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76610"/>
                                        </p:tgtEl>
                                        <p:attrNameLst>
                                          <p:attrName>style.visibility</p:attrName>
                                        </p:attrNameLst>
                                      </p:cBhvr>
                                      <p:to>
                                        <p:strVal val="visible"/>
                                      </p:to>
                                    </p:set>
                                    <p:animEffect transition="in" filter="box(out)">
                                      <p:cBhvr>
                                        <p:cTn id="13" dur="500"/>
                                        <p:tgtEl>
                                          <p:spTgt spid="1176610"/>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76611"/>
                                        </p:tgtEl>
                                        <p:attrNameLst>
                                          <p:attrName>style.visibility</p:attrName>
                                        </p:attrNameLst>
                                      </p:cBhvr>
                                      <p:to>
                                        <p:strVal val="visible"/>
                                      </p:to>
                                    </p:set>
                                    <p:animEffect transition="in" filter="box(out)">
                                      <p:cBhvr>
                                        <p:cTn id="18" dur="500"/>
                                        <p:tgtEl>
                                          <p:spTgt spid="1176611"/>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6608" grpId="0"/>
      <p:bldP spid="1176610" grpId="0" animBg="1"/>
      <p:bldP spid="1176611"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178763" name="Group 139"/>
          <p:cNvGraphicFramePr>
            <a:graphicFrameLocks noGrp="1"/>
          </p:cNvGraphicFramePr>
          <p:nvPr>
            <p:ph idx="4294967295"/>
            <p:extLst>
              <p:ext uri="{D42A27DB-BD31-4B8C-83A1-F6EECF244321}">
                <p14:modId xmlns:p14="http://schemas.microsoft.com/office/powerpoint/2010/main" val="3639749689"/>
              </p:ext>
            </p:extLst>
          </p:nvPr>
        </p:nvGraphicFramePr>
        <p:xfrm>
          <a:off x="3287688" y="2709863"/>
          <a:ext cx="7777163" cy="431800"/>
        </p:xfrm>
        <a:graphic>
          <a:graphicData uri="http://schemas.openxmlformats.org/drawingml/2006/table">
            <a:tbl>
              <a:tblPr/>
              <a:tblGrid>
                <a:gridCol w="552450">
                  <a:extLst>
                    <a:ext uri="{9D8B030D-6E8A-4147-A177-3AD203B41FA5}">
                      <a16:colId xmlns:a16="http://schemas.microsoft.com/office/drawing/2014/main" val="20000"/>
                    </a:ext>
                  </a:extLst>
                </a:gridCol>
                <a:gridCol w="560388">
                  <a:extLst>
                    <a:ext uri="{9D8B030D-6E8A-4147-A177-3AD203B41FA5}">
                      <a16:colId xmlns:a16="http://schemas.microsoft.com/office/drawing/2014/main" val="20001"/>
                    </a:ext>
                  </a:extLst>
                </a:gridCol>
                <a:gridCol w="555625">
                  <a:extLst>
                    <a:ext uri="{9D8B030D-6E8A-4147-A177-3AD203B41FA5}">
                      <a16:colId xmlns:a16="http://schemas.microsoft.com/office/drawing/2014/main" val="20002"/>
                    </a:ext>
                  </a:extLst>
                </a:gridCol>
                <a:gridCol w="492125">
                  <a:extLst>
                    <a:ext uri="{9D8B030D-6E8A-4147-A177-3AD203B41FA5}">
                      <a16:colId xmlns:a16="http://schemas.microsoft.com/office/drawing/2014/main" val="20003"/>
                    </a:ext>
                  </a:extLst>
                </a:gridCol>
                <a:gridCol w="614362">
                  <a:extLst>
                    <a:ext uri="{9D8B030D-6E8A-4147-A177-3AD203B41FA5}">
                      <a16:colId xmlns:a16="http://schemas.microsoft.com/office/drawing/2014/main" val="20004"/>
                    </a:ext>
                  </a:extLst>
                </a:gridCol>
                <a:gridCol w="558800">
                  <a:extLst>
                    <a:ext uri="{9D8B030D-6E8A-4147-A177-3AD203B41FA5}">
                      <a16:colId xmlns:a16="http://schemas.microsoft.com/office/drawing/2014/main" val="20005"/>
                    </a:ext>
                  </a:extLst>
                </a:gridCol>
                <a:gridCol w="555625">
                  <a:extLst>
                    <a:ext uri="{9D8B030D-6E8A-4147-A177-3AD203B41FA5}">
                      <a16:colId xmlns:a16="http://schemas.microsoft.com/office/drawing/2014/main" val="20006"/>
                    </a:ext>
                  </a:extLst>
                </a:gridCol>
                <a:gridCol w="574675">
                  <a:extLst>
                    <a:ext uri="{9D8B030D-6E8A-4147-A177-3AD203B41FA5}">
                      <a16:colId xmlns:a16="http://schemas.microsoft.com/office/drawing/2014/main" val="20007"/>
                    </a:ext>
                  </a:extLst>
                </a:gridCol>
                <a:gridCol w="538163">
                  <a:extLst>
                    <a:ext uri="{9D8B030D-6E8A-4147-A177-3AD203B41FA5}">
                      <a16:colId xmlns:a16="http://schemas.microsoft.com/office/drawing/2014/main" val="20008"/>
                    </a:ext>
                  </a:extLst>
                </a:gridCol>
                <a:gridCol w="614362">
                  <a:extLst>
                    <a:ext uri="{9D8B030D-6E8A-4147-A177-3AD203B41FA5}">
                      <a16:colId xmlns:a16="http://schemas.microsoft.com/office/drawing/2014/main" val="20009"/>
                    </a:ext>
                  </a:extLst>
                </a:gridCol>
                <a:gridCol w="576263">
                  <a:extLst>
                    <a:ext uri="{9D8B030D-6E8A-4147-A177-3AD203B41FA5}">
                      <a16:colId xmlns:a16="http://schemas.microsoft.com/office/drawing/2014/main" val="20010"/>
                    </a:ext>
                  </a:extLst>
                </a:gridCol>
                <a:gridCol w="503237">
                  <a:extLst>
                    <a:ext uri="{9D8B030D-6E8A-4147-A177-3AD203B41FA5}">
                      <a16:colId xmlns:a16="http://schemas.microsoft.com/office/drawing/2014/main" val="20011"/>
                    </a:ext>
                  </a:extLst>
                </a:gridCol>
                <a:gridCol w="528638">
                  <a:extLst>
                    <a:ext uri="{9D8B030D-6E8A-4147-A177-3AD203B41FA5}">
                      <a16:colId xmlns:a16="http://schemas.microsoft.com/office/drawing/2014/main" val="20012"/>
                    </a:ext>
                  </a:extLst>
                </a:gridCol>
                <a:gridCol w="552450">
                  <a:extLst>
                    <a:ext uri="{9D8B030D-6E8A-4147-A177-3AD203B41FA5}">
                      <a16:colId xmlns:a16="http://schemas.microsoft.com/office/drawing/2014/main" val="20013"/>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'I'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'L'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'o'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'v'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'h'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'i'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extLst>
                  <a:ext uri="{0D108BD9-81ED-4DB2-BD59-A6C34878D82A}">
                    <a16:rowId xmlns:a16="http://schemas.microsoft.com/office/drawing/2014/main" val="10000"/>
                  </a:ext>
                </a:extLst>
              </a:tr>
            </a:tbl>
          </a:graphicData>
        </a:graphic>
      </p:graphicFrame>
      <p:grpSp>
        <p:nvGrpSpPr>
          <p:cNvPr id="1178667" name="Group 43"/>
          <p:cNvGrpSpPr>
            <a:grpSpLocks/>
          </p:cNvGrpSpPr>
          <p:nvPr/>
        </p:nvGrpSpPr>
        <p:grpSpPr bwMode="auto">
          <a:xfrm>
            <a:off x="1392930" y="1828329"/>
            <a:ext cx="1008062" cy="863600"/>
            <a:chOff x="1374" y="573"/>
            <a:chExt cx="635" cy="544"/>
          </a:xfrm>
        </p:grpSpPr>
        <p:sp>
          <p:nvSpPr>
            <p:cNvPr id="1178664" name="Line 40"/>
            <p:cNvSpPr>
              <a:spLocks noChangeShapeType="1"/>
            </p:cNvSpPr>
            <p:nvPr/>
          </p:nvSpPr>
          <p:spPr bwMode="auto">
            <a:xfrm>
              <a:off x="1519" y="799"/>
              <a:ext cx="0" cy="31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solidFill>
                  <a:srgbClr val="002060"/>
                </a:solidFill>
              </a:endParaRPr>
            </a:p>
          </p:txBody>
        </p:sp>
        <p:sp>
          <p:nvSpPr>
            <p:cNvPr id="1178665" name="Text Box 41"/>
            <p:cNvSpPr txBox="1">
              <a:spLocks noChangeArrowheads="1"/>
            </p:cNvSpPr>
            <p:nvPr/>
          </p:nvSpPr>
          <p:spPr bwMode="auto">
            <a:xfrm>
              <a:off x="1374" y="573"/>
              <a:ext cx="635" cy="291"/>
            </a:xfrm>
            <a:prstGeom prst="rect">
              <a:avLst/>
            </a:prstGeom>
            <a:noFill/>
            <a:ln w="9525" algn="ctr">
              <a:noFill/>
              <a:miter lim="800000"/>
              <a:headEnd/>
              <a:tailEnd/>
            </a:ln>
            <a:effectLst/>
          </p:spPr>
          <p:txBody>
            <a:bodyPr>
              <a:spAutoFit/>
            </a:bodyPr>
            <a:lstStyle/>
            <a:p>
              <a:pPr marL="342900" indent="-342900">
                <a:spcBef>
                  <a:spcPct val="50000"/>
                </a:spcBef>
              </a:pPr>
              <a:r>
                <a:rPr lang="en-US" altLang="zh-CN" dirty="0">
                  <a:solidFill>
                    <a:srgbClr val="002060"/>
                  </a:solidFill>
                </a:rPr>
                <a:t>str</a:t>
              </a:r>
            </a:p>
          </p:txBody>
        </p:sp>
      </p:grpSp>
      <p:grpSp>
        <p:nvGrpSpPr>
          <p:cNvPr id="1178670" name="Group 46"/>
          <p:cNvGrpSpPr>
            <a:grpSpLocks/>
          </p:cNvGrpSpPr>
          <p:nvPr/>
        </p:nvGrpSpPr>
        <p:grpSpPr bwMode="auto">
          <a:xfrm>
            <a:off x="1654868" y="3169767"/>
            <a:ext cx="360363" cy="1020763"/>
            <a:chOff x="702" y="1616"/>
            <a:chExt cx="227" cy="643"/>
          </a:xfrm>
        </p:grpSpPr>
        <p:sp>
          <p:nvSpPr>
            <p:cNvPr id="1178668" name="Line 44"/>
            <p:cNvSpPr>
              <a:spLocks noChangeShapeType="1"/>
            </p:cNvSpPr>
            <p:nvPr/>
          </p:nvSpPr>
          <p:spPr bwMode="auto">
            <a:xfrm flipV="1">
              <a:off x="793" y="1616"/>
              <a:ext cx="0" cy="408"/>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669" name="Text Box 45"/>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C00000"/>
                  </a:solidFill>
                </a:rPr>
                <a:t>p</a:t>
              </a:r>
            </a:p>
          </p:txBody>
        </p:sp>
      </p:grpSp>
      <p:grpSp>
        <p:nvGrpSpPr>
          <p:cNvPr id="1178671" name="Group 47"/>
          <p:cNvGrpSpPr>
            <a:grpSpLocks/>
          </p:cNvGrpSpPr>
          <p:nvPr/>
        </p:nvGrpSpPr>
        <p:grpSpPr bwMode="auto">
          <a:xfrm>
            <a:off x="8281093" y="3169767"/>
            <a:ext cx="360363" cy="1020763"/>
            <a:chOff x="702" y="1616"/>
            <a:chExt cx="227" cy="643"/>
          </a:xfrm>
        </p:grpSpPr>
        <p:sp>
          <p:nvSpPr>
            <p:cNvPr id="1178672" name="Line 48"/>
            <p:cNvSpPr>
              <a:spLocks noChangeShapeType="1"/>
            </p:cNvSpPr>
            <p:nvPr/>
          </p:nvSpPr>
          <p:spPr bwMode="auto">
            <a:xfrm flipV="1">
              <a:off x="793" y="1616"/>
              <a:ext cx="0" cy="408"/>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dirty="0">
                <a:solidFill>
                  <a:schemeClr val="accent1">
                    <a:lumMod val="50000"/>
                  </a:schemeClr>
                </a:solidFill>
              </a:endParaRPr>
            </a:p>
          </p:txBody>
        </p:sp>
        <p:sp>
          <p:nvSpPr>
            <p:cNvPr id="1178673" name="Text Box 49"/>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chemeClr val="accent1">
                      <a:lumMod val="50000"/>
                    </a:schemeClr>
                  </a:solidFill>
                </a:rPr>
                <a:t>q</a:t>
              </a:r>
            </a:p>
          </p:txBody>
        </p:sp>
      </p:grpSp>
      <p:sp>
        <p:nvSpPr>
          <p:cNvPr id="1178674" name="Rectangle 50"/>
          <p:cNvSpPr>
            <a:spLocks noChangeArrowheads="1"/>
          </p:cNvSpPr>
          <p:nvPr/>
        </p:nvSpPr>
        <p:spPr bwMode="auto">
          <a:xfrm>
            <a:off x="1260375" y="4581128"/>
            <a:ext cx="1122363" cy="338554"/>
          </a:xfrm>
          <a:prstGeom prst="rect">
            <a:avLst/>
          </a:prstGeom>
          <a:gradFill rotWithShape="1">
            <a:gsLst>
              <a:gs pos="0">
                <a:srgbClr val="CFCFD1"/>
              </a:gs>
              <a:gs pos="100000">
                <a:schemeClr val="bg1"/>
              </a:gs>
            </a:gsLst>
            <a:lin ang="5400000" scaled="1"/>
          </a:gradFill>
          <a:ln w="1905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en-US" altLang="zh-CN" sz="2000">
                <a:effectLst>
                  <a:outerShdw blurRad="38100" dist="38100" dir="2700000" algn="tl">
                    <a:srgbClr val="FFFFFF"/>
                  </a:outerShdw>
                </a:effectLst>
              </a:rPr>
              <a:t> p = str; </a:t>
            </a:r>
          </a:p>
        </p:txBody>
      </p:sp>
      <p:sp>
        <p:nvSpPr>
          <p:cNvPr id="1178675" name="Rectangle 51"/>
          <p:cNvSpPr>
            <a:spLocks noChangeArrowheads="1"/>
          </p:cNvSpPr>
          <p:nvPr/>
        </p:nvSpPr>
        <p:spPr bwMode="auto">
          <a:xfrm>
            <a:off x="7092849" y="4623990"/>
            <a:ext cx="2376488" cy="338554"/>
          </a:xfrm>
          <a:prstGeom prst="rect">
            <a:avLst/>
          </a:prstGeom>
          <a:gradFill rotWithShape="1">
            <a:gsLst>
              <a:gs pos="0">
                <a:srgbClr val="CFCFD1"/>
              </a:gs>
              <a:gs pos="100000">
                <a:schemeClr val="bg1"/>
              </a:gs>
            </a:gsLst>
            <a:lin ang="5400000" scaled="1"/>
          </a:gradFill>
          <a:ln w="1905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en-US" altLang="zh-CN" sz="2000">
                <a:effectLst>
                  <a:outerShdw blurRad="38100" dist="38100" dir="2700000" algn="tl">
                    <a:srgbClr val="FFFFFF"/>
                  </a:outerShdw>
                </a:effectLst>
              </a:rPr>
              <a:t>q = p + strlen(p) - 1</a:t>
            </a:r>
          </a:p>
        </p:txBody>
      </p:sp>
      <p:grpSp>
        <p:nvGrpSpPr>
          <p:cNvPr id="1178705" name="Group 81"/>
          <p:cNvGrpSpPr>
            <a:grpSpLocks/>
          </p:cNvGrpSpPr>
          <p:nvPr/>
        </p:nvGrpSpPr>
        <p:grpSpPr bwMode="auto">
          <a:xfrm>
            <a:off x="1872355" y="2060105"/>
            <a:ext cx="6553200" cy="619125"/>
            <a:chOff x="839" y="935"/>
            <a:chExt cx="4128" cy="390"/>
          </a:xfrm>
        </p:grpSpPr>
        <p:sp>
          <p:nvSpPr>
            <p:cNvPr id="1178685" name="Line 61"/>
            <p:cNvSpPr>
              <a:spLocks noChangeShapeType="1"/>
            </p:cNvSpPr>
            <p:nvPr/>
          </p:nvSpPr>
          <p:spPr bwMode="auto">
            <a:xfrm>
              <a:off x="839" y="1035"/>
              <a:ext cx="0" cy="272"/>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p>
          </p:txBody>
        </p:sp>
        <p:sp>
          <p:nvSpPr>
            <p:cNvPr id="1178686" name="Line 62"/>
            <p:cNvSpPr>
              <a:spLocks noChangeShapeType="1"/>
            </p:cNvSpPr>
            <p:nvPr/>
          </p:nvSpPr>
          <p:spPr bwMode="auto">
            <a:xfrm>
              <a:off x="4958" y="1053"/>
              <a:ext cx="0" cy="272"/>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p>
          </p:txBody>
        </p:sp>
        <p:sp>
          <p:nvSpPr>
            <p:cNvPr id="1178687" name="Line 63"/>
            <p:cNvSpPr>
              <a:spLocks noChangeShapeType="1"/>
            </p:cNvSpPr>
            <p:nvPr/>
          </p:nvSpPr>
          <p:spPr bwMode="auto">
            <a:xfrm>
              <a:off x="839" y="1044"/>
              <a:ext cx="4128" cy="0"/>
            </a:xfrm>
            <a:prstGeom prst="line">
              <a:avLst/>
            </a:prstGeom>
            <a:noFill/>
            <a:ln w="28575">
              <a:solidFill>
                <a:srgbClr val="7030A0"/>
              </a:solidFill>
              <a:round/>
              <a:headEnd/>
              <a:tailEnd/>
            </a:ln>
            <a:effectLst>
              <a:outerShdw dist="35921" dir="2700000" algn="ctr" rotWithShape="0">
                <a:schemeClr val="bg2"/>
              </a:outerShdw>
            </a:effectLst>
          </p:spPr>
          <p:txBody>
            <a:bodyPr/>
            <a:lstStyle/>
            <a:p>
              <a:endParaRPr lang="zh-CN" altLang="en-US"/>
            </a:p>
          </p:txBody>
        </p:sp>
        <p:sp>
          <p:nvSpPr>
            <p:cNvPr id="1178688" name="Text Box 64"/>
            <p:cNvSpPr txBox="1">
              <a:spLocks noChangeArrowheads="1"/>
            </p:cNvSpPr>
            <p:nvPr/>
          </p:nvSpPr>
          <p:spPr bwMode="auto">
            <a:xfrm>
              <a:off x="2578" y="935"/>
              <a:ext cx="454" cy="252"/>
            </a:xfrm>
            <a:prstGeom prst="rect">
              <a:avLst/>
            </a:prstGeom>
            <a:ln w="9525" algn="ctr">
              <a:noFill/>
              <a:miter lim="800000"/>
              <a:headEnd/>
              <a:tailEnd/>
            </a:ln>
            <a:effectLst/>
          </p:spPr>
          <p:txBody>
            <a:bodyPr>
              <a:spAutoFit/>
            </a:bodyPr>
            <a:lstStyle/>
            <a:p>
              <a:pPr marL="342900" indent="-342900">
                <a:spcBef>
                  <a:spcPct val="50000"/>
                </a:spcBef>
              </a:pPr>
              <a:r>
                <a:rPr lang="zh-CN" altLang="en-US" sz="2000">
                  <a:solidFill>
                    <a:srgbClr val="C00000"/>
                  </a:solidFill>
                </a:rPr>
                <a:t>交换</a:t>
              </a:r>
            </a:p>
          </p:txBody>
        </p:sp>
      </p:grpSp>
      <p:sp>
        <p:nvSpPr>
          <p:cNvPr id="1178690" name="Text Box 66"/>
          <p:cNvSpPr txBox="1">
            <a:spLocks noChangeArrowheads="1"/>
          </p:cNvSpPr>
          <p:nvPr/>
        </p:nvSpPr>
        <p:spPr bwMode="auto">
          <a:xfrm>
            <a:off x="1583430" y="2723208"/>
            <a:ext cx="431800"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7030A0"/>
                </a:solidFill>
              </a:rPr>
              <a:t>'!'</a:t>
            </a:r>
          </a:p>
        </p:txBody>
      </p:sp>
      <p:sp>
        <p:nvSpPr>
          <p:cNvPr id="1178691" name="Text Box 67"/>
          <p:cNvSpPr txBox="1">
            <a:spLocks noChangeArrowheads="1"/>
          </p:cNvSpPr>
          <p:nvPr/>
        </p:nvSpPr>
        <p:spPr bwMode="auto">
          <a:xfrm>
            <a:off x="8222356" y="2723208"/>
            <a:ext cx="504825"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7030A0"/>
                </a:solidFill>
              </a:rPr>
              <a:t>'I'</a:t>
            </a:r>
          </a:p>
        </p:txBody>
      </p:sp>
      <p:sp useBgFill="1">
        <p:nvSpPr>
          <p:cNvPr id="1178692" name="Rectangle 68"/>
          <p:cNvSpPr>
            <a:spLocks noChangeArrowheads="1"/>
          </p:cNvSpPr>
          <p:nvPr/>
        </p:nvSpPr>
        <p:spPr bwMode="auto">
          <a:xfrm>
            <a:off x="1556443" y="3144860"/>
            <a:ext cx="504825" cy="935038"/>
          </a:xfrm>
          <a:prstGeom prst="rect">
            <a:avLst/>
          </a:prstGeom>
          <a:ln w="9525" algn="ctr">
            <a:noFill/>
            <a:miter lim="800000"/>
            <a:headEnd/>
            <a:tailEnd/>
          </a:ln>
          <a:effectLst/>
        </p:spPr>
        <p:txBody>
          <a:bodyPr wrap="none" anchor="ctr"/>
          <a:lstStyle/>
          <a:p>
            <a:endParaRPr lang="zh-CN" altLang="en-US"/>
          </a:p>
        </p:txBody>
      </p:sp>
      <p:grpSp>
        <p:nvGrpSpPr>
          <p:cNvPr id="1178693" name="Group 69"/>
          <p:cNvGrpSpPr>
            <a:grpSpLocks/>
          </p:cNvGrpSpPr>
          <p:nvPr/>
        </p:nvGrpSpPr>
        <p:grpSpPr bwMode="auto">
          <a:xfrm>
            <a:off x="2185093" y="3171354"/>
            <a:ext cx="360363" cy="1020762"/>
            <a:chOff x="702" y="1616"/>
            <a:chExt cx="227" cy="643"/>
          </a:xfrm>
        </p:grpSpPr>
        <p:sp>
          <p:nvSpPr>
            <p:cNvPr id="1178694" name="Line 70"/>
            <p:cNvSpPr>
              <a:spLocks noChangeShapeType="1"/>
            </p:cNvSpPr>
            <p:nvPr/>
          </p:nvSpPr>
          <p:spPr bwMode="auto">
            <a:xfrm flipV="1">
              <a:off x="793" y="1616"/>
              <a:ext cx="0" cy="408"/>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695" name="Text Box 71"/>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C00000"/>
                  </a:solidFill>
                </a:rPr>
                <a:t>p</a:t>
              </a:r>
            </a:p>
          </p:txBody>
        </p:sp>
      </p:grpSp>
      <p:grpSp>
        <p:nvGrpSpPr>
          <p:cNvPr id="1178696" name="Group 72"/>
          <p:cNvGrpSpPr>
            <a:grpSpLocks/>
          </p:cNvGrpSpPr>
          <p:nvPr/>
        </p:nvGrpSpPr>
        <p:grpSpPr bwMode="auto">
          <a:xfrm>
            <a:off x="7754043" y="3199929"/>
            <a:ext cx="360363" cy="1020762"/>
            <a:chOff x="702" y="1616"/>
            <a:chExt cx="227" cy="643"/>
          </a:xfrm>
        </p:grpSpPr>
        <p:sp>
          <p:nvSpPr>
            <p:cNvPr id="1178697" name="Line 73"/>
            <p:cNvSpPr>
              <a:spLocks noChangeShapeType="1"/>
            </p:cNvSpPr>
            <p:nvPr/>
          </p:nvSpPr>
          <p:spPr bwMode="auto">
            <a:xfrm flipV="1">
              <a:off x="793" y="1616"/>
              <a:ext cx="0" cy="408"/>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a:solidFill>
                  <a:schemeClr val="accent1">
                    <a:lumMod val="50000"/>
                  </a:schemeClr>
                </a:solidFill>
              </a:endParaRPr>
            </a:p>
          </p:txBody>
        </p:sp>
        <p:sp>
          <p:nvSpPr>
            <p:cNvPr id="1178698" name="Text Box 74"/>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chemeClr val="accent1">
                      <a:lumMod val="50000"/>
                    </a:schemeClr>
                  </a:solidFill>
                </a:rPr>
                <a:t>q</a:t>
              </a:r>
            </a:p>
          </p:txBody>
        </p:sp>
      </p:grpSp>
      <p:sp useBgFill="1">
        <p:nvSpPr>
          <p:cNvPr id="1178699" name="Rectangle 75"/>
          <p:cNvSpPr>
            <a:spLocks noChangeArrowheads="1"/>
          </p:cNvSpPr>
          <p:nvPr/>
        </p:nvSpPr>
        <p:spPr bwMode="auto">
          <a:xfrm>
            <a:off x="8212036" y="3184511"/>
            <a:ext cx="504825" cy="935038"/>
          </a:xfrm>
          <a:prstGeom prst="rect">
            <a:avLst/>
          </a:prstGeom>
          <a:ln w="9525" algn="ctr">
            <a:noFill/>
            <a:miter lim="800000"/>
            <a:headEnd/>
            <a:tailEnd/>
          </a:ln>
          <a:effectLst/>
        </p:spPr>
        <p:txBody>
          <a:bodyPr wrap="none" anchor="ctr"/>
          <a:lstStyle/>
          <a:p>
            <a:endParaRPr lang="zh-CN" altLang="en-US"/>
          </a:p>
        </p:txBody>
      </p:sp>
      <p:grpSp>
        <p:nvGrpSpPr>
          <p:cNvPr id="1178706" name="Group 82"/>
          <p:cNvGrpSpPr>
            <a:grpSpLocks/>
          </p:cNvGrpSpPr>
          <p:nvPr/>
        </p:nvGrpSpPr>
        <p:grpSpPr bwMode="auto">
          <a:xfrm>
            <a:off x="2345430" y="2046362"/>
            <a:ext cx="5575300" cy="590550"/>
            <a:chOff x="1137" y="414"/>
            <a:chExt cx="3512" cy="372"/>
          </a:xfrm>
        </p:grpSpPr>
        <p:sp>
          <p:nvSpPr>
            <p:cNvPr id="1178701" name="Line 77"/>
            <p:cNvSpPr>
              <a:spLocks noChangeShapeType="1"/>
            </p:cNvSpPr>
            <p:nvPr/>
          </p:nvSpPr>
          <p:spPr bwMode="auto">
            <a:xfrm>
              <a:off x="1137" y="514"/>
              <a:ext cx="0" cy="272"/>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702" name="Line 78"/>
            <p:cNvSpPr>
              <a:spLocks noChangeShapeType="1"/>
            </p:cNvSpPr>
            <p:nvPr/>
          </p:nvSpPr>
          <p:spPr bwMode="auto">
            <a:xfrm>
              <a:off x="4641" y="514"/>
              <a:ext cx="0" cy="272"/>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703" name="Line 79"/>
            <p:cNvSpPr>
              <a:spLocks noChangeShapeType="1"/>
            </p:cNvSpPr>
            <p:nvPr/>
          </p:nvSpPr>
          <p:spPr bwMode="auto">
            <a:xfrm>
              <a:off x="1137" y="523"/>
              <a:ext cx="3512" cy="0"/>
            </a:xfrm>
            <a:prstGeom prst="line">
              <a:avLst/>
            </a:prstGeom>
            <a:noFill/>
            <a:ln w="28575">
              <a:solidFill>
                <a:srgbClr val="7030A0"/>
              </a:solidFill>
              <a:round/>
              <a:headEnd/>
              <a:tailEnd/>
            </a:ln>
            <a:effectLst>
              <a:outerShdw dist="35921" dir="2700000" algn="ctr" rotWithShape="0">
                <a:schemeClr val="bg2"/>
              </a:outerShdw>
            </a:effectLst>
          </p:spPr>
          <p:txBody>
            <a:bodyPr/>
            <a:lstStyle/>
            <a:p>
              <a:endParaRPr lang="zh-CN" altLang="en-US">
                <a:solidFill>
                  <a:srgbClr val="C00000"/>
                </a:solidFill>
              </a:endParaRPr>
            </a:p>
          </p:txBody>
        </p:sp>
        <p:sp useBgFill="1">
          <p:nvSpPr>
            <p:cNvPr id="1178704" name="Text Box 80"/>
            <p:cNvSpPr txBox="1">
              <a:spLocks noChangeArrowheads="1"/>
            </p:cNvSpPr>
            <p:nvPr/>
          </p:nvSpPr>
          <p:spPr bwMode="auto">
            <a:xfrm>
              <a:off x="2616" y="414"/>
              <a:ext cx="445" cy="252"/>
            </a:xfrm>
            <a:prstGeom prst="rect">
              <a:avLst/>
            </a:prstGeom>
            <a:ln w="9525" algn="ctr">
              <a:noFill/>
              <a:miter lim="800000"/>
              <a:headEnd/>
              <a:tailEnd/>
            </a:ln>
            <a:effectLst/>
          </p:spPr>
          <p:txBody>
            <a:bodyPr>
              <a:spAutoFit/>
            </a:bodyPr>
            <a:lstStyle/>
            <a:p>
              <a:pPr marL="342900" indent="-342900">
                <a:spcBef>
                  <a:spcPct val="50000"/>
                </a:spcBef>
              </a:pPr>
              <a:r>
                <a:rPr lang="zh-CN" altLang="en-US" sz="2000">
                  <a:solidFill>
                    <a:srgbClr val="C00000"/>
                  </a:solidFill>
                </a:rPr>
                <a:t>交换</a:t>
              </a:r>
            </a:p>
          </p:txBody>
        </p:sp>
      </p:grpSp>
      <p:sp>
        <p:nvSpPr>
          <p:cNvPr id="1178707" name="Text Box 83"/>
          <p:cNvSpPr txBox="1">
            <a:spLocks noChangeArrowheads="1"/>
          </p:cNvSpPr>
          <p:nvPr/>
        </p:nvSpPr>
        <p:spPr bwMode="auto">
          <a:xfrm>
            <a:off x="2088256" y="2737495"/>
            <a:ext cx="503237"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7030A0"/>
                </a:solidFill>
              </a:rPr>
              <a:t>'a'</a:t>
            </a:r>
          </a:p>
        </p:txBody>
      </p:sp>
      <p:grpSp>
        <p:nvGrpSpPr>
          <p:cNvPr id="1178709" name="Group 85"/>
          <p:cNvGrpSpPr>
            <a:grpSpLocks/>
          </p:cNvGrpSpPr>
          <p:nvPr/>
        </p:nvGrpSpPr>
        <p:grpSpPr bwMode="auto">
          <a:xfrm>
            <a:off x="2729605" y="3187229"/>
            <a:ext cx="360362" cy="1020762"/>
            <a:chOff x="702" y="1616"/>
            <a:chExt cx="227" cy="643"/>
          </a:xfrm>
        </p:grpSpPr>
        <p:sp>
          <p:nvSpPr>
            <p:cNvPr id="1178710" name="Line 86"/>
            <p:cNvSpPr>
              <a:spLocks noChangeShapeType="1"/>
            </p:cNvSpPr>
            <p:nvPr/>
          </p:nvSpPr>
          <p:spPr bwMode="auto">
            <a:xfrm flipV="1">
              <a:off x="793" y="1616"/>
              <a:ext cx="0" cy="408"/>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711" name="Text Box 87"/>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C00000"/>
                  </a:solidFill>
                </a:rPr>
                <a:t>p</a:t>
              </a:r>
            </a:p>
          </p:txBody>
        </p:sp>
      </p:grpSp>
      <p:sp useBgFill="1">
        <p:nvSpPr>
          <p:cNvPr id="1178712" name="Rectangle 88"/>
          <p:cNvSpPr>
            <a:spLocks noChangeArrowheads="1"/>
          </p:cNvSpPr>
          <p:nvPr/>
        </p:nvSpPr>
        <p:spPr bwMode="auto">
          <a:xfrm>
            <a:off x="2072381" y="3144192"/>
            <a:ext cx="504825" cy="935038"/>
          </a:xfrm>
          <a:prstGeom prst="rect">
            <a:avLst/>
          </a:prstGeom>
          <a:ln w="9525" algn="ctr">
            <a:noFill/>
            <a:miter lim="800000"/>
            <a:headEnd/>
            <a:tailEnd/>
          </a:ln>
          <a:effectLst/>
        </p:spPr>
        <p:txBody>
          <a:bodyPr wrap="none" anchor="ctr"/>
          <a:lstStyle/>
          <a:p>
            <a:endParaRPr lang="zh-CN" altLang="en-US"/>
          </a:p>
        </p:txBody>
      </p:sp>
      <p:grpSp>
        <p:nvGrpSpPr>
          <p:cNvPr id="1178713" name="Group 89"/>
          <p:cNvGrpSpPr>
            <a:grpSpLocks/>
          </p:cNvGrpSpPr>
          <p:nvPr/>
        </p:nvGrpSpPr>
        <p:grpSpPr bwMode="auto">
          <a:xfrm>
            <a:off x="7198418" y="3201517"/>
            <a:ext cx="360363" cy="1020763"/>
            <a:chOff x="702" y="1616"/>
            <a:chExt cx="227" cy="643"/>
          </a:xfrm>
        </p:grpSpPr>
        <p:sp>
          <p:nvSpPr>
            <p:cNvPr id="1178714" name="Line 90"/>
            <p:cNvSpPr>
              <a:spLocks noChangeShapeType="1"/>
            </p:cNvSpPr>
            <p:nvPr/>
          </p:nvSpPr>
          <p:spPr bwMode="auto">
            <a:xfrm flipV="1">
              <a:off x="793" y="1616"/>
              <a:ext cx="0" cy="408"/>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a:solidFill>
                  <a:schemeClr val="accent1">
                    <a:lumMod val="50000"/>
                  </a:schemeClr>
                </a:solidFill>
              </a:endParaRPr>
            </a:p>
          </p:txBody>
        </p:sp>
        <p:sp>
          <p:nvSpPr>
            <p:cNvPr id="1178715" name="Text Box 91"/>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chemeClr val="accent1">
                      <a:lumMod val="50000"/>
                    </a:schemeClr>
                  </a:solidFill>
                </a:rPr>
                <a:t>q</a:t>
              </a:r>
            </a:p>
          </p:txBody>
        </p:sp>
      </p:grpSp>
      <p:sp useBgFill="1">
        <p:nvSpPr>
          <p:cNvPr id="1178716" name="Rectangle 92"/>
          <p:cNvSpPr>
            <a:spLocks noChangeArrowheads="1"/>
          </p:cNvSpPr>
          <p:nvPr/>
        </p:nvSpPr>
        <p:spPr bwMode="auto">
          <a:xfrm>
            <a:off x="7713561" y="3198132"/>
            <a:ext cx="504825" cy="935037"/>
          </a:xfrm>
          <a:prstGeom prst="rect">
            <a:avLst/>
          </a:prstGeom>
          <a:ln w="9525" algn="ctr">
            <a:noFill/>
            <a:miter lim="800000"/>
            <a:headEnd/>
            <a:tailEnd/>
          </a:ln>
          <a:effectLst/>
        </p:spPr>
        <p:txBody>
          <a:bodyPr wrap="none" anchor="ctr"/>
          <a:lstStyle/>
          <a:p>
            <a:endParaRPr lang="zh-CN" altLang="en-US"/>
          </a:p>
        </p:txBody>
      </p:sp>
      <p:grpSp>
        <p:nvGrpSpPr>
          <p:cNvPr id="1178722" name="Group 98"/>
          <p:cNvGrpSpPr>
            <a:grpSpLocks/>
          </p:cNvGrpSpPr>
          <p:nvPr/>
        </p:nvGrpSpPr>
        <p:grpSpPr bwMode="auto">
          <a:xfrm>
            <a:off x="2889943" y="2046362"/>
            <a:ext cx="4454525" cy="590550"/>
            <a:chOff x="1480" y="370"/>
            <a:chExt cx="2806" cy="372"/>
          </a:xfrm>
        </p:grpSpPr>
        <p:sp>
          <p:nvSpPr>
            <p:cNvPr id="1178718" name="Line 94"/>
            <p:cNvSpPr>
              <a:spLocks noChangeShapeType="1"/>
            </p:cNvSpPr>
            <p:nvPr/>
          </p:nvSpPr>
          <p:spPr bwMode="auto">
            <a:xfrm>
              <a:off x="1480" y="470"/>
              <a:ext cx="0" cy="272"/>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719" name="Line 95"/>
            <p:cNvSpPr>
              <a:spLocks noChangeShapeType="1"/>
            </p:cNvSpPr>
            <p:nvPr/>
          </p:nvSpPr>
          <p:spPr bwMode="auto">
            <a:xfrm>
              <a:off x="4280" y="470"/>
              <a:ext cx="0" cy="272"/>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720" name="Line 96"/>
            <p:cNvSpPr>
              <a:spLocks noChangeShapeType="1"/>
            </p:cNvSpPr>
            <p:nvPr/>
          </p:nvSpPr>
          <p:spPr bwMode="auto">
            <a:xfrm>
              <a:off x="1480" y="479"/>
              <a:ext cx="2806" cy="0"/>
            </a:xfrm>
            <a:prstGeom prst="line">
              <a:avLst/>
            </a:prstGeom>
            <a:noFill/>
            <a:ln w="28575">
              <a:solidFill>
                <a:srgbClr val="7030A0"/>
              </a:solidFill>
              <a:round/>
              <a:headEnd/>
              <a:tailEnd/>
            </a:ln>
            <a:effectLst>
              <a:outerShdw dist="35921" dir="2700000" algn="ctr" rotWithShape="0">
                <a:schemeClr val="bg2"/>
              </a:outerShdw>
            </a:effectLst>
          </p:spPr>
          <p:txBody>
            <a:bodyPr/>
            <a:lstStyle/>
            <a:p>
              <a:endParaRPr lang="zh-CN" altLang="en-US">
                <a:solidFill>
                  <a:srgbClr val="C00000"/>
                </a:solidFill>
              </a:endParaRPr>
            </a:p>
          </p:txBody>
        </p:sp>
        <p:sp useBgFill="1">
          <p:nvSpPr>
            <p:cNvPr id="1178721" name="Text Box 97"/>
            <p:cNvSpPr txBox="1">
              <a:spLocks noChangeArrowheads="1"/>
            </p:cNvSpPr>
            <p:nvPr/>
          </p:nvSpPr>
          <p:spPr bwMode="auto">
            <a:xfrm>
              <a:off x="2662" y="370"/>
              <a:ext cx="445" cy="252"/>
            </a:xfrm>
            <a:prstGeom prst="rect">
              <a:avLst/>
            </a:prstGeom>
            <a:ln w="9525" algn="ctr">
              <a:noFill/>
              <a:miter lim="800000"/>
              <a:headEnd/>
              <a:tailEnd/>
            </a:ln>
            <a:effectLst/>
          </p:spPr>
          <p:txBody>
            <a:bodyPr>
              <a:spAutoFit/>
            </a:bodyPr>
            <a:lstStyle/>
            <a:p>
              <a:pPr marL="342900" indent="-342900">
                <a:spcBef>
                  <a:spcPct val="50000"/>
                </a:spcBef>
              </a:pPr>
              <a:r>
                <a:rPr lang="zh-CN" altLang="en-US" sz="2000">
                  <a:solidFill>
                    <a:srgbClr val="C00000"/>
                  </a:solidFill>
                </a:rPr>
                <a:t>交换</a:t>
              </a:r>
            </a:p>
          </p:txBody>
        </p:sp>
      </p:grpSp>
      <p:sp>
        <p:nvSpPr>
          <p:cNvPr id="1178723" name="Text Box 99"/>
          <p:cNvSpPr txBox="1">
            <a:spLocks noChangeArrowheads="1"/>
          </p:cNvSpPr>
          <p:nvPr/>
        </p:nvSpPr>
        <p:spPr bwMode="auto">
          <a:xfrm>
            <a:off x="2664517" y="2708920"/>
            <a:ext cx="503238"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7030A0"/>
                </a:solidFill>
              </a:rPr>
              <a:t>'n'</a:t>
            </a:r>
          </a:p>
        </p:txBody>
      </p:sp>
      <p:sp>
        <p:nvSpPr>
          <p:cNvPr id="1178724" name="Text Box 100"/>
          <p:cNvSpPr txBox="1">
            <a:spLocks noChangeArrowheads="1"/>
          </p:cNvSpPr>
          <p:nvPr/>
        </p:nvSpPr>
        <p:spPr bwMode="auto">
          <a:xfrm>
            <a:off x="7157143" y="2737495"/>
            <a:ext cx="504825"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7030A0"/>
                </a:solidFill>
              </a:rPr>
              <a:t>'L'</a:t>
            </a:r>
          </a:p>
        </p:txBody>
      </p:sp>
      <p:grpSp>
        <p:nvGrpSpPr>
          <p:cNvPr id="1178725" name="Group 101"/>
          <p:cNvGrpSpPr>
            <a:grpSpLocks/>
          </p:cNvGrpSpPr>
          <p:nvPr/>
        </p:nvGrpSpPr>
        <p:grpSpPr bwMode="auto">
          <a:xfrm>
            <a:off x="3245543" y="3188817"/>
            <a:ext cx="360363" cy="1020763"/>
            <a:chOff x="702" y="1616"/>
            <a:chExt cx="227" cy="643"/>
          </a:xfrm>
        </p:grpSpPr>
        <p:sp>
          <p:nvSpPr>
            <p:cNvPr id="1178726" name="Line 102"/>
            <p:cNvSpPr>
              <a:spLocks noChangeShapeType="1"/>
            </p:cNvSpPr>
            <p:nvPr/>
          </p:nvSpPr>
          <p:spPr bwMode="auto">
            <a:xfrm flipV="1">
              <a:off x="793" y="1616"/>
              <a:ext cx="0" cy="408"/>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dirty="0">
                <a:solidFill>
                  <a:srgbClr val="C00000"/>
                </a:solidFill>
              </a:endParaRPr>
            </a:p>
          </p:txBody>
        </p:sp>
        <p:sp>
          <p:nvSpPr>
            <p:cNvPr id="1178727" name="Text Box 103"/>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C00000"/>
                  </a:solidFill>
                </a:rPr>
                <a:t>p</a:t>
              </a:r>
            </a:p>
          </p:txBody>
        </p:sp>
      </p:grpSp>
      <p:sp useBgFill="1">
        <p:nvSpPr>
          <p:cNvPr id="1178728" name="Rectangle 104"/>
          <p:cNvSpPr>
            <a:spLocks noChangeArrowheads="1"/>
          </p:cNvSpPr>
          <p:nvPr/>
        </p:nvSpPr>
        <p:spPr bwMode="auto">
          <a:xfrm>
            <a:off x="2616893" y="3160067"/>
            <a:ext cx="504825" cy="935038"/>
          </a:xfrm>
          <a:prstGeom prst="rect">
            <a:avLst/>
          </a:prstGeom>
          <a:ln w="9525" algn="ctr">
            <a:noFill/>
            <a:miter lim="800000"/>
            <a:headEnd/>
            <a:tailEnd/>
          </a:ln>
          <a:effectLst/>
        </p:spPr>
        <p:txBody>
          <a:bodyPr wrap="none" anchor="ctr"/>
          <a:lstStyle/>
          <a:p>
            <a:endParaRPr lang="zh-CN" altLang="en-US"/>
          </a:p>
        </p:txBody>
      </p:sp>
      <p:grpSp>
        <p:nvGrpSpPr>
          <p:cNvPr id="1178729" name="Group 105"/>
          <p:cNvGrpSpPr>
            <a:grpSpLocks/>
          </p:cNvGrpSpPr>
          <p:nvPr/>
        </p:nvGrpSpPr>
        <p:grpSpPr bwMode="auto">
          <a:xfrm>
            <a:off x="6628505" y="3203104"/>
            <a:ext cx="360362" cy="1020762"/>
            <a:chOff x="702" y="1616"/>
            <a:chExt cx="227" cy="643"/>
          </a:xfrm>
        </p:grpSpPr>
        <p:sp>
          <p:nvSpPr>
            <p:cNvPr id="1178730" name="Line 106"/>
            <p:cNvSpPr>
              <a:spLocks noChangeShapeType="1"/>
            </p:cNvSpPr>
            <p:nvPr/>
          </p:nvSpPr>
          <p:spPr bwMode="auto">
            <a:xfrm flipV="1">
              <a:off x="793" y="1616"/>
              <a:ext cx="0" cy="408"/>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a:solidFill>
                  <a:schemeClr val="accent1">
                    <a:lumMod val="50000"/>
                  </a:schemeClr>
                </a:solidFill>
              </a:endParaRPr>
            </a:p>
          </p:txBody>
        </p:sp>
        <p:sp>
          <p:nvSpPr>
            <p:cNvPr id="1178731" name="Text Box 107"/>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chemeClr val="accent1">
                      <a:lumMod val="50000"/>
                    </a:schemeClr>
                  </a:solidFill>
                </a:rPr>
                <a:t>q</a:t>
              </a:r>
            </a:p>
          </p:txBody>
        </p:sp>
      </p:grpSp>
      <p:sp useBgFill="1">
        <p:nvSpPr>
          <p:cNvPr id="1178732" name="Rectangle 108"/>
          <p:cNvSpPr>
            <a:spLocks noChangeArrowheads="1"/>
          </p:cNvSpPr>
          <p:nvPr/>
        </p:nvSpPr>
        <p:spPr bwMode="auto">
          <a:xfrm>
            <a:off x="7172224" y="3199718"/>
            <a:ext cx="504825" cy="935038"/>
          </a:xfrm>
          <a:prstGeom prst="rect">
            <a:avLst/>
          </a:prstGeom>
          <a:ln w="9525" algn="ctr">
            <a:noFill/>
            <a:miter lim="800000"/>
            <a:headEnd/>
            <a:tailEnd/>
          </a:ln>
          <a:effectLst/>
        </p:spPr>
        <p:txBody>
          <a:bodyPr wrap="none" anchor="ctr"/>
          <a:lstStyle/>
          <a:p>
            <a:endParaRPr lang="zh-CN" altLang="en-US"/>
          </a:p>
        </p:txBody>
      </p:sp>
      <p:grpSp>
        <p:nvGrpSpPr>
          <p:cNvPr id="1178738" name="Group 114"/>
          <p:cNvGrpSpPr>
            <a:grpSpLocks/>
          </p:cNvGrpSpPr>
          <p:nvPr/>
        </p:nvGrpSpPr>
        <p:grpSpPr bwMode="auto">
          <a:xfrm>
            <a:off x="3405881" y="2046362"/>
            <a:ext cx="3362325" cy="590550"/>
            <a:chOff x="1805" y="497"/>
            <a:chExt cx="2118" cy="372"/>
          </a:xfrm>
        </p:grpSpPr>
        <p:sp>
          <p:nvSpPr>
            <p:cNvPr id="1178734" name="Line 110"/>
            <p:cNvSpPr>
              <a:spLocks noChangeShapeType="1"/>
            </p:cNvSpPr>
            <p:nvPr/>
          </p:nvSpPr>
          <p:spPr bwMode="auto">
            <a:xfrm>
              <a:off x="1805" y="597"/>
              <a:ext cx="0" cy="272"/>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735" name="Line 111"/>
            <p:cNvSpPr>
              <a:spLocks noChangeShapeType="1"/>
            </p:cNvSpPr>
            <p:nvPr/>
          </p:nvSpPr>
          <p:spPr bwMode="auto">
            <a:xfrm>
              <a:off x="3918" y="597"/>
              <a:ext cx="0" cy="272"/>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736" name="Line 112"/>
            <p:cNvSpPr>
              <a:spLocks noChangeShapeType="1"/>
            </p:cNvSpPr>
            <p:nvPr/>
          </p:nvSpPr>
          <p:spPr bwMode="auto">
            <a:xfrm>
              <a:off x="1805" y="606"/>
              <a:ext cx="2118" cy="1"/>
            </a:xfrm>
            <a:prstGeom prst="line">
              <a:avLst/>
            </a:prstGeom>
            <a:noFill/>
            <a:ln w="28575">
              <a:solidFill>
                <a:srgbClr val="7030A0"/>
              </a:solidFill>
              <a:round/>
              <a:headEnd/>
              <a:tailEnd/>
            </a:ln>
            <a:effectLst>
              <a:outerShdw dist="35921" dir="2700000" algn="ctr" rotWithShape="0">
                <a:schemeClr val="bg2"/>
              </a:outerShdw>
            </a:effectLst>
          </p:spPr>
          <p:txBody>
            <a:bodyPr/>
            <a:lstStyle/>
            <a:p>
              <a:endParaRPr lang="zh-CN" altLang="en-US">
                <a:solidFill>
                  <a:srgbClr val="C00000"/>
                </a:solidFill>
              </a:endParaRPr>
            </a:p>
          </p:txBody>
        </p:sp>
        <p:sp useBgFill="1">
          <p:nvSpPr>
            <p:cNvPr id="1178737" name="Text Box 113"/>
            <p:cNvSpPr txBox="1">
              <a:spLocks noChangeArrowheads="1"/>
            </p:cNvSpPr>
            <p:nvPr/>
          </p:nvSpPr>
          <p:spPr bwMode="auto">
            <a:xfrm>
              <a:off x="2697" y="497"/>
              <a:ext cx="455" cy="252"/>
            </a:xfrm>
            <a:prstGeom prst="rect">
              <a:avLst/>
            </a:prstGeom>
            <a:ln w="9525" algn="ctr">
              <a:noFill/>
              <a:miter lim="800000"/>
              <a:headEnd/>
              <a:tailEnd/>
            </a:ln>
            <a:effectLst/>
          </p:spPr>
          <p:txBody>
            <a:bodyPr>
              <a:spAutoFit/>
            </a:bodyPr>
            <a:lstStyle/>
            <a:p>
              <a:pPr marL="342900" indent="-342900">
                <a:spcBef>
                  <a:spcPct val="50000"/>
                </a:spcBef>
              </a:pPr>
              <a:r>
                <a:rPr lang="zh-CN" altLang="en-US" sz="2000">
                  <a:solidFill>
                    <a:srgbClr val="C00000"/>
                  </a:solidFill>
                </a:rPr>
                <a:t>交换</a:t>
              </a:r>
            </a:p>
          </p:txBody>
        </p:sp>
      </p:grpSp>
      <p:sp>
        <p:nvSpPr>
          <p:cNvPr id="1178739" name="Text Box 115"/>
          <p:cNvSpPr txBox="1">
            <a:spLocks noChangeArrowheads="1"/>
          </p:cNvSpPr>
          <p:nvPr/>
        </p:nvSpPr>
        <p:spPr bwMode="auto">
          <a:xfrm>
            <a:off x="3216969" y="2723208"/>
            <a:ext cx="431800"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dirty="0">
                <a:solidFill>
                  <a:srgbClr val="7030A0"/>
                </a:solidFill>
              </a:rPr>
              <a:t>'</a:t>
            </a:r>
            <a:r>
              <a:rPr lang="en-US" altLang="zh-CN" sz="2000" dirty="0" err="1">
                <a:solidFill>
                  <a:srgbClr val="7030A0"/>
                </a:solidFill>
              </a:rPr>
              <a:t>i</a:t>
            </a:r>
            <a:r>
              <a:rPr lang="en-US" altLang="zh-CN" sz="2000" dirty="0">
                <a:solidFill>
                  <a:srgbClr val="7030A0"/>
                </a:solidFill>
              </a:rPr>
              <a:t>'</a:t>
            </a:r>
          </a:p>
        </p:txBody>
      </p:sp>
      <p:sp>
        <p:nvSpPr>
          <p:cNvPr id="1178740" name="Text Box 116"/>
          <p:cNvSpPr txBox="1">
            <a:spLocks noChangeArrowheads="1"/>
          </p:cNvSpPr>
          <p:nvPr/>
        </p:nvSpPr>
        <p:spPr bwMode="auto">
          <a:xfrm>
            <a:off x="6552306" y="2737495"/>
            <a:ext cx="503237"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7030A0"/>
                </a:solidFill>
              </a:rPr>
              <a:t>'o'</a:t>
            </a:r>
          </a:p>
        </p:txBody>
      </p:sp>
      <p:grpSp>
        <p:nvGrpSpPr>
          <p:cNvPr id="1178741" name="Group 117"/>
          <p:cNvGrpSpPr>
            <a:grpSpLocks/>
          </p:cNvGrpSpPr>
          <p:nvPr/>
        </p:nvGrpSpPr>
        <p:grpSpPr bwMode="auto">
          <a:xfrm>
            <a:off x="3832918" y="3190404"/>
            <a:ext cx="360363" cy="1020762"/>
            <a:chOff x="702" y="1616"/>
            <a:chExt cx="227" cy="643"/>
          </a:xfrm>
        </p:grpSpPr>
        <p:sp>
          <p:nvSpPr>
            <p:cNvPr id="1178742" name="Line 118"/>
            <p:cNvSpPr>
              <a:spLocks noChangeShapeType="1"/>
            </p:cNvSpPr>
            <p:nvPr/>
          </p:nvSpPr>
          <p:spPr bwMode="auto">
            <a:xfrm flipV="1">
              <a:off x="793" y="1616"/>
              <a:ext cx="0" cy="408"/>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743" name="Text Box 119"/>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C00000"/>
                  </a:solidFill>
                </a:rPr>
                <a:t>p</a:t>
              </a:r>
            </a:p>
          </p:txBody>
        </p:sp>
      </p:grpSp>
      <p:sp useBgFill="1">
        <p:nvSpPr>
          <p:cNvPr id="1178744" name="Rectangle 120"/>
          <p:cNvSpPr>
            <a:spLocks noChangeArrowheads="1"/>
          </p:cNvSpPr>
          <p:nvPr/>
        </p:nvSpPr>
        <p:spPr bwMode="auto">
          <a:xfrm>
            <a:off x="3104256" y="3161656"/>
            <a:ext cx="504825" cy="935037"/>
          </a:xfrm>
          <a:prstGeom prst="rect">
            <a:avLst/>
          </a:prstGeom>
          <a:ln w="9525" algn="ctr">
            <a:noFill/>
            <a:miter lim="800000"/>
            <a:headEnd/>
            <a:tailEnd/>
          </a:ln>
          <a:effectLst/>
        </p:spPr>
        <p:txBody>
          <a:bodyPr wrap="none" anchor="ctr"/>
          <a:lstStyle/>
          <a:p>
            <a:endParaRPr lang="zh-CN" altLang="en-US"/>
          </a:p>
        </p:txBody>
      </p:sp>
      <p:grpSp>
        <p:nvGrpSpPr>
          <p:cNvPr id="1178745" name="Group 121"/>
          <p:cNvGrpSpPr>
            <a:grpSpLocks/>
          </p:cNvGrpSpPr>
          <p:nvPr/>
        </p:nvGrpSpPr>
        <p:grpSpPr bwMode="auto">
          <a:xfrm>
            <a:off x="6087168" y="3204692"/>
            <a:ext cx="360363" cy="1020763"/>
            <a:chOff x="702" y="1616"/>
            <a:chExt cx="227" cy="643"/>
          </a:xfrm>
        </p:grpSpPr>
        <p:sp>
          <p:nvSpPr>
            <p:cNvPr id="1178746" name="Line 122"/>
            <p:cNvSpPr>
              <a:spLocks noChangeShapeType="1"/>
            </p:cNvSpPr>
            <p:nvPr/>
          </p:nvSpPr>
          <p:spPr bwMode="auto">
            <a:xfrm flipV="1">
              <a:off x="793" y="1616"/>
              <a:ext cx="0" cy="408"/>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dirty="0">
                <a:solidFill>
                  <a:schemeClr val="accent1">
                    <a:lumMod val="50000"/>
                  </a:schemeClr>
                </a:solidFill>
              </a:endParaRPr>
            </a:p>
          </p:txBody>
        </p:sp>
        <p:sp>
          <p:nvSpPr>
            <p:cNvPr id="1178747" name="Text Box 123"/>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chemeClr val="accent1">
                      <a:lumMod val="50000"/>
                    </a:schemeClr>
                  </a:solidFill>
                </a:rPr>
                <a:t>q</a:t>
              </a:r>
            </a:p>
          </p:txBody>
        </p:sp>
      </p:grpSp>
      <p:sp useBgFill="1">
        <p:nvSpPr>
          <p:cNvPr id="1178748" name="Rectangle 124"/>
          <p:cNvSpPr>
            <a:spLocks noChangeArrowheads="1"/>
          </p:cNvSpPr>
          <p:nvPr/>
        </p:nvSpPr>
        <p:spPr bwMode="auto">
          <a:xfrm>
            <a:off x="6588024" y="3212418"/>
            <a:ext cx="504825" cy="935038"/>
          </a:xfrm>
          <a:prstGeom prst="rect">
            <a:avLst/>
          </a:prstGeom>
          <a:ln w="9525" algn="ctr">
            <a:noFill/>
            <a:miter lim="800000"/>
            <a:headEnd/>
            <a:tailEnd/>
          </a:ln>
          <a:effectLst/>
        </p:spPr>
        <p:txBody>
          <a:bodyPr wrap="none" anchor="ctr"/>
          <a:lstStyle/>
          <a:p>
            <a:endParaRPr lang="zh-CN" altLang="en-US"/>
          </a:p>
        </p:txBody>
      </p:sp>
      <p:grpSp>
        <p:nvGrpSpPr>
          <p:cNvPr id="1178754" name="Group 130"/>
          <p:cNvGrpSpPr>
            <a:grpSpLocks/>
          </p:cNvGrpSpPr>
          <p:nvPr/>
        </p:nvGrpSpPr>
        <p:grpSpPr bwMode="auto">
          <a:xfrm>
            <a:off x="3964681" y="2046362"/>
            <a:ext cx="2300287" cy="590550"/>
            <a:chOff x="2157" y="435"/>
            <a:chExt cx="1449" cy="372"/>
          </a:xfrm>
        </p:grpSpPr>
        <p:sp>
          <p:nvSpPr>
            <p:cNvPr id="1178750" name="Line 126"/>
            <p:cNvSpPr>
              <a:spLocks noChangeShapeType="1"/>
            </p:cNvSpPr>
            <p:nvPr/>
          </p:nvSpPr>
          <p:spPr bwMode="auto">
            <a:xfrm>
              <a:off x="2157" y="535"/>
              <a:ext cx="0" cy="272"/>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751" name="Line 127"/>
            <p:cNvSpPr>
              <a:spLocks noChangeShapeType="1"/>
            </p:cNvSpPr>
            <p:nvPr/>
          </p:nvSpPr>
          <p:spPr bwMode="auto">
            <a:xfrm>
              <a:off x="3603" y="535"/>
              <a:ext cx="0" cy="272"/>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752" name="Line 128"/>
            <p:cNvSpPr>
              <a:spLocks noChangeShapeType="1"/>
            </p:cNvSpPr>
            <p:nvPr/>
          </p:nvSpPr>
          <p:spPr bwMode="auto">
            <a:xfrm>
              <a:off x="2157" y="544"/>
              <a:ext cx="1449" cy="1"/>
            </a:xfrm>
            <a:prstGeom prst="line">
              <a:avLst/>
            </a:prstGeom>
            <a:noFill/>
            <a:ln w="28575">
              <a:solidFill>
                <a:srgbClr val="7030A0"/>
              </a:solidFill>
              <a:round/>
              <a:headEnd/>
              <a:tailEnd/>
            </a:ln>
            <a:effectLst>
              <a:outerShdw dist="35921" dir="2700000" algn="ctr" rotWithShape="0">
                <a:schemeClr val="bg2"/>
              </a:outerShdw>
            </a:effectLst>
          </p:spPr>
          <p:txBody>
            <a:bodyPr/>
            <a:lstStyle/>
            <a:p>
              <a:endParaRPr lang="zh-CN" altLang="en-US">
                <a:solidFill>
                  <a:srgbClr val="C00000"/>
                </a:solidFill>
              </a:endParaRPr>
            </a:p>
          </p:txBody>
        </p:sp>
        <p:sp useBgFill="1">
          <p:nvSpPr>
            <p:cNvPr id="1178753" name="Text Box 129"/>
            <p:cNvSpPr txBox="1">
              <a:spLocks noChangeArrowheads="1"/>
            </p:cNvSpPr>
            <p:nvPr/>
          </p:nvSpPr>
          <p:spPr bwMode="auto">
            <a:xfrm>
              <a:off x="2659" y="435"/>
              <a:ext cx="476" cy="252"/>
            </a:xfrm>
            <a:prstGeom prst="rect">
              <a:avLst/>
            </a:prstGeom>
            <a:ln w="9525" algn="ctr">
              <a:noFill/>
              <a:miter lim="800000"/>
              <a:headEnd/>
              <a:tailEnd/>
            </a:ln>
            <a:effectLst/>
          </p:spPr>
          <p:txBody>
            <a:bodyPr>
              <a:spAutoFit/>
            </a:bodyPr>
            <a:lstStyle/>
            <a:p>
              <a:pPr marL="342900" indent="-342900">
                <a:spcBef>
                  <a:spcPct val="50000"/>
                </a:spcBef>
              </a:pPr>
              <a:r>
                <a:rPr lang="zh-CN" altLang="en-US" sz="2000">
                  <a:solidFill>
                    <a:srgbClr val="C00000"/>
                  </a:solidFill>
                </a:rPr>
                <a:t>交换</a:t>
              </a:r>
            </a:p>
          </p:txBody>
        </p:sp>
      </p:grpSp>
      <p:sp>
        <p:nvSpPr>
          <p:cNvPr id="1178755" name="Text Box 131"/>
          <p:cNvSpPr txBox="1">
            <a:spLocks noChangeArrowheads="1"/>
          </p:cNvSpPr>
          <p:nvPr/>
        </p:nvSpPr>
        <p:spPr bwMode="auto">
          <a:xfrm>
            <a:off x="3709626" y="2723208"/>
            <a:ext cx="503238"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7030A0"/>
                </a:solidFill>
              </a:rPr>
              <a:t>'h'</a:t>
            </a:r>
          </a:p>
        </p:txBody>
      </p:sp>
      <p:sp>
        <p:nvSpPr>
          <p:cNvPr id="1178756" name="Text Box 132"/>
          <p:cNvSpPr txBox="1">
            <a:spLocks noChangeArrowheads="1"/>
          </p:cNvSpPr>
          <p:nvPr/>
        </p:nvSpPr>
        <p:spPr bwMode="auto">
          <a:xfrm>
            <a:off x="5990331" y="2737495"/>
            <a:ext cx="503237"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7030A0"/>
                </a:solidFill>
              </a:rPr>
              <a:t>'v'</a:t>
            </a:r>
          </a:p>
        </p:txBody>
      </p:sp>
      <p:sp>
        <p:nvSpPr>
          <p:cNvPr id="1178708" name="Text Box 84"/>
          <p:cNvSpPr txBox="1">
            <a:spLocks noChangeArrowheads="1"/>
          </p:cNvSpPr>
          <p:nvPr/>
        </p:nvSpPr>
        <p:spPr bwMode="auto">
          <a:xfrm>
            <a:off x="7733405" y="2751783"/>
            <a:ext cx="431800"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7030A0"/>
                </a:solidFill>
              </a:rPr>
              <a:t>' '</a:t>
            </a:r>
          </a:p>
        </p:txBody>
      </p:sp>
      <p:grpSp>
        <p:nvGrpSpPr>
          <p:cNvPr id="1178764" name="Group 140"/>
          <p:cNvGrpSpPr>
            <a:grpSpLocks/>
          </p:cNvGrpSpPr>
          <p:nvPr/>
        </p:nvGrpSpPr>
        <p:grpSpPr bwMode="auto">
          <a:xfrm>
            <a:off x="4391718" y="3191992"/>
            <a:ext cx="360363" cy="1020763"/>
            <a:chOff x="702" y="1616"/>
            <a:chExt cx="227" cy="643"/>
          </a:xfrm>
        </p:grpSpPr>
        <p:sp>
          <p:nvSpPr>
            <p:cNvPr id="1178765" name="Line 141"/>
            <p:cNvSpPr>
              <a:spLocks noChangeShapeType="1"/>
            </p:cNvSpPr>
            <p:nvPr/>
          </p:nvSpPr>
          <p:spPr bwMode="auto">
            <a:xfrm flipV="1">
              <a:off x="793" y="1616"/>
              <a:ext cx="0" cy="408"/>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dirty="0">
                <a:solidFill>
                  <a:srgbClr val="C00000"/>
                </a:solidFill>
              </a:endParaRPr>
            </a:p>
          </p:txBody>
        </p:sp>
        <p:sp>
          <p:nvSpPr>
            <p:cNvPr id="1178766" name="Text Box 142"/>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C00000"/>
                  </a:solidFill>
                </a:rPr>
                <a:t>p</a:t>
              </a:r>
            </a:p>
          </p:txBody>
        </p:sp>
      </p:grpSp>
      <p:sp useBgFill="1">
        <p:nvSpPr>
          <p:cNvPr id="1178767" name="Rectangle 143"/>
          <p:cNvSpPr>
            <a:spLocks noChangeArrowheads="1"/>
          </p:cNvSpPr>
          <p:nvPr/>
        </p:nvSpPr>
        <p:spPr bwMode="auto">
          <a:xfrm>
            <a:off x="3681311" y="3190193"/>
            <a:ext cx="504825" cy="935038"/>
          </a:xfrm>
          <a:prstGeom prst="rect">
            <a:avLst/>
          </a:prstGeom>
          <a:ln w="9525" algn="ctr">
            <a:noFill/>
            <a:miter lim="800000"/>
            <a:headEnd/>
            <a:tailEnd/>
          </a:ln>
          <a:effectLst/>
        </p:spPr>
        <p:txBody>
          <a:bodyPr wrap="none" anchor="ctr"/>
          <a:lstStyle/>
          <a:p>
            <a:endParaRPr lang="zh-CN" altLang="en-US"/>
          </a:p>
        </p:txBody>
      </p:sp>
      <p:grpSp>
        <p:nvGrpSpPr>
          <p:cNvPr id="1178768" name="Group 144"/>
          <p:cNvGrpSpPr>
            <a:grpSpLocks/>
          </p:cNvGrpSpPr>
          <p:nvPr/>
        </p:nvGrpSpPr>
        <p:grpSpPr bwMode="auto">
          <a:xfrm>
            <a:off x="5502968" y="3234854"/>
            <a:ext cx="360363" cy="1020762"/>
            <a:chOff x="702" y="1616"/>
            <a:chExt cx="227" cy="643"/>
          </a:xfrm>
        </p:grpSpPr>
        <p:sp>
          <p:nvSpPr>
            <p:cNvPr id="1178769" name="Line 145"/>
            <p:cNvSpPr>
              <a:spLocks noChangeShapeType="1"/>
            </p:cNvSpPr>
            <p:nvPr/>
          </p:nvSpPr>
          <p:spPr bwMode="auto">
            <a:xfrm flipV="1">
              <a:off x="793" y="1616"/>
              <a:ext cx="0" cy="408"/>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dirty="0">
                <a:solidFill>
                  <a:schemeClr val="accent1">
                    <a:lumMod val="50000"/>
                  </a:schemeClr>
                </a:solidFill>
              </a:endParaRPr>
            </a:p>
          </p:txBody>
        </p:sp>
        <p:sp>
          <p:nvSpPr>
            <p:cNvPr id="1178770" name="Text Box 146"/>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chemeClr val="accent1">
                      <a:lumMod val="50000"/>
                    </a:schemeClr>
                  </a:solidFill>
                </a:rPr>
                <a:t>q</a:t>
              </a:r>
            </a:p>
          </p:txBody>
        </p:sp>
      </p:grpSp>
      <p:sp useBgFill="1">
        <p:nvSpPr>
          <p:cNvPr id="1178771" name="Rectangle 147"/>
          <p:cNvSpPr>
            <a:spLocks noChangeArrowheads="1"/>
          </p:cNvSpPr>
          <p:nvPr/>
        </p:nvSpPr>
        <p:spPr bwMode="auto">
          <a:xfrm>
            <a:off x="6075261" y="3202893"/>
            <a:ext cx="504825" cy="935038"/>
          </a:xfrm>
          <a:prstGeom prst="rect">
            <a:avLst/>
          </a:prstGeom>
          <a:ln w="9525" algn="ctr">
            <a:noFill/>
            <a:miter lim="800000"/>
            <a:headEnd/>
            <a:tailEnd/>
          </a:ln>
          <a:effectLst/>
        </p:spPr>
        <p:txBody>
          <a:bodyPr wrap="none" anchor="ctr"/>
          <a:lstStyle/>
          <a:p>
            <a:endParaRPr lang="zh-CN" altLang="en-US"/>
          </a:p>
        </p:txBody>
      </p:sp>
      <p:sp>
        <p:nvSpPr>
          <p:cNvPr id="1178772" name="Text Box 148"/>
          <p:cNvSpPr txBox="1">
            <a:spLocks noChangeArrowheads="1"/>
          </p:cNvSpPr>
          <p:nvPr/>
        </p:nvSpPr>
        <p:spPr bwMode="auto">
          <a:xfrm>
            <a:off x="4299072" y="2737338"/>
            <a:ext cx="504825" cy="369332"/>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1800" dirty="0">
                <a:solidFill>
                  <a:srgbClr val="7030A0"/>
                </a:solidFill>
              </a:rPr>
              <a:t>'C'</a:t>
            </a:r>
          </a:p>
        </p:txBody>
      </p:sp>
      <p:sp>
        <p:nvSpPr>
          <p:cNvPr id="1178773" name="Text Box 149"/>
          <p:cNvSpPr txBox="1">
            <a:spLocks noChangeArrowheads="1"/>
          </p:cNvSpPr>
          <p:nvPr/>
        </p:nvSpPr>
        <p:spPr bwMode="auto">
          <a:xfrm>
            <a:off x="5414066" y="2737495"/>
            <a:ext cx="576263"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wrap="square">
            <a:spAutoFit/>
          </a:bodyPr>
          <a:lstStyle/>
          <a:p>
            <a:pPr marL="342900" indent="-342900" algn="ctr">
              <a:spcBef>
                <a:spcPct val="50000"/>
              </a:spcBef>
            </a:pPr>
            <a:r>
              <a:rPr lang="en-US" altLang="zh-CN" sz="2000">
                <a:solidFill>
                  <a:srgbClr val="7030A0"/>
                </a:solidFill>
              </a:rPr>
              <a:t>'e'</a:t>
            </a:r>
          </a:p>
        </p:txBody>
      </p:sp>
      <p:grpSp>
        <p:nvGrpSpPr>
          <p:cNvPr id="1178779" name="Group 155"/>
          <p:cNvGrpSpPr>
            <a:grpSpLocks/>
          </p:cNvGrpSpPr>
          <p:nvPr/>
        </p:nvGrpSpPr>
        <p:grpSpPr bwMode="auto">
          <a:xfrm>
            <a:off x="4552056" y="2046362"/>
            <a:ext cx="1150937" cy="590550"/>
            <a:chOff x="2518" y="472"/>
            <a:chExt cx="725" cy="372"/>
          </a:xfrm>
        </p:grpSpPr>
        <p:sp>
          <p:nvSpPr>
            <p:cNvPr id="1178775" name="Line 151"/>
            <p:cNvSpPr>
              <a:spLocks noChangeShapeType="1"/>
            </p:cNvSpPr>
            <p:nvPr/>
          </p:nvSpPr>
          <p:spPr bwMode="auto">
            <a:xfrm>
              <a:off x="2518" y="572"/>
              <a:ext cx="0" cy="272"/>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776" name="Line 152"/>
            <p:cNvSpPr>
              <a:spLocks noChangeShapeType="1"/>
            </p:cNvSpPr>
            <p:nvPr/>
          </p:nvSpPr>
          <p:spPr bwMode="auto">
            <a:xfrm>
              <a:off x="3241" y="572"/>
              <a:ext cx="0" cy="272"/>
            </a:xfrm>
            <a:prstGeom prst="line">
              <a:avLst/>
            </a:prstGeom>
            <a:noFill/>
            <a:ln w="28575">
              <a:solidFill>
                <a:srgbClr val="7030A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78777" name="Line 153"/>
            <p:cNvSpPr>
              <a:spLocks noChangeShapeType="1"/>
            </p:cNvSpPr>
            <p:nvPr/>
          </p:nvSpPr>
          <p:spPr bwMode="auto">
            <a:xfrm>
              <a:off x="2518" y="581"/>
              <a:ext cx="725" cy="1"/>
            </a:xfrm>
            <a:prstGeom prst="line">
              <a:avLst/>
            </a:prstGeom>
            <a:noFill/>
            <a:ln w="28575">
              <a:solidFill>
                <a:srgbClr val="7030A0"/>
              </a:solidFill>
              <a:round/>
              <a:headEnd/>
              <a:tailEnd/>
            </a:ln>
            <a:effectLst>
              <a:outerShdw dist="35921" dir="2700000" algn="ctr" rotWithShape="0">
                <a:schemeClr val="bg2"/>
              </a:outerShdw>
            </a:effectLst>
          </p:spPr>
          <p:txBody>
            <a:bodyPr/>
            <a:lstStyle/>
            <a:p>
              <a:endParaRPr lang="zh-CN" altLang="en-US">
                <a:solidFill>
                  <a:srgbClr val="C00000"/>
                </a:solidFill>
              </a:endParaRPr>
            </a:p>
          </p:txBody>
        </p:sp>
        <p:sp useBgFill="1">
          <p:nvSpPr>
            <p:cNvPr id="1178778" name="Text Box 154"/>
            <p:cNvSpPr txBox="1">
              <a:spLocks noChangeArrowheads="1"/>
            </p:cNvSpPr>
            <p:nvPr/>
          </p:nvSpPr>
          <p:spPr bwMode="auto">
            <a:xfrm>
              <a:off x="2661" y="472"/>
              <a:ext cx="474" cy="252"/>
            </a:xfrm>
            <a:prstGeom prst="rect">
              <a:avLst/>
            </a:prstGeom>
            <a:ln w="9525" algn="ctr">
              <a:noFill/>
              <a:miter lim="800000"/>
              <a:headEnd/>
              <a:tailEnd/>
            </a:ln>
            <a:effectLst/>
          </p:spPr>
          <p:txBody>
            <a:bodyPr>
              <a:spAutoFit/>
            </a:bodyPr>
            <a:lstStyle/>
            <a:p>
              <a:pPr marL="342900" indent="-342900">
                <a:spcBef>
                  <a:spcPct val="50000"/>
                </a:spcBef>
              </a:pPr>
              <a:r>
                <a:rPr lang="zh-CN" altLang="en-US" sz="2000" dirty="0">
                  <a:solidFill>
                    <a:srgbClr val="C00000"/>
                  </a:solidFill>
                  <a:latin typeface="楷体" pitchFamily="49" charset="-122"/>
                  <a:ea typeface="楷体" pitchFamily="49" charset="-122"/>
                </a:rPr>
                <a:t>交换</a:t>
              </a:r>
            </a:p>
          </p:txBody>
        </p:sp>
      </p:grpSp>
      <p:grpSp>
        <p:nvGrpSpPr>
          <p:cNvPr id="1178780" name="Group 156"/>
          <p:cNvGrpSpPr>
            <a:grpSpLocks/>
          </p:cNvGrpSpPr>
          <p:nvPr/>
        </p:nvGrpSpPr>
        <p:grpSpPr bwMode="auto">
          <a:xfrm>
            <a:off x="4836218" y="3179292"/>
            <a:ext cx="360363" cy="1020763"/>
            <a:chOff x="702" y="1616"/>
            <a:chExt cx="227" cy="643"/>
          </a:xfrm>
        </p:grpSpPr>
        <p:sp>
          <p:nvSpPr>
            <p:cNvPr id="1178781" name="Line 157"/>
            <p:cNvSpPr>
              <a:spLocks noChangeShapeType="1"/>
            </p:cNvSpPr>
            <p:nvPr/>
          </p:nvSpPr>
          <p:spPr bwMode="auto">
            <a:xfrm flipV="1">
              <a:off x="793" y="1616"/>
              <a:ext cx="0" cy="408"/>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dirty="0">
                <a:solidFill>
                  <a:srgbClr val="C00000"/>
                </a:solidFill>
              </a:endParaRPr>
            </a:p>
          </p:txBody>
        </p:sp>
        <p:sp>
          <p:nvSpPr>
            <p:cNvPr id="1178782" name="Text Box 158"/>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C00000"/>
                  </a:solidFill>
                </a:rPr>
                <a:t>p</a:t>
              </a:r>
            </a:p>
          </p:txBody>
        </p:sp>
      </p:grpSp>
      <p:sp useBgFill="1">
        <p:nvSpPr>
          <p:cNvPr id="1178783" name="Rectangle 159"/>
          <p:cNvSpPr>
            <a:spLocks noChangeArrowheads="1"/>
          </p:cNvSpPr>
          <p:nvPr/>
        </p:nvSpPr>
        <p:spPr bwMode="auto">
          <a:xfrm>
            <a:off x="4297261" y="3191782"/>
            <a:ext cx="504825" cy="935037"/>
          </a:xfrm>
          <a:prstGeom prst="rect">
            <a:avLst/>
          </a:prstGeom>
          <a:ln w="9525" algn="ctr">
            <a:noFill/>
            <a:miter lim="800000"/>
            <a:headEnd/>
            <a:tailEnd/>
          </a:ln>
          <a:effectLst/>
        </p:spPr>
        <p:txBody>
          <a:bodyPr wrap="none" anchor="ctr"/>
          <a:lstStyle/>
          <a:p>
            <a:endParaRPr lang="zh-CN" altLang="en-US"/>
          </a:p>
        </p:txBody>
      </p:sp>
      <p:grpSp>
        <p:nvGrpSpPr>
          <p:cNvPr id="1178784" name="Group 160"/>
          <p:cNvGrpSpPr>
            <a:grpSpLocks/>
          </p:cNvGrpSpPr>
          <p:nvPr/>
        </p:nvGrpSpPr>
        <p:grpSpPr bwMode="auto">
          <a:xfrm>
            <a:off x="5090218" y="3179292"/>
            <a:ext cx="360363" cy="1020763"/>
            <a:chOff x="702" y="1616"/>
            <a:chExt cx="227" cy="643"/>
          </a:xfrm>
        </p:grpSpPr>
        <p:sp>
          <p:nvSpPr>
            <p:cNvPr id="1178785" name="Line 161"/>
            <p:cNvSpPr>
              <a:spLocks noChangeShapeType="1"/>
            </p:cNvSpPr>
            <p:nvPr/>
          </p:nvSpPr>
          <p:spPr bwMode="auto">
            <a:xfrm flipV="1">
              <a:off x="793" y="1616"/>
              <a:ext cx="0" cy="408"/>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a:solidFill>
                  <a:schemeClr val="accent1">
                    <a:lumMod val="50000"/>
                  </a:schemeClr>
                </a:solidFill>
              </a:endParaRPr>
            </a:p>
          </p:txBody>
        </p:sp>
        <p:sp>
          <p:nvSpPr>
            <p:cNvPr id="1178786" name="Text Box 162"/>
            <p:cNvSpPr txBox="1">
              <a:spLocks noChangeArrowheads="1"/>
            </p:cNvSpPr>
            <p:nvPr/>
          </p:nvSpPr>
          <p:spPr bwMode="auto">
            <a:xfrm>
              <a:off x="702" y="2007"/>
              <a:ext cx="227"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chemeClr val="accent1">
                      <a:lumMod val="50000"/>
                    </a:schemeClr>
                  </a:solidFill>
                </a:rPr>
                <a:t>q</a:t>
              </a:r>
            </a:p>
          </p:txBody>
        </p:sp>
      </p:grpSp>
      <p:sp useBgFill="1">
        <p:nvSpPr>
          <p:cNvPr id="1178787" name="Rectangle 163"/>
          <p:cNvSpPr>
            <a:spLocks noChangeArrowheads="1"/>
          </p:cNvSpPr>
          <p:nvPr/>
        </p:nvSpPr>
        <p:spPr bwMode="auto">
          <a:xfrm>
            <a:off x="5491061" y="3240993"/>
            <a:ext cx="504825" cy="935038"/>
          </a:xfrm>
          <a:prstGeom prst="rect">
            <a:avLst/>
          </a:prstGeom>
          <a:ln w="9525" algn="ctr">
            <a:noFill/>
            <a:miter lim="800000"/>
            <a:headEnd/>
            <a:tailEnd/>
          </a:ln>
          <a:effectLst/>
        </p:spPr>
        <p:txBody>
          <a:bodyPr wrap="none" anchor="ctr"/>
          <a:lstStyle/>
          <a:p>
            <a:endParaRPr lang="zh-CN" altLang="en-US"/>
          </a:p>
        </p:txBody>
      </p:sp>
      <p:sp>
        <p:nvSpPr>
          <p:cNvPr id="1178788" name="Text Box 164"/>
          <p:cNvSpPr txBox="1">
            <a:spLocks noChangeArrowheads="1"/>
          </p:cNvSpPr>
          <p:nvPr/>
        </p:nvSpPr>
        <p:spPr bwMode="auto">
          <a:xfrm>
            <a:off x="4821931" y="2727723"/>
            <a:ext cx="490536"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wrap="square">
            <a:spAutoFit/>
          </a:bodyPr>
          <a:lstStyle/>
          <a:p>
            <a:pPr marL="342900" indent="-342900" algn="ctr">
              <a:spcBef>
                <a:spcPct val="50000"/>
              </a:spcBef>
            </a:pPr>
            <a:r>
              <a:rPr lang="en-US" altLang="zh-CN" sz="2000">
                <a:solidFill>
                  <a:srgbClr val="7030A0"/>
                </a:solidFill>
              </a:rPr>
              <a:t>' '</a:t>
            </a:r>
          </a:p>
        </p:txBody>
      </p:sp>
      <p:sp>
        <p:nvSpPr>
          <p:cNvPr id="1178792" name="AutoShape 168"/>
          <p:cNvSpPr>
            <a:spLocks noChangeArrowheads="1"/>
          </p:cNvSpPr>
          <p:nvPr/>
        </p:nvSpPr>
        <p:spPr bwMode="auto">
          <a:xfrm>
            <a:off x="4320281" y="4149254"/>
            <a:ext cx="2160587" cy="1223962"/>
          </a:xfrm>
          <a:prstGeom prst="irregularSeal1">
            <a:avLst/>
          </a:prstGeom>
          <a:gradFill rotWithShape="1">
            <a:gsLst>
              <a:gs pos="0">
                <a:srgbClr val="CFCFD1"/>
              </a:gs>
              <a:gs pos="100000">
                <a:schemeClr val="bg1"/>
              </a:gs>
            </a:gsLst>
            <a:lin ang="5400000" scaled="1"/>
          </a:gradFill>
          <a:ln w="28575"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pPr marL="342900" indent="-342900" algn="ctr"/>
            <a:r>
              <a:rPr lang="en-US" altLang="zh-CN" sz="2000">
                <a:solidFill>
                  <a:srgbClr val="C00000"/>
                </a:solidFill>
              </a:rPr>
              <a:t>End</a:t>
            </a:r>
          </a:p>
        </p:txBody>
      </p:sp>
      <p:sp>
        <p:nvSpPr>
          <p:cNvPr id="1178793" name="Text Box 169"/>
          <p:cNvSpPr txBox="1">
            <a:spLocks noChangeArrowheads="1"/>
          </p:cNvSpPr>
          <p:nvPr/>
        </p:nvSpPr>
        <p:spPr bwMode="auto">
          <a:xfrm>
            <a:off x="785127" y="1025055"/>
            <a:ext cx="3168650" cy="461665"/>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spAutoFit/>
          </a:bodyPr>
          <a:lstStyle/>
          <a:p>
            <a:pPr marL="342900" indent="-342900">
              <a:spcBef>
                <a:spcPct val="50000"/>
              </a:spcBef>
            </a:pPr>
            <a:r>
              <a:rPr lang="zh-CN" altLang="en-US" b="1" dirty="0">
                <a:solidFill>
                  <a:srgbClr val="C00000"/>
                </a:solidFill>
                <a:latin typeface="楷体" panose="02010609060101010101" pitchFamily="49" charset="-122"/>
                <a:ea typeface="楷体" panose="02010609060101010101" pitchFamily="49" charset="-122"/>
              </a:rPr>
              <a:t>程序执行过程演示：</a:t>
            </a:r>
          </a:p>
        </p:txBody>
      </p:sp>
      <p:sp>
        <p:nvSpPr>
          <p:cNvPr id="110" name="Rectangle 4">
            <a:extLst>
              <a:ext uri="{FF2B5EF4-FFF2-40B4-BE49-F238E27FC236}">
                <a16:creationId xmlns:a16="http://schemas.microsoft.com/office/drawing/2014/main" id="{25353C6C-5436-462B-8460-4F9809F9E97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指针与字符串</a:t>
            </a:r>
          </a:p>
        </p:txBody>
      </p:sp>
      <p:sp useBgFill="1">
        <p:nvSpPr>
          <p:cNvPr id="111" name="Rectangle 68">
            <a:extLst>
              <a:ext uri="{FF2B5EF4-FFF2-40B4-BE49-F238E27FC236}">
                <a16:creationId xmlns:a16="http://schemas.microsoft.com/office/drawing/2014/main" id="{C6FC0112-E1C6-4706-9781-6DFBC8DB062F}"/>
              </a:ext>
            </a:extLst>
          </p:cNvPr>
          <p:cNvSpPr>
            <a:spLocks noChangeArrowheads="1"/>
          </p:cNvSpPr>
          <p:nvPr/>
        </p:nvSpPr>
        <p:spPr bwMode="auto">
          <a:xfrm>
            <a:off x="1595336" y="3171190"/>
            <a:ext cx="504825" cy="935038"/>
          </a:xfrm>
          <a:prstGeom prst="rect">
            <a:avLst/>
          </a:prstGeom>
          <a:ln w="9525" algn="ctr">
            <a:noFill/>
            <a:miter lim="800000"/>
            <a:headEnd/>
            <a:tailEnd/>
          </a:ln>
          <a:effectLst/>
        </p:spPr>
        <p:txBody>
          <a:bodyPr wrap="none" anchor="ctr"/>
          <a:lstStyle/>
          <a:p>
            <a:endParaRPr lang="zh-CN" altLang="en-US"/>
          </a:p>
        </p:txBody>
      </p:sp>
      <p:sp useBgFill="1">
        <p:nvSpPr>
          <p:cNvPr id="112" name="Rectangle 88">
            <a:extLst>
              <a:ext uri="{FF2B5EF4-FFF2-40B4-BE49-F238E27FC236}">
                <a16:creationId xmlns:a16="http://schemas.microsoft.com/office/drawing/2014/main" id="{ACEECA3D-6B10-4729-9D40-6FA511464648}"/>
              </a:ext>
            </a:extLst>
          </p:cNvPr>
          <p:cNvSpPr>
            <a:spLocks noChangeArrowheads="1"/>
          </p:cNvSpPr>
          <p:nvPr/>
        </p:nvSpPr>
        <p:spPr bwMode="auto">
          <a:xfrm>
            <a:off x="2111274" y="3170522"/>
            <a:ext cx="504825" cy="935038"/>
          </a:xfrm>
          <a:prstGeom prst="rect">
            <a:avLst/>
          </a:prstGeom>
          <a:ln w="9525" algn="ctr">
            <a:noFill/>
            <a:miter lim="800000"/>
            <a:headEnd/>
            <a:tailEnd/>
          </a:ln>
          <a:effectLst/>
        </p:spPr>
        <p:txBody>
          <a:bodyPr wrap="none" anchor="ctr"/>
          <a:lstStyle/>
          <a:p>
            <a:endParaRPr lang="zh-CN" altLang="en-US"/>
          </a:p>
        </p:txBody>
      </p:sp>
      <p:sp useBgFill="1">
        <p:nvSpPr>
          <p:cNvPr id="113" name="Rectangle 104">
            <a:extLst>
              <a:ext uri="{FF2B5EF4-FFF2-40B4-BE49-F238E27FC236}">
                <a16:creationId xmlns:a16="http://schemas.microsoft.com/office/drawing/2014/main" id="{66222B73-E6AE-4276-B530-8B356D950CF2}"/>
              </a:ext>
            </a:extLst>
          </p:cNvPr>
          <p:cNvSpPr>
            <a:spLocks noChangeArrowheads="1"/>
          </p:cNvSpPr>
          <p:nvPr/>
        </p:nvSpPr>
        <p:spPr bwMode="auto">
          <a:xfrm>
            <a:off x="2655786" y="3186397"/>
            <a:ext cx="504825" cy="935038"/>
          </a:xfrm>
          <a:prstGeom prst="rect">
            <a:avLst/>
          </a:prstGeom>
          <a:ln w="9525" algn="ctr">
            <a:noFill/>
            <a:miter lim="800000"/>
            <a:headEnd/>
            <a:tailEnd/>
          </a:ln>
          <a:effectLst/>
        </p:spPr>
        <p:txBody>
          <a:bodyPr wrap="none" anchor="ctr"/>
          <a:lstStyle/>
          <a:p>
            <a:endParaRPr lang="zh-CN" altLang="en-US"/>
          </a:p>
        </p:txBody>
      </p:sp>
      <p:sp useBgFill="1">
        <p:nvSpPr>
          <p:cNvPr id="114" name="Rectangle 120">
            <a:extLst>
              <a:ext uri="{FF2B5EF4-FFF2-40B4-BE49-F238E27FC236}">
                <a16:creationId xmlns:a16="http://schemas.microsoft.com/office/drawing/2014/main" id="{0B1E1041-E820-4CC9-B654-F4AF40E12ECA}"/>
              </a:ext>
            </a:extLst>
          </p:cNvPr>
          <p:cNvSpPr>
            <a:spLocks noChangeArrowheads="1"/>
          </p:cNvSpPr>
          <p:nvPr/>
        </p:nvSpPr>
        <p:spPr bwMode="auto">
          <a:xfrm>
            <a:off x="3143149" y="3187986"/>
            <a:ext cx="504825" cy="935037"/>
          </a:xfrm>
          <a:prstGeom prst="rect">
            <a:avLst/>
          </a:prstGeom>
          <a:ln w="9525" algn="ctr">
            <a:noFill/>
            <a:miter lim="800000"/>
            <a:headEnd/>
            <a:tailEnd/>
          </a:ln>
          <a:effectLst/>
        </p:spPr>
        <p:txBody>
          <a:bodyPr wrap="none" anchor="ctr"/>
          <a:lstStyle/>
          <a:p>
            <a:endParaRPr lang="zh-CN" altLang="en-US"/>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78763"/>
                                        </p:tgtEl>
                                        <p:attrNameLst>
                                          <p:attrName>style.visibility</p:attrName>
                                        </p:attrNameLst>
                                      </p:cBhvr>
                                      <p:to>
                                        <p:strVal val="visible"/>
                                      </p:to>
                                    </p:set>
                                    <p:animEffect transition="in" filter="box(out)">
                                      <p:cBhvr>
                                        <p:cTn id="7" dur="500"/>
                                        <p:tgtEl>
                                          <p:spTgt spid="117876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178667"/>
                                        </p:tgtEl>
                                        <p:attrNameLst>
                                          <p:attrName>style.visibility</p:attrName>
                                        </p:attrNameLst>
                                      </p:cBhvr>
                                      <p:to>
                                        <p:strVal val="visible"/>
                                      </p:to>
                                    </p:set>
                                    <p:animEffect transition="in" filter="strips(downLeft)">
                                      <p:cBhvr>
                                        <p:cTn id="11" dur="500"/>
                                        <p:tgtEl>
                                          <p:spTgt spid="1178667"/>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1178674"/>
                                        </p:tgtEl>
                                        <p:attrNameLst>
                                          <p:attrName>style.visibility</p:attrName>
                                        </p:attrNameLst>
                                      </p:cBhvr>
                                      <p:to>
                                        <p:strVal val="visible"/>
                                      </p:to>
                                    </p:set>
                                    <p:animEffect transition="in" filter="box(out)">
                                      <p:cBhvr>
                                        <p:cTn id="16" dur="500"/>
                                        <p:tgtEl>
                                          <p:spTgt spid="1178674"/>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par>
                          <p:cTn id="17" fill="hold">
                            <p:stCondLst>
                              <p:cond delay="500"/>
                            </p:stCondLst>
                            <p:childTnLst>
                              <p:par>
                                <p:cTn id="18" presetID="18" presetClass="entr" presetSubtype="3" fill="hold" nodeType="afterEffect">
                                  <p:stCondLst>
                                    <p:cond delay="0"/>
                                  </p:stCondLst>
                                  <p:childTnLst>
                                    <p:set>
                                      <p:cBhvr>
                                        <p:cTn id="19" dur="1" fill="hold">
                                          <p:stCondLst>
                                            <p:cond delay="0"/>
                                          </p:stCondLst>
                                        </p:cTn>
                                        <p:tgtEl>
                                          <p:spTgt spid="1178670"/>
                                        </p:tgtEl>
                                        <p:attrNameLst>
                                          <p:attrName>style.visibility</p:attrName>
                                        </p:attrNameLst>
                                      </p:cBhvr>
                                      <p:to>
                                        <p:strVal val="visible"/>
                                      </p:to>
                                    </p:set>
                                    <p:animEffect transition="in" filter="strips(upRight)">
                                      <p:cBhvr>
                                        <p:cTn id="20" dur="500"/>
                                        <p:tgtEl>
                                          <p:spTgt spid="1178670"/>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178675"/>
                                        </p:tgtEl>
                                        <p:attrNameLst>
                                          <p:attrName>style.visibility</p:attrName>
                                        </p:attrNameLst>
                                      </p:cBhvr>
                                      <p:to>
                                        <p:strVal val="visible"/>
                                      </p:to>
                                    </p:set>
                                    <p:animEffect transition="in" filter="box(out)">
                                      <p:cBhvr>
                                        <p:cTn id="25" dur="500"/>
                                        <p:tgtEl>
                                          <p:spTgt spid="1178675"/>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par>
                          <p:cTn id="26" fill="hold">
                            <p:stCondLst>
                              <p:cond delay="500"/>
                            </p:stCondLst>
                            <p:childTnLst>
                              <p:par>
                                <p:cTn id="27" presetID="18" presetClass="entr" presetSubtype="3" fill="hold" nodeType="afterEffect">
                                  <p:stCondLst>
                                    <p:cond delay="0"/>
                                  </p:stCondLst>
                                  <p:childTnLst>
                                    <p:set>
                                      <p:cBhvr>
                                        <p:cTn id="28" dur="1" fill="hold">
                                          <p:stCondLst>
                                            <p:cond delay="0"/>
                                          </p:stCondLst>
                                        </p:cTn>
                                        <p:tgtEl>
                                          <p:spTgt spid="1178671"/>
                                        </p:tgtEl>
                                        <p:attrNameLst>
                                          <p:attrName>style.visibility</p:attrName>
                                        </p:attrNameLst>
                                      </p:cBhvr>
                                      <p:to>
                                        <p:strVal val="visible"/>
                                      </p:to>
                                    </p:set>
                                    <p:animEffect transition="in" filter="strips(upRight)">
                                      <p:cBhvr>
                                        <p:cTn id="29" dur="500"/>
                                        <p:tgtEl>
                                          <p:spTgt spid="1178671"/>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1178705"/>
                                        </p:tgtEl>
                                        <p:attrNameLst>
                                          <p:attrName>style.visibility</p:attrName>
                                        </p:attrNameLst>
                                      </p:cBhvr>
                                      <p:to>
                                        <p:strVal val="visible"/>
                                      </p:to>
                                    </p:set>
                                    <p:animEffect transition="in" filter="box(out)">
                                      <p:cBhvr>
                                        <p:cTn id="34" dur="500"/>
                                        <p:tgtEl>
                                          <p:spTgt spid="1178705"/>
                                        </p:tgtEl>
                                      </p:cBhvr>
                                    </p:animEffect>
                                  </p:childTnLst>
                                  <p:subTnLst>
                                    <p:set>
                                      <p:cBhvr override="childStyle">
                                        <p:cTn dur="1" fill="hold" display="0" masterRel="nextClick" afterEffect="1"/>
                                        <p:tgtEl>
                                          <p:spTgt spid="1178705"/>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178690"/>
                                        </p:tgtEl>
                                        <p:attrNameLst>
                                          <p:attrName>style.visibility</p:attrName>
                                        </p:attrNameLst>
                                      </p:cBhvr>
                                      <p:to>
                                        <p:strVal val="visible"/>
                                      </p:to>
                                    </p:set>
                                    <p:animEffect transition="in" filter="box(in)">
                                      <p:cBhvr>
                                        <p:cTn id="39" dur="500"/>
                                        <p:tgtEl>
                                          <p:spTgt spid="1178690"/>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par>
                          <p:cTn id="40" fill="hold">
                            <p:stCondLst>
                              <p:cond delay="500"/>
                            </p:stCondLst>
                            <p:childTnLst>
                              <p:par>
                                <p:cTn id="41" presetID="4" presetClass="entr" presetSubtype="16" fill="hold" grpId="0" nodeType="afterEffect">
                                  <p:stCondLst>
                                    <p:cond delay="0"/>
                                  </p:stCondLst>
                                  <p:childTnLst>
                                    <p:set>
                                      <p:cBhvr>
                                        <p:cTn id="42" dur="1" fill="hold">
                                          <p:stCondLst>
                                            <p:cond delay="0"/>
                                          </p:stCondLst>
                                        </p:cTn>
                                        <p:tgtEl>
                                          <p:spTgt spid="1178691"/>
                                        </p:tgtEl>
                                        <p:attrNameLst>
                                          <p:attrName>style.visibility</p:attrName>
                                        </p:attrNameLst>
                                      </p:cBhvr>
                                      <p:to>
                                        <p:strVal val="visible"/>
                                      </p:to>
                                    </p:set>
                                    <p:animEffect transition="in" filter="box(in)">
                                      <p:cBhvr>
                                        <p:cTn id="43" dur="500"/>
                                        <p:tgtEl>
                                          <p:spTgt spid="1178691"/>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par>
                          <p:cTn id="44" fill="hold">
                            <p:stCondLst>
                              <p:cond delay="1000"/>
                            </p:stCondLst>
                            <p:childTnLst>
                              <p:par>
                                <p:cTn id="45" presetID="4" presetClass="entr" presetSubtype="16" fill="hold" grpId="0" nodeType="afterEffect">
                                  <p:stCondLst>
                                    <p:cond delay="0"/>
                                  </p:stCondLst>
                                  <p:childTnLst>
                                    <p:set>
                                      <p:cBhvr>
                                        <p:cTn id="46" dur="1" fill="hold">
                                          <p:stCondLst>
                                            <p:cond delay="0"/>
                                          </p:stCondLst>
                                        </p:cTn>
                                        <p:tgtEl>
                                          <p:spTgt spid="1178692"/>
                                        </p:tgtEl>
                                        <p:attrNameLst>
                                          <p:attrName>style.visibility</p:attrName>
                                        </p:attrNameLst>
                                      </p:cBhvr>
                                      <p:to>
                                        <p:strVal val="visible"/>
                                      </p:to>
                                    </p:set>
                                    <p:animEffect transition="in" filter="box(in)">
                                      <p:cBhvr>
                                        <p:cTn id="47" dur="500"/>
                                        <p:tgtEl>
                                          <p:spTgt spid="1178692"/>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1500"/>
                            </p:stCondLst>
                            <p:childTnLst>
                              <p:par>
                                <p:cTn id="49" presetID="18" presetClass="entr" presetSubtype="3" fill="hold" nodeType="afterEffect">
                                  <p:stCondLst>
                                    <p:cond delay="0"/>
                                  </p:stCondLst>
                                  <p:childTnLst>
                                    <p:set>
                                      <p:cBhvr>
                                        <p:cTn id="50" dur="1" fill="hold">
                                          <p:stCondLst>
                                            <p:cond delay="0"/>
                                          </p:stCondLst>
                                        </p:cTn>
                                        <p:tgtEl>
                                          <p:spTgt spid="1178693"/>
                                        </p:tgtEl>
                                        <p:attrNameLst>
                                          <p:attrName>style.visibility</p:attrName>
                                        </p:attrNameLst>
                                      </p:cBhvr>
                                      <p:to>
                                        <p:strVal val="visible"/>
                                      </p:to>
                                    </p:set>
                                    <p:animEffect transition="in" filter="strips(upRight)">
                                      <p:cBhvr>
                                        <p:cTn id="51" dur="500"/>
                                        <p:tgtEl>
                                          <p:spTgt spid="1178693"/>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par>
                          <p:cTn id="52" fill="hold">
                            <p:stCondLst>
                              <p:cond delay="2000"/>
                            </p:stCondLst>
                            <p:childTnLst>
                              <p:par>
                                <p:cTn id="53" presetID="4" presetClass="entr" presetSubtype="16" fill="hold" grpId="0" nodeType="afterEffect">
                                  <p:stCondLst>
                                    <p:cond delay="0"/>
                                  </p:stCondLst>
                                  <p:childTnLst>
                                    <p:set>
                                      <p:cBhvr>
                                        <p:cTn id="54" dur="1" fill="hold">
                                          <p:stCondLst>
                                            <p:cond delay="0"/>
                                          </p:stCondLst>
                                        </p:cTn>
                                        <p:tgtEl>
                                          <p:spTgt spid="1178699"/>
                                        </p:tgtEl>
                                        <p:attrNameLst>
                                          <p:attrName>style.visibility</p:attrName>
                                        </p:attrNameLst>
                                      </p:cBhvr>
                                      <p:to>
                                        <p:strVal val="visible"/>
                                      </p:to>
                                    </p:set>
                                    <p:animEffect transition="in" filter="box(in)">
                                      <p:cBhvr>
                                        <p:cTn id="55" dur="500"/>
                                        <p:tgtEl>
                                          <p:spTgt spid="1178699"/>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par>
                          <p:cTn id="56" fill="hold">
                            <p:stCondLst>
                              <p:cond delay="2500"/>
                            </p:stCondLst>
                            <p:childTnLst>
                              <p:par>
                                <p:cTn id="57" presetID="18" presetClass="entr" presetSubtype="3" fill="hold" nodeType="afterEffect">
                                  <p:stCondLst>
                                    <p:cond delay="0"/>
                                  </p:stCondLst>
                                  <p:childTnLst>
                                    <p:set>
                                      <p:cBhvr>
                                        <p:cTn id="58" dur="1" fill="hold">
                                          <p:stCondLst>
                                            <p:cond delay="0"/>
                                          </p:stCondLst>
                                        </p:cTn>
                                        <p:tgtEl>
                                          <p:spTgt spid="1178696"/>
                                        </p:tgtEl>
                                        <p:attrNameLst>
                                          <p:attrName>style.visibility</p:attrName>
                                        </p:attrNameLst>
                                      </p:cBhvr>
                                      <p:to>
                                        <p:strVal val="visible"/>
                                      </p:to>
                                    </p:set>
                                    <p:animEffect transition="in" filter="strips(upRight)">
                                      <p:cBhvr>
                                        <p:cTn id="59" dur="500"/>
                                        <p:tgtEl>
                                          <p:spTgt spid="1178696"/>
                                        </p:tgtEl>
                                      </p:cBhvr>
                                    </p:animEffect>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32" fill="hold" nodeType="clickEffect">
                                  <p:stCondLst>
                                    <p:cond delay="0"/>
                                  </p:stCondLst>
                                  <p:childTnLst>
                                    <p:set>
                                      <p:cBhvr>
                                        <p:cTn id="63" dur="1" fill="hold">
                                          <p:stCondLst>
                                            <p:cond delay="0"/>
                                          </p:stCondLst>
                                        </p:cTn>
                                        <p:tgtEl>
                                          <p:spTgt spid="1178706"/>
                                        </p:tgtEl>
                                        <p:attrNameLst>
                                          <p:attrName>style.visibility</p:attrName>
                                        </p:attrNameLst>
                                      </p:cBhvr>
                                      <p:to>
                                        <p:strVal val="visible"/>
                                      </p:to>
                                    </p:set>
                                    <p:animEffect transition="in" filter="box(out)">
                                      <p:cBhvr>
                                        <p:cTn id="64" dur="500"/>
                                        <p:tgtEl>
                                          <p:spTgt spid="1178706"/>
                                        </p:tgtEl>
                                      </p:cBhvr>
                                    </p:animEffect>
                                  </p:childTnLst>
                                  <p:subTnLst>
                                    <p:set>
                                      <p:cBhvr override="childStyle">
                                        <p:cTn dur="1" fill="hold" display="0" masterRel="nextClick" afterEffect="1"/>
                                        <p:tgtEl>
                                          <p:spTgt spid="1178706"/>
                                        </p:tgtEl>
                                        <p:attrNameLst>
                                          <p:attrName>style.visibility</p:attrName>
                                        </p:attrNameLst>
                                      </p:cBhvr>
                                      <p:to>
                                        <p:strVal val="hidden"/>
                                      </p:to>
                                    </p:se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16" fill="hold" grpId="0" nodeType="clickEffect">
                                  <p:stCondLst>
                                    <p:cond delay="0"/>
                                  </p:stCondLst>
                                  <p:childTnLst>
                                    <p:set>
                                      <p:cBhvr>
                                        <p:cTn id="68" dur="1" fill="hold">
                                          <p:stCondLst>
                                            <p:cond delay="0"/>
                                          </p:stCondLst>
                                        </p:cTn>
                                        <p:tgtEl>
                                          <p:spTgt spid="1178707"/>
                                        </p:tgtEl>
                                        <p:attrNameLst>
                                          <p:attrName>style.visibility</p:attrName>
                                        </p:attrNameLst>
                                      </p:cBhvr>
                                      <p:to>
                                        <p:strVal val="visible"/>
                                      </p:to>
                                    </p:set>
                                    <p:animEffect transition="in" filter="box(in)">
                                      <p:cBhvr>
                                        <p:cTn id="69" dur="500"/>
                                        <p:tgtEl>
                                          <p:spTgt spid="1178707"/>
                                        </p:tgtEl>
                                      </p:cBhvr>
                                    </p:animEffect>
                                  </p:childTnLst>
                                  <p:subTnLst>
                                    <p:audio>
                                      <p:cMediaNode>
                                        <p:cTn display="0" masterRel="sameClick">
                                          <p:stCondLst>
                                            <p:cond evt="begin" delay="0">
                                              <p:tn val="67"/>
                                            </p:cond>
                                          </p:stCondLst>
                                          <p:endCondLst>
                                            <p:cond evt="onStopAudio" delay="0">
                                              <p:tgtEl>
                                                <p:sldTgt/>
                                              </p:tgtEl>
                                            </p:cond>
                                          </p:endCondLst>
                                        </p:cTn>
                                        <p:tgtEl>
                                          <p:sndTgt r:embed="rId2" name="camera.wav"/>
                                        </p:tgtEl>
                                      </p:cMediaNode>
                                    </p:audio>
                                  </p:subTnLst>
                                </p:cTn>
                              </p:par>
                            </p:childTnLst>
                          </p:cTn>
                        </p:par>
                        <p:par>
                          <p:cTn id="70" fill="hold">
                            <p:stCondLst>
                              <p:cond delay="500"/>
                            </p:stCondLst>
                            <p:childTnLst>
                              <p:par>
                                <p:cTn id="71" presetID="4" presetClass="entr" presetSubtype="16" fill="hold" grpId="0" nodeType="afterEffect">
                                  <p:stCondLst>
                                    <p:cond delay="0"/>
                                  </p:stCondLst>
                                  <p:childTnLst>
                                    <p:set>
                                      <p:cBhvr>
                                        <p:cTn id="72" dur="1" fill="hold">
                                          <p:stCondLst>
                                            <p:cond delay="0"/>
                                          </p:stCondLst>
                                        </p:cTn>
                                        <p:tgtEl>
                                          <p:spTgt spid="1178708"/>
                                        </p:tgtEl>
                                        <p:attrNameLst>
                                          <p:attrName>style.visibility</p:attrName>
                                        </p:attrNameLst>
                                      </p:cBhvr>
                                      <p:to>
                                        <p:strVal val="visible"/>
                                      </p:to>
                                    </p:set>
                                    <p:animEffect transition="in" filter="box(in)">
                                      <p:cBhvr>
                                        <p:cTn id="73" dur="500"/>
                                        <p:tgtEl>
                                          <p:spTgt spid="1178708"/>
                                        </p:tgtEl>
                                      </p:cBhvr>
                                    </p:animEffect>
                                  </p:childTnLst>
                                  <p:subTnLst>
                                    <p:audio>
                                      <p:cMediaNode>
                                        <p:cTn display="0" masterRel="sameClick">
                                          <p:stCondLst>
                                            <p:cond evt="begin" delay="0">
                                              <p:tn val="71"/>
                                            </p:cond>
                                          </p:stCondLst>
                                          <p:endCondLst>
                                            <p:cond evt="onStopAudio" delay="0">
                                              <p:tgtEl>
                                                <p:sldTgt/>
                                              </p:tgtEl>
                                            </p:cond>
                                          </p:endCondLst>
                                        </p:cTn>
                                        <p:tgtEl>
                                          <p:sndTgt r:embed="rId2" name="camera.wav"/>
                                        </p:tgtEl>
                                      </p:cMediaNode>
                                    </p:audio>
                                  </p:subTnLst>
                                </p:cTn>
                              </p:par>
                            </p:childTnLst>
                          </p:cTn>
                        </p:par>
                        <p:par>
                          <p:cTn id="74" fill="hold">
                            <p:stCondLst>
                              <p:cond delay="1000"/>
                            </p:stCondLst>
                            <p:childTnLst>
                              <p:par>
                                <p:cTn id="75" presetID="4" presetClass="entr" presetSubtype="16" fill="hold" grpId="0" nodeType="afterEffect">
                                  <p:stCondLst>
                                    <p:cond delay="0"/>
                                  </p:stCondLst>
                                  <p:childTnLst>
                                    <p:set>
                                      <p:cBhvr>
                                        <p:cTn id="76" dur="1" fill="hold">
                                          <p:stCondLst>
                                            <p:cond delay="0"/>
                                          </p:stCondLst>
                                        </p:cTn>
                                        <p:tgtEl>
                                          <p:spTgt spid="1178712"/>
                                        </p:tgtEl>
                                        <p:attrNameLst>
                                          <p:attrName>style.visibility</p:attrName>
                                        </p:attrNameLst>
                                      </p:cBhvr>
                                      <p:to>
                                        <p:strVal val="visible"/>
                                      </p:to>
                                    </p:set>
                                    <p:animEffect transition="in" filter="box(in)">
                                      <p:cBhvr>
                                        <p:cTn id="77" dur="500"/>
                                        <p:tgtEl>
                                          <p:spTgt spid="1178712"/>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par>
                          <p:cTn id="78" fill="hold">
                            <p:stCondLst>
                              <p:cond delay="1500"/>
                            </p:stCondLst>
                            <p:childTnLst>
                              <p:par>
                                <p:cTn id="79" presetID="18" presetClass="entr" presetSubtype="3" fill="hold" nodeType="afterEffect">
                                  <p:stCondLst>
                                    <p:cond delay="0"/>
                                  </p:stCondLst>
                                  <p:childTnLst>
                                    <p:set>
                                      <p:cBhvr>
                                        <p:cTn id="80" dur="1" fill="hold">
                                          <p:stCondLst>
                                            <p:cond delay="0"/>
                                          </p:stCondLst>
                                        </p:cTn>
                                        <p:tgtEl>
                                          <p:spTgt spid="1178709"/>
                                        </p:tgtEl>
                                        <p:attrNameLst>
                                          <p:attrName>style.visibility</p:attrName>
                                        </p:attrNameLst>
                                      </p:cBhvr>
                                      <p:to>
                                        <p:strVal val="visible"/>
                                      </p:to>
                                    </p:set>
                                    <p:animEffect transition="in" filter="strips(upRight)">
                                      <p:cBhvr>
                                        <p:cTn id="81" dur="500"/>
                                        <p:tgtEl>
                                          <p:spTgt spid="1178709"/>
                                        </p:tgtEl>
                                      </p:cBhvr>
                                    </p:animEffect>
                                  </p:childTnLst>
                                  <p:subTnLst>
                                    <p:audio>
                                      <p:cMediaNode>
                                        <p:cTn display="0" masterRel="sameClick">
                                          <p:stCondLst>
                                            <p:cond evt="begin" delay="0">
                                              <p:tn val="79"/>
                                            </p:cond>
                                          </p:stCondLst>
                                          <p:endCondLst>
                                            <p:cond evt="onStopAudio" delay="0">
                                              <p:tgtEl>
                                                <p:sldTgt/>
                                              </p:tgtEl>
                                            </p:cond>
                                          </p:endCondLst>
                                        </p:cTn>
                                        <p:tgtEl>
                                          <p:sndTgt r:embed="rId2" name="camera.wav"/>
                                        </p:tgtEl>
                                      </p:cMediaNode>
                                    </p:audio>
                                  </p:subTnLst>
                                </p:cTn>
                              </p:par>
                            </p:childTnLst>
                          </p:cTn>
                        </p:par>
                        <p:par>
                          <p:cTn id="82" fill="hold">
                            <p:stCondLst>
                              <p:cond delay="2000"/>
                            </p:stCondLst>
                            <p:childTnLst>
                              <p:par>
                                <p:cTn id="83" presetID="4" presetClass="entr" presetSubtype="16" fill="hold" grpId="0" nodeType="afterEffect">
                                  <p:stCondLst>
                                    <p:cond delay="0"/>
                                  </p:stCondLst>
                                  <p:childTnLst>
                                    <p:set>
                                      <p:cBhvr>
                                        <p:cTn id="84" dur="1" fill="hold">
                                          <p:stCondLst>
                                            <p:cond delay="0"/>
                                          </p:stCondLst>
                                        </p:cTn>
                                        <p:tgtEl>
                                          <p:spTgt spid="1178716"/>
                                        </p:tgtEl>
                                        <p:attrNameLst>
                                          <p:attrName>style.visibility</p:attrName>
                                        </p:attrNameLst>
                                      </p:cBhvr>
                                      <p:to>
                                        <p:strVal val="visible"/>
                                      </p:to>
                                    </p:set>
                                    <p:animEffect transition="in" filter="box(in)">
                                      <p:cBhvr>
                                        <p:cTn id="85" dur="500"/>
                                        <p:tgtEl>
                                          <p:spTgt spid="1178716"/>
                                        </p:tgtEl>
                                      </p:cBhvr>
                                    </p:animEffect>
                                  </p:childTnLst>
                                  <p:subTnLst>
                                    <p:audio>
                                      <p:cMediaNode>
                                        <p:cTn display="0" masterRel="sameClick">
                                          <p:stCondLst>
                                            <p:cond evt="begin" delay="0">
                                              <p:tn val="83"/>
                                            </p:cond>
                                          </p:stCondLst>
                                          <p:endCondLst>
                                            <p:cond evt="onStopAudio" delay="0">
                                              <p:tgtEl>
                                                <p:sldTgt/>
                                              </p:tgtEl>
                                            </p:cond>
                                          </p:endCondLst>
                                        </p:cTn>
                                        <p:tgtEl>
                                          <p:sndTgt r:embed="rId2" name="camera.wav"/>
                                        </p:tgtEl>
                                      </p:cMediaNode>
                                    </p:audio>
                                  </p:subTnLst>
                                </p:cTn>
                              </p:par>
                            </p:childTnLst>
                          </p:cTn>
                        </p:par>
                        <p:par>
                          <p:cTn id="86" fill="hold">
                            <p:stCondLst>
                              <p:cond delay="2500"/>
                            </p:stCondLst>
                            <p:childTnLst>
                              <p:par>
                                <p:cTn id="87" presetID="18" presetClass="entr" presetSubtype="3" fill="hold" nodeType="afterEffect">
                                  <p:stCondLst>
                                    <p:cond delay="0"/>
                                  </p:stCondLst>
                                  <p:childTnLst>
                                    <p:set>
                                      <p:cBhvr>
                                        <p:cTn id="88" dur="1" fill="hold">
                                          <p:stCondLst>
                                            <p:cond delay="0"/>
                                          </p:stCondLst>
                                        </p:cTn>
                                        <p:tgtEl>
                                          <p:spTgt spid="1178713"/>
                                        </p:tgtEl>
                                        <p:attrNameLst>
                                          <p:attrName>style.visibility</p:attrName>
                                        </p:attrNameLst>
                                      </p:cBhvr>
                                      <p:to>
                                        <p:strVal val="visible"/>
                                      </p:to>
                                    </p:set>
                                    <p:animEffect transition="in" filter="strips(upRight)">
                                      <p:cBhvr>
                                        <p:cTn id="89" dur="500"/>
                                        <p:tgtEl>
                                          <p:spTgt spid="1178713"/>
                                        </p:tgtEl>
                                      </p:cBhvr>
                                    </p:animEffect>
                                  </p:childTnLst>
                                  <p:subTnLst>
                                    <p:audio>
                                      <p:cMediaNode>
                                        <p:cTn display="0" masterRel="sameClick">
                                          <p:stCondLst>
                                            <p:cond evt="begin" delay="0">
                                              <p:tn val="87"/>
                                            </p:cond>
                                          </p:stCondLst>
                                          <p:endCondLst>
                                            <p:cond evt="onStopAudio" delay="0">
                                              <p:tgtEl>
                                                <p:sldTgt/>
                                              </p:tgtEl>
                                            </p:cond>
                                          </p:endCondLst>
                                        </p:cTn>
                                        <p:tgtEl>
                                          <p:sndTgt r:embed="rId2" name="camera.wav"/>
                                        </p:tgtEl>
                                      </p:cMediaNode>
                                    </p:audio>
                                  </p:subTnLst>
                                </p:cTn>
                              </p:par>
                            </p:childTnLst>
                          </p:cTn>
                        </p:par>
                      </p:childTnLst>
                    </p:cTn>
                  </p:par>
                  <p:par>
                    <p:cTn id="90" fill="hold">
                      <p:stCondLst>
                        <p:cond delay="indefinite"/>
                      </p:stCondLst>
                      <p:childTnLst>
                        <p:par>
                          <p:cTn id="91" fill="hold">
                            <p:stCondLst>
                              <p:cond delay="0"/>
                            </p:stCondLst>
                            <p:childTnLst>
                              <p:par>
                                <p:cTn id="92" presetID="4" presetClass="entr" presetSubtype="32" fill="hold" nodeType="clickEffect">
                                  <p:stCondLst>
                                    <p:cond delay="0"/>
                                  </p:stCondLst>
                                  <p:childTnLst>
                                    <p:set>
                                      <p:cBhvr>
                                        <p:cTn id="93" dur="1" fill="hold">
                                          <p:stCondLst>
                                            <p:cond delay="0"/>
                                          </p:stCondLst>
                                        </p:cTn>
                                        <p:tgtEl>
                                          <p:spTgt spid="1178722"/>
                                        </p:tgtEl>
                                        <p:attrNameLst>
                                          <p:attrName>style.visibility</p:attrName>
                                        </p:attrNameLst>
                                      </p:cBhvr>
                                      <p:to>
                                        <p:strVal val="visible"/>
                                      </p:to>
                                    </p:set>
                                    <p:animEffect transition="in" filter="box(out)">
                                      <p:cBhvr>
                                        <p:cTn id="94" dur="500"/>
                                        <p:tgtEl>
                                          <p:spTgt spid="1178722"/>
                                        </p:tgtEl>
                                      </p:cBhvr>
                                    </p:animEffect>
                                  </p:childTnLst>
                                  <p:subTnLst>
                                    <p:set>
                                      <p:cBhvr override="childStyle">
                                        <p:cTn dur="1" fill="hold" display="0" masterRel="nextClick" afterEffect="1"/>
                                        <p:tgtEl>
                                          <p:spTgt spid="1178722"/>
                                        </p:tgtEl>
                                        <p:attrNameLst>
                                          <p:attrName>style.visibility</p:attrName>
                                        </p:attrNameLst>
                                      </p:cBhvr>
                                      <p:to>
                                        <p:strVal val="hidden"/>
                                      </p:to>
                                    </p:set>
                                    <p:audio>
                                      <p:cMediaNode>
                                        <p:cTn display="0" masterRel="sameClick">
                                          <p:stCondLst>
                                            <p:cond evt="begin" delay="0">
                                              <p:tn val="92"/>
                                            </p:cond>
                                          </p:stCondLst>
                                          <p:endCondLst>
                                            <p:cond evt="onStopAudio" delay="0">
                                              <p:tgtEl>
                                                <p:sldTgt/>
                                              </p:tgtEl>
                                            </p:cond>
                                          </p:endCondLst>
                                        </p:cTn>
                                        <p:tgtEl>
                                          <p:sndTgt r:embed="rId2" name="camera.wav"/>
                                        </p:tgtEl>
                                      </p:cMediaNode>
                                    </p:audio>
                                  </p:subTnLst>
                                </p:cTn>
                              </p:par>
                            </p:childTnLst>
                          </p:cTn>
                        </p:par>
                      </p:childTnLst>
                    </p:cTn>
                  </p:par>
                  <p:par>
                    <p:cTn id="95" fill="hold">
                      <p:stCondLst>
                        <p:cond delay="indefinite"/>
                      </p:stCondLst>
                      <p:childTnLst>
                        <p:par>
                          <p:cTn id="96" fill="hold">
                            <p:stCondLst>
                              <p:cond delay="0"/>
                            </p:stCondLst>
                            <p:childTnLst>
                              <p:par>
                                <p:cTn id="97" presetID="4" presetClass="entr" presetSubtype="16" fill="hold" grpId="0" nodeType="clickEffect">
                                  <p:stCondLst>
                                    <p:cond delay="0"/>
                                  </p:stCondLst>
                                  <p:childTnLst>
                                    <p:set>
                                      <p:cBhvr>
                                        <p:cTn id="98" dur="1" fill="hold">
                                          <p:stCondLst>
                                            <p:cond delay="0"/>
                                          </p:stCondLst>
                                        </p:cTn>
                                        <p:tgtEl>
                                          <p:spTgt spid="1178723"/>
                                        </p:tgtEl>
                                        <p:attrNameLst>
                                          <p:attrName>style.visibility</p:attrName>
                                        </p:attrNameLst>
                                      </p:cBhvr>
                                      <p:to>
                                        <p:strVal val="visible"/>
                                      </p:to>
                                    </p:set>
                                    <p:animEffect transition="in" filter="box(in)">
                                      <p:cBhvr>
                                        <p:cTn id="99" dur="500"/>
                                        <p:tgtEl>
                                          <p:spTgt spid="1178723"/>
                                        </p:tgtEl>
                                      </p:cBhvr>
                                    </p:animEffect>
                                  </p:childTnLst>
                                  <p:subTnLst>
                                    <p:audio>
                                      <p:cMediaNode>
                                        <p:cTn display="0" masterRel="sameClick">
                                          <p:stCondLst>
                                            <p:cond evt="begin" delay="0">
                                              <p:tn val="97"/>
                                            </p:cond>
                                          </p:stCondLst>
                                          <p:endCondLst>
                                            <p:cond evt="onStopAudio" delay="0">
                                              <p:tgtEl>
                                                <p:sldTgt/>
                                              </p:tgtEl>
                                            </p:cond>
                                          </p:endCondLst>
                                        </p:cTn>
                                        <p:tgtEl>
                                          <p:sndTgt r:embed="rId2" name="camera.wav"/>
                                        </p:tgtEl>
                                      </p:cMediaNode>
                                    </p:audio>
                                  </p:subTnLst>
                                </p:cTn>
                              </p:par>
                            </p:childTnLst>
                          </p:cTn>
                        </p:par>
                        <p:par>
                          <p:cTn id="100" fill="hold">
                            <p:stCondLst>
                              <p:cond delay="500"/>
                            </p:stCondLst>
                            <p:childTnLst>
                              <p:par>
                                <p:cTn id="101" presetID="4" presetClass="entr" presetSubtype="16" fill="hold" grpId="0" nodeType="afterEffect">
                                  <p:stCondLst>
                                    <p:cond delay="0"/>
                                  </p:stCondLst>
                                  <p:childTnLst>
                                    <p:set>
                                      <p:cBhvr>
                                        <p:cTn id="102" dur="1" fill="hold">
                                          <p:stCondLst>
                                            <p:cond delay="0"/>
                                          </p:stCondLst>
                                        </p:cTn>
                                        <p:tgtEl>
                                          <p:spTgt spid="1178724"/>
                                        </p:tgtEl>
                                        <p:attrNameLst>
                                          <p:attrName>style.visibility</p:attrName>
                                        </p:attrNameLst>
                                      </p:cBhvr>
                                      <p:to>
                                        <p:strVal val="visible"/>
                                      </p:to>
                                    </p:set>
                                    <p:animEffect transition="in" filter="box(in)">
                                      <p:cBhvr>
                                        <p:cTn id="103" dur="500"/>
                                        <p:tgtEl>
                                          <p:spTgt spid="1178724"/>
                                        </p:tgtEl>
                                      </p:cBhvr>
                                    </p:animEffect>
                                  </p:childTnLst>
                                  <p:subTnLst>
                                    <p:audio>
                                      <p:cMediaNode>
                                        <p:cTn display="0" masterRel="sameClick">
                                          <p:stCondLst>
                                            <p:cond evt="begin" delay="0">
                                              <p:tn val="101"/>
                                            </p:cond>
                                          </p:stCondLst>
                                          <p:endCondLst>
                                            <p:cond evt="onStopAudio" delay="0">
                                              <p:tgtEl>
                                                <p:sldTgt/>
                                              </p:tgtEl>
                                            </p:cond>
                                          </p:endCondLst>
                                        </p:cTn>
                                        <p:tgtEl>
                                          <p:sndTgt r:embed="rId2" name="camera.wav"/>
                                        </p:tgtEl>
                                      </p:cMediaNode>
                                    </p:audio>
                                  </p:subTnLst>
                                </p:cTn>
                              </p:par>
                            </p:childTnLst>
                          </p:cTn>
                        </p:par>
                        <p:par>
                          <p:cTn id="104" fill="hold">
                            <p:stCondLst>
                              <p:cond delay="1000"/>
                            </p:stCondLst>
                            <p:childTnLst>
                              <p:par>
                                <p:cTn id="105" presetID="4" presetClass="entr" presetSubtype="16" fill="hold" grpId="0" nodeType="afterEffect">
                                  <p:stCondLst>
                                    <p:cond delay="0"/>
                                  </p:stCondLst>
                                  <p:childTnLst>
                                    <p:set>
                                      <p:cBhvr>
                                        <p:cTn id="106" dur="1" fill="hold">
                                          <p:stCondLst>
                                            <p:cond delay="0"/>
                                          </p:stCondLst>
                                        </p:cTn>
                                        <p:tgtEl>
                                          <p:spTgt spid="1178728"/>
                                        </p:tgtEl>
                                        <p:attrNameLst>
                                          <p:attrName>style.visibility</p:attrName>
                                        </p:attrNameLst>
                                      </p:cBhvr>
                                      <p:to>
                                        <p:strVal val="visible"/>
                                      </p:to>
                                    </p:set>
                                    <p:animEffect transition="in" filter="box(in)">
                                      <p:cBhvr>
                                        <p:cTn id="107" dur="500"/>
                                        <p:tgtEl>
                                          <p:spTgt spid="1178728"/>
                                        </p:tgtEl>
                                      </p:cBhvr>
                                    </p:animEffect>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childTnLst>
                          </p:cTn>
                        </p:par>
                        <p:par>
                          <p:cTn id="108" fill="hold">
                            <p:stCondLst>
                              <p:cond delay="1500"/>
                            </p:stCondLst>
                            <p:childTnLst>
                              <p:par>
                                <p:cTn id="109" presetID="18" presetClass="entr" presetSubtype="3" fill="hold" nodeType="afterEffect">
                                  <p:stCondLst>
                                    <p:cond delay="0"/>
                                  </p:stCondLst>
                                  <p:childTnLst>
                                    <p:set>
                                      <p:cBhvr>
                                        <p:cTn id="110" dur="1" fill="hold">
                                          <p:stCondLst>
                                            <p:cond delay="0"/>
                                          </p:stCondLst>
                                        </p:cTn>
                                        <p:tgtEl>
                                          <p:spTgt spid="1178725"/>
                                        </p:tgtEl>
                                        <p:attrNameLst>
                                          <p:attrName>style.visibility</p:attrName>
                                        </p:attrNameLst>
                                      </p:cBhvr>
                                      <p:to>
                                        <p:strVal val="visible"/>
                                      </p:to>
                                    </p:set>
                                    <p:animEffect transition="in" filter="strips(upRight)">
                                      <p:cBhvr>
                                        <p:cTn id="111" dur="500"/>
                                        <p:tgtEl>
                                          <p:spTgt spid="1178725"/>
                                        </p:tgtEl>
                                      </p:cBhvr>
                                    </p:animEffect>
                                  </p:childTnLst>
                                  <p:subTnLst>
                                    <p:audio>
                                      <p:cMediaNode>
                                        <p:cTn display="0" masterRel="sameClick">
                                          <p:stCondLst>
                                            <p:cond evt="begin" delay="0">
                                              <p:tn val="109"/>
                                            </p:cond>
                                          </p:stCondLst>
                                          <p:endCondLst>
                                            <p:cond evt="onStopAudio" delay="0">
                                              <p:tgtEl>
                                                <p:sldTgt/>
                                              </p:tgtEl>
                                            </p:cond>
                                          </p:endCondLst>
                                        </p:cTn>
                                        <p:tgtEl>
                                          <p:sndTgt r:embed="rId2" name="camera.wav"/>
                                        </p:tgtEl>
                                      </p:cMediaNode>
                                    </p:audio>
                                  </p:subTnLst>
                                </p:cTn>
                              </p:par>
                            </p:childTnLst>
                          </p:cTn>
                        </p:par>
                        <p:par>
                          <p:cTn id="112" fill="hold">
                            <p:stCondLst>
                              <p:cond delay="2000"/>
                            </p:stCondLst>
                            <p:childTnLst>
                              <p:par>
                                <p:cTn id="113" presetID="4" presetClass="entr" presetSubtype="16" fill="hold" grpId="0" nodeType="afterEffect">
                                  <p:stCondLst>
                                    <p:cond delay="0"/>
                                  </p:stCondLst>
                                  <p:childTnLst>
                                    <p:set>
                                      <p:cBhvr>
                                        <p:cTn id="114" dur="1" fill="hold">
                                          <p:stCondLst>
                                            <p:cond delay="0"/>
                                          </p:stCondLst>
                                        </p:cTn>
                                        <p:tgtEl>
                                          <p:spTgt spid="1178732"/>
                                        </p:tgtEl>
                                        <p:attrNameLst>
                                          <p:attrName>style.visibility</p:attrName>
                                        </p:attrNameLst>
                                      </p:cBhvr>
                                      <p:to>
                                        <p:strVal val="visible"/>
                                      </p:to>
                                    </p:set>
                                    <p:animEffect transition="in" filter="box(in)">
                                      <p:cBhvr>
                                        <p:cTn id="115" dur="500"/>
                                        <p:tgtEl>
                                          <p:spTgt spid="1178732"/>
                                        </p:tgtEl>
                                      </p:cBhvr>
                                    </p:animEffect>
                                  </p:childTnLst>
                                  <p:subTnLst>
                                    <p:audio>
                                      <p:cMediaNode>
                                        <p:cTn display="0" masterRel="sameClick">
                                          <p:stCondLst>
                                            <p:cond evt="begin" delay="0">
                                              <p:tn val="113"/>
                                            </p:cond>
                                          </p:stCondLst>
                                          <p:endCondLst>
                                            <p:cond evt="onStopAudio" delay="0">
                                              <p:tgtEl>
                                                <p:sldTgt/>
                                              </p:tgtEl>
                                            </p:cond>
                                          </p:endCondLst>
                                        </p:cTn>
                                        <p:tgtEl>
                                          <p:sndTgt r:embed="rId2" name="camera.wav"/>
                                        </p:tgtEl>
                                      </p:cMediaNode>
                                    </p:audio>
                                  </p:subTnLst>
                                </p:cTn>
                              </p:par>
                            </p:childTnLst>
                          </p:cTn>
                        </p:par>
                        <p:par>
                          <p:cTn id="116" fill="hold">
                            <p:stCondLst>
                              <p:cond delay="2500"/>
                            </p:stCondLst>
                            <p:childTnLst>
                              <p:par>
                                <p:cTn id="117" presetID="18" presetClass="entr" presetSubtype="3" fill="hold" nodeType="afterEffect">
                                  <p:stCondLst>
                                    <p:cond delay="0"/>
                                  </p:stCondLst>
                                  <p:childTnLst>
                                    <p:set>
                                      <p:cBhvr>
                                        <p:cTn id="118" dur="1" fill="hold">
                                          <p:stCondLst>
                                            <p:cond delay="0"/>
                                          </p:stCondLst>
                                        </p:cTn>
                                        <p:tgtEl>
                                          <p:spTgt spid="1178729"/>
                                        </p:tgtEl>
                                        <p:attrNameLst>
                                          <p:attrName>style.visibility</p:attrName>
                                        </p:attrNameLst>
                                      </p:cBhvr>
                                      <p:to>
                                        <p:strVal val="visible"/>
                                      </p:to>
                                    </p:set>
                                    <p:animEffect transition="in" filter="strips(upRight)">
                                      <p:cBhvr>
                                        <p:cTn id="119" dur="500"/>
                                        <p:tgtEl>
                                          <p:spTgt spid="1178729"/>
                                        </p:tgtEl>
                                      </p:cBhvr>
                                    </p:animEffect>
                                  </p:childTnLst>
                                  <p:subTnLst>
                                    <p:audio>
                                      <p:cMediaNode>
                                        <p:cTn display="0" masterRel="sameClick">
                                          <p:stCondLst>
                                            <p:cond evt="begin" delay="0">
                                              <p:tn val="117"/>
                                            </p:cond>
                                          </p:stCondLst>
                                          <p:endCondLst>
                                            <p:cond evt="onStopAudio" delay="0">
                                              <p:tgtEl>
                                                <p:sldTgt/>
                                              </p:tgtEl>
                                            </p:cond>
                                          </p:endCondLst>
                                        </p:cTn>
                                        <p:tgtEl>
                                          <p:sndTgt r:embed="rId2" name="camera.wav"/>
                                        </p:tgtEl>
                                      </p:cMediaNode>
                                    </p:audio>
                                  </p:subTnLst>
                                </p:cTn>
                              </p:par>
                            </p:childTnLst>
                          </p:cTn>
                        </p:par>
                      </p:childTnLst>
                    </p:cTn>
                  </p:par>
                  <p:par>
                    <p:cTn id="120" fill="hold">
                      <p:stCondLst>
                        <p:cond delay="indefinite"/>
                      </p:stCondLst>
                      <p:childTnLst>
                        <p:par>
                          <p:cTn id="121" fill="hold">
                            <p:stCondLst>
                              <p:cond delay="0"/>
                            </p:stCondLst>
                            <p:childTnLst>
                              <p:par>
                                <p:cTn id="122" presetID="4" presetClass="entr" presetSubtype="32" fill="hold" nodeType="clickEffect">
                                  <p:stCondLst>
                                    <p:cond delay="0"/>
                                  </p:stCondLst>
                                  <p:childTnLst>
                                    <p:set>
                                      <p:cBhvr>
                                        <p:cTn id="123" dur="1" fill="hold">
                                          <p:stCondLst>
                                            <p:cond delay="0"/>
                                          </p:stCondLst>
                                        </p:cTn>
                                        <p:tgtEl>
                                          <p:spTgt spid="1178738"/>
                                        </p:tgtEl>
                                        <p:attrNameLst>
                                          <p:attrName>style.visibility</p:attrName>
                                        </p:attrNameLst>
                                      </p:cBhvr>
                                      <p:to>
                                        <p:strVal val="visible"/>
                                      </p:to>
                                    </p:set>
                                    <p:animEffect transition="in" filter="box(out)">
                                      <p:cBhvr>
                                        <p:cTn id="124" dur="500"/>
                                        <p:tgtEl>
                                          <p:spTgt spid="1178738"/>
                                        </p:tgtEl>
                                      </p:cBhvr>
                                    </p:animEffect>
                                  </p:childTnLst>
                                  <p:subTnLst>
                                    <p:set>
                                      <p:cBhvr override="childStyle">
                                        <p:cTn dur="1" fill="hold" display="0" masterRel="nextClick" afterEffect="1"/>
                                        <p:tgtEl>
                                          <p:spTgt spid="1178738"/>
                                        </p:tgtEl>
                                        <p:attrNameLst>
                                          <p:attrName>style.visibility</p:attrName>
                                        </p:attrNameLst>
                                      </p:cBhvr>
                                      <p:to>
                                        <p:strVal val="hidden"/>
                                      </p:to>
                                    </p:set>
                                    <p:audio>
                                      <p:cMediaNode>
                                        <p:cTn display="0" masterRel="sameClick">
                                          <p:stCondLst>
                                            <p:cond evt="begin" delay="0">
                                              <p:tn val="122"/>
                                            </p:cond>
                                          </p:stCondLst>
                                          <p:endCondLst>
                                            <p:cond evt="onStopAudio" delay="0">
                                              <p:tgtEl>
                                                <p:sldTgt/>
                                              </p:tgtEl>
                                            </p:cond>
                                          </p:endCondLst>
                                        </p:cTn>
                                        <p:tgtEl>
                                          <p:sndTgt r:embed="rId2" name="camera.wav"/>
                                        </p:tgtEl>
                                      </p:cMediaNode>
                                    </p:audio>
                                  </p:subTnLst>
                                </p:cTn>
                              </p:par>
                            </p:childTnLst>
                          </p:cTn>
                        </p:par>
                      </p:childTnLst>
                    </p:cTn>
                  </p:par>
                  <p:par>
                    <p:cTn id="125" fill="hold">
                      <p:stCondLst>
                        <p:cond delay="indefinite"/>
                      </p:stCondLst>
                      <p:childTnLst>
                        <p:par>
                          <p:cTn id="126" fill="hold">
                            <p:stCondLst>
                              <p:cond delay="0"/>
                            </p:stCondLst>
                            <p:childTnLst>
                              <p:par>
                                <p:cTn id="127" presetID="4" presetClass="entr" presetSubtype="16" fill="hold" grpId="0" nodeType="clickEffect">
                                  <p:stCondLst>
                                    <p:cond delay="0"/>
                                  </p:stCondLst>
                                  <p:childTnLst>
                                    <p:set>
                                      <p:cBhvr>
                                        <p:cTn id="128" dur="1" fill="hold">
                                          <p:stCondLst>
                                            <p:cond delay="0"/>
                                          </p:stCondLst>
                                        </p:cTn>
                                        <p:tgtEl>
                                          <p:spTgt spid="1178739"/>
                                        </p:tgtEl>
                                        <p:attrNameLst>
                                          <p:attrName>style.visibility</p:attrName>
                                        </p:attrNameLst>
                                      </p:cBhvr>
                                      <p:to>
                                        <p:strVal val="visible"/>
                                      </p:to>
                                    </p:set>
                                    <p:animEffect transition="in" filter="box(in)">
                                      <p:cBhvr>
                                        <p:cTn id="129" dur="500"/>
                                        <p:tgtEl>
                                          <p:spTgt spid="1178739"/>
                                        </p:tgtEl>
                                      </p:cBhvr>
                                    </p:animEffect>
                                  </p:childTnLst>
                                  <p:subTnLst>
                                    <p:audio>
                                      <p:cMediaNode>
                                        <p:cTn display="0" masterRel="sameClick">
                                          <p:stCondLst>
                                            <p:cond evt="begin" delay="0">
                                              <p:tn val="127"/>
                                            </p:cond>
                                          </p:stCondLst>
                                          <p:endCondLst>
                                            <p:cond evt="onStopAudio" delay="0">
                                              <p:tgtEl>
                                                <p:sldTgt/>
                                              </p:tgtEl>
                                            </p:cond>
                                          </p:endCondLst>
                                        </p:cTn>
                                        <p:tgtEl>
                                          <p:sndTgt r:embed="rId2" name="camera.wav"/>
                                        </p:tgtEl>
                                      </p:cMediaNode>
                                    </p:audio>
                                  </p:subTnLst>
                                </p:cTn>
                              </p:par>
                            </p:childTnLst>
                          </p:cTn>
                        </p:par>
                        <p:par>
                          <p:cTn id="130" fill="hold">
                            <p:stCondLst>
                              <p:cond delay="500"/>
                            </p:stCondLst>
                            <p:childTnLst>
                              <p:par>
                                <p:cTn id="131" presetID="4" presetClass="entr" presetSubtype="16" fill="hold" grpId="0" nodeType="afterEffect">
                                  <p:stCondLst>
                                    <p:cond delay="0"/>
                                  </p:stCondLst>
                                  <p:childTnLst>
                                    <p:set>
                                      <p:cBhvr>
                                        <p:cTn id="132" dur="1" fill="hold">
                                          <p:stCondLst>
                                            <p:cond delay="0"/>
                                          </p:stCondLst>
                                        </p:cTn>
                                        <p:tgtEl>
                                          <p:spTgt spid="1178740"/>
                                        </p:tgtEl>
                                        <p:attrNameLst>
                                          <p:attrName>style.visibility</p:attrName>
                                        </p:attrNameLst>
                                      </p:cBhvr>
                                      <p:to>
                                        <p:strVal val="visible"/>
                                      </p:to>
                                    </p:set>
                                    <p:animEffect transition="in" filter="box(in)">
                                      <p:cBhvr>
                                        <p:cTn id="133" dur="500"/>
                                        <p:tgtEl>
                                          <p:spTgt spid="1178740"/>
                                        </p:tgtEl>
                                      </p:cBhvr>
                                    </p:animEffect>
                                  </p:childTnLst>
                                  <p:subTnLst>
                                    <p:audio>
                                      <p:cMediaNode>
                                        <p:cTn display="0" masterRel="sameClick">
                                          <p:stCondLst>
                                            <p:cond evt="begin" delay="0">
                                              <p:tn val="131"/>
                                            </p:cond>
                                          </p:stCondLst>
                                          <p:endCondLst>
                                            <p:cond evt="onStopAudio" delay="0">
                                              <p:tgtEl>
                                                <p:sldTgt/>
                                              </p:tgtEl>
                                            </p:cond>
                                          </p:endCondLst>
                                        </p:cTn>
                                        <p:tgtEl>
                                          <p:sndTgt r:embed="rId2" name="camera.wav"/>
                                        </p:tgtEl>
                                      </p:cMediaNode>
                                    </p:audio>
                                  </p:subTnLst>
                                </p:cTn>
                              </p:par>
                            </p:childTnLst>
                          </p:cTn>
                        </p:par>
                        <p:par>
                          <p:cTn id="134" fill="hold">
                            <p:stCondLst>
                              <p:cond delay="1000"/>
                            </p:stCondLst>
                            <p:childTnLst>
                              <p:par>
                                <p:cTn id="135" presetID="4" presetClass="entr" presetSubtype="16" fill="hold" grpId="0" nodeType="afterEffect">
                                  <p:stCondLst>
                                    <p:cond delay="0"/>
                                  </p:stCondLst>
                                  <p:childTnLst>
                                    <p:set>
                                      <p:cBhvr>
                                        <p:cTn id="136" dur="1" fill="hold">
                                          <p:stCondLst>
                                            <p:cond delay="0"/>
                                          </p:stCondLst>
                                        </p:cTn>
                                        <p:tgtEl>
                                          <p:spTgt spid="1178744"/>
                                        </p:tgtEl>
                                        <p:attrNameLst>
                                          <p:attrName>style.visibility</p:attrName>
                                        </p:attrNameLst>
                                      </p:cBhvr>
                                      <p:to>
                                        <p:strVal val="visible"/>
                                      </p:to>
                                    </p:set>
                                    <p:animEffect transition="in" filter="box(in)">
                                      <p:cBhvr>
                                        <p:cTn id="137" dur="500"/>
                                        <p:tgtEl>
                                          <p:spTgt spid="1178744"/>
                                        </p:tgtEl>
                                      </p:cBhvr>
                                    </p:animEffect>
                                  </p:childTnLst>
                                  <p:subTnLst>
                                    <p:audio>
                                      <p:cMediaNode>
                                        <p:cTn display="0" masterRel="sameClick">
                                          <p:stCondLst>
                                            <p:cond evt="begin" delay="0">
                                              <p:tn val="135"/>
                                            </p:cond>
                                          </p:stCondLst>
                                          <p:endCondLst>
                                            <p:cond evt="onStopAudio" delay="0">
                                              <p:tgtEl>
                                                <p:sldTgt/>
                                              </p:tgtEl>
                                            </p:cond>
                                          </p:endCondLst>
                                        </p:cTn>
                                        <p:tgtEl>
                                          <p:sndTgt r:embed="rId2" name="camera.wav"/>
                                        </p:tgtEl>
                                      </p:cMediaNode>
                                    </p:audio>
                                  </p:subTnLst>
                                </p:cTn>
                              </p:par>
                            </p:childTnLst>
                          </p:cTn>
                        </p:par>
                        <p:par>
                          <p:cTn id="138" fill="hold">
                            <p:stCondLst>
                              <p:cond delay="1500"/>
                            </p:stCondLst>
                            <p:childTnLst>
                              <p:par>
                                <p:cTn id="139" presetID="18" presetClass="entr" presetSubtype="3" fill="hold" nodeType="afterEffect">
                                  <p:stCondLst>
                                    <p:cond delay="0"/>
                                  </p:stCondLst>
                                  <p:childTnLst>
                                    <p:set>
                                      <p:cBhvr>
                                        <p:cTn id="140" dur="1" fill="hold">
                                          <p:stCondLst>
                                            <p:cond delay="0"/>
                                          </p:stCondLst>
                                        </p:cTn>
                                        <p:tgtEl>
                                          <p:spTgt spid="1178741"/>
                                        </p:tgtEl>
                                        <p:attrNameLst>
                                          <p:attrName>style.visibility</p:attrName>
                                        </p:attrNameLst>
                                      </p:cBhvr>
                                      <p:to>
                                        <p:strVal val="visible"/>
                                      </p:to>
                                    </p:set>
                                    <p:animEffect transition="in" filter="strips(upRight)">
                                      <p:cBhvr>
                                        <p:cTn id="141" dur="500"/>
                                        <p:tgtEl>
                                          <p:spTgt spid="1178741"/>
                                        </p:tgtEl>
                                      </p:cBhvr>
                                    </p:animEffect>
                                  </p:childTnLst>
                                  <p:subTnLst>
                                    <p:audio>
                                      <p:cMediaNode>
                                        <p:cTn display="0" masterRel="sameClick">
                                          <p:stCondLst>
                                            <p:cond evt="begin" delay="0">
                                              <p:tn val="139"/>
                                            </p:cond>
                                          </p:stCondLst>
                                          <p:endCondLst>
                                            <p:cond evt="onStopAudio" delay="0">
                                              <p:tgtEl>
                                                <p:sldTgt/>
                                              </p:tgtEl>
                                            </p:cond>
                                          </p:endCondLst>
                                        </p:cTn>
                                        <p:tgtEl>
                                          <p:sndTgt r:embed="rId2" name="camera.wav"/>
                                        </p:tgtEl>
                                      </p:cMediaNode>
                                    </p:audio>
                                  </p:subTnLst>
                                </p:cTn>
                              </p:par>
                            </p:childTnLst>
                          </p:cTn>
                        </p:par>
                        <p:par>
                          <p:cTn id="142" fill="hold">
                            <p:stCondLst>
                              <p:cond delay="2000"/>
                            </p:stCondLst>
                            <p:childTnLst>
                              <p:par>
                                <p:cTn id="143" presetID="4" presetClass="entr" presetSubtype="16" fill="hold" grpId="0" nodeType="afterEffect">
                                  <p:stCondLst>
                                    <p:cond delay="0"/>
                                  </p:stCondLst>
                                  <p:childTnLst>
                                    <p:set>
                                      <p:cBhvr>
                                        <p:cTn id="144" dur="1" fill="hold">
                                          <p:stCondLst>
                                            <p:cond delay="0"/>
                                          </p:stCondLst>
                                        </p:cTn>
                                        <p:tgtEl>
                                          <p:spTgt spid="1178748"/>
                                        </p:tgtEl>
                                        <p:attrNameLst>
                                          <p:attrName>style.visibility</p:attrName>
                                        </p:attrNameLst>
                                      </p:cBhvr>
                                      <p:to>
                                        <p:strVal val="visible"/>
                                      </p:to>
                                    </p:set>
                                    <p:animEffect transition="in" filter="box(in)">
                                      <p:cBhvr>
                                        <p:cTn id="145" dur="500"/>
                                        <p:tgtEl>
                                          <p:spTgt spid="1178748"/>
                                        </p:tgtEl>
                                      </p:cBhvr>
                                    </p:animEffect>
                                  </p:childTnLst>
                                  <p:subTnLst>
                                    <p:audio>
                                      <p:cMediaNode>
                                        <p:cTn display="0" masterRel="sameClick">
                                          <p:stCondLst>
                                            <p:cond evt="begin" delay="0">
                                              <p:tn val="143"/>
                                            </p:cond>
                                          </p:stCondLst>
                                          <p:endCondLst>
                                            <p:cond evt="onStopAudio" delay="0">
                                              <p:tgtEl>
                                                <p:sldTgt/>
                                              </p:tgtEl>
                                            </p:cond>
                                          </p:endCondLst>
                                        </p:cTn>
                                        <p:tgtEl>
                                          <p:sndTgt r:embed="rId2" name="camera.wav"/>
                                        </p:tgtEl>
                                      </p:cMediaNode>
                                    </p:audio>
                                  </p:subTnLst>
                                </p:cTn>
                              </p:par>
                            </p:childTnLst>
                          </p:cTn>
                        </p:par>
                        <p:par>
                          <p:cTn id="146" fill="hold">
                            <p:stCondLst>
                              <p:cond delay="2500"/>
                            </p:stCondLst>
                            <p:childTnLst>
                              <p:par>
                                <p:cTn id="147" presetID="18" presetClass="entr" presetSubtype="3" fill="hold" nodeType="afterEffect">
                                  <p:stCondLst>
                                    <p:cond delay="0"/>
                                  </p:stCondLst>
                                  <p:childTnLst>
                                    <p:set>
                                      <p:cBhvr>
                                        <p:cTn id="148" dur="1" fill="hold">
                                          <p:stCondLst>
                                            <p:cond delay="0"/>
                                          </p:stCondLst>
                                        </p:cTn>
                                        <p:tgtEl>
                                          <p:spTgt spid="1178745"/>
                                        </p:tgtEl>
                                        <p:attrNameLst>
                                          <p:attrName>style.visibility</p:attrName>
                                        </p:attrNameLst>
                                      </p:cBhvr>
                                      <p:to>
                                        <p:strVal val="visible"/>
                                      </p:to>
                                    </p:set>
                                    <p:animEffect transition="in" filter="strips(upRight)">
                                      <p:cBhvr>
                                        <p:cTn id="149" dur="500"/>
                                        <p:tgtEl>
                                          <p:spTgt spid="1178745"/>
                                        </p:tgtEl>
                                      </p:cBhvr>
                                    </p:animEffect>
                                  </p:childTnLst>
                                  <p:subTnLst>
                                    <p:audio>
                                      <p:cMediaNode>
                                        <p:cTn display="0" masterRel="sameClick">
                                          <p:stCondLst>
                                            <p:cond evt="begin" delay="0">
                                              <p:tn val="147"/>
                                            </p:cond>
                                          </p:stCondLst>
                                          <p:endCondLst>
                                            <p:cond evt="onStopAudio" delay="0">
                                              <p:tgtEl>
                                                <p:sldTgt/>
                                              </p:tgtEl>
                                            </p:cond>
                                          </p:endCondLst>
                                        </p:cTn>
                                        <p:tgtEl>
                                          <p:sndTgt r:embed="rId2" name="camera.wav"/>
                                        </p:tgtEl>
                                      </p:cMediaNode>
                                    </p:audio>
                                  </p:subTnLst>
                                </p:cTn>
                              </p:par>
                            </p:childTnLst>
                          </p:cTn>
                        </p:par>
                      </p:childTnLst>
                    </p:cTn>
                  </p:par>
                  <p:par>
                    <p:cTn id="150" fill="hold">
                      <p:stCondLst>
                        <p:cond delay="indefinite"/>
                      </p:stCondLst>
                      <p:childTnLst>
                        <p:par>
                          <p:cTn id="151" fill="hold">
                            <p:stCondLst>
                              <p:cond delay="0"/>
                            </p:stCondLst>
                            <p:childTnLst>
                              <p:par>
                                <p:cTn id="152" presetID="4" presetClass="entr" presetSubtype="32" fill="hold" nodeType="clickEffect">
                                  <p:stCondLst>
                                    <p:cond delay="0"/>
                                  </p:stCondLst>
                                  <p:childTnLst>
                                    <p:set>
                                      <p:cBhvr>
                                        <p:cTn id="153" dur="1" fill="hold">
                                          <p:stCondLst>
                                            <p:cond delay="0"/>
                                          </p:stCondLst>
                                        </p:cTn>
                                        <p:tgtEl>
                                          <p:spTgt spid="1178754"/>
                                        </p:tgtEl>
                                        <p:attrNameLst>
                                          <p:attrName>style.visibility</p:attrName>
                                        </p:attrNameLst>
                                      </p:cBhvr>
                                      <p:to>
                                        <p:strVal val="visible"/>
                                      </p:to>
                                    </p:set>
                                    <p:animEffect transition="in" filter="box(out)">
                                      <p:cBhvr>
                                        <p:cTn id="154" dur="500"/>
                                        <p:tgtEl>
                                          <p:spTgt spid="1178754"/>
                                        </p:tgtEl>
                                      </p:cBhvr>
                                    </p:animEffect>
                                  </p:childTnLst>
                                  <p:subTnLst>
                                    <p:set>
                                      <p:cBhvr override="childStyle">
                                        <p:cTn dur="1" fill="hold" display="0" masterRel="nextClick" afterEffect="1"/>
                                        <p:tgtEl>
                                          <p:spTgt spid="1178754"/>
                                        </p:tgtEl>
                                        <p:attrNameLst>
                                          <p:attrName>style.visibility</p:attrName>
                                        </p:attrNameLst>
                                      </p:cBhvr>
                                      <p:to>
                                        <p:strVal val="hidden"/>
                                      </p:to>
                                    </p:set>
                                    <p:audio>
                                      <p:cMediaNode>
                                        <p:cTn display="0" masterRel="sameClick">
                                          <p:stCondLst>
                                            <p:cond evt="begin" delay="0">
                                              <p:tn val="152"/>
                                            </p:cond>
                                          </p:stCondLst>
                                          <p:endCondLst>
                                            <p:cond evt="onStopAudio" delay="0">
                                              <p:tgtEl>
                                                <p:sldTgt/>
                                              </p:tgtEl>
                                            </p:cond>
                                          </p:endCondLst>
                                        </p:cTn>
                                        <p:tgtEl>
                                          <p:sndTgt r:embed="rId2" name="camera.wav"/>
                                        </p:tgtEl>
                                      </p:cMediaNode>
                                    </p:audio>
                                  </p:subTnLst>
                                </p:cTn>
                              </p:par>
                            </p:childTnLst>
                          </p:cTn>
                        </p:par>
                      </p:childTnLst>
                    </p:cTn>
                  </p:par>
                  <p:par>
                    <p:cTn id="155" fill="hold">
                      <p:stCondLst>
                        <p:cond delay="indefinite"/>
                      </p:stCondLst>
                      <p:childTnLst>
                        <p:par>
                          <p:cTn id="156" fill="hold">
                            <p:stCondLst>
                              <p:cond delay="0"/>
                            </p:stCondLst>
                            <p:childTnLst>
                              <p:par>
                                <p:cTn id="157" presetID="4" presetClass="entr" presetSubtype="16" fill="hold" grpId="0" nodeType="clickEffect">
                                  <p:stCondLst>
                                    <p:cond delay="0"/>
                                  </p:stCondLst>
                                  <p:childTnLst>
                                    <p:set>
                                      <p:cBhvr>
                                        <p:cTn id="158" dur="1" fill="hold">
                                          <p:stCondLst>
                                            <p:cond delay="0"/>
                                          </p:stCondLst>
                                        </p:cTn>
                                        <p:tgtEl>
                                          <p:spTgt spid="1178755"/>
                                        </p:tgtEl>
                                        <p:attrNameLst>
                                          <p:attrName>style.visibility</p:attrName>
                                        </p:attrNameLst>
                                      </p:cBhvr>
                                      <p:to>
                                        <p:strVal val="visible"/>
                                      </p:to>
                                    </p:set>
                                    <p:animEffect transition="in" filter="box(in)">
                                      <p:cBhvr>
                                        <p:cTn id="159" dur="500"/>
                                        <p:tgtEl>
                                          <p:spTgt spid="1178755"/>
                                        </p:tgtEl>
                                      </p:cBhvr>
                                    </p:animEffect>
                                  </p:childTnLst>
                                  <p:subTnLst>
                                    <p:audio>
                                      <p:cMediaNode>
                                        <p:cTn display="0" masterRel="sameClick">
                                          <p:stCondLst>
                                            <p:cond evt="begin" delay="0">
                                              <p:tn val="157"/>
                                            </p:cond>
                                          </p:stCondLst>
                                          <p:endCondLst>
                                            <p:cond evt="onStopAudio" delay="0">
                                              <p:tgtEl>
                                                <p:sldTgt/>
                                              </p:tgtEl>
                                            </p:cond>
                                          </p:endCondLst>
                                        </p:cTn>
                                        <p:tgtEl>
                                          <p:sndTgt r:embed="rId2" name="camera.wav"/>
                                        </p:tgtEl>
                                      </p:cMediaNode>
                                    </p:audio>
                                  </p:subTnLst>
                                </p:cTn>
                              </p:par>
                            </p:childTnLst>
                          </p:cTn>
                        </p:par>
                        <p:par>
                          <p:cTn id="160" fill="hold">
                            <p:stCondLst>
                              <p:cond delay="500"/>
                            </p:stCondLst>
                            <p:childTnLst>
                              <p:par>
                                <p:cTn id="161" presetID="4" presetClass="entr" presetSubtype="16" fill="hold" grpId="0" nodeType="afterEffect">
                                  <p:stCondLst>
                                    <p:cond delay="0"/>
                                  </p:stCondLst>
                                  <p:childTnLst>
                                    <p:set>
                                      <p:cBhvr>
                                        <p:cTn id="162" dur="1" fill="hold">
                                          <p:stCondLst>
                                            <p:cond delay="0"/>
                                          </p:stCondLst>
                                        </p:cTn>
                                        <p:tgtEl>
                                          <p:spTgt spid="1178756"/>
                                        </p:tgtEl>
                                        <p:attrNameLst>
                                          <p:attrName>style.visibility</p:attrName>
                                        </p:attrNameLst>
                                      </p:cBhvr>
                                      <p:to>
                                        <p:strVal val="visible"/>
                                      </p:to>
                                    </p:set>
                                    <p:animEffect transition="in" filter="box(in)">
                                      <p:cBhvr>
                                        <p:cTn id="163" dur="500"/>
                                        <p:tgtEl>
                                          <p:spTgt spid="1178756"/>
                                        </p:tgtEl>
                                      </p:cBhvr>
                                    </p:animEffect>
                                  </p:childTnLst>
                                  <p:subTnLst>
                                    <p:audio>
                                      <p:cMediaNode>
                                        <p:cTn display="0" masterRel="sameClick">
                                          <p:stCondLst>
                                            <p:cond evt="begin" delay="0">
                                              <p:tn val="161"/>
                                            </p:cond>
                                          </p:stCondLst>
                                          <p:endCondLst>
                                            <p:cond evt="onStopAudio" delay="0">
                                              <p:tgtEl>
                                                <p:sldTgt/>
                                              </p:tgtEl>
                                            </p:cond>
                                          </p:endCondLst>
                                        </p:cTn>
                                        <p:tgtEl>
                                          <p:sndTgt r:embed="rId2" name="camera.wav"/>
                                        </p:tgtEl>
                                      </p:cMediaNode>
                                    </p:audio>
                                  </p:subTnLst>
                                </p:cTn>
                              </p:par>
                            </p:childTnLst>
                          </p:cTn>
                        </p:par>
                        <p:par>
                          <p:cTn id="164" fill="hold">
                            <p:stCondLst>
                              <p:cond delay="1000"/>
                            </p:stCondLst>
                            <p:childTnLst>
                              <p:par>
                                <p:cTn id="165" presetID="4" presetClass="entr" presetSubtype="16" fill="hold" grpId="0" nodeType="afterEffect">
                                  <p:stCondLst>
                                    <p:cond delay="0"/>
                                  </p:stCondLst>
                                  <p:childTnLst>
                                    <p:set>
                                      <p:cBhvr>
                                        <p:cTn id="166" dur="1" fill="hold">
                                          <p:stCondLst>
                                            <p:cond delay="0"/>
                                          </p:stCondLst>
                                        </p:cTn>
                                        <p:tgtEl>
                                          <p:spTgt spid="1178767"/>
                                        </p:tgtEl>
                                        <p:attrNameLst>
                                          <p:attrName>style.visibility</p:attrName>
                                        </p:attrNameLst>
                                      </p:cBhvr>
                                      <p:to>
                                        <p:strVal val="visible"/>
                                      </p:to>
                                    </p:set>
                                    <p:animEffect transition="in" filter="box(in)">
                                      <p:cBhvr>
                                        <p:cTn id="167" dur="500"/>
                                        <p:tgtEl>
                                          <p:spTgt spid="1178767"/>
                                        </p:tgtEl>
                                      </p:cBhvr>
                                    </p:animEffect>
                                  </p:childTnLst>
                                  <p:subTnLst>
                                    <p:audio>
                                      <p:cMediaNode>
                                        <p:cTn display="0" masterRel="sameClick">
                                          <p:stCondLst>
                                            <p:cond evt="begin" delay="0">
                                              <p:tn val="165"/>
                                            </p:cond>
                                          </p:stCondLst>
                                          <p:endCondLst>
                                            <p:cond evt="onStopAudio" delay="0">
                                              <p:tgtEl>
                                                <p:sldTgt/>
                                              </p:tgtEl>
                                            </p:cond>
                                          </p:endCondLst>
                                        </p:cTn>
                                        <p:tgtEl>
                                          <p:sndTgt r:embed="rId2" name="camera.wav"/>
                                        </p:tgtEl>
                                      </p:cMediaNode>
                                    </p:audio>
                                  </p:subTnLst>
                                </p:cTn>
                              </p:par>
                            </p:childTnLst>
                          </p:cTn>
                        </p:par>
                        <p:par>
                          <p:cTn id="168" fill="hold">
                            <p:stCondLst>
                              <p:cond delay="1500"/>
                            </p:stCondLst>
                            <p:childTnLst>
                              <p:par>
                                <p:cTn id="169" presetID="18" presetClass="entr" presetSubtype="3" fill="hold" nodeType="afterEffect">
                                  <p:stCondLst>
                                    <p:cond delay="0"/>
                                  </p:stCondLst>
                                  <p:childTnLst>
                                    <p:set>
                                      <p:cBhvr>
                                        <p:cTn id="170" dur="1" fill="hold">
                                          <p:stCondLst>
                                            <p:cond delay="0"/>
                                          </p:stCondLst>
                                        </p:cTn>
                                        <p:tgtEl>
                                          <p:spTgt spid="1178764"/>
                                        </p:tgtEl>
                                        <p:attrNameLst>
                                          <p:attrName>style.visibility</p:attrName>
                                        </p:attrNameLst>
                                      </p:cBhvr>
                                      <p:to>
                                        <p:strVal val="visible"/>
                                      </p:to>
                                    </p:set>
                                    <p:animEffect transition="in" filter="strips(upRight)">
                                      <p:cBhvr>
                                        <p:cTn id="171" dur="500"/>
                                        <p:tgtEl>
                                          <p:spTgt spid="1178764"/>
                                        </p:tgtEl>
                                      </p:cBhvr>
                                    </p:animEffect>
                                  </p:childTnLst>
                                  <p:subTnLst>
                                    <p:audio>
                                      <p:cMediaNode>
                                        <p:cTn display="0" masterRel="sameClick">
                                          <p:stCondLst>
                                            <p:cond evt="begin" delay="0">
                                              <p:tn val="169"/>
                                            </p:cond>
                                          </p:stCondLst>
                                          <p:endCondLst>
                                            <p:cond evt="onStopAudio" delay="0">
                                              <p:tgtEl>
                                                <p:sldTgt/>
                                              </p:tgtEl>
                                            </p:cond>
                                          </p:endCondLst>
                                        </p:cTn>
                                        <p:tgtEl>
                                          <p:sndTgt r:embed="rId2" name="camera.wav"/>
                                        </p:tgtEl>
                                      </p:cMediaNode>
                                    </p:audio>
                                  </p:subTnLst>
                                </p:cTn>
                              </p:par>
                            </p:childTnLst>
                          </p:cTn>
                        </p:par>
                        <p:par>
                          <p:cTn id="172" fill="hold">
                            <p:stCondLst>
                              <p:cond delay="2000"/>
                            </p:stCondLst>
                            <p:childTnLst>
                              <p:par>
                                <p:cTn id="173" presetID="4" presetClass="entr" presetSubtype="16" fill="hold" grpId="0" nodeType="afterEffect">
                                  <p:stCondLst>
                                    <p:cond delay="0"/>
                                  </p:stCondLst>
                                  <p:childTnLst>
                                    <p:set>
                                      <p:cBhvr>
                                        <p:cTn id="174" dur="1" fill="hold">
                                          <p:stCondLst>
                                            <p:cond delay="0"/>
                                          </p:stCondLst>
                                        </p:cTn>
                                        <p:tgtEl>
                                          <p:spTgt spid="1178771"/>
                                        </p:tgtEl>
                                        <p:attrNameLst>
                                          <p:attrName>style.visibility</p:attrName>
                                        </p:attrNameLst>
                                      </p:cBhvr>
                                      <p:to>
                                        <p:strVal val="visible"/>
                                      </p:to>
                                    </p:set>
                                    <p:animEffect transition="in" filter="box(in)">
                                      <p:cBhvr>
                                        <p:cTn id="175" dur="500"/>
                                        <p:tgtEl>
                                          <p:spTgt spid="1178771"/>
                                        </p:tgtEl>
                                      </p:cBhvr>
                                    </p:animEffect>
                                  </p:childTnLst>
                                  <p:subTnLst>
                                    <p:audio>
                                      <p:cMediaNode>
                                        <p:cTn display="0" masterRel="sameClick">
                                          <p:stCondLst>
                                            <p:cond evt="begin" delay="0">
                                              <p:tn val="173"/>
                                            </p:cond>
                                          </p:stCondLst>
                                          <p:endCondLst>
                                            <p:cond evt="onStopAudio" delay="0">
                                              <p:tgtEl>
                                                <p:sldTgt/>
                                              </p:tgtEl>
                                            </p:cond>
                                          </p:endCondLst>
                                        </p:cTn>
                                        <p:tgtEl>
                                          <p:sndTgt r:embed="rId2" name="camera.wav"/>
                                        </p:tgtEl>
                                      </p:cMediaNode>
                                    </p:audio>
                                  </p:subTnLst>
                                </p:cTn>
                              </p:par>
                            </p:childTnLst>
                          </p:cTn>
                        </p:par>
                        <p:par>
                          <p:cTn id="176" fill="hold">
                            <p:stCondLst>
                              <p:cond delay="2500"/>
                            </p:stCondLst>
                            <p:childTnLst>
                              <p:par>
                                <p:cTn id="177" presetID="18" presetClass="entr" presetSubtype="3" fill="hold" nodeType="afterEffect">
                                  <p:stCondLst>
                                    <p:cond delay="0"/>
                                  </p:stCondLst>
                                  <p:childTnLst>
                                    <p:set>
                                      <p:cBhvr>
                                        <p:cTn id="178" dur="1" fill="hold">
                                          <p:stCondLst>
                                            <p:cond delay="0"/>
                                          </p:stCondLst>
                                        </p:cTn>
                                        <p:tgtEl>
                                          <p:spTgt spid="1178768"/>
                                        </p:tgtEl>
                                        <p:attrNameLst>
                                          <p:attrName>style.visibility</p:attrName>
                                        </p:attrNameLst>
                                      </p:cBhvr>
                                      <p:to>
                                        <p:strVal val="visible"/>
                                      </p:to>
                                    </p:set>
                                    <p:animEffect transition="in" filter="strips(upRight)">
                                      <p:cBhvr>
                                        <p:cTn id="179" dur="500"/>
                                        <p:tgtEl>
                                          <p:spTgt spid="1178768"/>
                                        </p:tgtEl>
                                      </p:cBhvr>
                                    </p:animEffect>
                                  </p:childTnLst>
                                  <p:subTnLst>
                                    <p:audio>
                                      <p:cMediaNode>
                                        <p:cTn display="0" masterRel="sameClick">
                                          <p:stCondLst>
                                            <p:cond evt="begin" delay="0">
                                              <p:tn val="177"/>
                                            </p:cond>
                                          </p:stCondLst>
                                          <p:endCondLst>
                                            <p:cond evt="onStopAudio" delay="0">
                                              <p:tgtEl>
                                                <p:sldTgt/>
                                              </p:tgtEl>
                                            </p:cond>
                                          </p:endCondLst>
                                        </p:cTn>
                                        <p:tgtEl>
                                          <p:sndTgt r:embed="rId2" name="camera.wav"/>
                                        </p:tgtEl>
                                      </p:cMediaNode>
                                    </p:audio>
                                  </p:subTnLst>
                                </p:cTn>
                              </p:par>
                            </p:childTnLst>
                          </p:cTn>
                        </p:par>
                      </p:childTnLst>
                    </p:cTn>
                  </p:par>
                  <p:par>
                    <p:cTn id="180" fill="hold">
                      <p:stCondLst>
                        <p:cond delay="indefinite"/>
                      </p:stCondLst>
                      <p:childTnLst>
                        <p:par>
                          <p:cTn id="181" fill="hold">
                            <p:stCondLst>
                              <p:cond delay="0"/>
                            </p:stCondLst>
                            <p:childTnLst>
                              <p:par>
                                <p:cTn id="182" presetID="4" presetClass="entr" presetSubtype="32" fill="hold" nodeType="clickEffect">
                                  <p:stCondLst>
                                    <p:cond delay="0"/>
                                  </p:stCondLst>
                                  <p:childTnLst>
                                    <p:set>
                                      <p:cBhvr>
                                        <p:cTn id="183" dur="1" fill="hold">
                                          <p:stCondLst>
                                            <p:cond delay="0"/>
                                          </p:stCondLst>
                                        </p:cTn>
                                        <p:tgtEl>
                                          <p:spTgt spid="1178779"/>
                                        </p:tgtEl>
                                        <p:attrNameLst>
                                          <p:attrName>style.visibility</p:attrName>
                                        </p:attrNameLst>
                                      </p:cBhvr>
                                      <p:to>
                                        <p:strVal val="visible"/>
                                      </p:to>
                                    </p:set>
                                    <p:animEffect transition="in" filter="box(out)">
                                      <p:cBhvr>
                                        <p:cTn id="184" dur="500"/>
                                        <p:tgtEl>
                                          <p:spTgt spid="1178779"/>
                                        </p:tgtEl>
                                      </p:cBhvr>
                                    </p:animEffect>
                                  </p:childTnLst>
                                  <p:subTnLst>
                                    <p:set>
                                      <p:cBhvr override="childStyle">
                                        <p:cTn dur="1" fill="hold" display="0" masterRel="nextClick" afterEffect="1"/>
                                        <p:tgtEl>
                                          <p:spTgt spid="1178779"/>
                                        </p:tgtEl>
                                        <p:attrNameLst>
                                          <p:attrName>style.visibility</p:attrName>
                                        </p:attrNameLst>
                                      </p:cBhvr>
                                      <p:to>
                                        <p:strVal val="hidden"/>
                                      </p:to>
                                    </p:set>
                                    <p:audio>
                                      <p:cMediaNode>
                                        <p:cTn display="0" masterRel="sameClick">
                                          <p:stCondLst>
                                            <p:cond evt="begin" delay="0">
                                              <p:tn val="182"/>
                                            </p:cond>
                                          </p:stCondLst>
                                          <p:endCondLst>
                                            <p:cond evt="onStopAudio" delay="0">
                                              <p:tgtEl>
                                                <p:sldTgt/>
                                              </p:tgtEl>
                                            </p:cond>
                                          </p:endCondLst>
                                        </p:cTn>
                                        <p:tgtEl>
                                          <p:sndTgt r:embed="rId2" name="camera.wav"/>
                                        </p:tgtEl>
                                      </p:cMediaNode>
                                    </p:audio>
                                  </p:subTnLst>
                                </p:cTn>
                              </p:par>
                            </p:childTnLst>
                          </p:cTn>
                        </p:par>
                      </p:childTnLst>
                    </p:cTn>
                  </p:par>
                  <p:par>
                    <p:cTn id="185" fill="hold">
                      <p:stCondLst>
                        <p:cond delay="indefinite"/>
                      </p:stCondLst>
                      <p:childTnLst>
                        <p:par>
                          <p:cTn id="186" fill="hold">
                            <p:stCondLst>
                              <p:cond delay="0"/>
                            </p:stCondLst>
                            <p:childTnLst>
                              <p:par>
                                <p:cTn id="187" presetID="4" presetClass="entr" presetSubtype="16" fill="hold" grpId="0" nodeType="clickEffect">
                                  <p:stCondLst>
                                    <p:cond delay="0"/>
                                  </p:stCondLst>
                                  <p:childTnLst>
                                    <p:set>
                                      <p:cBhvr>
                                        <p:cTn id="188" dur="1" fill="hold">
                                          <p:stCondLst>
                                            <p:cond delay="0"/>
                                          </p:stCondLst>
                                        </p:cTn>
                                        <p:tgtEl>
                                          <p:spTgt spid="1178772"/>
                                        </p:tgtEl>
                                        <p:attrNameLst>
                                          <p:attrName>style.visibility</p:attrName>
                                        </p:attrNameLst>
                                      </p:cBhvr>
                                      <p:to>
                                        <p:strVal val="visible"/>
                                      </p:to>
                                    </p:set>
                                    <p:animEffect transition="in" filter="box(in)">
                                      <p:cBhvr>
                                        <p:cTn id="189" dur="500"/>
                                        <p:tgtEl>
                                          <p:spTgt spid="1178772"/>
                                        </p:tgtEl>
                                      </p:cBhvr>
                                    </p:animEffect>
                                  </p:childTnLst>
                                  <p:subTnLst>
                                    <p:audio>
                                      <p:cMediaNode>
                                        <p:cTn display="0" masterRel="sameClick">
                                          <p:stCondLst>
                                            <p:cond evt="begin" delay="0">
                                              <p:tn val="187"/>
                                            </p:cond>
                                          </p:stCondLst>
                                          <p:endCondLst>
                                            <p:cond evt="onStopAudio" delay="0">
                                              <p:tgtEl>
                                                <p:sldTgt/>
                                              </p:tgtEl>
                                            </p:cond>
                                          </p:endCondLst>
                                        </p:cTn>
                                        <p:tgtEl>
                                          <p:sndTgt r:embed="rId2" name="camera.wav"/>
                                        </p:tgtEl>
                                      </p:cMediaNode>
                                    </p:audio>
                                  </p:subTnLst>
                                </p:cTn>
                              </p:par>
                            </p:childTnLst>
                          </p:cTn>
                        </p:par>
                        <p:par>
                          <p:cTn id="190" fill="hold">
                            <p:stCondLst>
                              <p:cond delay="500"/>
                            </p:stCondLst>
                            <p:childTnLst>
                              <p:par>
                                <p:cTn id="191" presetID="4" presetClass="entr" presetSubtype="16" fill="hold" grpId="0" nodeType="afterEffect">
                                  <p:stCondLst>
                                    <p:cond delay="0"/>
                                  </p:stCondLst>
                                  <p:childTnLst>
                                    <p:set>
                                      <p:cBhvr>
                                        <p:cTn id="192" dur="1" fill="hold">
                                          <p:stCondLst>
                                            <p:cond delay="0"/>
                                          </p:stCondLst>
                                        </p:cTn>
                                        <p:tgtEl>
                                          <p:spTgt spid="1178773"/>
                                        </p:tgtEl>
                                        <p:attrNameLst>
                                          <p:attrName>style.visibility</p:attrName>
                                        </p:attrNameLst>
                                      </p:cBhvr>
                                      <p:to>
                                        <p:strVal val="visible"/>
                                      </p:to>
                                    </p:set>
                                    <p:animEffect transition="in" filter="box(in)">
                                      <p:cBhvr>
                                        <p:cTn id="193" dur="500"/>
                                        <p:tgtEl>
                                          <p:spTgt spid="1178773"/>
                                        </p:tgtEl>
                                      </p:cBhvr>
                                    </p:animEffect>
                                  </p:childTnLst>
                                  <p:subTnLst>
                                    <p:audio>
                                      <p:cMediaNode>
                                        <p:cTn display="0" masterRel="sameClick">
                                          <p:stCondLst>
                                            <p:cond evt="begin" delay="0">
                                              <p:tn val="191"/>
                                            </p:cond>
                                          </p:stCondLst>
                                          <p:endCondLst>
                                            <p:cond evt="onStopAudio" delay="0">
                                              <p:tgtEl>
                                                <p:sldTgt/>
                                              </p:tgtEl>
                                            </p:cond>
                                          </p:endCondLst>
                                        </p:cTn>
                                        <p:tgtEl>
                                          <p:sndTgt r:embed="rId2" name="camera.wav"/>
                                        </p:tgtEl>
                                      </p:cMediaNode>
                                    </p:audio>
                                  </p:subTnLst>
                                </p:cTn>
                              </p:par>
                            </p:childTnLst>
                          </p:cTn>
                        </p:par>
                        <p:par>
                          <p:cTn id="194" fill="hold">
                            <p:stCondLst>
                              <p:cond delay="1000"/>
                            </p:stCondLst>
                            <p:childTnLst>
                              <p:par>
                                <p:cTn id="195" presetID="4" presetClass="entr" presetSubtype="16" fill="hold" grpId="0" nodeType="afterEffect">
                                  <p:stCondLst>
                                    <p:cond delay="0"/>
                                  </p:stCondLst>
                                  <p:childTnLst>
                                    <p:set>
                                      <p:cBhvr>
                                        <p:cTn id="196" dur="1" fill="hold">
                                          <p:stCondLst>
                                            <p:cond delay="0"/>
                                          </p:stCondLst>
                                        </p:cTn>
                                        <p:tgtEl>
                                          <p:spTgt spid="1178783"/>
                                        </p:tgtEl>
                                        <p:attrNameLst>
                                          <p:attrName>style.visibility</p:attrName>
                                        </p:attrNameLst>
                                      </p:cBhvr>
                                      <p:to>
                                        <p:strVal val="visible"/>
                                      </p:to>
                                    </p:set>
                                    <p:animEffect transition="in" filter="box(in)">
                                      <p:cBhvr>
                                        <p:cTn id="197" dur="500"/>
                                        <p:tgtEl>
                                          <p:spTgt spid="1178783"/>
                                        </p:tgtEl>
                                      </p:cBhvr>
                                    </p:animEffect>
                                  </p:childTnLst>
                                  <p:subTnLst>
                                    <p:audio>
                                      <p:cMediaNode>
                                        <p:cTn display="0" masterRel="sameClick">
                                          <p:stCondLst>
                                            <p:cond evt="begin" delay="0">
                                              <p:tn val="195"/>
                                            </p:cond>
                                          </p:stCondLst>
                                          <p:endCondLst>
                                            <p:cond evt="onStopAudio" delay="0">
                                              <p:tgtEl>
                                                <p:sldTgt/>
                                              </p:tgtEl>
                                            </p:cond>
                                          </p:endCondLst>
                                        </p:cTn>
                                        <p:tgtEl>
                                          <p:sndTgt r:embed="rId2" name="camera.wav"/>
                                        </p:tgtEl>
                                      </p:cMediaNode>
                                    </p:audio>
                                  </p:subTnLst>
                                </p:cTn>
                              </p:par>
                            </p:childTnLst>
                          </p:cTn>
                        </p:par>
                        <p:par>
                          <p:cTn id="198" fill="hold">
                            <p:stCondLst>
                              <p:cond delay="1500"/>
                            </p:stCondLst>
                            <p:childTnLst>
                              <p:par>
                                <p:cTn id="199" presetID="18" presetClass="entr" presetSubtype="3" fill="hold" nodeType="afterEffect">
                                  <p:stCondLst>
                                    <p:cond delay="0"/>
                                  </p:stCondLst>
                                  <p:childTnLst>
                                    <p:set>
                                      <p:cBhvr>
                                        <p:cTn id="200" dur="1" fill="hold">
                                          <p:stCondLst>
                                            <p:cond delay="0"/>
                                          </p:stCondLst>
                                        </p:cTn>
                                        <p:tgtEl>
                                          <p:spTgt spid="1178780"/>
                                        </p:tgtEl>
                                        <p:attrNameLst>
                                          <p:attrName>style.visibility</p:attrName>
                                        </p:attrNameLst>
                                      </p:cBhvr>
                                      <p:to>
                                        <p:strVal val="visible"/>
                                      </p:to>
                                    </p:set>
                                    <p:animEffect transition="in" filter="strips(upRight)">
                                      <p:cBhvr>
                                        <p:cTn id="201" dur="500"/>
                                        <p:tgtEl>
                                          <p:spTgt spid="1178780"/>
                                        </p:tgtEl>
                                      </p:cBhvr>
                                    </p:animEffect>
                                  </p:childTnLst>
                                  <p:subTnLst>
                                    <p:audio>
                                      <p:cMediaNode>
                                        <p:cTn display="0" masterRel="sameClick">
                                          <p:stCondLst>
                                            <p:cond evt="begin" delay="0">
                                              <p:tn val="199"/>
                                            </p:cond>
                                          </p:stCondLst>
                                          <p:endCondLst>
                                            <p:cond evt="onStopAudio" delay="0">
                                              <p:tgtEl>
                                                <p:sldTgt/>
                                              </p:tgtEl>
                                            </p:cond>
                                          </p:endCondLst>
                                        </p:cTn>
                                        <p:tgtEl>
                                          <p:sndTgt r:embed="rId2" name="camera.wav"/>
                                        </p:tgtEl>
                                      </p:cMediaNode>
                                    </p:audio>
                                  </p:subTnLst>
                                </p:cTn>
                              </p:par>
                            </p:childTnLst>
                          </p:cTn>
                        </p:par>
                        <p:par>
                          <p:cTn id="202" fill="hold">
                            <p:stCondLst>
                              <p:cond delay="2000"/>
                            </p:stCondLst>
                            <p:childTnLst>
                              <p:par>
                                <p:cTn id="203" presetID="4" presetClass="entr" presetSubtype="16" fill="hold" grpId="0" nodeType="afterEffect">
                                  <p:stCondLst>
                                    <p:cond delay="0"/>
                                  </p:stCondLst>
                                  <p:childTnLst>
                                    <p:set>
                                      <p:cBhvr>
                                        <p:cTn id="204" dur="1" fill="hold">
                                          <p:stCondLst>
                                            <p:cond delay="0"/>
                                          </p:stCondLst>
                                        </p:cTn>
                                        <p:tgtEl>
                                          <p:spTgt spid="1178787"/>
                                        </p:tgtEl>
                                        <p:attrNameLst>
                                          <p:attrName>style.visibility</p:attrName>
                                        </p:attrNameLst>
                                      </p:cBhvr>
                                      <p:to>
                                        <p:strVal val="visible"/>
                                      </p:to>
                                    </p:set>
                                    <p:animEffect transition="in" filter="box(in)">
                                      <p:cBhvr>
                                        <p:cTn id="205" dur="500"/>
                                        <p:tgtEl>
                                          <p:spTgt spid="1178787"/>
                                        </p:tgtEl>
                                      </p:cBhvr>
                                    </p:animEffect>
                                  </p:childTnLst>
                                  <p:subTnLst>
                                    <p:audio>
                                      <p:cMediaNode>
                                        <p:cTn display="0" masterRel="sameClick">
                                          <p:stCondLst>
                                            <p:cond evt="begin" delay="0">
                                              <p:tn val="203"/>
                                            </p:cond>
                                          </p:stCondLst>
                                          <p:endCondLst>
                                            <p:cond evt="onStopAudio" delay="0">
                                              <p:tgtEl>
                                                <p:sldTgt/>
                                              </p:tgtEl>
                                            </p:cond>
                                          </p:endCondLst>
                                        </p:cTn>
                                        <p:tgtEl>
                                          <p:sndTgt r:embed="rId2" name="camera.wav"/>
                                        </p:tgtEl>
                                      </p:cMediaNode>
                                    </p:audio>
                                  </p:subTnLst>
                                </p:cTn>
                              </p:par>
                            </p:childTnLst>
                          </p:cTn>
                        </p:par>
                        <p:par>
                          <p:cTn id="206" fill="hold">
                            <p:stCondLst>
                              <p:cond delay="2500"/>
                            </p:stCondLst>
                            <p:childTnLst>
                              <p:par>
                                <p:cTn id="207" presetID="18" presetClass="entr" presetSubtype="3" fill="hold" nodeType="afterEffect">
                                  <p:stCondLst>
                                    <p:cond delay="0"/>
                                  </p:stCondLst>
                                  <p:childTnLst>
                                    <p:set>
                                      <p:cBhvr>
                                        <p:cTn id="208" dur="1" fill="hold">
                                          <p:stCondLst>
                                            <p:cond delay="0"/>
                                          </p:stCondLst>
                                        </p:cTn>
                                        <p:tgtEl>
                                          <p:spTgt spid="1178784"/>
                                        </p:tgtEl>
                                        <p:attrNameLst>
                                          <p:attrName>style.visibility</p:attrName>
                                        </p:attrNameLst>
                                      </p:cBhvr>
                                      <p:to>
                                        <p:strVal val="visible"/>
                                      </p:to>
                                    </p:set>
                                    <p:animEffect transition="in" filter="strips(upRight)">
                                      <p:cBhvr>
                                        <p:cTn id="209" dur="500"/>
                                        <p:tgtEl>
                                          <p:spTgt spid="1178784"/>
                                        </p:tgtEl>
                                      </p:cBhvr>
                                    </p:animEffect>
                                  </p:childTnLst>
                                  <p:subTnLst>
                                    <p:audio>
                                      <p:cMediaNode>
                                        <p:cTn display="0" masterRel="sameClick">
                                          <p:stCondLst>
                                            <p:cond evt="begin" delay="0">
                                              <p:tn val="207"/>
                                            </p:cond>
                                          </p:stCondLst>
                                          <p:endCondLst>
                                            <p:cond evt="onStopAudio" delay="0">
                                              <p:tgtEl>
                                                <p:sldTgt/>
                                              </p:tgtEl>
                                            </p:cond>
                                          </p:endCondLst>
                                        </p:cTn>
                                        <p:tgtEl>
                                          <p:sndTgt r:embed="rId2" name="camera.wav"/>
                                        </p:tgtEl>
                                      </p:cMediaNode>
                                    </p:audio>
                                  </p:subTnLst>
                                </p:cTn>
                              </p:par>
                            </p:childTnLst>
                          </p:cTn>
                        </p:par>
                        <p:par>
                          <p:cTn id="210" fill="hold">
                            <p:stCondLst>
                              <p:cond delay="3000"/>
                            </p:stCondLst>
                            <p:childTnLst>
                              <p:par>
                                <p:cTn id="211" presetID="4" presetClass="entr" presetSubtype="16" fill="hold" grpId="0" nodeType="afterEffect">
                                  <p:stCondLst>
                                    <p:cond delay="0"/>
                                  </p:stCondLst>
                                  <p:childTnLst>
                                    <p:set>
                                      <p:cBhvr>
                                        <p:cTn id="212" dur="1" fill="hold">
                                          <p:stCondLst>
                                            <p:cond delay="0"/>
                                          </p:stCondLst>
                                        </p:cTn>
                                        <p:tgtEl>
                                          <p:spTgt spid="1178788"/>
                                        </p:tgtEl>
                                        <p:attrNameLst>
                                          <p:attrName>style.visibility</p:attrName>
                                        </p:attrNameLst>
                                      </p:cBhvr>
                                      <p:to>
                                        <p:strVal val="visible"/>
                                      </p:to>
                                    </p:set>
                                    <p:animEffect transition="in" filter="box(in)">
                                      <p:cBhvr>
                                        <p:cTn id="213" dur="500"/>
                                        <p:tgtEl>
                                          <p:spTgt spid="1178788"/>
                                        </p:tgtEl>
                                      </p:cBhvr>
                                    </p:animEffect>
                                  </p:childTnLst>
                                  <p:subTnLst>
                                    <p:audio>
                                      <p:cMediaNode>
                                        <p:cTn display="0" masterRel="sameClick">
                                          <p:stCondLst>
                                            <p:cond evt="begin" delay="0">
                                              <p:tn val="211"/>
                                            </p:cond>
                                          </p:stCondLst>
                                          <p:endCondLst>
                                            <p:cond evt="onStopAudio" delay="0">
                                              <p:tgtEl>
                                                <p:sldTgt/>
                                              </p:tgtEl>
                                            </p:cond>
                                          </p:endCondLst>
                                        </p:cTn>
                                        <p:tgtEl>
                                          <p:sndTgt r:embed="rId2" name="camera.wav"/>
                                        </p:tgtEl>
                                      </p:cMediaNode>
                                    </p:audio>
                                  </p:subTnLst>
                                </p:cTn>
                              </p:par>
                            </p:childTnLst>
                          </p:cTn>
                        </p:par>
                        <p:par>
                          <p:cTn id="214" fill="hold">
                            <p:stCondLst>
                              <p:cond delay="3500"/>
                            </p:stCondLst>
                            <p:childTnLst>
                              <p:par>
                                <p:cTn id="215" presetID="4" presetClass="entr" presetSubtype="16" fill="hold" grpId="0" nodeType="afterEffect">
                                  <p:stCondLst>
                                    <p:cond delay="0"/>
                                  </p:stCondLst>
                                  <p:childTnLst>
                                    <p:set>
                                      <p:cBhvr>
                                        <p:cTn id="216" dur="1" fill="hold">
                                          <p:stCondLst>
                                            <p:cond delay="0"/>
                                          </p:stCondLst>
                                        </p:cTn>
                                        <p:tgtEl>
                                          <p:spTgt spid="1178792"/>
                                        </p:tgtEl>
                                        <p:attrNameLst>
                                          <p:attrName>style.visibility</p:attrName>
                                        </p:attrNameLst>
                                      </p:cBhvr>
                                      <p:to>
                                        <p:strVal val="visible"/>
                                      </p:to>
                                    </p:set>
                                    <p:animEffect transition="in" filter="box(in)">
                                      <p:cBhvr>
                                        <p:cTn id="217" dur="500"/>
                                        <p:tgtEl>
                                          <p:spTgt spid="1178792"/>
                                        </p:tgtEl>
                                      </p:cBhvr>
                                    </p:animEffect>
                                  </p:childTnLst>
                                  <p:subTnLst>
                                    <p:audio>
                                      <p:cMediaNode>
                                        <p:cTn display="0" masterRel="sameClick">
                                          <p:stCondLst>
                                            <p:cond evt="begin" delay="0">
                                              <p:tn val="215"/>
                                            </p:cond>
                                          </p:stCondLst>
                                          <p:endCondLst>
                                            <p:cond evt="onStopAudio" delay="0">
                                              <p:tgtEl>
                                                <p:sldTgt/>
                                              </p:tgtEl>
                                            </p:cond>
                                          </p:endCondLst>
                                        </p:cTn>
                                        <p:tgtEl>
                                          <p:sndTgt r:embed="rId2" name="camera.wav"/>
                                        </p:tgtEl>
                                      </p:cMediaNode>
                                    </p:audio>
                                  </p:subTnLst>
                                </p:cTn>
                              </p:par>
                            </p:childTnLst>
                          </p:cTn>
                        </p:par>
                        <p:par>
                          <p:cTn id="218" fill="hold">
                            <p:stCondLst>
                              <p:cond delay="4000"/>
                            </p:stCondLst>
                            <p:childTnLst>
                              <p:par>
                                <p:cTn id="219" presetID="4" presetClass="entr" presetSubtype="16" fill="hold" grpId="0" nodeType="afterEffect">
                                  <p:stCondLst>
                                    <p:cond delay="0"/>
                                  </p:stCondLst>
                                  <p:childTnLst>
                                    <p:set>
                                      <p:cBhvr>
                                        <p:cTn id="220" dur="1" fill="hold">
                                          <p:stCondLst>
                                            <p:cond delay="0"/>
                                          </p:stCondLst>
                                        </p:cTn>
                                        <p:tgtEl>
                                          <p:spTgt spid="111"/>
                                        </p:tgtEl>
                                        <p:attrNameLst>
                                          <p:attrName>style.visibility</p:attrName>
                                        </p:attrNameLst>
                                      </p:cBhvr>
                                      <p:to>
                                        <p:strVal val="visible"/>
                                      </p:to>
                                    </p:set>
                                    <p:animEffect transition="in" filter="box(in)">
                                      <p:cBhvr>
                                        <p:cTn id="221" dur="500"/>
                                        <p:tgtEl>
                                          <p:spTgt spid="111"/>
                                        </p:tgtEl>
                                      </p:cBhvr>
                                    </p:animEffect>
                                  </p:childTnLst>
                                  <p:subTnLst>
                                    <p:audio>
                                      <p:cMediaNode>
                                        <p:cTn display="0" masterRel="sameClick">
                                          <p:stCondLst>
                                            <p:cond evt="begin" delay="0">
                                              <p:tn val="219"/>
                                            </p:cond>
                                          </p:stCondLst>
                                          <p:endCondLst>
                                            <p:cond evt="onStopAudio" delay="0">
                                              <p:tgtEl>
                                                <p:sldTgt/>
                                              </p:tgtEl>
                                            </p:cond>
                                          </p:endCondLst>
                                        </p:cTn>
                                        <p:tgtEl>
                                          <p:sndTgt r:embed="rId2" name="camera.wav"/>
                                        </p:tgtEl>
                                      </p:cMediaNode>
                                    </p:audio>
                                  </p:subTnLst>
                                </p:cTn>
                              </p:par>
                            </p:childTnLst>
                          </p:cTn>
                        </p:par>
                        <p:par>
                          <p:cTn id="222" fill="hold">
                            <p:stCondLst>
                              <p:cond delay="4500"/>
                            </p:stCondLst>
                            <p:childTnLst>
                              <p:par>
                                <p:cTn id="223" presetID="4" presetClass="entr" presetSubtype="16" fill="hold" grpId="0" nodeType="afterEffect">
                                  <p:stCondLst>
                                    <p:cond delay="0"/>
                                  </p:stCondLst>
                                  <p:childTnLst>
                                    <p:set>
                                      <p:cBhvr>
                                        <p:cTn id="224" dur="1" fill="hold">
                                          <p:stCondLst>
                                            <p:cond delay="0"/>
                                          </p:stCondLst>
                                        </p:cTn>
                                        <p:tgtEl>
                                          <p:spTgt spid="112"/>
                                        </p:tgtEl>
                                        <p:attrNameLst>
                                          <p:attrName>style.visibility</p:attrName>
                                        </p:attrNameLst>
                                      </p:cBhvr>
                                      <p:to>
                                        <p:strVal val="visible"/>
                                      </p:to>
                                    </p:set>
                                    <p:animEffect transition="in" filter="box(in)">
                                      <p:cBhvr>
                                        <p:cTn id="225" dur="500"/>
                                        <p:tgtEl>
                                          <p:spTgt spid="112"/>
                                        </p:tgtEl>
                                      </p:cBhvr>
                                    </p:animEffect>
                                  </p:childTnLst>
                                  <p:subTnLst>
                                    <p:audio>
                                      <p:cMediaNode>
                                        <p:cTn display="0" masterRel="sameClick">
                                          <p:stCondLst>
                                            <p:cond evt="begin" delay="0">
                                              <p:tn val="223"/>
                                            </p:cond>
                                          </p:stCondLst>
                                          <p:endCondLst>
                                            <p:cond evt="onStopAudio" delay="0">
                                              <p:tgtEl>
                                                <p:sldTgt/>
                                              </p:tgtEl>
                                            </p:cond>
                                          </p:endCondLst>
                                        </p:cTn>
                                        <p:tgtEl>
                                          <p:sndTgt r:embed="rId2" name="camera.wav"/>
                                        </p:tgtEl>
                                      </p:cMediaNode>
                                    </p:audio>
                                  </p:subTnLst>
                                </p:cTn>
                              </p:par>
                            </p:childTnLst>
                          </p:cTn>
                        </p:par>
                        <p:par>
                          <p:cTn id="226" fill="hold">
                            <p:stCondLst>
                              <p:cond delay="5000"/>
                            </p:stCondLst>
                            <p:childTnLst>
                              <p:par>
                                <p:cTn id="227" presetID="4" presetClass="entr" presetSubtype="16" fill="hold" grpId="0" nodeType="afterEffect">
                                  <p:stCondLst>
                                    <p:cond delay="0"/>
                                  </p:stCondLst>
                                  <p:childTnLst>
                                    <p:set>
                                      <p:cBhvr>
                                        <p:cTn id="228" dur="1" fill="hold">
                                          <p:stCondLst>
                                            <p:cond delay="0"/>
                                          </p:stCondLst>
                                        </p:cTn>
                                        <p:tgtEl>
                                          <p:spTgt spid="113"/>
                                        </p:tgtEl>
                                        <p:attrNameLst>
                                          <p:attrName>style.visibility</p:attrName>
                                        </p:attrNameLst>
                                      </p:cBhvr>
                                      <p:to>
                                        <p:strVal val="visible"/>
                                      </p:to>
                                    </p:set>
                                    <p:animEffect transition="in" filter="box(in)">
                                      <p:cBhvr>
                                        <p:cTn id="229" dur="500"/>
                                        <p:tgtEl>
                                          <p:spTgt spid="113"/>
                                        </p:tgtEl>
                                      </p:cBhvr>
                                    </p:animEffect>
                                  </p:childTnLst>
                                  <p:subTnLst>
                                    <p:audio>
                                      <p:cMediaNode>
                                        <p:cTn display="0" masterRel="sameClick">
                                          <p:stCondLst>
                                            <p:cond evt="begin" delay="0">
                                              <p:tn val="227"/>
                                            </p:cond>
                                          </p:stCondLst>
                                          <p:endCondLst>
                                            <p:cond evt="onStopAudio" delay="0">
                                              <p:tgtEl>
                                                <p:sldTgt/>
                                              </p:tgtEl>
                                            </p:cond>
                                          </p:endCondLst>
                                        </p:cTn>
                                        <p:tgtEl>
                                          <p:sndTgt r:embed="rId2" name="camera.wav"/>
                                        </p:tgtEl>
                                      </p:cMediaNode>
                                    </p:audio>
                                  </p:subTnLst>
                                </p:cTn>
                              </p:par>
                            </p:childTnLst>
                          </p:cTn>
                        </p:par>
                        <p:par>
                          <p:cTn id="230" fill="hold">
                            <p:stCondLst>
                              <p:cond delay="5500"/>
                            </p:stCondLst>
                            <p:childTnLst>
                              <p:par>
                                <p:cTn id="231" presetID="4" presetClass="entr" presetSubtype="16" fill="hold" grpId="0" nodeType="afterEffect">
                                  <p:stCondLst>
                                    <p:cond delay="0"/>
                                  </p:stCondLst>
                                  <p:childTnLst>
                                    <p:set>
                                      <p:cBhvr>
                                        <p:cTn id="232" dur="1" fill="hold">
                                          <p:stCondLst>
                                            <p:cond delay="0"/>
                                          </p:stCondLst>
                                        </p:cTn>
                                        <p:tgtEl>
                                          <p:spTgt spid="114"/>
                                        </p:tgtEl>
                                        <p:attrNameLst>
                                          <p:attrName>style.visibility</p:attrName>
                                        </p:attrNameLst>
                                      </p:cBhvr>
                                      <p:to>
                                        <p:strVal val="visible"/>
                                      </p:to>
                                    </p:set>
                                    <p:animEffect transition="in" filter="box(in)">
                                      <p:cBhvr>
                                        <p:cTn id="233" dur="500"/>
                                        <p:tgtEl>
                                          <p:spTgt spid="114"/>
                                        </p:tgtEl>
                                      </p:cBhvr>
                                    </p:animEffect>
                                  </p:childTnLst>
                                  <p:subTnLst>
                                    <p:audio>
                                      <p:cMediaNode>
                                        <p:cTn display="0" masterRel="sameClick">
                                          <p:stCondLst>
                                            <p:cond evt="begin" delay="0">
                                              <p:tn val="23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674" grpId="0" animBg="1"/>
      <p:bldP spid="1178675" grpId="0" animBg="1"/>
      <p:bldP spid="1178690" grpId="0" animBg="1"/>
      <p:bldP spid="1178691" grpId="0" animBg="1"/>
      <p:bldP spid="1178692" grpId="0" animBg="1"/>
      <p:bldP spid="1178699" grpId="0" animBg="1"/>
      <p:bldP spid="1178707" grpId="0" animBg="1"/>
      <p:bldP spid="1178712" grpId="0" animBg="1"/>
      <p:bldP spid="1178716" grpId="0" animBg="1"/>
      <p:bldP spid="1178723" grpId="0" animBg="1"/>
      <p:bldP spid="1178724" grpId="0" animBg="1"/>
      <p:bldP spid="1178728" grpId="0" animBg="1"/>
      <p:bldP spid="1178732" grpId="0" animBg="1"/>
      <p:bldP spid="1178739" grpId="0" animBg="1"/>
      <p:bldP spid="1178740" grpId="0" animBg="1"/>
      <p:bldP spid="1178744" grpId="0" animBg="1"/>
      <p:bldP spid="1178748" grpId="0" animBg="1"/>
      <p:bldP spid="1178755" grpId="0" animBg="1"/>
      <p:bldP spid="1178756" grpId="0" animBg="1"/>
      <p:bldP spid="1178708" grpId="0" animBg="1"/>
      <p:bldP spid="1178767" grpId="0" animBg="1"/>
      <p:bldP spid="1178771" grpId="0" animBg="1"/>
      <p:bldP spid="1178772" grpId="0" animBg="1"/>
      <p:bldP spid="1178773" grpId="0" animBg="1"/>
      <p:bldP spid="1178783" grpId="0" animBg="1"/>
      <p:bldP spid="1178787" grpId="0" animBg="1"/>
      <p:bldP spid="1178788" grpId="0" animBg="1"/>
      <p:bldP spid="1178792" grpId="0" animBg="1"/>
      <p:bldP spid="111" grpId="0" animBg="1"/>
      <p:bldP spid="112" grpId="0" animBg="1"/>
      <p:bldP spid="113" grpId="0" animBg="1"/>
      <p:bldP spid="114"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9790" name="Rectangle 142"/>
          <p:cNvSpPr>
            <a:spLocks noChangeArrowheads="1"/>
          </p:cNvSpPr>
          <p:nvPr/>
        </p:nvSpPr>
        <p:spPr bwMode="auto">
          <a:xfrm>
            <a:off x="695325" y="910306"/>
            <a:ext cx="7129462" cy="457200"/>
          </a:xfrm>
          <a:prstGeom prst="rect">
            <a:avLst/>
          </a:prstGeom>
          <a:noFill/>
          <a:ln w="9525" algn="ctr">
            <a:noFill/>
            <a:miter lim="800000"/>
            <a:headEnd/>
            <a:tailEnd/>
          </a:ln>
          <a:effectLst/>
        </p:spPr>
        <p:txBody>
          <a:bodyPr anchor="ctr">
            <a:spAutoFit/>
          </a:bodyPr>
          <a:lstStyle/>
          <a:p>
            <a:pPr>
              <a:lnSpc>
                <a:spcPct val="100000"/>
              </a:lnSpc>
              <a:spcBef>
                <a:spcPct val="0"/>
              </a:spcBef>
              <a:buFont typeface="Wingdings" pitchFamily="2" charset="2"/>
              <a:buChar char="Ø"/>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字符串指针数组与字符串二维数组之间的区别</a:t>
            </a:r>
            <a:r>
              <a:rPr lang="zh-CN" altLang="en-US" sz="2000" b="1" dirty="0">
                <a:solidFill>
                  <a:srgbClr val="C00000"/>
                </a:solidFill>
                <a:latin typeface="+mn-lt"/>
                <a:ea typeface="楷体" pitchFamily="49" charset="-122"/>
              </a:rPr>
              <a:t> </a:t>
            </a:r>
          </a:p>
        </p:txBody>
      </p:sp>
      <p:sp>
        <p:nvSpPr>
          <p:cNvPr id="1179791" name="Rectangle 143" descr="信纸"/>
          <p:cNvSpPr>
            <a:spLocks noChangeArrowheads="1"/>
          </p:cNvSpPr>
          <p:nvPr/>
        </p:nvSpPr>
        <p:spPr bwMode="auto">
          <a:xfrm>
            <a:off x="1766962" y="1485465"/>
            <a:ext cx="9073008" cy="1938992"/>
          </a:xfrm>
          <a:prstGeom prst="rect">
            <a:avLst/>
          </a:prstGeom>
          <a:solidFill>
            <a:schemeClr val="bg1"/>
          </a:solidFill>
          <a:ln w="57150" algn="ctr">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dirty="0"/>
              <a:t> char </a:t>
            </a:r>
            <a:r>
              <a:rPr lang="en-US" altLang="zh-CN" dirty="0" err="1"/>
              <a:t>str</a:t>
            </a:r>
            <a:r>
              <a:rPr lang="en-US" altLang="zh-CN" dirty="0"/>
              <a:t>[3][10] = {"Wuhan", "Beijing", "Shanghai"};</a:t>
            </a:r>
          </a:p>
          <a:p>
            <a:r>
              <a:rPr lang="en-US" altLang="zh-CN" dirty="0"/>
              <a:t> char *</a:t>
            </a:r>
            <a:r>
              <a:rPr lang="en-US" altLang="zh-CN" dirty="0" err="1"/>
              <a:t>pstr</a:t>
            </a:r>
            <a:r>
              <a:rPr lang="en-US" altLang="zh-CN" dirty="0"/>
              <a:t>[3];</a:t>
            </a:r>
          </a:p>
          <a:p>
            <a:r>
              <a:rPr lang="en-US" altLang="zh-CN" dirty="0"/>
              <a:t> </a:t>
            </a:r>
            <a:r>
              <a:rPr lang="en-US" altLang="zh-CN" dirty="0" err="1"/>
              <a:t>pstr</a:t>
            </a:r>
            <a:r>
              <a:rPr lang="en-US" altLang="zh-CN" dirty="0"/>
              <a:t>[0] = </a:t>
            </a:r>
            <a:r>
              <a:rPr lang="en-US" altLang="zh-CN" dirty="0" err="1"/>
              <a:t>str</a:t>
            </a:r>
            <a:r>
              <a:rPr lang="en-US" altLang="zh-CN" dirty="0"/>
              <a:t>[0];</a:t>
            </a:r>
          </a:p>
          <a:p>
            <a:r>
              <a:rPr lang="en-US" altLang="zh-CN" dirty="0"/>
              <a:t> </a:t>
            </a:r>
            <a:r>
              <a:rPr lang="en-US" altLang="zh-CN" dirty="0" err="1"/>
              <a:t>pstr</a:t>
            </a:r>
            <a:r>
              <a:rPr lang="en-US" altLang="zh-CN" dirty="0"/>
              <a:t>[1] = </a:t>
            </a:r>
            <a:r>
              <a:rPr lang="en-US" altLang="zh-CN" dirty="0" err="1"/>
              <a:t>str</a:t>
            </a:r>
            <a:r>
              <a:rPr lang="en-US" altLang="zh-CN" dirty="0"/>
              <a:t>[1]; </a:t>
            </a:r>
          </a:p>
          <a:p>
            <a:r>
              <a:rPr lang="en-US" altLang="zh-CN" dirty="0"/>
              <a:t> </a:t>
            </a:r>
            <a:r>
              <a:rPr lang="en-US" altLang="zh-CN" dirty="0" err="1"/>
              <a:t>pstr</a:t>
            </a:r>
            <a:r>
              <a:rPr lang="en-US" altLang="zh-CN" dirty="0"/>
              <a:t>[2] = </a:t>
            </a:r>
            <a:r>
              <a:rPr lang="en-US" altLang="zh-CN" dirty="0" err="1"/>
              <a:t>str</a:t>
            </a:r>
            <a:r>
              <a:rPr lang="en-US" altLang="zh-CN" dirty="0"/>
              <a:t>[2];</a:t>
            </a:r>
          </a:p>
        </p:txBody>
      </p:sp>
      <p:graphicFrame>
        <p:nvGraphicFramePr>
          <p:cNvPr id="1179889" name="Group 241"/>
          <p:cNvGraphicFramePr>
            <a:graphicFrameLocks noGrp="1"/>
          </p:cNvGraphicFramePr>
          <p:nvPr>
            <p:ph sz="half" idx="4294967295"/>
            <p:extLst>
              <p:ext uri="{D42A27DB-BD31-4B8C-83A1-F6EECF244321}">
                <p14:modId xmlns:p14="http://schemas.microsoft.com/office/powerpoint/2010/main" val="3282290651"/>
              </p:ext>
            </p:extLst>
          </p:nvPr>
        </p:nvGraphicFramePr>
        <p:xfrm>
          <a:off x="695400" y="4464050"/>
          <a:ext cx="1368425" cy="1412876"/>
        </p:xfrm>
        <a:graphic>
          <a:graphicData uri="http://schemas.openxmlformats.org/drawingml/2006/table">
            <a:tbl>
              <a:tblPr/>
              <a:tblGrid>
                <a:gridCol w="1368425">
                  <a:extLst>
                    <a:ext uri="{9D8B030D-6E8A-4147-A177-3AD203B41FA5}">
                      <a16:colId xmlns:a16="http://schemas.microsoft.com/office/drawing/2014/main" val="20000"/>
                    </a:ext>
                  </a:extLst>
                </a:gridCol>
              </a:tblGrid>
              <a:tr h="4429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C00000"/>
                          </a:solidFill>
                          <a:effectLst/>
                          <a:latin typeface="Times New Roman" pitchFamily="18" charset="0"/>
                          <a:ea typeface="宋体" pitchFamily="2" charset="-122"/>
                        </a:rPr>
                        <a:t>pstr[0]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C00000"/>
                          </a:solidFill>
                          <a:effectLst/>
                          <a:latin typeface="Times New Roman" pitchFamily="18" charset="0"/>
                          <a:ea typeface="宋体" pitchFamily="2" charset="-122"/>
                        </a:rPr>
                        <a:t>pstr[1]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81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err="1">
                          <a:ln>
                            <a:noFill/>
                          </a:ln>
                          <a:solidFill>
                            <a:srgbClr val="C00000"/>
                          </a:solidFill>
                          <a:effectLst/>
                          <a:latin typeface="Times New Roman" pitchFamily="18" charset="0"/>
                          <a:ea typeface="宋体" pitchFamily="2" charset="-122"/>
                        </a:rPr>
                        <a:t>pstr</a:t>
                      </a: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179890" name="Group 242"/>
          <p:cNvGraphicFramePr>
            <a:graphicFrameLocks noGrp="1"/>
          </p:cNvGraphicFramePr>
          <p:nvPr>
            <p:ph sz="half" idx="4294967295"/>
            <p:extLst>
              <p:ext uri="{D42A27DB-BD31-4B8C-83A1-F6EECF244321}">
                <p14:modId xmlns:p14="http://schemas.microsoft.com/office/powerpoint/2010/main" val="2012096487"/>
              </p:ext>
            </p:extLst>
          </p:nvPr>
        </p:nvGraphicFramePr>
        <p:xfrm>
          <a:off x="5755333" y="4537075"/>
          <a:ext cx="5761037" cy="1325563"/>
        </p:xfrm>
        <a:graphic>
          <a:graphicData uri="http://schemas.openxmlformats.org/drawingml/2006/table">
            <a:tbl>
              <a:tblPr/>
              <a:tblGrid>
                <a:gridCol w="576262">
                  <a:extLst>
                    <a:ext uri="{9D8B030D-6E8A-4147-A177-3AD203B41FA5}">
                      <a16:colId xmlns:a16="http://schemas.microsoft.com/office/drawing/2014/main" val="20000"/>
                    </a:ext>
                  </a:extLst>
                </a:gridCol>
                <a:gridCol w="574675">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6263">
                  <a:extLst>
                    <a:ext uri="{9D8B030D-6E8A-4147-A177-3AD203B41FA5}">
                      <a16:colId xmlns:a16="http://schemas.microsoft.com/office/drawing/2014/main" val="20003"/>
                    </a:ext>
                  </a:extLst>
                </a:gridCol>
                <a:gridCol w="576262">
                  <a:extLst>
                    <a:ext uri="{9D8B030D-6E8A-4147-A177-3AD203B41FA5}">
                      <a16:colId xmlns:a16="http://schemas.microsoft.com/office/drawing/2014/main" val="20004"/>
                    </a:ext>
                  </a:extLst>
                </a:gridCol>
                <a:gridCol w="574675">
                  <a:extLst>
                    <a:ext uri="{9D8B030D-6E8A-4147-A177-3AD203B41FA5}">
                      <a16:colId xmlns:a16="http://schemas.microsoft.com/office/drawing/2014/main" val="20005"/>
                    </a:ext>
                  </a:extLst>
                </a:gridCol>
                <a:gridCol w="576263">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gridCol w="574675">
                  <a:extLst>
                    <a:ext uri="{9D8B030D-6E8A-4147-A177-3AD203B41FA5}">
                      <a16:colId xmlns:a16="http://schemas.microsoft.com/office/drawing/2014/main" val="20008"/>
                    </a:ext>
                  </a:extLst>
                </a:gridCol>
                <a:gridCol w="576262">
                  <a:extLst>
                    <a:ext uri="{9D8B030D-6E8A-4147-A177-3AD203B41FA5}">
                      <a16:colId xmlns:a16="http://schemas.microsoft.com/office/drawing/2014/main" val="20009"/>
                    </a:ext>
                  </a:extLst>
                </a:gridCol>
              </a:tblGrid>
              <a:tr h="4127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'W'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'u'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'h'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'n'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00000"/>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AA1B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AA1B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AA1B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AA1B9"/>
                    </a:solid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00000"/>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AA1B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AA1B9"/>
                    </a:solidFill>
                  </a:tcPr>
                </a:tc>
                <a:extLst>
                  <a:ext uri="{0D108BD9-81ED-4DB2-BD59-A6C34878D82A}">
                    <a16:rowId xmlns:a16="http://schemas.microsoft.com/office/drawing/2014/main" val="10001"/>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00000"/>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AA1B9"/>
                    </a:solidFill>
                  </a:tcPr>
                </a:tc>
                <a:extLst>
                  <a:ext uri="{0D108BD9-81ED-4DB2-BD59-A6C34878D82A}">
                    <a16:rowId xmlns:a16="http://schemas.microsoft.com/office/drawing/2014/main" val="10002"/>
                  </a:ext>
                </a:extLst>
              </a:tr>
            </a:tbl>
          </a:graphicData>
        </a:graphic>
      </p:graphicFrame>
      <p:sp>
        <p:nvSpPr>
          <p:cNvPr id="1179879" name="Line 231"/>
          <p:cNvSpPr>
            <a:spLocks noChangeShapeType="1"/>
          </p:cNvSpPr>
          <p:nvPr/>
        </p:nvSpPr>
        <p:spPr bwMode="auto">
          <a:xfrm>
            <a:off x="3503712" y="4691409"/>
            <a:ext cx="935037"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79880" name="Line 232"/>
          <p:cNvSpPr>
            <a:spLocks noChangeShapeType="1"/>
          </p:cNvSpPr>
          <p:nvPr/>
        </p:nvSpPr>
        <p:spPr bwMode="auto">
          <a:xfrm>
            <a:off x="3505298" y="5150196"/>
            <a:ext cx="935038"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79881" name="Line 233"/>
          <p:cNvSpPr>
            <a:spLocks noChangeShapeType="1"/>
          </p:cNvSpPr>
          <p:nvPr/>
        </p:nvSpPr>
        <p:spPr bwMode="auto">
          <a:xfrm>
            <a:off x="3506887" y="5623271"/>
            <a:ext cx="935037"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79882" name="Text Box 234"/>
          <p:cNvSpPr txBox="1">
            <a:spLocks noChangeArrowheads="1"/>
          </p:cNvSpPr>
          <p:nvPr/>
        </p:nvSpPr>
        <p:spPr bwMode="auto">
          <a:xfrm>
            <a:off x="2426866" y="4100859"/>
            <a:ext cx="1008063"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rgbClr val="C00000"/>
                </a:solidFill>
              </a:rPr>
              <a:t>pstr</a:t>
            </a:r>
          </a:p>
        </p:txBody>
      </p:sp>
      <p:sp>
        <p:nvSpPr>
          <p:cNvPr id="1179883" name="Text Box 235"/>
          <p:cNvSpPr txBox="1">
            <a:spLocks noChangeArrowheads="1"/>
          </p:cNvSpPr>
          <p:nvPr/>
        </p:nvSpPr>
        <p:spPr bwMode="auto">
          <a:xfrm>
            <a:off x="4467324" y="4143721"/>
            <a:ext cx="936625"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effectLst>
                  <a:outerShdw blurRad="38100" dist="38100" dir="2700000" algn="tl">
                    <a:srgbClr val="FFFFFF"/>
                  </a:outerShdw>
                </a:effectLst>
              </a:rPr>
              <a:t>str</a:t>
            </a:r>
          </a:p>
        </p:txBody>
      </p:sp>
      <p:sp>
        <p:nvSpPr>
          <p:cNvPr id="1179886" name="AutoShape 238"/>
          <p:cNvSpPr>
            <a:spLocks noChangeArrowheads="1"/>
          </p:cNvSpPr>
          <p:nvPr/>
        </p:nvSpPr>
        <p:spPr bwMode="auto">
          <a:xfrm>
            <a:off x="4511824" y="3313459"/>
            <a:ext cx="2232025" cy="431800"/>
          </a:xfrm>
          <a:prstGeom prst="wedgeRoundRectCallout">
            <a:avLst>
              <a:gd name="adj1" fmla="val 42176"/>
              <a:gd name="adj2" fmla="val 241912"/>
              <a:gd name="adj3" fmla="val 16667"/>
            </a:avLst>
          </a:prstGeom>
          <a:gradFill rotWithShape="1">
            <a:gsLst>
              <a:gs pos="0">
                <a:srgbClr val="CFCFD1"/>
              </a:gs>
              <a:gs pos="100000">
                <a:schemeClr val="bg1"/>
              </a:gs>
            </a:gsLst>
            <a:lin ang="5400000" scaled="1"/>
          </a:gradFill>
          <a:ln w="1905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2000" dirty="0">
                <a:solidFill>
                  <a:srgbClr val="C00000"/>
                </a:solidFill>
                <a:latin typeface="+mn-lt"/>
                <a:ea typeface="隶书" pitchFamily="49" charset="-122"/>
              </a:rPr>
              <a:t>字符串结束标志</a:t>
            </a:r>
          </a:p>
        </p:txBody>
      </p:sp>
      <p:sp>
        <p:nvSpPr>
          <p:cNvPr id="1179887" name="AutoShape 239"/>
          <p:cNvSpPr>
            <a:spLocks noChangeArrowheads="1"/>
          </p:cNvSpPr>
          <p:nvPr/>
        </p:nvSpPr>
        <p:spPr bwMode="auto">
          <a:xfrm>
            <a:off x="7104210" y="3313459"/>
            <a:ext cx="1944688" cy="431800"/>
          </a:xfrm>
          <a:prstGeom prst="wedgeRoundRectCallout">
            <a:avLst>
              <a:gd name="adj1" fmla="val -11551"/>
              <a:gd name="adj2" fmla="val 248162"/>
              <a:gd name="adj3" fmla="val 16667"/>
            </a:avLst>
          </a:prstGeom>
          <a:gradFill rotWithShape="1">
            <a:gsLst>
              <a:gs pos="0">
                <a:srgbClr val="CFCFD1"/>
              </a:gs>
              <a:gs pos="100000">
                <a:schemeClr val="bg1"/>
              </a:gs>
            </a:gsLst>
            <a:lin ang="5400000" scaled="1"/>
          </a:gradFill>
          <a:ln w="1905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2000">
                <a:solidFill>
                  <a:srgbClr val="C00000"/>
                </a:solidFill>
                <a:latin typeface="+mn-lt"/>
                <a:ea typeface="隶书" pitchFamily="49" charset="-122"/>
              </a:rPr>
              <a:t>多余空位补</a:t>
            </a:r>
            <a:r>
              <a:rPr lang="en-US" altLang="zh-CN" sz="2000">
                <a:solidFill>
                  <a:srgbClr val="C00000"/>
                </a:solidFill>
                <a:latin typeface="+mn-lt"/>
                <a:ea typeface="隶书" pitchFamily="49" charset="-122"/>
              </a:rPr>
              <a:t>0</a:t>
            </a:r>
          </a:p>
        </p:txBody>
      </p:sp>
      <p:sp>
        <p:nvSpPr>
          <p:cNvPr id="16" name="Rectangle 4">
            <a:extLst>
              <a:ext uri="{FF2B5EF4-FFF2-40B4-BE49-F238E27FC236}">
                <a16:creationId xmlns:a16="http://schemas.microsoft.com/office/drawing/2014/main" id="{D7AB1197-2A3F-4265-80E5-CBCCDB9D9C8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指针与字符串</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79791">
                                            <p:txEl>
                                              <p:pRg st="0" end="0"/>
                                            </p:txEl>
                                          </p:spTgt>
                                        </p:tgtEl>
                                        <p:attrNameLst>
                                          <p:attrName>style.visibility</p:attrName>
                                        </p:attrNameLst>
                                      </p:cBhvr>
                                      <p:to>
                                        <p:strVal val="visible"/>
                                      </p:to>
                                    </p:set>
                                    <p:anim calcmode="lin" valueType="num">
                                      <p:cBhvr additive="base">
                                        <p:cTn id="7" dur="500" fill="hold"/>
                                        <p:tgtEl>
                                          <p:spTgt spid="11797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79791">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9" fill="hold">
                            <p:stCondLst>
                              <p:cond delay="500"/>
                            </p:stCondLst>
                            <p:childTnLst>
                              <p:par>
                                <p:cTn id="10" presetID="4" presetClass="entr" presetSubtype="32" fill="hold" nodeType="afterEffect">
                                  <p:stCondLst>
                                    <p:cond delay="0"/>
                                  </p:stCondLst>
                                  <p:childTnLst>
                                    <p:set>
                                      <p:cBhvr>
                                        <p:cTn id="11" dur="1" fill="hold">
                                          <p:stCondLst>
                                            <p:cond delay="0"/>
                                          </p:stCondLst>
                                        </p:cTn>
                                        <p:tgtEl>
                                          <p:spTgt spid="1179890"/>
                                        </p:tgtEl>
                                        <p:attrNameLst>
                                          <p:attrName>style.visibility</p:attrName>
                                        </p:attrNameLst>
                                      </p:cBhvr>
                                      <p:to>
                                        <p:strVal val="visible"/>
                                      </p:to>
                                    </p:set>
                                    <p:animEffect transition="in" filter="box(out)">
                                      <p:cBhvr>
                                        <p:cTn id="12" dur="500"/>
                                        <p:tgtEl>
                                          <p:spTgt spid="117989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par>
                          <p:cTn id="13" fill="hold">
                            <p:stCondLst>
                              <p:cond delay="1000"/>
                            </p:stCondLst>
                            <p:childTnLst>
                              <p:par>
                                <p:cTn id="14" presetID="4" presetClass="entr" presetSubtype="16" fill="hold" grpId="0" nodeType="afterEffect">
                                  <p:stCondLst>
                                    <p:cond delay="0"/>
                                  </p:stCondLst>
                                  <p:childTnLst>
                                    <p:set>
                                      <p:cBhvr>
                                        <p:cTn id="15" dur="1" fill="hold">
                                          <p:stCondLst>
                                            <p:cond delay="0"/>
                                          </p:stCondLst>
                                        </p:cTn>
                                        <p:tgtEl>
                                          <p:spTgt spid="1179883"/>
                                        </p:tgtEl>
                                        <p:attrNameLst>
                                          <p:attrName>style.visibility</p:attrName>
                                        </p:attrNameLst>
                                      </p:cBhvr>
                                      <p:to>
                                        <p:strVal val="visible"/>
                                      </p:to>
                                    </p:set>
                                    <p:animEffect transition="in" filter="box(in)">
                                      <p:cBhvr>
                                        <p:cTn id="16" dur="500"/>
                                        <p:tgtEl>
                                          <p:spTgt spid="1179883"/>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par>
                          <p:cTn id="17" fill="hold">
                            <p:stCondLst>
                              <p:cond delay="1500"/>
                            </p:stCondLst>
                            <p:childTnLst>
                              <p:par>
                                <p:cTn id="18" presetID="18" presetClass="entr" presetSubtype="12" fill="hold" grpId="0" nodeType="afterEffect">
                                  <p:stCondLst>
                                    <p:cond delay="0"/>
                                  </p:stCondLst>
                                  <p:childTnLst>
                                    <p:set>
                                      <p:cBhvr>
                                        <p:cTn id="19" dur="1" fill="hold">
                                          <p:stCondLst>
                                            <p:cond delay="0"/>
                                          </p:stCondLst>
                                        </p:cTn>
                                        <p:tgtEl>
                                          <p:spTgt spid="1179886"/>
                                        </p:tgtEl>
                                        <p:attrNameLst>
                                          <p:attrName>style.visibility</p:attrName>
                                        </p:attrNameLst>
                                      </p:cBhvr>
                                      <p:to>
                                        <p:strVal val="visible"/>
                                      </p:to>
                                    </p:set>
                                    <p:animEffect transition="in" filter="strips(downLeft)">
                                      <p:cBhvr>
                                        <p:cTn id="20" dur="500"/>
                                        <p:tgtEl>
                                          <p:spTgt spid="1179886"/>
                                        </p:tgtEl>
                                      </p:cBhvr>
                                    </p:animEffect>
                                  </p:childTnLst>
                                  <p:subTnLst>
                                    <p:audio>
                                      <p:cMediaNode>
                                        <p:cTn display="0" masterRel="sameClick">
                                          <p:stCondLst>
                                            <p:cond evt="begin" delay="0">
                                              <p:tn val="18"/>
                                            </p:cond>
                                          </p:stCondLst>
                                          <p:endCondLst>
                                            <p:cond evt="onStopAudio" delay="0">
                                              <p:tgtEl>
                                                <p:sldTgt/>
                                              </p:tgtEl>
                                            </p:cond>
                                          </p:endCondLst>
                                        </p:cTn>
                                        <p:tgtEl>
                                          <p:sndTgt r:embed="rId3" name="laser.wav"/>
                                        </p:tgtEl>
                                      </p:cMediaNode>
                                    </p:audio>
                                  </p:subTnLst>
                                </p:cTn>
                              </p:par>
                            </p:childTnLst>
                          </p:cTn>
                        </p:par>
                        <p:par>
                          <p:cTn id="21" fill="hold">
                            <p:stCondLst>
                              <p:cond delay="2000"/>
                            </p:stCondLst>
                            <p:childTnLst>
                              <p:par>
                                <p:cTn id="22" presetID="18" presetClass="entr" presetSubtype="12" fill="hold" grpId="0" nodeType="afterEffect">
                                  <p:stCondLst>
                                    <p:cond delay="0"/>
                                  </p:stCondLst>
                                  <p:childTnLst>
                                    <p:set>
                                      <p:cBhvr>
                                        <p:cTn id="23" dur="1" fill="hold">
                                          <p:stCondLst>
                                            <p:cond delay="0"/>
                                          </p:stCondLst>
                                        </p:cTn>
                                        <p:tgtEl>
                                          <p:spTgt spid="1179887"/>
                                        </p:tgtEl>
                                        <p:attrNameLst>
                                          <p:attrName>style.visibility</p:attrName>
                                        </p:attrNameLst>
                                      </p:cBhvr>
                                      <p:to>
                                        <p:strVal val="visible"/>
                                      </p:to>
                                    </p:set>
                                    <p:animEffect transition="in" filter="strips(downLeft)">
                                      <p:cBhvr>
                                        <p:cTn id="24" dur="500"/>
                                        <p:tgtEl>
                                          <p:spTgt spid="1179887"/>
                                        </p:tgtEl>
                                      </p:cBhvr>
                                    </p:animEffect>
                                  </p:childTnLst>
                                  <p:subTnLst>
                                    <p:audio>
                                      <p:cMediaNode>
                                        <p:cTn display="0" masterRel="sameClick">
                                          <p:stCondLst>
                                            <p:cond evt="begin" delay="0">
                                              <p:tn val="22"/>
                                            </p:cond>
                                          </p:stCondLst>
                                          <p:endCondLst>
                                            <p:cond evt="onStopAudio" delay="0">
                                              <p:tgtEl>
                                                <p:sldTgt/>
                                              </p:tgtEl>
                                            </p:cond>
                                          </p:endCondLst>
                                        </p:cTn>
                                        <p:tgtEl>
                                          <p:sndTgt r:embed="rId3" name="laser.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179791">
                                            <p:txEl>
                                              <p:pRg st="1" end="1"/>
                                            </p:txEl>
                                          </p:spTgt>
                                        </p:tgtEl>
                                        <p:attrNameLst>
                                          <p:attrName>style.visibility</p:attrName>
                                        </p:attrNameLst>
                                      </p:cBhvr>
                                      <p:to>
                                        <p:strVal val="visible"/>
                                      </p:to>
                                    </p:set>
                                    <p:anim calcmode="lin" valueType="num">
                                      <p:cBhvr additive="base">
                                        <p:cTn id="29" dur="500" fill="hold"/>
                                        <p:tgtEl>
                                          <p:spTgt spid="1179791">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7979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par>
                          <p:cTn id="31" fill="hold">
                            <p:stCondLst>
                              <p:cond delay="500"/>
                            </p:stCondLst>
                            <p:childTnLst>
                              <p:par>
                                <p:cTn id="32" presetID="4" presetClass="entr" presetSubtype="32" fill="hold" nodeType="afterEffect">
                                  <p:stCondLst>
                                    <p:cond delay="0"/>
                                  </p:stCondLst>
                                  <p:childTnLst>
                                    <p:set>
                                      <p:cBhvr>
                                        <p:cTn id="33" dur="1" fill="hold">
                                          <p:stCondLst>
                                            <p:cond delay="0"/>
                                          </p:stCondLst>
                                        </p:cTn>
                                        <p:tgtEl>
                                          <p:spTgt spid="1179889"/>
                                        </p:tgtEl>
                                        <p:attrNameLst>
                                          <p:attrName>style.visibility</p:attrName>
                                        </p:attrNameLst>
                                      </p:cBhvr>
                                      <p:to>
                                        <p:strVal val="visible"/>
                                      </p:to>
                                    </p:set>
                                    <p:animEffect transition="in" filter="box(out)">
                                      <p:cBhvr>
                                        <p:cTn id="34" dur="500"/>
                                        <p:tgtEl>
                                          <p:spTgt spid="1179889"/>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par>
                          <p:cTn id="35" fill="hold">
                            <p:stCondLst>
                              <p:cond delay="1000"/>
                            </p:stCondLst>
                            <p:childTnLst>
                              <p:par>
                                <p:cTn id="36" presetID="4" presetClass="entr" presetSubtype="16" fill="hold" grpId="0" nodeType="afterEffect">
                                  <p:stCondLst>
                                    <p:cond delay="0"/>
                                  </p:stCondLst>
                                  <p:childTnLst>
                                    <p:set>
                                      <p:cBhvr>
                                        <p:cTn id="37" dur="1" fill="hold">
                                          <p:stCondLst>
                                            <p:cond delay="0"/>
                                          </p:stCondLst>
                                        </p:cTn>
                                        <p:tgtEl>
                                          <p:spTgt spid="1179882"/>
                                        </p:tgtEl>
                                        <p:attrNameLst>
                                          <p:attrName>style.visibility</p:attrName>
                                        </p:attrNameLst>
                                      </p:cBhvr>
                                      <p:to>
                                        <p:strVal val="visible"/>
                                      </p:to>
                                    </p:set>
                                    <p:animEffect transition="in" filter="box(in)">
                                      <p:cBhvr>
                                        <p:cTn id="38" dur="500"/>
                                        <p:tgtEl>
                                          <p:spTgt spid="1179882"/>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179791">
                                            <p:txEl>
                                              <p:pRg st="2" end="2"/>
                                            </p:txEl>
                                          </p:spTgt>
                                        </p:tgtEl>
                                        <p:attrNameLst>
                                          <p:attrName>style.visibility</p:attrName>
                                        </p:attrNameLst>
                                      </p:cBhvr>
                                      <p:to>
                                        <p:strVal val="visible"/>
                                      </p:to>
                                    </p:set>
                                    <p:anim calcmode="lin" valueType="num">
                                      <p:cBhvr additive="base">
                                        <p:cTn id="43" dur="500" fill="hold"/>
                                        <p:tgtEl>
                                          <p:spTgt spid="1179791">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7979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par>
                          <p:cTn id="45" fill="hold">
                            <p:stCondLst>
                              <p:cond delay="500"/>
                            </p:stCondLst>
                            <p:childTnLst>
                              <p:par>
                                <p:cTn id="46" presetID="18" presetClass="entr" presetSubtype="6" fill="hold" grpId="0" nodeType="afterEffect">
                                  <p:stCondLst>
                                    <p:cond delay="0"/>
                                  </p:stCondLst>
                                  <p:childTnLst>
                                    <p:set>
                                      <p:cBhvr>
                                        <p:cTn id="47" dur="1" fill="hold">
                                          <p:stCondLst>
                                            <p:cond delay="0"/>
                                          </p:stCondLst>
                                        </p:cTn>
                                        <p:tgtEl>
                                          <p:spTgt spid="1179879"/>
                                        </p:tgtEl>
                                        <p:attrNameLst>
                                          <p:attrName>style.visibility</p:attrName>
                                        </p:attrNameLst>
                                      </p:cBhvr>
                                      <p:to>
                                        <p:strVal val="visible"/>
                                      </p:to>
                                    </p:set>
                                    <p:animEffect transition="in" filter="strips(downRight)">
                                      <p:cBhvr>
                                        <p:cTn id="48" dur="500"/>
                                        <p:tgtEl>
                                          <p:spTgt spid="1179879"/>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179791">
                                            <p:txEl>
                                              <p:pRg st="3" end="3"/>
                                            </p:txEl>
                                          </p:spTgt>
                                        </p:tgtEl>
                                        <p:attrNameLst>
                                          <p:attrName>style.visibility</p:attrName>
                                        </p:attrNameLst>
                                      </p:cBhvr>
                                      <p:to>
                                        <p:strVal val="visible"/>
                                      </p:to>
                                    </p:set>
                                    <p:anim calcmode="lin" valueType="num">
                                      <p:cBhvr additive="base">
                                        <p:cTn id="53" dur="500" fill="hold"/>
                                        <p:tgtEl>
                                          <p:spTgt spid="1179791">
                                            <p:txEl>
                                              <p:pRg st="3" end="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179791">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par>
                          <p:cTn id="55" fill="hold">
                            <p:stCondLst>
                              <p:cond delay="500"/>
                            </p:stCondLst>
                            <p:childTnLst>
                              <p:par>
                                <p:cTn id="56" presetID="18" presetClass="entr" presetSubtype="6" fill="hold" grpId="0" nodeType="afterEffect">
                                  <p:stCondLst>
                                    <p:cond delay="0"/>
                                  </p:stCondLst>
                                  <p:childTnLst>
                                    <p:set>
                                      <p:cBhvr>
                                        <p:cTn id="57" dur="1" fill="hold">
                                          <p:stCondLst>
                                            <p:cond delay="0"/>
                                          </p:stCondLst>
                                        </p:cTn>
                                        <p:tgtEl>
                                          <p:spTgt spid="1179880"/>
                                        </p:tgtEl>
                                        <p:attrNameLst>
                                          <p:attrName>style.visibility</p:attrName>
                                        </p:attrNameLst>
                                      </p:cBhvr>
                                      <p:to>
                                        <p:strVal val="visible"/>
                                      </p:to>
                                    </p:set>
                                    <p:animEffect transition="in" filter="strips(downRight)">
                                      <p:cBhvr>
                                        <p:cTn id="58" dur="500"/>
                                        <p:tgtEl>
                                          <p:spTgt spid="1179880"/>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1179791">
                                            <p:txEl>
                                              <p:pRg st="4" end="4"/>
                                            </p:txEl>
                                          </p:spTgt>
                                        </p:tgtEl>
                                        <p:attrNameLst>
                                          <p:attrName>style.visibility</p:attrName>
                                        </p:attrNameLst>
                                      </p:cBhvr>
                                      <p:to>
                                        <p:strVal val="visible"/>
                                      </p:to>
                                    </p:set>
                                    <p:anim calcmode="lin" valueType="num">
                                      <p:cBhvr additive="base">
                                        <p:cTn id="63" dur="500" fill="hold"/>
                                        <p:tgtEl>
                                          <p:spTgt spid="1179791">
                                            <p:txEl>
                                              <p:pRg st="4" end="4"/>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179791">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5" fill="hold">
                            <p:stCondLst>
                              <p:cond delay="500"/>
                            </p:stCondLst>
                            <p:childTnLst>
                              <p:par>
                                <p:cTn id="66" presetID="18" presetClass="entr" presetSubtype="6" fill="hold" grpId="0" nodeType="afterEffect">
                                  <p:stCondLst>
                                    <p:cond delay="0"/>
                                  </p:stCondLst>
                                  <p:childTnLst>
                                    <p:set>
                                      <p:cBhvr>
                                        <p:cTn id="67" dur="1" fill="hold">
                                          <p:stCondLst>
                                            <p:cond delay="0"/>
                                          </p:stCondLst>
                                        </p:cTn>
                                        <p:tgtEl>
                                          <p:spTgt spid="1179881"/>
                                        </p:tgtEl>
                                        <p:attrNameLst>
                                          <p:attrName>style.visibility</p:attrName>
                                        </p:attrNameLst>
                                      </p:cBhvr>
                                      <p:to>
                                        <p:strVal val="visible"/>
                                      </p:to>
                                    </p:set>
                                    <p:animEffect transition="in" filter="strips(downRight)">
                                      <p:cBhvr>
                                        <p:cTn id="68" dur="500"/>
                                        <p:tgtEl>
                                          <p:spTgt spid="1179881"/>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9879" grpId="0" animBg="1"/>
      <p:bldP spid="1179880" grpId="0" animBg="1"/>
      <p:bldP spid="1179881" grpId="0" animBg="1"/>
      <p:bldP spid="1179882" grpId="0"/>
      <p:bldP spid="1179883" grpId="0"/>
      <p:bldP spid="1179886" grpId="0" animBg="1"/>
      <p:bldP spid="1179887"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1701" name="Rectangle 5"/>
          <p:cNvSpPr>
            <a:spLocks noChangeArrowheads="1"/>
          </p:cNvSpPr>
          <p:nvPr/>
        </p:nvSpPr>
        <p:spPr bwMode="auto">
          <a:xfrm>
            <a:off x="695400" y="908720"/>
            <a:ext cx="7345362" cy="457200"/>
          </a:xfrm>
          <a:prstGeom prst="rect">
            <a:avLst/>
          </a:prstGeom>
          <a:noFill/>
          <a:ln w="9525" algn="ctr">
            <a:noFill/>
            <a:miter lim="800000"/>
            <a:headEnd/>
            <a:tailEnd/>
          </a:ln>
          <a:effectLst/>
        </p:spPr>
        <p:txBody>
          <a:bodyPr anchor="ctr">
            <a:spAutoFit/>
          </a:bodyPr>
          <a:lstStyle/>
          <a:p>
            <a:pPr>
              <a:lnSpc>
                <a:spcPct val="100000"/>
              </a:lnSpc>
              <a:spcBef>
                <a:spcPct val="0"/>
              </a:spcBef>
              <a:buFont typeface="Wingdings" pitchFamily="2" charset="2"/>
              <a:buChar char="Ø"/>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定义字符指针数组时直接用字符串对其赋初始值</a:t>
            </a:r>
            <a:r>
              <a:rPr lang="zh-CN" altLang="en-US" sz="2000" b="1" dirty="0">
                <a:solidFill>
                  <a:srgbClr val="C00000"/>
                </a:solidFill>
                <a:latin typeface="+mn-lt"/>
                <a:ea typeface="楷体" pitchFamily="49" charset="-122"/>
              </a:rPr>
              <a:t> </a:t>
            </a:r>
          </a:p>
        </p:txBody>
      </p:sp>
      <p:sp>
        <p:nvSpPr>
          <p:cNvPr id="1181702" name="Rectangle 6" descr="信纸"/>
          <p:cNvSpPr>
            <a:spLocks noChangeArrowheads="1"/>
          </p:cNvSpPr>
          <p:nvPr/>
        </p:nvSpPr>
        <p:spPr bwMode="auto">
          <a:xfrm>
            <a:off x="2279576" y="1901850"/>
            <a:ext cx="8469560" cy="461665"/>
          </a:xfrm>
          <a:prstGeom prst="rect">
            <a:avLst/>
          </a:prstGeom>
          <a:solidFill>
            <a:schemeClr val="bg1"/>
          </a:solidFill>
          <a:ln w="5715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dirty="0"/>
              <a:t>char *</a:t>
            </a:r>
            <a:r>
              <a:rPr lang="en-US" altLang="zh-CN" dirty="0" err="1"/>
              <a:t>pstr</a:t>
            </a:r>
            <a:r>
              <a:rPr lang="en-US" altLang="zh-CN" dirty="0"/>
              <a:t>[3] = {"Wuhan", "Beijing", "Shanghai"};</a:t>
            </a:r>
          </a:p>
        </p:txBody>
      </p:sp>
      <p:graphicFrame>
        <p:nvGraphicFramePr>
          <p:cNvPr id="1181703" name="Group 7"/>
          <p:cNvGraphicFramePr>
            <a:graphicFrameLocks noGrp="1"/>
          </p:cNvGraphicFramePr>
          <p:nvPr>
            <p:ph sz="half" idx="4294967295"/>
            <p:extLst>
              <p:ext uri="{D42A27DB-BD31-4B8C-83A1-F6EECF244321}">
                <p14:modId xmlns:p14="http://schemas.microsoft.com/office/powerpoint/2010/main" val="3292155929"/>
              </p:ext>
            </p:extLst>
          </p:nvPr>
        </p:nvGraphicFramePr>
        <p:xfrm>
          <a:off x="695400" y="3888332"/>
          <a:ext cx="1368425" cy="1412876"/>
        </p:xfrm>
        <a:graphic>
          <a:graphicData uri="http://schemas.openxmlformats.org/drawingml/2006/table">
            <a:tbl>
              <a:tblPr/>
              <a:tblGrid>
                <a:gridCol w="1368425">
                  <a:extLst>
                    <a:ext uri="{9D8B030D-6E8A-4147-A177-3AD203B41FA5}">
                      <a16:colId xmlns:a16="http://schemas.microsoft.com/office/drawing/2014/main" val="20000"/>
                    </a:ext>
                  </a:extLst>
                </a:gridCol>
              </a:tblGrid>
              <a:tr h="4429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C00000"/>
                          </a:solidFill>
                          <a:effectLst/>
                          <a:latin typeface="Times New Roman" pitchFamily="18" charset="0"/>
                          <a:ea typeface="宋体" pitchFamily="2" charset="-122"/>
                        </a:rPr>
                        <a:t>pstr[0]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C00000"/>
                          </a:solidFill>
                          <a:effectLst/>
                          <a:latin typeface="Times New Roman" pitchFamily="18" charset="0"/>
                          <a:ea typeface="宋体" pitchFamily="2" charset="-122"/>
                        </a:rPr>
                        <a:t>pstr[1]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81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err="1">
                          <a:ln>
                            <a:noFill/>
                          </a:ln>
                          <a:solidFill>
                            <a:srgbClr val="C00000"/>
                          </a:solidFill>
                          <a:effectLst/>
                          <a:latin typeface="Times New Roman" pitchFamily="18" charset="0"/>
                          <a:ea typeface="宋体" pitchFamily="2" charset="-122"/>
                        </a:rPr>
                        <a:t>pstr</a:t>
                      </a: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181838" name="Group 142"/>
          <p:cNvGraphicFramePr>
            <a:graphicFrameLocks noGrp="1"/>
          </p:cNvGraphicFramePr>
          <p:nvPr>
            <p:ph sz="half" idx="4294967295"/>
            <p:extLst>
              <p:ext uri="{D42A27DB-BD31-4B8C-83A1-F6EECF244321}">
                <p14:modId xmlns:p14="http://schemas.microsoft.com/office/powerpoint/2010/main" val="3947155868"/>
              </p:ext>
            </p:extLst>
          </p:nvPr>
        </p:nvGraphicFramePr>
        <p:xfrm>
          <a:off x="6311627" y="3961357"/>
          <a:ext cx="5761037" cy="1325563"/>
        </p:xfrm>
        <a:graphic>
          <a:graphicData uri="http://schemas.openxmlformats.org/drawingml/2006/table">
            <a:tbl>
              <a:tblPr/>
              <a:tblGrid>
                <a:gridCol w="576262">
                  <a:extLst>
                    <a:ext uri="{9D8B030D-6E8A-4147-A177-3AD203B41FA5}">
                      <a16:colId xmlns:a16="http://schemas.microsoft.com/office/drawing/2014/main" val="20000"/>
                    </a:ext>
                  </a:extLst>
                </a:gridCol>
                <a:gridCol w="574675">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6263">
                  <a:extLst>
                    <a:ext uri="{9D8B030D-6E8A-4147-A177-3AD203B41FA5}">
                      <a16:colId xmlns:a16="http://schemas.microsoft.com/office/drawing/2014/main" val="20003"/>
                    </a:ext>
                  </a:extLst>
                </a:gridCol>
                <a:gridCol w="576262">
                  <a:extLst>
                    <a:ext uri="{9D8B030D-6E8A-4147-A177-3AD203B41FA5}">
                      <a16:colId xmlns:a16="http://schemas.microsoft.com/office/drawing/2014/main" val="20004"/>
                    </a:ext>
                  </a:extLst>
                </a:gridCol>
                <a:gridCol w="574675">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620713">
                  <a:extLst>
                    <a:ext uri="{9D8B030D-6E8A-4147-A177-3AD203B41FA5}">
                      <a16:colId xmlns:a16="http://schemas.microsoft.com/office/drawing/2014/main" val="20007"/>
                    </a:ext>
                  </a:extLst>
                </a:gridCol>
                <a:gridCol w="574675">
                  <a:extLst>
                    <a:ext uri="{9D8B030D-6E8A-4147-A177-3AD203B41FA5}">
                      <a16:colId xmlns:a16="http://schemas.microsoft.com/office/drawing/2014/main" val="20008"/>
                    </a:ext>
                  </a:extLst>
                </a:gridCol>
                <a:gridCol w="576262">
                  <a:extLst>
                    <a:ext uri="{9D8B030D-6E8A-4147-A177-3AD203B41FA5}">
                      <a16:colId xmlns:a16="http://schemas.microsoft.com/office/drawing/2014/main" val="20009"/>
                    </a:ext>
                  </a:extLst>
                </a:gridCol>
              </a:tblGrid>
              <a:tr h="4127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'W'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'u'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'h'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'n'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00000"/>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00000"/>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1"/>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00000"/>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cap="flat">
                      <a:noFill/>
                    </a:lnR>
                    <a:lnT>
                      <a:noFill/>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81759" name="Line 63"/>
          <p:cNvSpPr>
            <a:spLocks noChangeShapeType="1"/>
          </p:cNvSpPr>
          <p:nvPr/>
        </p:nvSpPr>
        <p:spPr bwMode="auto">
          <a:xfrm>
            <a:off x="4037583" y="4115345"/>
            <a:ext cx="935037"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81760" name="Line 64"/>
          <p:cNvSpPr>
            <a:spLocks noChangeShapeType="1"/>
          </p:cNvSpPr>
          <p:nvPr/>
        </p:nvSpPr>
        <p:spPr bwMode="auto">
          <a:xfrm>
            <a:off x="4039169" y="4574132"/>
            <a:ext cx="935038"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81761" name="Line 65"/>
          <p:cNvSpPr>
            <a:spLocks noChangeShapeType="1"/>
          </p:cNvSpPr>
          <p:nvPr/>
        </p:nvSpPr>
        <p:spPr bwMode="auto">
          <a:xfrm>
            <a:off x="4040758" y="5047207"/>
            <a:ext cx="935037"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81762" name="Text Box 66"/>
          <p:cNvSpPr txBox="1">
            <a:spLocks noChangeArrowheads="1"/>
          </p:cNvSpPr>
          <p:nvPr/>
        </p:nvSpPr>
        <p:spPr bwMode="auto">
          <a:xfrm>
            <a:off x="2667570" y="3524795"/>
            <a:ext cx="1008063"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err="1">
                <a:solidFill>
                  <a:srgbClr val="C00000"/>
                </a:solidFill>
              </a:rPr>
              <a:t>pstr</a:t>
            </a:r>
            <a:endParaRPr lang="en-US" altLang="zh-CN" sz="2000" b="1" dirty="0">
              <a:solidFill>
                <a:srgbClr val="C00000"/>
              </a:solidFill>
            </a:endParaRPr>
          </a:p>
        </p:txBody>
      </p:sp>
      <p:sp>
        <p:nvSpPr>
          <p:cNvPr id="1181764" name="AutoShape 68"/>
          <p:cNvSpPr>
            <a:spLocks noChangeArrowheads="1"/>
          </p:cNvSpPr>
          <p:nvPr/>
        </p:nvSpPr>
        <p:spPr bwMode="auto">
          <a:xfrm>
            <a:off x="6004222" y="2737395"/>
            <a:ext cx="2232025" cy="431800"/>
          </a:xfrm>
          <a:prstGeom prst="wedgeRoundRectCallout">
            <a:avLst>
              <a:gd name="adj1" fmla="val 42176"/>
              <a:gd name="adj2" fmla="val 241912"/>
              <a:gd name="adj3" fmla="val 16667"/>
            </a:avLst>
          </a:prstGeom>
          <a:gradFill rotWithShape="1">
            <a:gsLst>
              <a:gs pos="0">
                <a:srgbClr val="CFCFD1"/>
              </a:gs>
              <a:gs pos="100000">
                <a:schemeClr val="bg1"/>
              </a:gs>
            </a:gsLst>
            <a:lin ang="5400000" scaled="1"/>
          </a:gradFill>
          <a:ln w="1905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2000">
                <a:solidFill>
                  <a:srgbClr val="C00000"/>
                </a:solidFill>
                <a:latin typeface="+mn-lt"/>
                <a:ea typeface="楷体" pitchFamily="49" charset="-122"/>
              </a:rPr>
              <a:t>字符串结束标志</a:t>
            </a:r>
          </a:p>
        </p:txBody>
      </p:sp>
      <p:sp>
        <p:nvSpPr>
          <p:cNvPr id="14" name="Rectangle 4">
            <a:extLst>
              <a:ext uri="{FF2B5EF4-FFF2-40B4-BE49-F238E27FC236}">
                <a16:creationId xmlns:a16="http://schemas.microsoft.com/office/drawing/2014/main" id="{1486D617-2CB5-4D72-A109-7FE70FA2AF1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指针与字符串</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81701"/>
                                        </p:tgtEl>
                                        <p:attrNameLst>
                                          <p:attrName>style.visibility</p:attrName>
                                        </p:attrNameLst>
                                      </p:cBhvr>
                                      <p:to>
                                        <p:strVal val="visible"/>
                                      </p:to>
                                    </p:set>
                                    <p:animEffect transition="in" filter="box(out)">
                                      <p:cBhvr>
                                        <p:cTn id="7" dur="500"/>
                                        <p:tgtEl>
                                          <p:spTgt spid="118170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81702"/>
                                        </p:tgtEl>
                                        <p:attrNameLst>
                                          <p:attrName>style.visibility</p:attrName>
                                        </p:attrNameLst>
                                      </p:cBhvr>
                                      <p:to>
                                        <p:strVal val="visible"/>
                                      </p:to>
                                    </p:set>
                                    <p:animEffect transition="in" filter="box(out)">
                                      <p:cBhvr>
                                        <p:cTn id="12" dur="500"/>
                                        <p:tgtEl>
                                          <p:spTgt spid="1181702"/>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par>
                          <p:cTn id="13" fill="hold">
                            <p:stCondLst>
                              <p:cond delay="500"/>
                            </p:stCondLst>
                            <p:childTnLst>
                              <p:par>
                                <p:cTn id="14" presetID="4" presetClass="entr" presetSubtype="32" fill="hold" nodeType="afterEffect">
                                  <p:stCondLst>
                                    <p:cond delay="0"/>
                                  </p:stCondLst>
                                  <p:childTnLst>
                                    <p:set>
                                      <p:cBhvr>
                                        <p:cTn id="15" dur="1" fill="hold">
                                          <p:stCondLst>
                                            <p:cond delay="0"/>
                                          </p:stCondLst>
                                        </p:cTn>
                                        <p:tgtEl>
                                          <p:spTgt spid="1181838"/>
                                        </p:tgtEl>
                                        <p:attrNameLst>
                                          <p:attrName>style.visibility</p:attrName>
                                        </p:attrNameLst>
                                      </p:cBhvr>
                                      <p:to>
                                        <p:strVal val="visible"/>
                                      </p:to>
                                    </p:set>
                                    <p:animEffect transition="in" filter="box(out)">
                                      <p:cBhvr>
                                        <p:cTn id="16" dur="500"/>
                                        <p:tgtEl>
                                          <p:spTgt spid="1181838"/>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par>
                          <p:cTn id="17" fill="hold">
                            <p:stCondLst>
                              <p:cond delay="1000"/>
                            </p:stCondLst>
                            <p:childTnLst>
                              <p:par>
                                <p:cTn id="18" presetID="18" presetClass="entr" presetSubtype="12" fill="hold" grpId="0" nodeType="afterEffect">
                                  <p:stCondLst>
                                    <p:cond delay="0"/>
                                  </p:stCondLst>
                                  <p:childTnLst>
                                    <p:set>
                                      <p:cBhvr>
                                        <p:cTn id="19" dur="1" fill="hold">
                                          <p:stCondLst>
                                            <p:cond delay="0"/>
                                          </p:stCondLst>
                                        </p:cTn>
                                        <p:tgtEl>
                                          <p:spTgt spid="1181764"/>
                                        </p:tgtEl>
                                        <p:attrNameLst>
                                          <p:attrName>style.visibility</p:attrName>
                                        </p:attrNameLst>
                                      </p:cBhvr>
                                      <p:to>
                                        <p:strVal val="visible"/>
                                      </p:to>
                                    </p:set>
                                    <p:animEffect transition="in" filter="strips(downLeft)">
                                      <p:cBhvr>
                                        <p:cTn id="20" dur="500"/>
                                        <p:tgtEl>
                                          <p:spTgt spid="1181764"/>
                                        </p:tgtEl>
                                      </p:cBhvr>
                                    </p:animEffect>
                                  </p:childTnLst>
                                  <p:subTnLst>
                                    <p:audio>
                                      <p:cMediaNode>
                                        <p:cTn display="0" masterRel="sameClick">
                                          <p:stCondLst>
                                            <p:cond evt="begin" delay="0">
                                              <p:tn val="18"/>
                                            </p:cond>
                                          </p:stCondLst>
                                          <p:endCondLst>
                                            <p:cond evt="onStopAudio" delay="0">
                                              <p:tgtEl>
                                                <p:sldTgt/>
                                              </p:tgtEl>
                                            </p:cond>
                                          </p:endCondLst>
                                        </p:cTn>
                                        <p:tgtEl>
                                          <p:sndTgt r:embed="rId3" name="laser.wav"/>
                                        </p:tgtEl>
                                      </p:cMediaNode>
                                    </p:audio>
                                  </p:subTnLst>
                                </p:cTn>
                              </p:par>
                            </p:childTnLst>
                          </p:cTn>
                        </p:par>
                        <p:par>
                          <p:cTn id="21" fill="hold">
                            <p:stCondLst>
                              <p:cond delay="1500"/>
                            </p:stCondLst>
                            <p:childTnLst>
                              <p:par>
                                <p:cTn id="22" presetID="4" presetClass="entr" presetSubtype="32" fill="hold" nodeType="afterEffect">
                                  <p:stCondLst>
                                    <p:cond delay="0"/>
                                  </p:stCondLst>
                                  <p:childTnLst>
                                    <p:set>
                                      <p:cBhvr>
                                        <p:cTn id="23" dur="1" fill="hold">
                                          <p:stCondLst>
                                            <p:cond delay="0"/>
                                          </p:stCondLst>
                                        </p:cTn>
                                        <p:tgtEl>
                                          <p:spTgt spid="1181703"/>
                                        </p:tgtEl>
                                        <p:attrNameLst>
                                          <p:attrName>style.visibility</p:attrName>
                                        </p:attrNameLst>
                                      </p:cBhvr>
                                      <p:to>
                                        <p:strVal val="visible"/>
                                      </p:to>
                                    </p:set>
                                    <p:animEffect transition="in" filter="box(out)">
                                      <p:cBhvr>
                                        <p:cTn id="24" dur="500"/>
                                        <p:tgtEl>
                                          <p:spTgt spid="1181703"/>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par>
                          <p:cTn id="25" fill="hold">
                            <p:stCondLst>
                              <p:cond delay="2000"/>
                            </p:stCondLst>
                            <p:childTnLst>
                              <p:par>
                                <p:cTn id="26" presetID="4" presetClass="entr" presetSubtype="16" fill="hold" grpId="0" nodeType="afterEffect">
                                  <p:stCondLst>
                                    <p:cond delay="0"/>
                                  </p:stCondLst>
                                  <p:childTnLst>
                                    <p:set>
                                      <p:cBhvr>
                                        <p:cTn id="27" dur="1" fill="hold">
                                          <p:stCondLst>
                                            <p:cond delay="0"/>
                                          </p:stCondLst>
                                        </p:cTn>
                                        <p:tgtEl>
                                          <p:spTgt spid="1181762"/>
                                        </p:tgtEl>
                                        <p:attrNameLst>
                                          <p:attrName>style.visibility</p:attrName>
                                        </p:attrNameLst>
                                      </p:cBhvr>
                                      <p:to>
                                        <p:strVal val="visible"/>
                                      </p:to>
                                    </p:set>
                                    <p:animEffect transition="in" filter="box(in)">
                                      <p:cBhvr>
                                        <p:cTn id="28" dur="500"/>
                                        <p:tgtEl>
                                          <p:spTgt spid="1181762"/>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2500"/>
                            </p:stCondLst>
                            <p:childTnLst>
                              <p:par>
                                <p:cTn id="30" presetID="18" presetClass="entr" presetSubtype="6" fill="hold" grpId="0" nodeType="afterEffect">
                                  <p:stCondLst>
                                    <p:cond delay="0"/>
                                  </p:stCondLst>
                                  <p:childTnLst>
                                    <p:set>
                                      <p:cBhvr>
                                        <p:cTn id="31" dur="1" fill="hold">
                                          <p:stCondLst>
                                            <p:cond delay="0"/>
                                          </p:stCondLst>
                                        </p:cTn>
                                        <p:tgtEl>
                                          <p:spTgt spid="1181759"/>
                                        </p:tgtEl>
                                        <p:attrNameLst>
                                          <p:attrName>style.visibility</p:attrName>
                                        </p:attrNameLst>
                                      </p:cBhvr>
                                      <p:to>
                                        <p:strVal val="visible"/>
                                      </p:to>
                                    </p:set>
                                    <p:animEffect transition="in" filter="strips(downRight)">
                                      <p:cBhvr>
                                        <p:cTn id="32" dur="500"/>
                                        <p:tgtEl>
                                          <p:spTgt spid="1181759"/>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3000"/>
                            </p:stCondLst>
                            <p:childTnLst>
                              <p:par>
                                <p:cTn id="34" presetID="18" presetClass="entr" presetSubtype="6" fill="hold" grpId="0" nodeType="afterEffect">
                                  <p:stCondLst>
                                    <p:cond delay="0"/>
                                  </p:stCondLst>
                                  <p:childTnLst>
                                    <p:set>
                                      <p:cBhvr>
                                        <p:cTn id="35" dur="1" fill="hold">
                                          <p:stCondLst>
                                            <p:cond delay="0"/>
                                          </p:stCondLst>
                                        </p:cTn>
                                        <p:tgtEl>
                                          <p:spTgt spid="1181760"/>
                                        </p:tgtEl>
                                        <p:attrNameLst>
                                          <p:attrName>style.visibility</p:attrName>
                                        </p:attrNameLst>
                                      </p:cBhvr>
                                      <p:to>
                                        <p:strVal val="visible"/>
                                      </p:to>
                                    </p:set>
                                    <p:animEffect transition="in" filter="strips(downRight)">
                                      <p:cBhvr>
                                        <p:cTn id="36" dur="500"/>
                                        <p:tgtEl>
                                          <p:spTgt spid="1181760"/>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par>
                          <p:cTn id="37" fill="hold">
                            <p:stCondLst>
                              <p:cond delay="3500"/>
                            </p:stCondLst>
                            <p:childTnLst>
                              <p:par>
                                <p:cTn id="38" presetID="18" presetClass="entr" presetSubtype="6" fill="hold" grpId="0" nodeType="afterEffect">
                                  <p:stCondLst>
                                    <p:cond delay="0"/>
                                  </p:stCondLst>
                                  <p:childTnLst>
                                    <p:set>
                                      <p:cBhvr>
                                        <p:cTn id="39" dur="1" fill="hold">
                                          <p:stCondLst>
                                            <p:cond delay="0"/>
                                          </p:stCondLst>
                                        </p:cTn>
                                        <p:tgtEl>
                                          <p:spTgt spid="1181761"/>
                                        </p:tgtEl>
                                        <p:attrNameLst>
                                          <p:attrName>style.visibility</p:attrName>
                                        </p:attrNameLst>
                                      </p:cBhvr>
                                      <p:to>
                                        <p:strVal val="visible"/>
                                      </p:to>
                                    </p:set>
                                    <p:animEffect transition="in" filter="strips(downRight)">
                                      <p:cBhvr>
                                        <p:cTn id="40" dur="500"/>
                                        <p:tgtEl>
                                          <p:spTgt spid="1181761"/>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1701" grpId="0"/>
      <p:bldP spid="1181702" grpId="0" animBg="1"/>
      <p:bldP spid="1181759" grpId="0" animBg="1"/>
      <p:bldP spid="1181760" grpId="0" animBg="1"/>
      <p:bldP spid="1181761" grpId="0" animBg="1"/>
      <p:bldP spid="1181762" grpId="0"/>
      <p:bldP spid="1181764"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Rectangle 4">
            <a:extLst>
              <a:ext uri="{FF2B5EF4-FFF2-40B4-BE49-F238E27FC236}">
                <a16:creationId xmlns:a16="http://schemas.microsoft.com/office/drawing/2014/main" id="{FF6FA50E-F93D-498E-8187-BBA2AC055FE5}"/>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指针与字符串</a:t>
            </a:r>
          </a:p>
        </p:txBody>
      </p:sp>
      <p:sp>
        <p:nvSpPr>
          <p:cNvPr id="1182725" name="Text Box 5"/>
          <p:cNvSpPr txBox="1">
            <a:spLocks noChangeArrowheads="1"/>
          </p:cNvSpPr>
          <p:nvPr/>
        </p:nvSpPr>
        <p:spPr bwMode="auto">
          <a:xfrm>
            <a:off x="815625" y="799526"/>
            <a:ext cx="7705725" cy="461665"/>
          </a:xfrm>
          <a:prstGeom prst="rect">
            <a:avLst/>
          </a:prstGeom>
          <a:noFill/>
          <a:ln w="9525" algn="ctr">
            <a:noFill/>
            <a:miter lim="800000"/>
            <a:headEnd/>
            <a:tailEnd/>
          </a:ln>
          <a:effectLst/>
        </p:spPr>
        <p:txBody>
          <a:bodyPr>
            <a:spAutoFit/>
          </a:bodyPr>
          <a:lstStyle/>
          <a:p>
            <a:pPr marL="342900" indent="-342900">
              <a:spcBef>
                <a:spcPct val="50000"/>
              </a:spcBef>
            </a:pPr>
            <a:r>
              <a:rPr lang="zh-CN" altLang="zh-CN"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zh-CN" b="1" dirty="0">
                <a:solidFill>
                  <a:srgbClr val="C00000"/>
                </a:solidFill>
                <a:latin typeface="楷体" panose="02010609060101010101" pitchFamily="49" charset="-122"/>
                <a:ea typeface="楷体" panose="02010609060101010101" pitchFamily="49" charset="-122"/>
              </a:rPr>
              <a:t>利用字符指针数组对一组城市名进行升序排列</a:t>
            </a:r>
            <a:r>
              <a:rPr lang="zh-CN" altLang="en-US" b="1" dirty="0">
                <a:solidFill>
                  <a:srgbClr val="C00000"/>
                </a:solidFill>
                <a:latin typeface="楷体" panose="02010609060101010101" pitchFamily="49" charset="-122"/>
                <a:ea typeface="楷体" panose="02010609060101010101" pitchFamily="49" charset="-122"/>
              </a:rPr>
              <a:t>。 </a:t>
            </a:r>
          </a:p>
        </p:txBody>
      </p:sp>
      <p:sp>
        <p:nvSpPr>
          <p:cNvPr id="1182731" name="Rectangle 11" descr="信纸"/>
          <p:cNvSpPr>
            <a:spLocks noChangeArrowheads="1"/>
          </p:cNvSpPr>
          <p:nvPr/>
        </p:nvSpPr>
        <p:spPr bwMode="auto">
          <a:xfrm>
            <a:off x="1034613" y="428405"/>
            <a:ext cx="6038676" cy="6309420"/>
          </a:xfrm>
          <a:prstGeom prst="rect">
            <a:avLst/>
          </a:prstGeom>
          <a:gradFill>
            <a:gsLst>
              <a:gs pos="0">
                <a:srgbClr val="CFCFD1"/>
              </a:gs>
              <a:gs pos="100000">
                <a:schemeClr val="bg1"/>
              </a:gs>
            </a:gsLst>
            <a:lin ang="54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r>
              <a:rPr lang="en-US" altLang="zh-CN" sz="2000" dirty="0"/>
              <a:t>#include &lt;</a:t>
            </a:r>
            <a:r>
              <a:rPr lang="en-US" altLang="zh-CN" sz="2000" dirty="0" err="1"/>
              <a:t>stdio.h</a:t>
            </a:r>
            <a:r>
              <a:rPr lang="en-US" altLang="zh-CN" sz="2000" dirty="0"/>
              <a:t>&gt;</a:t>
            </a:r>
          </a:p>
          <a:p>
            <a:pPr marL="342900" indent="-342900"/>
            <a:r>
              <a:rPr lang="en-US" altLang="zh-CN" sz="2000" dirty="0"/>
              <a:t>#include &lt;</a:t>
            </a:r>
            <a:r>
              <a:rPr lang="en-US" altLang="zh-CN" sz="2000" dirty="0" err="1"/>
              <a:t>string.h</a:t>
            </a:r>
            <a:r>
              <a:rPr lang="en-US" altLang="zh-CN" sz="2000" dirty="0"/>
              <a:t>&gt;</a:t>
            </a:r>
          </a:p>
          <a:p>
            <a:pPr marL="342900" indent="-342900"/>
            <a:r>
              <a:rPr lang="en-US" altLang="zh-CN" sz="2000" dirty="0" err="1">
                <a:solidFill>
                  <a:srgbClr val="CC0099"/>
                </a:solidFill>
              </a:rPr>
              <a:t>int</a:t>
            </a:r>
            <a:r>
              <a:rPr lang="en-US" altLang="zh-CN" sz="2000" dirty="0">
                <a:solidFill>
                  <a:srgbClr val="CC0099"/>
                </a:solidFill>
              </a:rPr>
              <a:t> main ( )</a:t>
            </a:r>
          </a:p>
          <a:p>
            <a:pPr marL="342900" indent="-342900"/>
            <a:r>
              <a:rPr lang="en-US" altLang="zh-CN" sz="2000" dirty="0"/>
              <a:t>{   </a:t>
            </a:r>
          </a:p>
          <a:p>
            <a:pPr marL="342900" indent="-342900"/>
            <a:r>
              <a:rPr lang="en-US" altLang="zh-CN" sz="2000" dirty="0"/>
              <a:t>  </a:t>
            </a:r>
            <a:r>
              <a:rPr lang="en-US" altLang="zh-CN" sz="2000" dirty="0" err="1"/>
              <a:t>int</a:t>
            </a:r>
            <a:r>
              <a:rPr lang="en-US" altLang="zh-CN" sz="2000" dirty="0"/>
              <a:t> </a:t>
            </a:r>
            <a:r>
              <a:rPr lang="en-US" altLang="zh-CN" sz="2000" dirty="0" err="1"/>
              <a:t>i</a:t>
            </a:r>
            <a:r>
              <a:rPr lang="en-US" altLang="zh-CN" sz="2000" dirty="0"/>
              <a:t>, j, k;</a:t>
            </a:r>
          </a:p>
          <a:p>
            <a:pPr marL="342900" indent="-342900"/>
            <a:r>
              <a:rPr lang="en-US" altLang="zh-CN" sz="2000" dirty="0"/>
              <a:t>  </a:t>
            </a:r>
            <a:r>
              <a:rPr lang="en-US" altLang="zh-CN" sz="2000" dirty="0">
                <a:solidFill>
                  <a:srgbClr val="C00000"/>
                </a:solidFill>
              </a:rPr>
              <a:t>char *</a:t>
            </a:r>
            <a:r>
              <a:rPr lang="en-US" altLang="zh-CN" sz="2000" dirty="0" err="1">
                <a:solidFill>
                  <a:srgbClr val="C00000"/>
                </a:solidFill>
              </a:rPr>
              <a:t>pcity</a:t>
            </a:r>
            <a:r>
              <a:rPr lang="en-US" altLang="zh-CN" sz="2000" dirty="0">
                <a:solidFill>
                  <a:srgbClr val="C00000"/>
                </a:solidFill>
              </a:rPr>
              <a:t>[ ] </a:t>
            </a:r>
            <a:r>
              <a:rPr lang="en-US" altLang="zh-CN" sz="2000" dirty="0"/>
              <a:t>= {"Wuhan", "</a:t>
            </a:r>
            <a:r>
              <a:rPr lang="en-US" altLang="zh-CN" sz="2000" dirty="0" err="1"/>
              <a:t>Beijing","Shanghai</a:t>
            </a:r>
            <a:r>
              <a:rPr lang="en-US" altLang="zh-CN" sz="2000" dirty="0"/>
              <a:t>",</a:t>
            </a:r>
          </a:p>
          <a:p>
            <a:pPr marL="342900" indent="-342900"/>
            <a:r>
              <a:rPr lang="en-US" altLang="zh-CN" sz="2000" dirty="0"/>
              <a:t>                              "Tianjin", "Guangzhou",""};</a:t>
            </a:r>
          </a:p>
          <a:p>
            <a:pPr marL="342900" indent="-342900"/>
            <a:r>
              <a:rPr lang="en-US" altLang="zh-CN" sz="2000" dirty="0">
                <a:solidFill>
                  <a:schemeClr val="accent1">
                    <a:lumMod val="50000"/>
                  </a:schemeClr>
                </a:solidFill>
              </a:rPr>
              <a:t>  char *</a:t>
            </a:r>
            <a:r>
              <a:rPr lang="en-US" altLang="zh-CN" sz="2000" dirty="0" err="1">
                <a:solidFill>
                  <a:schemeClr val="accent1">
                    <a:lumMod val="50000"/>
                  </a:schemeClr>
                </a:solidFill>
              </a:rPr>
              <a:t>ptemp</a:t>
            </a:r>
            <a:r>
              <a:rPr lang="en-US" altLang="zh-CN" sz="2000" dirty="0">
                <a:solidFill>
                  <a:schemeClr val="accent1">
                    <a:lumMod val="50000"/>
                  </a:schemeClr>
                </a:solidFill>
              </a:rPr>
              <a:t>;</a:t>
            </a:r>
          </a:p>
          <a:p>
            <a:pPr marL="342900" indent="-342900"/>
            <a:r>
              <a:rPr lang="en-US" altLang="zh-CN" sz="2000" dirty="0">
                <a:solidFill>
                  <a:schemeClr val="accent1">
                    <a:lumMod val="50000"/>
                  </a:schemeClr>
                </a:solidFill>
              </a:rPr>
              <a:t>  for (</a:t>
            </a:r>
            <a:r>
              <a:rPr lang="en-US" altLang="zh-CN" sz="2000" dirty="0" err="1">
                <a:solidFill>
                  <a:schemeClr val="accent1">
                    <a:lumMod val="50000"/>
                  </a:schemeClr>
                </a:solidFill>
              </a:rPr>
              <a:t>i</a:t>
            </a:r>
            <a:r>
              <a:rPr lang="en-US" altLang="zh-CN" sz="2000" dirty="0">
                <a:solidFill>
                  <a:schemeClr val="accent1">
                    <a:lumMod val="50000"/>
                  </a:schemeClr>
                </a:solidFill>
              </a:rPr>
              <a:t> = 0; </a:t>
            </a:r>
            <a:r>
              <a:rPr lang="en-US" altLang="zh-CN" sz="2000" dirty="0" err="1">
                <a:solidFill>
                  <a:schemeClr val="accent1">
                    <a:lumMod val="50000"/>
                  </a:schemeClr>
                </a:solidFill>
              </a:rPr>
              <a:t>strcmp</a:t>
            </a:r>
            <a:r>
              <a:rPr lang="en-US" altLang="zh-CN" sz="2000" dirty="0">
                <a:solidFill>
                  <a:schemeClr val="accent1">
                    <a:lumMod val="50000"/>
                  </a:schemeClr>
                </a:solidFill>
              </a:rPr>
              <a:t>(</a:t>
            </a:r>
            <a:r>
              <a:rPr lang="en-US" altLang="zh-CN" sz="2000" dirty="0" err="1">
                <a:solidFill>
                  <a:schemeClr val="accent1">
                    <a:lumMod val="50000"/>
                  </a:schemeClr>
                </a:solidFill>
              </a:rPr>
              <a:t>pcity</a:t>
            </a:r>
            <a:r>
              <a:rPr lang="en-US" altLang="zh-CN" sz="2000" dirty="0">
                <a:solidFill>
                  <a:schemeClr val="accent1">
                    <a:lumMod val="50000"/>
                  </a:schemeClr>
                </a:solidFill>
              </a:rPr>
              <a:t>[</a:t>
            </a:r>
            <a:r>
              <a:rPr lang="en-US" altLang="zh-CN" sz="2000" dirty="0" err="1">
                <a:solidFill>
                  <a:schemeClr val="accent1">
                    <a:lumMod val="50000"/>
                  </a:schemeClr>
                </a:solidFill>
              </a:rPr>
              <a:t>i</a:t>
            </a:r>
            <a:r>
              <a:rPr lang="en-US" altLang="zh-CN" sz="2000" dirty="0">
                <a:solidFill>
                  <a:schemeClr val="accent1">
                    <a:lumMod val="50000"/>
                  </a:schemeClr>
                </a:solidFill>
              </a:rPr>
              <a:t>],"") != 0; </a:t>
            </a:r>
            <a:r>
              <a:rPr lang="en-US" altLang="zh-CN" sz="2000" dirty="0" err="1">
                <a:solidFill>
                  <a:schemeClr val="accent1">
                    <a:lumMod val="50000"/>
                  </a:schemeClr>
                </a:solidFill>
              </a:rPr>
              <a:t>i</a:t>
            </a:r>
            <a:r>
              <a:rPr lang="en-US" altLang="zh-CN" sz="2000" dirty="0">
                <a:solidFill>
                  <a:schemeClr val="accent1">
                    <a:lumMod val="50000"/>
                  </a:schemeClr>
                </a:solidFill>
              </a:rPr>
              <a:t>++)</a:t>
            </a:r>
          </a:p>
          <a:p>
            <a:pPr marL="342900" indent="-342900"/>
            <a:r>
              <a:rPr lang="en-US" altLang="zh-CN" sz="2000" dirty="0">
                <a:solidFill>
                  <a:schemeClr val="accent1">
                    <a:lumMod val="50000"/>
                  </a:schemeClr>
                </a:solidFill>
              </a:rPr>
              <a:t>  {</a:t>
            </a:r>
          </a:p>
          <a:p>
            <a:pPr marL="342900" indent="-342900"/>
            <a:r>
              <a:rPr lang="en-US" altLang="zh-CN" sz="2000" dirty="0">
                <a:solidFill>
                  <a:schemeClr val="accent1">
                    <a:lumMod val="50000"/>
                  </a:schemeClr>
                </a:solidFill>
              </a:rPr>
              <a:t>    k = </a:t>
            </a:r>
            <a:r>
              <a:rPr lang="en-US" altLang="zh-CN" sz="2000" dirty="0" err="1">
                <a:solidFill>
                  <a:schemeClr val="accent1">
                    <a:lumMod val="50000"/>
                  </a:schemeClr>
                </a:solidFill>
              </a:rPr>
              <a:t>i</a:t>
            </a:r>
            <a:r>
              <a:rPr lang="en-US" altLang="zh-CN" sz="2000" dirty="0">
                <a:solidFill>
                  <a:schemeClr val="accent1">
                    <a:lumMod val="50000"/>
                  </a:schemeClr>
                </a:solidFill>
              </a:rPr>
              <a:t>; </a:t>
            </a:r>
          </a:p>
          <a:p>
            <a:pPr marL="342900" indent="-342900"/>
            <a:r>
              <a:rPr lang="en-US" altLang="zh-CN" sz="2000" dirty="0">
                <a:solidFill>
                  <a:schemeClr val="accent1">
                    <a:lumMod val="50000"/>
                  </a:schemeClr>
                </a:solidFill>
              </a:rPr>
              <a:t>    for (j = i+1; </a:t>
            </a:r>
            <a:r>
              <a:rPr lang="en-US" altLang="zh-CN" sz="2000" dirty="0" err="1">
                <a:solidFill>
                  <a:schemeClr val="accent1">
                    <a:lumMod val="50000"/>
                  </a:schemeClr>
                </a:solidFill>
              </a:rPr>
              <a:t>strcmp</a:t>
            </a:r>
            <a:r>
              <a:rPr lang="en-US" altLang="zh-CN" sz="2000" dirty="0">
                <a:solidFill>
                  <a:schemeClr val="accent1">
                    <a:lumMod val="50000"/>
                  </a:schemeClr>
                </a:solidFill>
              </a:rPr>
              <a:t>(</a:t>
            </a:r>
            <a:r>
              <a:rPr lang="en-US" altLang="zh-CN" sz="2000" dirty="0" err="1">
                <a:solidFill>
                  <a:schemeClr val="accent1">
                    <a:lumMod val="50000"/>
                  </a:schemeClr>
                </a:solidFill>
              </a:rPr>
              <a:t>pcity</a:t>
            </a:r>
            <a:r>
              <a:rPr lang="en-US" altLang="zh-CN" sz="2000" dirty="0">
                <a:solidFill>
                  <a:schemeClr val="accent1">
                    <a:lumMod val="50000"/>
                  </a:schemeClr>
                </a:solidFill>
              </a:rPr>
              <a:t>[j],"") != 0; j++)</a:t>
            </a:r>
          </a:p>
          <a:p>
            <a:pPr marL="342900" indent="-342900"/>
            <a:r>
              <a:rPr lang="en-US" altLang="zh-CN" sz="2000" dirty="0">
                <a:solidFill>
                  <a:schemeClr val="accent1">
                    <a:lumMod val="50000"/>
                  </a:schemeClr>
                </a:solidFill>
              </a:rPr>
              <a:t>         if (</a:t>
            </a:r>
            <a:r>
              <a:rPr lang="en-US" altLang="zh-CN" sz="2000" dirty="0" err="1">
                <a:solidFill>
                  <a:schemeClr val="accent1">
                    <a:lumMod val="50000"/>
                  </a:schemeClr>
                </a:solidFill>
              </a:rPr>
              <a:t>strcmp</a:t>
            </a:r>
            <a:r>
              <a:rPr lang="en-US" altLang="zh-CN" sz="2000" dirty="0">
                <a:solidFill>
                  <a:schemeClr val="accent1">
                    <a:lumMod val="50000"/>
                  </a:schemeClr>
                </a:solidFill>
              </a:rPr>
              <a:t>(</a:t>
            </a:r>
            <a:r>
              <a:rPr lang="en-US" altLang="zh-CN" sz="2000" dirty="0" err="1">
                <a:solidFill>
                  <a:schemeClr val="accent1">
                    <a:lumMod val="50000"/>
                  </a:schemeClr>
                </a:solidFill>
              </a:rPr>
              <a:t>pcity</a:t>
            </a:r>
            <a:r>
              <a:rPr lang="en-US" altLang="zh-CN" sz="2000" dirty="0">
                <a:solidFill>
                  <a:schemeClr val="accent1">
                    <a:lumMod val="50000"/>
                  </a:schemeClr>
                </a:solidFill>
              </a:rPr>
              <a:t>[k], </a:t>
            </a:r>
            <a:r>
              <a:rPr lang="en-US" altLang="zh-CN" sz="2000" dirty="0" err="1">
                <a:solidFill>
                  <a:schemeClr val="accent1">
                    <a:lumMod val="50000"/>
                  </a:schemeClr>
                </a:solidFill>
              </a:rPr>
              <a:t>pcity</a:t>
            </a:r>
            <a:r>
              <a:rPr lang="en-US" altLang="zh-CN" sz="2000" dirty="0">
                <a:solidFill>
                  <a:schemeClr val="accent1">
                    <a:lumMod val="50000"/>
                  </a:schemeClr>
                </a:solidFill>
              </a:rPr>
              <a:t>[j]) &gt; 0)    k = j;</a:t>
            </a:r>
          </a:p>
          <a:p>
            <a:pPr marL="342900" indent="-342900"/>
            <a:r>
              <a:rPr lang="en-US" altLang="zh-CN" sz="2000" dirty="0">
                <a:solidFill>
                  <a:schemeClr val="accent1">
                    <a:lumMod val="50000"/>
                  </a:schemeClr>
                </a:solidFill>
              </a:rPr>
              <a:t>    if (k != </a:t>
            </a:r>
            <a:r>
              <a:rPr lang="en-US" altLang="zh-CN" sz="2000" dirty="0" err="1">
                <a:solidFill>
                  <a:schemeClr val="accent1">
                    <a:lumMod val="50000"/>
                  </a:schemeClr>
                </a:solidFill>
              </a:rPr>
              <a:t>i</a:t>
            </a:r>
            <a:r>
              <a:rPr lang="en-US" altLang="zh-CN" sz="2000" dirty="0">
                <a:solidFill>
                  <a:schemeClr val="accent1">
                    <a:lumMod val="50000"/>
                  </a:schemeClr>
                </a:solidFill>
              </a:rPr>
              <a:t>)</a:t>
            </a:r>
          </a:p>
          <a:p>
            <a:pPr marL="342900" indent="-342900"/>
            <a:r>
              <a:rPr lang="en-US" altLang="zh-CN" sz="2000" dirty="0">
                <a:solidFill>
                  <a:schemeClr val="accent1">
                    <a:lumMod val="50000"/>
                  </a:schemeClr>
                </a:solidFill>
              </a:rPr>
              <a:t>    {</a:t>
            </a:r>
          </a:p>
          <a:p>
            <a:pPr lvl="1"/>
            <a:r>
              <a:rPr lang="en-US" altLang="zh-CN" sz="2000" dirty="0" err="1">
                <a:solidFill>
                  <a:schemeClr val="accent1">
                    <a:lumMod val="50000"/>
                  </a:schemeClr>
                </a:solidFill>
              </a:rPr>
              <a:t>ptemp</a:t>
            </a:r>
            <a:r>
              <a:rPr lang="en-US" altLang="zh-CN" sz="2000" dirty="0">
                <a:solidFill>
                  <a:schemeClr val="accent1">
                    <a:lumMod val="50000"/>
                  </a:schemeClr>
                </a:solidFill>
              </a:rPr>
              <a:t> = </a:t>
            </a:r>
            <a:r>
              <a:rPr lang="en-US" altLang="zh-CN" sz="2000" dirty="0" err="1">
                <a:solidFill>
                  <a:schemeClr val="accent1">
                    <a:lumMod val="50000"/>
                  </a:schemeClr>
                </a:solidFill>
              </a:rPr>
              <a:t>pcity</a:t>
            </a:r>
            <a:r>
              <a:rPr lang="en-US" altLang="zh-CN" sz="2000" dirty="0">
                <a:solidFill>
                  <a:schemeClr val="accent1">
                    <a:lumMod val="50000"/>
                  </a:schemeClr>
                </a:solidFill>
              </a:rPr>
              <a:t>[</a:t>
            </a:r>
            <a:r>
              <a:rPr lang="en-US" altLang="zh-CN" sz="2000" dirty="0" err="1">
                <a:solidFill>
                  <a:schemeClr val="accent1">
                    <a:lumMod val="50000"/>
                  </a:schemeClr>
                </a:solidFill>
              </a:rPr>
              <a:t>i</a:t>
            </a:r>
            <a:r>
              <a:rPr lang="en-US" altLang="zh-CN" sz="2000" dirty="0">
                <a:solidFill>
                  <a:schemeClr val="accent1">
                    <a:lumMod val="50000"/>
                  </a:schemeClr>
                </a:solidFill>
              </a:rPr>
              <a:t>];</a:t>
            </a:r>
          </a:p>
          <a:p>
            <a:pPr lvl="1"/>
            <a:r>
              <a:rPr lang="en-US" altLang="zh-CN" sz="2000" dirty="0" err="1">
                <a:solidFill>
                  <a:schemeClr val="accent1">
                    <a:lumMod val="50000"/>
                  </a:schemeClr>
                </a:solidFill>
              </a:rPr>
              <a:t>pcity</a:t>
            </a:r>
            <a:r>
              <a:rPr lang="en-US" altLang="zh-CN" sz="2000" dirty="0">
                <a:solidFill>
                  <a:schemeClr val="accent1">
                    <a:lumMod val="50000"/>
                  </a:schemeClr>
                </a:solidFill>
              </a:rPr>
              <a:t>[</a:t>
            </a:r>
            <a:r>
              <a:rPr lang="en-US" altLang="zh-CN" sz="2000" dirty="0" err="1">
                <a:solidFill>
                  <a:schemeClr val="accent1">
                    <a:lumMod val="50000"/>
                  </a:schemeClr>
                </a:solidFill>
              </a:rPr>
              <a:t>i</a:t>
            </a:r>
            <a:r>
              <a:rPr lang="en-US" altLang="zh-CN" sz="2000" dirty="0">
                <a:solidFill>
                  <a:schemeClr val="accent1">
                    <a:lumMod val="50000"/>
                  </a:schemeClr>
                </a:solidFill>
              </a:rPr>
              <a:t>] = </a:t>
            </a:r>
            <a:r>
              <a:rPr lang="en-US" altLang="zh-CN" sz="2000" dirty="0" err="1">
                <a:solidFill>
                  <a:schemeClr val="accent1">
                    <a:lumMod val="50000"/>
                  </a:schemeClr>
                </a:solidFill>
              </a:rPr>
              <a:t>pcity</a:t>
            </a:r>
            <a:r>
              <a:rPr lang="en-US" altLang="zh-CN" sz="2000" dirty="0">
                <a:solidFill>
                  <a:schemeClr val="accent1">
                    <a:lumMod val="50000"/>
                  </a:schemeClr>
                </a:solidFill>
              </a:rPr>
              <a:t>[k];</a:t>
            </a:r>
          </a:p>
          <a:p>
            <a:pPr lvl="1"/>
            <a:r>
              <a:rPr lang="en-US" altLang="zh-CN" sz="2000" dirty="0" err="1">
                <a:solidFill>
                  <a:schemeClr val="accent1">
                    <a:lumMod val="50000"/>
                  </a:schemeClr>
                </a:solidFill>
              </a:rPr>
              <a:t>pcity</a:t>
            </a:r>
            <a:r>
              <a:rPr lang="en-US" altLang="zh-CN" sz="2000" dirty="0">
                <a:solidFill>
                  <a:schemeClr val="accent1">
                    <a:lumMod val="50000"/>
                  </a:schemeClr>
                </a:solidFill>
              </a:rPr>
              <a:t>[k] = </a:t>
            </a:r>
            <a:r>
              <a:rPr lang="en-US" altLang="zh-CN" sz="2000" dirty="0" err="1">
                <a:solidFill>
                  <a:schemeClr val="accent1">
                    <a:lumMod val="50000"/>
                  </a:schemeClr>
                </a:solidFill>
              </a:rPr>
              <a:t>ptemp</a:t>
            </a:r>
            <a:r>
              <a:rPr lang="en-US" altLang="zh-CN" sz="2000" dirty="0">
                <a:solidFill>
                  <a:schemeClr val="accent1">
                    <a:lumMod val="50000"/>
                  </a:schemeClr>
                </a:solidFill>
              </a:rPr>
              <a:t>;</a:t>
            </a:r>
          </a:p>
          <a:p>
            <a:pPr marL="342900" indent="-342900"/>
            <a:r>
              <a:rPr lang="en-US" altLang="zh-CN" sz="2000" dirty="0">
                <a:solidFill>
                  <a:schemeClr val="accent1">
                    <a:lumMod val="50000"/>
                  </a:schemeClr>
                </a:solidFill>
              </a:rPr>
              <a:t>    }</a:t>
            </a:r>
          </a:p>
          <a:p>
            <a:pPr marL="342900" indent="-342900"/>
            <a:r>
              <a:rPr lang="en-US" altLang="zh-CN" dirty="0">
                <a:solidFill>
                  <a:schemeClr val="accent1">
                    <a:lumMod val="50000"/>
                  </a:schemeClr>
                </a:solidFill>
              </a:rPr>
              <a:t>  }</a:t>
            </a:r>
          </a:p>
        </p:txBody>
      </p:sp>
      <p:sp>
        <p:nvSpPr>
          <p:cNvPr id="1182727" name="Text Box 7"/>
          <p:cNvSpPr txBox="1">
            <a:spLocks noChangeArrowheads="1"/>
          </p:cNvSpPr>
          <p:nvPr/>
        </p:nvSpPr>
        <p:spPr bwMode="auto">
          <a:xfrm>
            <a:off x="6096000" y="5633466"/>
            <a:ext cx="5545138" cy="792163"/>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dirty="0">
                <a:solidFill>
                  <a:srgbClr val="C00000"/>
                </a:solidFill>
                <a:latin typeface="隶书" pitchFamily="49" charset="-122"/>
                <a:ea typeface="隶书" pitchFamily="49" charset="-122"/>
              </a:rPr>
              <a:t>运行结果：</a:t>
            </a:r>
          </a:p>
          <a:p>
            <a:pPr marL="342900" indent="-342900" algn="just"/>
            <a:r>
              <a:rPr lang="en-US" altLang="zh-CN" sz="2000" dirty="0">
                <a:solidFill>
                  <a:srgbClr val="002060"/>
                </a:solidFill>
              </a:rPr>
              <a:t>Beijing  Guangzhou  Shanghai  Tianjin  Wuhan</a:t>
            </a:r>
          </a:p>
        </p:txBody>
      </p:sp>
      <p:sp>
        <p:nvSpPr>
          <p:cNvPr id="1182728" name="Rectangle 8" descr="信纸"/>
          <p:cNvSpPr>
            <a:spLocks noChangeArrowheads="1"/>
          </p:cNvSpPr>
          <p:nvPr/>
        </p:nvSpPr>
        <p:spPr bwMode="auto">
          <a:xfrm>
            <a:off x="7320136" y="1227534"/>
            <a:ext cx="4572000" cy="1631216"/>
          </a:xfrm>
          <a:prstGeom prst="rect">
            <a:avLst/>
          </a:prstGeom>
          <a:gradFill>
            <a:gsLst>
              <a:gs pos="0">
                <a:srgbClr val="CFCFD1"/>
              </a:gs>
              <a:gs pos="100000">
                <a:schemeClr val="bg1"/>
              </a:gs>
            </a:gsLst>
            <a:lin ang="54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en-US" altLang="zh-CN" sz="2000" dirty="0"/>
              <a:t>  for (</a:t>
            </a:r>
            <a:r>
              <a:rPr lang="en-US" altLang="zh-CN" sz="2000" dirty="0" err="1"/>
              <a:t>i</a:t>
            </a:r>
            <a:r>
              <a:rPr lang="en-US" altLang="zh-CN" sz="2000" dirty="0"/>
              <a:t> = 0; </a:t>
            </a:r>
            <a:r>
              <a:rPr lang="en-US" altLang="zh-CN" sz="2000" dirty="0" err="1"/>
              <a:t>strcmp</a:t>
            </a:r>
            <a:r>
              <a:rPr lang="en-US" altLang="zh-CN" sz="2000" dirty="0"/>
              <a:t>(</a:t>
            </a:r>
            <a:r>
              <a:rPr lang="en-US" altLang="zh-CN" sz="2000" dirty="0" err="1"/>
              <a:t>pcity</a:t>
            </a:r>
            <a:r>
              <a:rPr lang="en-US" altLang="zh-CN" sz="2000" dirty="0"/>
              <a:t>[</a:t>
            </a:r>
            <a:r>
              <a:rPr lang="en-US" altLang="zh-CN" sz="2000" dirty="0" err="1"/>
              <a:t>i</a:t>
            </a:r>
            <a:r>
              <a:rPr lang="en-US" altLang="zh-CN" sz="2000" dirty="0"/>
              <a:t>],"") != 0; </a:t>
            </a:r>
            <a:r>
              <a:rPr lang="en-US" altLang="zh-CN" sz="2000" dirty="0" err="1"/>
              <a:t>i</a:t>
            </a:r>
            <a:r>
              <a:rPr lang="en-US" altLang="zh-CN" sz="2000" dirty="0"/>
              <a:t>++)    </a:t>
            </a:r>
            <a:r>
              <a:rPr lang="en-US" altLang="zh-CN" sz="2000" dirty="0" err="1"/>
              <a:t>printf</a:t>
            </a:r>
            <a:r>
              <a:rPr lang="en-US" altLang="zh-CN" sz="2000" dirty="0"/>
              <a:t> ("%s  ", </a:t>
            </a:r>
            <a:r>
              <a:rPr lang="en-US" altLang="zh-CN" sz="2000" dirty="0" err="1"/>
              <a:t>pcity</a:t>
            </a:r>
            <a:r>
              <a:rPr lang="en-US" altLang="zh-CN" sz="2000" dirty="0"/>
              <a:t>[</a:t>
            </a:r>
            <a:r>
              <a:rPr lang="en-US" altLang="zh-CN" sz="2000" dirty="0" err="1"/>
              <a:t>i</a:t>
            </a:r>
            <a:r>
              <a:rPr lang="en-US" altLang="zh-CN" sz="2000" dirty="0"/>
              <a:t>]);</a:t>
            </a:r>
          </a:p>
          <a:p>
            <a:pPr marL="342900" indent="-342900"/>
            <a:r>
              <a:rPr lang="en-US" altLang="zh-CN" sz="2000" dirty="0"/>
              <a:t>  </a:t>
            </a:r>
            <a:r>
              <a:rPr lang="en-US" altLang="zh-CN" sz="2000" dirty="0" err="1"/>
              <a:t>printf</a:t>
            </a:r>
            <a:r>
              <a:rPr lang="en-US" altLang="zh-CN" sz="2000" dirty="0"/>
              <a:t> ("\n");</a:t>
            </a:r>
          </a:p>
          <a:p>
            <a:pPr marL="342900" indent="-342900"/>
            <a:r>
              <a:rPr lang="en-US" altLang="zh-CN" sz="2000" dirty="0"/>
              <a:t>  return 0;</a:t>
            </a:r>
          </a:p>
          <a:p>
            <a:pPr marL="342900" indent="-342900"/>
            <a:r>
              <a:rPr lang="en-US" altLang="zh-CN" sz="2000" dirty="0"/>
              <a:t>}</a:t>
            </a:r>
          </a:p>
        </p:txBody>
      </p:sp>
      <p:sp>
        <p:nvSpPr>
          <p:cNvPr id="1182729" name="Freeform 9"/>
          <p:cNvSpPr>
            <a:spLocks/>
          </p:cNvSpPr>
          <p:nvPr/>
        </p:nvSpPr>
        <p:spPr bwMode="auto">
          <a:xfrm>
            <a:off x="861451" y="2602367"/>
            <a:ext cx="5616575" cy="4184650"/>
          </a:xfrm>
          <a:custGeom>
            <a:avLst/>
            <a:gdLst/>
            <a:ahLst/>
            <a:cxnLst>
              <a:cxn ang="0">
                <a:pos x="1268" y="106"/>
              </a:cxn>
              <a:cxn ang="0">
                <a:pos x="984" y="26"/>
              </a:cxn>
              <a:cxn ang="0">
                <a:pos x="798" y="0"/>
              </a:cxn>
              <a:cxn ang="0">
                <a:pos x="187" y="62"/>
              </a:cxn>
              <a:cxn ang="0">
                <a:pos x="107" y="97"/>
              </a:cxn>
              <a:cxn ang="0">
                <a:pos x="36" y="204"/>
              </a:cxn>
              <a:cxn ang="0">
                <a:pos x="116" y="567"/>
              </a:cxn>
              <a:cxn ang="0">
                <a:pos x="151" y="647"/>
              </a:cxn>
              <a:cxn ang="0">
                <a:pos x="231" y="1347"/>
              </a:cxn>
              <a:cxn ang="0">
                <a:pos x="222" y="2056"/>
              </a:cxn>
              <a:cxn ang="0">
                <a:pos x="258" y="2295"/>
              </a:cxn>
              <a:cxn ang="0">
                <a:pos x="302" y="2339"/>
              </a:cxn>
              <a:cxn ang="0">
                <a:pos x="373" y="2419"/>
              </a:cxn>
              <a:cxn ang="0">
                <a:pos x="541" y="2463"/>
              </a:cxn>
              <a:cxn ang="0">
                <a:pos x="967" y="2437"/>
              </a:cxn>
              <a:cxn ang="0">
                <a:pos x="1259" y="2410"/>
              </a:cxn>
              <a:cxn ang="0">
                <a:pos x="1463" y="2366"/>
              </a:cxn>
              <a:cxn ang="0">
                <a:pos x="1649" y="2313"/>
              </a:cxn>
              <a:cxn ang="0">
                <a:pos x="1702" y="2295"/>
              </a:cxn>
              <a:cxn ang="0">
                <a:pos x="1729" y="2286"/>
              </a:cxn>
              <a:cxn ang="0">
                <a:pos x="1808" y="2242"/>
              </a:cxn>
              <a:cxn ang="0">
                <a:pos x="1853" y="2118"/>
              </a:cxn>
              <a:cxn ang="0">
                <a:pos x="1782" y="1932"/>
              </a:cxn>
              <a:cxn ang="0">
                <a:pos x="1773" y="1781"/>
              </a:cxn>
              <a:cxn ang="0">
                <a:pos x="1959" y="1648"/>
              </a:cxn>
              <a:cxn ang="0">
                <a:pos x="2190" y="1542"/>
              </a:cxn>
              <a:cxn ang="0">
                <a:pos x="2305" y="1497"/>
              </a:cxn>
              <a:cxn ang="0">
                <a:pos x="2393" y="1462"/>
              </a:cxn>
              <a:cxn ang="0">
                <a:pos x="2615" y="1444"/>
              </a:cxn>
              <a:cxn ang="0">
                <a:pos x="3031" y="1418"/>
              </a:cxn>
              <a:cxn ang="0">
                <a:pos x="3262" y="1382"/>
              </a:cxn>
              <a:cxn ang="0">
                <a:pos x="3466" y="1293"/>
              </a:cxn>
              <a:cxn ang="0">
                <a:pos x="3536" y="1205"/>
              </a:cxn>
              <a:cxn ang="0">
                <a:pos x="3581" y="1090"/>
              </a:cxn>
              <a:cxn ang="0">
                <a:pos x="3598" y="1019"/>
              </a:cxn>
              <a:cxn ang="0">
                <a:pos x="3590" y="788"/>
              </a:cxn>
              <a:cxn ang="0">
                <a:pos x="3554" y="726"/>
              </a:cxn>
              <a:cxn ang="0">
                <a:pos x="3501" y="611"/>
              </a:cxn>
              <a:cxn ang="0">
                <a:pos x="3466" y="558"/>
              </a:cxn>
              <a:cxn ang="0">
                <a:pos x="3448" y="505"/>
              </a:cxn>
              <a:cxn ang="0">
                <a:pos x="3412" y="452"/>
              </a:cxn>
              <a:cxn ang="0">
                <a:pos x="3262" y="292"/>
              </a:cxn>
              <a:cxn ang="0">
                <a:pos x="2987" y="177"/>
              </a:cxn>
              <a:cxn ang="0">
                <a:pos x="2898" y="150"/>
              </a:cxn>
              <a:cxn ang="0">
                <a:pos x="2615" y="115"/>
              </a:cxn>
              <a:cxn ang="0">
                <a:pos x="2136" y="141"/>
              </a:cxn>
              <a:cxn ang="0">
                <a:pos x="1658" y="106"/>
              </a:cxn>
              <a:cxn ang="0">
                <a:pos x="1268" y="106"/>
              </a:cxn>
            </a:cxnLst>
            <a:rect l="0" t="0" r="r" b="b"/>
            <a:pathLst>
              <a:path w="3616" h="2463">
                <a:moveTo>
                  <a:pt x="1268" y="106"/>
                </a:moveTo>
                <a:cubicBezTo>
                  <a:pt x="1169" y="92"/>
                  <a:pt x="1080" y="50"/>
                  <a:pt x="984" y="26"/>
                </a:cubicBezTo>
                <a:cubicBezTo>
                  <a:pt x="925" y="11"/>
                  <a:pt x="859" y="9"/>
                  <a:pt x="798" y="0"/>
                </a:cubicBezTo>
                <a:cubicBezTo>
                  <a:pt x="601" y="6"/>
                  <a:pt x="381" y="6"/>
                  <a:pt x="187" y="62"/>
                </a:cubicBezTo>
                <a:cubicBezTo>
                  <a:pt x="158" y="71"/>
                  <a:pt x="136" y="87"/>
                  <a:pt x="107" y="97"/>
                </a:cubicBezTo>
                <a:cubicBezTo>
                  <a:pt x="73" y="131"/>
                  <a:pt x="62" y="165"/>
                  <a:pt x="36" y="204"/>
                </a:cubicBezTo>
                <a:cubicBezTo>
                  <a:pt x="0" y="345"/>
                  <a:pt x="42" y="456"/>
                  <a:pt x="116" y="567"/>
                </a:cubicBezTo>
                <a:cubicBezTo>
                  <a:pt x="132" y="591"/>
                  <a:pt x="135" y="622"/>
                  <a:pt x="151" y="647"/>
                </a:cubicBezTo>
                <a:cubicBezTo>
                  <a:pt x="198" y="878"/>
                  <a:pt x="213" y="1112"/>
                  <a:pt x="231" y="1347"/>
                </a:cubicBezTo>
                <a:cubicBezTo>
                  <a:pt x="239" y="1585"/>
                  <a:pt x="238" y="1819"/>
                  <a:pt x="222" y="2056"/>
                </a:cubicBezTo>
                <a:cubicBezTo>
                  <a:pt x="228" y="2154"/>
                  <a:pt x="229" y="2209"/>
                  <a:pt x="258" y="2295"/>
                </a:cubicBezTo>
                <a:cubicBezTo>
                  <a:pt x="269" y="2327"/>
                  <a:pt x="279" y="2319"/>
                  <a:pt x="302" y="2339"/>
                </a:cubicBezTo>
                <a:cubicBezTo>
                  <a:pt x="329" y="2363"/>
                  <a:pt x="345" y="2396"/>
                  <a:pt x="373" y="2419"/>
                </a:cubicBezTo>
                <a:cubicBezTo>
                  <a:pt x="415" y="2454"/>
                  <a:pt x="493" y="2458"/>
                  <a:pt x="541" y="2463"/>
                </a:cubicBezTo>
                <a:cubicBezTo>
                  <a:pt x="683" y="2456"/>
                  <a:pt x="825" y="2450"/>
                  <a:pt x="967" y="2437"/>
                </a:cubicBezTo>
                <a:cubicBezTo>
                  <a:pt x="1063" y="2417"/>
                  <a:pt x="1162" y="2422"/>
                  <a:pt x="1259" y="2410"/>
                </a:cubicBezTo>
                <a:cubicBezTo>
                  <a:pt x="1329" y="2402"/>
                  <a:pt x="1395" y="2383"/>
                  <a:pt x="1463" y="2366"/>
                </a:cubicBezTo>
                <a:cubicBezTo>
                  <a:pt x="1526" y="2351"/>
                  <a:pt x="1588" y="2333"/>
                  <a:pt x="1649" y="2313"/>
                </a:cubicBezTo>
                <a:cubicBezTo>
                  <a:pt x="1667" y="2307"/>
                  <a:pt x="1684" y="2301"/>
                  <a:pt x="1702" y="2295"/>
                </a:cubicBezTo>
                <a:cubicBezTo>
                  <a:pt x="1711" y="2292"/>
                  <a:pt x="1729" y="2286"/>
                  <a:pt x="1729" y="2286"/>
                </a:cubicBezTo>
                <a:cubicBezTo>
                  <a:pt x="1755" y="2268"/>
                  <a:pt x="1781" y="2259"/>
                  <a:pt x="1808" y="2242"/>
                </a:cubicBezTo>
                <a:cubicBezTo>
                  <a:pt x="1834" y="2203"/>
                  <a:pt x="1844" y="2163"/>
                  <a:pt x="1853" y="2118"/>
                </a:cubicBezTo>
                <a:cubicBezTo>
                  <a:pt x="1845" y="2044"/>
                  <a:pt x="1848" y="1975"/>
                  <a:pt x="1782" y="1932"/>
                </a:cubicBezTo>
                <a:cubicBezTo>
                  <a:pt x="1764" y="1879"/>
                  <a:pt x="1732" y="1842"/>
                  <a:pt x="1773" y="1781"/>
                </a:cubicBezTo>
                <a:cubicBezTo>
                  <a:pt x="1821" y="1710"/>
                  <a:pt x="1890" y="1688"/>
                  <a:pt x="1959" y="1648"/>
                </a:cubicBezTo>
                <a:cubicBezTo>
                  <a:pt x="2034" y="1604"/>
                  <a:pt x="2104" y="1561"/>
                  <a:pt x="2190" y="1542"/>
                </a:cubicBezTo>
                <a:cubicBezTo>
                  <a:pt x="2227" y="1516"/>
                  <a:pt x="2266" y="1516"/>
                  <a:pt x="2305" y="1497"/>
                </a:cubicBezTo>
                <a:cubicBezTo>
                  <a:pt x="2335" y="1482"/>
                  <a:pt x="2358" y="1466"/>
                  <a:pt x="2393" y="1462"/>
                </a:cubicBezTo>
                <a:cubicBezTo>
                  <a:pt x="2467" y="1454"/>
                  <a:pt x="2615" y="1444"/>
                  <a:pt x="2615" y="1444"/>
                </a:cubicBezTo>
                <a:cubicBezTo>
                  <a:pt x="2780" y="1410"/>
                  <a:pt x="2732" y="1425"/>
                  <a:pt x="3031" y="1418"/>
                </a:cubicBezTo>
                <a:cubicBezTo>
                  <a:pt x="3108" y="1407"/>
                  <a:pt x="3185" y="1395"/>
                  <a:pt x="3262" y="1382"/>
                </a:cubicBezTo>
                <a:cubicBezTo>
                  <a:pt x="3326" y="1360"/>
                  <a:pt x="3412" y="1338"/>
                  <a:pt x="3466" y="1293"/>
                </a:cubicBezTo>
                <a:cubicBezTo>
                  <a:pt x="3495" y="1269"/>
                  <a:pt x="3514" y="1235"/>
                  <a:pt x="3536" y="1205"/>
                </a:cubicBezTo>
                <a:cubicBezTo>
                  <a:pt x="3549" y="1165"/>
                  <a:pt x="3571" y="1131"/>
                  <a:pt x="3581" y="1090"/>
                </a:cubicBezTo>
                <a:cubicBezTo>
                  <a:pt x="3587" y="1066"/>
                  <a:pt x="3598" y="1019"/>
                  <a:pt x="3598" y="1019"/>
                </a:cubicBezTo>
                <a:cubicBezTo>
                  <a:pt x="3606" y="945"/>
                  <a:pt x="3616" y="860"/>
                  <a:pt x="3590" y="788"/>
                </a:cubicBezTo>
                <a:cubicBezTo>
                  <a:pt x="3582" y="766"/>
                  <a:pt x="3564" y="748"/>
                  <a:pt x="3554" y="726"/>
                </a:cubicBezTo>
                <a:cubicBezTo>
                  <a:pt x="3538" y="688"/>
                  <a:pt x="3522" y="647"/>
                  <a:pt x="3501" y="611"/>
                </a:cubicBezTo>
                <a:cubicBezTo>
                  <a:pt x="3490" y="593"/>
                  <a:pt x="3478" y="576"/>
                  <a:pt x="3466" y="558"/>
                </a:cubicBezTo>
                <a:cubicBezTo>
                  <a:pt x="3456" y="542"/>
                  <a:pt x="3458" y="520"/>
                  <a:pt x="3448" y="505"/>
                </a:cubicBezTo>
                <a:cubicBezTo>
                  <a:pt x="3436" y="487"/>
                  <a:pt x="3412" y="452"/>
                  <a:pt x="3412" y="452"/>
                </a:cubicBezTo>
                <a:cubicBezTo>
                  <a:pt x="3390" y="377"/>
                  <a:pt x="3323" y="334"/>
                  <a:pt x="3262" y="292"/>
                </a:cubicBezTo>
                <a:cubicBezTo>
                  <a:pt x="3176" y="234"/>
                  <a:pt x="3085" y="207"/>
                  <a:pt x="2987" y="177"/>
                </a:cubicBezTo>
                <a:cubicBezTo>
                  <a:pt x="2964" y="170"/>
                  <a:pt x="2924" y="154"/>
                  <a:pt x="2898" y="150"/>
                </a:cubicBezTo>
                <a:cubicBezTo>
                  <a:pt x="2804" y="137"/>
                  <a:pt x="2709" y="131"/>
                  <a:pt x="2615" y="115"/>
                </a:cubicBezTo>
                <a:cubicBezTo>
                  <a:pt x="2431" y="120"/>
                  <a:pt x="2304" y="126"/>
                  <a:pt x="2136" y="141"/>
                </a:cubicBezTo>
                <a:cubicBezTo>
                  <a:pt x="1965" y="136"/>
                  <a:pt x="1822" y="127"/>
                  <a:pt x="1658" y="106"/>
                </a:cubicBezTo>
                <a:cubicBezTo>
                  <a:pt x="1309" y="116"/>
                  <a:pt x="1438" y="131"/>
                  <a:pt x="1268" y="106"/>
                </a:cubicBezTo>
                <a:close/>
              </a:path>
            </a:pathLst>
          </a:custGeom>
          <a:noFill/>
          <a:ln w="25400" cap="flat" cmpd="sng">
            <a:solidFill>
              <a:srgbClr val="C01920"/>
            </a:solidFill>
            <a:prstDash val="solid"/>
            <a:round/>
            <a:headEnd/>
            <a:tailEnd/>
          </a:ln>
          <a:effectLst>
            <a:outerShdw blurRad="50800" dist="38100" dir="2700000" algn="tl" rotWithShape="0">
              <a:prstClr val="black">
                <a:alpha val="40000"/>
              </a:prstClr>
            </a:outerShdw>
          </a:effectLst>
        </p:spPr>
        <p:txBody>
          <a:bodyPr/>
          <a:lstStyle/>
          <a:p>
            <a:endParaRPr lang="zh-CN" altLang="en-US"/>
          </a:p>
        </p:txBody>
      </p:sp>
      <p:sp>
        <p:nvSpPr>
          <p:cNvPr id="1182730" name="AutoShape 10"/>
          <p:cNvSpPr>
            <a:spLocks noChangeArrowheads="1"/>
          </p:cNvSpPr>
          <p:nvPr/>
        </p:nvSpPr>
        <p:spPr bwMode="auto">
          <a:xfrm>
            <a:off x="6724873" y="3627510"/>
            <a:ext cx="1800225" cy="431800"/>
          </a:xfrm>
          <a:prstGeom prst="wedgeRoundRectCallout">
            <a:avLst>
              <a:gd name="adj1" fmla="val -77690"/>
              <a:gd name="adj2" fmla="val 204778"/>
              <a:gd name="adj3" fmla="val 16667"/>
            </a:avLst>
          </a:prstGeom>
          <a:gradFill rotWithShape="1">
            <a:gsLst>
              <a:gs pos="0">
                <a:srgbClr val="CFCFD1"/>
              </a:gs>
              <a:gs pos="100000">
                <a:schemeClr val="bg1"/>
              </a:gs>
            </a:gsLst>
            <a:lin ang="5400000" scaled="1"/>
          </a:gradFill>
          <a:ln w="28575" algn="ctr">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2000">
                <a:solidFill>
                  <a:srgbClr val="C00000"/>
                </a:solidFill>
                <a:latin typeface="+mn-lt"/>
                <a:ea typeface="楷体" pitchFamily="49" charset="-122"/>
              </a:rPr>
              <a:t>选择排序</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2725"/>
                                        </p:tgtEl>
                                        <p:attrNameLst>
                                          <p:attrName>style.visibility</p:attrName>
                                        </p:attrNameLst>
                                      </p:cBhvr>
                                      <p:to>
                                        <p:strVal val="visible"/>
                                      </p:to>
                                    </p:set>
                                    <p:anim calcmode="lin" valueType="num">
                                      <p:cBhvr additive="base">
                                        <p:cTn id="7" dur="500" fill="hold"/>
                                        <p:tgtEl>
                                          <p:spTgt spid="1182725"/>
                                        </p:tgtEl>
                                        <p:attrNameLst>
                                          <p:attrName>ppt_x</p:attrName>
                                        </p:attrNameLst>
                                      </p:cBhvr>
                                      <p:tavLst>
                                        <p:tav tm="0">
                                          <p:val>
                                            <p:strVal val="0-#ppt_w/2"/>
                                          </p:val>
                                        </p:tav>
                                        <p:tav tm="100000">
                                          <p:val>
                                            <p:strVal val="#ppt_x"/>
                                          </p:val>
                                        </p:tav>
                                      </p:tavLst>
                                    </p:anim>
                                    <p:anim calcmode="lin" valueType="num">
                                      <p:cBhvr additive="base">
                                        <p:cTn id="8" dur="500" fill="hold"/>
                                        <p:tgtEl>
                                          <p:spTgt spid="11827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82731"/>
                                        </p:tgtEl>
                                        <p:attrNameLst>
                                          <p:attrName>style.visibility</p:attrName>
                                        </p:attrNameLst>
                                      </p:cBhvr>
                                      <p:to>
                                        <p:strVal val="visible"/>
                                      </p:to>
                                    </p:set>
                                    <p:animEffect transition="in" filter="box(out)">
                                      <p:cBhvr>
                                        <p:cTn id="13" dur="500"/>
                                        <p:tgtEl>
                                          <p:spTgt spid="1182731"/>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82728"/>
                                        </p:tgtEl>
                                        <p:attrNameLst>
                                          <p:attrName>style.visibility</p:attrName>
                                        </p:attrNameLst>
                                      </p:cBhvr>
                                      <p:to>
                                        <p:strVal val="visible"/>
                                      </p:to>
                                    </p:set>
                                    <p:animEffect transition="in" filter="box(out)">
                                      <p:cBhvr>
                                        <p:cTn id="18" dur="500"/>
                                        <p:tgtEl>
                                          <p:spTgt spid="1182728"/>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3" fill="hold" grpId="0" nodeType="clickEffect">
                                  <p:stCondLst>
                                    <p:cond delay="0"/>
                                  </p:stCondLst>
                                  <p:childTnLst>
                                    <p:set>
                                      <p:cBhvr>
                                        <p:cTn id="22" dur="1" fill="hold">
                                          <p:stCondLst>
                                            <p:cond delay="0"/>
                                          </p:stCondLst>
                                        </p:cTn>
                                        <p:tgtEl>
                                          <p:spTgt spid="1182729"/>
                                        </p:tgtEl>
                                        <p:attrNameLst>
                                          <p:attrName>style.visibility</p:attrName>
                                        </p:attrNameLst>
                                      </p:cBhvr>
                                      <p:to>
                                        <p:strVal val="visible"/>
                                      </p:to>
                                    </p:set>
                                    <p:animEffect transition="in" filter="strips(upRight)">
                                      <p:cBhvr>
                                        <p:cTn id="23" dur="500"/>
                                        <p:tgtEl>
                                          <p:spTgt spid="1182729"/>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par>
                          <p:cTn id="24" fill="hold">
                            <p:stCondLst>
                              <p:cond delay="500"/>
                            </p:stCondLst>
                            <p:childTnLst>
                              <p:par>
                                <p:cTn id="25" presetID="18" presetClass="entr" presetSubtype="3" fill="hold" grpId="0" nodeType="afterEffect">
                                  <p:stCondLst>
                                    <p:cond delay="0"/>
                                  </p:stCondLst>
                                  <p:childTnLst>
                                    <p:set>
                                      <p:cBhvr>
                                        <p:cTn id="26" dur="1" fill="hold">
                                          <p:stCondLst>
                                            <p:cond delay="0"/>
                                          </p:stCondLst>
                                        </p:cTn>
                                        <p:tgtEl>
                                          <p:spTgt spid="1182730"/>
                                        </p:tgtEl>
                                        <p:attrNameLst>
                                          <p:attrName>style.visibility</p:attrName>
                                        </p:attrNameLst>
                                      </p:cBhvr>
                                      <p:to>
                                        <p:strVal val="visible"/>
                                      </p:to>
                                    </p:set>
                                    <p:animEffect transition="in" filter="strips(upRight)">
                                      <p:cBhvr>
                                        <p:cTn id="27" dur="500"/>
                                        <p:tgtEl>
                                          <p:spTgt spid="1182730"/>
                                        </p:tgtEl>
                                      </p:cBhvr>
                                    </p:animEffect>
                                  </p:childTnLst>
                                  <p:subTnLst>
                                    <p:audio>
                                      <p:cMediaNode>
                                        <p:cTn display="0" masterRel="sameClick">
                                          <p:stCondLst>
                                            <p:cond evt="begin" delay="0">
                                              <p:tn val="25"/>
                                            </p:cond>
                                          </p:stCondLst>
                                          <p:endCondLst>
                                            <p:cond evt="onStopAudio" delay="0">
                                              <p:tgtEl>
                                                <p:sldTgt/>
                                              </p:tgtEl>
                                            </p:cond>
                                          </p:endCondLst>
                                        </p:cTn>
                                        <p:tgtEl>
                                          <p:sndTgt r:embed="rId4" name="laser.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82727"/>
                                        </p:tgtEl>
                                        <p:attrNameLst>
                                          <p:attrName>style.visibility</p:attrName>
                                        </p:attrNameLst>
                                      </p:cBhvr>
                                      <p:to>
                                        <p:strVal val="visible"/>
                                      </p:to>
                                    </p:set>
                                    <p:animEffect transition="in" filter="box(out)">
                                      <p:cBhvr>
                                        <p:cTn id="32" dur="500"/>
                                        <p:tgtEl>
                                          <p:spTgt spid="1182727"/>
                                        </p:tgtEl>
                                      </p:cBhvr>
                                    </p:animEffect>
                                  </p:childTnLst>
                                  <p:subTnLst>
                                    <p:audio>
                                      <p:cMediaNode>
                                        <p:cTn display="0" masterRel="sameClick">
                                          <p:stCondLst>
                                            <p:cond evt="begin" delay="0">
                                              <p:tn val="30"/>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2725" grpId="0"/>
      <p:bldP spid="1182731" grpId="0" animBg="1"/>
      <p:bldP spid="1182727" grpId="0" animBg="1"/>
      <p:bldP spid="1182728" grpId="0" animBg="1"/>
      <p:bldP spid="1182729" grpId="0" animBg="1"/>
      <p:bldP spid="1182730"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3755" name="Rectangle 11"/>
          <p:cNvSpPr>
            <a:spLocks noChangeArrowheads="1"/>
          </p:cNvSpPr>
          <p:nvPr/>
        </p:nvSpPr>
        <p:spPr bwMode="auto">
          <a:xfrm>
            <a:off x="890291" y="817548"/>
            <a:ext cx="2941831" cy="52322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800" b="1" dirty="0">
                <a:solidFill>
                  <a:srgbClr val="C00000"/>
                </a:solidFill>
                <a:latin typeface="+mn-lt"/>
                <a:ea typeface="楷体" pitchFamily="49" charset="-122"/>
              </a:rPr>
              <a:t>1</a:t>
            </a:r>
            <a:r>
              <a:rPr lang="zh-CN" altLang="en-US" sz="2800" b="1" dirty="0">
                <a:solidFill>
                  <a:srgbClr val="C00000"/>
                </a:solidFill>
                <a:latin typeface="+mn-lt"/>
                <a:ea typeface="楷体" pitchFamily="49" charset="-122"/>
              </a:rPr>
              <a:t>、静态内存分配</a:t>
            </a:r>
            <a:r>
              <a:rPr lang="zh-CN" altLang="en-US" b="1" dirty="0">
                <a:solidFill>
                  <a:srgbClr val="C00000"/>
                </a:solidFill>
                <a:latin typeface="+mn-lt"/>
                <a:ea typeface="楷体" pitchFamily="49" charset="-122"/>
              </a:rPr>
              <a:t> </a:t>
            </a:r>
          </a:p>
        </p:txBody>
      </p:sp>
      <p:sp>
        <p:nvSpPr>
          <p:cNvPr id="1183756" name="Rectangle 12"/>
          <p:cNvSpPr>
            <a:spLocks noChangeArrowheads="1"/>
          </p:cNvSpPr>
          <p:nvPr/>
        </p:nvSpPr>
        <p:spPr bwMode="auto">
          <a:xfrm>
            <a:off x="725190" y="1323317"/>
            <a:ext cx="10915425"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latin typeface="+mn-lt"/>
                <a:ea typeface="楷体" pitchFamily="49" charset="-122"/>
              </a:rPr>
              <a:t>        </a:t>
            </a:r>
            <a:r>
              <a:rPr lang="zh-CN" altLang="en-US" dirty="0">
                <a:latin typeface="+mn-lt"/>
                <a:ea typeface="楷体" pitchFamily="49" charset="-122"/>
              </a:rPr>
              <a:t>当程序中定义变量或数组以后，系统就会给变量或数组按照其数据类型及大小来分配相应的内存单元，这种内存分配方式称为</a:t>
            </a:r>
            <a:r>
              <a:rPr lang="zh-CN" altLang="en-US" b="1" dirty="0">
                <a:solidFill>
                  <a:srgbClr val="C00000"/>
                </a:solidFill>
                <a:latin typeface="楷体" panose="02010609060101010101" pitchFamily="49" charset="-122"/>
                <a:ea typeface="楷体" panose="02010609060101010101" pitchFamily="49" charset="-122"/>
              </a:rPr>
              <a:t>静态内存分配</a:t>
            </a:r>
            <a:r>
              <a:rPr lang="zh-CN" altLang="en-US" dirty="0">
                <a:solidFill>
                  <a:srgbClr val="FF0000"/>
                </a:solidFill>
                <a:latin typeface="隶书" pitchFamily="49" charset="-122"/>
                <a:ea typeface="隶书" pitchFamily="49" charset="-122"/>
              </a:rPr>
              <a:t> </a:t>
            </a:r>
            <a:r>
              <a:rPr lang="zh-CN" altLang="en-US" dirty="0">
                <a:latin typeface="+mn-lt"/>
                <a:ea typeface="楷体" pitchFamily="49" charset="-122"/>
              </a:rPr>
              <a:t>。</a:t>
            </a:r>
          </a:p>
        </p:txBody>
      </p:sp>
      <p:sp>
        <p:nvSpPr>
          <p:cNvPr id="1183757" name="Rectangle 13" descr="信纸"/>
          <p:cNvSpPr>
            <a:spLocks noChangeArrowheads="1"/>
          </p:cNvSpPr>
          <p:nvPr/>
        </p:nvSpPr>
        <p:spPr bwMode="auto">
          <a:xfrm>
            <a:off x="1537666" y="2240074"/>
            <a:ext cx="9598894" cy="707886"/>
          </a:xfrm>
          <a:prstGeom prst="rect">
            <a:avLst/>
          </a:prstGeom>
          <a:solidFill>
            <a:schemeClr val="bg1"/>
          </a:soli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t>  int k;                    </a:t>
            </a:r>
            <a:r>
              <a:rPr lang="en-US" altLang="zh-CN" sz="1600" dirty="0">
                <a:solidFill>
                  <a:srgbClr val="002060"/>
                </a:solidFill>
                <a:latin typeface="+mn-lt"/>
                <a:ea typeface="楷体" pitchFamily="49" charset="-122"/>
              </a:rPr>
              <a:t>//</a:t>
            </a:r>
            <a:r>
              <a:rPr lang="zh-CN" altLang="en-US" sz="1600" dirty="0">
                <a:solidFill>
                  <a:srgbClr val="002060"/>
                </a:solidFill>
                <a:latin typeface="+mn-lt"/>
                <a:ea typeface="楷体" pitchFamily="49" charset="-122"/>
              </a:rPr>
              <a:t>系统将给变量</a:t>
            </a:r>
            <a:r>
              <a:rPr lang="en-US" altLang="zh-CN" sz="1600" dirty="0">
                <a:solidFill>
                  <a:srgbClr val="002060"/>
                </a:solidFill>
                <a:latin typeface="+mn-lt"/>
                <a:ea typeface="楷体" pitchFamily="49" charset="-122"/>
              </a:rPr>
              <a:t>k</a:t>
            </a:r>
            <a:r>
              <a:rPr lang="zh-CN" altLang="en-US" sz="1600" dirty="0">
                <a:solidFill>
                  <a:srgbClr val="002060"/>
                </a:solidFill>
                <a:latin typeface="+mn-lt"/>
                <a:ea typeface="楷体" pitchFamily="49" charset="-122"/>
              </a:rPr>
              <a:t>分配</a:t>
            </a:r>
            <a:r>
              <a:rPr lang="en-US" altLang="zh-CN" sz="1600" dirty="0">
                <a:solidFill>
                  <a:srgbClr val="002060"/>
                </a:solidFill>
                <a:latin typeface="+mn-lt"/>
                <a:ea typeface="楷体" pitchFamily="49" charset="-122"/>
              </a:rPr>
              <a:t>4</a:t>
            </a:r>
            <a:r>
              <a:rPr lang="zh-CN" altLang="en-US" sz="1600" dirty="0">
                <a:solidFill>
                  <a:srgbClr val="002060"/>
                </a:solidFill>
                <a:latin typeface="+mn-lt"/>
                <a:ea typeface="楷体" pitchFamily="49" charset="-122"/>
              </a:rPr>
              <a:t>个字节的内存单元</a:t>
            </a:r>
          </a:p>
          <a:p>
            <a:r>
              <a:rPr lang="en-US" altLang="zh-CN" sz="2000" dirty="0"/>
              <a:t>  char </a:t>
            </a:r>
            <a:r>
              <a:rPr lang="en-US" altLang="zh-CN" sz="2000" dirty="0" err="1"/>
              <a:t>ch</a:t>
            </a:r>
            <a:r>
              <a:rPr lang="en-US" altLang="zh-CN" sz="2000" dirty="0"/>
              <a:t>[10];        </a:t>
            </a:r>
            <a:r>
              <a:rPr lang="en-US" altLang="zh-CN" sz="1600" dirty="0">
                <a:solidFill>
                  <a:srgbClr val="002060"/>
                </a:solidFill>
              </a:rPr>
              <a:t>//</a:t>
            </a:r>
            <a:r>
              <a:rPr lang="zh-CN" altLang="en-US" sz="1600" dirty="0">
                <a:solidFill>
                  <a:srgbClr val="002060"/>
                </a:solidFill>
                <a:latin typeface="+mn-lt"/>
                <a:ea typeface="楷体" pitchFamily="49" charset="-122"/>
              </a:rPr>
              <a:t>系统将给这个数组</a:t>
            </a:r>
            <a:r>
              <a:rPr lang="en-US" altLang="zh-CN" sz="1600" dirty="0" err="1">
                <a:solidFill>
                  <a:srgbClr val="002060"/>
                </a:solidFill>
                <a:latin typeface="+mn-lt"/>
                <a:ea typeface="楷体" pitchFamily="49" charset="-122"/>
              </a:rPr>
              <a:t>ch</a:t>
            </a:r>
            <a:r>
              <a:rPr lang="zh-CN" altLang="en-US" sz="1600" dirty="0">
                <a:solidFill>
                  <a:srgbClr val="002060"/>
                </a:solidFill>
                <a:latin typeface="+mn-lt"/>
                <a:ea typeface="楷体" pitchFamily="49" charset="-122"/>
              </a:rPr>
              <a:t>分配</a:t>
            </a:r>
            <a:r>
              <a:rPr lang="en-US" altLang="zh-CN" sz="1600" dirty="0">
                <a:solidFill>
                  <a:srgbClr val="002060"/>
                </a:solidFill>
                <a:latin typeface="+mn-lt"/>
                <a:ea typeface="楷体" pitchFamily="49" charset="-122"/>
              </a:rPr>
              <a:t>10</a:t>
            </a:r>
            <a:r>
              <a:rPr lang="zh-CN" altLang="en-US" sz="1600" dirty="0">
                <a:solidFill>
                  <a:srgbClr val="002060"/>
                </a:solidFill>
                <a:latin typeface="+mn-lt"/>
                <a:ea typeface="楷体" pitchFamily="49" charset="-122"/>
              </a:rPr>
              <a:t>个字节的内存块，首地址就是</a:t>
            </a:r>
            <a:r>
              <a:rPr lang="en-US" altLang="zh-CN" sz="1600" dirty="0" err="1">
                <a:solidFill>
                  <a:srgbClr val="002060"/>
                </a:solidFill>
                <a:latin typeface="+mn-lt"/>
                <a:ea typeface="楷体" pitchFamily="49" charset="-122"/>
              </a:rPr>
              <a:t>ch</a:t>
            </a:r>
            <a:r>
              <a:rPr lang="zh-CN" altLang="en-US" sz="1600" dirty="0">
                <a:solidFill>
                  <a:srgbClr val="002060"/>
                </a:solidFill>
                <a:latin typeface="+mn-lt"/>
                <a:ea typeface="楷体" pitchFamily="49" charset="-122"/>
              </a:rPr>
              <a:t>的值</a:t>
            </a:r>
          </a:p>
        </p:txBody>
      </p:sp>
      <p:sp>
        <p:nvSpPr>
          <p:cNvPr id="1183758" name="Rectangle 14"/>
          <p:cNvSpPr>
            <a:spLocks noChangeArrowheads="1"/>
          </p:cNvSpPr>
          <p:nvPr/>
        </p:nvSpPr>
        <p:spPr bwMode="auto">
          <a:xfrm>
            <a:off x="1537602" y="3145821"/>
            <a:ext cx="9598894" cy="461665"/>
          </a:xfrm>
          <a:prstGeom prst="rect">
            <a:avLst/>
          </a:prstGeom>
          <a:gradFill flip="none" rotWithShape="1">
            <a:gsLst>
              <a:gs pos="0">
                <a:srgbClr val="CFCFD1"/>
              </a:gs>
              <a:gs pos="100000">
                <a:schemeClr val="bg1"/>
              </a:gs>
            </a:gsLst>
            <a:lin ang="8100000" scaled="1"/>
            <a:tileRect/>
          </a:gra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zh-CN" altLang="en-US">
                <a:solidFill>
                  <a:srgbClr val="C00000"/>
                </a:solidFill>
                <a:ea typeface="隶书" pitchFamily="49" charset="-122"/>
              </a:rPr>
              <a:t>静态内存分配一般是在已知道数据量大小的情况下使用</a:t>
            </a:r>
            <a:r>
              <a:rPr lang="zh-CN" altLang="en-US" sz="2000">
                <a:solidFill>
                  <a:srgbClr val="C00000"/>
                </a:solidFill>
              </a:rPr>
              <a:t> </a:t>
            </a:r>
          </a:p>
        </p:txBody>
      </p:sp>
      <p:sp>
        <p:nvSpPr>
          <p:cNvPr id="1183759" name="Rectangle 15"/>
          <p:cNvSpPr>
            <a:spLocks noChangeArrowheads="1"/>
          </p:cNvSpPr>
          <p:nvPr/>
        </p:nvSpPr>
        <p:spPr bwMode="auto">
          <a:xfrm>
            <a:off x="833141" y="3855027"/>
            <a:ext cx="10807474"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latin typeface="+mn-lt"/>
                <a:ea typeface="楷体" pitchFamily="49" charset="-122"/>
              </a:rPr>
              <a:t>         </a:t>
            </a:r>
            <a:r>
              <a:rPr lang="zh-CN" altLang="en-US" dirty="0">
                <a:latin typeface="+mn-lt"/>
                <a:ea typeface="楷体" pitchFamily="49" charset="-122"/>
              </a:rPr>
              <a:t>例如，要对</a:t>
            </a:r>
            <a:r>
              <a:rPr lang="en-US" altLang="zh-CN" dirty="0">
                <a:latin typeface="+mn-lt"/>
                <a:ea typeface="楷体" pitchFamily="49" charset="-122"/>
              </a:rPr>
              <a:t>10</a:t>
            </a:r>
            <a:r>
              <a:rPr lang="zh-CN" altLang="en-US" dirty="0">
                <a:latin typeface="+mn-lt"/>
                <a:ea typeface="楷体" pitchFamily="49" charset="-122"/>
              </a:rPr>
              <a:t>个学生的成绩按降序输出，则可定义一个数组：</a:t>
            </a:r>
            <a:r>
              <a:rPr lang="en-US" altLang="zh-CN" dirty="0">
                <a:solidFill>
                  <a:srgbClr val="C00000"/>
                </a:solidFill>
                <a:latin typeface="+mn-lt"/>
                <a:ea typeface="楷体" pitchFamily="49" charset="-122"/>
              </a:rPr>
              <a:t>int score[10]; </a:t>
            </a:r>
            <a:r>
              <a:rPr lang="zh-CN" altLang="en-US" dirty="0">
                <a:latin typeface="+mn-lt"/>
                <a:ea typeface="楷体" pitchFamily="49" charset="-122"/>
              </a:rPr>
              <a:t>用于存放</a:t>
            </a:r>
            <a:r>
              <a:rPr lang="en-US" altLang="zh-CN" dirty="0">
                <a:latin typeface="+mn-lt"/>
                <a:ea typeface="楷体" pitchFamily="49" charset="-122"/>
              </a:rPr>
              <a:t>10</a:t>
            </a:r>
            <a:r>
              <a:rPr lang="zh-CN" altLang="en-US" dirty="0">
                <a:latin typeface="+mn-lt"/>
                <a:ea typeface="楷体" pitchFamily="49" charset="-122"/>
              </a:rPr>
              <a:t>个学生的成绩，然后再进行排序。</a:t>
            </a:r>
            <a:r>
              <a:rPr lang="zh-CN" altLang="en-US" sz="2000" dirty="0">
                <a:latin typeface="+mn-lt"/>
                <a:ea typeface="楷体" pitchFamily="49" charset="-122"/>
              </a:rPr>
              <a:t> </a:t>
            </a:r>
          </a:p>
        </p:txBody>
      </p:sp>
      <p:sp>
        <p:nvSpPr>
          <p:cNvPr id="1183760" name="AutoShape 16"/>
          <p:cNvSpPr>
            <a:spLocks noChangeArrowheads="1"/>
          </p:cNvSpPr>
          <p:nvPr/>
        </p:nvSpPr>
        <p:spPr bwMode="auto">
          <a:xfrm>
            <a:off x="1753890" y="4797574"/>
            <a:ext cx="8014517" cy="2060426"/>
          </a:xfrm>
          <a:prstGeom prst="cloudCallout">
            <a:avLst>
              <a:gd name="adj1" fmla="val -31384"/>
              <a:gd name="adj2" fmla="val -66778"/>
            </a:avLst>
          </a:prstGeom>
          <a:gradFill rotWithShape="1">
            <a:gsLst>
              <a:gs pos="0">
                <a:srgbClr val="CFCFD1"/>
              </a:gs>
              <a:gs pos="100000">
                <a:schemeClr val="bg1"/>
              </a:gs>
            </a:gsLst>
            <a:lin ang="5400000" scaled="1"/>
          </a:gradFill>
          <a:ln w="25400">
            <a:solidFill>
              <a:srgbClr val="C00000"/>
            </a:solidFill>
            <a:round/>
            <a:headEnd/>
            <a:tailEnd/>
          </a:ln>
          <a:effectLst>
            <a:outerShdw blurRad="50800" dist="106680" dir="2700000" algn="tl" rotWithShape="0">
              <a:prstClr val="black">
                <a:alpha val="43000"/>
              </a:prstClr>
            </a:outerShdw>
          </a:effectLst>
        </p:spPr>
        <p:txBody>
          <a:bodyPr/>
          <a:lstStyle/>
          <a:p>
            <a:pPr marL="342900" indent="-342900"/>
            <a:r>
              <a:rPr lang="zh-CN" altLang="en-US" dirty="0">
                <a:solidFill>
                  <a:srgbClr val="C00000"/>
                </a:solidFill>
                <a:latin typeface="+mn-lt"/>
                <a:ea typeface="楷体" pitchFamily="49" charset="-122"/>
              </a:rPr>
              <a:t>    如果事先并不知道学生的具体人数，编写程序时，人数由用户输入，然后再输入学生的成绩。那有如何如何处理呢？ </a:t>
            </a:r>
          </a:p>
        </p:txBody>
      </p:sp>
      <p:sp>
        <p:nvSpPr>
          <p:cNvPr id="1183761" name="Rectangle 17" descr="信纸"/>
          <p:cNvSpPr>
            <a:spLocks noChangeArrowheads="1"/>
          </p:cNvSpPr>
          <p:nvPr/>
        </p:nvSpPr>
        <p:spPr bwMode="auto">
          <a:xfrm>
            <a:off x="1703512" y="4983253"/>
            <a:ext cx="4309765" cy="1200329"/>
          </a:xfrm>
          <a:prstGeom prst="rect">
            <a:avLst/>
          </a:prstGeom>
          <a:solidFill>
            <a:schemeClr val="bg1"/>
          </a:solidFill>
          <a:ln w="38100" algn="ctr">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dirty="0"/>
              <a:t>int n;</a:t>
            </a:r>
          </a:p>
          <a:p>
            <a:pPr indent="266700"/>
            <a:r>
              <a:rPr lang="en-US" altLang="zh-CN" dirty="0"/>
              <a:t>int score[n];</a:t>
            </a:r>
          </a:p>
          <a:p>
            <a:pPr indent="266700"/>
            <a:r>
              <a:rPr lang="en-US" altLang="zh-CN" dirty="0" err="1"/>
              <a:t>scanf</a:t>
            </a:r>
            <a:r>
              <a:rPr lang="en-US" altLang="zh-CN" dirty="0"/>
              <a:t> ("%d", &amp;n);</a:t>
            </a:r>
          </a:p>
        </p:txBody>
      </p:sp>
      <p:grpSp>
        <p:nvGrpSpPr>
          <p:cNvPr id="1183764" name="Group 20"/>
          <p:cNvGrpSpPr>
            <a:grpSpLocks/>
          </p:cNvGrpSpPr>
          <p:nvPr/>
        </p:nvGrpSpPr>
        <p:grpSpPr bwMode="auto">
          <a:xfrm>
            <a:off x="5033021" y="5296079"/>
            <a:ext cx="342900" cy="419100"/>
            <a:chOff x="492" y="2688"/>
            <a:chExt cx="216" cy="264"/>
          </a:xfrm>
        </p:grpSpPr>
        <p:sp>
          <p:nvSpPr>
            <p:cNvPr id="1183765" name="Line 21"/>
            <p:cNvSpPr>
              <a:spLocks noChangeShapeType="1"/>
            </p:cNvSpPr>
            <p:nvPr/>
          </p:nvSpPr>
          <p:spPr bwMode="auto">
            <a:xfrm flipH="1">
              <a:off x="492" y="2688"/>
              <a:ext cx="216" cy="216"/>
            </a:xfrm>
            <a:prstGeom prst="line">
              <a:avLst/>
            </a:prstGeom>
            <a:noFill/>
            <a:ln w="38100">
              <a:solidFill>
                <a:srgbClr val="C01920"/>
              </a:solidFill>
              <a:round/>
              <a:headEnd/>
              <a:tailEnd/>
            </a:ln>
            <a:effectLst>
              <a:outerShdw dist="35921" dir="2700000" algn="ctr" rotWithShape="0">
                <a:schemeClr val="bg2"/>
              </a:outerShdw>
            </a:effectLst>
          </p:spPr>
          <p:txBody>
            <a:bodyPr wrap="none" lIns="90000" tIns="46800" rIns="90000" bIns="46800" anchor="ctr"/>
            <a:lstStyle/>
            <a:p>
              <a:endParaRPr lang="zh-CN" altLang="en-US"/>
            </a:p>
          </p:txBody>
        </p:sp>
        <p:sp>
          <p:nvSpPr>
            <p:cNvPr id="1183766" name="Line 22"/>
            <p:cNvSpPr>
              <a:spLocks noChangeShapeType="1"/>
            </p:cNvSpPr>
            <p:nvPr/>
          </p:nvSpPr>
          <p:spPr bwMode="auto">
            <a:xfrm>
              <a:off x="504" y="2700"/>
              <a:ext cx="204" cy="252"/>
            </a:xfrm>
            <a:prstGeom prst="line">
              <a:avLst/>
            </a:prstGeom>
            <a:noFill/>
            <a:ln w="38100">
              <a:solidFill>
                <a:srgbClr val="C01920"/>
              </a:solidFill>
              <a:round/>
              <a:headEnd/>
              <a:tailEnd/>
            </a:ln>
            <a:effectLst>
              <a:outerShdw dist="35921" dir="2700000" algn="ctr" rotWithShape="0">
                <a:schemeClr val="bg2"/>
              </a:outerShdw>
            </a:effectLst>
          </p:spPr>
          <p:txBody>
            <a:bodyPr wrap="none" lIns="90000" tIns="46800" rIns="90000" bIns="46800" anchor="ctr"/>
            <a:lstStyle/>
            <a:p>
              <a:endParaRPr lang="zh-CN" altLang="en-US"/>
            </a:p>
          </p:txBody>
        </p:sp>
      </p:grpSp>
      <p:sp>
        <p:nvSpPr>
          <p:cNvPr id="1183767" name="AutoShape 23"/>
          <p:cNvSpPr>
            <a:spLocks noChangeArrowheads="1"/>
          </p:cNvSpPr>
          <p:nvPr/>
        </p:nvSpPr>
        <p:spPr bwMode="auto">
          <a:xfrm>
            <a:off x="6623723" y="4797574"/>
            <a:ext cx="3744912" cy="1222375"/>
          </a:xfrm>
          <a:prstGeom prst="cloudCallout">
            <a:avLst>
              <a:gd name="adj1" fmla="val -88531"/>
              <a:gd name="adj2" fmla="val 35714"/>
            </a:avLst>
          </a:prstGeom>
          <a:gradFill rotWithShape="1">
            <a:gsLst>
              <a:gs pos="0">
                <a:srgbClr val="CFCFD1"/>
              </a:gs>
              <a:gs pos="100000">
                <a:schemeClr val="bg1"/>
              </a:gs>
            </a:gsLst>
            <a:lin ang="5400000" scaled="1"/>
          </a:gradFill>
          <a:ln w="25400">
            <a:solidFill>
              <a:srgbClr val="002060"/>
            </a:solidFill>
            <a:round/>
            <a:headEnd/>
            <a:tailEnd/>
          </a:ln>
          <a:effectLst>
            <a:outerShdw blurRad="50800" dist="106680" dir="2700000" algn="tl" rotWithShape="0">
              <a:prstClr val="black">
                <a:alpha val="43000"/>
              </a:prstClr>
            </a:outerShdw>
          </a:effectLst>
        </p:spPr>
        <p:txBody>
          <a:bodyPr/>
          <a:lstStyle/>
          <a:p>
            <a:pPr marL="342900" indent="-342900" algn="ctr"/>
            <a:r>
              <a:rPr lang="zh-CN" altLang="en-US" dirty="0">
                <a:solidFill>
                  <a:srgbClr val="002060"/>
                </a:solidFill>
                <a:latin typeface="+mn-lt"/>
                <a:ea typeface="楷体" pitchFamily="49" charset="-122"/>
              </a:rPr>
              <a:t>如何解决</a:t>
            </a:r>
            <a:r>
              <a:rPr lang="en-US" altLang="zh-CN" dirty="0">
                <a:solidFill>
                  <a:srgbClr val="002060"/>
                </a:solidFill>
                <a:latin typeface="+mn-lt"/>
                <a:ea typeface="楷体" pitchFamily="49" charset="-122"/>
              </a:rPr>
              <a:t>?</a:t>
            </a:r>
          </a:p>
          <a:p>
            <a:pPr marL="342900" indent="-342900" algn="ctr"/>
            <a:endParaRPr lang="en-US" altLang="zh-CN" dirty="0">
              <a:solidFill>
                <a:srgbClr val="002060"/>
              </a:solidFill>
              <a:latin typeface="+mn-lt"/>
              <a:ea typeface="楷体" pitchFamily="49" charset="-122"/>
            </a:endParaRPr>
          </a:p>
        </p:txBody>
      </p:sp>
      <p:sp>
        <p:nvSpPr>
          <p:cNvPr id="1183768" name="Rectangle 24"/>
          <p:cNvSpPr>
            <a:spLocks noChangeArrowheads="1"/>
          </p:cNvSpPr>
          <p:nvPr/>
        </p:nvSpPr>
        <p:spPr bwMode="auto">
          <a:xfrm>
            <a:off x="7446839" y="5339842"/>
            <a:ext cx="2031325" cy="461665"/>
          </a:xfrm>
          <a:prstGeom prst="rect">
            <a:avLst/>
          </a:prstGeom>
          <a:noFill/>
          <a:ln w="9525" algn="ctr">
            <a:noFill/>
            <a:miter lim="800000"/>
            <a:headEnd/>
            <a:tailEnd/>
          </a:ln>
          <a:effectLst/>
        </p:spPr>
        <p:txBody>
          <a:bodyPr wrap="none">
            <a:spAutoFit/>
          </a:bodyPr>
          <a:lstStyle/>
          <a:p>
            <a:pPr marL="342900" indent="-342900"/>
            <a:r>
              <a:rPr lang="zh-CN" altLang="en-US" dirty="0">
                <a:solidFill>
                  <a:srgbClr val="C00000"/>
                </a:solidFill>
                <a:latin typeface="隶书" pitchFamily="49" charset="-122"/>
                <a:ea typeface="隶书" pitchFamily="49" charset="-122"/>
              </a:rPr>
              <a:t>动态内存分配</a:t>
            </a:r>
          </a:p>
        </p:txBody>
      </p:sp>
      <p:sp>
        <p:nvSpPr>
          <p:cNvPr id="18" name="Rectangle 4">
            <a:extLst>
              <a:ext uri="{FF2B5EF4-FFF2-40B4-BE49-F238E27FC236}">
                <a16:creationId xmlns:a16="http://schemas.microsoft.com/office/drawing/2014/main" id="{53CC50CE-7607-4F28-B17E-9267AC86F11A}"/>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指针与动态内存分配</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3755"/>
                                        </p:tgtEl>
                                        <p:attrNameLst>
                                          <p:attrName>style.visibility</p:attrName>
                                        </p:attrNameLst>
                                      </p:cBhvr>
                                      <p:to>
                                        <p:strVal val="visible"/>
                                      </p:to>
                                    </p:set>
                                    <p:anim calcmode="lin" valueType="num">
                                      <p:cBhvr additive="base">
                                        <p:cTn id="7" dur="500" fill="hold"/>
                                        <p:tgtEl>
                                          <p:spTgt spid="1183755"/>
                                        </p:tgtEl>
                                        <p:attrNameLst>
                                          <p:attrName>ppt_x</p:attrName>
                                        </p:attrNameLst>
                                      </p:cBhvr>
                                      <p:tavLst>
                                        <p:tav tm="0">
                                          <p:val>
                                            <p:strVal val="0-#ppt_w/2"/>
                                          </p:val>
                                        </p:tav>
                                        <p:tav tm="100000">
                                          <p:val>
                                            <p:strVal val="#ppt_x"/>
                                          </p:val>
                                        </p:tav>
                                      </p:tavLst>
                                    </p:anim>
                                    <p:anim calcmode="lin" valueType="num">
                                      <p:cBhvr additive="base">
                                        <p:cTn id="8" dur="500" fill="hold"/>
                                        <p:tgtEl>
                                          <p:spTgt spid="118375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83756">
                                            <p:txEl>
                                              <p:pRg st="0" end="0"/>
                                            </p:txEl>
                                          </p:spTgt>
                                        </p:tgtEl>
                                        <p:attrNameLst>
                                          <p:attrName>style.visibility</p:attrName>
                                        </p:attrNameLst>
                                      </p:cBhvr>
                                      <p:to>
                                        <p:strVal val="visible"/>
                                      </p:to>
                                    </p:set>
                                    <p:animEffect transition="in" filter="box(out)">
                                      <p:cBhvr>
                                        <p:cTn id="13" dur="500"/>
                                        <p:tgtEl>
                                          <p:spTgt spid="1183756">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83757"/>
                                        </p:tgtEl>
                                        <p:attrNameLst>
                                          <p:attrName>style.visibility</p:attrName>
                                        </p:attrNameLst>
                                      </p:cBhvr>
                                      <p:to>
                                        <p:strVal val="visible"/>
                                      </p:to>
                                    </p:set>
                                    <p:animEffect transition="in" filter="box(out)">
                                      <p:cBhvr>
                                        <p:cTn id="18" dur="500"/>
                                        <p:tgtEl>
                                          <p:spTgt spid="1183757"/>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83758"/>
                                        </p:tgtEl>
                                        <p:attrNameLst>
                                          <p:attrName>style.visibility</p:attrName>
                                        </p:attrNameLst>
                                      </p:cBhvr>
                                      <p:to>
                                        <p:strVal val="visible"/>
                                      </p:to>
                                    </p:set>
                                    <p:animEffect transition="in" filter="box(out)">
                                      <p:cBhvr>
                                        <p:cTn id="23" dur="500"/>
                                        <p:tgtEl>
                                          <p:spTgt spid="1183758"/>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83759"/>
                                        </p:tgtEl>
                                        <p:attrNameLst>
                                          <p:attrName>style.visibility</p:attrName>
                                        </p:attrNameLst>
                                      </p:cBhvr>
                                      <p:to>
                                        <p:strVal val="visible"/>
                                      </p:to>
                                    </p:set>
                                    <p:animEffect transition="in" filter="box(out)">
                                      <p:cBhvr>
                                        <p:cTn id="28" dur="500"/>
                                        <p:tgtEl>
                                          <p:spTgt spid="1183759"/>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1183760"/>
                                        </p:tgtEl>
                                        <p:attrNameLst>
                                          <p:attrName>style.visibility</p:attrName>
                                        </p:attrNameLst>
                                      </p:cBhvr>
                                      <p:to>
                                        <p:strVal val="visible"/>
                                      </p:to>
                                    </p:set>
                                    <p:animEffect transition="in" filter="strips(downRight)">
                                      <p:cBhvr>
                                        <p:cTn id="33" dur="500"/>
                                        <p:tgtEl>
                                          <p:spTgt spid="1183760"/>
                                        </p:tgtEl>
                                      </p:cBhvr>
                                    </p:animEffect>
                                  </p:childTnLst>
                                  <p:subTnLst>
                                    <p:set>
                                      <p:cBhvr override="childStyle">
                                        <p:cTn dur="1" fill="hold" display="0" masterRel="nextClick" afterEffect="1"/>
                                        <p:tgtEl>
                                          <p:spTgt spid="1183760"/>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5" name="laser.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183761"/>
                                        </p:tgtEl>
                                        <p:attrNameLst>
                                          <p:attrName>style.visibility</p:attrName>
                                        </p:attrNameLst>
                                      </p:cBhvr>
                                      <p:to>
                                        <p:strVal val="visible"/>
                                      </p:to>
                                    </p:set>
                                    <p:animEffect transition="in" filter="box(out)">
                                      <p:cBhvr>
                                        <p:cTn id="38" dur="500"/>
                                        <p:tgtEl>
                                          <p:spTgt spid="1183761"/>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1183764"/>
                                        </p:tgtEl>
                                        <p:attrNameLst>
                                          <p:attrName>style.visibility</p:attrName>
                                        </p:attrNameLst>
                                      </p:cBhvr>
                                      <p:to>
                                        <p:strVal val="visible"/>
                                      </p:to>
                                    </p:set>
                                    <p:animEffect transition="in" filter="box(in)">
                                      <p:cBhvr>
                                        <p:cTn id="43" dur="500"/>
                                        <p:tgtEl>
                                          <p:spTgt spid="1183764"/>
                                        </p:tgtEl>
                                      </p:cBhvr>
                                    </p:animEffect>
                                  </p:childTnLst>
                                  <p:subTnLst>
                                    <p:audio>
                                      <p:cMediaNode>
                                        <p:cTn display="0" masterRel="sameClick">
                                          <p:stCondLst>
                                            <p:cond evt="begin" delay="0">
                                              <p:tn val="41"/>
                                            </p:cond>
                                          </p:stCondLst>
                                          <p:endCondLst>
                                            <p:cond evt="onStopAudio" delay="0">
                                              <p:tgtEl>
                                                <p:sldTgt/>
                                              </p:tgtEl>
                                            </p:cond>
                                          </p:endCondLst>
                                        </p:cTn>
                                        <p:tgtEl>
                                          <p:sndTgt r:embed="rId5" name="laser.wav"/>
                                        </p:tgtEl>
                                      </p:cMediaNode>
                                    </p:audio>
                                  </p:subTnLst>
                                </p:cTn>
                              </p:par>
                            </p:childTnLst>
                          </p:cTn>
                        </p:par>
                      </p:childTnLst>
                    </p:cTn>
                  </p:par>
                  <p:par>
                    <p:cTn id="44" fill="hold">
                      <p:stCondLst>
                        <p:cond delay="indefinite"/>
                      </p:stCondLst>
                      <p:childTnLst>
                        <p:par>
                          <p:cTn id="45" fill="hold">
                            <p:stCondLst>
                              <p:cond delay="0"/>
                            </p:stCondLst>
                            <p:childTnLst>
                              <p:par>
                                <p:cTn id="46" presetID="18" presetClass="entr" presetSubtype="6" fill="hold" grpId="0" nodeType="clickEffect">
                                  <p:stCondLst>
                                    <p:cond delay="0"/>
                                  </p:stCondLst>
                                  <p:childTnLst>
                                    <p:set>
                                      <p:cBhvr>
                                        <p:cTn id="47" dur="1" fill="hold">
                                          <p:stCondLst>
                                            <p:cond delay="0"/>
                                          </p:stCondLst>
                                        </p:cTn>
                                        <p:tgtEl>
                                          <p:spTgt spid="1183767"/>
                                        </p:tgtEl>
                                        <p:attrNameLst>
                                          <p:attrName>style.visibility</p:attrName>
                                        </p:attrNameLst>
                                      </p:cBhvr>
                                      <p:to>
                                        <p:strVal val="visible"/>
                                      </p:to>
                                    </p:set>
                                    <p:animEffect transition="in" filter="strips(downRight)">
                                      <p:cBhvr>
                                        <p:cTn id="48" dur="500"/>
                                        <p:tgtEl>
                                          <p:spTgt spid="1183767"/>
                                        </p:tgtEl>
                                      </p:cBhvr>
                                    </p:animEffect>
                                  </p:childTnLst>
                                  <p:subTnLst>
                                    <p:audio>
                                      <p:cMediaNode>
                                        <p:cTn display="0" masterRel="sameClick">
                                          <p:stCondLst>
                                            <p:cond evt="begin" delay="0">
                                              <p:tn val="46"/>
                                            </p:cond>
                                          </p:stCondLst>
                                          <p:endCondLst>
                                            <p:cond evt="onStopAudio" delay="0">
                                              <p:tgtEl>
                                                <p:sldTgt/>
                                              </p:tgtEl>
                                            </p:cond>
                                          </p:endCondLst>
                                        </p:cTn>
                                        <p:tgtEl>
                                          <p:sndTgt r:embed="rId5" name="laser.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183768"/>
                                        </p:tgtEl>
                                        <p:attrNameLst>
                                          <p:attrName>style.visibility</p:attrName>
                                        </p:attrNameLst>
                                      </p:cBhvr>
                                      <p:to>
                                        <p:strVal val="visible"/>
                                      </p:to>
                                    </p:set>
                                    <p:animEffect transition="in" filter="box(out)">
                                      <p:cBhvr>
                                        <p:cTn id="53" dur="500"/>
                                        <p:tgtEl>
                                          <p:spTgt spid="1183768"/>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3755" grpId="0"/>
      <p:bldP spid="1183757" grpId="0" animBg="1"/>
      <p:bldP spid="1183758" grpId="0" animBg="1"/>
      <p:bldP spid="1183759" grpId="0"/>
      <p:bldP spid="1183760" grpId="0" animBg="1"/>
      <p:bldP spid="1183761" grpId="0" animBg="1"/>
      <p:bldP spid="1183767" grpId="0" animBg="1"/>
      <p:bldP spid="1183768" grpId="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4774" name="Rectangle 6"/>
          <p:cNvSpPr>
            <a:spLocks noChangeArrowheads="1"/>
          </p:cNvSpPr>
          <p:nvPr/>
        </p:nvSpPr>
        <p:spPr bwMode="auto">
          <a:xfrm>
            <a:off x="674391" y="803977"/>
            <a:ext cx="2941831" cy="52322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800" b="1" dirty="0">
                <a:solidFill>
                  <a:srgbClr val="C00000"/>
                </a:solidFill>
                <a:latin typeface="+mn-lt"/>
                <a:ea typeface="楷体" pitchFamily="49" charset="-122"/>
              </a:rPr>
              <a:t>2</a:t>
            </a:r>
            <a:r>
              <a:rPr lang="zh-CN" altLang="en-US" sz="2800" b="1" dirty="0">
                <a:solidFill>
                  <a:srgbClr val="C00000"/>
                </a:solidFill>
                <a:latin typeface="+mn-lt"/>
                <a:ea typeface="楷体" pitchFamily="49" charset="-122"/>
              </a:rPr>
              <a:t>、动态内存分配</a:t>
            </a:r>
            <a:r>
              <a:rPr lang="zh-CN" altLang="en-US" b="1" dirty="0">
                <a:solidFill>
                  <a:srgbClr val="C00000"/>
                </a:solidFill>
                <a:latin typeface="+mn-lt"/>
                <a:ea typeface="楷体" pitchFamily="49" charset="-122"/>
              </a:rPr>
              <a:t> </a:t>
            </a:r>
          </a:p>
        </p:txBody>
      </p:sp>
      <p:sp>
        <p:nvSpPr>
          <p:cNvPr id="1184786" name="Rectangle 18"/>
          <p:cNvSpPr>
            <a:spLocks noChangeArrowheads="1"/>
          </p:cNvSpPr>
          <p:nvPr/>
        </p:nvSpPr>
        <p:spPr bwMode="auto">
          <a:xfrm>
            <a:off x="674391" y="1286903"/>
            <a:ext cx="10768938" cy="3042949"/>
          </a:xfrm>
          <a:prstGeom prst="rect">
            <a:avLst/>
          </a:prstGeom>
          <a:noFill/>
          <a:ln w="9525" algn="ctr">
            <a:noFill/>
            <a:miter lim="800000"/>
            <a:headEnd/>
            <a:tailEnd/>
          </a:ln>
          <a:effectLst/>
        </p:spPr>
        <p:txBody>
          <a:bodyPr wrap="square" anchor="ctr">
            <a:spAutoFit/>
          </a:bodyPr>
          <a:lstStyle/>
          <a:p>
            <a:pPr>
              <a:lnSpc>
                <a:spcPts val="2900"/>
              </a:lnSpc>
              <a:spcBef>
                <a:spcPts val="0"/>
              </a:spcBef>
            </a:pPr>
            <a:r>
              <a:rPr lang="en-US" altLang="zh-CN" sz="2000" b="0" dirty="0">
                <a:latin typeface="+mn-lt"/>
                <a:ea typeface="楷体" pitchFamily="49" charset="-122"/>
              </a:rPr>
              <a:t>          </a:t>
            </a:r>
            <a:r>
              <a:rPr lang="zh-CN" altLang="en-US" dirty="0">
                <a:latin typeface="+mn-lt"/>
                <a:ea typeface="楷体" pitchFamily="49" charset="-122"/>
              </a:rPr>
              <a:t>所谓动态内存分配是指在程序运行过程中，</a:t>
            </a:r>
            <a:r>
              <a:rPr lang="zh-CN" altLang="en-US" dirty="0">
                <a:solidFill>
                  <a:srgbClr val="C00000"/>
                </a:solidFill>
                <a:latin typeface="+mn-lt"/>
                <a:ea typeface="楷体" pitchFamily="49" charset="-122"/>
              </a:rPr>
              <a:t>根据程序的实际需要来分配一块大小合适的连续的内存单元</a:t>
            </a:r>
            <a:r>
              <a:rPr lang="zh-CN" altLang="en-US" dirty="0">
                <a:latin typeface="+mn-lt"/>
                <a:ea typeface="楷体" pitchFamily="49" charset="-122"/>
              </a:rPr>
              <a:t>。</a:t>
            </a:r>
          </a:p>
          <a:p>
            <a:pPr>
              <a:lnSpc>
                <a:spcPts val="2900"/>
              </a:lnSpc>
              <a:spcBef>
                <a:spcPts val="0"/>
              </a:spcBef>
            </a:pPr>
            <a:r>
              <a:rPr lang="zh-CN" altLang="en-US" dirty="0">
                <a:latin typeface="+mn-lt"/>
                <a:ea typeface="楷体" pitchFamily="49" charset="-122"/>
              </a:rPr>
              <a:t>        程序可以动态分配一个数组，也可以动态分配其它类型的数据单元。动态分配的内存需要有一个</a:t>
            </a:r>
            <a:r>
              <a:rPr lang="zh-CN" altLang="en-US" dirty="0">
                <a:solidFill>
                  <a:srgbClr val="C00000"/>
                </a:solidFill>
                <a:latin typeface="+mn-lt"/>
                <a:ea typeface="楷体" pitchFamily="49" charset="-122"/>
              </a:rPr>
              <a:t>指针变量</a:t>
            </a:r>
            <a:r>
              <a:rPr lang="zh-CN" altLang="en-US" dirty="0">
                <a:latin typeface="+mn-lt"/>
                <a:ea typeface="楷体" pitchFamily="49" charset="-122"/>
              </a:rPr>
              <a:t>记录内存的起始地址。</a:t>
            </a:r>
          </a:p>
          <a:p>
            <a:pPr>
              <a:lnSpc>
                <a:spcPts val="2900"/>
              </a:lnSpc>
              <a:spcBef>
                <a:spcPts val="0"/>
              </a:spcBef>
            </a:pPr>
            <a:r>
              <a:rPr lang="zh-CN" altLang="en-US" dirty="0">
                <a:solidFill>
                  <a:srgbClr val="FF3300"/>
                </a:solidFill>
                <a:latin typeface="+mn-lt"/>
                <a:ea typeface="楷体" pitchFamily="49" charset="-122"/>
              </a:rPr>
              <a:t>        </a:t>
            </a:r>
            <a:r>
              <a:rPr lang="en-US" altLang="zh-CN" dirty="0">
                <a:solidFill>
                  <a:srgbClr val="C00000"/>
                </a:solidFill>
                <a:latin typeface="+mn-lt"/>
                <a:ea typeface="楷体" pitchFamily="49" charset="-122"/>
              </a:rPr>
              <a:t>(1)   </a:t>
            </a:r>
            <a:r>
              <a:rPr lang="en-US" altLang="zh-CN" dirty="0" err="1">
                <a:solidFill>
                  <a:srgbClr val="C00000"/>
                </a:solidFill>
                <a:latin typeface="+mn-lt"/>
                <a:ea typeface="楷体" pitchFamily="49" charset="-122"/>
              </a:rPr>
              <a:t>malloc</a:t>
            </a:r>
            <a:endParaRPr lang="en-US" altLang="zh-CN" dirty="0">
              <a:solidFill>
                <a:srgbClr val="C00000"/>
              </a:solidFill>
              <a:latin typeface="+mn-lt"/>
              <a:ea typeface="楷体" pitchFamily="49" charset="-122"/>
            </a:endParaRPr>
          </a:p>
          <a:p>
            <a:pPr>
              <a:lnSpc>
                <a:spcPts val="2900"/>
              </a:lnSpc>
              <a:spcBef>
                <a:spcPts val="0"/>
              </a:spcBef>
            </a:pPr>
            <a:r>
              <a:rPr lang="en-US" altLang="zh-CN" dirty="0">
                <a:latin typeface="+mn-lt"/>
                <a:ea typeface="楷体" pitchFamily="49" charset="-122"/>
              </a:rPr>
              <a:t>        </a:t>
            </a:r>
            <a:r>
              <a:rPr lang="zh-CN" altLang="en-US" dirty="0">
                <a:latin typeface="+mn-lt"/>
                <a:ea typeface="楷体" pitchFamily="49" charset="-122"/>
              </a:rPr>
              <a:t>函数</a:t>
            </a:r>
            <a:r>
              <a:rPr lang="en-US" altLang="zh-CN" dirty="0" err="1">
                <a:latin typeface="+mn-lt"/>
                <a:ea typeface="楷体" pitchFamily="49" charset="-122"/>
              </a:rPr>
              <a:t>malloc</a:t>
            </a:r>
            <a:r>
              <a:rPr lang="en-US" altLang="zh-CN" dirty="0">
                <a:latin typeface="+mn-lt"/>
                <a:ea typeface="楷体" pitchFamily="49" charset="-122"/>
              </a:rPr>
              <a:t>()</a:t>
            </a:r>
            <a:r>
              <a:rPr lang="zh-CN" altLang="en-US" dirty="0">
                <a:latin typeface="+mn-lt"/>
                <a:ea typeface="楷体" pitchFamily="49" charset="-122"/>
              </a:rPr>
              <a:t>用于分配若干个字节的内存空间，返回一个指向该存储区地址的指针。</a:t>
            </a:r>
          </a:p>
          <a:p>
            <a:pPr>
              <a:lnSpc>
                <a:spcPts val="2900"/>
              </a:lnSpc>
              <a:spcBef>
                <a:spcPts val="0"/>
              </a:spcBef>
            </a:pPr>
            <a:r>
              <a:rPr lang="zh-CN" altLang="en-US" dirty="0">
                <a:latin typeface="+mn-lt"/>
                <a:ea typeface="楷体" pitchFamily="49" charset="-122"/>
              </a:rPr>
              <a:t>      其函数的原型为： </a:t>
            </a:r>
          </a:p>
        </p:txBody>
      </p:sp>
      <p:sp>
        <p:nvSpPr>
          <p:cNvPr id="1184788" name="Text Box 20"/>
          <p:cNvSpPr txBox="1">
            <a:spLocks noChangeArrowheads="1"/>
          </p:cNvSpPr>
          <p:nvPr/>
        </p:nvSpPr>
        <p:spPr bwMode="auto">
          <a:xfrm>
            <a:off x="2927648" y="4329852"/>
            <a:ext cx="6985000" cy="504825"/>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marL="342900" indent="-342900" algn="ctr"/>
            <a:r>
              <a:rPr lang="en-US" altLang="zh-CN" dirty="0">
                <a:ea typeface="宋体" pitchFamily="2" charset="-122"/>
              </a:rPr>
              <a:t>void  *</a:t>
            </a:r>
            <a:r>
              <a:rPr lang="en-US" altLang="zh-CN" dirty="0" err="1">
                <a:solidFill>
                  <a:srgbClr val="C00000"/>
                </a:solidFill>
                <a:ea typeface="宋体" pitchFamily="2" charset="-122"/>
              </a:rPr>
              <a:t>malloc</a:t>
            </a:r>
            <a:r>
              <a:rPr lang="en-US" altLang="zh-CN" dirty="0">
                <a:ea typeface="宋体" pitchFamily="2" charset="-122"/>
              </a:rPr>
              <a:t>( unsigned </a:t>
            </a:r>
            <a:r>
              <a:rPr lang="en-US" altLang="zh-CN" dirty="0" err="1">
                <a:ea typeface="宋体" pitchFamily="2" charset="-122"/>
              </a:rPr>
              <a:t>int</a:t>
            </a:r>
            <a:r>
              <a:rPr lang="en-US" altLang="zh-CN" dirty="0"/>
              <a:t> size );</a:t>
            </a:r>
          </a:p>
        </p:txBody>
      </p:sp>
      <p:sp>
        <p:nvSpPr>
          <p:cNvPr id="1184789" name="Rectangle 21"/>
          <p:cNvSpPr>
            <a:spLocks noChangeArrowheads="1"/>
          </p:cNvSpPr>
          <p:nvPr/>
        </p:nvSpPr>
        <p:spPr bwMode="auto">
          <a:xfrm>
            <a:off x="1271464" y="4834677"/>
            <a:ext cx="10009112" cy="1603452"/>
          </a:xfrm>
          <a:prstGeom prst="rect">
            <a:avLst/>
          </a:prstGeom>
          <a:noFill/>
          <a:ln w="9525" algn="ctr">
            <a:noFill/>
            <a:miter lim="800000"/>
            <a:headEnd/>
            <a:tailEnd/>
          </a:ln>
          <a:effectLst/>
        </p:spPr>
        <p:txBody>
          <a:bodyPr wrap="square" anchor="ctr">
            <a:spAutoFit/>
          </a:bodyPr>
          <a:lstStyle/>
          <a:p>
            <a:pPr>
              <a:lnSpc>
                <a:spcPts val="3000"/>
              </a:lnSpc>
              <a:spcBef>
                <a:spcPts val="0"/>
              </a:spcBef>
              <a:tabLst>
                <a:tab pos="457200" algn="l"/>
              </a:tabLst>
            </a:pPr>
            <a:r>
              <a:rPr lang="zh-CN" altLang="en-US" u="sng" dirty="0">
                <a:solidFill>
                  <a:srgbClr val="002060"/>
                </a:solidFill>
                <a:latin typeface="+mn-lt"/>
                <a:ea typeface="楷体" pitchFamily="49" charset="-122"/>
              </a:rPr>
              <a:t>说明：</a:t>
            </a:r>
          </a:p>
          <a:p>
            <a:pPr marL="342900" indent="-342900">
              <a:lnSpc>
                <a:spcPts val="3000"/>
              </a:lnSpc>
              <a:spcBef>
                <a:spcPts val="0"/>
              </a:spcBef>
              <a:buClr>
                <a:schemeClr val="accent2">
                  <a:lumMod val="50000"/>
                </a:schemeClr>
              </a:buClr>
              <a:buFont typeface="Wingdings" panose="05000000000000000000" pitchFamily="2" charset="2"/>
              <a:buChar char="l"/>
              <a:tabLst>
                <a:tab pos="457200" algn="l"/>
              </a:tabLst>
            </a:pPr>
            <a:r>
              <a:rPr lang="en-US" altLang="zh-CN" dirty="0">
                <a:latin typeface="+mn-lt"/>
                <a:ea typeface="楷体" pitchFamily="49" charset="-122"/>
              </a:rPr>
              <a:t> size</a:t>
            </a:r>
            <a:r>
              <a:rPr lang="zh-CN" altLang="en-US" dirty="0">
                <a:latin typeface="+mn-lt"/>
                <a:ea typeface="楷体" pitchFamily="49" charset="-122"/>
              </a:rPr>
              <a:t>这个参数的含义是分配的内存的大小 </a:t>
            </a:r>
            <a:r>
              <a:rPr lang="en-US" altLang="zh-CN" dirty="0">
                <a:latin typeface="+mn-lt"/>
                <a:ea typeface="楷体" pitchFamily="49" charset="-122"/>
              </a:rPr>
              <a:t>(</a:t>
            </a:r>
            <a:r>
              <a:rPr lang="zh-CN" altLang="en-US" dirty="0">
                <a:latin typeface="+mn-lt"/>
                <a:ea typeface="楷体" pitchFamily="49" charset="-122"/>
              </a:rPr>
              <a:t>以</a:t>
            </a:r>
            <a:r>
              <a:rPr lang="zh-CN" altLang="en-US" dirty="0">
                <a:solidFill>
                  <a:srgbClr val="C00000"/>
                </a:solidFill>
                <a:latin typeface="+mn-lt"/>
                <a:ea typeface="楷体" pitchFamily="49" charset="-122"/>
              </a:rPr>
              <a:t>字节</a:t>
            </a:r>
            <a:r>
              <a:rPr lang="zh-CN" altLang="en-US" dirty="0">
                <a:latin typeface="+mn-lt"/>
                <a:ea typeface="楷体" pitchFamily="49" charset="-122"/>
              </a:rPr>
              <a:t>为单位</a:t>
            </a:r>
            <a:r>
              <a:rPr lang="en-US" altLang="zh-CN" dirty="0">
                <a:latin typeface="+mn-lt"/>
                <a:ea typeface="楷体" pitchFamily="49" charset="-122"/>
              </a:rPr>
              <a:t>)</a:t>
            </a:r>
            <a:r>
              <a:rPr lang="zh-CN" altLang="en-US" dirty="0">
                <a:latin typeface="+mn-lt"/>
                <a:ea typeface="楷体" pitchFamily="49" charset="-122"/>
              </a:rPr>
              <a:t>。</a:t>
            </a:r>
            <a:endParaRPr lang="en-US" altLang="zh-CN" dirty="0">
              <a:latin typeface="+mn-lt"/>
              <a:ea typeface="楷体" pitchFamily="49" charset="-122"/>
            </a:endParaRPr>
          </a:p>
          <a:p>
            <a:pPr marL="342900" indent="-342900">
              <a:lnSpc>
                <a:spcPts val="3000"/>
              </a:lnSpc>
              <a:spcBef>
                <a:spcPts val="0"/>
              </a:spcBef>
              <a:buClr>
                <a:schemeClr val="accent2">
                  <a:lumMod val="50000"/>
                </a:schemeClr>
              </a:buClr>
              <a:buFont typeface="Wingdings" panose="05000000000000000000" pitchFamily="2" charset="2"/>
              <a:buChar char="l"/>
              <a:tabLst>
                <a:tab pos="457200" algn="l"/>
              </a:tabLst>
            </a:pPr>
            <a:r>
              <a:rPr lang="zh-CN" altLang="en-US" dirty="0">
                <a:latin typeface="+mn-lt"/>
                <a:ea typeface="楷体" pitchFamily="49" charset="-122"/>
              </a:rPr>
              <a:t>返回值：</a:t>
            </a:r>
            <a:r>
              <a:rPr lang="zh-CN" altLang="en-US" dirty="0">
                <a:solidFill>
                  <a:srgbClr val="002060"/>
                </a:solidFill>
                <a:latin typeface="+mn-lt"/>
                <a:ea typeface="楷体" pitchFamily="49" charset="-122"/>
              </a:rPr>
              <a:t>失败</a:t>
            </a:r>
            <a:r>
              <a:rPr lang="zh-CN" altLang="en-US" dirty="0">
                <a:latin typeface="+mn-lt"/>
                <a:ea typeface="楷体" pitchFamily="49" charset="-122"/>
              </a:rPr>
              <a:t>，则返回值是</a:t>
            </a:r>
            <a:r>
              <a:rPr lang="en-US" altLang="zh-CN" dirty="0">
                <a:latin typeface="+mn-lt"/>
                <a:ea typeface="楷体" pitchFamily="49" charset="-122"/>
              </a:rPr>
              <a:t>NULL</a:t>
            </a:r>
            <a:r>
              <a:rPr lang="zh-CN" altLang="en-US" dirty="0">
                <a:latin typeface="+mn-lt"/>
                <a:ea typeface="楷体" pitchFamily="49" charset="-122"/>
              </a:rPr>
              <a:t>（空指针）。</a:t>
            </a:r>
            <a:r>
              <a:rPr lang="zh-CN" altLang="en-US" dirty="0">
                <a:solidFill>
                  <a:srgbClr val="002060"/>
                </a:solidFill>
                <a:latin typeface="+mn-lt"/>
                <a:ea typeface="楷体" pitchFamily="49" charset="-122"/>
              </a:rPr>
              <a:t>成功</a:t>
            </a:r>
            <a:r>
              <a:rPr lang="zh-CN" altLang="en-US" dirty="0">
                <a:latin typeface="+mn-lt"/>
                <a:ea typeface="楷体" pitchFamily="49" charset="-122"/>
              </a:rPr>
              <a:t>，则返回值是一个指向空类型（</a:t>
            </a:r>
            <a:r>
              <a:rPr lang="en-US" altLang="zh-CN" dirty="0">
                <a:latin typeface="+mn-lt"/>
                <a:ea typeface="楷体" pitchFamily="49" charset="-122"/>
              </a:rPr>
              <a:t>void</a:t>
            </a:r>
            <a:r>
              <a:rPr lang="zh-CN" altLang="en-US" dirty="0">
                <a:latin typeface="+mn-lt"/>
                <a:ea typeface="楷体" pitchFamily="49" charset="-122"/>
              </a:rPr>
              <a:t>）的指针 </a:t>
            </a:r>
            <a:r>
              <a:rPr lang="en-US" altLang="zh-CN" dirty="0">
                <a:latin typeface="+mn-lt"/>
                <a:ea typeface="楷体" pitchFamily="49" charset="-122"/>
              </a:rPr>
              <a:t>(</a:t>
            </a:r>
            <a:r>
              <a:rPr lang="zh-CN" altLang="en-US" dirty="0">
                <a:latin typeface="+mn-lt"/>
                <a:ea typeface="楷体" pitchFamily="49" charset="-122"/>
              </a:rPr>
              <a:t>即所分配内存块的首地址</a:t>
            </a:r>
            <a:r>
              <a:rPr lang="en-US" altLang="zh-CN" dirty="0">
                <a:latin typeface="+mn-lt"/>
                <a:ea typeface="楷体" pitchFamily="49" charset="-122"/>
              </a:rPr>
              <a:t>)</a:t>
            </a:r>
            <a:r>
              <a:rPr lang="zh-CN" altLang="en-US" dirty="0">
                <a:latin typeface="+mn-lt"/>
                <a:ea typeface="楷体" pitchFamily="49" charset="-122"/>
              </a:rPr>
              <a:t>。</a:t>
            </a:r>
          </a:p>
        </p:txBody>
      </p:sp>
      <p:sp>
        <p:nvSpPr>
          <p:cNvPr id="9" name="Rectangle 4">
            <a:extLst>
              <a:ext uri="{FF2B5EF4-FFF2-40B4-BE49-F238E27FC236}">
                <a16:creationId xmlns:a16="http://schemas.microsoft.com/office/drawing/2014/main" id="{EC275A6C-40CB-4A03-95CB-E8A9592F1EB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指针与动态内存分配</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4774"/>
                                        </p:tgtEl>
                                        <p:attrNameLst>
                                          <p:attrName>style.visibility</p:attrName>
                                        </p:attrNameLst>
                                      </p:cBhvr>
                                      <p:to>
                                        <p:strVal val="visible"/>
                                      </p:to>
                                    </p:set>
                                    <p:anim calcmode="lin" valueType="num">
                                      <p:cBhvr additive="base">
                                        <p:cTn id="7" dur="500" fill="hold"/>
                                        <p:tgtEl>
                                          <p:spTgt spid="1184774"/>
                                        </p:tgtEl>
                                        <p:attrNameLst>
                                          <p:attrName>ppt_x</p:attrName>
                                        </p:attrNameLst>
                                      </p:cBhvr>
                                      <p:tavLst>
                                        <p:tav tm="0">
                                          <p:val>
                                            <p:strVal val="0-#ppt_w/2"/>
                                          </p:val>
                                        </p:tav>
                                        <p:tav tm="100000">
                                          <p:val>
                                            <p:strVal val="#ppt_x"/>
                                          </p:val>
                                        </p:tav>
                                      </p:tavLst>
                                    </p:anim>
                                    <p:anim calcmode="lin" valueType="num">
                                      <p:cBhvr additive="base">
                                        <p:cTn id="8" dur="500" fill="hold"/>
                                        <p:tgtEl>
                                          <p:spTgt spid="118477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84786">
                                            <p:txEl>
                                              <p:pRg st="0" end="0"/>
                                            </p:txEl>
                                          </p:spTgt>
                                        </p:tgtEl>
                                        <p:attrNameLst>
                                          <p:attrName>style.visibility</p:attrName>
                                        </p:attrNameLst>
                                      </p:cBhvr>
                                      <p:to>
                                        <p:strVal val="visible"/>
                                      </p:to>
                                    </p:set>
                                    <p:animEffect transition="in" filter="box(out)">
                                      <p:cBhvr>
                                        <p:cTn id="13" dur="500"/>
                                        <p:tgtEl>
                                          <p:spTgt spid="1184786">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84786">
                                            <p:txEl>
                                              <p:pRg st="1" end="1"/>
                                            </p:txEl>
                                          </p:spTgt>
                                        </p:tgtEl>
                                        <p:attrNameLst>
                                          <p:attrName>style.visibility</p:attrName>
                                        </p:attrNameLst>
                                      </p:cBhvr>
                                      <p:to>
                                        <p:strVal val="visible"/>
                                      </p:to>
                                    </p:set>
                                    <p:animEffect transition="in" filter="box(out)">
                                      <p:cBhvr>
                                        <p:cTn id="18" dur="500"/>
                                        <p:tgtEl>
                                          <p:spTgt spid="1184786">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84786">
                                            <p:txEl>
                                              <p:pRg st="2" end="2"/>
                                            </p:txEl>
                                          </p:spTgt>
                                        </p:tgtEl>
                                        <p:attrNameLst>
                                          <p:attrName>style.visibility</p:attrName>
                                        </p:attrNameLst>
                                      </p:cBhvr>
                                      <p:to>
                                        <p:strVal val="visible"/>
                                      </p:to>
                                    </p:set>
                                    <p:animEffect transition="in" filter="box(out)">
                                      <p:cBhvr>
                                        <p:cTn id="23" dur="500"/>
                                        <p:tgtEl>
                                          <p:spTgt spid="1184786">
                                            <p:txEl>
                                              <p:pRg st="2" end="2"/>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184786">
                                            <p:txEl>
                                              <p:pRg st="3" end="3"/>
                                            </p:txEl>
                                          </p:spTgt>
                                        </p:tgtEl>
                                        <p:attrNameLst>
                                          <p:attrName>style.visibility</p:attrName>
                                        </p:attrNameLst>
                                      </p:cBhvr>
                                      <p:to>
                                        <p:strVal val="visible"/>
                                      </p:to>
                                    </p:set>
                                    <p:animEffect transition="in" filter="box(out)">
                                      <p:cBhvr>
                                        <p:cTn id="28" dur="500"/>
                                        <p:tgtEl>
                                          <p:spTgt spid="1184786">
                                            <p:txEl>
                                              <p:pRg st="3" end="3"/>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1184786">
                                            <p:txEl>
                                              <p:pRg st="4" end="4"/>
                                            </p:txEl>
                                          </p:spTgt>
                                        </p:tgtEl>
                                        <p:attrNameLst>
                                          <p:attrName>style.visibility</p:attrName>
                                        </p:attrNameLst>
                                      </p:cBhvr>
                                      <p:to>
                                        <p:strVal val="visible"/>
                                      </p:to>
                                    </p:set>
                                    <p:animEffect transition="in" filter="box(out)">
                                      <p:cBhvr>
                                        <p:cTn id="33" dur="500"/>
                                        <p:tgtEl>
                                          <p:spTgt spid="1184786">
                                            <p:txEl>
                                              <p:pRg st="4" end="4"/>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184788"/>
                                        </p:tgtEl>
                                        <p:attrNameLst>
                                          <p:attrName>style.visibility</p:attrName>
                                        </p:attrNameLst>
                                      </p:cBhvr>
                                      <p:to>
                                        <p:strVal val="visible"/>
                                      </p:to>
                                    </p:set>
                                    <p:animEffect transition="in" filter="box(out)">
                                      <p:cBhvr>
                                        <p:cTn id="38" dur="500"/>
                                        <p:tgtEl>
                                          <p:spTgt spid="1184788"/>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184789"/>
                                        </p:tgtEl>
                                        <p:attrNameLst>
                                          <p:attrName>style.visibility</p:attrName>
                                        </p:attrNameLst>
                                      </p:cBhvr>
                                      <p:to>
                                        <p:strVal val="visible"/>
                                      </p:to>
                                    </p:set>
                                    <p:animEffect transition="in" filter="box(out)">
                                      <p:cBhvr>
                                        <p:cTn id="43" dur="500"/>
                                        <p:tgtEl>
                                          <p:spTgt spid="1184789"/>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4774" grpId="0"/>
      <p:bldP spid="1184788" grpId="0" animBg="1"/>
      <p:bldP spid="1184789"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5797" name="Rectangle 5"/>
          <p:cNvSpPr>
            <a:spLocks noChangeArrowheads="1"/>
          </p:cNvSpPr>
          <p:nvPr/>
        </p:nvSpPr>
        <p:spPr bwMode="auto">
          <a:xfrm>
            <a:off x="674391" y="832992"/>
            <a:ext cx="2967479" cy="52322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800" b="1" dirty="0">
                <a:solidFill>
                  <a:srgbClr val="C00000"/>
                </a:solidFill>
                <a:latin typeface="+mn-lt"/>
                <a:ea typeface="楷体" pitchFamily="49" charset="-122"/>
              </a:rPr>
              <a:t>2</a:t>
            </a:r>
            <a:r>
              <a:rPr lang="zh-CN" altLang="en-US" sz="2800" b="1" dirty="0">
                <a:solidFill>
                  <a:srgbClr val="C00000"/>
                </a:solidFill>
                <a:latin typeface="+mn-lt"/>
                <a:ea typeface="楷体" pitchFamily="49" charset="-122"/>
              </a:rPr>
              <a:t>、动态内存分配</a:t>
            </a:r>
            <a:r>
              <a:rPr lang="zh-CN" altLang="en-US" b="1" dirty="0">
                <a:solidFill>
                  <a:srgbClr val="C00000"/>
                </a:solidFill>
                <a:latin typeface="+mn-lt"/>
                <a:ea typeface="楷体" pitchFamily="49" charset="-122"/>
              </a:rPr>
              <a:t> </a:t>
            </a:r>
          </a:p>
        </p:txBody>
      </p:sp>
      <p:sp>
        <p:nvSpPr>
          <p:cNvPr id="1185801" name="Rectangle 9" descr="信纸"/>
          <p:cNvSpPr>
            <a:spLocks noChangeArrowheads="1"/>
          </p:cNvSpPr>
          <p:nvPr/>
        </p:nvSpPr>
        <p:spPr bwMode="auto">
          <a:xfrm>
            <a:off x="1490810" y="2607430"/>
            <a:ext cx="6327526" cy="3416320"/>
          </a:xfrm>
          <a:prstGeom prst="rect">
            <a:avLst/>
          </a:prstGeom>
          <a:gradFill>
            <a:gsLst>
              <a:gs pos="0">
                <a:srgbClr val="CFCFD1"/>
              </a:gs>
              <a:gs pos="100000">
                <a:schemeClr val="bg1"/>
              </a:gs>
            </a:gsLst>
            <a:lin ang="135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t>  </a:t>
            </a:r>
            <a:r>
              <a:rPr lang="en-US" altLang="zh-CN" sz="2000" dirty="0" err="1"/>
              <a:t>int</a:t>
            </a:r>
            <a:r>
              <a:rPr lang="en-US" altLang="zh-CN" sz="2000" dirty="0"/>
              <a:t> n, *</a:t>
            </a:r>
            <a:r>
              <a:rPr lang="en-US" altLang="zh-CN" sz="2000" dirty="0" err="1"/>
              <a:t>pscore</a:t>
            </a:r>
            <a:r>
              <a:rPr lang="en-US" altLang="zh-CN" sz="2000" dirty="0"/>
              <a:t>;</a:t>
            </a:r>
          </a:p>
          <a:p>
            <a:r>
              <a:rPr lang="en-US" altLang="zh-CN" sz="2000" dirty="0"/>
              <a:t>  </a:t>
            </a:r>
            <a:r>
              <a:rPr lang="en-US" altLang="zh-CN" sz="2000" dirty="0" err="1"/>
              <a:t>scanf</a:t>
            </a:r>
            <a:r>
              <a:rPr lang="en-US" altLang="zh-CN" sz="2000" dirty="0"/>
              <a:t> ("%d", &amp;n);</a:t>
            </a:r>
          </a:p>
          <a:p>
            <a:r>
              <a:rPr lang="en-US" altLang="zh-CN" sz="1800" dirty="0">
                <a:solidFill>
                  <a:srgbClr val="002060"/>
                </a:solidFill>
                <a:latin typeface="+mn-lt"/>
                <a:ea typeface="楷体" pitchFamily="49" charset="-122"/>
              </a:rPr>
              <a:t>  //</a:t>
            </a:r>
            <a:r>
              <a:rPr lang="zh-CN" altLang="en-US" sz="1800" dirty="0">
                <a:solidFill>
                  <a:srgbClr val="002060"/>
                </a:solidFill>
                <a:latin typeface="+mn-lt"/>
                <a:ea typeface="楷体" pitchFamily="49" charset="-122"/>
              </a:rPr>
              <a:t>分配</a:t>
            </a:r>
            <a:r>
              <a:rPr lang="en-US" altLang="zh-CN" sz="1800" dirty="0">
                <a:solidFill>
                  <a:srgbClr val="002060"/>
                </a:solidFill>
                <a:latin typeface="+mn-lt"/>
                <a:ea typeface="楷体" pitchFamily="49" charset="-122"/>
              </a:rPr>
              <a:t>n</a:t>
            </a:r>
            <a:r>
              <a:rPr lang="zh-CN" altLang="en-US" sz="1800" dirty="0">
                <a:solidFill>
                  <a:srgbClr val="002060"/>
                </a:solidFill>
                <a:latin typeface="+mn-lt"/>
                <a:ea typeface="楷体" pitchFamily="49" charset="-122"/>
              </a:rPr>
              <a:t>个连续的整型单元，首地址赋给</a:t>
            </a:r>
            <a:r>
              <a:rPr lang="en-US" altLang="zh-CN" sz="1800" dirty="0" err="1">
                <a:solidFill>
                  <a:srgbClr val="002060"/>
                </a:solidFill>
                <a:latin typeface="+mn-lt"/>
                <a:ea typeface="楷体" pitchFamily="49" charset="-122"/>
              </a:rPr>
              <a:t>pscore</a:t>
            </a:r>
            <a:endParaRPr lang="en-US" altLang="zh-CN" sz="1800" dirty="0">
              <a:solidFill>
                <a:srgbClr val="002060"/>
              </a:solidFill>
              <a:latin typeface="+mn-lt"/>
              <a:ea typeface="楷体" pitchFamily="49" charset="-122"/>
            </a:endParaRPr>
          </a:p>
          <a:p>
            <a:r>
              <a:rPr lang="en-US" altLang="zh-CN" sz="2000" dirty="0">
                <a:solidFill>
                  <a:srgbClr val="C00000"/>
                </a:solidFill>
              </a:rPr>
              <a:t>  </a:t>
            </a:r>
            <a:r>
              <a:rPr lang="en-US" altLang="zh-CN" sz="2000" dirty="0" err="1">
                <a:solidFill>
                  <a:srgbClr val="C00000"/>
                </a:solidFill>
              </a:rPr>
              <a:t>pscore</a:t>
            </a:r>
            <a:r>
              <a:rPr lang="en-US" altLang="zh-CN" sz="2000" dirty="0">
                <a:solidFill>
                  <a:srgbClr val="C00000"/>
                </a:solidFill>
              </a:rPr>
              <a:t> = (</a:t>
            </a:r>
            <a:r>
              <a:rPr lang="en-US" altLang="zh-CN" sz="2000" dirty="0" err="1">
                <a:solidFill>
                  <a:srgbClr val="C00000"/>
                </a:solidFill>
              </a:rPr>
              <a:t>int</a:t>
            </a:r>
            <a:r>
              <a:rPr lang="en-US" altLang="zh-CN" sz="2000" dirty="0">
                <a:solidFill>
                  <a:srgbClr val="C00000"/>
                </a:solidFill>
              </a:rPr>
              <a:t> *) </a:t>
            </a:r>
            <a:r>
              <a:rPr lang="en-US" altLang="zh-CN" sz="2000" dirty="0" err="1">
                <a:solidFill>
                  <a:srgbClr val="C00000"/>
                </a:solidFill>
              </a:rPr>
              <a:t>malloc</a:t>
            </a:r>
            <a:r>
              <a:rPr lang="en-US" altLang="zh-CN" sz="2000" dirty="0">
                <a:solidFill>
                  <a:srgbClr val="C00000"/>
                </a:solidFill>
              </a:rPr>
              <a:t>(n * </a:t>
            </a:r>
            <a:r>
              <a:rPr lang="en-US" altLang="zh-CN" sz="2000" dirty="0" err="1">
                <a:solidFill>
                  <a:srgbClr val="C00000"/>
                </a:solidFill>
              </a:rPr>
              <a:t>sizeof</a:t>
            </a:r>
            <a:r>
              <a:rPr lang="en-US" altLang="zh-CN" sz="2000" dirty="0">
                <a:solidFill>
                  <a:srgbClr val="C00000"/>
                </a:solidFill>
              </a:rPr>
              <a:t>(</a:t>
            </a:r>
            <a:r>
              <a:rPr lang="en-US" altLang="zh-CN" sz="2000" dirty="0" err="1">
                <a:solidFill>
                  <a:srgbClr val="C00000"/>
                </a:solidFill>
              </a:rPr>
              <a:t>int</a:t>
            </a:r>
            <a:r>
              <a:rPr lang="en-US" altLang="zh-CN" sz="2000" dirty="0">
                <a:solidFill>
                  <a:srgbClr val="C00000"/>
                </a:solidFill>
              </a:rPr>
              <a:t>));  </a:t>
            </a:r>
          </a:p>
          <a:p>
            <a:r>
              <a:rPr lang="en-US" altLang="zh-CN" sz="1800" dirty="0">
                <a:solidFill>
                  <a:schemeClr val="accent2"/>
                </a:solidFill>
                <a:latin typeface="+mn-lt"/>
                <a:ea typeface="楷体" pitchFamily="49" charset="-122"/>
              </a:rPr>
              <a:t>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分配内存失败，则给出错误信息后退出</a:t>
            </a:r>
          </a:p>
          <a:p>
            <a:r>
              <a:rPr lang="en-US" altLang="zh-CN" sz="2000" dirty="0"/>
              <a:t>  if (</a:t>
            </a:r>
            <a:r>
              <a:rPr lang="en-US" altLang="zh-CN" sz="2000" dirty="0" err="1"/>
              <a:t>pscore</a:t>
            </a:r>
            <a:r>
              <a:rPr lang="en-US" altLang="zh-CN" sz="2000" dirty="0"/>
              <a:t> == NULL)</a:t>
            </a:r>
            <a:endParaRPr lang="en-US" altLang="zh-CN" sz="2000" dirty="0">
              <a:solidFill>
                <a:schemeClr val="accent2"/>
              </a:solidFill>
            </a:endParaRPr>
          </a:p>
          <a:p>
            <a:r>
              <a:rPr lang="en-US" altLang="zh-CN" sz="2000" dirty="0"/>
              <a:t>  {</a:t>
            </a:r>
          </a:p>
          <a:p>
            <a:r>
              <a:rPr lang="en-US" altLang="zh-CN" sz="2000" dirty="0"/>
              <a:t>    </a:t>
            </a:r>
            <a:r>
              <a:rPr lang="en-US" altLang="zh-CN" sz="2000" dirty="0" err="1"/>
              <a:t>printf</a:t>
            </a:r>
            <a:r>
              <a:rPr lang="en-US" altLang="zh-CN" sz="2000" dirty="0"/>
              <a:t> ("Insufficient memory available! ");</a:t>
            </a:r>
          </a:p>
          <a:p>
            <a:r>
              <a:rPr lang="en-US" altLang="zh-CN" sz="2000" dirty="0"/>
              <a:t>    exit (0);</a:t>
            </a:r>
          </a:p>
          <a:p>
            <a:r>
              <a:rPr lang="en-US" altLang="zh-CN" sz="2000" dirty="0"/>
              <a:t>  }</a:t>
            </a:r>
          </a:p>
          <a:p>
            <a:r>
              <a:rPr lang="en-US" altLang="zh-CN" sz="2000" dirty="0"/>
              <a:t>  … …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可对</a:t>
            </a:r>
            <a:r>
              <a:rPr lang="en-US" altLang="zh-CN" sz="1800" dirty="0" err="1">
                <a:solidFill>
                  <a:srgbClr val="002060"/>
                </a:solidFill>
                <a:latin typeface="+mn-lt"/>
                <a:ea typeface="楷体" pitchFamily="49" charset="-122"/>
              </a:rPr>
              <a:t>pscore</a:t>
            </a:r>
            <a:r>
              <a:rPr lang="zh-CN" altLang="en-US" sz="1800" dirty="0">
                <a:solidFill>
                  <a:srgbClr val="002060"/>
                </a:solidFill>
                <a:latin typeface="+mn-lt"/>
                <a:ea typeface="楷体" pitchFamily="49" charset="-122"/>
              </a:rPr>
              <a:t>所指向的单元进行其它处理</a:t>
            </a:r>
          </a:p>
        </p:txBody>
      </p:sp>
      <p:sp>
        <p:nvSpPr>
          <p:cNvPr id="1185802" name="Rectangle 10"/>
          <p:cNvSpPr>
            <a:spLocks noChangeArrowheads="1"/>
          </p:cNvSpPr>
          <p:nvPr/>
        </p:nvSpPr>
        <p:spPr bwMode="auto">
          <a:xfrm>
            <a:off x="839416" y="1249908"/>
            <a:ext cx="10031136"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例如：根据学生人数来建立数组的问题可以用动态内存分配来解决，其方法如下</a:t>
            </a:r>
            <a:r>
              <a:rPr lang="en-US" altLang="zh-CN" dirty="0">
                <a:effectLst>
                  <a:outerShdw blurRad="38100" dist="38100" dir="2700000" algn="tl">
                    <a:srgbClr val="FFFFFF"/>
                  </a:outerShdw>
                </a:effectLst>
                <a:latin typeface="+mn-lt"/>
                <a:ea typeface="楷体" pitchFamily="49" charset="-122"/>
              </a:rPr>
              <a:t>: </a:t>
            </a:r>
          </a:p>
        </p:txBody>
      </p:sp>
      <p:grpSp>
        <p:nvGrpSpPr>
          <p:cNvPr id="1185814" name="Group 22"/>
          <p:cNvGrpSpPr>
            <a:grpSpLocks/>
          </p:cNvGrpSpPr>
          <p:nvPr/>
        </p:nvGrpSpPr>
        <p:grpSpPr bwMode="auto">
          <a:xfrm>
            <a:off x="8112224" y="1628924"/>
            <a:ext cx="2293938" cy="3771900"/>
            <a:chOff x="3923" y="935"/>
            <a:chExt cx="1445" cy="2376"/>
          </a:xfrm>
        </p:grpSpPr>
        <p:sp>
          <p:nvSpPr>
            <p:cNvPr id="1185805" name="AutoShape 13"/>
            <p:cNvSpPr>
              <a:spLocks noChangeArrowheads="1"/>
            </p:cNvSpPr>
            <p:nvPr/>
          </p:nvSpPr>
          <p:spPr bwMode="auto">
            <a:xfrm>
              <a:off x="4377" y="935"/>
              <a:ext cx="936" cy="2376"/>
            </a:xfrm>
            <a:prstGeom prst="foldedCorner">
              <a:avLst>
                <a:gd name="adj" fmla="val 13745"/>
              </a:avLst>
            </a:prstGeom>
            <a:solidFill>
              <a:srgbClr val="DDFAED"/>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ffectLst/>
                <a:ea typeface="隶书" pitchFamily="49" charset="-122"/>
              </a:endParaRPr>
            </a:p>
          </p:txBody>
        </p:sp>
        <p:sp>
          <p:nvSpPr>
            <p:cNvPr id="1185806" name="Line 14"/>
            <p:cNvSpPr>
              <a:spLocks noChangeShapeType="1"/>
            </p:cNvSpPr>
            <p:nvPr/>
          </p:nvSpPr>
          <p:spPr bwMode="auto">
            <a:xfrm>
              <a:off x="4377" y="1247"/>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85807" name="Line 15"/>
            <p:cNvSpPr>
              <a:spLocks noChangeShapeType="1"/>
            </p:cNvSpPr>
            <p:nvPr/>
          </p:nvSpPr>
          <p:spPr bwMode="auto">
            <a:xfrm>
              <a:off x="4377" y="1475"/>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85808" name="Line 16"/>
            <p:cNvSpPr>
              <a:spLocks noChangeShapeType="1"/>
            </p:cNvSpPr>
            <p:nvPr/>
          </p:nvSpPr>
          <p:spPr bwMode="auto">
            <a:xfrm>
              <a:off x="4377" y="1703"/>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85809" name="Line 17"/>
            <p:cNvSpPr>
              <a:spLocks noChangeShapeType="1"/>
            </p:cNvSpPr>
            <p:nvPr/>
          </p:nvSpPr>
          <p:spPr bwMode="auto">
            <a:xfrm>
              <a:off x="4377" y="2159"/>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85810" name="Line 18"/>
            <p:cNvSpPr>
              <a:spLocks noChangeShapeType="1"/>
            </p:cNvSpPr>
            <p:nvPr/>
          </p:nvSpPr>
          <p:spPr bwMode="auto">
            <a:xfrm>
              <a:off x="4377" y="2843"/>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85811" name="Text Box 19"/>
            <p:cNvSpPr txBox="1">
              <a:spLocks noChangeArrowheads="1"/>
            </p:cNvSpPr>
            <p:nvPr/>
          </p:nvSpPr>
          <p:spPr bwMode="auto">
            <a:xfrm>
              <a:off x="4370" y="2287"/>
              <a:ext cx="998" cy="446"/>
            </a:xfrm>
            <a:prstGeom prst="rect">
              <a:avLst/>
            </a:prstGeom>
            <a:noFill/>
            <a:ln w="9525" algn="ctr">
              <a:noFill/>
              <a:miter lim="800000"/>
              <a:headEnd/>
              <a:tailEnd/>
            </a:ln>
            <a:effectLst/>
          </p:spPr>
          <p:txBody>
            <a:bodyPr>
              <a:spAutoFit/>
            </a:bodyPr>
            <a:lstStyle/>
            <a:p>
              <a:pPr marL="342900" indent="-342900">
                <a:spcBef>
                  <a:spcPct val="50000"/>
                </a:spcBef>
              </a:pPr>
              <a:r>
                <a:rPr lang="zh-CN" altLang="en-US" sz="2000" b="1" dirty="0">
                  <a:solidFill>
                    <a:srgbClr val="002060"/>
                  </a:solidFill>
                  <a:latin typeface="+mn-lt"/>
                  <a:ea typeface="楷体" pitchFamily="49" charset="-122"/>
                </a:rPr>
                <a:t>动态分配的内存块</a:t>
              </a:r>
            </a:p>
          </p:txBody>
        </p:sp>
        <p:sp>
          <p:nvSpPr>
            <p:cNvPr id="1185812" name="Text Box 20"/>
            <p:cNvSpPr txBox="1">
              <a:spLocks noChangeArrowheads="1"/>
            </p:cNvSpPr>
            <p:nvPr/>
          </p:nvSpPr>
          <p:spPr bwMode="auto">
            <a:xfrm>
              <a:off x="3923" y="2251"/>
              <a:ext cx="453"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t>0100</a:t>
              </a:r>
            </a:p>
          </p:txBody>
        </p:sp>
      </p:grpSp>
      <p:sp>
        <p:nvSpPr>
          <p:cNvPr id="1185813" name="Text Box 21"/>
          <p:cNvSpPr txBox="1">
            <a:spLocks noChangeArrowheads="1"/>
          </p:cNvSpPr>
          <p:nvPr/>
        </p:nvSpPr>
        <p:spPr bwMode="auto">
          <a:xfrm>
            <a:off x="8861525" y="1630512"/>
            <a:ext cx="1584325" cy="461665"/>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err="1">
                <a:solidFill>
                  <a:srgbClr val="C00000"/>
                </a:solidFill>
              </a:rPr>
              <a:t>pscore</a:t>
            </a:r>
            <a:r>
              <a:rPr lang="en-US" altLang="zh-CN" sz="2000" b="1" dirty="0">
                <a:effectLst>
                  <a:outerShdw blurRad="38100" dist="38100" dir="2700000" algn="tl">
                    <a:srgbClr val="FFFFFF"/>
                  </a:outerShdw>
                </a:effectLst>
              </a:rPr>
              <a:t> 0100</a:t>
            </a:r>
            <a:r>
              <a:rPr lang="en-US" altLang="zh-CN" b="1" dirty="0">
                <a:effectLst>
                  <a:outerShdw blurRad="38100" dist="38100" dir="2700000" algn="tl">
                    <a:srgbClr val="FFFFFF"/>
                  </a:outerShdw>
                </a:effectLst>
              </a:rPr>
              <a:t> </a:t>
            </a:r>
          </a:p>
        </p:txBody>
      </p:sp>
      <p:grpSp>
        <p:nvGrpSpPr>
          <p:cNvPr id="1185818" name="Group 26"/>
          <p:cNvGrpSpPr>
            <a:grpSpLocks/>
          </p:cNvGrpSpPr>
          <p:nvPr/>
        </p:nvGrpSpPr>
        <p:grpSpPr bwMode="auto">
          <a:xfrm>
            <a:off x="10242649" y="1860700"/>
            <a:ext cx="503238" cy="1800225"/>
            <a:chOff x="5148" y="1117"/>
            <a:chExt cx="317" cy="1134"/>
          </a:xfrm>
        </p:grpSpPr>
        <p:sp>
          <p:nvSpPr>
            <p:cNvPr id="1185815" name="Line 23"/>
            <p:cNvSpPr>
              <a:spLocks noChangeShapeType="1"/>
            </p:cNvSpPr>
            <p:nvPr/>
          </p:nvSpPr>
          <p:spPr bwMode="auto">
            <a:xfrm>
              <a:off x="5148" y="1117"/>
              <a:ext cx="317" cy="0"/>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sp>
          <p:nvSpPr>
            <p:cNvPr id="1185816" name="Line 24"/>
            <p:cNvSpPr>
              <a:spLocks noChangeShapeType="1"/>
            </p:cNvSpPr>
            <p:nvPr/>
          </p:nvSpPr>
          <p:spPr bwMode="auto">
            <a:xfrm flipH="1">
              <a:off x="5211" y="2251"/>
              <a:ext cx="249"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185817" name="Line 25"/>
            <p:cNvSpPr>
              <a:spLocks noChangeShapeType="1"/>
            </p:cNvSpPr>
            <p:nvPr/>
          </p:nvSpPr>
          <p:spPr bwMode="auto">
            <a:xfrm>
              <a:off x="5465" y="1117"/>
              <a:ext cx="0" cy="1134"/>
            </a:xfrm>
            <a:prstGeom prst="line">
              <a:avLst/>
            </a:prstGeom>
            <a:noFill/>
            <a:ln w="28575">
              <a:solidFill>
                <a:srgbClr val="C00000"/>
              </a:solidFill>
              <a:round/>
              <a:headEnd/>
              <a:tailEnd/>
            </a:ln>
            <a:effectLst>
              <a:outerShdw dist="35921" dir="2700000" algn="ctr" rotWithShape="0">
                <a:schemeClr val="bg2"/>
              </a:outerShdw>
            </a:effectLst>
          </p:spPr>
          <p:txBody>
            <a:bodyPr/>
            <a:lstStyle/>
            <a:p>
              <a:endParaRPr lang="zh-CN" altLang="en-US"/>
            </a:p>
          </p:txBody>
        </p:sp>
      </p:grpSp>
      <p:sp>
        <p:nvSpPr>
          <p:cNvPr id="1185819" name="AutoShape 27"/>
          <p:cNvSpPr>
            <a:spLocks noChangeArrowheads="1"/>
          </p:cNvSpPr>
          <p:nvPr/>
        </p:nvSpPr>
        <p:spPr bwMode="auto">
          <a:xfrm>
            <a:off x="8802787" y="5805636"/>
            <a:ext cx="2159000" cy="647700"/>
          </a:xfrm>
          <a:prstGeom prst="wedgeRoundRectCallout">
            <a:avLst>
              <a:gd name="adj1" fmla="val -7060"/>
              <a:gd name="adj2" fmla="val -268630"/>
              <a:gd name="adj3" fmla="val 16667"/>
            </a:avLst>
          </a:prstGeom>
          <a:gradFill flip="none" rotWithShape="1">
            <a:gsLst>
              <a:gs pos="0">
                <a:srgbClr val="CFCFD1"/>
              </a:gs>
              <a:gs pos="100000">
                <a:schemeClr val="bg1"/>
              </a:gs>
            </a:gsLst>
            <a:lin ang="13500000" scaled="1"/>
            <a:tileRect/>
          </a:gradFill>
          <a:ln w="28575" algn="ctr">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r>
              <a:rPr lang="zh-CN" altLang="zh-CN" sz="1800">
                <a:solidFill>
                  <a:srgbClr val="C00000"/>
                </a:solidFill>
                <a:latin typeface="+mn-lt"/>
                <a:ea typeface="楷体" pitchFamily="49" charset="-122"/>
              </a:rPr>
              <a:t>共</a:t>
            </a:r>
            <a:r>
              <a:rPr lang="en-US" altLang="zh-CN" sz="1800">
                <a:solidFill>
                  <a:srgbClr val="C00000"/>
                </a:solidFill>
                <a:latin typeface="+mn-lt"/>
                <a:ea typeface="楷体" pitchFamily="49" charset="-122"/>
              </a:rPr>
              <a:t>n*sizeof(int)</a:t>
            </a:r>
            <a:r>
              <a:rPr lang="zh-CN" altLang="en-US" sz="1800">
                <a:solidFill>
                  <a:srgbClr val="C00000"/>
                </a:solidFill>
                <a:latin typeface="+mn-lt"/>
                <a:ea typeface="楷体" pitchFamily="49" charset="-122"/>
              </a:rPr>
              <a:t>个</a:t>
            </a:r>
          </a:p>
          <a:p>
            <a:pPr marL="342900" indent="-342900"/>
            <a:r>
              <a:rPr lang="zh-CN" altLang="en-US" sz="1800">
                <a:solidFill>
                  <a:srgbClr val="C00000"/>
                </a:solidFill>
                <a:latin typeface="+mn-lt"/>
                <a:ea typeface="楷体" pitchFamily="49" charset="-122"/>
              </a:rPr>
              <a:t>字节内存单元</a:t>
            </a:r>
          </a:p>
        </p:txBody>
      </p:sp>
      <p:sp>
        <p:nvSpPr>
          <p:cNvPr id="23" name="Rectangle 4">
            <a:extLst>
              <a:ext uri="{FF2B5EF4-FFF2-40B4-BE49-F238E27FC236}">
                <a16:creationId xmlns:a16="http://schemas.microsoft.com/office/drawing/2014/main" id="{3412D920-FC52-4322-B326-11317A57B8E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指针与动态内存分配</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85802"/>
                                        </p:tgtEl>
                                        <p:attrNameLst>
                                          <p:attrName>style.visibility</p:attrName>
                                        </p:attrNameLst>
                                      </p:cBhvr>
                                      <p:to>
                                        <p:strVal val="visible"/>
                                      </p:to>
                                    </p:set>
                                    <p:animEffect transition="in" filter="box(out)">
                                      <p:cBhvr>
                                        <p:cTn id="7" dur="500"/>
                                        <p:tgtEl>
                                          <p:spTgt spid="118580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85801"/>
                                        </p:tgtEl>
                                        <p:attrNameLst>
                                          <p:attrName>style.visibility</p:attrName>
                                        </p:attrNameLst>
                                      </p:cBhvr>
                                      <p:to>
                                        <p:strVal val="visible"/>
                                      </p:to>
                                    </p:set>
                                    <p:animEffect transition="in" filter="box(out)">
                                      <p:cBhvr>
                                        <p:cTn id="12" dur="500"/>
                                        <p:tgtEl>
                                          <p:spTgt spid="1185801"/>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185814"/>
                                        </p:tgtEl>
                                        <p:attrNameLst>
                                          <p:attrName>style.visibility</p:attrName>
                                        </p:attrNameLst>
                                      </p:cBhvr>
                                      <p:to>
                                        <p:strVal val="visible"/>
                                      </p:to>
                                    </p:set>
                                    <p:animEffect transition="in" filter="box(in)">
                                      <p:cBhvr>
                                        <p:cTn id="17" dur="500"/>
                                        <p:tgtEl>
                                          <p:spTgt spid="1185814"/>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85813"/>
                                        </p:tgtEl>
                                        <p:attrNameLst>
                                          <p:attrName>style.visibility</p:attrName>
                                        </p:attrNameLst>
                                      </p:cBhvr>
                                      <p:to>
                                        <p:strVal val="visible"/>
                                      </p:to>
                                    </p:set>
                                    <p:animEffect transition="in" filter="box(out)">
                                      <p:cBhvr>
                                        <p:cTn id="22" dur="500"/>
                                        <p:tgtEl>
                                          <p:spTgt spid="1185813"/>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par>
                          <p:cTn id="23" fill="hold">
                            <p:stCondLst>
                              <p:cond delay="500"/>
                            </p:stCondLst>
                            <p:childTnLst>
                              <p:par>
                                <p:cTn id="24" presetID="18" presetClass="entr" presetSubtype="12" fill="hold" nodeType="afterEffect">
                                  <p:stCondLst>
                                    <p:cond delay="0"/>
                                  </p:stCondLst>
                                  <p:childTnLst>
                                    <p:set>
                                      <p:cBhvr>
                                        <p:cTn id="25" dur="1" fill="hold">
                                          <p:stCondLst>
                                            <p:cond delay="0"/>
                                          </p:stCondLst>
                                        </p:cTn>
                                        <p:tgtEl>
                                          <p:spTgt spid="1185818"/>
                                        </p:tgtEl>
                                        <p:attrNameLst>
                                          <p:attrName>style.visibility</p:attrName>
                                        </p:attrNameLst>
                                      </p:cBhvr>
                                      <p:to>
                                        <p:strVal val="visible"/>
                                      </p:to>
                                    </p:set>
                                    <p:animEffect transition="in" filter="strips(downLeft)">
                                      <p:cBhvr>
                                        <p:cTn id="26" dur="500"/>
                                        <p:tgtEl>
                                          <p:spTgt spid="1185818"/>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par>
                          <p:cTn id="27" fill="hold">
                            <p:stCondLst>
                              <p:cond delay="1000"/>
                            </p:stCondLst>
                            <p:childTnLst>
                              <p:par>
                                <p:cTn id="28" presetID="18" presetClass="entr" presetSubtype="9" fill="hold" grpId="0" nodeType="afterEffect">
                                  <p:stCondLst>
                                    <p:cond delay="0"/>
                                  </p:stCondLst>
                                  <p:childTnLst>
                                    <p:set>
                                      <p:cBhvr>
                                        <p:cTn id="29" dur="1" fill="hold">
                                          <p:stCondLst>
                                            <p:cond delay="0"/>
                                          </p:stCondLst>
                                        </p:cTn>
                                        <p:tgtEl>
                                          <p:spTgt spid="1185819"/>
                                        </p:tgtEl>
                                        <p:attrNameLst>
                                          <p:attrName>style.visibility</p:attrName>
                                        </p:attrNameLst>
                                      </p:cBhvr>
                                      <p:to>
                                        <p:strVal val="visible"/>
                                      </p:to>
                                    </p:set>
                                    <p:animEffect transition="in" filter="strips(upLeft)">
                                      <p:cBhvr>
                                        <p:cTn id="30" dur="500"/>
                                        <p:tgtEl>
                                          <p:spTgt spid="1185819"/>
                                        </p:tgtEl>
                                      </p:cBhvr>
                                    </p:animEffect>
                                  </p:childTnLst>
                                  <p:subTnLst>
                                    <p:audio>
                                      <p:cMediaNode>
                                        <p:cTn display="0" masterRel="sameClick">
                                          <p:stCondLst>
                                            <p:cond evt="begin" delay="0">
                                              <p:tn val="28"/>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5801" grpId="0" animBg="1"/>
      <p:bldP spid="1185802" grpId="0"/>
      <p:bldP spid="1185813" grpId="0"/>
      <p:bldP spid="1185819"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6839" name="Rectangle 23"/>
          <p:cNvSpPr>
            <a:spLocks noChangeArrowheads="1"/>
          </p:cNvSpPr>
          <p:nvPr/>
        </p:nvSpPr>
        <p:spPr bwMode="auto">
          <a:xfrm>
            <a:off x="1033359" y="1583664"/>
            <a:ext cx="10247217" cy="4572214"/>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marL="342900" indent="-342900">
              <a:lnSpc>
                <a:spcPts val="3200"/>
              </a:lnSpc>
              <a:spcBef>
                <a:spcPts val="0"/>
              </a:spcBef>
              <a:buClr>
                <a:srgbClr val="C00000"/>
              </a:buClr>
              <a:buFont typeface="Wingdings" panose="05000000000000000000" pitchFamily="2" charset="2"/>
              <a:buChar char="l"/>
              <a:tabLst>
                <a:tab pos="266700" algn="l"/>
              </a:tabLst>
            </a:pPr>
            <a:r>
              <a:rPr lang="en-US" altLang="zh-CN" dirty="0">
                <a:latin typeface="+mn-lt"/>
                <a:ea typeface="楷体" pitchFamily="49" charset="-122"/>
              </a:rPr>
              <a:t>malloc</a:t>
            </a:r>
            <a:r>
              <a:rPr lang="zh-CN" altLang="en-US" dirty="0">
                <a:latin typeface="+mn-lt"/>
                <a:ea typeface="楷体" pitchFamily="49" charset="-122"/>
              </a:rPr>
              <a:t>前面必须要加上一个指针类型转换符，如前面的</a:t>
            </a:r>
            <a:r>
              <a:rPr lang="en-US" altLang="zh-CN" dirty="0">
                <a:latin typeface="+mn-lt"/>
                <a:ea typeface="楷体" pitchFamily="49" charset="-122"/>
              </a:rPr>
              <a:t>(</a:t>
            </a:r>
            <a:r>
              <a:rPr lang="en-US" altLang="zh-CN" dirty="0" err="1">
                <a:latin typeface="+mn-lt"/>
                <a:ea typeface="楷体" pitchFamily="49" charset="-122"/>
              </a:rPr>
              <a:t>int</a:t>
            </a:r>
            <a:r>
              <a:rPr lang="en-US" altLang="zh-CN" dirty="0">
                <a:latin typeface="+mn-lt"/>
                <a:ea typeface="楷体" pitchFamily="49" charset="-122"/>
              </a:rPr>
              <a:t> *)</a:t>
            </a:r>
            <a:r>
              <a:rPr lang="zh-CN" altLang="en-US" dirty="0">
                <a:latin typeface="+mn-lt"/>
                <a:ea typeface="楷体" pitchFamily="49" charset="-122"/>
              </a:rPr>
              <a:t>。因为</a:t>
            </a:r>
            <a:r>
              <a:rPr lang="en-US" altLang="zh-CN" dirty="0" err="1">
                <a:latin typeface="+mn-lt"/>
                <a:ea typeface="楷体" pitchFamily="49" charset="-122"/>
              </a:rPr>
              <a:t>malloc</a:t>
            </a:r>
            <a:r>
              <a:rPr lang="zh-CN" altLang="en-US" dirty="0">
                <a:latin typeface="+mn-lt"/>
                <a:ea typeface="楷体" pitchFamily="49" charset="-122"/>
              </a:rPr>
              <a:t>的返回值是空类型的指针，一般应与左边的指针变量类型一致。</a:t>
            </a:r>
            <a:endParaRPr lang="en-US" altLang="zh-CN" dirty="0">
              <a:latin typeface="+mn-lt"/>
              <a:ea typeface="楷体" pitchFamily="49" charset="-122"/>
            </a:endParaRPr>
          </a:p>
          <a:p>
            <a:pPr marL="342900" indent="-342900">
              <a:lnSpc>
                <a:spcPts val="3200"/>
              </a:lnSpc>
              <a:spcBef>
                <a:spcPts val="0"/>
              </a:spcBef>
              <a:buClr>
                <a:srgbClr val="C00000"/>
              </a:buClr>
              <a:buFont typeface="Wingdings" panose="05000000000000000000" pitchFamily="2" charset="2"/>
              <a:buChar char="l"/>
              <a:tabLst>
                <a:tab pos="266700" algn="l"/>
              </a:tabLst>
            </a:pPr>
            <a:endParaRPr lang="en-US" altLang="zh-CN" dirty="0">
              <a:latin typeface="+mn-lt"/>
              <a:ea typeface="楷体" pitchFamily="49" charset="-122"/>
            </a:endParaRPr>
          </a:p>
          <a:p>
            <a:pPr marL="342900" indent="-342900">
              <a:lnSpc>
                <a:spcPts val="3200"/>
              </a:lnSpc>
              <a:spcBef>
                <a:spcPts val="0"/>
              </a:spcBef>
              <a:buClr>
                <a:srgbClr val="C00000"/>
              </a:buClr>
              <a:buFont typeface="Wingdings" panose="05000000000000000000" pitchFamily="2" charset="2"/>
              <a:buChar char="l"/>
              <a:tabLst>
                <a:tab pos="266700" algn="l"/>
              </a:tabLst>
            </a:pPr>
            <a:r>
              <a:rPr lang="en-US" altLang="zh-CN" dirty="0">
                <a:latin typeface="+mn-lt"/>
                <a:ea typeface="楷体" pitchFamily="49" charset="-122"/>
              </a:rPr>
              <a:t>malloc</a:t>
            </a:r>
            <a:r>
              <a:rPr lang="zh-CN" altLang="en-US" dirty="0">
                <a:latin typeface="+mn-lt"/>
                <a:ea typeface="楷体" pitchFamily="49" charset="-122"/>
              </a:rPr>
              <a:t>所带的一个参数是指需分配的内存单元</a:t>
            </a:r>
            <a:r>
              <a:rPr lang="zh-CN" altLang="en-US" dirty="0">
                <a:solidFill>
                  <a:srgbClr val="C00000"/>
                </a:solidFill>
                <a:latin typeface="+mn-lt"/>
                <a:ea typeface="楷体" pitchFamily="49" charset="-122"/>
              </a:rPr>
              <a:t>字节数</a:t>
            </a:r>
            <a:r>
              <a:rPr lang="zh-CN" altLang="en-US" dirty="0">
                <a:latin typeface="+mn-lt"/>
                <a:ea typeface="楷体" pitchFamily="49" charset="-122"/>
              </a:rPr>
              <a:t>，尽管可以直接用数字来表示，但一般写成如下形式：</a:t>
            </a:r>
            <a:endParaRPr lang="en-US" altLang="zh-CN" dirty="0">
              <a:latin typeface="+mn-lt"/>
              <a:ea typeface="楷体" pitchFamily="49" charset="-122"/>
            </a:endParaRPr>
          </a:p>
          <a:p>
            <a:pPr>
              <a:lnSpc>
                <a:spcPts val="3200"/>
              </a:lnSpc>
              <a:spcBef>
                <a:spcPts val="0"/>
              </a:spcBef>
              <a:buClr>
                <a:srgbClr val="CC0099"/>
              </a:buClr>
              <a:tabLst>
                <a:tab pos="266700" algn="l"/>
              </a:tabLst>
            </a:pPr>
            <a:r>
              <a:rPr lang="en-US" altLang="zh-CN" dirty="0">
                <a:solidFill>
                  <a:schemeClr val="accent2">
                    <a:lumMod val="50000"/>
                  </a:schemeClr>
                </a:solidFill>
                <a:ea typeface="楷体" pitchFamily="49" charset="-122"/>
              </a:rPr>
              <a:t>                                 </a:t>
            </a:r>
            <a:r>
              <a:rPr lang="zh-CN" altLang="en-US" dirty="0">
                <a:solidFill>
                  <a:schemeClr val="accent2">
                    <a:lumMod val="50000"/>
                  </a:schemeClr>
                </a:solidFill>
                <a:latin typeface="+mn-lt"/>
                <a:ea typeface="楷体" pitchFamily="49" charset="-122"/>
              </a:rPr>
              <a:t>分配数量 * </a:t>
            </a:r>
            <a:r>
              <a:rPr lang="en-US" altLang="zh-CN" dirty="0" err="1">
                <a:solidFill>
                  <a:schemeClr val="accent2">
                    <a:lumMod val="50000"/>
                  </a:schemeClr>
                </a:solidFill>
                <a:latin typeface="+mn-lt"/>
                <a:ea typeface="楷体" pitchFamily="49" charset="-122"/>
              </a:rPr>
              <a:t>sizeof</a:t>
            </a:r>
            <a:r>
              <a:rPr lang="en-US" altLang="zh-CN" dirty="0">
                <a:solidFill>
                  <a:schemeClr val="accent2">
                    <a:lumMod val="50000"/>
                  </a:schemeClr>
                </a:solidFill>
                <a:latin typeface="+mn-lt"/>
                <a:ea typeface="楷体" pitchFamily="49" charset="-122"/>
              </a:rPr>
              <a:t>(</a:t>
            </a:r>
            <a:r>
              <a:rPr lang="zh-CN" altLang="en-US" dirty="0">
                <a:solidFill>
                  <a:schemeClr val="accent2">
                    <a:lumMod val="50000"/>
                  </a:schemeClr>
                </a:solidFill>
                <a:latin typeface="+mn-lt"/>
                <a:ea typeface="楷体" pitchFamily="49" charset="-122"/>
              </a:rPr>
              <a:t>内存单元类型符</a:t>
            </a:r>
            <a:r>
              <a:rPr lang="en-US" altLang="zh-CN" dirty="0">
                <a:solidFill>
                  <a:schemeClr val="accent2">
                    <a:lumMod val="50000"/>
                  </a:schemeClr>
                </a:solidFill>
                <a:latin typeface="+mn-lt"/>
                <a:ea typeface="楷体" pitchFamily="49" charset="-122"/>
              </a:rPr>
              <a:t>)</a:t>
            </a:r>
          </a:p>
          <a:p>
            <a:pPr>
              <a:lnSpc>
                <a:spcPts val="3200"/>
              </a:lnSpc>
              <a:spcBef>
                <a:spcPts val="0"/>
              </a:spcBef>
              <a:buClr>
                <a:srgbClr val="CC0099"/>
              </a:buClr>
              <a:tabLst>
                <a:tab pos="266700" algn="l"/>
              </a:tabLst>
            </a:pPr>
            <a:endParaRPr lang="en-US" altLang="zh-CN" dirty="0">
              <a:solidFill>
                <a:schemeClr val="accent2">
                  <a:lumMod val="50000"/>
                </a:schemeClr>
              </a:solidFill>
              <a:latin typeface="+mn-lt"/>
              <a:ea typeface="楷体" pitchFamily="49" charset="-122"/>
            </a:endParaRPr>
          </a:p>
          <a:p>
            <a:pPr marL="342900" indent="-342900">
              <a:lnSpc>
                <a:spcPts val="3200"/>
              </a:lnSpc>
              <a:spcBef>
                <a:spcPts val="0"/>
              </a:spcBef>
              <a:buClr>
                <a:srgbClr val="C01920"/>
              </a:buClr>
              <a:buFont typeface="Wingdings" panose="05000000000000000000" pitchFamily="2" charset="2"/>
              <a:buChar char="l"/>
              <a:tabLst>
                <a:tab pos="266700" algn="l"/>
              </a:tabLst>
            </a:pPr>
            <a:r>
              <a:rPr lang="en-US" altLang="zh-CN" dirty="0">
                <a:latin typeface="+mn-lt"/>
                <a:ea typeface="楷体" pitchFamily="49" charset="-122"/>
              </a:rPr>
              <a:t>malloc</a:t>
            </a:r>
            <a:r>
              <a:rPr lang="zh-CN" altLang="en-US" dirty="0">
                <a:latin typeface="+mn-lt"/>
                <a:ea typeface="楷体" pitchFamily="49" charset="-122"/>
              </a:rPr>
              <a:t>可能返回</a:t>
            </a:r>
            <a:r>
              <a:rPr lang="en-US" altLang="zh-CN" dirty="0">
                <a:latin typeface="+mn-lt"/>
                <a:ea typeface="楷体" pitchFamily="49" charset="-122"/>
              </a:rPr>
              <a:t>NULL</a:t>
            </a:r>
            <a:r>
              <a:rPr lang="zh-CN" altLang="en-US" dirty="0">
                <a:latin typeface="+mn-lt"/>
                <a:ea typeface="楷体" pitchFamily="49" charset="-122"/>
              </a:rPr>
              <a:t>，表示分配内存失败，因此一定要</a:t>
            </a:r>
            <a:r>
              <a:rPr lang="zh-CN" altLang="en-US" dirty="0">
                <a:solidFill>
                  <a:srgbClr val="C00000"/>
                </a:solidFill>
                <a:latin typeface="+mn-lt"/>
                <a:ea typeface="楷体" pitchFamily="49" charset="-122"/>
              </a:rPr>
              <a:t>检查分配的内存指针是否为空</a:t>
            </a:r>
            <a:r>
              <a:rPr lang="zh-CN" altLang="en-US" dirty="0">
                <a:latin typeface="+mn-lt"/>
                <a:ea typeface="楷体" pitchFamily="49" charset="-122"/>
              </a:rPr>
              <a:t>，如果是空指针，则不能引用这个指针，否则会造成系统崩溃。所以在动态内存分配的语句的后面一般紧跟一条</a:t>
            </a:r>
            <a:r>
              <a:rPr lang="en-US" altLang="zh-CN" dirty="0">
                <a:latin typeface="+mn-lt"/>
                <a:ea typeface="楷体" pitchFamily="49" charset="-122"/>
              </a:rPr>
              <a:t>if</a:t>
            </a:r>
            <a:r>
              <a:rPr lang="zh-CN" altLang="en-US" dirty="0">
                <a:latin typeface="+mn-lt"/>
                <a:ea typeface="楷体" pitchFamily="49" charset="-122"/>
              </a:rPr>
              <a:t>语句以判断分配是否成功。</a:t>
            </a:r>
          </a:p>
        </p:txBody>
      </p:sp>
      <p:sp>
        <p:nvSpPr>
          <p:cNvPr id="2" name="矩形 1">
            <a:extLst>
              <a:ext uri="{FF2B5EF4-FFF2-40B4-BE49-F238E27FC236}">
                <a16:creationId xmlns:a16="http://schemas.microsoft.com/office/drawing/2014/main" id="{2B3FCC3C-203C-4763-80BB-821D6A038265}"/>
              </a:ext>
            </a:extLst>
          </p:cNvPr>
          <p:cNvSpPr/>
          <p:nvPr/>
        </p:nvSpPr>
        <p:spPr>
          <a:xfrm>
            <a:off x="847131" y="1058777"/>
            <a:ext cx="5386411" cy="461665"/>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2"/>
          </a:lnRef>
          <a:fillRef idx="2">
            <a:schemeClr val="accent2"/>
          </a:fillRef>
          <a:effectRef idx="1">
            <a:schemeClr val="accent2"/>
          </a:effectRef>
          <a:fontRef idx="minor">
            <a:schemeClr val="dk1"/>
          </a:fontRef>
        </p:style>
        <p:txBody>
          <a:bodyPr wrap="none">
            <a:spAutoFit/>
          </a:bodyPr>
          <a:lstStyle/>
          <a:p>
            <a:pPr marL="457200" indent="-457200">
              <a:tabLst>
                <a:tab pos="266700" algn="l"/>
              </a:tabLst>
            </a:pPr>
            <a:r>
              <a:rPr lang="zh-CN" altLang="en-US" b="1" dirty="0">
                <a:solidFill>
                  <a:srgbClr val="C00000"/>
                </a:solidFill>
                <a:ea typeface="楷体" pitchFamily="49" charset="-122"/>
              </a:rPr>
              <a:t>关于</a:t>
            </a:r>
            <a:r>
              <a:rPr lang="en-US" altLang="zh-CN" b="1" dirty="0">
                <a:solidFill>
                  <a:srgbClr val="C00000"/>
                </a:solidFill>
                <a:ea typeface="楷体" pitchFamily="49" charset="-122"/>
              </a:rPr>
              <a:t>malloc</a:t>
            </a:r>
            <a:r>
              <a:rPr lang="zh-CN" altLang="en-US" b="1" dirty="0">
                <a:solidFill>
                  <a:srgbClr val="C00000"/>
                </a:solidFill>
                <a:ea typeface="楷体" pitchFamily="49" charset="-122"/>
              </a:rPr>
              <a:t>的使用有几点需强调一下：</a:t>
            </a:r>
          </a:p>
        </p:txBody>
      </p:sp>
      <p:sp>
        <p:nvSpPr>
          <p:cNvPr id="8" name="Rectangle 4">
            <a:extLst>
              <a:ext uri="{FF2B5EF4-FFF2-40B4-BE49-F238E27FC236}">
                <a16:creationId xmlns:a16="http://schemas.microsoft.com/office/drawing/2014/main" id="{BD743D43-503A-4EBB-92ED-3950C2FB7A74}"/>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指针与动态内存分配</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86839">
                                            <p:txEl>
                                              <p:pRg st="0" end="0"/>
                                            </p:txEl>
                                          </p:spTgt>
                                        </p:tgtEl>
                                        <p:attrNameLst>
                                          <p:attrName>style.visibility</p:attrName>
                                        </p:attrNameLst>
                                      </p:cBhvr>
                                      <p:to>
                                        <p:strVal val="visible"/>
                                      </p:to>
                                    </p:set>
                                    <p:animEffect transition="in" filter="box(out)">
                                      <p:cBhvr>
                                        <p:cTn id="7" dur="500"/>
                                        <p:tgtEl>
                                          <p:spTgt spid="118683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186839">
                                            <p:txEl>
                                              <p:pRg st="2" end="2"/>
                                            </p:txEl>
                                          </p:spTgt>
                                        </p:tgtEl>
                                        <p:attrNameLst>
                                          <p:attrName>style.visibility</p:attrName>
                                        </p:attrNameLst>
                                      </p:cBhvr>
                                      <p:to>
                                        <p:strVal val="visible"/>
                                      </p:to>
                                    </p:set>
                                    <p:animEffect transition="in" filter="box(out)">
                                      <p:cBhvr>
                                        <p:cTn id="12" dur="500"/>
                                        <p:tgtEl>
                                          <p:spTgt spid="1186839">
                                            <p:txEl>
                                              <p:pRg st="2" end="2"/>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186839">
                                            <p:txEl>
                                              <p:pRg st="3" end="3"/>
                                            </p:txEl>
                                          </p:spTgt>
                                        </p:tgtEl>
                                        <p:attrNameLst>
                                          <p:attrName>style.visibility</p:attrName>
                                        </p:attrNameLst>
                                      </p:cBhvr>
                                      <p:to>
                                        <p:strVal val="visible"/>
                                      </p:to>
                                    </p:set>
                                    <p:animEffect transition="in" filter="box(out)">
                                      <p:cBhvr>
                                        <p:cTn id="17" dur="500"/>
                                        <p:tgtEl>
                                          <p:spTgt spid="1186839">
                                            <p:txEl>
                                              <p:pRg st="3" end="3"/>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186839">
                                            <p:txEl>
                                              <p:pRg st="5" end="5"/>
                                            </p:txEl>
                                          </p:spTgt>
                                        </p:tgtEl>
                                        <p:attrNameLst>
                                          <p:attrName>style.visibility</p:attrName>
                                        </p:attrNameLst>
                                      </p:cBhvr>
                                      <p:to>
                                        <p:strVal val="visible"/>
                                      </p:to>
                                    </p:set>
                                    <p:animEffect transition="in" filter="box(out)">
                                      <p:cBhvr>
                                        <p:cTn id="22" dur="500"/>
                                        <p:tgtEl>
                                          <p:spTgt spid="1186839">
                                            <p:txEl>
                                              <p:pRg st="5" end="5"/>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1875" name="Rectangle 3"/>
          <p:cNvSpPr>
            <a:spLocks noChangeArrowheads="1"/>
          </p:cNvSpPr>
          <p:nvPr/>
        </p:nvSpPr>
        <p:spPr bwMode="auto">
          <a:xfrm>
            <a:off x="-9821" y="3501707"/>
            <a:ext cx="184731" cy="461665"/>
          </a:xfrm>
          <a:prstGeom prst="rect">
            <a:avLst/>
          </a:prstGeom>
          <a:noFill/>
          <a:ln w="9525" algn="ctr">
            <a:noFill/>
            <a:miter lim="800000"/>
            <a:headEnd/>
            <a:tailEnd/>
          </a:ln>
          <a:effectLst/>
        </p:spPr>
        <p:txBody>
          <a:bodyPr wrap="none" anchor="ctr">
            <a:spAutoFit/>
          </a:bodyPr>
          <a:lstStyle/>
          <a:p>
            <a:endParaRPr lang="zh-CN" altLang="en-US"/>
          </a:p>
        </p:txBody>
      </p:sp>
      <p:sp>
        <p:nvSpPr>
          <p:cNvPr id="1231881" name="Rectangle 9"/>
          <p:cNvSpPr>
            <a:spLocks noChangeArrowheads="1"/>
          </p:cNvSpPr>
          <p:nvPr/>
        </p:nvSpPr>
        <p:spPr bwMode="auto">
          <a:xfrm>
            <a:off x="674391" y="1295364"/>
            <a:ext cx="10966225" cy="2049087"/>
          </a:xfrm>
          <a:prstGeom prst="rect">
            <a:avLst/>
          </a:prstGeom>
          <a:noFill/>
          <a:ln w="9525" algn="ctr">
            <a:noFill/>
            <a:miter lim="800000"/>
            <a:headEnd/>
            <a:tailEnd/>
          </a:ln>
          <a:effectLst/>
        </p:spPr>
        <p:txBody>
          <a:bodyPr wrap="square">
            <a:spAutoFit/>
          </a:bodyPr>
          <a:lstStyle/>
          <a:p>
            <a:pPr>
              <a:lnSpc>
                <a:spcPts val="3100"/>
              </a:lnSpc>
              <a:spcBef>
                <a:spcPts val="0"/>
              </a:spcBef>
            </a:pPr>
            <a:r>
              <a:rPr lang="zh-CN" altLang="en-US" dirty="0">
                <a:solidFill>
                  <a:srgbClr val="C00000"/>
                </a:solidFill>
                <a:latin typeface="+mn-lt"/>
                <a:ea typeface="楷体" pitchFamily="49" charset="-122"/>
              </a:rPr>
              <a:t>　　</a:t>
            </a:r>
            <a:r>
              <a:rPr lang="en-US" altLang="zh-CN" dirty="0">
                <a:solidFill>
                  <a:srgbClr val="C00000"/>
                </a:solidFill>
                <a:latin typeface="+mn-lt"/>
                <a:ea typeface="楷体" pitchFamily="49" charset="-122"/>
              </a:rPr>
              <a:t>(2)   </a:t>
            </a:r>
            <a:r>
              <a:rPr lang="en-US" altLang="zh-CN" dirty="0" err="1">
                <a:solidFill>
                  <a:srgbClr val="C00000"/>
                </a:solidFill>
                <a:latin typeface="+mn-lt"/>
                <a:ea typeface="楷体" pitchFamily="49" charset="-122"/>
              </a:rPr>
              <a:t>calloc</a:t>
            </a:r>
            <a:endParaRPr lang="en-US" altLang="zh-CN" dirty="0">
              <a:solidFill>
                <a:srgbClr val="C00000"/>
              </a:solidFill>
              <a:latin typeface="+mn-lt"/>
              <a:ea typeface="楷体" pitchFamily="49" charset="-122"/>
            </a:endParaRPr>
          </a:p>
          <a:p>
            <a:pPr>
              <a:lnSpc>
                <a:spcPts val="3100"/>
              </a:lnSpc>
              <a:spcBef>
                <a:spcPts val="0"/>
              </a:spcBef>
            </a:pPr>
            <a:r>
              <a:rPr lang="en-US" altLang="zh-CN" dirty="0">
                <a:latin typeface="+mn-lt"/>
                <a:ea typeface="楷体" pitchFamily="49" charset="-122"/>
              </a:rPr>
              <a:t>        </a:t>
            </a:r>
            <a:r>
              <a:rPr lang="zh-CN" altLang="en-US" dirty="0">
                <a:latin typeface="+mn-lt"/>
                <a:ea typeface="楷体" pitchFamily="49" charset="-122"/>
              </a:rPr>
              <a:t>函数</a:t>
            </a:r>
            <a:r>
              <a:rPr lang="en-US" altLang="zh-CN" dirty="0" err="1">
                <a:latin typeface="+mn-lt"/>
                <a:ea typeface="楷体" pitchFamily="49" charset="-122"/>
              </a:rPr>
              <a:t>calloc</a:t>
            </a:r>
            <a:r>
              <a:rPr lang="en-US" altLang="zh-CN" dirty="0">
                <a:latin typeface="+mn-lt"/>
                <a:ea typeface="楷体" pitchFamily="49" charset="-122"/>
              </a:rPr>
              <a:t>()</a:t>
            </a:r>
            <a:r>
              <a:rPr lang="zh-CN" altLang="en-US" dirty="0">
                <a:latin typeface="+mn-lt"/>
                <a:ea typeface="楷体" pitchFamily="49" charset="-122"/>
              </a:rPr>
              <a:t>用于给若干个同一类型的数据项分配连续的存储空间，其中每个数据项的长度单位为字节。通过调用函数</a:t>
            </a:r>
            <a:r>
              <a:rPr lang="en-US" altLang="zh-CN" dirty="0" err="1">
                <a:latin typeface="+mn-lt"/>
                <a:ea typeface="楷体" pitchFamily="49" charset="-122"/>
              </a:rPr>
              <a:t>calloc</a:t>
            </a:r>
            <a:r>
              <a:rPr lang="en-US" altLang="zh-CN" dirty="0">
                <a:latin typeface="+mn-lt"/>
                <a:ea typeface="楷体" pitchFamily="49" charset="-122"/>
              </a:rPr>
              <a:t>()</a:t>
            </a:r>
            <a:r>
              <a:rPr lang="zh-CN" altLang="en-US" dirty="0">
                <a:latin typeface="+mn-lt"/>
                <a:ea typeface="楷体" pitchFamily="49" charset="-122"/>
              </a:rPr>
              <a:t>所分配的存储单元，系统将其自动</a:t>
            </a:r>
            <a:r>
              <a:rPr lang="zh-CN" altLang="en-US" dirty="0">
                <a:solidFill>
                  <a:srgbClr val="002060"/>
                </a:solidFill>
                <a:latin typeface="+mn-lt"/>
                <a:ea typeface="楷体" pitchFamily="49" charset="-122"/>
              </a:rPr>
              <a:t>置初值</a:t>
            </a:r>
            <a:r>
              <a:rPr lang="en-US" altLang="zh-CN" dirty="0">
                <a:solidFill>
                  <a:srgbClr val="002060"/>
                </a:solidFill>
                <a:latin typeface="+mn-lt"/>
                <a:ea typeface="楷体" pitchFamily="49" charset="-122"/>
              </a:rPr>
              <a:t>0</a:t>
            </a:r>
            <a:r>
              <a:rPr lang="zh-CN" altLang="en-US" dirty="0">
                <a:latin typeface="+mn-lt"/>
                <a:ea typeface="楷体" pitchFamily="49" charset="-122"/>
              </a:rPr>
              <a:t>。 </a:t>
            </a:r>
            <a:endParaRPr lang="en-US" altLang="zh-CN" dirty="0">
              <a:latin typeface="+mn-lt"/>
              <a:ea typeface="楷体" pitchFamily="49" charset="-122"/>
            </a:endParaRPr>
          </a:p>
          <a:p>
            <a:pPr>
              <a:lnSpc>
                <a:spcPts val="3100"/>
              </a:lnSpc>
              <a:spcBef>
                <a:spcPts val="0"/>
              </a:spcBef>
            </a:pPr>
            <a:r>
              <a:rPr lang="en-US" altLang="zh-CN" dirty="0">
                <a:latin typeface="+mn-lt"/>
                <a:ea typeface="楷体" pitchFamily="49" charset="-122"/>
              </a:rPr>
              <a:t>        </a:t>
            </a:r>
            <a:r>
              <a:rPr lang="zh-CN" altLang="en-US" dirty="0">
                <a:latin typeface="+mn-lt"/>
                <a:ea typeface="楷体" pitchFamily="49" charset="-122"/>
              </a:rPr>
              <a:t>其函数的原型为：</a:t>
            </a:r>
          </a:p>
        </p:txBody>
      </p:sp>
      <p:sp>
        <p:nvSpPr>
          <p:cNvPr id="1231882" name="Text Box 10"/>
          <p:cNvSpPr txBox="1">
            <a:spLocks noChangeArrowheads="1"/>
          </p:cNvSpPr>
          <p:nvPr/>
        </p:nvSpPr>
        <p:spPr bwMode="auto">
          <a:xfrm>
            <a:off x="3791744" y="2904854"/>
            <a:ext cx="7592346" cy="50482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marL="342900" indent="-342900" algn="ctr"/>
            <a:r>
              <a:rPr lang="en-US" altLang="zh-CN" dirty="0"/>
              <a:t>void  *</a:t>
            </a:r>
            <a:r>
              <a:rPr lang="en-US" altLang="zh-CN" dirty="0" err="1">
                <a:solidFill>
                  <a:srgbClr val="C00000"/>
                </a:solidFill>
              </a:rPr>
              <a:t>calloc</a:t>
            </a:r>
            <a:r>
              <a:rPr lang="en-US" altLang="zh-CN" dirty="0"/>
              <a:t>( unsigned </a:t>
            </a:r>
            <a:r>
              <a:rPr lang="en-US" altLang="zh-CN" dirty="0" err="1"/>
              <a:t>int</a:t>
            </a:r>
            <a:r>
              <a:rPr lang="en-US" altLang="zh-CN" dirty="0"/>
              <a:t> num, unsigned </a:t>
            </a:r>
            <a:r>
              <a:rPr lang="en-US" altLang="zh-CN" dirty="0" err="1"/>
              <a:t>int</a:t>
            </a:r>
            <a:r>
              <a:rPr lang="en-US" altLang="zh-CN" dirty="0"/>
              <a:t> size );</a:t>
            </a:r>
          </a:p>
        </p:txBody>
      </p:sp>
      <p:sp>
        <p:nvSpPr>
          <p:cNvPr id="1231883" name="Rectangle 11"/>
          <p:cNvSpPr>
            <a:spLocks noChangeArrowheads="1"/>
          </p:cNvSpPr>
          <p:nvPr/>
        </p:nvSpPr>
        <p:spPr bwMode="auto">
          <a:xfrm>
            <a:off x="1175530" y="3762928"/>
            <a:ext cx="10321146" cy="2049087"/>
          </a:xfrm>
          <a:prstGeom prst="rect">
            <a:avLst/>
          </a:prstGeom>
          <a:noFill/>
          <a:ln w="9525" algn="ctr">
            <a:noFill/>
            <a:miter lim="800000"/>
            <a:headEnd/>
            <a:tailEnd/>
          </a:ln>
          <a:effectLst/>
        </p:spPr>
        <p:txBody>
          <a:bodyPr wrap="square" anchor="ctr">
            <a:spAutoFit/>
          </a:bodyPr>
          <a:lstStyle/>
          <a:p>
            <a:pPr>
              <a:lnSpc>
                <a:spcPts val="3100"/>
              </a:lnSpc>
              <a:spcBef>
                <a:spcPts val="0"/>
              </a:spcBef>
              <a:tabLst>
                <a:tab pos="457200" algn="l"/>
                <a:tab pos="495300" algn="l"/>
              </a:tabLst>
            </a:pPr>
            <a:r>
              <a:rPr lang="zh-CN" altLang="en-US" u="sng" dirty="0">
                <a:solidFill>
                  <a:srgbClr val="002060"/>
                </a:solidFill>
                <a:latin typeface="楷体" panose="02010609060101010101" pitchFamily="49" charset="-122"/>
                <a:ea typeface="楷体" panose="02010609060101010101" pitchFamily="49" charset="-122"/>
              </a:rPr>
              <a:t>说明：</a:t>
            </a:r>
            <a:endParaRPr lang="en-US" altLang="zh-CN" u="sng" dirty="0">
              <a:solidFill>
                <a:srgbClr val="002060"/>
              </a:solidFill>
              <a:latin typeface="楷体" panose="02010609060101010101" pitchFamily="49" charset="-122"/>
              <a:ea typeface="楷体" panose="02010609060101010101" pitchFamily="49" charset="-122"/>
            </a:endParaRPr>
          </a:p>
          <a:p>
            <a:pPr marL="342900" indent="-342900">
              <a:lnSpc>
                <a:spcPts val="3100"/>
              </a:lnSpc>
              <a:spcBef>
                <a:spcPts val="0"/>
              </a:spcBef>
              <a:buClr>
                <a:schemeClr val="accent2">
                  <a:lumMod val="50000"/>
                </a:schemeClr>
              </a:buClr>
              <a:buFont typeface="Wingdings" panose="05000000000000000000" pitchFamily="2" charset="2"/>
              <a:buChar char="l"/>
              <a:tabLst>
                <a:tab pos="457200" algn="l"/>
                <a:tab pos="495300" algn="l"/>
              </a:tabLst>
            </a:pPr>
            <a:r>
              <a:rPr lang="en-US" altLang="zh-CN" dirty="0">
                <a:latin typeface="+mn-lt"/>
                <a:ea typeface="楷体" pitchFamily="49" charset="-122"/>
              </a:rPr>
              <a:t>num</a:t>
            </a:r>
            <a:r>
              <a:rPr lang="zh-CN" altLang="en-US" dirty="0">
                <a:latin typeface="+mn-lt"/>
                <a:ea typeface="楷体" pitchFamily="49" charset="-122"/>
              </a:rPr>
              <a:t>表示向系统申请的内存空间的数量，</a:t>
            </a:r>
            <a:r>
              <a:rPr lang="en-US" altLang="zh-CN" dirty="0">
                <a:latin typeface="+mn-lt"/>
                <a:ea typeface="楷体" pitchFamily="49" charset="-122"/>
              </a:rPr>
              <a:t>size</a:t>
            </a:r>
            <a:r>
              <a:rPr lang="zh-CN" altLang="en-US" dirty="0">
                <a:latin typeface="+mn-lt"/>
                <a:ea typeface="楷体" pitchFamily="49" charset="-122"/>
              </a:rPr>
              <a:t>表示申请的每个内存空间的字节数。</a:t>
            </a:r>
            <a:endParaRPr lang="en-US" altLang="zh-CN" dirty="0">
              <a:latin typeface="+mn-lt"/>
              <a:ea typeface="楷体" pitchFamily="49" charset="-122"/>
            </a:endParaRPr>
          </a:p>
          <a:p>
            <a:pPr marL="342900" indent="-342900">
              <a:lnSpc>
                <a:spcPts val="3100"/>
              </a:lnSpc>
              <a:spcBef>
                <a:spcPts val="0"/>
              </a:spcBef>
              <a:buClr>
                <a:schemeClr val="accent2">
                  <a:lumMod val="50000"/>
                </a:schemeClr>
              </a:buClr>
              <a:buFont typeface="Wingdings" panose="05000000000000000000" pitchFamily="2" charset="2"/>
              <a:buChar char="l"/>
              <a:tabLst>
                <a:tab pos="457200" algn="l"/>
                <a:tab pos="495300" algn="l"/>
              </a:tabLst>
            </a:pPr>
            <a:r>
              <a:rPr lang="zh-CN" altLang="en-US" dirty="0">
                <a:latin typeface="+mn-lt"/>
                <a:ea typeface="楷体" pitchFamily="49" charset="-122"/>
              </a:rPr>
              <a:t>如果分配内存失败，将返回空指针（</a:t>
            </a:r>
            <a:r>
              <a:rPr lang="en-US" altLang="zh-CN" dirty="0">
                <a:latin typeface="+mn-lt"/>
                <a:ea typeface="楷体" pitchFamily="49" charset="-122"/>
              </a:rPr>
              <a:t>NULL</a:t>
            </a:r>
            <a:r>
              <a:rPr lang="zh-CN" altLang="en-US" dirty="0">
                <a:latin typeface="+mn-lt"/>
                <a:ea typeface="楷体" pitchFamily="49" charset="-122"/>
              </a:rPr>
              <a:t>）；如果成功，将返回一个</a:t>
            </a:r>
            <a:r>
              <a:rPr lang="en-US" altLang="zh-CN" dirty="0">
                <a:latin typeface="+mn-lt"/>
                <a:ea typeface="楷体" pitchFamily="49" charset="-122"/>
              </a:rPr>
              <a:t>void</a:t>
            </a:r>
            <a:r>
              <a:rPr lang="zh-CN" altLang="en-US" dirty="0">
                <a:latin typeface="+mn-lt"/>
                <a:ea typeface="楷体" pitchFamily="49" charset="-122"/>
              </a:rPr>
              <a:t>类型的连续存储空间的首地址。</a:t>
            </a:r>
          </a:p>
        </p:txBody>
      </p:sp>
      <p:sp>
        <p:nvSpPr>
          <p:cNvPr id="1231884" name="Rectangle 12" descr="信纸"/>
          <p:cNvSpPr>
            <a:spLocks noChangeArrowheads="1"/>
          </p:cNvSpPr>
          <p:nvPr/>
        </p:nvSpPr>
        <p:spPr bwMode="auto">
          <a:xfrm>
            <a:off x="3791744" y="2904854"/>
            <a:ext cx="6480720" cy="3354765"/>
          </a:xfrm>
          <a:prstGeom prst="rect">
            <a:avLst/>
          </a:prstGeom>
          <a:gradFill>
            <a:gsLst>
              <a:gs pos="0">
                <a:srgbClr val="CFCFD1"/>
              </a:gs>
              <a:gs pos="100000">
                <a:schemeClr val="bg1">
                  <a:lumMod val="95000"/>
                </a:schemeClr>
              </a:gs>
            </a:gsLst>
            <a:lin ang="54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noAutofit/>
          </a:bodyPr>
          <a:lstStyle/>
          <a:p>
            <a:r>
              <a:rPr lang="en-US" altLang="zh-CN" sz="2000" dirty="0"/>
              <a:t>  </a:t>
            </a:r>
            <a:r>
              <a:rPr lang="en-US" altLang="zh-CN" sz="2000" dirty="0" err="1"/>
              <a:t>int</a:t>
            </a:r>
            <a:r>
              <a:rPr lang="en-US" altLang="zh-CN" sz="2000" dirty="0"/>
              <a:t> n, *</a:t>
            </a:r>
            <a:r>
              <a:rPr lang="en-US" altLang="zh-CN" sz="2000" dirty="0" err="1"/>
              <a:t>pscore</a:t>
            </a:r>
            <a:r>
              <a:rPr lang="en-US" altLang="zh-CN" sz="2000" dirty="0"/>
              <a:t>;</a:t>
            </a:r>
          </a:p>
          <a:p>
            <a:r>
              <a:rPr lang="en-US" altLang="zh-CN" sz="2000" dirty="0"/>
              <a:t>  </a:t>
            </a:r>
            <a:r>
              <a:rPr lang="en-US" altLang="zh-CN" sz="2000" dirty="0" err="1"/>
              <a:t>scanf</a:t>
            </a:r>
            <a:r>
              <a:rPr lang="en-US" altLang="zh-CN" sz="2000" dirty="0"/>
              <a:t> ("%d", &amp;n);</a:t>
            </a:r>
          </a:p>
          <a:p>
            <a:r>
              <a:rPr lang="en-US" altLang="zh-CN" sz="1800" dirty="0">
                <a:solidFill>
                  <a:srgbClr val="002060"/>
                </a:solidFill>
                <a:latin typeface="+mn-lt"/>
                <a:ea typeface="楷体" pitchFamily="49" charset="-122"/>
              </a:rPr>
              <a:t>  //</a:t>
            </a:r>
            <a:r>
              <a:rPr lang="zh-CN" altLang="en-US" sz="1800" dirty="0">
                <a:solidFill>
                  <a:srgbClr val="002060"/>
                </a:solidFill>
                <a:latin typeface="+mn-lt"/>
                <a:ea typeface="楷体" pitchFamily="49" charset="-122"/>
              </a:rPr>
              <a:t>分配</a:t>
            </a:r>
            <a:r>
              <a:rPr lang="en-US" altLang="zh-CN" sz="1800" dirty="0">
                <a:solidFill>
                  <a:srgbClr val="002060"/>
                </a:solidFill>
                <a:latin typeface="+mn-lt"/>
                <a:ea typeface="楷体" pitchFamily="49" charset="-122"/>
              </a:rPr>
              <a:t>n</a:t>
            </a:r>
            <a:r>
              <a:rPr lang="zh-CN" altLang="en-US" sz="1800" dirty="0">
                <a:solidFill>
                  <a:srgbClr val="002060"/>
                </a:solidFill>
                <a:latin typeface="+mn-lt"/>
                <a:ea typeface="楷体" pitchFamily="49" charset="-122"/>
              </a:rPr>
              <a:t>个连续的整型单元，首地址赋给</a:t>
            </a:r>
            <a:r>
              <a:rPr lang="en-US" altLang="zh-CN" sz="1800" dirty="0" err="1">
                <a:solidFill>
                  <a:srgbClr val="002060"/>
                </a:solidFill>
                <a:latin typeface="+mn-lt"/>
                <a:ea typeface="楷体" pitchFamily="49" charset="-122"/>
              </a:rPr>
              <a:t>pscore</a:t>
            </a:r>
            <a:r>
              <a:rPr lang="en-US" altLang="zh-CN" sz="1800" dirty="0">
                <a:solidFill>
                  <a:srgbClr val="002060"/>
                </a:solidFill>
                <a:latin typeface="+mn-lt"/>
                <a:ea typeface="楷体" pitchFamily="49" charset="-122"/>
              </a:rPr>
              <a:t>  </a:t>
            </a:r>
          </a:p>
          <a:p>
            <a:r>
              <a:rPr lang="en-US" altLang="zh-CN" sz="2000" dirty="0">
                <a:solidFill>
                  <a:srgbClr val="C00000"/>
                </a:solidFill>
              </a:rPr>
              <a:t>  </a:t>
            </a:r>
            <a:r>
              <a:rPr lang="en-US" altLang="zh-CN" sz="2000" dirty="0" err="1">
                <a:solidFill>
                  <a:srgbClr val="C00000"/>
                </a:solidFill>
              </a:rPr>
              <a:t>pscore</a:t>
            </a:r>
            <a:r>
              <a:rPr lang="en-US" altLang="zh-CN" sz="2000" dirty="0">
                <a:solidFill>
                  <a:srgbClr val="C00000"/>
                </a:solidFill>
              </a:rPr>
              <a:t> = (</a:t>
            </a:r>
            <a:r>
              <a:rPr lang="en-US" altLang="zh-CN" sz="2000" dirty="0" err="1">
                <a:solidFill>
                  <a:srgbClr val="C00000"/>
                </a:solidFill>
              </a:rPr>
              <a:t>int</a:t>
            </a:r>
            <a:r>
              <a:rPr lang="en-US" altLang="zh-CN" sz="2000" dirty="0">
                <a:solidFill>
                  <a:srgbClr val="C00000"/>
                </a:solidFill>
              </a:rPr>
              <a:t> *) </a:t>
            </a:r>
            <a:r>
              <a:rPr lang="en-US" altLang="zh-CN" sz="2000" dirty="0" err="1">
                <a:solidFill>
                  <a:srgbClr val="C00000"/>
                </a:solidFill>
              </a:rPr>
              <a:t>calloc</a:t>
            </a:r>
            <a:r>
              <a:rPr lang="en-US" altLang="zh-CN" sz="2000" dirty="0">
                <a:solidFill>
                  <a:srgbClr val="C00000"/>
                </a:solidFill>
              </a:rPr>
              <a:t>(n , </a:t>
            </a:r>
            <a:r>
              <a:rPr lang="en-US" altLang="zh-CN" sz="2000" dirty="0" err="1">
                <a:solidFill>
                  <a:srgbClr val="C00000"/>
                </a:solidFill>
              </a:rPr>
              <a:t>sizeof</a:t>
            </a:r>
            <a:r>
              <a:rPr lang="en-US" altLang="zh-CN" sz="2000" dirty="0">
                <a:solidFill>
                  <a:srgbClr val="C00000"/>
                </a:solidFill>
              </a:rPr>
              <a:t>(</a:t>
            </a:r>
            <a:r>
              <a:rPr lang="en-US" altLang="zh-CN" sz="2000" dirty="0" err="1">
                <a:solidFill>
                  <a:srgbClr val="C00000"/>
                </a:solidFill>
              </a:rPr>
              <a:t>int</a:t>
            </a:r>
            <a:r>
              <a:rPr lang="en-US" altLang="zh-CN" sz="2000" dirty="0">
                <a:solidFill>
                  <a:srgbClr val="C00000"/>
                </a:solidFill>
              </a:rPr>
              <a:t>)); </a:t>
            </a:r>
            <a:r>
              <a:rPr lang="en-US" altLang="zh-CN" sz="2000" dirty="0">
                <a:solidFill>
                  <a:srgbClr val="CC0099"/>
                </a:solidFill>
              </a:rPr>
              <a:t> </a:t>
            </a:r>
          </a:p>
          <a:p>
            <a:r>
              <a:rPr lang="en-US" altLang="zh-CN" sz="1800" dirty="0">
                <a:solidFill>
                  <a:schemeClr val="accent2"/>
                </a:solidFill>
                <a:latin typeface="+mn-lt"/>
                <a:ea typeface="楷体" pitchFamily="49" charset="-122"/>
              </a:rPr>
              <a:t>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分配内存失败，则给出错误信息后退出</a:t>
            </a:r>
          </a:p>
          <a:p>
            <a:r>
              <a:rPr lang="en-US" altLang="zh-CN" sz="2000" dirty="0"/>
              <a:t>  if (</a:t>
            </a:r>
            <a:r>
              <a:rPr lang="en-US" altLang="zh-CN" sz="2000" dirty="0" err="1"/>
              <a:t>pscore</a:t>
            </a:r>
            <a:r>
              <a:rPr lang="en-US" altLang="zh-CN" sz="2000" dirty="0"/>
              <a:t> == NULL)</a:t>
            </a:r>
            <a:endParaRPr lang="en-US" altLang="zh-CN" sz="2000" dirty="0">
              <a:solidFill>
                <a:schemeClr val="accent2"/>
              </a:solidFill>
            </a:endParaRPr>
          </a:p>
          <a:p>
            <a:r>
              <a:rPr lang="en-US" altLang="zh-CN" sz="2000" dirty="0"/>
              <a:t>  {</a:t>
            </a:r>
          </a:p>
          <a:p>
            <a:r>
              <a:rPr lang="en-US" altLang="zh-CN" sz="2000" dirty="0"/>
              <a:t>    </a:t>
            </a:r>
            <a:r>
              <a:rPr lang="en-US" altLang="zh-CN" sz="2000" dirty="0" err="1"/>
              <a:t>printf</a:t>
            </a:r>
            <a:r>
              <a:rPr lang="en-US" altLang="zh-CN" sz="2000" dirty="0"/>
              <a:t> ("Insufficient memory available! ");</a:t>
            </a:r>
          </a:p>
          <a:p>
            <a:r>
              <a:rPr lang="en-US" altLang="zh-CN" sz="2000" dirty="0"/>
              <a:t>    exit (0);</a:t>
            </a:r>
          </a:p>
          <a:p>
            <a:r>
              <a:rPr lang="en-US" altLang="zh-CN" sz="2000" dirty="0"/>
              <a:t>  }</a:t>
            </a:r>
          </a:p>
          <a:p>
            <a:r>
              <a:rPr lang="en-US" altLang="zh-CN" sz="2000" dirty="0"/>
              <a:t>  … …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可对</a:t>
            </a:r>
            <a:r>
              <a:rPr lang="en-US" altLang="zh-CN" sz="1800" dirty="0" err="1">
                <a:solidFill>
                  <a:srgbClr val="002060"/>
                </a:solidFill>
                <a:latin typeface="+mn-lt"/>
                <a:ea typeface="楷体" pitchFamily="49" charset="-122"/>
              </a:rPr>
              <a:t>pscore</a:t>
            </a:r>
            <a:r>
              <a:rPr lang="zh-CN" altLang="en-US" sz="1800" dirty="0">
                <a:solidFill>
                  <a:srgbClr val="002060"/>
                </a:solidFill>
                <a:latin typeface="+mn-lt"/>
                <a:ea typeface="楷体" pitchFamily="49" charset="-122"/>
              </a:rPr>
              <a:t>所指向的单元进行其它处理</a:t>
            </a:r>
          </a:p>
        </p:txBody>
      </p:sp>
      <p:sp>
        <p:nvSpPr>
          <p:cNvPr id="10" name="Rectangle 6">
            <a:extLst>
              <a:ext uri="{FF2B5EF4-FFF2-40B4-BE49-F238E27FC236}">
                <a16:creationId xmlns:a16="http://schemas.microsoft.com/office/drawing/2014/main" id="{235B4848-82A9-42B0-AC59-DE988EF91D23}"/>
              </a:ext>
            </a:extLst>
          </p:cNvPr>
          <p:cNvSpPr>
            <a:spLocks noChangeArrowheads="1"/>
          </p:cNvSpPr>
          <p:nvPr/>
        </p:nvSpPr>
        <p:spPr bwMode="auto">
          <a:xfrm>
            <a:off x="674391" y="803977"/>
            <a:ext cx="2941831" cy="52322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800" b="1" dirty="0">
                <a:solidFill>
                  <a:srgbClr val="C00000"/>
                </a:solidFill>
                <a:latin typeface="+mn-lt"/>
                <a:ea typeface="楷体" pitchFamily="49" charset="-122"/>
              </a:rPr>
              <a:t>2</a:t>
            </a:r>
            <a:r>
              <a:rPr lang="zh-CN" altLang="en-US" sz="2800" b="1" dirty="0">
                <a:solidFill>
                  <a:srgbClr val="C00000"/>
                </a:solidFill>
                <a:latin typeface="+mn-lt"/>
                <a:ea typeface="楷体" pitchFamily="49" charset="-122"/>
              </a:rPr>
              <a:t>、动态内存分配</a:t>
            </a:r>
            <a:r>
              <a:rPr lang="zh-CN" altLang="en-US" b="1" dirty="0">
                <a:solidFill>
                  <a:srgbClr val="C00000"/>
                </a:solidFill>
                <a:latin typeface="+mn-lt"/>
                <a:ea typeface="楷体" pitchFamily="49" charset="-122"/>
              </a:rPr>
              <a:t> </a:t>
            </a:r>
          </a:p>
        </p:txBody>
      </p:sp>
      <p:sp>
        <p:nvSpPr>
          <p:cNvPr id="11" name="Rectangle 4">
            <a:extLst>
              <a:ext uri="{FF2B5EF4-FFF2-40B4-BE49-F238E27FC236}">
                <a16:creationId xmlns:a16="http://schemas.microsoft.com/office/drawing/2014/main" id="{C0EC6E34-A581-4434-8EE2-458A7514B5F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指针与动态内存分配</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31881"/>
                                        </p:tgtEl>
                                        <p:attrNameLst>
                                          <p:attrName>style.visibility</p:attrName>
                                        </p:attrNameLst>
                                      </p:cBhvr>
                                      <p:to>
                                        <p:strVal val="visible"/>
                                      </p:to>
                                    </p:set>
                                    <p:animEffect transition="in" filter="box(in)">
                                      <p:cBhvr>
                                        <p:cTn id="7" dur="500"/>
                                        <p:tgtEl>
                                          <p:spTgt spid="123188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31882"/>
                                        </p:tgtEl>
                                        <p:attrNameLst>
                                          <p:attrName>style.visibility</p:attrName>
                                        </p:attrNameLst>
                                      </p:cBhvr>
                                      <p:to>
                                        <p:strVal val="visible"/>
                                      </p:to>
                                    </p:set>
                                    <p:animEffect transition="in" filter="box(in)">
                                      <p:cBhvr>
                                        <p:cTn id="12" dur="500"/>
                                        <p:tgtEl>
                                          <p:spTgt spid="1231882"/>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31883"/>
                                        </p:tgtEl>
                                        <p:attrNameLst>
                                          <p:attrName>style.visibility</p:attrName>
                                        </p:attrNameLst>
                                      </p:cBhvr>
                                      <p:to>
                                        <p:strVal val="visible"/>
                                      </p:to>
                                    </p:set>
                                    <p:animEffect transition="in" filter="box(in)">
                                      <p:cBhvr>
                                        <p:cTn id="17" dur="500"/>
                                        <p:tgtEl>
                                          <p:spTgt spid="123188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31884"/>
                                        </p:tgtEl>
                                        <p:attrNameLst>
                                          <p:attrName>style.visibility</p:attrName>
                                        </p:attrNameLst>
                                      </p:cBhvr>
                                      <p:to>
                                        <p:strVal val="visible"/>
                                      </p:to>
                                    </p:set>
                                    <p:animEffect transition="in" filter="box(out)">
                                      <p:cBhvr>
                                        <p:cTn id="22" dur="500"/>
                                        <p:tgtEl>
                                          <p:spTgt spid="1231884"/>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881" grpId="0"/>
      <p:bldP spid="1231882" grpId="0" animBg="1"/>
      <p:bldP spid="1231883" grpId="0"/>
      <p:bldP spid="1231884"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2898" name="Rectangle 2"/>
          <p:cNvSpPr>
            <a:spLocks noChangeArrowheads="1"/>
          </p:cNvSpPr>
          <p:nvPr/>
        </p:nvSpPr>
        <p:spPr bwMode="auto">
          <a:xfrm>
            <a:off x="134195" y="3834335"/>
            <a:ext cx="184731" cy="461665"/>
          </a:xfrm>
          <a:prstGeom prst="rect">
            <a:avLst/>
          </a:prstGeom>
          <a:noFill/>
          <a:ln w="9525" algn="ctr">
            <a:noFill/>
            <a:miter lim="800000"/>
            <a:headEnd/>
            <a:tailEnd/>
          </a:ln>
          <a:effectLst/>
        </p:spPr>
        <p:txBody>
          <a:bodyPr wrap="none" anchor="ctr">
            <a:spAutoFit/>
          </a:bodyPr>
          <a:lstStyle/>
          <a:p>
            <a:endParaRPr lang="zh-CN" altLang="en-US"/>
          </a:p>
        </p:txBody>
      </p:sp>
      <p:sp>
        <p:nvSpPr>
          <p:cNvPr id="1232902" name="Rectangle 6"/>
          <p:cNvSpPr>
            <a:spLocks noChangeArrowheads="1"/>
          </p:cNvSpPr>
          <p:nvPr/>
        </p:nvSpPr>
        <p:spPr bwMode="auto">
          <a:xfrm>
            <a:off x="601738" y="1320107"/>
            <a:ext cx="10822854" cy="1253998"/>
          </a:xfrm>
          <a:prstGeom prst="rect">
            <a:avLst/>
          </a:prstGeom>
          <a:noFill/>
          <a:ln w="9525" algn="ctr">
            <a:noFill/>
            <a:miter lim="800000"/>
            <a:headEnd/>
            <a:tailEnd/>
          </a:ln>
          <a:effectLst/>
        </p:spPr>
        <p:txBody>
          <a:bodyPr wrap="square">
            <a:spAutoFit/>
          </a:bodyPr>
          <a:lstStyle/>
          <a:p>
            <a:pPr>
              <a:lnSpc>
                <a:spcPts val="3100"/>
              </a:lnSpc>
              <a:spcBef>
                <a:spcPts val="0"/>
              </a:spcBef>
            </a:pPr>
            <a:r>
              <a:rPr lang="en-US" altLang="zh-CN" dirty="0">
                <a:solidFill>
                  <a:srgbClr val="C00000"/>
                </a:solidFill>
                <a:latin typeface="+mn-lt"/>
                <a:ea typeface="楷体" pitchFamily="49" charset="-122"/>
              </a:rPr>
              <a:t>         (3)  </a:t>
            </a:r>
            <a:r>
              <a:rPr lang="en-US" altLang="zh-CN" dirty="0" err="1">
                <a:solidFill>
                  <a:srgbClr val="C00000"/>
                </a:solidFill>
                <a:latin typeface="+mn-lt"/>
                <a:ea typeface="楷体" pitchFamily="49" charset="-122"/>
              </a:rPr>
              <a:t>realloc</a:t>
            </a:r>
            <a:endParaRPr lang="en-US" altLang="zh-CN" dirty="0">
              <a:solidFill>
                <a:srgbClr val="C00000"/>
              </a:solidFill>
              <a:latin typeface="+mn-lt"/>
              <a:ea typeface="楷体" pitchFamily="49" charset="-122"/>
            </a:endParaRPr>
          </a:p>
          <a:p>
            <a:pPr>
              <a:lnSpc>
                <a:spcPts val="3100"/>
              </a:lnSpc>
              <a:spcBef>
                <a:spcPts val="0"/>
              </a:spcBef>
            </a:pPr>
            <a:r>
              <a:rPr lang="en-US" altLang="zh-CN" dirty="0">
                <a:latin typeface="+mn-lt"/>
                <a:ea typeface="楷体" pitchFamily="49" charset="-122"/>
              </a:rPr>
              <a:t>         </a:t>
            </a:r>
            <a:r>
              <a:rPr lang="zh-CN" altLang="en-US" dirty="0">
                <a:latin typeface="+mn-lt"/>
                <a:ea typeface="楷体" pitchFamily="49" charset="-122"/>
              </a:rPr>
              <a:t>函数</a:t>
            </a:r>
            <a:r>
              <a:rPr lang="en-US" altLang="zh-CN" dirty="0" err="1">
                <a:latin typeface="+mn-lt"/>
                <a:ea typeface="楷体" pitchFamily="49" charset="-122"/>
              </a:rPr>
              <a:t>realloc</a:t>
            </a:r>
            <a:r>
              <a:rPr lang="en-US" altLang="zh-CN" dirty="0">
                <a:latin typeface="+mn-lt"/>
                <a:ea typeface="楷体" pitchFamily="49" charset="-122"/>
              </a:rPr>
              <a:t>()</a:t>
            </a:r>
            <a:r>
              <a:rPr lang="zh-CN" altLang="en-US" dirty="0">
                <a:latin typeface="+mn-lt"/>
                <a:ea typeface="楷体" pitchFamily="49" charset="-122"/>
              </a:rPr>
              <a:t>用于改变原来分配的存储空间的大小。 </a:t>
            </a:r>
            <a:endParaRPr lang="en-US" altLang="zh-CN" dirty="0">
              <a:latin typeface="+mn-lt"/>
              <a:ea typeface="楷体" pitchFamily="49" charset="-122"/>
            </a:endParaRPr>
          </a:p>
          <a:p>
            <a:pPr>
              <a:lnSpc>
                <a:spcPts val="3100"/>
              </a:lnSpc>
              <a:spcBef>
                <a:spcPts val="0"/>
              </a:spcBef>
            </a:pPr>
            <a:r>
              <a:rPr lang="en-US" altLang="zh-CN" dirty="0">
                <a:latin typeface="+mn-lt"/>
                <a:ea typeface="楷体" pitchFamily="49" charset="-122"/>
              </a:rPr>
              <a:t>        </a:t>
            </a:r>
            <a:r>
              <a:rPr lang="zh-CN" altLang="en-US" dirty="0">
                <a:latin typeface="+mn-lt"/>
                <a:ea typeface="楷体" pitchFamily="49" charset="-122"/>
              </a:rPr>
              <a:t>其函数的原型为：</a:t>
            </a:r>
          </a:p>
        </p:txBody>
      </p:sp>
      <p:sp>
        <p:nvSpPr>
          <p:cNvPr id="1232903" name="Text Box 7"/>
          <p:cNvSpPr txBox="1">
            <a:spLocks noChangeArrowheads="1"/>
          </p:cNvSpPr>
          <p:nvPr/>
        </p:nvSpPr>
        <p:spPr bwMode="auto">
          <a:xfrm>
            <a:off x="2387600" y="2590205"/>
            <a:ext cx="7416800" cy="504825"/>
          </a:xfrm>
          <a:prstGeom prst="rect">
            <a:avLst/>
          </a:prstGeom>
          <a:gradFill rotWithShape="1">
            <a:gsLst>
              <a:gs pos="0">
                <a:srgbClr val="CFCFD1"/>
              </a:gs>
              <a:gs pos="100000">
                <a:srgbClr val="CFCFD1"/>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marL="342900" indent="-342900" algn="ctr"/>
            <a:r>
              <a:rPr lang="en-US" altLang="zh-CN" dirty="0"/>
              <a:t>void  *</a:t>
            </a:r>
            <a:r>
              <a:rPr lang="en-US" altLang="zh-CN" dirty="0" err="1">
                <a:solidFill>
                  <a:srgbClr val="C00000"/>
                </a:solidFill>
              </a:rPr>
              <a:t>realloc</a:t>
            </a:r>
            <a:r>
              <a:rPr lang="en-US" altLang="zh-CN" dirty="0"/>
              <a:t>( void *p, unsigned </a:t>
            </a:r>
            <a:r>
              <a:rPr lang="en-US" altLang="zh-CN" dirty="0" err="1"/>
              <a:t>int</a:t>
            </a:r>
            <a:r>
              <a:rPr lang="en-US" altLang="zh-CN" dirty="0"/>
              <a:t> size );</a:t>
            </a:r>
          </a:p>
        </p:txBody>
      </p:sp>
      <p:sp>
        <p:nvSpPr>
          <p:cNvPr id="1232904" name="Rectangle 8"/>
          <p:cNvSpPr>
            <a:spLocks noChangeArrowheads="1"/>
          </p:cNvSpPr>
          <p:nvPr/>
        </p:nvSpPr>
        <p:spPr bwMode="auto">
          <a:xfrm>
            <a:off x="673746" y="3293722"/>
            <a:ext cx="10462567" cy="1289264"/>
          </a:xfrm>
          <a:prstGeom prst="rect">
            <a:avLst/>
          </a:prstGeom>
          <a:noFill/>
          <a:ln w="9525" algn="ctr">
            <a:noFill/>
            <a:miter lim="800000"/>
            <a:headEnd/>
            <a:tailEnd/>
          </a:ln>
          <a:effectLst/>
        </p:spPr>
        <p:txBody>
          <a:bodyPr wrap="square" anchor="ctr">
            <a:spAutoFit/>
          </a:bodyPr>
          <a:lstStyle/>
          <a:p>
            <a:pPr algn="just">
              <a:lnSpc>
                <a:spcPts val="3200"/>
              </a:lnSpc>
              <a:spcBef>
                <a:spcPts val="0"/>
              </a:spcBef>
              <a:tabLst>
                <a:tab pos="457200" algn="l"/>
                <a:tab pos="495300" algn="l"/>
              </a:tabLst>
            </a:pPr>
            <a:r>
              <a:rPr lang="zh-CN" altLang="en-US" dirty="0">
                <a:latin typeface="+mn-lt"/>
                <a:ea typeface="楷体" pitchFamily="49" charset="-122"/>
              </a:rPr>
              <a:t>　　</a:t>
            </a:r>
            <a:r>
              <a:rPr lang="zh-CN" altLang="en-US" dirty="0">
                <a:solidFill>
                  <a:srgbClr val="CC0000"/>
                </a:solidFill>
                <a:latin typeface="+mn-lt"/>
                <a:ea typeface="楷体" pitchFamily="49" charset="-122"/>
              </a:rPr>
              <a:t>功能：</a:t>
            </a:r>
            <a:r>
              <a:rPr lang="zh-CN" altLang="en-US" dirty="0">
                <a:latin typeface="+mn-lt"/>
                <a:ea typeface="楷体" pitchFamily="49" charset="-122"/>
              </a:rPr>
              <a:t>将指针</a:t>
            </a:r>
            <a:r>
              <a:rPr lang="en-US" altLang="zh-CN" dirty="0">
                <a:latin typeface="+mn-lt"/>
                <a:ea typeface="楷体" pitchFamily="49" charset="-122"/>
              </a:rPr>
              <a:t>p</a:t>
            </a:r>
            <a:r>
              <a:rPr lang="zh-CN" altLang="en-US" dirty="0">
                <a:latin typeface="+mn-lt"/>
                <a:ea typeface="楷体" pitchFamily="49" charset="-122"/>
              </a:rPr>
              <a:t>所指向的存储空间的大小改为</a:t>
            </a:r>
            <a:r>
              <a:rPr lang="en-US" altLang="zh-CN" dirty="0">
                <a:latin typeface="+mn-lt"/>
                <a:ea typeface="楷体" pitchFamily="49" charset="-122"/>
              </a:rPr>
              <a:t>size</a:t>
            </a:r>
            <a:r>
              <a:rPr lang="zh-CN" altLang="en-US" dirty="0">
                <a:latin typeface="+mn-lt"/>
                <a:ea typeface="楷体" pitchFamily="49" charset="-122"/>
              </a:rPr>
              <a:t>个字节。</a:t>
            </a:r>
          </a:p>
          <a:p>
            <a:pPr algn="just">
              <a:lnSpc>
                <a:spcPts val="3200"/>
              </a:lnSpc>
              <a:spcBef>
                <a:spcPts val="0"/>
              </a:spcBef>
              <a:tabLst>
                <a:tab pos="457200" algn="l"/>
                <a:tab pos="495300" algn="l"/>
              </a:tabLst>
            </a:pPr>
            <a:r>
              <a:rPr lang="zh-CN" altLang="en-US" dirty="0">
                <a:latin typeface="+mn-lt"/>
                <a:ea typeface="楷体" pitchFamily="49" charset="-122"/>
              </a:rPr>
              <a:t>　　</a:t>
            </a:r>
            <a:r>
              <a:rPr lang="zh-CN" altLang="en-US" dirty="0">
                <a:solidFill>
                  <a:srgbClr val="CC0000"/>
                </a:solidFill>
                <a:latin typeface="+mn-lt"/>
                <a:ea typeface="楷体" pitchFamily="49" charset="-122"/>
              </a:rPr>
              <a:t>返值：</a:t>
            </a:r>
            <a:r>
              <a:rPr lang="zh-CN" altLang="en-US" dirty="0">
                <a:latin typeface="+mn-lt"/>
                <a:ea typeface="楷体" pitchFamily="49" charset="-122"/>
              </a:rPr>
              <a:t>如果分配内存失败，将返回空指针</a:t>
            </a:r>
            <a:r>
              <a:rPr lang="en-US" altLang="zh-CN" dirty="0">
                <a:latin typeface="+mn-lt"/>
                <a:ea typeface="楷体" pitchFamily="49" charset="-122"/>
              </a:rPr>
              <a:t>(NULL)</a:t>
            </a:r>
            <a:r>
              <a:rPr lang="zh-CN" altLang="en-US" dirty="0">
                <a:latin typeface="+mn-lt"/>
                <a:ea typeface="楷体" pitchFamily="49" charset="-122"/>
              </a:rPr>
              <a:t>；如果成功，将返回新分配的存储空间的首地址，该首地址与原来分配的首地址不一定相同。</a:t>
            </a:r>
          </a:p>
        </p:txBody>
      </p:sp>
      <p:sp>
        <p:nvSpPr>
          <p:cNvPr id="1232906" name="Rectangle 10"/>
          <p:cNvSpPr>
            <a:spLocks noChangeArrowheads="1"/>
          </p:cNvSpPr>
          <p:nvPr/>
        </p:nvSpPr>
        <p:spPr bwMode="auto">
          <a:xfrm>
            <a:off x="1219330" y="4781678"/>
            <a:ext cx="9916983" cy="186891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ts val="3200"/>
              </a:lnSpc>
              <a:spcBef>
                <a:spcPct val="0"/>
              </a:spcBef>
            </a:pPr>
            <a:r>
              <a:rPr lang="zh-CN" altLang="en-US" u="sng" dirty="0">
                <a:solidFill>
                  <a:srgbClr val="002060"/>
                </a:solidFill>
                <a:ea typeface="楷体" pitchFamily="49" charset="-122"/>
              </a:rPr>
              <a:t>函数</a:t>
            </a:r>
            <a:r>
              <a:rPr lang="en-US" altLang="zh-CN" u="sng" dirty="0" err="1">
                <a:solidFill>
                  <a:srgbClr val="002060"/>
                </a:solidFill>
                <a:ea typeface="楷体" pitchFamily="49" charset="-122"/>
              </a:rPr>
              <a:t>realloc</a:t>
            </a:r>
            <a:r>
              <a:rPr lang="en-US" altLang="zh-CN" u="sng" dirty="0">
                <a:solidFill>
                  <a:srgbClr val="002060"/>
                </a:solidFill>
                <a:ea typeface="楷体" pitchFamily="49" charset="-122"/>
              </a:rPr>
              <a:t>()</a:t>
            </a:r>
            <a:r>
              <a:rPr lang="zh-CN" altLang="en-US" u="sng" dirty="0">
                <a:solidFill>
                  <a:srgbClr val="002060"/>
                </a:solidFill>
                <a:ea typeface="楷体" pitchFamily="49" charset="-122"/>
              </a:rPr>
              <a:t>主要应用场合是：</a:t>
            </a:r>
            <a:endParaRPr lang="en-US" altLang="zh-CN" u="sng" dirty="0">
              <a:solidFill>
                <a:srgbClr val="002060"/>
              </a:solidFill>
              <a:ea typeface="楷体" pitchFamily="49" charset="-122"/>
            </a:endParaRPr>
          </a:p>
          <a:p>
            <a:pPr>
              <a:spcBef>
                <a:spcPct val="0"/>
              </a:spcBef>
            </a:pPr>
            <a:endParaRPr lang="en-US" altLang="zh-CN" sz="1100" u="sng" dirty="0">
              <a:solidFill>
                <a:srgbClr val="002060"/>
              </a:solidFill>
              <a:ea typeface="楷体" pitchFamily="49" charset="-122"/>
            </a:endParaRPr>
          </a:p>
          <a:p>
            <a:pPr>
              <a:lnSpc>
                <a:spcPts val="3200"/>
              </a:lnSpc>
              <a:spcBef>
                <a:spcPct val="0"/>
              </a:spcBef>
            </a:pPr>
            <a:r>
              <a:rPr lang="zh-CN" altLang="en-US" dirty="0">
                <a:ea typeface="楷体" pitchFamily="49" charset="-122"/>
              </a:rPr>
              <a:t>当先前通过动态内存分配的存储空间因实际情况需要进行扩充或缩小时，就可以使用函数</a:t>
            </a:r>
            <a:r>
              <a:rPr lang="en-US" altLang="zh-CN" dirty="0" err="1">
                <a:ea typeface="楷体" pitchFamily="49" charset="-122"/>
              </a:rPr>
              <a:t>realloc</a:t>
            </a:r>
            <a:r>
              <a:rPr lang="en-US" altLang="zh-CN" dirty="0">
                <a:ea typeface="楷体" pitchFamily="49" charset="-122"/>
              </a:rPr>
              <a:t>()</a:t>
            </a:r>
            <a:r>
              <a:rPr lang="zh-CN" altLang="en-US" dirty="0">
                <a:ea typeface="楷体" pitchFamily="49" charset="-122"/>
              </a:rPr>
              <a:t>来解决，其好处是原存储空间中的数据值能保持不变。例如有下列程序段：</a:t>
            </a:r>
          </a:p>
        </p:txBody>
      </p:sp>
      <p:sp>
        <p:nvSpPr>
          <p:cNvPr id="12" name="Rectangle 6">
            <a:extLst>
              <a:ext uri="{FF2B5EF4-FFF2-40B4-BE49-F238E27FC236}">
                <a16:creationId xmlns:a16="http://schemas.microsoft.com/office/drawing/2014/main" id="{E6E118F8-427E-4C5A-9A7D-1FC742BCD6B3}"/>
              </a:ext>
            </a:extLst>
          </p:cNvPr>
          <p:cNvSpPr>
            <a:spLocks noChangeArrowheads="1"/>
          </p:cNvSpPr>
          <p:nvPr/>
        </p:nvSpPr>
        <p:spPr bwMode="auto">
          <a:xfrm>
            <a:off x="674391" y="803977"/>
            <a:ext cx="2941831" cy="52322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800" b="1" dirty="0">
                <a:solidFill>
                  <a:srgbClr val="C00000"/>
                </a:solidFill>
                <a:latin typeface="+mn-lt"/>
                <a:ea typeface="楷体" pitchFamily="49" charset="-122"/>
              </a:rPr>
              <a:t>2</a:t>
            </a:r>
            <a:r>
              <a:rPr lang="zh-CN" altLang="en-US" sz="2800" b="1" dirty="0">
                <a:solidFill>
                  <a:srgbClr val="C00000"/>
                </a:solidFill>
                <a:latin typeface="+mn-lt"/>
                <a:ea typeface="楷体" pitchFamily="49" charset="-122"/>
              </a:rPr>
              <a:t>、动态内存分配</a:t>
            </a:r>
            <a:r>
              <a:rPr lang="zh-CN" altLang="en-US" b="1" dirty="0">
                <a:solidFill>
                  <a:srgbClr val="C00000"/>
                </a:solidFill>
                <a:latin typeface="+mn-lt"/>
                <a:ea typeface="楷体" pitchFamily="49" charset="-122"/>
              </a:rPr>
              <a:t> </a:t>
            </a:r>
          </a:p>
        </p:txBody>
      </p:sp>
      <p:sp>
        <p:nvSpPr>
          <p:cNvPr id="13" name="Rectangle 4">
            <a:extLst>
              <a:ext uri="{FF2B5EF4-FFF2-40B4-BE49-F238E27FC236}">
                <a16:creationId xmlns:a16="http://schemas.microsoft.com/office/drawing/2014/main" id="{82CAB30A-3C16-4251-98B0-153C883344D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指针与动态内存分配</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32902"/>
                                        </p:tgtEl>
                                        <p:attrNameLst>
                                          <p:attrName>style.visibility</p:attrName>
                                        </p:attrNameLst>
                                      </p:cBhvr>
                                      <p:to>
                                        <p:strVal val="visible"/>
                                      </p:to>
                                    </p:set>
                                    <p:animEffect transition="in" filter="box(in)">
                                      <p:cBhvr>
                                        <p:cTn id="7" dur="500"/>
                                        <p:tgtEl>
                                          <p:spTgt spid="123290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32903"/>
                                        </p:tgtEl>
                                        <p:attrNameLst>
                                          <p:attrName>style.visibility</p:attrName>
                                        </p:attrNameLst>
                                      </p:cBhvr>
                                      <p:to>
                                        <p:strVal val="visible"/>
                                      </p:to>
                                    </p:set>
                                    <p:animEffect transition="in" filter="box(in)">
                                      <p:cBhvr>
                                        <p:cTn id="12" dur="500"/>
                                        <p:tgtEl>
                                          <p:spTgt spid="123290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32904"/>
                                        </p:tgtEl>
                                        <p:attrNameLst>
                                          <p:attrName>style.visibility</p:attrName>
                                        </p:attrNameLst>
                                      </p:cBhvr>
                                      <p:to>
                                        <p:strVal val="visible"/>
                                      </p:to>
                                    </p:set>
                                    <p:animEffect transition="in" filter="box(in)">
                                      <p:cBhvr>
                                        <p:cTn id="17" dur="500"/>
                                        <p:tgtEl>
                                          <p:spTgt spid="1232904"/>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232906"/>
                                        </p:tgtEl>
                                        <p:attrNameLst>
                                          <p:attrName>style.visibility</p:attrName>
                                        </p:attrNameLst>
                                      </p:cBhvr>
                                      <p:to>
                                        <p:strVal val="visible"/>
                                      </p:to>
                                    </p:set>
                                    <p:animEffect transition="in" filter="box(in)">
                                      <p:cBhvr>
                                        <p:cTn id="22" dur="500"/>
                                        <p:tgtEl>
                                          <p:spTgt spid="1232906"/>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2902" grpId="0"/>
      <p:bldP spid="1232903" grpId="0" animBg="1"/>
      <p:bldP spid="1232904" grpId="0"/>
      <p:bldP spid="1232906" grpId="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 name="Rectangle 4">
            <a:extLst>
              <a:ext uri="{FF2B5EF4-FFF2-40B4-BE49-F238E27FC236}">
                <a16:creationId xmlns:a16="http://schemas.microsoft.com/office/drawing/2014/main" id="{ED630B74-8E6F-4A63-AFA2-3685C121522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指针与动态内存分配</a:t>
            </a:r>
          </a:p>
        </p:txBody>
      </p:sp>
      <p:sp>
        <p:nvSpPr>
          <p:cNvPr id="1233922" name="Rectangle 2"/>
          <p:cNvSpPr>
            <a:spLocks noChangeArrowheads="1"/>
          </p:cNvSpPr>
          <p:nvPr/>
        </p:nvSpPr>
        <p:spPr bwMode="auto">
          <a:xfrm>
            <a:off x="1055440" y="2954707"/>
            <a:ext cx="184731" cy="387798"/>
          </a:xfrm>
          <a:prstGeom prst="rect">
            <a:avLst/>
          </a:prstGeom>
          <a:noFill/>
          <a:ln w="9525" algn="ctr">
            <a:noFill/>
            <a:miter lim="800000"/>
            <a:headEnd/>
            <a:tailEnd/>
          </a:ln>
          <a:effectLst/>
        </p:spPr>
        <p:txBody>
          <a:bodyPr wrap="none" anchor="ctr">
            <a:spAutoFit/>
          </a:bodyPr>
          <a:lstStyle/>
          <a:p>
            <a:endParaRPr lang="zh-CN" altLang="en-US"/>
          </a:p>
        </p:txBody>
      </p:sp>
      <p:sp>
        <p:nvSpPr>
          <p:cNvPr id="1233930" name="Text Box 10" descr="信纸"/>
          <p:cNvSpPr txBox="1">
            <a:spLocks noChangeArrowheads="1"/>
          </p:cNvSpPr>
          <p:nvPr/>
        </p:nvSpPr>
        <p:spPr bwMode="auto">
          <a:xfrm>
            <a:off x="2667003" y="903238"/>
            <a:ext cx="7489825" cy="1517650"/>
          </a:xfrm>
          <a:prstGeom prst="rect">
            <a:avLst/>
          </a:prstGeom>
          <a:solidFill>
            <a:schemeClr val="bg1"/>
          </a:soli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en-US" altLang="zh-CN" dirty="0">
                <a:effectLst>
                  <a:outerShdw blurRad="38100" dist="38100" dir="2700000" algn="tl">
                    <a:srgbClr val="FFFFFF"/>
                  </a:outerShdw>
                </a:effectLst>
              </a:rPr>
              <a:t>  char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*p;</a:t>
            </a:r>
          </a:p>
          <a:p>
            <a:pPr marL="342900" indent="-342900"/>
            <a:r>
              <a:rPr lang="en-US" altLang="zh-CN" dirty="0">
                <a:effectLst>
                  <a:outerShdw blurRad="38100" dist="38100" dir="2700000" algn="tl">
                    <a:srgbClr val="FFFFFF"/>
                  </a:outerShdw>
                </a:effectLst>
              </a:rPr>
              <a:t>  p = (char *) </a:t>
            </a:r>
            <a:r>
              <a:rPr lang="en-US" altLang="zh-CN" dirty="0" err="1">
                <a:effectLst>
                  <a:outerShdw blurRad="38100" dist="38100" dir="2700000" algn="tl">
                    <a:srgbClr val="FFFFFF"/>
                  </a:outerShdw>
                </a:effectLst>
              </a:rPr>
              <a:t>malloc</a:t>
            </a:r>
            <a:r>
              <a:rPr lang="en-US" altLang="zh-CN" dirty="0">
                <a:effectLst>
                  <a:outerShdw blurRad="38100" dist="38100" dir="2700000" algn="tl">
                    <a:srgbClr val="FFFFFF"/>
                  </a:outerShdw>
                </a:effectLst>
              </a:rPr>
              <a:t>(4 * </a:t>
            </a:r>
            <a:r>
              <a:rPr lang="en-US" altLang="zh-CN" dirty="0" err="1">
                <a:effectLst>
                  <a:outerShdw blurRad="38100" dist="38100" dir="2700000" algn="tl">
                    <a:srgbClr val="FFFFFF"/>
                  </a:outerShdw>
                </a:effectLst>
              </a:rPr>
              <a:t>sizeof</a:t>
            </a:r>
            <a:r>
              <a:rPr lang="en-US" altLang="zh-CN" dirty="0">
                <a:effectLst>
                  <a:outerShdw blurRad="38100" dist="38100" dir="2700000" algn="tl">
                    <a:srgbClr val="FFFFFF"/>
                  </a:outerShdw>
                </a:effectLst>
              </a:rPr>
              <a:t>(char));</a:t>
            </a:r>
          </a:p>
          <a:p>
            <a:pPr marL="342900" indent="-342900"/>
            <a:r>
              <a:rPr lang="en-US" altLang="zh-CN" dirty="0">
                <a:effectLst>
                  <a:outerShdw blurRad="38100" dist="38100" dir="2700000" algn="tl">
                    <a:srgbClr val="FFFFFF"/>
                  </a:outerShdw>
                </a:effectLst>
              </a:rPr>
              <a:t>  for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 0;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&lt; 4;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a:t>
            </a:r>
          </a:p>
          <a:p>
            <a:pPr marL="342900" indent="-342900"/>
            <a:r>
              <a:rPr lang="zh-CN" altLang="en-US" dirty="0">
                <a:effectLst>
                  <a:outerShdw blurRad="38100" dist="38100" dir="2700000" algn="tl">
                    <a:srgbClr val="FFFFFF"/>
                  </a:outerShdw>
                </a:effectLst>
              </a:rPr>
              <a:t>  　*</a:t>
            </a:r>
            <a:r>
              <a:rPr lang="en-US" altLang="zh-CN" dirty="0">
                <a:effectLst>
                  <a:outerShdw blurRad="38100" dist="38100" dir="2700000" algn="tl">
                    <a:srgbClr val="FFFFFF"/>
                  </a:outerShdw>
                </a:effectLst>
              </a:rPr>
              <a:t>(p +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+ 1;</a:t>
            </a:r>
          </a:p>
        </p:txBody>
      </p:sp>
      <p:grpSp>
        <p:nvGrpSpPr>
          <p:cNvPr id="1233971" name="Group 51"/>
          <p:cNvGrpSpPr>
            <a:grpSpLocks/>
          </p:cNvGrpSpPr>
          <p:nvPr/>
        </p:nvGrpSpPr>
        <p:grpSpPr bwMode="auto">
          <a:xfrm>
            <a:off x="2464369" y="2780431"/>
            <a:ext cx="1655763" cy="3744913"/>
            <a:chOff x="2109" y="1480"/>
            <a:chExt cx="1212" cy="2359"/>
          </a:xfrm>
        </p:grpSpPr>
        <p:grpSp>
          <p:nvGrpSpPr>
            <p:cNvPr id="1233969" name="Group 49"/>
            <p:cNvGrpSpPr>
              <a:grpSpLocks/>
            </p:cNvGrpSpPr>
            <p:nvPr/>
          </p:nvGrpSpPr>
          <p:grpSpPr bwMode="auto">
            <a:xfrm>
              <a:off x="2109" y="1480"/>
              <a:ext cx="1212" cy="2359"/>
              <a:chOff x="748" y="1480"/>
              <a:chExt cx="1212" cy="2359"/>
            </a:xfrm>
          </p:grpSpPr>
          <p:sp>
            <p:nvSpPr>
              <p:cNvPr id="1233941" name="Rectangle 21"/>
              <p:cNvSpPr>
                <a:spLocks noChangeArrowheads="1"/>
              </p:cNvSpPr>
              <p:nvPr/>
            </p:nvSpPr>
            <p:spPr bwMode="auto">
              <a:xfrm>
                <a:off x="748" y="1480"/>
                <a:ext cx="1211" cy="1769"/>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33942" name="Line 22"/>
              <p:cNvSpPr>
                <a:spLocks noChangeShapeType="1"/>
              </p:cNvSpPr>
              <p:nvPr/>
            </p:nvSpPr>
            <p:spPr bwMode="auto">
              <a:xfrm>
                <a:off x="748" y="1735"/>
                <a:ext cx="1211" cy="0"/>
              </a:xfrm>
              <a:prstGeom prst="line">
                <a:avLst/>
              </a:prstGeom>
              <a:noFill/>
              <a:ln w="12700">
                <a:solidFill>
                  <a:srgbClr val="CC0099"/>
                </a:solidFill>
                <a:round/>
                <a:headEnd/>
                <a:tailEnd/>
              </a:ln>
              <a:effectLst/>
            </p:spPr>
            <p:txBody>
              <a:bodyPr wrap="none" anchor="ctr"/>
              <a:lstStyle/>
              <a:p>
                <a:endParaRPr lang="zh-CN" altLang="en-US"/>
              </a:p>
            </p:txBody>
          </p:sp>
          <p:sp>
            <p:nvSpPr>
              <p:cNvPr id="1233943" name="Line 23"/>
              <p:cNvSpPr>
                <a:spLocks noChangeShapeType="1"/>
              </p:cNvSpPr>
              <p:nvPr/>
            </p:nvSpPr>
            <p:spPr bwMode="auto">
              <a:xfrm>
                <a:off x="748" y="1938"/>
                <a:ext cx="1211" cy="0"/>
              </a:xfrm>
              <a:prstGeom prst="line">
                <a:avLst/>
              </a:prstGeom>
              <a:noFill/>
              <a:ln w="12700">
                <a:solidFill>
                  <a:srgbClr val="CC0099"/>
                </a:solidFill>
                <a:round/>
                <a:headEnd/>
                <a:tailEnd/>
              </a:ln>
              <a:effectLst/>
            </p:spPr>
            <p:txBody>
              <a:bodyPr wrap="none" anchor="ctr"/>
              <a:lstStyle/>
              <a:p>
                <a:endParaRPr lang="zh-CN" altLang="en-US"/>
              </a:p>
            </p:txBody>
          </p:sp>
          <p:sp>
            <p:nvSpPr>
              <p:cNvPr id="1233944" name="Line 24"/>
              <p:cNvSpPr>
                <a:spLocks noChangeShapeType="1"/>
              </p:cNvSpPr>
              <p:nvPr/>
            </p:nvSpPr>
            <p:spPr bwMode="auto">
              <a:xfrm>
                <a:off x="748" y="2360"/>
                <a:ext cx="1211" cy="0"/>
              </a:xfrm>
              <a:prstGeom prst="line">
                <a:avLst/>
              </a:prstGeom>
              <a:noFill/>
              <a:ln w="12700">
                <a:solidFill>
                  <a:srgbClr val="CC0099"/>
                </a:solidFill>
                <a:round/>
                <a:headEnd/>
                <a:tailEnd/>
              </a:ln>
              <a:effectLst/>
            </p:spPr>
            <p:txBody>
              <a:bodyPr wrap="none" anchor="ctr"/>
              <a:lstStyle/>
              <a:p>
                <a:endParaRPr lang="zh-CN" altLang="en-US"/>
              </a:p>
            </p:txBody>
          </p:sp>
          <p:sp>
            <p:nvSpPr>
              <p:cNvPr id="1233946" name="AutoShape 26"/>
              <p:cNvSpPr>
                <a:spLocks noChangeArrowheads="1"/>
              </p:cNvSpPr>
              <p:nvPr/>
            </p:nvSpPr>
            <p:spPr bwMode="auto">
              <a:xfrm>
                <a:off x="749" y="3249"/>
                <a:ext cx="1211" cy="590"/>
              </a:xfrm>
              <a:prstGeom prst="foldedCorner">
                <a:avLst>
                  <a:gd name="adj" fmla="val 50000"/>
                </a:avLst>
              </a:prstGeom>
              <a:solidFill>
                <a:srgbClr val="DDFAED"/>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233948" name="Line 28"/>
              <p:cNvSpPr>
                <a:spLocks noChangeShapeType="1"/>
              </p:cNvSpPr>
              <p:nvPr/>
            </p:nvSpPr>
            <p:spPr bwMode="auto">
              <a:xfrm>
                <a:off x="748" y="2146"/>
                <a:ext cx="1211" cy="0"/>
              </a:xfrm>
              <a:prstGeom prst="line">
                <a:avLst/>
              </a:prstGeom>
              <a:noFill/>
              <a:ln w="12700">
                <a:solidFill>
                  <a:srgbClr val="CC0099"/>
                </a:solidFill>
                <a:round/>
                <a:headEnd/>
                <a:tailEnd/>
              </a:ln>
              <a:effectLst/>
            </p:spPr>
            <p:txBody>
              <a:bodyPr wrap="none" anchor="ctr"/>
              <a:lstStyle/>
              <a:p>
                <a:endParaRPr lang="zh-CN" altLang="en-US"/>
              </a:p>
            </p:txBody>
          </p:sp>
          <p:sp>
            <p:nvSpPr>
              <p:cNvPr id="1233951" name="Line 31"/>
              <p:cNvSpPr>
                <a:spLocks noChangeShapeType="1"/>
              </p:cNvSpPr>
              <p:nvPr/>
            </p:nvSpPr>
            <p:spPr bwMode="auto">
              <a:xfrm>
                <a:off x="748" y="2578"/>
                <a:ext cx="1211" cy="0"/>
              </a:xfrm>
              <a:prstGeom prst="line">
                <a:avLst/>
              </a:prstGeom>
              <a:noFill/>
              <a:ln w="12700">
                <a:solidFill>
                  <a:srgbClr val="CC0099"/>
                </a:solidFill>
                <a:round/>
                <a:headEnd/>
                <a:tailEnd/>
              </a:ln>
              <a:effectLst/>
            </p:spPr>
            <p:txBody>
              <a:bodyPr wrap="none" anchor="ctr"/>
              <a:lstStyle/>
              <a:p>
                <a:endParaRPr lang="zh-CN" altLang="en-US"/>
              </a:p>
            </p:txBody>
          </p:sp>
        </p:grpSp>
        <p:grpSp>
          <p:nvGrpSpPr>
            <p:cNvPr id="1233970" name="Group 50"/>
            <p:cNvGrpSpPr>
              <a:grpSpLocks/>
            </p:cNvGrpSpPr>
            <p:nvPr/>
          </p:nvGrpSpPr>
          <p:grpSpPr bwMode="auto">
            <a:xfrm>
              <a:off x="2608" y="1700"/>
              <a:ext cx="363" cy="891"/>
              <a:chOff x="1247" y="1700"/>
              <a:chExt cx="363" cy="891"/>
            </a:xfrm>
          </p:grpSpPr>
          <p:sp>
            <p:nvSpPr>
              <p:cNvPr id="1233947" name="Text Box 27"/>
              <p:cNvSpPr txBox="1">
                <a:spLocks noChangeArrowheads="1"/>
              </p:cNvSpPr>
              <p:nvPr/>
            </p:nvSpPr>
            <p:spPr bwMode="auto">
              <a:xfrm>
                <a:off x="1247" y="1700"/>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1</a:t>
                </a:r>
              </a:p>
            </p:txBody>
          </p:sp>
          <p:sp>
            <p:nvSpPr>
              <p:cNvPr id="1233949" name="Text Box 29"/>
              <p:cNvSpPr txBox="1">
                <a:spLocks noChangeArrowheads="1"/>
              </p:cNvSpPr>
              <p:nvPr/>
            </p:nvSpPr>
            <p:spPr bwMode="auto">
              <a:xfrm>
                <a:off x="1247" y="1908"/>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2</a:t>
                </a:r>
              </a:p>
            </p:txBody>
          </p:sp>
          <p:sp>
            <p:nvSpPr>
              <p:cNvPr id="1233950" name="Text Box 30"/>
              <p:cNvSpPr txBox="1">
                <a:spLocks noChangeArrowheads="1"/>
              </p:cNvSpPr>
              <p:nvPr/>
            </p:nvSpPr>
            <p:spPr bwMode="auto">
              <a:xfrm>
                <a:off x="1247" y="2116"/>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3</a:t>
                </a:r>
              </a:p>
            </p:txBody>
          </p:sp>
          <p:sp>
            <p:nvSpPr>
              <p:cNvPr id="1233968" name="Text Box 48"/>
              <p:cNvSpPr txBox="1">
                <a:spLocks noChangeArrowheads="1"/>
              </p:cNvSpPr>
              <p:nvPr/>
            </p:nvSpPr>
            <p:spPr bwMode="auto">
              <a:xfrm>
                <a:off x="1247" y="2341"/>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4</a:t>
                </a:r>
              </a:p>
            </p:txBody>
          </p:sp>
        </p:grpSp>
      </p:grpSp>
      <p:grpSp>
        <p:nvGrpSpPr>
          <p:cNvPr id="1233977" name="Group 57"/>
          <p:cNvGrpSpPr>
            <a:grpSpLocks/>
          </p:cNvGrpSpPr>
          <p:nvPr/>
        </p:nvGrpSpPr>
        <p:grpSpPr bwMode="auto">
          <a:xfrm>
            <a:off x="1383282" y="3067772"/>
            <a:ext cx="1036637" cy="461963"/>
            <a:chOff x="385" y="1679"/>
            <a:chExt cx="653" cy="291"/>
          </a:xfrm>
        </p:grpSpPr>
        <p:sp>
          <p:nvSpPr>
            <p:cNvPr id="1233972" name="Line 52"/>
            <p:cNvSpPr>
              <a:spLocks noChangeShapeType="1"/>
            </p:cNvSpPr>
            <p:nvPr/>
          </p:nvSpPr>
          <p:spPr bwMode="auto">
            <a:xfrm>
              <a:off x="585" y="1824"/>
              <a:ext cx="453" cy="0"/>
            </a:xfrm>
            <a:prstGeom prst="line">
              <a:avLst/>
            </a:prstGeom>
            <a:noFill/>
            <a:ln w="28575">
              <a:solidFill>
                <a:srgbClr val="C00000"/>
              </a:solidFill>
              <a:round/>
              <a:headEnd/>
              <a:tailEnd type="stealth" w="lg" len="lg"/>
            </a:ln>
            <a:effectLst/>
          </p:spPr>
          <p:txBody>
            <a:bodyPr/>
            <a:lstStyle/>
            <a:p>
              <a:endParaRPr lang="zh-CN" altLang="en-US"/>
            </a:p>
          </p:txBody>
        </p:sp>
        <p:sp>
          <p:nvSpPr>
            <p:cNvPr id="1233973" name="Text Box 53"/>
            <p:cNvSpPr txBox="1">
              <a:spLocks noChangeArrowheads="1"/>
            </p:cNvSpPr>
            <p:nvPr/>
          </p:nvSpPr>
          <p:spPr bwMode="auto">
            <a:xfrm>
              <a:off x="385" y="1679"/>
              <a:ext cx="272" cy="291"/>
            </a:xfrm>
            <a:prstGeom prst="rect">
              <a:avLst/>
            </a:prstGeom>
            <a:noFill/>
            <a:ln w="9525" algn="ctr">
              <a:noFill/>
              <a:miter lim="800000"/>
              <a:headEnd/>
              <a:tailEnd/>
            </a:ln>
            <a:effectLst/>
          </p:spPr>
          <p:txBody>
            <a:bodyPr>
              <a:spAutoFit/>
            </a:bodyPr>
            <a:lstStyle/>
            <a:p>
              <a:pPr marL="342900" indent="-342900">
                <a:spcBef>
                  <a:spcPct val="50000"/>
                </a:spcBef>
              </a:pPr>
              <a:r>
                <a:rPr lang="en-US" altLang="zh-CN" b="1" dirty="0">
                  <a:solidFill>
                    <a:srgbClr val="C00000"/>
                  </a:solidFill>
                </a:rPr>
                <a:t>p</a:t>
              </a:r>
            </a:p>
          </p:txBody>
        </p:sp>
      </p:grpSp>
      <p:grpSp>
        <p:nvGrpSpPr>
          <p:cNvPr id="1233976" name="Group 56"/>
          <p:cNvGrpSpPr>
            <a:grpSpLocks/>
          </p:cNvGrpSpPr>
          <p:nvPr/>
        </p:nvGrpSpPr>
        <p:grpSpPr bwMode="auto">
          <a:xfrm>
            <a:off x="4124896" y="3212230"/>
            <a:ext cx="939801" cy="1295400"/>
            <a:chOff x="2290" y="1752"/>
            <a:chExt cx="592" cy="816"/>
          </a:xfrm>
        </p:grpSpPr>
        <p:sp>
          <p:nvSpPr>
            <p:cNvPr id="1233974" name="AutoShape 54"/>
            <p:cNvSpPr>
              <a:spLocks/>
            </p:cNvSpPr>
            <p:nvPr/>
          </p:nvSpPr>
          <p:spPr bwMode="auto">
            <a:xfrm>
              <a:off x="2290" y="1752"/>
              <a:ext cx="136" cy="816"/>
            </a:xfrm>
            <a:prstGeom prst="rightBrace">
              <a:avLst>
                <a:gd name="adj1" fmla="val 50000"/>
                <a:gd name="adj2" fmla="val 50000"/>
              </a:avLst>
            </a:prstGeom>
            <a:noFill/>
            <a:ln w="28575">
              <a:solidFill>
                <a:srgbClr val="C00000"/>
              </a:solidFill>
              <a:round/>
              <a:headEnd/>
              <a:tailEnd/>
            </a:ln>
            <a:effectLst/>
          </p:spPr>
          <p:txBody>
            <a:bodyPr wrap="none" anchor="ctr"/>
            <a:lstStyle/>
            <a:p>
              <a:endParaRPr lang="zh-CN" altLang="en-US" dirty="0">
                <a:solidFill>
                  <a:srgbClr val="FF0000"/>
                </a:solidFill>
              </a:endParaRPr>
            </a:p>
          </p:txBody>
        </p:sp>
        <p:sp>
          <p:nvSpPr>
            <p:cNvPr id="1233975" name="Rectangle 55"/>
            <p:cNvSpPr>
              <a:spLocks noChangeArrowheads="1"/>
            </p:cNvSpPr>
            <p:nvPr/>
          </p:nvSpPr>
          <p:spPr bwMode="auto">
            <a:xfrm>
              <a:off x="2399" y="2032"/>
              <a:ext cx="483" cy="233"/>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1800" b="1" dirty="0">
                  <a:solidFill>
                    <a:srgbClr val="C00000"/>
                  </a:solidFill>
                  <a:latin typeface="隶书" pitchFamily="49" charset="-122"/>
                  <a:ea typeface="隶书" pitchFamily="49" charset="-122"/>
                </a:rPr>
                <a:t>4</a:t>
              </a:r>
              <a:r>
                <a:rPr lang="zh-CN" altLang="en-US" sz="1800" b="1" dirty="0">
                  <a:solidFill>
                    <a:srgbClr val="C00000"/>
                  </a:solidFill>
                  <a:latin typeface="隶书" pitchFamily="49" charset="-122"/>
                  <a:ea typeface="隶书" pitchFamily="49" charset="-122"/>
                </a:rPr>
                <a:t>字节</a:t>
              </a:r>
            </a:p>
          </p:txBody>
        </p:sp>
      </p:grpSp>
      <p:grpSp>
        <p:nvGrpSpPr>
          <p:cNvPr id="1233995" name="Group 75"/>
          <p:cNvGrpSpPr>
            <a:grpSpLocks/>
          </p:cNvGrpSpPr>
          <p:nvPr/>
        </p:nvGrpSpPr>
        <p:grpSpPr bwMode="auto">
          <a:xfrm>
            <a:off x="10456023" y="3212230"/>
            <a:ext cx="939799" cy="1943100"/>
            <a:chOff x="2290" y="1752"/>
            <a:chExt cx="592" cy="816"/>
          </a:xfrm>
        </p:grpSpPr>
        <p:sp>
          <p:nvSpPr>
            <p:cNvPr id="1233996" name="AutoShape 76"/>
            <p:cNvSpPr>
              <a:spLocks/>
            </p:cNvSpPr>
            <p:nvPr/>
          </p:nvSpPr>
          <p:spPr bwMode="auto">
            <a:xfrm>
              <a:off x="2290" y="1752"/>
              <a:ext cx="136" cy="816"/>
            </a:xfrm>
            <a:prstGeom prst="rightBrace">
              <a:avLst>
                <a:gd name="adj1" fmla="val 50000"/>
                <a:gd name="adj2" fmla="val 50000"/>
              </a:avLst>
            </a:prstGeom>
            <a:noFill/>
            <a:ln w="28575">
              <a:solidFill>
                <a:srgbClr val="C00000"/>
              </a:solidFill>
              <a:round/>
              <a:headEnd/>
              <a:tailEnd/>
            </a:ln>
            <a:effectLst/>
          </p:spPr>
          <p:txBody>
            <a:bodyPr wrap="none" anchor="ctr"/>
            <a:lstStyle/>
            <a:p>
              <a:endParaRPr lang="zh-CN" altLang="en-US"/>
            </a:p>
          </p:txBody>
        </p:sp>
        <p:sp>
          <p:nvSpPr>
            <p:cNvPr id="1233997" name="Rectangle 77"/>
            <p:cNvSpPr>
              <a:spLocks noChangeArrowheads="1"/>
            </p:cNvSpPr>
            <p:nvPr/>
          </p:nvSpPr>
          <p:spPr bwMode="auto">
            <a:xfrm>
              <a:off x="2399" y="2070"/>
              <a:ext cx="483" cy="155"/>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1800" b="1" dirty="0">
                  <a:solidFill>
                    <a:srgbClr val="C00000"/>
                  </a:solidFill>
                  <a:latin typeface="隶书" pitchFamily="49" charset="-122"/>
                  <a:ea typeface="隶书" pitchFamily="49" charset="-122"/>
                </a:rPr>
                <a:t>6</a:t>
              </a:r>
              <a:r>
                <a:rPr lang="zh-CN" altLang="en-US" sz="1800" b="1" dirty="0">
                  <a:solidFill>
                    <a:srgbClr val="C00000"/>
                  </a:solidFill>
                  <a:latin typeface="隶书" pitchFamily="49" charset="-122"/>
                  <a:ea typeface="隶书" pitchFamily="49" charset="-122"/>
                </a:rPr>
                <a:t>字节</a:t>
              </a:r>
            </a:p>
          </p:txBody>
        </p:sp>
      </p:grpSp>
      <p:grpSp>
        <p:nvGrpSpPr>
          <p:cNvPr id="1233999" name="Group 79"/>
          <p:cNvGrpSpPr>
            <a:grpSpLocks/>
          </p:cNvGrpSpPr>
          <p:nvPr/>
        </p:nvGrpSpPr>
        <p:grpSpPr bwMode="auto">
          <a:xfrm>
            <a:off x="8798674" y="2780431"/>
            <a:ext cx="1668462" cy="3744913"/>
            <a:chOff x="4059" y="1480"/>
            <a:chExt cx="1051" cy="2359"/>
          </a:xfrm>
        </p:grpSpPr>
        <p:grpSp>
          <p:nvGrpSpPr>
            <p:cNvPr id="1233998" name="Group 78"/>
            <p:cNvGrpSpPr>
              <a:grpSpLocks/>
            </p:cNvGrpSpPr>
            <p:nvPr/>
          </p:nvGrpSpPr>
          <p:grpSpPr bwMode="auto">
            <a:xfrm>
              <a:off x="4059" y="1480"/>
              <a:ext cx="1051" cy="2359"/>
              <a:chOff x="4195" y="1480"/>
              <a:chExt cx="1051" cy="2359"/>
            </a:xfrm>
          </p:grpSpPr>
          <p:sp>
            <p:nvSpPr>
              <p:cNvPr id="1233981" name="Rectangle 61"/>
              <p:cNvSpPr>
                <a:spLocks noChangeArrowheads="1"/>
              </p:cNvSpPr>
              <p:nvPr/>
            </p:nvSpPr>
            <p:spPr bwMode="auto">
              <a:xfrm>
                <a:off x="4195" y="1480"/>
                <a:ext cx="1042" cy="1769"/>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33982" name="Line 62"/>
              <p:cNvSpPr>
                <a:spLocks noChangeShapeType="1"/>
              </p:cNvSpPr>
              <p:nvPr/>
            </p:nvSpPr>
            <p:spPr bwMode="auto">
              <a:xfrm>
                <a:off x="4195" y="1735"/>
                <a:ext cx="1042" cy="0"/>
              </a:xfrm>
              <a:prstGeom prst="line">
                <a:avLst/>
              </a:prstGeom>
              <a:noFill/>
              <a:ln w="12700">
                <a:solidFill>
                  <a:srgbClr val="CC0099"/>
                </a:solidFill>
                <a:round/>
                <a:headEnd/>
                <a:tailEnd/>
              </a:ln>
              <a:effectLst/>
            </p:spPr>
            <p:txBody>
              <a:bodyPr wrap="none" anchor="ctr"/>
              <a:lstStyle/>
              <a:p>
                <a:endParaRPr lang="zh-CN" altLang="en-US"/>
              </a:p>
            </p:txBody>
          </p:sp>
          <p:sp>
            <p:nvSpPr>
              <p:cNvPr id="1233983" name="Line 63"/>
              <p:cNvSpPr>
                <a:spLocks noChangeShapeType="1"/>
              </p:cNvSpPr>
              <p:nvPr/>
            </p:nvSpPr>
            <p:spPr bwMode="auto">
              <a:xfrm>
                <a:off x="4195" y="1938"/>
                <a:ext cx="1042" cy="0"/>
              </a:xfrm>
              <a:prstGeom prst="line">
                <a:avLst/>
              </a:prstGeom>
              <a:noFill/>
              <a:ln w="12700">
                <a:solidFill>
                  <a:srgbClr val="CC0099"/>
                </a:solidFill>
                <a:round/>
                <a:headEnd/>
                <a:tailEnd/>
              </a:ln>
              <a:effectLst/>
            </p:spPr>
            <p:txBody>
              <a:bodyPr wrap="none" anchor="ctr"/>
              <a:lstStyle/>
              <a:p>
                <a:endParaRPr lang="zh-CN" altLang="en-US"/>
              </a:p>
            </p:txBody>
          </p:sp>
          <p:sp>
            <p:nvSpPr>
              <p:cNvPr id="1233984" name="Line 64"/>
              <p:cNvSpPr>
                <a:spLocks noChangeShapeType="1"/>
              </p:cNvSpPr>
              <p:nvPr/>
            </p:nvSpPr>
            <p:spPr bwMode="auto">
              <a:xfrm>
                <a:off x="4195" y="2360"/>
                <a:ext cx="1042" cy="0"/>
              </a:xfrm>
              <a:prstGeom prst="line">
                <a:avLst/>
              </a:prstGeom>
              <a:noFill/>
              <a:ln w="12700">
                <a:solidFill>
                  <a:srgbClr val="CC0099"/>
                </a:solidFill>
                <a:round/>
                <a:headEnd/>
                <a:tailEnd/>
              </a:ln>
              <a:effectLst/>
            </p:spPr>
            <p:txBody>
              <a:bodyPr wrap="none" anchor="ctr"/>
              <a:lstStyle/>
              <a:p>
                <a:endParaRPr lang="zh-CN" altLang="en-US"/>
              </a:p>
            </p:txBody>
          </p:sp>
          <p:sp>
            <p:nvSpPr>
              <p:cNvPr id="1233985" name="AutoShape 65"/>
              <p:cNvSpPr>
                <a:spLocks noChangeArrowheads="1"/>
              </p:cNvSpPr>
              <p:nvPr/>
            </p:nvSpPr>
            <p:spPr bwMode="auto">
              <a:xfrm>
                <a:off x="4196" y="3249"/>
                <a:ext cx="1042" cy="590"/>
              </a:xfrm>
              <a:prstGeom prst="foldedCorner">
                <a:avLst>
                  <a:gd name="adj" fmla="val 50000"/>
                </a:avLst>
              </a:prstGeom>
              <a:solidFill>
                <a:srgbClr val="DDFAED"/>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233986" name="Line 66"/>
              <p:cNvSpPr>
                <a:spLocks noChangeShapeType="1"/>
              </p:cNvSpPr>
              <p:nvPr/>
            </p:nvSpPr>
            <p:spPr bwMode="auto">
              <a:xfrm>
                <a:off x="4195" y="2146"/>
                <a:ext cx="1042" cy="0"/>
              </a:xfrm>
              <a:prstGeom prst="line">
                <a:avLst/>
              </a:prstGeom>
              <a:noFill/>
              <a:ln w="12700">
                <a:solidFill>
                  <a:srgbClr val="CC0099"/>
                </a:solidFill>
                <a:round/>
                <a:headEnd/>
                <a:tailEnd/>
              </a:ln>
              <a:effectLst/>
            </p:spPr>
            <p:txBody>
              <a:bodyPr wrap="none" anchor="ctr"/>
              <a:lstStyle/>
              <a:p>
                <a:endParaRPr lang="zh-CN" altLang="en-US"/>
              </a:p>
            </p:txBody>
          </p:sp>
          <p:sp>
            <p:nvSpPr>
              <p:cNvPr id="1233987" name="Line 67"/>
              <p:cNvSpPr>
                <a:spLocks noChangeShapeType="1"/>
              </p:cNvSpPr>
              <p:nvPr/>
            </p:nvSpPr>
            <p:spPr bwMode="auto">
              <a:xfrm>
                <a:off x="4195" y="2578"/>
                <a:ext cx="1042" cy="0"/>
              </a:xfrm>
              <a:prstGeom prst="line">
                <a:avLst/>
              </a:prstGeom>
              <a:noFill/>
              <a:ln w="12700">
                <a:solidFill>
                  <a:srgbClr val="CC0099"/>
                </a:solidFill>
                <a:round/>
                <a:headEnd/>
                <a:tailEnd/>
              </a:ln>
              <a:effectLst/>
            </p:spPr>
            <p:txBody>
              <a:bodyPr wrap="none" anchor="ctr"/>
              <a:lstStyle/>
              <a:p>
                <a:endParaRPr lang="zh-CN" altLang="en-US"/>
              </a:p>
            </p:txBody>
          </p:sp>
          <p:sp>
            <p:nvSpPr>
              <p:cNvPr id="1233993" name="Line 73"/>
              <p:cNvSpPr>
                <a:spLocks noChangeShapeType="1"/>
              </p:cNvSpPr>
              <p:nvPr/>
            </p:nvSpPr>
            <p:spPr bwMode="auto">
              <a:xfrm>
                <a:off x="4195" y="2777"/>
                <a:ext cx="1042" cy="0"/>
              </a:xfrm>
              <a:prstGeom prst="line">
                <a:avLst/>
              </a:prstGeom>
              <a:noFill/>
              <a:ln w="12700">
                <a:solidFill>
                  <a:srgbClr val="CC0099"/>
                </a:solidFill>
                <a:round/>
                <a:headEnd/>
                <a:tailEnd/>
              </a:ln>
              <a:effectLst/>
            </p:spPr>
            <p:txBody>
              <a:bodyPr wrap="none" anchor="ctr"/>
              <a:lstStyle/>
              <a:p>
                <a:endParaRPr lang="zh-CN" altLang="en-US"/>
              </a:p>
            </p:txBody>
          </p:sp>
          <p:sp>
            <p:nvSpPr>
              <p:cNvPr id="1233994" name="Line 74"/>
              <p:cNvSpPr>
                <a:spLocks noChangeShapeType="1"/>
              </p:cNvSpPr>
              <p:nvPr/>
            </p:nvSpPr>
            <p:spPr bwMode="auto">
              <a:xfrm>
                <a:off x="4204" y="2976"/>
                <a:ext cx="1042" cy="0"/>
              </a:xfrm>
              <a:prstGeom prst="line">
                <a:avLst/>
              </a:prstGeom>
              <a:solidFill>
                <a:srgbClr val="DDFAED"/>
              </a:solidFill>
              <a:ln w="12700">
                <a:solidFill>
                  <a:srgbClr val="CC0099"/>
                </a:solidFill>
                <a:round/>
                <a:headEnd/>
                <a:tailEnd/>
              </a:ln>
              <a:effectLst/>
            </p:spPr>
            <p:txBody>
              <a:bodyPr wrap="none" anchor="ctr"/>
              <a:lstStyle/>
              <a:p>
                <a:endParaRPr lang="zh-CN" altLang="en-US"/>
              </a:p>
            </p:txBody>
          </p:sp>
        </p:grpSp>
        <p:grpSp>
          <p:nvGrpSpPr>
            <p:cNvPr id="1233988" name="Group 68"/>
            <p:cNvGrpSpPr>
              <a:grpSpLocks/>
            </p:cNvGrpSpPr>
            <p:nvPr/>
          </p:nvGrpSpPr>
          <p:grpSpPr bwMode="auto">
            <a:xfrm>
              <a:off x="4468" y="1700"/>
              <a:ext cx="313" cy="891"/>
              <a:chOff x="1247" y="1700"/>
              <a:chExt cx="363" cy="891"/>
            </a:xfrm>
          </p:grpSpPr>
          <p:sp>
            <p:nvSpPr>
              <p:cNvPr id="1233989" name="Text Box 69"/>
              <p:cNvSpPr txBox="1">
                <a:spLocks noChangeArrowheads="1"/>
              </p:cNvSpPr>
              <p:nvPr/>
            </p:nvSpPr>
            <p:spPr bwMode="auto">
              <a:xfrm>
                <a:off x="1247" y="1700"/>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1</a:t>
                </a:r>
              </a:p>
            </p:txBody>
          </p:sp>
          <p:sp>
            <p:nvSpPr>
              <p:cNvPr id="1233990" name="Text Box 70"/>
              <p:cNvSpPr txBox="1">
                <a:spLocks noChangeArrowheads="1"/>
              </p:cNvSpPr>
              <p:nvPr/>
            </p:nvSpPr>
            <p:spPr bwMode="auto">
              <a:xfrm>
                <a:off x="1247" y="1908"/>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2</a:t>
                </a:r>
              </a:p>
            </p:txBody>
          </p:sp>
          <p:sp>
            <p:nvSpPr>
              <p:cNvPr id="1233991" name="Text Box 71"/>
              <p:cNvSpPr txBox="1">
                <a:spLocks noChangeArrowheads="1"/>
              </p:cNvSpPr>
              <p:nvPr/>
            </p:nvSpPr>
            <p:spPr bwMode="auto">
              <a:xfrm>
                <a:off x="1247" y="2116"/>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3</a:t>
                </a:r>
              </a:p>
            </p:txBody>
          </p:sp>
          <p:sp>
            <p:nvSpPr>
              <p:cNvPr id="1233992" name="Text Box 72"/>
              <p:cNvSpPr txBox="1">
                <a:spLocks noChangeArrowheads="1"/>
              </p:cNvSpPr>
              <p:nvPr/>
            </p:nvSpPr>
            <p:spPr bwMode="auto">
              <a:xfrm>
                <a:off x="1247" y="2341"/>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4</a:t>
                </a:r>
              </a:p>
            </p:txBody>
          </p:sp>
        </p:grpSp>
      </p:grpSp>
      <p:grpSp>
        <p:nvGrpSpPr>
          <p:cNvPr id="1234001" name="Group 81"/>
          <p:cNvGrpSpPr>
            <a:grpSpLocks/>
          </p:cNvGrpSpPr>
          <p:nvPr/>
        </p:nvGrpSpPr>
        <p:grpSpPr bwMode="auto">
          <a:xfrm>
            <a:off x="3952414" y="4254948"/>
            <a:ext cx="4775684" cy="795338"/>
            <a:chOff x="2024" y="2251"/>
            <a:chExt cx="2393" cy="501"/>
          </a:xfrm>
        </p:grpSpPr>
        <p:sp>
          <p:nvSpPr>
            <p:cNvPr id="1233978" name="Rectangle 58"/>
            <p:cNvSpPr>
              <a:spLocks noChangeArrowheads="1"/>
            </p:cNvSpPr>
            <p:nvPr/>
          </p:nvSpPr>
          <p:spPr bwMode="auto">
            <a:xfrm>
              <a:off x="2024" y="2500"/>
              <a:ext cx="2347" cy="252"/>
            </a:xfrm>
            <a:prstGeom prst="rect">
              <a:avLst/>
            </a:prstGeom>
            <a:noFill/>
            <a:ln w="9525" algn="ctr">
              <a:noFill/>
              <a:miter lim="800000"/>
              <a:headEnd/>
              <a:tailEnd/>
            </a:ln>
            <a:effectLst/>
          </p:spPr>
          <p:txBody>
            <a:bodyPr wrap="square" anchor="ctr">
              <a:spAutoFit/>
            </a:bodyPr>
            <a:lstStyle/>
            <a:p>
              <a:pPr indent="285750" algn="ctr"/>
              <a:r>
                <a:rPr lang="en-US" altLang="zh-CN" sz="2000" b="1" dirty="0">
                  <a:solidFill>
                    <a:srgbClr val="7030A0"/>
                  </a:solidFill>
                </a:rPr>
                <a:t>p = (char *) </a:t>
              </a:r>
              <a:r>
                <a:rPr lang="en-US" altLang="zh-CN" sz="2000" b="1" dirty="0" err="1">
                  <a:solidFill>
                    <a:srgbClr val="7030A0"/>
                  </a:solidFill>
                </a:rPr>
                <a:t>realloc</a:t>
              </a:r>
              <a:r>
                <a:rPr lang="en-US" altLang="zh-CN" sz="2000" b="1" dirty="0">
                  <a:solidFill>
                    <a:srgbClr val="7030A0"/>
                  </a:solidFill>
                </a:rPr>
                <a:t>(p, 6*</a:t>
              </a:r>
              <a:r>
                <a:rPr lang="en-US" altLang="zh-CN" sz="2000" b="1" dirty="0" err="1">
                  <a:solidFill>
                    <a:srgbClr val="7030A0"/>
                  </a:solidFill>
                </a:rPr>
                <a:t>sizeof</a:t>
              </a:r>
              <a:r>
                <a:rPr lang="en-US" altLang="zh-CN" sz="2000" b="1" dirty="0">
                  <a:solidFill>
                    <a:srgbClr val="7030A0"/>
                  </a:solidFill>
                </a:rPr>
                <a:t>(char));</a:t>
              </a:r>
            </a:p>
          </p:txBody>
        </p:sp>
        <p:sp>
          <p:nvSpPr>
            <p:cNvPr id="1234000" name="AutoShape 80"/>
            <p:cNvSpPr>
              <a:spLocks noChangeArrowheads="1"/>
            </p:cNvSpPr>
            <p:nvPr/>
          </p:nvSpPr>
          <p:spPr bwMode="auto">
            <a:xfrm>
              <a:off x="2208" y="2251"/>
              <a:ext cx="2209" cy="18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BAA1B9"/>
                </a:gs>
                <a:gs pos="100000">
                  <a:schemeClr val="bg1"/>
                </a:gs>
              </a:gsLst>
              <a:lin ang="5400000" scaled="1"/>
            </a:gradFill>
            <a:ln w="15875" algn="ctr">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grpSp>
      <p:grpSp>
        <p:nvGrpSpPr>
          <p:cNvPr id="1234002" name="Group 82"/>
          <p:cNvGrpSpPr>
            <a:grpSpLocks/>
          </p:cNvGrpSpPr>
          <p:nvPr/>
        </p:nvGrpSpPr>
        <p:grpSpPr bwMode="auto">
          <a:xfrm>
            <a:off x="7690600" y="3124922"/>
            <a:ext cx="1036637" cy="461963"/>
            <a:chOff x="385" y="1679"/>
            <a:chExt cx="653" cy="291"/>
          </a:xfrm>
        </p:grpSpPr>
        <p:sp>
          <p:nvSpPr>
            <p:cNvPr id="1234003" name="Line 83"/>
            <p:cNvSpPr>
              <a:spLocks noChangeShapeType="1"/>
            </p:cNvSpPr>
            <p:nvPr/>
          </p:nvSpPr>
          <p:spPr bwMode="auto">
            <a:xfrm>
              <a:off x="585" y="1824"/>
              <a:ext cx="453" cy="0"/>
            </a:xfrm>
            <a:prstGeom prst="line">
              <a:avLst/>
            </a:prstGeom>
            <a:noFill/>
            <a:ln w="28575">
              <a:solidFill>
                <a:srgbClr val="C00000"/>
              </a:solidFill>
              <a:round/>
              <a:headEnd/>
              <a:tailEnd type="stealth" w="lg" len="lg"/>
            </a:ln>
            <a:effectLst/>
          </p:spPr>
          <p:txBody>
            <a:bodyPr/>
            <a:lstStyle/>
            <a:p>
              <a:endParaRPr lang="zh-CN" altLang="en-US" b="1">
                <a:solidFill>
                  <a:srgbClr val="C00000"/>
                </a:solidFill>
              </a:endParaRPr>
            </a:p>
          </p:txBody>
        </p:sp>
        <p:sp>
          <p:nvSpPr>
            <p:cNvPr id="1234004" name="Text Box 84"/>
            <p:cNvSpPr txBox="1">
              <a:spLocks noChangeArrowheads="1"/>
            </p:cNvSpPr>
            <p:nvPr/>
          </p:nvSpPr>
          <p:spPr bwMode="auto">
            <a:xfrm>
              <a:off x="385" y="1679"/>
              <a:ext cx="272" cy="291"/>
            </a:xfrm>
            <a:prstGeom prst="rect">
              <a:avLst/>
            </a:prstGeom>
            <a:noFill/>
            <a:ln w="9525" algn="ctr">
              <a:noFill/>
              <a:miter lim="800000"/>
              <a:headEnd/>
              <a:tailEnd/>
            </a:ln>
            <a:effectLst/>
          </p:spPr>
          <p:txBody>
            <a:bodyPr>
              <a:spAutoFit/>
            </a:bodyPr>
            <a:lstStyle/>
            <a:p>
              <a:pPr marL="342900" indent="-342900">
                <a:spcBef>
                  <a:spcPct val="50000"/>
                </a:spcBef>
              </a:pPr>
              <a:r>
                <a:rPr lang="en-US" altLang="zh-CN" b="1">
                  <a:solidFill>
                    <a:srgbClr val="C00000"/>
                  </a:solidFill>
                </a:rPr>
                <a:t>p</a:t>
              </a:r>
            </a:p>
          </p:txBody>
        </p:sp>
      </p:grpSp>
      <p:sp>
        <p:nvSpPr>
          <p:cNvPr id="1234006" name="AutoShape 86"/>
          <p:cNvSpPr>
            <a:spLocks noChangeArrowheads="1"/>
          </p:cNvSpPr>
          <p:nvPr/>
        </p:nvSpPr>
        <p:spPr bwMode="auto">
          <a:xfrm rot="1134023">
            <a:off x="5693690" y="1921075"/>
            <a:ext cx="1201331" cy="2067261"/>
          </a:xfrm>
          <a:prstGeom prst="curvedLeftArrow">
            <a:avLst>
              <a:gd name="adj1" fmla="val 21687"/>
              <a:gd name="adj2" fmla="val 58555"/>
              <a:gd name="adj3" fmla="val 33333"/>
            </a:avLst>
          </a:prstGeom>
          <a:gradFill flip="none" rotWithShape="1">
            <a:gsLst>
              <a:gs pos="0">
                <a:srgbClr val="BEDFC4"/>
              </a:gs>
              <a:gs pos="100000">
                <a:srgbClr val="00FFFF">
                  <a:gamma/>
                  <a:shade val="46275"/>
                  <a:invGamma/>
                </a:srgbClr>
              </a:gs>
            </a:gsLst>
            <a:lin ang="0" scaled="1"/>
            <a:tileRect/>
          </a:gradFill>
          <a:ln w="19050">
            <a:no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33930"/>
                                        </p:tgtEl>
                                        <p:attrNameLst>
                                          <p:attrName>style.visibility</p:attrName>
                                        </p:attrNameLst>
                                      </p:cBhvr>
                                      <p:to>
                                        <p:strVal val="visible"/>
                                      </p:to>
                                    </p:set>
                                    <p:animEffect transition="in" filter="box(in)">
                                      <p:cBhvr>
                                        <p:cTn id="7" dur="500"/>
                                        <p:tgtEl>
                                          <p:spTgt spid="123393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8" presetID="18" presetClass="entr" presetSubtype="6" fill="hold" grpId="0" nodeType="withEffect">
                                  <p:stCondLst>
                                    <p:cond delay="0"/>
                                  </p:stCondLst>
                                  <p:childTnLst>
                                    <p:set>
                                      <p:cBhvr>
                                        <p:cTn id="9" dur="1" fill="hold">
                                          <p:stCondLst>
                                            <p:cond delay="0"/>
                                          </p:stCondLst>
                                        </p:cTn>
                                        <p:tgtEl>
                                          <p:spTgt spid="1234006"/>
                                        </p:tgtEl>
                                        <p:attrNameLst>
                                          <p:attrName>style.visibility</p:attrName>
                                        </p:attrNameLst>
                                      </p:cBhvr>
                                      <p:to>
                                        <p:strVal val="visible"/>
                                      </p:to>
                                    </p:set>
                                    <p:animEffect transition="in" filter="strips(downRight)">
                                      <p:cBhvr>
                                        <p:cTn id="10" dur="2000"/>
                                        <p:tgtEl>
                                          <p:spTgt spid="1234006"/>
                                        </p:tgtEl>
                                      </p:cBhvr>
                                    </p:animEffect>
                                  </p:childTnLst>
                                  <p:subTnLst>
                                    <p:audio>
                                      <p:cMediaNode>
                                        <p:cTn display="0" masterRel="sameClick">
                                          <p:stCondLst>
                                            <p:cond evt="begin" delay="0">
                                              <p:tn val="8"/>
                                            </p:cond>
                                          </p:stCondLst>
                                          <p:endCondLst>
                                            <p:cond evt="onStopAudio" delay="0">
                                              <p:tgtEl>
                                                <p:sldTgt/>
                                              </p:tgtEl>
                                            </p:cond>
                                          </p:endCondLst>
                                        </p:cTn>
                                        <p:tgtEl>
                                          <p:sndTgt r:embed="rId3" name="laser.wav"/>
                                        </p:tgtEl>
                                      </p:cMediaNode>
                                    </p:audio>
                                  </p:subTnLst>
                                </p:cTn>
                              </p:par>
                            </p:childTnLst>
                          </p:cTn>
                        </p:par>
                        <p:par>
                          <p:cTn id="11" fill="hold">
                            <p:stCondLst>
                              <p:cond delay="2000"/>
                            </p:stCondLst>
                            <p:childTnLst>
                              <p:par>
                                <p:cTn id="12" presetID="4" presetClass="entr" presetSubtype="16" fill="hold" nodeType="afterEffect">
                                  <p:stCondLst>
                                    <p:cond delay="0"/>
                                  </p:stCondLst>
                                  <p:childTnLst>
                                    <p:set>
                                      <p:cBhvr>
                                        <p:cTn id="13" dur="1" fill="hold">
                                          <p:stCondLst>
                                            <p:cond delay="0"/>
                                          </p:stCondLst>
                                        </p:cTn>
                                        <p:tgtEl>
                                          <p:spTgt spid="1233971"/>
                                        </p:tgtEl>
                                        <p:attrNameLst>
                                          <p:attrName>style.visibility</p:attrName>
                                        </p:attrNameLst>
                                      </p:cBhvr>
                                      <p:to>
                                        <p:strVal val="visible"/>
                                      </p:to>
                                    </p:set>
                                    <p:animEffect transition="in" filter="box(in)">
                                      <p:cBhvr>
                                        <p:cTn id="14" dur="500"/>
                                        <p:tgtEl>
                                          <p:spTgt spid="1233971"/>
                                        </p:tgtEl>
                                      </p:cBhvr>
                                    </p:animEffect>
                                  </p:childTnLst>
                                  <p:subTnLst>
                                    <p:audio>
                                      <p:cMediaNode>
                                        <p:cTn display="0" masterRel="sameClick">
                                          <p:stCondLst>
                                            <p:cond evt="begin" delay="0">
                                              <p:tn val="12"/>
                                            </p:cond>
                                          </p:stCondLst>
                                          <p:endCondLst>
                                            <p:cond evt="onStopAudio" delay="0">
                                              <p:tgtEl>
                                                <p:sldTgt/>
                                              </p:tgtEl>
                                            </p:cond>
                                          </p:endCondLst>
                                        </p:cTn>
                                        <p:tgtEl>
                                          <p:sndTgt r:embed="rId2" name="camera.wav"/>
                                        </p:tgtEl>
                                      </p:cMediaNode>
                                    </p:audio>
                                  </p:subTnLst>
                                </p:cTn>
                              </p:par>
                            </p:childTnLst>
                          </p:cTn>
                        </p:par>
                        <p:par>
                          <p:cTn id="15" fill="hold">
                            <p:stCondLst>
                              <p:cond delay="2500"/>
                            </p:stCondLst>
                            <p:childTnLst>
                              <p:par>
                                <p:cTn id="16" presetID="18" presetClass="entr" presetSubtype="3" fill="hold" nodeType="afterEffect">
                                  <p:stCondLst>
                                    <p:cond delay="0"/>
                                  </p:stCondLst>
                                  <p:childTnLst>
                                    <p:set>
                                      <p:cBhvr>
                                        <p:cTn id="17" dur="1" fill="hold">
                                          <p:stCondLst>
                                            <p:cond delay="0"/>
                                          </p:stCondLst>
                                        </p:cTn>
                                        <p:tgtEl>
                                          <p:spTgt spid="1233977"/>
                                        </p:tgtEl>
                                        <p:attrNameLst>
                                          <p:attrName>style.visibility</p:attrName>
                                        </p:attrNameLst>
                                      </p:cBhvr>
                                      <p:to>
                                        <p:strVal val="visible"/>
                                      </p:to>
                                    </p:set>
                                    <p:animEffect transition="in" filter="strips(upRight)">
                                      <p:cBhvr>
                                        <p:cTn id="18" dur="500"/>
                                        <p:tgtEl>
                                          <p:spTgt spid="1233977"/>
                                        </p:tgtEl>
                                      </p:cBhvr>
                                    </p:animEffect>
                                  </p:childTnLst>
                                  <p:subTnLst>
                                    <p:audio>
                                      <p:cMediaNode>
                                        <p:cTn display="0" masterRel="sameClick">
                                          <p:stCondLst>
                                            <p:cond evt="begin" delay="0">
                                              <p:tn val="16"/>
                                            </p:cond>
                                          </p:stCondLst>
                                          <p:endCondLst>
                                            <p:cond evt="onStopAudio" delay="0">
                                              <p:tgtEl>
                                                <p:sldTgt/>
                                              </p:tgtEl>
                                            </p:cond>
                                          </p:endCondLst>
                                        </p:cTn>
                                        <p:tgtEl>
                                          <p:sndTgt r:embed="rId3" name="laser.wav"/>
                                        </p:tgtEl>
                                      </p:cMediaNode>
                                    </p:audio>
                                  </p:subTnLst>
                                </p:cTn>
                              </p:par>
                            </p:childTnLst>
                          </p:cTn>
                        </p:par>
                        <p:par>
                          <p:cTn id="19" fill="hold">
                            <p:stCondLst>
                              <p:cond delay="3000"/>
                            </p:stCondLst>
                            <p:childTnLst>
                              <p:par>
                                <p:cTn id="20" presetID="18" presetClass="entr" presetSubtype="12" fill="hold" nodeType="afterEffect">
                                  <p:stCondLst>
                                    <p:cond delay="0"/>
                                  </p:stCondLst>
                                  <p:childTnLst>
                                    <p:set>
                                      <p:cBhvr>
                                        <p:cTn id="21" dur="1" fill="hold">
                                          <p:stCondLst>
                                            <p:cond delay="0"/>
                                          </p:stCondLst>
                                        </p:cTn>
                                        <p:tgtEl>
                                          <p:spTgt spid="1233976"/>
                                        </p:tgtEl>
                                        <p:attrNameLst>
                                          <p:attrName>style.visibility</p:attrName>
                                        </p:attrNameLst>
                                      </p:cBhvr>
                                      <p:to>
                                        <p:strVal val="visible"/>
                                      </p:to>
                                    </p:set>
                                    <p:animEffect transition="in" filter="strips(downLeft)">
                                      <p:cBhvr>
                                        <p:cTn id="22" dur="500"/>
                                        <p:tgtEl>
                                          <p:spTgt spid="1233976"/>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1234001"/>
                                        </p:tgtEl>
                                        <p:attrNameLst>
                                          <p:attrName>style.visibility</p:attrName>
                                        </p:attrNameLst>
                                      </p:cBhvr>
                                      <p:to>
                                        <p:strVal val="visible"/>
                                      </p:to>
                                    </p:set>
                                    <p:animEffect transition="in" filter="strips(downRight)">
                                      <p:cBhvr>
                                        <p:cTn id="27" dur="2000"/>
                                        <p:tgtEl>
                                          <p:spTgt spid="1234001"/>
                                        </p:tgtEl>
                                      </p:cBhvr>
                                    </p:animEffect>
                                  </p:childTnLst>
                                  <p:subTnLst>
                                    <p:audio>
                                      <p:cMediaNode>
                                        <p:cTn display="0" masterRel="sameClick">
                                          <p:stCondLst>
                                            <p:cond evt="begin" delay="0">
                                              <p:tn val="25"/>
                                            </p:cond>
                                          </p:stCondLst>
                                          <p:endCondLst>
                                            <p:cond evt="onStopAudio" delay="0">
                                              <p:tgtEl>
                                                <p:sldTgt/>
                                              </p:tgtEl>
                                            </p:cond>
                                          </p:endCondLst>
                                        </p:cTn>
                                        <p:tgtEl>
                                          <p:sndTgt r:embed="rId3" name="laser.wav"/>
                                        </p:tgtEl>
                                      </p:cMediaNode>
                                    </p:audio>
                                  </p:subTnLst>
                                </p:cTn>
                              </p:par>
                            </p:childTnLst>
                          </p:cTn>
                        </p:par>
                        <p:par>
                          <p:cTn id="28" fill="hold">
                            <p:stCondLst>
                              <p:cond delay="2000"/>
                            </p:stCondLst>
                            <p:childTnLst>
                              <p:par>
                                <p:cTn id="29" presetID="4" presetClass="entr" presetSubtype="16" fill="hold" nodeType="afterEffect">
                                  <p:stCondLst>
                                    <p:cond delay="0"/>
                                  </p:stCondLst>
                                  <p:childTnLst>
                                    <p:set>
                                      <p:cBhvr>
                                        <p:cTn id="30" dur="1" fill="hold">
                                          <p:stCondLst>
                                            <p:cond delay="0"/>
                                          </p:stCondLst>
                                        </p:cTn>
                                        <p:tgtEl>
                                          <p:spTgt spid="1233999"/>
                                        </p:tgtEl>
                                        <p:attrNameLst>
                                          <p:attrName>style.visibility</p:attrName>
                                        </p:attrNameLst>
                                      </p:cBhvr>
                                      <p:to>
                                        <p:strVal val="visible"/>
                                      </p:to>
                                    </p:set>
                                    <p:animEffect transition="in" filter="box(in)">
                                      <p:cBhvr>
                                        <p:cTn id="31" dur="500"/>
                                        <p:tgtEl>
                                          <p:spTgt spid="1233999"/>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par>
                          <p:cTn id="32" fill="hold">
                            <p:stCondLst>
                              <p:cond delay="2500"/>
                            </p:stCondLst>
                            <p:childTnLst>
                              <p:par>
                                <p:cTn id="33" presetID="18" presetClass="entr" presetSubtype="6" fill="hold" nodeType="afterEffect">
                                  <p:stCondLst>
                                    <p:cond delay="0"/>
                                  </p:stCondLst>
                                  <p:childTnLst>
                                    <p:set>
                                      <p:cBhvr>
                                        <p:cTn id="34" dur="1" fill="hold">
                                          <p:stCondLst>
                                            <p:cond delay="0"/>
                                          </p:stCondLst>
                                        </p:cTn>
                                        <p:tgtEl>
                                          <p:spTgt spid="1234002"/>
                                        </p:tgtEl>
                                        <p:attrNameLst>
                                          <p:attrName>style.visibility</p:attrName>
                                        </p:attrNameLst>
                                      </p:cBhvr>
                                      <p:to>
                                        <p:strVal val="visible"/>
                                      </p:to>
                                    </p:set>
                                    <p:animEffect transition="in" filter="strips(downRight)">
                                      <p:cBhvr>
                                        <p:cTn id="35" dur="500"/>
                                        <p:tgtEl>
                                          <p:spTgt spid="1234002"/>
                                        </p:tgtEl>
                                      </p:cBhvr>
                                    </p:animEffect>
                                  </p:childTnLst>
                                  <p:subTnLst>
                                    <p:audio>
                                      <p:cMediaNode>
                                        <p:cTn display="0" masterRel="sameClick">
                                          <p:stCondLst>
                                            <p:cond evt="begin" delay="0">
                                              <p:tn val="33"/>
                                            </p:cond>
                                          </p:stCondLst>
                                          <p:endCondLst>
                                            <p:cond evt="onStopAudio" delay="0">
                                              <p:tgtEl>
                                                <p:sldTgt/>
                                              </p:tgtEl>
                                            </p:cond>
                                          </p:endCondLst>
                                        </p:cTn>
                                        <p:tgtEl>
                                          <p:sndTgt r:embed="rId3" name="laser.wav"/>
                                        </p:tgtEl>
                                      </p:cMediaNode>
                                    </p:audio>
                                  </p:subTnLst>
                                </p:cTn>
                              </p:par>
                            </p:childTnLst>
                          </p:cTn>
                        </p:par>
                        <p:par>
                          <p:cTn id="36" fill="hold">
                            <p:stCondLst>
                              <p:cond delay="3000"/>
                            </p:stCondLst>
                            <p:childTnLst>
                              <p:par>
                                <p:cTn id="37" presetID="18" presetClass="entr" presetSubtype="12" fill="hold" nodeType="afterEffect">
                                  <p:stCondLst>
                                    <p:cond delay="0"/>
                                  </p:stCondLst>
                                  <p:childTnLst>
                                    <p:set>
                                      <p:cBhvr>
                                        <p:cTn id="38" dur="1" fill="hold">
                                          <p:stCondLst>
                                            <p:cond delay="0"/>
                                          </p:stCondLst>
                                        </p:cTn>
                                        <p:tgtEl>
                                          <p:spTgt spid="1233995"/>
                                        </p:tgtEl>
                                        <p:attrNameLst>
                                          <p:attrName>style.visibility</p:attrName>
                                        </p:attrNameLst>
                                      </p:cBhvr>
                                      <p:to>
                                        <p:strVal val="visible"/>
                                      </p:to>
                                    </p:set>
                                    <p:animEffect transition="in" filter="strips(downLeft)">
                                      <p:cBhvr>
                                        <p:cTn id="39" dur="500"/>
                                        <p:tgtEl>
                                          <p:spTgt spid="1233995"/>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3930" grpId="0" animBg="1"/>
      <p:bldP spid="1234006"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0851" name="Rectangle 3"/>
          <p:cNvSpPr>
            <a:spLocks noChangeArrowheads="1"/>
          </p:cNvSpPr>
          <p:nvPr/>
        </p:nvSpPr>
        <p:spPr bwMode="auto">
          <a:xfrm>
            <a:off x="623392" y="836712"/>
            <a:ext cx="2877711" cy="523220"/>
          </a:xfrm>
          <a:prstGeom prst="rect">
            <a:avLst/>
          </a:prstGeom>
          <a:noFill/>
          <a:ln w="9525" algn="ctr">
            <a:noFill/>
            <a:miter lim="800000"/>
            <a:headEnd/>
            <a:tailEnd/>
          </a:ln>
          <a:effectLst/>
        </p:spPr>
        <p:txBody>
          <a:bodyPr wrap="none" anchor="ctr">
            <a:spAutoFit/>
          </a:bodyPr>
          <a:lstStyle/>
          <a:p>
            <a:pPr>
              <a:lnSpc>
                <a:spcPct val="100000"/>
              </a:lnSpc>
              <a:spcBef>
                <a:spcPct val="0"/>
              </a:spcBef>
              <a:tabLst>
                <a:tab pos="457200" algn="l"/>
              </a:tabLst>
            </a:pPr>
            <a:r>
              <a:rPr lang="en-US" altLang="zh-CN" sz="2800" b="1" dirty="0">
                <a:solidFill>
                  <a:srgbClr val="C00000"/>
                </a:solidFill>
                <a:latin typeface="+mn-lt"/>
                <a:ea typeface="楷体" pitchFamily="49" charset="-122"/>
              </a:rPr>
              <a:t>3</a:t>
            </a:r>
            <a:r>
              <a:rPr lang="zh-CN" altLang="en-US" sz="2800" b="1" dirty="0">
                <a:solidFill>
                  <a:srgbClr val="C00000"/>
                </a:solidFill>
                <a:latin typeface="+mn-lt"/>
                <a:ea typeface="楷体" pitchFamily="49" charset="-122"/>
              </a:rPr>
              <a:t>、动态内存释放</a:t>
            </a:r>
          </a:p>
        </p:txBody>
      </p:sp>
      <p:sp>
        <p:nvSpPr>
          <p:cNvPr id="1230852" name="Rectangle 4"/>
          <p:cNvSpPr>
            <a:spLocks noChangeArrowheads="1"/>
          </p:cNvSpPr>
          <p:nvPr/>
        </p:nvSpPr>
        <p:spPr bwMode="auto">
          <a:xfrm>
            <a:off x="529730" y="1334723"/>
            <a:ext cx="11326910" cy="1289264"/>
          </a:xfrm>
          <a:prstGeom prst="rect">
            <a:avLst/>
          </a:prstGeom>
          <a:noFill/>
          <a:ln w="9525" algn="ctr">
            <a:noFill/>
            <a:miter lim="800000"/>
            <a:headEnd/>
            <a:tailEnd/>
          </a:ln>
          <a:effectLst/>
        </p:spPr>
        <p:txBody>
          <a:bodyPr wrap="square" anchor="ctr">
            <a:spAutoFit/>
          </a:bodyPr>
          <a:lstStyle/>
          <a:p>
            <a:pPr>
              <a:lnSpc>
                <a:spcPts val="3200"/>
              </a:lnSpc>
              <a:spcBef>
                <a:spcPts val="0"/>
              </a:spcBef>
            </a:pPr>
            <a:r>
              <a:rPr lang="en-US" altLang="zh-CN" dirty="0">
                <a:latin typeface="+mn-lt"/>
                <a:ea typeface="楷体" pitchFamily="49" charset="-122"/>
              </a:rPr>
              <a:t>        </a:t>
            </a:r>
            <a:r>
              <a:rPr lang="zh-CN" altLang="en-US" dirty="0">
                <a:latin typeface="+mn-lt"/>
                <a:ea typeface="楷体" pitchFamily="49" charset="-122"/>
              </a:rPr>
              <a:t>计算机中最宝贵的资源就是内存。因此需要动态分配内存的程序一定要坚持“</a:t>
            </a:r>
            <a:r>
              <a:rPr lang="zh-CN" altLang="en-US" dirty="0">
                <a:solidFill>
                  <a:schemeClr val="accent1">
                    <a:lumMod val="50000"/>
                  </a:schemeClr>
                </a:solidFill>
                <a:latin typeface="+mn-lt"/>
                <a:ea typeface="楷体" pitchFamily="49" charset="-122"/>
              </a:rPr>
              <a:t>好借好还，再借不难</a:t>
            </a:r>
            <a:r>
              <a:rPr lang="zh-CN" altLang="en-US" dirty="0">
                <a:latin typeface="+mn-lt"/>
                <a:ea typeface="楷体" pitchFamily="49" charset="-122"/>
              </a:rPr>
              <a:t>”的原则。</a:t>
            </a:r>
          </a:p>
          <a:p>
            <a:pPr>
              <a:lnSpc>
                <a:spcPts val="3200"/>
              </a:lnSpc>
              <a:spcBef>
                <a:spcPts val="0"/>
              </a:spcBef>
            </a:pPr>
            <a:r>
              <a:rPr lang="zh-CN" altLang="en-US" dirty="0">
                <a:latin typeface="+mn-lt"/>
                <a:ea typeface="楷体" pitchFamily="49" charset="-122"/>
              </a:rPr>
              <a:t>        释放动态内存的函数</a:t>
            </a:r>
            <a:r>
              <a:rPr lang="en-US" altLang="zh-CN" dirty="0">
                <a:solidFill>
                  <a:srgbClr val="C00000"/>
                </a:solidFill>
                <a:latin typeface="+mn-lt"/>
                <a:ea typeface="楷体" pitchFamily="49" charset="-122"/>
              </a:rPr>
              <a:t>free</a:t>
            </a:r>
            <a:r>
              <a:rPr lang="zh-CN" altLang="en-US" dirty="0">
                <a:latin typeface="+mn-lt"/>
                <a:ea typeface="楷体" pitchFamily="49" charset="-122"/>
              </a:rPr>
              <a:t>其原型为：</a:t>
            </a:r>
          </a:p>
        </p:txBody>
      </p:sp>
      <p:sp>
        <p:nvSpPr>
          <p:cNvPr id="1230853" name="Text Box 5"/>
          <p:cNvSpPr txBox="1">
            <a:spLocks noChangeArrowheads="1"/>
          </p:cNvSpPr>
          <p:nvPr/>
        </p:nvSpPr>
        <p:spPr bwMode="auto">
          <a:xfrm>
            <a:off x="2279576" y="2681873"/>
            <a:ext cx="7848872" cy="504825"/>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marL="342900" indent="-342900" algn="ctr"/>
            <a:r>
              <a:rPr lang="en-US" altLang="zh-CN" dirty="0"/>
              <a:t>void  </a:t>
            </a:r>
            <a:r>
              <a:rPr lang="en-US" altLang="zh-CN" dirty="0">
                <a:solidFill>
                  <a:srgbClr val="C00000"/>
                </a:solidFill>
              </a:rPr>
              <a:t>free</a:t>
            </a:r>
            <a:r>
              <a:rPr lang="en-US" altLang="zh-CN" dirty="0"/>
              <a:t> (void *block);</a:t>
            </a:r>
          </a:p>
        </p:txBody>
      </p:sp>
      <p:sp>
        <p:nvSpPr>
          <p:cNvPr id="1230854" name="Rectangle 6"/>
          <p:cNvSpPr>
            <a:spLocks noChangeArrowheads="1"/>
          </p:cNvSpPr>
          <p:nvPr/>
        </p:nvSpPr>
        <p:spPr bwMode="auto">
          <a:xfrm>
            <a:off x="-9821" y="3251885"/>
            <a:ext cx="184731" cy="461665"/>
          </a:xfrm>
          <a:prstGeom prst="rect">
            <a:avLst/>
          </a:prstGeom>
          <a:noFill/>
          <a:ln w="9525" algn="ctr">
            <a:noFill/>
            <a:miter lim="800000"/>
            <a:headEnd/>
            <a:tailEnd/>
          </a:ln>
          <a:effectLst/>
        </p:spPr>
        <p:txBody>
          <a:bodyPr wrap="none" anchor="ctr">
            <a:spAutoFit/>
          </a:bodyPr>
          <a:lstStyle/>
          <a:p>
            <a:endParaRPr lang="zh-CN" altLang="en-US"/>
          </a:p>
        </p:txBody>
      </p:sp>
      <p:sp>
        <p:nvSpPr>
          <p:cNvPr id="1230855" name="Rectangle 7" descr="信纸"/>
          <p:cNvSpPr>
            <a:spLocks noChangeArrowheads="1"/>
          </p:cNvSpPr>
          <p:nvPr/>
        </p:nvSpPr>
        <p:spPr bwMode="auto">
          <a:xfrm>
            <a:off x="4439816" y="3444345"/>
            <a:ext cx="4104456" cy="461665"/>
          </a:xfrm>
          <a:prstGeom prst="rect">
            <a:avLst/>
          </a:prstGeom>
          <a:solidFill>
            <a:schemeClr val="bg1"/>
          </a:solidFill>
          <a:ln w="38100" algn="ctr">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  </a:t>
            </a:r>
            <a:r>
              <a:rPr lang="en-US" altLang="zh-CN" dirty="0">
                <a:solidFill>
                  <a:srgbClr val="7030A0"/>
                </a:solidFill>
                <a:ea typeface="宋体" pitchFamily="2" charset="-122"/>
              </a:rPr>
              <a:t>free</a:t>
            </a:r>
            <a:r>
              <a:rPr lang="en-US" altLang="zh-CN" dirty="0">
                <a:ea typeface="宋体" pitchFamily="2" charset="-122"/>
              </a:rPr>
              <a:t>( </a:t>
            </a:r>
            <a:r>
              <a:rPr lang="en-US" altLang="zh-CN" dirty="0" err="1">
                <a:ea typeface="宋体" pitchFamily="2" charset="-122"/>
              </a:rPr>
              <a:t>pscore</a:t>
            </a:r>
            <a:r>
              <a:rPr lang="en-US" altLang="zh-CN" dirty="0">
                <a:ea typeface="宋体" pitchFamily="2" charset="-122"/>
              </a:rPr>
              <a:t> );</a:t>
            </a:r>
            <a:endParaRPr lang="en-US" altLang="zh-CN" b="0" dirty="0">
              <a:ea typeface="宋体" pitchFamily="2" charset="-122"/>
            </a:endParaRPr>
          </a:p>
        </p:txBody>
      </p:sp>
      <p:sp>
        <p:nvSpPr>
          <p:cNvPr id="1230856" name="Rectangle 8"/>
          <p:cNvSpPr>
            <a:spLocks noChangeArrowheads="1"/>
          </p:cNvSpPr>
          <p:nvPr/>
        </p:nvSpPr>
        <p:spPr bwMode="auto">
          <a:xfrm>
            <a:off x="1270521" y="4307612"/>
            <a:ext cx="10154071" cy="1569660"/>
          </a:xfrm>
          <a:prstGeom prst="rect">
            <a:avLst/>
          </a:prstGeom>
          <a:gradFill rotWithShape="1">
            <a:gsLst>
              <a:gs pos="0">
                <a:srgbClr val="CFCFD1"/>
              </a:gs>
              <a:gs pos="100000">
                <a:schemeClr val="bg1">
                  <a:lumMod val="95000"/>
                </a:schemeClr>
              </a:gs>
            </a:gsLst>
            <a:lin ang="5400000" scaled="1"/>
          </a:gra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304800"/>
            <a:r>
              <a:rPr lang="zh-CN" altLang="en-US" dirty="0">
                <a:solidFill>
                  <a:srgbClr val="C00000"/>
                </a:solidFill>
                <a:latin typeface="隶书" pitchFamily="49" charset="-122"/>
                <a:ea typeface="隶书" pitchFamily="49" charset="-122"/>
              </a:rPr>
              <a:t>注意：</a:t>
            </a:r>
          </a:p>
          <a:p>
            <a:pPr indent="304800"/>
            <a:r>
              <a:rPr lang="zh-CN" altLang="en-US" dirty="0">
                <a:latin typeface="+mn-lt"/>
                <a:ea typeface="楷体" pitchFamily="49" charset="-122"/>
              </a:rPr>
              <a:t>  调用</a:t>
            </a:r>
            <a:r>
              <a:rPr lang="en-US" altLang="zh-CN" dirty="0" err="1">
                <a:latin typeface="+mn-lt"/>
                <a:ea typeface="楷体" pitchFamily="49" charset="-122"/>
              </a:rPr>
              <a:t>malloc</a:t>
            </a:r>
            <a:r>
              <a:rPr lang="zh-CN" altLang="en-US" dirty="0">
                <a:latin typeface="+mn-lt"/>
                <a:ea typeface="楷体" pitchFamily="49" charset="-122"/>
              </a:rPr>
              <a:t>，</a:t>
            </a:r>
            <a:r>
              <a:rPr lang="en-US" altLang="zh-CN" dirty="0" err="1">
                <a:latin typeface="+mn-lt"/>
                <a:ea typeface="楷体" pitchFamily="49" charset="-122"/>
              </a:rPr>
              <a:t>calloc</a:t>
            </a:r>
            <a:r>
              <a:rPr lang="zh-CN" altLang="en-US" dirty="0">
                <a:latin typeface="+mn-lt"/>
                <a:ea typeface="楷体" pitchFamily="49" charset="-122"/>
              </a:rPr>
              <a:t>，</a:t>
            </a:r>
            <a:r>
              <a:rPr lang="en-US" altLang="zh-CN" dirty="0" err="1">
                <a:latin typeface="+mn-lt"/>
                <a:ea typeface="楷体" pitchFamily="49" charset="-122"/>
              </a:rPr>
              <a:t>realloc</a:t>
            </a:r>
            <a:r>
              <a:rPr lang="zh-CN" altLang="en-US" dirty="0">
                <a:latin typeface="+mn-lt"/>
                <a:ea typeface="楷体" pitchFamily="49" charset="-122"/>
              </a:rPr>
              <a:t>和</a:t>
            </a:r>
            <a:r>
              <a:rPr lang="en-US" altLang="zh-CN" dirty="0">
                <a:latin typeface="+mn-lt"/>
                <a:ea typeface="楷体" pitchFamily="49" charset="-122"/>
              </a:rPr>
              <a:t>free</a:t>
            </a:r>
            <a:r>
              <a:rPr lang="zh-CN" altLang="en-US" dirty="0">
                <a:latin typeface="+mn-lt"/>
                <a:ea typeface="楷体" pitchFamily="49" charset="-122"/>
              </a:rPr>
              <a:t>函数的源程序中要包含</a:t>
            </a:r>
            <a:r>
              <a:rPr lang="en-US" altLang="zh-CN" dirty="0" err="1">
                <a:solidFill>
                  <a:srgbClr val="002060"/>
                </a:solidFill>
                <a:latin typeface="+mn-lt"/>
                <a:ea typeface="楷体" pitchFamily="49" charset="-122"/>
              </a:rPr>
              <a:t>stdlib.h</a:t>
            </a:r>
            <a:r>
              <a:rPr lang="zh-CN" altLang="en-US" dirty="0">
                <a:latin typeface="+mn-lt"/>
                <a:ea typeface="楷体" pitchFamily="49" charset="-122"/>
              </a:rPr>
              <a:t>或</a:t>
            </a:r>
            <a:r>
              <a:rPr lang="en-US" altLang="zh-CN" dirty="0" err="1">
                <a:solidFill>
                  <a:srgbClr val="002060"/>
                </a:solidFill>
                <a:latin typeface="+mn-lt"/>
                <a:ea typeface="楷体" pitchFamily="49" charset="-122"/>
              </a:rPr>
              <a:t>malloc.h</a:t>
            </a:r>
            <a:r>
              <a:rPr lang="zh-CN" altLang="en-US" dirty="0">
                <a:latin typeface="+mn-lt"/>
                <a:ea typeface="楷体" pitchFamily="49" charset="-122"/>
              </a:rPr>
              <a:t>。</a:t>
            </a:r>
            <a:endParaRPr lang="en-US" altLang="zh-CN" dirty="0">
              <a:latin typeface="+mn-lt"/>
              <a:ea typeface="楷体" pitchFamily="49" charset="-122"/>
            </a:endParaRPr>
          </a:p>
          <a:p>
            <a:pPr indent="304800"/>
            <a:r>
              <a:rPr lang="en-US" altLang="zh-CN" dirty="0">
                <a:latin typeface="+mn-lt"/>
                <a:ea typeface="楷体" pitchFamily="49" charset="-122"/>
              </a:rPr>
              <a:t>  </a:t>
            </a:r>
            <a:r>
              <a:rPr lang="en-US" altLang="zh-CN" dirty="0" err="1">
                <a:latin typeface="+mn-lt"/>
                <a:ea typeface="楷体" pitchFamily="49" charset="-122"/>
              </a:rPr>
              <a:t>malloc</a:t>
            </a:r>
            <a:r>
              <a:rPr lang="zh-CN" altLang="en-US" dirty="0">
                <a:latin typeface="+mn-lt"/>
                <a:ea typeface="楷体" pitchFamily="49" charset="-122"/>
              </a:rPr>
              <a:t>或</a:t>
            </a:r>
            <a:r>
              <a:rPr lang="en-US" altLang="zh-CN" dirty="0" err="1">
                <a:latin typeface="+mn-lt"/>
                <a:ea typeface="楷体" pitchFamily="49" charset="-122"/>
              </a:rPr>
              <a:t>calloc</a:t>
            </a:r>
            <a:r>
              <a:rPr lang="zh-CN" altLang="en-US" dirty="0">
                <a:latin typeface="+mn-lt"/>
                <a:ea typeface="楷体" pitchFamily="49" charset="-122"/>
              </a:rPr>
              <a:t>或</a:t>
            </a:r>
            <a:r>
              <a:rPr lang="en-US" altLang="zh-CN" dirty="0" err="1">
                <a:latin typeface="+mn-lt"/>
                <a:ea typeface="楷体" pitchFamily="49" charset="-122"/>
              </a:rPr>
              <a:t>realloc</a:t>
            </a:r>
            <a:r>
              <a:rPr lang="zh-CN" altLang="en-US" dirty="0">
                <a:latin typeface="+mn-lt"/>
                <a:ea typeface="楷体" pitchFamily="49" charset="-122"/>
              </a:rPr>
              <a:t>与</a:t>
            </a:r>
            <a:r>
              <a:rPr lang="en-US" altLang="zh-CN" dirty="0">
                <a:latin typeface="+mn-lt"/>
                <a:ea typeface="楷体" pitchFamily="49" charset="-122"/>
              </a:rPr>
              <a:t>free</a:t>
            </a:r>
            <a:r>
              <a:rPr lang="zh-CN" altLang="en-US" dirty="0">
                <a:latin typeface="+mn-lt"/>
                <a:ea typeface="楷体" pitchFamily="49" charset="-122"/>
              </a:rPr>
              <a:t>一般成对出现！ </a:t>
            </a:r>
          </a:p>
        </p:txBody>
      </p:sp>
      <p:sp>
        <p:nvSpPr>
          <p:cNvPr id="11" name="Rectangle 4">
            <a:extLst>
              <a:ext uri="{FF2B5EF4-FFF2-40B4-BE49-F238E27FC236}">
                <a16:creationId xmlns:a16="http://schemas.microsoft.com/office/drawing/2014/main" id="{789B02E9-123A-46B7-9818-49EC89B2BC2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指针与动态内存分配</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30851"/>
                                        </p:tgtEl>
                                        <p:attrNameLst>
                                          <p:attrName>style.visibility</p:attrName>
                                        </p:attrNameLst>
                                      </p:cBhvr>
                                      <p:to>
                                        <p:strVal val="visible"/>
                                      </p:to>
                                    </p:set>
                                    <p:anim calcmode="lin" valueType="num">
                                      <p:cBhvr additive="base">
                                        <p:cTn id="7" dur="500" fill="hold"/>
                                        <p:tgtEl>
                                          <p:spTgt spid="1230851"/>
                                        </p:tgtEl>
                                        <p:attrNameLst>
                                          <p:attrName>ppt_x</p:attrName>
                                        </p:attrNameLst>
                                      </p:cBhvr>
                                      <p:tavLst>
                                        <p:tav tm="0">
                                          <p:val>
                                            <p:strVal val="0-#ppt_w/2"/>
                                          </p:val>
                                        </p:tav>
                                        <p:tav tm="100000">
                                          <p:val>
                                            <p:strVal val="#ppt_x"/>
                                          </p:val>
                                        </p:tav>
                                      </p:tavLst>
                                    </p:anim>
                                    <p:anim calcmode="lin" valueType="num">
                                      <p:cBhvr additive="base">
                                        <p:cTn id="8" dur="500" fill="hold"/>
                                        <p:tgtEl>
                                          <p:spTgt spid="123085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230852">
                                            <p:txEl>
                                              <p:pRg st="0" end="0"/>
                                            </p:txEl>
                                          </p:spTgt>
                                        </p:tgtEl>
                                        <p:attrNameLst>
                                          <p:attrName>style.visibility</p:attrName>
                                        </p:attrNameLst>
                                      </p:cBhvr>
                                      <p:to>
                                        <p:strVal val="visible"/>
                                      </p:to>
                                    </p:set>
                                    <p:animEffect transition="in" filter="box(out)">
                                      <p:cBhvr>
                                        <p:cTn id="13" dur="500"/>
                                        <p:tgtEl>
                                          <p:spTgt spid="1230852">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230852">
                                            <p:txEl>
                                              <p:pRg st="1" end="1"/>
                                            </p:txEl>
                                          </p:spTgt>
                                        </p:tgtEl>
                                        <p:attrNameLst>
                                          <p:attrName>style.visibility</p:attrName>
                                        </p:attrNameLst>
                                      </p:cBhvr>
                                      <p:to>
                                        <p:strVal val="visible"/>
                                      </p:to>
                                    </p:set>
                                    <p:animEffect transition="in" filter="box(out)">
                                      <p:cBhvr>
                                        <p:cTn id="18" dur="500"/>
                                        <p:tgtEl>
                                          <p:spTgt spid="1230852">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230853"/>
                                        </p:tgtEl>
                                        <p:attrNameLst>
                                          <p:attrName>style.visibility</p:attrName>
                                        </p:attrNameLst>
                                      </p:cBhvr>
                                      <p:to>
                                        <p:strVal val="visible"/>
                                      </p:to>
                                    </p:set>
                                    <p:animEffect transition="in" filter="box(out)">
                                      <p:cBhvr>
                                        <p:cTn id="23" dur="500"/>
                                        <p:tgtEl>
                                          <p:spTgt spid="1230853"/>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230855"/>
                                        </p:tgtEl>
                                        <p:attrNameLst>
                                          <p:attrName>style.visibility</p:attrName>
                                        </p:attrNameLst>
                                      </p:cBhvr>
                                      <p:to>
                                        <p:strVal val="visible"/>
                                      </p:to>
                                    </p:set>
                                    <p:animEffect transition="in" filter="box(out)">
                                      <p:cBhvr>
                                        <p:cTn id="28" dur="500"/>
                                        <p:tgtEl>
                                          <p:spTgt spid="1230855"/>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230856"/>
                                        </p:tgtEl>
                                        <p:attrNameLst>
                                          <p:attrName>style.visibility</p:attrName>
                                        </p:attrNameLst>
                                      </p:cBhvr>
                                      <p:to>
                                        <p:strVal val="visible"/>
                                      </p:to>
                                    </p:set>
                                    <p:animEffect transition="in" filter="box(out)">
                                      <p:cBhvr>
                                        <p:cTn id="33" dur="500"/>
                                        <p:tgtEl>
                                          <p:spTgt spid="1230856"/>
                                        </p:tgtEl>
                                      </p:cBhvr>
                                    </p:animEffect>
                                  </p:childTnLst>
                                  <p:subTnLs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851" grpId="0"/>
      <p:bldP spid="1230853" grpId="0" animBg="1"/>
      <p:bldP spid="1230855" grpId="0" animBg="1"/>
      <p:bldP spid="1230856"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52" name="Rectangle 12"/>
          <p:cNvSpPr>
            <a:spLocks noChangeArrowheads="1"/>
          </p:cNvSpPr>
          <p:nvPr/>
        </p:nvSpPr>
        <p:spPr bwMode="auto">
          <a:xfrm>
            <a:off x="701144" y="849293"/>
            <a:ext cx="10525754"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编写程序先输入学生人数，然后输入学生成绩，最后输出学生的平均成绩、最高成绩和最低成绩。 </a:t>
            </a:r>
          </a:p>
        </p:txBody>
      </p:sp>
      <p:sp>
        <p:nvSpPr>
          <p:cNvPr id="11" name="Rectangle 4">
            <a:extLst>
              <a:ext uri="{FF2B5EF4-FFF2-40B4-BE49-F238E27FC236}">
                <a16:creationId xmlns:a16="http://schemas.microsoft.com/office/drawing/2014/main" id="{9FEF02A2-6707-4AF5-9BEA-AC5D1A4BB7B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指针与动态内存分配</a:t>
            </a:r>
          </a:p>
        </p:txBody>
      </p:sp>
      <p:sp>
        <p:nvSpPr>
          <p:cNvPr id="10" name="Rectangle 10"/>
          <p:cNvSpPr>
            <a:spLocks noChangeArrowheads="1"/>
          </p:cNvSpPr>
          <p:nvPr/>
        </p:nvSpPr>
        <p:spPr bwMode="auto">
          <a:xfrm>
            <a:off x="764176" y="2131258"/>
            <a:ext cx="10729192" cy="1938992"/>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ct val="100000"/>
              </a:lnSpc>
              <a:spcBef>
                <a:spcPct val="0"/>
              </a:spcBef>
            </a:pPr>
            <a:r>
              <a:rPr lang="zh-CN" altLang="zh-CN" dirty="0">
                <a:ln w="1905"/>
                <a:solidFill>
                  <a:srgbClr val="C00000"/>
                </a:solidFill>
                <a:latin typeface="隶书" pitchFamily="49" charset="-122"/>
                <a:ea typeface="隶书" pitchFamily="49" charset="-122"/>
              </a:rPr>
              <a:t>解题思路：</a:t>
            </a:r>
            <a:endParaRPr lang="en-US" altLang="zh-CN" dirty="0">
              <a:ln w="1905"/>
              <a:solidFill>
                <a:srgbClr val="C00000"/>
              </a:solidFill>
              <a:latin typeface="隶书" pitchFamily="49" charset="-122"/>
              <a:ea typeface="隶书" pitchFamily="49" charset="-122"/>
            </a:endParaRPr>
          </a:p>
          <a:p>
            <a:pPr>
              <a:lnSpc>
                <a:spcPct val="100000"/>
              </a:lnSpc>
              <a:spcBef>
                <a:spcPct val="0"/>
              </a:spcBef>
            </a:pPr>
            <a:endParaRPr lang="en-US" altLang="zh-CN" dirty="0">
              <a:ln w="1905"/>
              <a:solidFill>
                <a:srgbClr val="C00000"/>
              </a:solidFill>
              <a:latin typeface="隶书" pitchFamily="49" charset="-122"/>
              <a:ea typeface="隶书" pitchFamily="49" charset="-122"/>
            </a:endParaRPr>
          </a:p>
          <a:p>
            <a:pPr>
              <a:lnSpc>
                <a:spcPct val="100000"/>
              </a:lnSpc>
              <a:spcBef>
                <a:spcPct val="0"/>
              </a:spcBef>
            </a:pPr>
            <a:r>
              <a:rPr lang="en-US" altLang="zh-CN" dirty="0">
                <a:ln w="1905"/>
                <a:solidFill>
                  <a:schemeClr val="tx1"/>
                </a:solidFill>
                <a:ea typeface="楷体" pitchFamily="49" charset="-122"/>
              </a:rPr>
              <a:t>        </a:t>
            </a:r>
            <a:r>
              <a:rPr lang="zh-CN" altLang="zh-CN" dirty="0">
                <a:ln w="1905"/>
                <a:solidFill>
                  <a:schemeClr val="tx1"/>
                </a:solidFill>
                <a:ea typeface="楷体" pitchFamily="49" charset="-122"/>
              </a:rPr>
              <a:t>问题的关键是如何建立学生成绩数组，因为学生人数是通过键盘输入的，所以学生成绩数组应根据学生人数通过动态内存分配来生成，即根据学生人数来建立动态数组。</a:t>
            </a:r>
            <a:endParaRPr lang="zh-CN" altLang="en-US" dirty="0">
              <a:ln w="1905"/>
              <a:solidFill>
                <a:schemeClr val="tx1"/>
              </a:solidFill>
              <a:ea typeface="楷体" pitchFamily="49" charset="-122"/>
            </a:endParaRPr>
          </a:p>
        </p:txBody>
      </p:sp>
      <p:sp>
        <p:nvSpPr>
          <p:cNvPr id="1187853" name="Rectangle 13" descr="信纸"/>
          <p:cNvSpPr>
            <a:spLocks noChangeArrowheads="1"/>
          </p:cNvSpPr>
          <p:nvPr/>
        </p:nvSpPr>
        <p:spPr bwMode="auto">
          <a:xfrm>
            <a:off x="541998" y="839466"/>
            <a:ext cx="4990662" cy="5940088"/>
          </a:xfrm>
          <a:prstGeom prst="rect">
            <a:avLst/>
          </a:prstGeom>
          <a:gradFill>
            <a:gsLst>
              <a:gs pos="0">
                <a:srgbClr val="CFCFD1"/>
              </a:gs>
              <a:gs pos="100000">
                <a:schemeClr val="bg1">
                  <a:lumMod val="95000"/>
                </a:schemeClr>
              </a:gs>
            </a:gsLst>
            <a:lin ang="162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tabLst>
                <a:tab pos="571500" algn="l"/>
              </a:tabLst>
            </a:pPr>
            <a:r>
              <a:rPr lang="en-US" altLang="zh-CN" sz="2000" dirty="0"/>
              <a:t>#include &lt;</a:t>
            </a:r>
            <a:r>
              <a:rPr lang="en-US" altLang="zh-CN" sz="2000" dirty="0" err="1"/>
              <a:t>stdio.h</a:t>
            </a:r>
            <a:r>
              <a:rPr lang="en-US" altLang="zh-CN" sz="2000" dirty="0"/>
              <a:t>&gt;</a:t>
            </a:r>
          </a:p>
          <a:p>
            <a:pPr>
              <a:tabLst>
                <a:tab pos="571500" algn="l"/>
              </a:tabLst>
            </a:pPr>
            <a:r>
              <a:rPr lang="en-US" altLang="zh-CN" sz="2000" dirty="0"/>
              <a:t>#include &lt;</a:t>
            </a:r>
            <a:r>
              <a:rPr lang="en-US" altLang="zh-CN" sz="2000" dirty="0" err="1"/>
              <a:t>stdlib.h</a:t>
            </a:r>
            <a:r>
              <a:rPr lang="en-US" altLang="zh-CN" sz="2000" dirty="0"/>
              <a:t>&gt;</a:t>
            </a:r>
          </a:p>
          <a:p>
            <a:pPr>
              <a:tabLst>
                <a:tab pos="571500" algn="l"/>
              </a:tabLst>
            </a:pPr>
            <a:r>
              <a:rPr lang="en-US" altLang="zh-CN" sz="2000" dirty="0"/>
              <a:t>#include &lt;</a:t>
            </a:r>
            <a:r>
              <a:rPr lang="en-US" altLang="zh-CN" sz="2000" dirty="0" err="1"/>
              <a:t>malloc.h</a:t>
            </a:r>
            <a:r>
              <a:rPr lang="en-US" altLang="zh-CN" sz="2000" dirty="0"/>
              <a:t>&gt;</a:t>
            </a:r>
          </a:p>
          <a:p>
            <a:pPr>
              <a:tabLst>
                <a:tab pos="571500" algn="l"/>
              </a:tabLst>
            </a:pPr>
            <a:r>
              <a:rPr lang="en-US" altLang="zh-CN" sz="2000" dirty="0" err="1">
                <a:solidFill>
                  <a:srgbClr val="CC0099"/>
                </a:solidFill>
              </a:rPr>
              <a:t>int</a:t>
            </a:r>
            <a:r>
              <a:rPr lang="en-US" altLang="zh-CN" sz="2000" dirty="0">
                <a:solidFill>
                  <a:srgbClr val="CC0099"/>
                </a:solidFill>
              </a:rPr>
              <a:t> main ( )</a:t>
            </a:r>
          </a:p>
          <a:p>
            <a:pPr>
              <a:tabLst>
                <a:tab pos="571500" algn="l"/>
              </a:tabLst>
            </a:pPr>
            <a:r>
              <a:rPr lang="en-US" altLang="zh-CN" sz="2000" dirty="0"/>
              <a:t>{</a:t>
            </a:r>
          </a:p>
          <a:p>
            <a:pPr>
              <a:tabLst>
                <a:tab pos="571500" algn="l"/>
              </a:tabLst>
            </a:pPr>
            <a:r>
              <a:rPr lang="en-US" altLang="zh-CN" sz="2000" dirty="0"/>
              <a:t>   </a:t>
            </a:r>
            <a:r>
              <a:rPr lang="en-US" altLang="zh-CN" sz="2000" dirty="0" err="1"/>
              <a:t>int</a:t>
            </a:r>
            <a:r>
              <a:rPr lang="en-US" altLang="zh-CN" sz="2000" dirty="0"/>
              <a:t> num, </a:t>
            </a:r>
            <a:r>
              <a:rPr lang="en-US" altLang="zh-CN" sz="2000" dirty="0" err="1"/>
              <a:t>i</a:t>
            </a:r>
            <a:r>
              <a:rPr lang="en-US" altLang="zh-CN" sz="2000" dirty="0"/>
              <a:t>;</a:t>
            </a:r>
          </a:p>
          <a:p>
            <a:pPr>
              <a:tabLst>
                <a:tab pos="571500" algn="l"/>
              </a:tabLst>
            </a:pPr>
            <a:r>
              <a:rPr lang="en-US" altLang="zh-CN" sz="2000" dirty="0"/>
              <a:t>   </a:t>
            </a:r>
            <a:r>
              <a:rPr lang="en-US" altLang="zh-CN" sz="2000" dirty="0" err="1"/>
              <a:t>int</a:t>
            </a:r>
            <a:r>
              <a:rPr lang="en-US" altLang="zh-CN" sz="2000" dirty="0"/>
              <a:t> </a:t>
            </a:r>
            <a:r>
              <a:rPr lang="en-US" altLang="zh-CN" sz="2000" dirty="0" err="1"/>
              <a:t>maxscore</a:t>
            </a:r>
            <a:r>
              <a:rPr lang="en-US" altLang="zh-CN" sz="2000" dirty="0"/>
              <a:t>, </a:t>
            </a:r>
            <a:r>
              <a:rPr lang="en-US" altLang="zh-CN" sz="2000" dirty="0" err="1"/>
              <a:t>minscore</a:t>
            </a:r>
            <a:r>
              <a:rPr lang="en-US" altLang="zh-CN" sz="2000" dirty="0"/>
              <a:t>, </a:t>
            </a:r>
            <a:r>
              <a:rPr lang="en-US" altLang="zh-CN" sz="2000" dirty="0" err="1"/>
              <a:t>sumscore</a:t>
            </a:r>
            <a:r>
              <a:rPr lang="en-US" altLang="zh-CN" sz="2000" dirty="0"/>
              <a:t>;</a:t>
            </a:r>
          </a:p>
          <a:p>
            <a:pPr>
              <a:tabLst>
                <a:tab pos="571500" algn="l"/>
              </a:tabLst>
            </a:pPr>
            <a:r>
              <a:rPr lang="en-US" altLang="zh-CN" sz="2000" dirty="0"/>
              <a:t>   </a:t>
            </a:r>
            <a:r>
              <a:rPr lang="en-US" altLang="zh-CN" sz="2000" dirty="0" err="1"/>
              <a:t>int</a:t>
            </a:r>
            <a:r>
              <a:rPr lang="en-US" altLang="zh-CN" sz="2000" dirty="0"/>
              <a:t> *</a:t>
            </a:r>
            <a:r>
              <a:rPr lang="en-US" altLang="zh-CN" sz="2000" dirty="0" err="1"/>
              <a:t>pscore</a:t>
            </a:r>
            <a:r>
              <a:rPr lang="en-US" altLang="zh-CN" sz="2000" dirty="0"/>
              <a:t>;</a:t>
            </a:r>
          </a:p>
          <a:p>
            <a:pPr>
              <a:tabLst>
                <a:tab pos="571500" algn="l"/>
              </a:tabLst>
            </a:pPr>
            <a:r>
              <a:rPr lang="en-US" altLang="zh-CN" sz="2000" dirty="0"/>
              <a:t>   float </a:t>
            </a:r>
            <a:r>
              <a:rPr lang="en-US" altLang="zh-CN" sz="2000" dirty="0" err="1"/>
              <a:t>averscore</a:t>
            </a:r>
            <a:r>
              <a:rPr lang="en-US" altLang="zh-CN" sz="2000" dirty="0"/>
              <a:t>;</a:t>
            </a:r>
          </a:p>
          <a:p>
            <a:pPr>
              <a:tabLst>
                <a:tab pos="571500" algn="l"/>
              </a:tabLst>
            </a:pPr>
            <a:r>
              <a:rPr lang="en-US" altLang="zh-CN" sz="2000" dirty="0"/>
              <a:t>   </a:t>
            </a:r>
            <a:r>
              <a:rPr lang="en-US" altLang="zh-CN" sz="2000" dirty="0" err="1"/>
              <a:t>printf</a:t>
            </a:r>
            <a:r>
              <a:rPr lang="en-US" altLang="zh-CN" sz="2000" dirty="0"/>
              <a:t> ("input the number of student: ");  </a:t>
            </a:r>
          </a:p>
          <a:p>
            <a:pPr>
              <a:tabLst>
                <a:tab pos="571500" algn="l"/>
              </a:tabLst>
            </a:pPr>
            <a:r>
              <a:rPr lang="en-US" altLang="zh-CN" sz="2000" dirty="0"/>
              <a:t>   </a:t>
            </a:r>
            <a:r>
              <a:rPr lang="en-US" altLang="zh-CN" sz="2000" dirty="0" err="1"/>
              <a:t>scanf</a:t>
            </a:r>
            <a:r>
              <a:rPr lang="en-US" altLang="zh-CN" sz="2000" dirty="0"/>
              <a:t> ("%d", &amp;num);</a:t>
            </a:r>
          </a:p>
          <a:p>
            <a:pPr>
              <a:tabLst>
                <a:tab pos="571500" algn="l"/>
              </a:tabLst>
            </a:pPr>
            <a:r>
              <a:rPr lang="en-US" altLang="zh-CN" sz="2000" dirty="0"/>
              <a:t>   if (num &lt;= 0 )</a:t>
            </a:r>
          </a:p>
          <a:p>
            <a:pPr>
              <a:tabLst>
                <a:tab pos="571500" algn="l"/>
              </a:tabLst>
            </a:pPr>
            <a:r>
              <a:rPr lang="en-US" altLang="zh-CN" sz="2000" dirty="0"/>
              <a:t>      return -1;</a:t>
            </a:r>
          </a:p>
          <a:p>
            <a:pPr>
              <a:tabLst>
                <a:tab pos="571500" algn="l"/>
              </a:tabLst>
            </a:pPr>
            <a:r>
              <a:rPr lang="en-US" altLang="zh-CN" sz="2000" dirty="0">
                <a:solidFill>
                  <a:srgbClr val="C00000"/>
                </a:solidFill>
              </a:rPr>
              <a:t>   </a:t>
            </a:r>
            <a:r>
              <a:rPr lang="en-US" altLang="zh-CN" sz="2000" dirty="0" err="1">
                <a:solidFill>
                  <a:srgbClr val="C00000"/>
                </a:solidFill>
              </a:rPr>
              <a:t>pscore</a:t>
            </a:r>
            <a:r>
              <a:rPr lang="en-US" altLang="zh-CN" sz="2000" dirty="0">
                <a:solidFill>
                  <a:srgbClr val="C00000"/>
                </a:solidFill>
              </a:rPr>
              <a:t> = (</a:t>
            </a:r>
            <a:r>
              <a:rPr lang="en-US" altLang="zh-CN" sz="2000" dirty="0" err="1">
                <a:solidFill>
                  <a:srgbClr val="C00000"/>
                </a:solidFill>
              </a:rPr>
              <a:t>int</a:t>
            </a:r>
            <a:r>
              <a:rPr lang="en-US" altLang="zh-CN" sz="2000" dirty="0">
                <a:solidFill>
                  <a:srgbClr val="C00000"/>
                </a:solidFill>
              </a:rPr>
              <a:t> *) </a:t>
            </a:r>
            <a:r>
              <a:rPr lang="en-US" altLang="zh-CN" sz="2000" dirty="0" err="1">
                <a:solidFill>
                  <a:srgbClr val="C00000"/>
                </a:solidFill>
              </a:rPr>
              <a:t>malloc</a:t>
            </a:r>
            <a:r>
              <a:rPr lang="en-US" altLang="zh-CN" sz="2000" dirty="0">
                <a:solidFill>
                  <a:srgbClr val="C00000"/>
                </a:solidFill>
              </a:rPr>
              <a:t>(num * </a:t>
            </a:r>
            <a:r>
              <a:rPr lang="en-US" altLang="zh-CN" sz="2000" dirty="0" err="1">
                <a:solidFill>
                  <a:srgbClr val="C00000"/>
                </a:solidFill>
              </a:rPr>
              <a:t>sizeof</a:t>
            </a:r>
            <a:r>
              <a:rPr lang="en-US" altLang="zh-CN" sz="2000" dirty="0">
                <a:solidFill>
                  <a:srgbClr val="C00000"/>
                </a:solidFill>
              </a:rPr>
              <a:t>(</a:t>
            </a:r>
            <a:r>
              <a:rPr lang="en-US" altLang="zh-CN" sz="2000" dirty="0" err="1">
                <a:solidFill>
                  <a:srgbClr val="C00000"/>
                </a:solidFill>
              </a:rPr>
              <a:t>int</a:t>
            </a:r>
            <a:r>
              <a:rPr lang="en-US" altLang="zh-CN" sz="2000" dirty="0">
                <a:solidFill>
                  <a:srgbClr val="C00000"/>
                </a:solidFill>
              </a:rPr>
              <a:t>));  </a:t>
            </a:r>
          </a:p>
          <a:p>
            <a:pPr>
              <a:tabLst>
                <a:tab pos="571500" algn="l"/>
              </a:tabLst>
            </a:pPr>
            <a:r>
              <a:rPr lang="en-US" altLang="zh-CN" sz="2000" dirty="0"/>
              <a:t>   if ( </a:t>
            </a:r>
            <a:r>
              <a:rPr lang="en-US" altLang="zh-CN" sz="2000" dirty="0" err="1"/>
              <a:t>pscore</a:t>
            </a:r>
            <a:r>
              <a:rPr lang="en-US" altLang="zh-CN" sz="2000" dirty="0"/>
              <a:t> == NULL )</a:t>
            </a:r>
          </a:p>
          <a:p>
            <a:pPr>
              <a:tabLst>
                <a:tab pos="571500" algn="l"/>
              </a:tabLst>
            </a:pPr>
            <a:r>
              <a:rPr lang="en-US" altLang="zh-CN" sz="2000" dirty="0"/>
              <a:t>   {</a:t>
            </a:r>
          </a:p>
          <a:p>
            <a:pPr>
              <a:tabLst>
                <a:tab pos="571500" algn="l"/>
              </a:tabLst>
            </a:pPr>
            <a:r>
              <a:rPr lang="en-US" altLang="zh-CN" sz="2000" dirty="0"/>
              <a:t>     </a:t>
            </a:r>
            <a:r>
              <a:rPr lang="en-US" altLang="zh-CN" sz="2000" dirty="0" err="1"/>
              <a:t>printf</a:t>
            </a:r>
            <a:r>
              <a:rPr lang="en-US" altLang="zh-CN" sz="2000" dirty="0"/>
              <a:t> ( "Insufficient memory available\n" );</a:t>
            </a:r>
          </a:p>
          <a:p>
            <a:pPr>
              <a:tabLst>
                <a:tab pos="571500" algn="l"/>
              </a:tabLst>
            </a:pPr>
            <a:r>
              <a:rPr lang="en-US" altLang="zh-CN" sz="2000" dirty="0"/>
              <a:t>     exit (0);</a:t>
            </a:r>
          </a:p>
          <a:p>
            <a:pPr>
              <a:tabLst>
                <a:tab pos="571500" algn="l"/>
              </a:tabLst>
            </a:pPr>
            <a:r>
              <a:rPr lang="en-US" altLang="zh-CN" sz="2000" dirty="0"/>
              <a:t>   }</a:t>
            </a:r>
          </a:p>
        </p:txBody>
      </p:sp>
      <p:sp>
        <p:nvSpPr>
          <p:cNvPr id="1187854" name="Rectangle 14" descr="信纸"/>
          <p:cNvSpPr>
            <a:spLocks noChangeArrowheads="1"/>
          </p:cNvSpPr>
          <p:nvPr/>
        </p:nvSpPr>
        <p:spPr bwMode="auto">
          <a:xfrm>
            <a:off x="6418017" y="839466"/>
            <a:ext cx="4968027" cy="4770537"/>
          </a:xfrm>
          <a:prstGeom prst="rect">
            <a:avLst/>
          </a:prstGeom>
          <a:gradFill>
            <a:gsLst>
              <a:gs pos="0">
                <a:srgbClr val="CFCFD1"/>
              </a:gs>
              <a:gs pos="100000">
                <a:schemeClr val="bg1">
                  <a:lumMod val="95000"/>
                </a:schemeClr>
              </a:gs>
            </a:gsLst>
            <a:lin ang="162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marL="457200" indent="-457200">
              <a:tabLst>
                <a:tab pos="571500" algn="l"/>
              </a:tabLst>
            </a:pPr>
            <a:r>
              <a:rPr lang="en-US" altLang="zh-CN" dirty="0"/>
              <a:t> </a:t>
            </a:r>
            <a:r>
              <a:rPr lang="en-US" altLang="zh-CN" sz="2000" dirty="0" err="1"/>
              <a:t>printf</a:t>
            </a:r>
            <a:r>
              <a:rPr lang="en-US" altLang="zh-CN" sz="2000" dirty="0"/>
              <a:t> ("input the scores of students now:\n"); </a:t>
            </a:r>
          </a:p>
          <a:p>
            <a:pPr marL="457200" indent="-457200">
              <a:tabLst>
                <a:tab pos="571500" algn="l"/>
              </a:tabLst>
            </a:pPr>
            <a:r>
              <a:rPr lang="en-US" altLang="zh-CN" sz="2000" dirty="0"/>
              <a:t> for (</a:t>
            </a:r>
            <a:r>
              <a:rPr lang="en-US" altLang="zh-CN" sz="2000" dirty="0" err="1"/>
              <a:t>i</a:t>
            </a:r>
            <a:r>
              <a:rPr lang="en-US" altLang="zh-CN" sz="2000" dirty="0"/>
              <a:t> = 0; </a:t>
            </a:r>
            <a:r>
              <a:rPr lang="en-US" altLang="zh-CN" sz="2000" dirty="0" err="1"/>
              <a:t>i</a:t>
            </a:r>
            <a:r>
              <a:rPr lang="en-US" altLang="zh-CN" sz="2000" dirty="0"/>
              <a:t> &lt; num; </a:t>
            </a:r>
            <a:r>
              <a:rPr lang="en-US" altLang="zh-CN" sz="2000" dirty="0" err="1"/>
              <a:t>i</a:t>
            </a:r>
            <a:r>
              <a:rPr lang="en-US" altLang="zh-CN" sz="2000" dirty="0"/>
              <a:t>++)</a:t>
            </a:r>
          </a:p>
          <a:p>
            <a:pPr marL="457200" indent="-457200">
              <a:tabLst>
                <a:tab pos="571500" algn="l"/>
              </a:tabLst>
            </a:pPr>
            <a:r>
              <a:rPr lang="en-US" altLang="zh-CN" sz="2000" dirty="0"/>
              <a:t>     </a:t>
            </a:r>
            <a:r>
              <a:rPr lang="en-US" altLang="zh-CN" sz="2000" dirty="0" err="1"/>
              <a:t>scanf</a:t>
            </a:r>
            <a:r>
              <a:rPr lang="en-US" altLang="zh-CN" sz="2000" dirty="0"/>
              <a:t> ("%d", </a:t>
            </a:r>
            <a:r>
              <a:rPr lang="en-US" altLang="zh-CN" sz="2000" dirty="0" err="1"/>
              <a:t>pscore</a:t>
            </a:r>
            <a:r>
              <a:rPr lang="en-US" altLang="zh-CN" sz="2000" dirty="0"/>
              <a:t> + </a:t>
            </a:r>
            <a:r>
              <a:rPr lang="en-US" altLang="zh-CN" sz="2000" dirty="0" err="1"/>
              <a:t>i</a:t>
            </a:r>
            <a:r>
              <a:rPr lang="en-US" altLang="zh-CN" sz="2000" dirty="0"/>
              <a:t>);</a:t>
            </a:r>
          </a:p>
          <a:p>
            <a:pPr marL="457200" indent="-457200">
              <a:tabLst>
                <a:tab pos="571500" algn="l"/>
              </a:tabLst>
            </a:pPr>
            <a:r>
              <a:rPr lang="en-US" altLang="zh-CN" sz="2000" dirty="0"/>
              <a:t>  </a:t>
            </a:r>
            <a:r>
              <a:rPr lang="en-US" altLang="zh-CN" sz="2000" dirty="0" err="1"/>
              <a:t>maxscore</a:t>
            </a:r>
            <a:r>
              <a:rPr lang="en-US" altLang="zh-CN" sz="2000" dirty="0"/>
              <a:t> = </a:t>
            </a:r>
            <a:r>
              <a:rPr lang="en-US" altLang="zh-CN" sz="2000" dirty="0" err="1"/>
              <a:t>pscore</a:t>
            </a:r>
            <a:r>
              <a:rPr lang="en-US" altLang="zh-CN" sz="2000" dirty="0"/>
              <a:t>[0];   </a:t>
            </a:r>
          </a:p>
          <a:p>
            <a:pPr marL="457200" indent="-457200">
              <a:tabLst>
                <a:tab pos="571500" algn="l"/>
              </a:tabLst>
            </a:pPr>
            <a:r>
              <a:rPr lang="en-US" altLang="zh-CN" sz="2000" dirty="0"/>
              <a:t>  </a:t>
            </a:r>
            <a:r>
              <a:rPr lang="en-US" altLang="zh-CN" sz="2000" dirty="0" err="1"/>
              <a:t>minscore</a:t>
            </a:r>
            <a:r>
              <a:rPr lang="en-US" altLang="zh-CN" sz="2000" dirty="0"/>
              <a:t> = </a:t>
            </a:r>
            <a:r>
              <a:rPr lang="en-US" altLang="zh-CN" sz="2000" dirty="0" err="1"/>
              <a:t>pscore</a:t>
            </a:r>
            <a:r>
              <a:rPr lang="en-US" altLang="zh-CN" sz="2000" dirty="0"/>
              <a:t>[0];</a:t>
            </a:r>
          </a:p>
          <a:p>
            <a:pPr marL="457200" indent="-457200">
              <a:tabLst>
                <a:tab pos="571500" algn="l"/>
              </a:tabLst>
            </a:pPr>
            <a:r>
              <a:rPr lang="en-US" altLang="zh-CN" sz="2000" dirty="0"/>
              <a:t>  </a:t>
            </a:r>
            <a:r>
              <a:rPr lang="en-US" altLang="zh-CN" sz="2000" dirty="0" err="1"/>
              <a:t>sumscore</a:t>
            </a:r>
            <a:r>
              <a:rPr lang="en-US" altLang="zh-CN" sz="2000" dirty="0"/>
              <a:t> = </a:t>
            </a:r>
            <a:r>
              <a:rPr lang="en-US" altLang="zh-CN" sz="2000" dirty="0" err="1"/>
              <a:t>pscore</a:t>
            </a:r>
            <a:r>
              <a:rPr lang="en-US" altLang="zh-CN" sz="2000" dirty="0"/>
              <a:t>[0];</a:t>
            </a:r>
          </a:p>
          <a:p>
            <a:pPr marL="457200" indent="-457200">
              <a:tabLst>
                <a:tab pos="571500" algn="l"/>
              </a:tabLst>
            </a:pPr>
            <a:r>
              <a:rPr lang="en-US" altLang="zh-CN" sz="2000" dirty="0"/>
              <a:t>  for (</a:t>
            </a:r>
            <a:r>
              <a:rPr lang="en-US" altLang="zh-CN" sz="2000" dirty="0" err="1"/>
              <a:t>i</a:t>
            </a:r>
            <a:r>
              <a:rPr lang="en-US" altLang="zh-CN" sz="2000" dirty="0"/>
              <a:t> = 1; </a:t>
            </a:r>
            <a:r>
              <a:rPr lang="en-US" altLang="zh-CN" sz="2000" dirty="0" err="1"/>
              <a:t>i</a:t>
            </a:r>
            <a:r>
              <a:rPr lang="en-US" altLang="zh-CN" sz="2000" dirty="0"/>
              <a:t> &lt; num; </a:t>
            </a:r>
            <a:r>
              <a:rPr lang="en-US" altLang="zh-CN" sz="2000" dirty="0" err="1"/>
              <a:t>i</a:t>
            </a:r>
            <a:r>
              <a:rPr lang="en-US" altLang="zh-CN" sz="2000" dirty="0"/>
              <a:t>++)</a:t>
            </a:r>
          </a:p>
          <a:p>
            <a:pPr marL="457200" indent="-457200">
              <a:tabLst>
                <a:tab pos="571500" algn="l"/>
              </a:tabLst>
            </a:pPr>
            <a:r>
              <a:rPr lang="en-US" altLang="zh-CN" sz="2000" dirty="0"/>
              <a:t>  {</a:t>
            </a:r>
          </a:p>
          <a:p>
            <a:pPr marL="457200" indent="-457200">
              <a:tabLst>
                <a:tab pos="571500" algn="l"/>
              </a:tabLst>
            </a:pPr>
            <a:r>
              <a:rPr lang="en-US" altLang="zh-CN" sz="2000" dirty="0"/>
              <a:t>    if (</a:t>
            </a:r>
            <a:r>
              <a:rPr lang="en-US" altLang="zh-CN" sz="2000" dirty="0" err="1"/>
              <a:t>pscore</a:t>
            </a:r>
            <a:r>
              <a:rPr lang="en-US" altLang="zh-CN" sz="2000" dirty="0"/>
              <a:t>[</a:t>
            </a:r>
            <a:r>
              <a:rPr lang="en-US" altLang="zh-CN" sz="2000" dirty="0" err="1"/>
              <a:t>i</a:t>
            </a:r>
            <a:r>
              <a:rPr lang="en-US" altLang="zh-CN" sz="2000" dirty="0"/>
              <a:t>] &gt; </a:t>
            </a:r>
            <a:r>
              <a:rPr lang="en-US" altLang="zh-CN" sz="2000" dirty="0" err="1"/>
              <a:t>maxscore</a:t>
            </a:r>
            <a:r>
              <a:rPr lang="en-US" altLang="zh-CN" sz="2000" dirty="0"/>
              <a:t>) </a:t>
            </a:r>
          </a:p>
          <a:p>
            <a:pPr marL="457200" indent="-457200">
              <a:tabLst>
                <a:tab pos="571500" algn="l"/>
              </a:tabLst>
            </a:pPr>
            <a:r>
              <a:rPr lang="en-US" altLang="zh-CN" sz="2000" dirty="0"/>
              <a:t>        </a:t>
            </a:r>
            <a:r>
              <a:rPr lang="en-US" altLang="zh-CN" sz="2000" dirty="0" err="1"/>
              <a:t>maxscore</a:t>
            </a:r>
            <a:r>
              <a:rPr lang="en-US" altLang="zh-CN" sz="2000" dirty="0"/>
              <a:t> = </a:t>
            </a:r>
            <a:r>
              <a:rPr lang="en-US" altLang="zh-CN" sz="2000" dirty="0" err="1"/>
              <a:t>pscore</a:t>
            </a:r>
            <a:r>
              <a:rPr lang="en-US" altLang="zh-CN" sz="2000" dirty="0"/>
              <a:t>[</a:t>
            </a:r>
            <a:r>
              <a:rPr lang="en-US" altLang="zh-CN" sz="2000" dirty="0" err="1"/>
              <a:t>i</a:t>
            </a:r>
            <a:r>
              <a:rPr lang="en-US" altLang="zh-CN" sz="2000" dirty="0"/>
              <a:t>];</a:t>
            </a:r>
          </a:p>
          <a:p>
            <a:pPr marL="457200" indent="-457200">
              <a:tabLst>
                <a:tab pos="571500" algn="l"/>
              </a:tabLst>
            </a:pPr>
            <a:r>
              <a:rPr lang="en-US" altLang="zh-CN" sz="2000" dirty="0"/>
              <a:t>    if (</a:t>
            </a:r>
            <a:r>
              <a:rPr lang="en-US" altLang="zh-CN" sz="2000" dirty="0" err="1"/>
              <a:t>pscore</a:t>
            </a:r>
            <a:r>
              <a:rPr lang="en-US" altLang="zh-CN" sz="2000" dirty="0"/>
              <a:t>[</a:t>
            </a:r>
            <a:r>
              <a:rPr lang="en-US" altLang="zh-CN" sz="2000" dirty="0" err="1"/>
              <a:t>i</a:t>
            </a:r>
            <a:r>
              <a:rPr lang="en-US" altLang="zh-CN" sz="2000" dirty="0"/>
              <a:t>] &lt; </a:t>
            </a:r>
            <a:r>
              <a:rPr lang="en-US" altLang="zh-CN" sz="2000" dirty="0" err="1"/>
              <a:t>minscore</a:t>
            </a:r>
            <a:r>
              <a:rPr lang="en-US" altLang="zh-CN" sz="2000" dirty="0"/>
              <a:t>)</a:t>
            </a:r>
          </a:p>
          <a:p>
            <a:pPr marL="457200" indent="-457200">
              <a:tabLst>
                <a:tab pos="571500" algn="l"/>
              </a:tabLst>
            </a:pPr>
            <a:r>
              <a:rPr lang="en-US" altLang="zh-CN" sz="2000" dirty="0"/>
              <a:t>        </a:t>
            </a:r>
            <a:r>
              <a:rPr lang="en-US" altLang="zh-CN" sz="2000" dirty="0" err="1"/>
              <a:t>minscore</a:t>
            </a:r>
            <a:r>
              <a:rPr lang="en-US" altLang="zh-CN" sz="2000" dirty="0"/>
              <a:t> = </a:t>
            </a:r>
            <a:r>
              <a:rPr lang="en-US" altLang="zh-CN" sz="2000" dirty="0" err="1"/>
              <a:t>pscore</a:t>
            </a:r>
            <a:r>
              <a:rPr lang="en-US" altLang="zh-CN" sz="2000" dirty="0"/>
              <a:t>[</a:t>
            </a:r>
            <a:r>
              <a:rPr lang="en-US" altLang="zh-CN" sz="2000" dirty="0" err="1"/>
              <a:t>i</a:t>
            </a:r>
            <a:r>
              <a:rPr lang="en-US" altLang="zh-CN" sz="2000" dirty="0"/>
              <a:t>];</a:t>
            </a:r>
          </a:p>
          <a:p>
            <a:pPr marL="457200" indent="-457200">
              <a:tabLst>
                <a:tab pos="571500" algn="l"/>
              </a:tabLst>
            </a:pPr>
            <a:r>
              <a:rPr lang="en-US" altLang="zh-CN" sz="2000" dirty="0"/>
              <a:t>    </a:t>
            </a:r>
            <a:r>
              <a:rPr lang="en-US" altLang="zh-CN" sz="2000" dirty="0" err="1"/>
              <a:t>sumscore</a:t>
            </a:r>
            <a:r>
              <a:rPr lang="en-US" altLang="zh-CN" sz="2000" dirty="0"/>
              <a:t> = </a:t>
            </a:r>
            <a:r>
              <a:rPr lang="en-US" altLang="zh-CN" sz="2000" dirty="0" err="1"/>
              <a:t>sumscore</a:t>
            </a:r>
            <a:r>
              <a:rPr lang="en-US" altLang="zh-CN" sz="2000" dirty="0"/>
              <a:t> + </a:t>
            </a:r>
            <a:r>
              <a:rPr lang="en-US" altLang="zh-CN" sz="2000" dirty="0" err="1"/>
              <a:t>pscore</a:t>
            </a:r>
            <a:r>
              <a:rPr lang="en-US" altLang="zh-CN" sz="2000" dirty="0"/>
              <a:t>[</a:t>
            </a:r>
            <a:r>
              <a:rPr lang="en-US" altLang="zh-CN" sz="2000" dirty="0" err="1"/>
              <a:t>i</a:t>
            </a:r>
            <a:r>
              <a:rPr lang="en-US" altLang="zh-CN" sz="2000" dirty="0"/>
              <a:t>]; </a:t>
            </a:r>
          </a:p>
          <a:p>
            <a:pPr marL="457200" indent="-457200">
              <a:tabLst>
                <a:tab pos="571500" algn="l"/>
              </a:tabLst>
            </a:pPr>
            <a:r>
              <a:rPr lang="en-US" altLang="zh-CN" sz="2000" dirty="0"/>
              <a:t>  }</a:t>
            </a:r>
          </a:p>
          <a:p>
            <a:pPr marL="457200" indent="-457200">
              <a:tabLst>
                <a:tab pos="571500" algn="l"/>
              </a:tabLst>
            </a:pPr>
            <a:r>
              <a:rPr lang="en-US" altLang="zh-CN" sz="2000" dirty="0"/>
              <a:t>  </a:t>
            </a:r>
            <a:r>
              <a:rPr lang="en-US" altLang="zh-CN" sz="2000" dirty="0" err="1"/>
              <a:t>averscore</a:t>
            </a:r>
            <a:r>
              <a:rPr lang="en-US" altLang="zh-CN" sz="2000" dirty="0"/>
              <a:t> = (float)</a:t>
            </a:r>
            <a:r>
              <a:rPr lang="en-US" altLang="zh-CN" sz="2000" dirty="0" err="1"/>
              <a:t>sumscore</a:t>
            </a:r>
            <a:r>
              <a:rPr lang="en-US" altLang="zh-CN" sz="2000" dirty="0"/>
              <a:t> / num;   </a:t>
            </a:r>
          </a:p>
        </p:txBody>
      </p:sp>
      <p:sp>
        <p:nvSpPr>
          <p:cNvPr id="1187855" name="Rectangle 15" descr="信纸"/>
          <p:cNvSpPr>
            <a:spLocks noChangeArrowheads="1"/>
          </p:cNvSpPr>
          <p:nvPr/>
        </p:nvSpPr>
        <p:spPr bwMode="auto">
          <a:xfrm>
            <a:off x="5813586" y="3520518"/>
            <a:ext cx="5683089" cy="3231654"/>
          </a:xfrm>
          <a:prstGeom prst="rect">
            <a:avLst/>
          </a:prstGeom>
          <a:gradFill>
            <a:gsLst>
              <a:gs pos="0">
                <a:srgbClr val="CFCFD1"/>
              </a:gs>
              <a:gs pos="100000">
                <a:schemeClr val="bg1">
                  <a:lumMod val="95000"/>
                </a:schemeClr>
              </a:gs>
            </a:gsLst>
            <a:lin ang="16200000" scaled="1"/>
          </a:gradFill>
          <a:ln w="38100" algn="ctr">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r>
              <a:rPr lang="en-US" altLang="zh-CN" dirty="0"/>
              <a:t>  </a:t>
            </a:r>
            <a:r>
              <a:rPr lang="en-US" altLang="zh-CN" sz="2000" dirty="0" err="1"/>
              <a:t>printf</a:t>
            </a:r>
            <a:r>
              <a:rPr lang="en-US" altLang="zh-CN" sz="2000" dirty="0"/>
              <a:t> ("----------------------------------------------\n"); </a:t>
            </a:r>
          </a:p>
          <a:p>
            <a:pPr marL="342900" indent="-342900"/>
            <a:r>
              <a:rPr lang="en-US" altLang="zh-CN" sz="2000" dirty="0"/>
              <a:t>  </a:t>
            </a:r>
            <a:r>
              <a:rPr lang="en-US" altLang="zh-CN" sz="2000" dirty="0" err="1"/>
              <a:t>printf</a:t>
            </a:r>
            <a:r>
              <a:rPr lang="en-US" altLang="zh-CN" sz="2000" dirty="0"/>
              <a:t> ("the average score of the students is %.1f\n",</a:t>
            </a:r>
          </a:p>
          <a:p>
            <a:pPr marL="342900" indent="-342900"/>
            <a:r>
              <a:rPr lang="en-US" altLang="zh-CN" sz="2000" dirty="0"/>
              <a:t>                </a:t>
            </a:r>
            <a:r>
              <a:rPr lang="en-US" altLang="zh-CN" sz="2000" dirty="0" err="1"/>
              <a:t>averscore</a:t>
            </a:r>
            <a:r>
              <a:rPr lang="en-US" altLang="zh-CN" sz="2000" dirty="0"/>
              <a:t>); </a:t>
            </a:r>
          </a:p>
          <a:p>
            <a:pPr marL="342900" indent="-342900"/>
            <a:r>
              <a:rPr lang="en-US" altLang="zh-CN" sz="2000" dirty="0"/>
              <a:t>  </a:t>
            </a:r>
            <a:r>
              <a:rPr lang="en-US" altLang="zh-CN" sz="2000" dirty="0" err="1"/>
              <a:t>printf</a:t>
            </a:r>
            <a:r>
              <a:rPr lang="en-US" altLang="zh-CN" sz="2000" dirty="0"/>
              <a:t> ("the highest score of the students is %d\n",</a:t>
            </a:r>
          </a:p>
          <a:p>
            <a:pPr marL="342900" indent="-342900"/>
            <a:r>
              <a:rPr lang="en-US" altLang="zh-CN" sz="2000" dirty="0"/>
              <a:t>               </a:t>
            </a:r>
            <a:r>
              <a:rPr lang="en-US" altLang="zh-CN" sz="2000" dirty="0" err="1"/>
              <a:t>maxscore</a:t>
            </a:r>
            <a:r>
              <a:rPr lang="en-US" altLang="zh-CN" sz="2000" dirty="0"/>
              <a:t>);</a:t>
            </a:r>
          </a:p>
          <a:p>
            <a:pPr marL="342900" indent="-342900"/>
            <a:r>
              <a:rPr lang="en-US" altLang="zh-CN" sz="2000" dirty="0"/>
              <a:t>  </a:t>
            </a:r>
            <a:r>
              <a:rPr lang="en-US" altLang="zh-CN" sz="2000" dirty="0" err="1"/>
              <a:t>printf</a:t>
            </a:r>
            <a:r>
              <a:rPr lang="en-US" altLang="zh-CN" sz="2000" dirty="0"/>
              <a:t> ("the lowest score of the students is %d\n", </a:t>
            </a:r>
          </a:p>
          <a:p>
            <a:pPr marL="342900" indent="-342900"/>
            <a:r>
              <a:rPr lang="en-US" altLang="zh-CN" sz="2000" dirty="0"/>
              <a:t>               </a:t>
            </a:r>
            <a:r>
              <a:rPr lang="en-US" altLang="zh-CN" sz="2000" dirty="0" err="1"/>
              <a:t>minscore</a:t>
            </a:r>
            <a:r>
              <a:rPr lang="en-US" altLang="zh-CN" sz="2000" dirty="0"/>
              <a:t>);</a:t>
            </a:r>
          </a:p>
          <a:p>
            <a:pPr marL="342900" indent="-342900"/>
            <a:r>
              <a:rPr lang="en-US" altLang="zh-CN" sz="2000" dirty="0"/>
              <a:t>  </a:t>
            </a:r>
            <a:r>
              <a:rPr lang="en-US" altLang="zh-CN" sz="2000" dirty="0">
                <a:solidFill>
                  <a:srgbClr val="C00000"/>
                </a:solidFill>
              </a:rPr>
              <a:t>free (</a:t>
            </a:r>
            <a:r>
              <a:rPr lang="en-US" altLang="zh-CN" sz="2000" dirty="0" err="1">
                <a:solidFill>
                  <a:srgbClr val="C00000"/>
                </a:solidFill>
              </a:rPr>
              <a:t>pscore</a:t>
            </a:r>
            <a:r>
              <a:rPr lang="en-US" altLang="zh-CN" sz="2000" dirty="0">
                <a:solidFill>
                  <a:srgbClr val="C00000"/>
                </a:solidFill>
              </a:rPr>
              <a:t>);   </a:t>
            </a:r>
            <a:r>
              <a:rPr lang="en-US" altLang="zh-CN" sz="2000" dirty="0">
                <a:solidFill>
                  <a:schemeClr val="accent2">
                    <a:lumMod val="50000"/>
                  </a:schemeClr>
                </a:solidFill>
                <a:latin typeface="+mn-lt"/>
                <a:ea typeface="楷体" pitchFamily="49" charset="-122"/>
              </a:rPr>
              <a:t>//</a:t>
            </a:r>
            <a:r>
              <a:rPr lang="zh-CN" altLang="en-US" sz="2000" dirty="0">
                <a:solidFill>
                  <a:schemeClr val="accent2">
                    <a:lumMod val="50000"/>
                  </a:schemeClr>
                </a:solidFill>
                <a:latin typeface="+mn-lt"/>
                <a:ea typeface="楷体" pitchFamily="49" charset="-122"/>
              </a:rPr>
              <a:t>释放动态分配的内存</a:t>
            </a:r>
          </a:p>
          <a:p>
            <a:pPr marL="342900" indent="-342900"/>
            <a:r>
              <a:rPr lang="en-US" altLang="zh-CN" sz="2000" dirty="0"/>
              <a:t>  return 0;</a:t>
            </a:r>
          </a:p>
          <a:p>
            <a:pPr marL="342900" indent="-342900"/>
            <a:r>
              <a:rPr lang="en-US" altLang="zh-CN" sz="2000" dirty="0"/>
              <a:t>}</a:t>
            </a:r>
          </a:p>
        </p:txBody>
      </p:sp>
      <p:sp>
        <p:nvSpPr>
          <p:cNvPr id="1187856" name="Text Box 16"/>
          <p:cNvSpPr txBox="1">
            <a:spLocks noChangeArrowheads="1"/>
          </p:cNvSpPr>
          <p:nvPr/>
        </p:nvSpPr>
        <p:spPr bwMode="auto">
          <a:xfrm>
            <a:off x="763245" y="3964627"/>
            <a:ext cx="4628864" cy="2592387"/>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sz="2000" dirty="0">
                <a:solidFill>
                  <a:srgbClr val="C00000"/>
                </a:solidFill>
                <a:latin typeface="隶书" pitchFamily="49" charset="-122"/>
                <a:ea typeface="隶书" pitchFamily="49" charset="-122"/>
              </a:rPr>
              <a:t>运行结果：</a:t>
            </a:r>
          </a:p>
          <a:p>
            <a:pPr marL="342900" indent="-342900" algn="just"/>
            <a:r>
              <a:rPr lang="en-US" altLang="zh-CN" sz="2000" b="0" dirty="0">
                <a:ea typeface="宋体" pitchFamily="2" charset="-122"/>
              </a:rPr>
              <a:t>input the number of student</a:t>
            </a:r>
            <a:r>
              <a:rPr lang="zh-CN" altLang="en-US" sz="2000" b="0" dirty="0">
                <a:ea typeface="宋体" pitchFamily="2" charset="-122"/>
              </a:rPr>
              <a:t>：</a:t>
            </a:r>
            <a:r>
              <a:rPr lang="en-US" altLang="zh-CN" sz="2000" b="0" dirty="0">
                <a:ea typeface="宋体" pitchFamily="2" charset="-122"/>
              </a:rPr>
              <a:t>4</a:t>
            </a:r>
            <a:r>
              <a:rPr lang="en-US" altLang="zh-CN" sz="2000" b="0" dirty="0">
                <a:latin typeface="+mn-ea"/>
                <a:ea typeface="+mn-ea"/>
              </a:rPr>
              <a:t>↙</a:t>
            </a:r>
          </a:p>
          <a:p>
            <a:pPr marL="342900" indent="-342900" algn="just"/>
            <a:r>
              <a:rPr lang="en-US" altLang="zh-CN" sz="2000" b="0" dirty="0">
                <a:ea typeface="宋体" pitchFamily="2" charset="-122"/>
              </a:rPr>
              <a:t>input the scores of students now</a:t>
            </a:r>
            <a:r>
              <a:rPr lang="zh-CN" altLang="en-US" sz="2000" b="0" dirty="0">
                <a:ea typeface="宋体" pitchFamily="2" charset="-122"/>
              </a:rPr>
              <a:t>：</a:t>
            </a:r>
          </a:p>
          <a:p>
            <a:pPr marL="342900" indent="-342900" algn="just"/>
            <a:r>
              <a:rPr lang="en-US" altLang="zh-CN" sz="2000" b="0" dirty="0">
                <a:ea typeface="宋体" pitchFamily="2" charset="-122"/>
              </a:rPr>
              <a:t>45 76  88  94</a:t>
            </a:r>
            <a:r>
              <a:rPr lang="en-US" altLang="zh-CN" sz="2000" b="0" dirty="0">
                <a:latin typeface="+mn-ea"/>
                <a:ea typeface="+mn-ea"/>
              </a:rPr>
              <a:t>↙</a:t>
            </a:r>
          </a:p>
          <a:p>
            <a:pPr marL="342900" indent="-342900" algn="just"/>
            <a:r>
              <a:rPr lang="en-US" altLang="zh-CN" sz="2000" b="0" dirty="0">
                <a:solidFill>
                  <a:srgbClr val="002060"/>
                </a:solidFill>
                <a:ea typeface="宋体" pitchFamily="2" charset="-122"/>
              </a:rPr>
              <a:t>----------------------------------------------</a:t>
            </a:r>
          </a:p>
          <a:p>
            <a:pPr marL="342900" indent="-342900" algn="just"/>
            <a:r>
              <a:rPr lang="en-US" altLang="zh-CN" sz="2000" b="0" dirty="0">
                <a:solidFill>
                  <a:srgbClr val="002060"/>
                </a:solidFill>
                <a:ea typeface="宋体" pitchFamily="2" charset="-122"/>
              </a:rPr>
              <a:t>the average score of the students is 75.8</a:t>
            </a:r>
          </a:p>
          <a:p>
            <a:pPr marL="342900" indent="-342900" algn="just"/>
            <a:r>
              <a:rPr lang="en-US" altLang="zh-CN" sz="2000" b="0" dirty="0">
                <a:solidFill>
                  <a:srgbClr val="002060"/>
                </a:solidFill>
                <a:ea typeface="宋体" pitchFamily="2" charset="-122"/>
              </a:rPr>
              <a:t>the highest score of the students is 94</a:t>
            </a:r>
          </a:p>
          <a:p>
            <a:pPr marL="342900" indent="-342900" algn="just"/>
            <a:r>
              <a:rPr lang="en-US" altLang="zh-CN" sz="2000" b="0" dirty="0">
                <a:solidFill>
                  <a:srgbClr val="002060"/>
                </a:solidFill>
              </a:rPr>
              <a:t>the lowest score of the students is 45</a:t>
            </a:r>
            <a:endParaRPr lang="en-US" altLang="zh-CN" sz="2000" dirty="0">
              <a:solidFill>
                <a:srgbClr val="002060"/>
              </a:solidFill>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500"/>
                                        <p:tgtEl>
                                          <p:spTgt spid="1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87853"/>
                                        </p:tgtEl>
                                        <p:attrNameLst>
                                          <p:attrName>style.visibility</p:attrName>
                                        </p:attrNameLst>
                                      </p:cBhvr>
                                      <p:to>
                                        <p:strVal val="visible"/>
                                      </p:to>
                                    </p:set>
                                    <p:animEffect transition="in" filter="box(out)">
                                      <p:cBhvr>
                                        <p:cTn id="12" dur="500"/>
                                        <p:tgtEl>
                                          <p:spTgt spid="118785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87854"/>
                                        </p:tgtEl>
                                        <p:attrNameLst>
                                          <p:attrName>style.visibility</p:attrName>
                                        </p:attrNameLst>
                                      </p:cBhvr>
                                      <p:to>
                                        <p:strVal val="visible"/>
                                      </p:to>
                                    </p:set>
                                    <p:animEffect transition="in" filter="box(out)">
                                      <p:cBhvr>
                                        <p:cTn id="17" dur="500"/>
                                        <p:tgtEl>
                                          <p:spTgt spid="1187854"/>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87855"/>
                                        </p:tgtEl>
                                        <p:attrNameLst>
                                          <p:attrName>style.visibility</p:attrName>
                                        </p:attrNameLst>
                                      </p:cBhvr>
                                      <p:to>
                                        <p:strVal val="visible"/>
                                      </p:to>
                                    </p:set>
                                    <p:animEffect transition="in" filter="box(out)">
                                      <p:cBhvr>
                                        <p:cTn id="22" dur="500"/>
                                        <p:tgtEl>
                                          <p:spTgt spid="1187855"/>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87856"/>
                                        </p:tgtEl>
                                        <p:attrNameLst>
                                          <p:attrName>style.visibility</p:attrName>
                                        </p:attrNameLst>
                                      </p:cBhvr>
                                      <p:to>
                                        <p:strVal val="visible"/>
                                      </p:to>
                                    </p:set>
                                    <p:animEffect transition="in" filter="box(out)">
                                      <p:cBhvr>
                                        <p:cTn id="27" dur="500"/>
                                        <p:tgtEl>
                                          <p:spTgt spid="1187856"/>
                                        </p:tgtEl>
                                      </p:cBhvr>
                                    </p:animEffect>
                                  </p:childTnLst>
                                  <p:subTnLst>
                                    <p:audio>
                                      <p:cMediaNode>
                                        <p:cTn display="0" masterRel="sameClick">
                                          <p:stCondLst>
                                            <p:cond evt="begin" delay="0">
                                              <p:tn val="2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87853" grpId="0" animBg="1"/>
      <p:bldP spid="1187854" grpId="0" animBg="1"/>
      <p:bldP spid="1187855" grpId="0" animBg="1"/>
      <p:bldP spid="1187856"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8866" name="Rectangle 2"/>
          <p:cNvSpPr>
            <a:spLocks noGrp="1" noChangeArrowheads="1"/>
          </p:cNvSpPr>
          <p:nvPr>
            <p:ph type="body" idx="4294967295"/>
          </p:nvPr>
        </p:nvSpPr>
        <p:spPr>
          <a:xfrm>
            <a:off x="541264" y="861219"/>
            <a:ext cx="8618538" cy="1466850"/>
          </a:xfrm>
        </p:spPr>
        <p:txBody>
          <a:bodyPr/>
          <a:lstStyle/>
          <a:p>
            <a:pPr lvl="1">
              <a:buFont typeface="Wingdings" pitchFamily="2" charset="2"/>
              <a:buChar char="Ø"/>
            </a:pPr>
            <a:r>
              <a:rPr lang="zh-CN" altLang="en-US" sz="2400" dirty="0">
                <a:solidFill>
                  <a:srgbClr val="C00000"/>
                </a:solidFill>
                <a:effectLst/>
                <a:ea typeface="楷体" pitchFamily="49" charset="-122"/>
              </a:rPr>
              <a:t>定义：</a:t>
            </a:r>
            <a:r>
              <a:rPr lang="zh-CN" altLang="en-US" sz="2400" dirty="0">
                <a:effectLst/>
                <a:ea typeface="楷体" pitchFamily="49" charset="-122"/>
              </a:rPr>
              <a:t>指向指针的指针</a:t>
            </a:r>
          </a:p>
          <a:p>
            <a:pPr lvl="1">
              <a:buFont typeface="Wingdings" pitchFamily="2" charset="2"/>
              <a:buChar char="Ø"/>
            </a:pPr>
            <a:r>
              <a:rPr lang="zh-CN" altLang="en-US" sz="2400" dirty="0">
                <a:solidFill>
                  <a:srgbClr val="C00000"/>
                </a:solidFill>
                <a:effectLst/>
                <a:ea typeface="楷体" pitchFamily="49" charset="-122"/>
              </a:rPr>
              <a:t>一级指针：</a:t>
            </a:r>
            <a:r>
              <a:rPr lang="zh-CN" altLang="en-US" sz="2400" dirty="0">
                <a:effectLst/>
                <a:ea typeface="楷体" pitchFamily="49" charset="-122"/>
              </a:rPr>
              <a:t>指针变量中存放目标变量的地址</a:t>
            </a:r>
          </a:p>
        </p:txBody>
      </p:sp>
      <p:grpSp>
        <p:nvGrpSpPr>
          <p:cNvPr id="1188867" name="Group 3"/>
          <p:cNvGrpSpPr>
            <a:grpSpLocks/>
          </p:cNvGrpSpPr>
          <p:nvPr/>
        </p:nvGrpSpPr>
        <p:grpSpPr bwMode="auto">
          <a:xfrm>
            <a:off x="6238802" y="4230688"/>
            <a:ext cx="4140200" cy="857250"/>
            <a:chOff x="2489" y="2149"/>
            <a:chExt cx="2608" cy="540"/>
          </a:xfrm>
        </p:grpSpPr>
        <p:sp>
          <p:nvSpPr>
            <p:cNvPr id="1188868" name="Text Box 4"/>
            <p:cNvSpPr txBox="1">
              <a:spLocks noChangeArrowheads="1"/>
            </p:cNvSpPr>
            <p:nvPr/>
          </p:nvSpPr>
          <p:spPr bwMode="auto">
            <a:xfrm>
              <a:off x="2575" y="2149"/>
              <a:ext cx="28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ea typeface="隶书" pitchFamily="49" charset="-122"/>
                </a:rPr>
                <a:t>p2</a:t>
              </a:r>
            </a:p>
          </p:txBody>
        </p:sp>
        <p:grpSp>
          <p:nvGrpSpPr>
            <p:cNvPr id="1188869" name="Group 5"/>
            <p:cNvGrpSpPr>
              <a:grpSpLocks/>
            </p:cNvGrpSpPr>
            <p:nvPr/>
          </p:nvGrpSpPr>
          <p:grpSpPr bwMode="auto">
            <a:xfrm>
              <a:off x="2489" y="2162"/>
              <a:ext cx="2608" cy="527"/>
              <a:chOff x="1400" y="3528"/>
              <a:chExt cx="2608" cy="527"/>
            </a:xfrm>
          </p:grpSpPr>
          <p:sp>
            <p:nvSpPr>
              <p:cNvPr id="1188870" name="Rectangle 6"/>
              <p:cNvSpPr>
                <a:spLocks noChangeArrowheads="1"/>
              </p:cNvSpPr>
              <p:nvPr/>
            </p:nvSpPr>
            <p:spPr bwMode="auto">
              <a:xfrm>
                <a:off x="1400" y="3766"/>
                <a:ext cx="478" cy="289"/>
              </a:xfrm>
              <a:prstGeom prst="rect">
                <a:avLst/>
              </a:prstGeom>
              <a:gradFill rotWithShape="1">
                <a:gsLst>
                  <a:gs pos="0">
                    <a:srgbClr val="CFCFD1"/>
                  </a:gs>
                  <a:gs pos="100000">
                    <a:schemeClr val="bg1"/>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p:spPr>
            <p:txBody>
              <a:bodyPr wrap="none" anchor="ctr"/>
              <a:lstStyle/>
              <a:p>
                <a:pPr algn="ctr">
                  <a:lnSpc>
                    <a:spcPct val="100000"/>
                  </a:lnSpc>
                  <a:spcBef>
                    <a:spcPct val="0"/>
                  </a:spcBef>
                </a:pPr>
                <a:r>
                  <a:rPr lang="en-US" altLang="zh-CN" sz="2000" dirty="0">
                    <a:ea typeface="宋体" pitchFamily="2" charset="-122"/>
                  </a:rPr>
                  <a:t>&amp;p1</a:t>
                </a:r>
              </a:p>
            </p:txBody>
          </p:sp>
          <p:sp>
            <p:nvSpPr>
              <p:cNvPr id="1188871" name="Rectangle 7"/>
              <p:cNvSpPr>
                <a:spLocks noChangeArrowheads="1"/>
              </p:cNvSpPr>
              <p:nvPr/>
            </p:nvSpPr>
            <p:spPr bwMode="auto">
              <a:xfrm>
                <a:off x="2152" y="3766"/>
                <a:ext cx="478" cy="289"/>
              </a:xfrm>
              <a:prstGeom prst="rect">
                <a:avLst/>
              </a:prstGeom>
              <a:gradFill rotWithShape="1">
                <a:gsLst>
                  <a:gs pos="0">
                    <a:srgbClr val="CFCFD1"/>
                  </a:gs>
                  <a:gs pos="100000">
                    <a:schemeClr val="bg1"/>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p:spPr>
            <p:txBody>
              <a:bodyPr wrap="none" anchor="ctr"/>
              <a:lstStyle/>
              <a:p>
                <a:pPr algn="ctr">
                  <a:lnSpc>
                    <a:spcPct val="100000"/>
                  </a:lnSpc>
                  <a:spcBef>
                    <a:spcPct val="0"/>
                  </a:spcBef>
                </a:pPr>
                <a:r>
                  <a:rPr lang="en-US" altLang="zh-CN" sz="2000">
                    <a:ea typeface="宋体" pitchFamily="2" charset="-122"/>
                  </a:rPr>
                  <a:t>&amp;i</a:t>
                </a:r>
              </a:p>
            </p:txBody>
          </p:sp>
          <p:sp>
            <p:nvSpPr>
              <p:cNvPr id="1188872" name="Rectangle 8"/>
              <p:cNvSpPr>
                <a:spLocks noChangeArrowheads="1"/>
              </p:cNvSpPr>
              <p:nvPr/>
            </p:nvSpPr>
            <p:spPr bwMode="auto">
              <a:xfrm>
                <a:off x="3240" y="3766"/>
                <a:ext cx="478" cy="289"/>
              </a:xfrm>
              <a:prstGeom prst="rect">
                <a:avLst/>
              </a:prstGeom>
              <a:gradFill rotWithShape="1">
                <a:gsLst>
                  <a:gs pos="0">
                    <a:srgbClr val="CFCFD1"/>
                  </a:gs>
                  <a:gs pos="100000">
                    <a:schemeClr val="bg1"/>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p:spPr>
            <p:txBody>
              <a:bodyPr wrap="none" anchor="ctr"/>
              <a:lstStyle/>
              <a:p>
                <a:pPr algn="ctr">
                  <a:lnSpc>
                    <a:spcPct val="100000"/>
                  </a:lnSpc>
                  <a:spcBef>
                    <a:spcPct val="0"/>
                  </a:spcBef>
                </a:pPr>
                <a:r>
                  <a:rPr lang="en-US" altLang="zh-CN" sz="2000" dirty="0">
                    <a:solidFill>
                      <a:schemeClr val="accent2">
                        <a:lumMod val="50000"/>
                      </a:schemeClr>
                    </a:solidFill>
                    <a:ea typeface="宋体" pitchFamily="2" charset="-122"/>
                  </a:rPr>
                  <a:t>3</a:t>
                </a:r>
              </a:p>
            </p:txBody>
          </p:sp>
          <p:sp>
            <p:nvSpPr>
              <p:cNvPr id="1188873" name="Text Box 9"/>
              <p:cNvSpPr txBox="1">
                <a:spLocks noChangeArrowheads="1"/>
              </p:cNvSpPr>
              <p:nvPr/>
            </p:nvSpPr>
            <p:spPr bwMode="auto">
              <a:xfrm>
                <a:off x="1985" y="3539"/>
                <a:ext cx="103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ea typeface="隶书" pitchFamily="49" charset="-122"/>
                  </a:rPr>
                  <a:t>p1(</a:t>
                </a:r>
                <a:r>
                  <a:rPr lang="zh-CN" altLang="zh-CN" sz="2000" dirty="0">
                    <a:ea typeface="隶书" pitchFamily="49" charset="-122"/>
                  </a:rPr>
                  <a:t>指针变量)</a:t>
                </a:r>
                <a:endParaRPr lang="en-US" altLang="zh-CN" sz="2000" dirty="0">
                  <a:ea typeface="隶书" pitchFamily="49" charset="-122"/>
                </a:endParaRPr>
              </a:p>
            </p:txBody>
          </p:sp>
          <p:sp>
            <p:nvSpPr>
              <p:cNvPr id="1188874" name="Text Box 10"/>
              <p:cNvSpPr txBox="1">
                <a:spLocks noChangeArrowheads="1"/>
              </p:cNvSpPr>
              <p:nvPr/>
            </p:nvSpPr>
            <p:spPr bwMode="auto">
              <a:xfrm>
                <a:off x="3098" y="3528"/>
                <a:ext cx="91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隶书" pitchFamily="49" charset="-122"/>
                  </a:rPr>
                  <a:t>i(</a:t>
                </a:r>
                <a:r>
                  <a:rPr lang="zh-CN" altLang="zh-CN" sz="2000">
                    <a:ea typeface="隶书" pitchFamily="49" charset="-122"/>
                  </a:rPr>
                  <a:t>整型变量</a:t>
                </a:r>
                <a:r>
                  <a:rPr lang="en-US" altLang="zh-CN" sz="2000">
                    <a:ea typeface="隶书" pitchFamily="49" charset="-122"/>
                  </a:rPr>
                  <a:t>)</a:t>
                </a:r>
              </a:p>
            </p:txBody>
          </p:sp>
          <p:sp>
            <p:nvSpPr>
              <p:cNvPr id="1188875" name="Line 11"/>
              <p:cNvSpPr>
                <a:spLocks noChangeShapeType="1"/>
              </p:cNvSpPr>
              <p:nvPr/>
            </p:nvSpPr>
            <p:spPr bwMode="auto">
              <a:xfrm>
                <a:off x="1878" y="3911"/>
                <a:ext cx="278"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88876" name="Line 12"/>
              <p:cNvSpPr>
                <a:spLocks noChangeShapeType="1"/>
              </p:cNvSpPr>
              <p:nvPr/>
            </p:nvSpPr>
            <p:spPr bwMode="auto">
              <a:xfrm>
                <a:off x="2634" y="3922"/>
                <a:ext cx="589"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wrap="none" anchor="ctr"/>
              <a:lstStyle/>
              <a:p>
                <a:endParaRPr lang="zh-CN" altLang="en-US"/>
              </a:p>
            </p:txBody>
          </p:sp>
        </p:grpSp>
      </p:grpSp>
      <p:sp>
        <p:nvSpPr>
          <p:cNvPr id="1188877" name="Text Box 13" descr="信纸"/>
          <p:cNvSpPr txBox="1">
            <a:spLocks noChangeArrowheads="1"/>
          </p:cNvSpPr>
          <p:nvPr/>
        </p:nvSpPr>
        <p:spPr bwMode="auto">
          <a:xfrm>
            <a:off x="1464722" y="4157663"/>
            <a:ext cx="3542832" cy="2308324"/>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C00000"/>
                </a:solidFill>
                <a:ea typeface="隶书" pitchFamily="49" charset="-122"/>
              </a:rPr>
              <a:t>例</a:t>
            </a:r>
            <a:r>
              <a:rPr lang="zh-CN" altLang="en-US" dirty="0">
                <a:solidFill>
                  <a:srgbClr val="C00000"/>
                </a:solidFill>
                <a:ea typeface="宋体" pitchFamily="2" charset="-122"/>
              </a:rPr>
              <a:t> </a:t>
            </a:r>
            <a:r>
              <a:rPr lang="zh-CN" altLang="en-US" dirty="0">
                <a:ea typeface="宋体" pitchFamily="2" charset="-122"/>
              </a:rPr>
              <a:t> </a:t>
            </a:r>
            <a:r>
              <a:rPr lang="en-US" altLang="zh-CN" dirty="0" err="1">
                <a:ea typeface="宋体" pitchFamily="2" charset="-122"/>
              </a:rPr>
              <a:t>int</a:t>
            </a:r>
            <a:r>
              <a:rPr lang="en-US" altLang="zh-CN" dirty="0">
                <a:ea typeface="宋体" pitchFamily="2" charset="-122"/>
              </a:rPr>
              <a:t>  </a:t>
            </a:r>
            <a:r>
              <a:rPr lang="en-US" altLang="zh-CN" dirty="0">
                <a:solidFill>
                  <a:srgbClr val="0000FF"/>
                </a:solidFill>
                <a:ea typeface="宋体" pitchFamily="2" charset="-122"/>
              </a:rPr>
              <a:t> </a:t>
            </a:r>
            <a:r>
              <a:rPr lang="en-US" altLang="zh-CN" dirty="0">
                <a:ea typeface="宋体" pitchFamily="2" charset="-122"/>
              </a:rPr>
              <a:t>*p1; </a:t>
            </a:r>
          </a:p>
          <a:p>
            <a:pPr eaLnBrk="0" hangingPunct="0">
              <a:lnSpc>
                <a:spcPct val="100000"/>
              </a:lnSpc>
              <a:spcBef>
                <a:spcPct val="0"/>
              </a:spcBef>
            </a:pPr>
            <a:r>
              <a:rPr lang="en-US" altLang="zh-CN" dirty="0">
                <a:solidFill>
                  <a:srgbClr val="C00000"/>
                </a:solidFill>
                <a:ea typeface="宋体" pitchFamily="2" charset="-122"/>
              </a:rPr>
              <a:t>      </a:t>
            </a:r>
            <a:r>
              <a:rPr lang="en-US" altLang="zh-CN" dirty="0" err="1">
                <a:solidFill>
                  <a:srgbClr val="C00000"/>
                </a:solidFill>
                <a:ea typeface="宋体" pitchFamily="2" charset="-122"/>
                <a:sym typeface="Symbol" pitchFamily="18" charset="2"/>
              </a:rPr>
              <a:t>int</a:t>
            </a:r>
            <a:r>
              <a:rPr lang="en-US" altLang="zh-CN" dirty="0">
                <a:solidFill>
                  <a:srgbClr val="C00000"/>
                </a:solidFill>
                <a:ea typeface="宋体" pitchFamily="2" charset="-122"/>
                <a:sym typeface="Symbol" pitchFamily="18" charset="2"/>
              </a:rPr>
              <a:t> </a:t>
            </a:r>
            <a:r>
              <a:rPr lang="en-US" altLang="zh-CN" dirty="0">
                <a:solidFill>
                  <a:srgbClr val="C00000"/>
                </a:solidFill>
                <a:ea typeface="宋体" pitchFamily="2" charset="-122"/>
              </a:rPr>
              <a:t>**</a:t>
            </a:r>
            <a:r>
              <a:rPr lang="en-US" altLang="zh-CN" dirty="0">
                <a:solidFill>
                  <a:srgbClr val="C00000"/>
                </a:solidFill>
                <a:ea typeface="宋体" pitchFamily="2" charset="-122"/>
                <a:sym typeface="Symbol" pitchFamily="18" charset="2"/>
              </a:rPr>
              <a:t>p2;</a:t>
            </a:r>
          </a:p>
          <a:p>
            <a:pPr eaLnBrk="0" hangingPunct="0">
              <a:lnSpc>
                <a:spcPct val="100000"/>
              </a:lnSpc>
              <a:spcBef>
                <a:spcPct val="0"/>
              </a:spcBef>
            </a:pPr>
            <a:r>
              <a:rPr lang="en-US" altLang="zh-CN" dirty="0">
                <a:ea typeface="宋体" pitchFamily="2" charset="-122"/>
                <a:sym typeface="Symbol" pitchFamily="18" charset="2"/>
              </a:rPr>
              <a:t>      </a:t>
            </a:r>
            <a:r>
              <a:rPr lang="en-US" altLang="zh-CN" dirty="0" err="1">
                <a:ea typeface="宋体" pitchFamily="2" charset="-122"/>
                <a:sym typeface="Symbol" pitchFamily="18" charset="2"/>
              </a:rPr>
              <a:t>int</a:t>
            </a:r>
            <a:r>
              <a:rPr lang="en-US" altLang="zh-CN" dirty="0">
                <a:ea typeface="宋体" pitchFamily="2" charset="-122"/>
                <a:sym typeface="Symbol" pitchFamily="18" charset="2"/>
              </a:rPr>
              <a:t>  </a:t>
            </a:r>
            <a:r>
              <a:rPr lang="en-US" altLang="zh-CN" dirty="0" err="1">
                <a:ea typeface="宋体" pitchFamily="2" charset="-122"/>
                <a:sym typeface="Symbol" pitchFamily="18" charset="2"/>
              </a:rPr>
              <a:t>i</a:t>
            </a:r>
            <a:r>
              <a:rPr lang="en-US" altLang="zh-CN" dirty="0">
                <a:ea typeface="宋体" pitchFamily="2" charset="-122"/>
                <a:sym typeface="Symbol" pitchFamily="18" charset="2"/>
              </a:rPr>
              <a:t> = 3;</a:t>
            </a:r>
          </a:p>
          <a:p>
            <a:pPr eaLnBrk="0" hangingPunct="0">
              <a:lnSpc>
                <a:spcPct val="100000"/>
              </a:lnSpc>
              <a:spcBef>
                <a:spcPct val="0"/>
              </a:spcBef>
            </a:pPr>
            <a:r>
              <a:rPr lang="en-US" altLang="zh-CN" dirty="0">
                <a:ea typeface="宋体" pitchFamily="2" charset="-122"/>
                <a:sym typeface="Symbol" pitchFamily="18" charset="2"/>
              </a:rPr>
              <a:t>      p1 = &amp;</a:t>
            </a:r>
            <a:r>
              <a:rPr lang="en-US" altLang="zh-CN" dirty="0" err="1">
                <a:ea typeface="宋体" pitchFamily="2" charset="-122"/>
                <a:sym typeface="Symbol" pitchFamily="18" charset="2"/>
              </a:rPr>
              <a:t>i</a:t>
            </a:r>
            <a:r>
              <a:rPr lang="en-US" altLang="zh-CN" dirty="0">
                <a:ea typeface="宋体" pitchFamily="2" charset="-122"/>
                <a:sym typeface="Symbol" pitchFamily="18" charset="2"/>
              </a:rPr>
              <a:t>;</a:t>
            </a:r>
          </a:p>
          <a:p>
            <a:pPr eaLnBrk="0" hangingPunct="0">
              <a:lnSpc>
                <a:spcPct val="100000"/>
              </a:lnSpc>
              <a:spcBef>
                <a:spcPct val="0"/>
              </a:spcBef>
            </a:pPr>
            <a:r>
              <a:rPr lang="en-US" altLang="zh-CN" dirty="0">
                <a:ea typeface="宋体" pitchFamily="2" charset="-122"/>
                <a:sym typeface="Symbol" pitchFamily="18" charset="2"/>
              </a:rPr>
              <a:t>      p2 = &amp;p1;</a:t>
            </a:r>
          </a:p>
          <a:p>
            <a:pPr eaLnBrk="0" hangingPunct="0">
              <a:lnSpc>
                <a:spcPct val="100000"/>
              </a:lnSpc>
              <a:spcBef>
                <a:spcPct val="0"/>
              </a:spcBef>
            </a:pPr>
            <a:r>
              <a:rPr lang="en-US" altLang="zh-CN" dirty="0">
                <a:ea typeface="宋体" pitchFamily="2" charset="-122"/>
                <a:sym typeface="Symbol" pitchFamily="18" charset="2"/>
              </a:rPr>
              <a:t>       **p2 = 5;</a:t>
            </a:r>
            <a:endParaRPr lang="en-US" altLang="zh-CN" dirty="0">
              <a:ea typeface="宋体" pitchFamily="2" charset="-122"/>
            </a:endParaRPr>
          </a:p>
        </p:txBody>
      </p:sp>
      <p:sp>
        <p:nvSpPr>
          <p:cNvPr id="1188878" name="Rectangle 14"/>
          <p:cNvSpPr>
            <a:spLocks noChangeArrowheads="1"/>
          </p:cNvSpPr>
          <p:nvPr/>
        </p:nvSpPr>
        <p:spPr bwMode="auto">
          <a:xfrm>
            <a:off x="107906" y="3541713"/>
            <a:ext cx="8618537" cy="552450"/>
          </a:xfrm>
          <a:prstGeom prst="rect">
            <a:avLst/>
          </a:prstGeom>
          <a:noFill/>
          <a:ln w="9525">
            <a:noFill/>
            <a:miter lim="800000"/>
            <a:headEnd/>
            <a:tailEnd/>
          </a:ln>
          <a:effectLst/>
        </p:spPr>
        <p:txBody>
          <a:bodyPr/>
          <a:lstStyle/>
          <a:p>
            <a:pPr marL="1143000" lvl="2" indent="-228600">
              <a:lnSpc>
                <a:spcPct val="100000"/>
              </a:lnSpc>
              <a:buFont typeface="Wingdings" pitchFamily="2" charset="2"/>
              <a:buChar char="Ø"/>
            </a:pPr>
            <a:r>
              <a:rPr lang="zh-CN" altLang="en-US" dirty="0">
                <a:solidFill>
                  <a:srgbClr val="C00000"/>
                </a:solidFill>
                <a:latin typeface="+mn-lt"/>
                <a:ea typeface="楷体" pitchFamily="49" charset="-122"/>
              </a:rPr>
              <a:t>二级指针：</a:t>
            </a:r>
            <a:r>
              <a:rPr lang="zh-CN" altLang="en-US" dirty="0">
                <a:latin typeface="+mn-lt"/>
                <a:ea typeface="楷体" pitchFamily="49" charset="-122"/>
              </a:rPr>
              <a:t>指针变量中存放一级指针变量的地址</a:t>
            </a:r>
          </a:p>
        </p:txBody>
      </p:sp>
      <p:sp>
        <p:nvSpPr>
          <p:cNvPr id="1188879" name="Text Box 15" descr="信纸"/>
          <p:cNvSpPr txBox="1">
            <a:spLocks noChangeArrowheads="1"/>
          </p:cNvSpPr>
          <p:nvPr/>
        </p:nvSpPr>
        <p:spPr bwMode="auto">
          <a:xfrm>
            <a:off x="1467569" y="1773239"/>
            <a:ext cx="3539985"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C00000"/>
                </a:solidFill>
                <a:ea typeface="隶书" pitchFamily="49" charset="-122"/>
              </a:rPr>
              <a:t>例</a:t>
            </a:r>
            <a:r>
              <a:rPr lang="zh-CN" altLang="en-US" dirty="0">
                <a:solidFill>
                  <a:srgbClr val="C00000"/>
                </a:solidFill>
                <a:ea typeface="宋体" pitchFamily="2" charset="-122"/>
              </a:rPr>
              <a:t> </a:t>
            </a:r>
            <a:r>
              <a:rPr lang="zh-CN" altLang="en-US" dirty="0">
                <a:ea typeface="宋体" pitchFamily="2" charset="-122"/>
              </a:rPr>
              <a:t> </a:t>
            </a:r>
            <a:r>
              <a:rPr lang="en-US" altLang="zh-CN" dirty="0">
                <a:ea typeface="宋体" pitchFamily="2" charset="-122"/>
              </a:rPr>
              <a:t>int   *p; </a:t>
            </a:r>
          </a:p>
          <a:p>
            <a:pPr eaLnBrk="0" hangingPunct="0">
              <a:lnSpc>
                <a:spcPct val="100000"/>
              </a:lnSpc>
              <a:spcBef>
                <a:spcPct val="0"/>
              </a:spcBef>
            </a:pPr>
            <a:r>
              <a:rPr lang="en-US" altLang="zh-CN" dirty="0">
                <a:ea typeface="宋体" pitchFamily="2" charset="-122"/>
              </a:rPr>
              <a:t>      </a:t>
            </a:r>
            <a:r>
              <a:rPr lang="en-US" altLang="zh-CN" dirty="0">
                <a:ea typeface="宋体" pitchFamily="2" charset="-122"/>
                <a:sym typeface="Symbol" pitchFamily="18" charset="2"/>
              </a:rPr>
              <a:t>int  </a:t>
            </a:r>
            <a:r>
              <a:rPr lang="en-US" altLang="zh-CN" dirty="0" err="1">
                <a:ea typeface="宋体" pitchFamily="2" charset="-122"/>
                <a:sym typeface="Symbol" pitchFamily="18" charset="2"/>
              </a:rPr>
              <a:t>i</a:t>
            </a:r>
            <a:r>
              <a:rPr lang="en-US" altLang="zh-CN" dirty="0">
                <a:ea typeface="宋体" pitchFamily="2" charset="-122"/>
                <a:sym typeface="Symbol" pitchFamily="18" charset="2"/>
              </a:rPr>
              <a:t> = 3;</a:t>
            </a:r>
          </a:p>
          <a:p>
            <a:pPr eaLnBrk="0" hangingPunct="0">
              <a:lnSpc>
                <a:spcPct val="100000"/>
              </a:lnSpc>
              <a:spcBef>
                <a:spcPct val="0"/>
              </a:spcBef>
            </a:pPr>
            <a:r>
              <a:rPr lang="en-US" altLang="zh-CN" dirty="0">
                <a:ea typeface="宋体" pitchFamily="2" charset="-122"/>
                <a:sym typeface="Symbol" pitchFamily="18" charset="2"/>
              </a:rPr>
              <a:t>      p = &amp;</a:t>
            </a:r>
            <a:r>
              <a:rPr lang="en-US" altLang="zh-CN" dirty="0" err="1">
                <a:ea typeface="宋体" pitchFamily="2" charset="-122"/>
                <a:sym typeface="Symbol" pitchFamily="18" charset="2"/>
              </a:rPr>
              <a:t>i</a:t>
            </a:r>
            <a:r>
              <a:rPr lang="en-US" altLang="zh-CN" dirty="0">
                <a:ea typeface="宋体" pitchFamily="2" charset="-122"/>
                <a:sym typeface="Symbol" pitchFamily="18" charset="2"/>
              </a:rPr>
              <a:t>;</a:t>
            </a:r>
          </a:p>
          <a:p>
            <a:pPr eaLnBrk="0" hangingPunct="0">
              <a:lnSpc>
                <a:spcPct val="100000"/>
              </a:lnSpc>
              <a:spcBef>
                <a:spcPct val="0"/>
              </a:spcBef>
            </a:pPr>
            <a:r>
              <a:rPr lang="en-US" altLang="zh-CN" dirty="0">
                <a:ea typeface="宋体" pitchFamily="2" charset="-122"/>
                <a:sym typeface="Symbol" pitchFamily="18" charset="2"/>
              </a:rPr>
              <a:t>      *p = 5;</a:t>
            </a:r>
            <a:endParaRPr lang="en-US" altLang="zh-CN" dirty="0">
              <a:ea typeface="宋体" pitchFamily="2" charset="-122"/>
            </a:endParaRPr>
          </a:p>
        </p:txBody>
      </p:sp>
      <p:grpSp>
        <p:nvGrpSpPr>
          <p:cNvPr id="1188880" name="Group 16"/>
          <p:cNvGrpSpPr>
            <a:grpSpLocks/>
          </p:cNvGrpSpPr>
          <p:nvPr/>
        </p:nvGrpSpPr>
        <p:grpSpPr bwMode="auto">
          <a:xfrm>
            <a:off x="5975929" y="1808163"/>
            <a:ext cx="3211513" cy="836612"/>
            <a:chOff x="3146" y="1334"/>
            <a:chExt cx="2023" cy="527"/>
          </a:xfrm>
        </p:grpSpPr>
        <p:sp>
          <p:nvSpPr>
            <p:cNvPr id="1188881" name="Rectangle 17"/>
            <p:cNvSpPr>
              <a:spLocks noChangeArrowheads="1"/>
            </p:cNvSpPr>
            <p:nvPr/>
          </p:nvSpPr>
          <p:spPr bwMode="auto">
            <a:xfrm>
              <a:off x="3313" y="1572"/>
              <a:ext cx="478" cy="289"/>
            </a:xfrm>
            <a:prstGeom prst="rect">
              <a:avLst/>
            </a:prstGeom>
            <a:gradFill rotWithShape="1">
              <a:gsLst>
                <a:gs pos="0">
                  <a:srgbClr val="CFCFD1"/>
                </a:gs>
                <a:gs pos="100000">
                  <a:schemeClr val="bg1"/>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p:spPr>
          <p:txBody>
            <a:bodyPr wrap="none" anchor="ctr"/>
            <a:lstStyle/>
            <a:p>
              <a:pPr algn="ctr">
                <a:lnSpc>
                  <a:spcPct val="100000"/>
                </a:lnSpc>
                <a:spcBef>
                  <a:spcPct val="0"/>
                </a:spcBef>
              </a:pPr>
              <a:r>
                <a:rPr lang="en-US" altLang="zh-CN" sz="2000">
                  <a:ea typeface="宋体" pitchFamily="2" charset="-122"/>
                </a:rPr>
                <a:t>&amp;i</a:t>
              </a:r>
            </a:p>
          </p:txBody>
        </p:sp>
        <p:sp>
          <p:nvSpPr>
            <p:cNvPr id="1188882" name="Rectangle 18"/>
            <p:cNvSpPr>
              <a:spLocks noChangeArrowheads="1"/>
            </p:cNvSpPr>
            <p:nvPr/>
          </p:nvSpPr>
          <p:spPr bwMode="auto">
            <a:xfrm>
              <a:off x="4401" y="1572"/>
              <a:ext cx="478" cy="289"/>
            </a:xfrm>
            <a:prstGeom prst="rect">
              <a:avLst/>
            </a:prstGeom>
            <a:gradFill rotWithShape="1">
              <a:gsLst>
                <a:gs pos="0">
                  <a:srgbClr val="CFCFD1"/>
                </a:gs>
                <a:gs pos="100000">
                  <a:schemeClr val="bg1"/>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p:spPr>
          <p:txBody>
            <a:bodyPr wrap="none" anchor="ctr"/>
            <a:lstStyle/>
            <a:p>
              <a:pPr algn="ctr">
                <a:lnSpc>
                  <a:spcPct val="100000"/>
                </a:lnSpc>
                <a:spcBef>
                  <a:spcPct val="0"/>
                </a:spcBef>
              </a:pPr>
              <a:r>
                <a:rPr lang="en-US" altLang="zh-CN" sz="2000">
                  <a:solidFill>
                    <a:schemeClr val="accent2">
                      <a:lumMod val="50000"/>
                    </a:schemeClr>
                  </a:solidFill>
                  <a:ea typeface="宋体" pitchFamily="2" charset="-122"/>
                </a:rPr>
                <a:t>3</a:t>
              </a:r>
            </a:p>
          </p:txBody>
        </p:sp>
        <p:sp>
          <p:nvSpPr>
            <p:cNvPr id="1188883" name="Text Box 19"/>
            <p:cNvSpPr txBox="1">
              <a:spLocks noChangeArrowheads="1"/>
            </p:cNvSpPr>
            <p:nvPr/>
          </p:nvSpPr>
          <p:spPr bwMode="auto">
            <a:xfrm>
              <a:off x="3146" y="1345"/>
              <a:ext cx="95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隶书" pitchFamily="49" charset="-122"/>
                </a:rPr>
                <a:t>p(</a:t>
              </a:r>
              <a:r>
                <a:rPr lang="zh-CN" altLang="zh-CN" sz="2000">
                  <a:ea typeface="隶书" pitchFamily="49" charset="-122"/>
                </a:rPr>
                <a:t>指针变量)</a:t>
              </a:r>
              <a:endParaRPr lang="en-US" altLang="zh-CN" sz="2000">
                <a:ea typeface="隶书" pitchFamily="49" charset="-122"/>
              </a:endParaRPr>
            </a:p>
          </p:txBody>
        </p:sp>
        <p:sp>
          <p:nvSpPr>
            <p:cNvPr id="1188884" name="Text Box 20"/>
            <p:cNvSpPr txBox="1">
              <a:spLocks noChangeArrowheads="1"/>
            </p:cNvSpPr>
            <p:nvPr/>
          </p:nvSpPr>
          <p:spPr bwMode="auto">
            <a:xfrm>
              <a:off x="4259" y="1334"/>
              <a:ext cx="91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a typeface="隶书" pitchFamily="49" charset="-122"/>
                </a:rPr>
                <a:t>i(</a:t>
              </a:r>
              <a:r>
                <a:rPr lang="zh-CN" altLang="zh-CN" sz="2000">
                  <a:ea typeface="隶书" pitchFamily="49" charset="-122"/>
                </a:rPr>
                <a:t>整型变量</a:t>
              </a:r>
              <a:r>
                <a:rPr lang="en-US" altLang="zh-CN" sz="2000">
                  <a:ea typeface="隶书" pitchFamily="49" charset="-122"/>
                </a:rPr>
                <a:t>)</a:t>
              </a:r>
            </a:p>
          </p:txBody>
        </p:sp>
        <p:sp>
          <p:nvSpPr>
            <p:cNvPr id="1188885" name="Line 21"/>
            <p:cNvSpPr>
              <a:spLocks noChangeShapeType="1"/>
            </p:cNvSpPr>
            <p:nvPr/>
          </p:nvSpPr>
          <p:spPr bwMode="auto">
            <a:xfrm>
              <a:off x="3795" y="1728"/>
              <a:ext cx="589"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wrap="none" anchor="ctr"/>
            <a:lstStyle/>
            <a:p>
              <a:endParaRPr lang="zh-CN" altLang="en-US"/>
            </a:p>
          </p:txBody>
        </p:sp>
      </p:grpSp>
      <p:sp>
        <p:nvSpPr>
          <p:cNvPr id="1188886" name="Rectangle 22"/>
          <p:cNvSpPr>
            <a:spLocks noChangeArrowheads="1"/>
          </p:cNvSpPr>
          <p:nvPr/>
        </p:nvSpPr>
        <p:spPr bwMode="auto">
          <a:xfrm>
            <a:off x="6086463" y="2821456"/>
            <a:ext cx="1207680" cy="402291"/>
          </a:xfrm>
          <a:prstGeom prst="rect">
            <a:avLst/>
          </a:prstGeom>
          <a:gradFill rotWithShape="1">
            <a:gsLst>
              <a:gs pos="0">
                <a:srgbClr val="CFCFD1"/>
              </a:gs>
              <a:gs pos="100000">
                <a:srgbClr val="FFFFFF"/>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b="0">
                <a:solidFill>
                  <a:srgbClr val="C00000"/>
                </a:solidFill>
                <a:ea typeface="隶书" pitchFamily="49" charset="-122"/>
              </a:rPr>
              <a:t>一级指针</a:t>
            </a:r>
          </a:p>
        </p:txBody>
      </p:sp>
      <p:sp>
        <p:nvSpPr>
          <p:cNvPr id="1188887" name="AutoShape 23"/>
          <p:cNvSpPr>
            <a:spLocks/>
          </p:cNvSpPr>
          <p:nvPr/>
        </p:nvSpPr>
        <p:spPr bwMode="auto">
          <a:xfrm>
            <a:off x="8038149" y="2826218"/>
            <a:ext cx="1730259" cy="402291"/>
          </a:xfrm>
          <a:prstGeom prst="borderCallout1">
            <a:avLst>
              <a:gd name="adj1" fmla="val 26278"/>
              <a:gd name="adj2" fmla="val -4347"/>
              <a:gd name="adj3" fmla="val -83579"/>
              <a:gd name="adj4" fmla="val -41032"/>
            </a:avLst>
          </a:prstGeom>
          <a:gradFill rotWithShape="1">
            <a:gsLst>
              <a:gs pos="0">
                <a:srgbClr val="CFCFD1"/>
              </a:gs>
              <a:gs pos="100000">
                <a:srgbClr val="FFFFFF"/>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p:spPr>
        <p:txBody>
          <a:bodyPr wrap="none" lIns="90000" tIns="46800" rIns="90000" bIns="46800" anchor="ctr">
            <a:spAutoFit/>
          </a:bodyPr>
          <a:lstStyle/>
          <a:p>
            <a:pPr algn="ctr">
              <a:lnSpc>
                <a:spcPct val="100000"/>
              </a:lnSpc>
              <a:spcBef>
                <a:spcPct val="0"/>
              </a:spcBef>
            </a:pPr>
            <a:r>
              <a:rPr lang="zh-CN" altLang="en-US" sz="2000">
                <a:solidFill>
                  <a:srgbClr val="C00000"/>
                </a:solidFill>
                <a:ea typeface="隶书" pitchFamily="49" charset="-122"/>
              </a:rPr>
              <a:t>单级间接寻址</a:t>
            </a:r>
          </a:p>
        </p:txBody>
      </p:sp>
      <p:sp>
        <p:nvSpPr>
          <p:cNvPr id="1188888" name="Rectangle 24"/>
          <p:cNvSpPr>
            <a:spLocks noChangeArrowheads="1"/>
          </p:cNvSpPr>
          <p:nvPr/>
        </p:nvSpPr>
        <p:spPr bwMode="auto">
          <a:xfrm>
            <a:off x="5807968" y="5340818"/>
            <a:ext cx="1214092" cy="402291"/>
          </a:xfrm>
          <a:prstGeom prst="rect">
            <a:avLst/>
          </a:prstGeom>
          <a:gradFill rotWithShape="1">
            <a:gsLst>
              <a:gs pos="0">
                <a:srgbClr val="CFCFD1"/>
              </a:gs>
              <a:gs pos="100000">
                <a:srgbClr val="FFFFFF"/>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00000"/>
                </a:solidFill>
                <a:ea typeface="隶书" pitchFamily="49" charset="-122"/>
              </a:rPr>
              <a:t>二级指针</a:t>
            </a:r>
          </a:p>
        </p:txBody>
      </p:sp>
      <p:sp>
        <p:nvSpPr>
          <p:cNvPr id="1188889" name="Rectangle 25"/>
          <p:cNvSpPr>
            <a:spLocks noChangeArrowheads="1"/>
          </p:cNvSpPr>
          <p:nvPr/>
        </p:nvSpPr>
        <p:spPr bwMode="auto">
          <a:xfrm>
            <a:off x="7417693" y="5340818"/>
            <a:ext cx="1214092" cy="402291"/>
          </a:xfrm>
          <a:prstGeom prst="rect">
            <a:avLst/>
          </a:prstGeom>
          <a:gradFill rotWithShape="1">
            <a:gsLst>
              <a:gs pos="0">
                <a:srgbClr val="CFCFD1"/>
              </a:gs>
              <a:gs pos="100000">
                <a:srgbClr val="FFFFFF"/>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00000"/>
                </a:solidFill>
                <a:ea typeface="隶书" pitchFamily="49" charset="-122"/>
              </a:rPr>
              <a:t>一级指针</a:t>
            </a:r>
          </a:p>
        </p:txBody>
      </p:sp>
      <p:sp>
        <p:nvSpPr>
          <p:cNvPr id="1188890" name="Rectangle 26"/>
          <p:cNvSpPr>
            <a:spLocks noChangeArrowheads="1"/>
          </p:cNvSpPr>
          <p:nvPr/>
        </p:nvSpPr>
        <p:spPr bwMode="auto">
          <a:xfrm>
            <a:off x="9054405" y="5340818"/>
            <a:ext cx="1214092" cy="402291"/>
          </a:xfrm>
          <a:prstGeom prst="rect">
            <a:avLst/>
          </a:prstGeom>
          <a:gradFill rotWithShape="1">
            <a:gsLst>
              <a:gs pos="0">
                <a:srgbClr val="CFCFD1"/>
              </a:gs>
              <a:gs pos="100000">
                <a:srgbClr val="FFFFFF"/>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00000"/>
                </a:solidFill>
                <a:ea typeface="隶书" pitchFamily="49" charset="-122"/>
              </a:rPr>
              <a:t>目标变量</a:t>
            </a:r>
          </a:p>
        </p:txBody>
      </p:sp>
      <p:sp>
        <p:nvSpPr>
          <p:cNvPr id="1188891" name="AutoShape 27"/>
          <p:cNvSpPr>
            <a:spLocks/>
          </p:cNvSpPr>
          <p:nvPr/>
        </p:nvSpPr>
        <p:spPr bwMode="auto">
          <a:xfrm>
            <a:off x="5809329" y="6140918"/>
            <a:ext cx="1730259" cy="402291"/>
          </a:xfrm>
          <a:prstGeom prst="borderCallout1">
            <a:avLst>
              <a:gd name="adj1" fmla="val 23079"/>
              <a:gd name="adj2" fmla="val -3722"/>
              <a:gd name="adj3" fmla="val 26196"/>
              <a:gd name="adj4" fmla="val -139121"/>
            </a:avLst>
          </a:prstGeom>
          <a:gradFill flip="none" rotWithShape="1">
            <a:gsLst>
              <a:gs pos="0">
                <a:srgbClr val="CFCFD1"/>
              </a:gs>
              <a:gs pos="100000">
                <a:srgbClr val="FFFFFF"/>
              </a:gs>
            </a:gsLst>
            <a:path path="circle">
              <a:fillToRect l="100000" t="100000"/>
            </a:path>
            <a:tileRect r="-100000" b="-100000"/>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p:spPr>
        <p:txBody>
          <a:bodyPr wrap="none" lIns="90000" tIns="46800" rIns="90000" bIns="46800" anchor="ctr">
            <a:spAutoFit/>
          </a:bodyPr>
          <a:lstStyle/>
          <a:p>
            <a:pPr algn="ctr">
              <a:lnSpc>
                <a:spcPct val="100000"/>
              </a:lnSpc>
              <a:spcBef>
                <a:spcPct val="0"/>
              </a:spcBef>
            </a:pPr>
            <a:r>
              <a:rPr lang="zh-CN" altLang="en-US" sz="2000" dirty="0">
                <a:solidFill>
                  <a:srgbClr val="C00000"/>
                </a:solidFill>
                <a:ea typeface="隶书" pitchFamily="49" charset="-122"/>
              </a:rPr>
              <a:t>二级间接寻址</a:t>
            </a:r>
          </a:p>
        </p:txBody>
      </p:sp>
      <p:sp>
        <p:nvSpPr>
          <p:cNvPr id="31" name="Rectangle 4">
            <a:extLst>
              <a:ext uri="{FF2B5EF4-FFF2-40B4-BE49-F238E27FC236}">
                <a16:creationId xmlns:a16="http://schemas.microsoft.com/office/drawing/2014/main" id="{1B185111-4F83-4257-841C-713D9A2F9264}"/>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9.7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多级指针</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8866">
                                            <p:txEl>
                                              <p:pRg st="0" end="0"/>
                                            </p:txEl>
                                          </p:spTgt>
                                        </p:tgtEl>
                                        <p:attrNameLst>
                                          <p:attrName>style.visibility</p:attrName>
                                        </p:attrNameLst>
                                      </p:cBhvr>
                                      <p:to>
                                        <p:strVal val="visible"/>
                                      </p:to>
                                    </p:set>
                                    <p:anim calcmode="lin" valueType="num">
                                      <p:cBhvr additive="base">
                                        <p:cTn id="7" dur="500" fill="hold"/>
                                        <p:tgtEl>
                                          <p:spTgt spid="11888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8886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88866">
                                            <p:txEl>
                                              <p:pRg st="1" end="1"/>
                                            </p:txEl>
                                          </p:spTgt>
                                        </p:tgtEl>
                                        <p:attrNameLst>
                                          <p:attrName>style.visibility</p:attrName>
                                        </p:attrNameLst>
                                      </p:cBhvr>
                                      <p:to>
                                        <p:strVal val="visible"/>
                                      </p:to>
                                    </p:set>
                                    <p:anim calcmode="lin" valueType="num">
                                      <p:cBhvr additive="base">
                                        <p:cTn id="13" dur="500" fill="hold"/>
                                        <p:tgtEl>
                                          <p:spTgt spid="118886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88866">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88879"/>
                                        </p:tgtEl>
                                        <p:attrNameLst>
                                          <p:attrName>style.visibility</p:attrName>
                                        </p:attrNameLst>
                                      </p:cBhvr>
                                      <p:to>
                                        <p:strVal val="visible"/>
                                      </p:to>
                                    </p:set>
                                    <p:anim calcmode="lin" valueType="num">
                                      <p:cBhvr additive="base">
                                        <p:cTn id="19" dur="500" fill="hold"/>
                                        <p:tgtEl>
                                          <p:spTgt spid="1188879"/>
                                        </p:tgtEl>
                                        <p:attrNameLst>
                                          <p:attrName>ppt_x</p:attrName>
                                        </p:attrNameLst>
                                      </p:cBhvr>
                                      <p:tavLst>
                                        <p:tav tm="0">
                                          <p:val>
                                            <p:strVal val="0-#ppt_w/2"/>
                                          </p:val>
                                        </p:tav>
                                        <p:tav tm="100000">
                                          <p:val>
                                            <p:strVal val="#ppt_x"/>
                                          </p:val>
                                        </p:tav>
                                      </p:tavLst>
                                    </p:anim>
                                    <p:anim calcmode="lin" valueType="num">
                                      <p:cBhvr additive="base">
                                        <p:cTn id="20" dur="500" fill="hold"/>
                                        <p:tgtEl>
                                          <p:spTgt spid="118887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1188880"/>
                                        </p:tgtEl>
                                        <p:attrNameLst>
                                          <p:attrName>style.visibility</p:attrName>
                                        </p:attrNameLst>
                                      </p:cBhvr>
                                      <p:to>
                                        <p:strVal val="visible"/>
                                      </p:to>
                                    </p:set>
                                    <p:animEffect transition="in" filter="box(out)">
                                      <p:cBhvr>
                                        <p:cTn id="25" dur="500"/>
                                        <p:tgtEl>
                                          <p:spTgt spid="1188880"/>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1188886"/>
                                        </p:tgtEl>
                                        <p:attrNameLst>
                                          <p:attrName>style.visibility</p:attrName>
                                        </p:attrNameLst>
                                      </p:cBhvr>
                                      <p:to>
                                        <p:strVal val="visible"/>
                                      </p:to>
                                    </p:set>
                                    <p:animEffect transition="in" filter="box(out)">
                                      <p:cBhvr>
                                        <p:cTn id="30" dur="500"/>
                                        <p:tgtEl>
                                          <p:spTgt spid="1188886"/>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188887"/>
                                        </p:tgtEl>
                                        <p:attrNameLst>
                                          <p:attrName>style.visibility</p:attrName>
                                        </p:attrNameLst>
                                      </p:cBhvr>
                                      <p:to>
                                        <p:strVal val="visible"/>
                                      </p:to>
                                    </p:set>
                                    <p:animEffect transition="in" filter="box(out)">
                                      <p:cBhvr>
                                        <p:cTn id="35" dur="500"/>
                                        <p:tgtEl>
                                          <p:spTgt spid="1188887"/>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1188878">
                                            <p:txEl>
                                              <p:pRg st="0" end="0"/>
                                            </p:txEl>
                                          </p:spTgt>
                                        </p:tgtEl>
                                        <p:attrNameLst>
                                          <p:attrName>style.visibility</p:attrName>
                                        </p:attrNameLst>
                                      </p:cBhvr>
                                      <p:to>
                                        <p:strVal val="visible"/>
                                      </p:to>
                                    </p:set>
                                    <p:anim calcmode="lin" valueType="num">
                                      <p:cBhvr additive="base">
                                        <p:cTn id="40" dur="500" fill="hold"/>
                                        <p:tgtEl>
                                          <p:spTgt spid="1188878">
                                            <p:txEl>
                                              <p:pRg st="0" end="0"/>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118887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8"/>
                                            </p:cond>
                                          </p:stCondLst>
                                          <p:endCondLst>
                                            <p:cond evt="onStopAudio" delay="0">
                                              <p:tgtEl>
                                                <p:sldTgt/>
                                              </p:tgtEl>
                                            </p:cond>
                                          </p:endCondLst>
                                        </p:cTn>
                                        <p:tgtEl>
                                          <p:sndTgt r:embed="rId3" name="WHOOSH.WAV"/>
                                        </p:tgtEl>
                                      </p:cMediaNode>
                                    </p:audio>
                                  </p:sub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1188877"/>
                                        </p:tgtEl>
                                        <p:attrNameLst>
                                          <p:attrName>style.visibility</p:attrName>
                                        </p:attrNameLst>
                                      </p:cBhvr>
                                      <p:to>
                                        <p:strVal val="visible"/>
                                      </p:to>
                                    </p:set>
                                    <p:anim calcmode="lin" valueType="num">
                                      <p:cBhvr additive="base">
                                        <p:cTn id="46" dur="500" fill="hold"/>
                                        <p:tgtEl>
                                          <p:spTgt spid="1188877"/>
                                        </p:tgtEl>
                                        <p:attrNameLst>
                                          <p:attrName>ppt_x</p:attrName>
                                        </p:attrNameLst>
                                      </p:cBhvr>
                                      <p:tavLst>
                                        <p:tav tm="0">
                                          <p:val>
                                            <p:strVal val="0-#ppt_w/2"/>
                                          </p:val>
                                        </p:tav>
                                        <p:tav tm="100000">
                                          <p:val>
                                            <p:strVal val="#ppt_x"/>
                                          </p:val>
                                        </p:tav>
                                      </p:tavLst>
                                    </p:anim>
                                    <p:anim calcmode="lin" valueType="num">
                                      <p:cBhvr additive="base">
                                        <p:cTn id="47" dur="500" fill="hold"/>
                                        <p:tgtEl>
                                          <p:spTgt spid="118887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4"/>
                                            </p:cond>
                                          </p:stCondLst>
                                          <p:endCondLst>
                                            <p:cond evt="onStopAudio" delay="0">
                                              <p:tgtEl>
                                                <p:sldTgt/>
                                              </p:tgtEl>
                                            </p:cond>
                                          </p:endCondLst>
                                        </p:cTn>
                                        <p:tgtEl>
                                          <p:sndTgt r:embed="rId3" name="WHOOSH.WAV"/>
                                        </p:tgtEl>
                                      </p:cMediaNode>
                                    </p:audio>
                                  </p:sub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1188867"/>
                                        </p:tgtEl>
                                        <p:attrNameLst>
                                          <p:attrName>style.visibility</p:attrName>
                                        </p:attrNameLst>
                                      </p:cBhvr>
                                      <p:to>
                                        <p:strVal val="visible"/>
                                      </p:to>
                                    </p:set>
                                    <p:anim calcmode="lin" valueType="num">
                                      <p:cBhvr additive="base">
                                        <p:cTn id="52" dur="500" fill="hold"/>
                                        <p:tgtEl>
                                          <p:spTgt spid="1188867"/>
                                        </p:tgtEl>
                                        <p:attrNameLst>
                                          <p:attrName>ppt_x</p:attrName>
                                        </p:attrNameLst>
                                      </p:cBhvr>
                                      <p:tavLst>
                                        <p:tav tm="0">
                                          <p:val>
                                            <p:strVal val="0-#ppt_w/2"/>
                                          </p:val>
                                        </p:tav>
                                        <p:tav tm="100000">
                                          <p:val>
                                            <p:strVal val="#ppt_x"/>
                                          </p:val>
                                        </p:tav>
                                      </p:tavLst>
                                    </p:anim>
                                    <p:anim calcmode="lin" valueType="num">
                                      <p:cBhvr additive="base">
                                        <p:cTn id="53" dur="500" fill="hold"/>
                                        <p:tgtEl>
                                          <p:spTgt spid="118886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0"/>
                                            </p:cond>
                                          </p:stCondLst>
                                          <p:endCondLst>
                                            <p:cond evt="onStopAudio" delay="0">
                                              <p:tgtEl>
                                                <p:sldTgt/>
                                              </p:tgtEl>
                                            </p:cond>
                                          </p:endCondLst>
                                        </p:cTn>
                                        <p:tgtEl>
                                          <p:sndTgt r:embed="rId3" name="WHOOSH.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1188888"/>
                                        </p:tgtEl>
                                        <p:attrNameLst>
                                          <p:attrName>style.visibility</p:attrName>
                                        </p:attrNameLst>
                                      </p:cBhvr>
                                      <p:to>
                                        <p:strVal val="visible"/>
                                      </p:to>
                                    </p:set>
                                    <p:animEffect transition="in" filter="box(out)">
                                      <p:cBhvr>
                                        <p:cTn id="58" dur="500"/>
                                        <p:tgtEl>
                                          <p:spTgt spid="1188888"/>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par>
                          <p:cTn id="59" fill="hold">
                            <p:stCondLst>
                              <p:cond delay="500"/>
                            </p:stCondLst>
                            <p:childTnLst>
                              <p:par>
                                <p:cTn id="60" presetID="4" presetClass="entr" presetSubtype="32" fill="hold" grpId="0" nodeType="afterEffect">
                                  <p:stCondLst>
                                    <p:cond delay="0"/>
                                  </p:stCondLst>
                                  <p:childTnLst>
                                    <p:set>
                                      <p:cBhvr>
                                        <p:cTn id="61" dur="1" fill="hold">
                                          <p:stCondLst>
                                            <p:cond delay="0"/>
                                          </p:stCondLst>
                                        </p:cTn>
                                        <p:tgtEl>
                                          <p:spTgt spid="1188889"/>
                                        </p:tgtEl>
                                        <p:attrNameLst>
                                          <p:attrName>style.visibility</p:attrName>
                                        </p:attrNameLst>
                                      </p:cBhvr>
                                      <p:to>
                                        <p:strVal val="visible"/>
                                      </p:to>
                                    </p:set>
                                    <p:animEffect transition="in" filter="box(out)">
                                      <p:cBhvr>
                                        <p:cTn id="62" dur="500"/>
                                        <p:tgtEl>
                                          <p:spTgt spid="1188889"/>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par>
                          <p:cTn id="63" fill="hold">
                            <p:stCondLst>
                              <p:cond delay="1000"/>
                            </p:stCondLst>
                            <p:childTnLst>
                              <p:par>
                                <p:cTn id="64" presetID="4" presetClass="entr" presetSubtype="32" fill="hold" grpId="0" nodeType="afterEffect">
                                  <p:stCondLst>
                                    <p:cond delay="0"/>
                                  </p:stCondLst>
                                  <p:childTnLst>
                                    <p:set>
                                      <p:cBhvr>
                                        <p:cTn id="65" dur="1" fill="hold">
                                          <p:stCondLst>
                                            <p:cond delay="0"/>
                                          </p:stCondLst>
                                        </p:cTn>
                                        <p:tgtEl>
                                          <p:spTgt spid="1188890"/>
                                        </p:tgtEl>
                                        <p:attrNameLst>
                                          <p:attrName>style.visibility</p:attrName>
                                        </p:attrNameLst>
                                      </p:cBhvr>
                                      <p:to>
                                        <p:strVal val="visible"/>
                                      </p:to>
                                    </p:set>
                                    <p:animEffect transition="in" filter="box(out)">
                                      <p:cBhvr>
                                        <p:cTn id="66" dur="500"/>
                                        <p:tgtEl>
                                          <p:spTgt spid="1188890"/>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4" presetClass="entr" presetSubtype="32" fill="hold" grpId="0" nodeType="clickEffect">
                                  <p:stCondLst>
                                    <p:cond delay="0"/>
                                  </p:stCondLst>
                                  <p:childTnLst>
                                    <p:set>
                                      <p:cBhvr>
                                        <p:cTn id="70" dur="1" fill="hold">
                                          <p:stCondLst>
                                            <p:cond delay="0"/>
                                          </p:stCondLst>
                                        </p:cTn>
                                        <p:tgtEl>
                                          <p:spTgt spid="1188891"/>
                                        </p:tgtEl>
                                        <p:attrNameLst>
                                          <p:attrName>style.visibility</p:attrName>
                                        </p:attrNameLst>
                                      </p:cBhvr>
                                      <p:to>
                                        <p:strVal val="visible"/>
                                      </p:to>
                                    </p:set>
                                    <p:animEffect transition="in" filter="box(out)">
                                      <p:cBhvr>
                                        <p:cTn id="71" dur="500"/>
                                        <p:tgtEl>
                                          <p:spTgt spid="1188891"/>
                                        </p:tgtEl>
                                      </p:cBhvr>
                                    </p:animEffect>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866" grpId="0" build="p" bldLvl="5" autoUpdateAnimBg="0"/>
      <p:bldP spid="1188877" grpId="0" animBg="1" autoUpdateAnimBg="0"/>
      <p:bldP spid="1188878" grpId="0" build="p" bldLvl="5" autoUpdateAnimBg="0"/>
      <p:bldP spid="1188879" grpId="0" animBg="1" autoUpdateAnimBg="0"/>
      <p:bldP spid="1188886" grpId="0" animBg="1" autoUpdateAnimBg="0"/>
      <p:bldP spid="1188887" grpId="0" animBg="1" autoUpdateAnimBg="0"/>
      <p:bldP spid="1188888" grpId="0" animBg="1" autoUpdateAnimBg="0"/>
      <p:bldP spid="1188889" grpId="0" animBg="1" autoUpdateAnimBg="0"/>
      <p:bldP spid="1188890" grpId="0" animBg="1" autoUpdateAnimBg="0"/>
      <p:bldP spid="1188891"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9890" name="Rectangle 2"/>
          <p:cNvSpPr>
            <a:spLocks noChangeArrowheads="1"/>
          </p:cNvSpPr>
          <p:nvPr/>
        </p:nvSpPr>
        <p:spPr bwMode="auto">
          <a:xfrm>
            <a:off x="986508" y="860954"/>
            <a:ext cx="7934969" cy="895350"/>
          </a:xfrm>
          <a:prstGeom prst="rect">
            <a:avLst/>
          </a:prstGeom>
          <a:noFill/>
          <a:ln w="9525">
            <a:noFill/>
            <a:miter lim="800000"/>
            <a:headEnd/>
            <a:tailEnd/>
          </a:ln>
          <a:effectLst/>
        </p:spPr>
        <p:txBody>
          <a:bodyPr/>
          <a:lstStyle/>
          <a:p>
            <a:pPr marL="342900" indent="-342900">
              <a:lnSpc>
                <a:spcPct val="100000"/>
              </a:lnSpc>
              <a:buFont typeface="Wingdings" pitchFamily="2" charset="2"/>
              <a:buChar char="Ø"/>
            </a:pPr>
            <a:r>
              <a:rPr lang="zh-CN" altLang="en-US" dirty="0">
                <a:solidFill>
                  <a:srgbClr val="C00000"/>
                </a:solidFill>
                <a:latin typeface="+mn-lt"/>
                <a:ea typeface="楷体" pitchFamily="49" charset="-122"/>
              </a:rPr>
              <a:t>定义形式</a:t>
            </a:r>
            <a:r>
              <a:rPr lang="zh-CN" altLang="en-US" dirty="0">
                <a:solidFill>
                  <a:srgbClr val="002060"/>
                </a:solidFill>
                <a:latin typeface="+mn-lt"/>
                <a:ea typeface="楷体" pitchFamily="49" charset="-122"/>
              </a:rPr>
              <a:t>：  </a:t>
            </a:r>
            <a:r>
              <a:rPr lang="en-US" altLang="zh-CN" dirty="0">
                <a:solidFill>
                  <a:srgbClr val="002060"/>
                </a:solidFill>
                <a:latin typeface="+mn-lt"/>
                <a:ea typeface="楷体" pitchFamily="49" charset="-122"/>
              </a:rPr>
              <a:t>[</a:t>
            </a:r>
            <a:r>
              <a:rPr lang="zh-CN" altLang="en-US" dirty="0">
                <a:solidFill>
                  <a:srgbClr val="002060"/>
                </a:solidFill>
                <a:latin typeface="+mn-lt"/>
                <a:ea typeface="楷体" pitchFamily="49" charset="-122"/>
              </a:rPr>
              <a:t>存储类型</a:t>
            </a:r>
            <a:r>
              <a:rPr lang="en-US" altLang="zh-CN" dirty="0">
                <a:solidFill>
                  <a:srgbClr val="002060"/>
                </a:solidFill>
                <a:latin typeface="+mn-lt"/>
                <a:ea typeface="楷体" pitchFamily="49" charset="-122"/>
              </a:rPr>
              <a:t>]   </a:t>
            </a:r>
            <a:r>
              <a:rPr lang="zh-CN" altLang="en-US" dirty="0">
                <a:solidFill>
                  <a:srgbClr val="002060"/>
                </a:solidFill>
                <a:latin typeface="+mn-lt"/>
                <a:ea typeface="楷体" pitchFamily="49" charset="-122"/>
              </a:rPr>
              <a:t>数据类型  **指针名；</a:t>
            </a:r>
          </a:p>
          <a:p>
            <a:pPr marL="342900" indent="-342900">
              <a:lnSpc>
                <a:spcPct val="100000"/>
              </a:lnSpc>
            </a:pPr>
            <a:r>
              <a:rPr lang="zh-CN" altLang="en-US" dirty="0">
                <a:latin typeface="+mn-lt"/>
                <a:ea typeface="楷体" pitchFamily="49" charset="-122"/>
              </a:rPr>
              <a:t>    如  </a:t>
            </a:r>
            <a:r>
              <a:rPr lang="en-US" altLang="zh-CN" dirty="0">
                <a:latin typeface="+mn-lt"/>
                <a:ea typeface="楷体" pitchFamily="49" charset="-122"/>
              </a:rPr>
              <a:t>char   **p;</a:t>
            </a:r>
          </a:p>
        </p:txBody>
      </p:sp>
      <p:sp>
        <p:nvSpPr>
          <p:cNvPr id="1189891" name="Text Box 3"/>
          <p:cNvSpPr txBox="1">
            <a:spLocks noChangeArrowheads="1"/>
          </p:cNvSpPr>
          <p:nvPr/>
        </p:nvSpPr>
        <p:spPr bwMode="auto">
          <a:xfrm>
            <a:off x="1237269" y="4685960"/>
            <a:ext cx="7433445" cy="830997"/>
          </a:xfrm>
          <a:prstGeom prst="rect">
            <a:avLst/>
          </a:prstGeom>
          <a:noFill/>
          <a:ln w="9525">
            <a:noFill/>
            <a:miter lim="800000"/>
            <a:headEnd/>
            <a:tailEnd/>
          </a:ln>
          <a:effectLst/>
        </p:spPr>
        <p:txBody>
          <a:bodyPr wrap="none">
            <a:spAutoFit/>
          </a:bodyPr>
          <a:lstStyle/>
          <a:p>
            <a:pPr>
              <a:lnSpc>
                <a:spcPct val="100000"/>
              </a:lnSpc>
              <a:spcBef>
                <a:spcPct val="0"/>
              </a:spcBef>
            </a:pPr>
            <a:r>
              <a:rPr lang="zh-CN" altLang="en-US" dirty="0">
                <a:solidFill>
                  <a:srgbClr val="C00000"/>
                </a:solidFill>
                <a:latin typeface="隶书" pitchFamily="49" charset="-122"/>
                <a:ea typeface="隶书" pitchFamily="49" charset="-122"/>
              </a:rPr>
              <a:t>例</a:t>
            </a:r>
            <a:r>
              <a:rPr lang="zh-CN" altLang="en-US" dirty="0">
                <a:solidFill>
                  <a:srgbClr val="C00000"/>
                </a:solidFill>
              </a:rPr>
              <a:t> </a:t>
            </a:r>
            <a:r>
              <a:rPr lang="zh-CN" altLang="en-US" dirty="0"/>
              <a:t> </a:t>
            </a:r>
            <a:r>
              <a:rPr lang="en-US" altLang="zh-CN" dirty="0" err="1"/>
              <a:t>int</a:t>
            </a:r>
            <a:r>
              <a:rPr lang="en-US" altLang="zh-CN" dirty="0"/>
              <a:t>   </a:t>
            </a:r>
            <a:r>
              <a:rPr lang="en-US" altLang="zh-CN" dirty="0" err="1"/>
              <a:t>i</a:t>
            </a:r>
            <a:r>
              <a:rPr lang="en-US" altLang="zh-CN" dirty="0"/>
              <a:t>, **p;</a:t>
            </a:r>
          </a:p>
          <a:p>
            <a:pPr>
              <a:lnSpc>
                <a:spcPct val="100000"/>
              </a:lnSpc>
              <a:spcBef>
                <a:spcPct val="0"/>
              </a:spcBef>
            </a:pPr>
            <a:r>
              <a:rPr lang="en-US" altLang="zh-CN" dirty="0"/>
              <a:t>      p = &amp;</a:t>
            </a:r>
            <a:r>
              <a:rPr lang="en-US" altLang="zh-CN" dirty="0" err="1"/>
              <a:t>i</a:t>
            </a:r>
            <a:r>
              <a:rPr lang="en-US" altLang="zh-CN" dirty="0"/>
              <a:t>;       (</a:t>
            </a:r>
            <a:r>
              <a:rPr lang="en-US" altLang="zh-CN" dirty="0">
                <a:solidFill>
                  <a:schemeClr val="accent2">
                    <a:lumMod val="50000"/>
                  </a:schemeClr>
                </a:solidFill>
                <a:sym typeface="Symbol" pitchFamily="18" charset="2"/>
              </a:rPr>
              <a:t></a:t>
            </a:r>
            <a:r>
              <a:rPr lang="en-US" altLang="zh-CN" dirty="0">
                <a:sym typeface="Symbol" pitchFamily="18" charset="2"/>
              </a:rPr>
              <a:t>)  </a:t>
            </a:r>
            <a:r>
              <a:rPr lang="en-US" altLang="zh-CN" sz="2000" dirty="0">
                <a:solidFill>
                  <a:schemeClr val="accent2">
                    <a:lumMod val="50000"/>
                  </a:schemeClr>
                </a:solidFill>
                <a:latin typeface="+mn-lt"/>
                <a:ea typeface="楷体" pitchFamily="49" charset="-122"/>
                <a:sym typeface="Symbol" pitchFamily="18" charset="2"/>
              </a:rPr>
              <a:t>//p</a:t>
            </a:r>
            <a:r>
              <a:rPr lang="zh-CN" altLang="zh-CN" sz="2000" dirty="0">
                <a:solidFill>
                  <a:schemeClr val="accent2">
                    <a:lumMod val="50000"/>
                  </a:schemeClr>
                </a:solidFill>
                <a:latin typeface="+mn-lt"/>
                <a:ea typeface="楷体" pitchFamily="49" charset="-122"/>
                <a:sym typeface="Symbol" pitchFamily="18" charset="2"/>
              </a:rPr>
              <a:t>是二级指针，不能用变量地址为其赋值</a:t>
            </a:r>
            <a:endParaRPr lang="zh-CN" altLang="en-US" sz="2000" dirty="0">
              <a:solidFill>
                <a:schemeClr val="accent2">
                  <a:lumMod val="50000"/>
                </a:schemeClr>
              </a:solidFill>
              <a:latin typeface="+mn-lt"/>
              <a:ea typeface="楷体" pitchFamily="49" charset="-122"/>
            </a:endParaRPr>
          </a:p>
        </p:txBody>
      </p:sp>
      <p:sp>
        <p:nvSpPr>
          <p:cNvPr id="1189892" name="AutoShape 4"/>
          <p:cNvSpPr>
            <a:spLocks noChangeArrowheads="1"/>
          </p:cNvSpPr>
          <p:nvPr/>
        </p:nvSpPr>
        <p:spPr bwMode="auto">
          <a:xfrm>
            <a:off x="2109310" y="1560773"/>
            <a:ext cx="2504509" cy="402291"/>
          </a:xfrm>
          <a:prstGeom prst="wedgeRectCallout">
            <a:avLst>
              <a:gd name="adj1" fmla="val 30227"/>
              <a:gd name="adj2" fmla="val -139816"/>
            </a:avLst>
          </a:prstGeom>
          <a:gradFill rotWithShape="1">
            <a:gsLst>
              <a:gs pos="0">
                <a:srgbClr val="CFCFD1"/>
              </a:gs>
              <a:gs pos="100000">
                <a:srgbClr val="FFFFFF"/>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ea typeface="隶书" pitchFamily="49" charset="-122"/>
              </a:rPr>
              <a:t>指针本身的存储类型</a:t>
            </a:r>
          </a:p>
        </p:txBody>
      </p:sp>
      <p:sp>
        <p:nvSpPr>
          <p:cNvPr id="1189893" name="AutoShape 5"/>
          <p:cNvSpPr>
            <a:spLocks noChangeArrowheads="1"/>
          </p:cNvSpPr>
          <p:nvPr/>
        </p:nvSpPr>
        <p:spPr bwMode="auto">
          <a:xfrm>
            <a:off x="4585662" y="1569503"/>
            <a:ext cx="3020675" cy="402291"/>
          </a:xfrm>
          <a:prstGeom prst="wedgeRectCallout">
            <a:avLst>
              <a:gd name="adj1" fmla="val -19916"/>
              <a:gd name="adj2" fmla="val -135060"/>
            </a:avLst>
          </a:prstGeom>
          <a:gradFill rotWithShape="1">
            <a:gsLst>
              <a:gs pos="0">
                <a:srgbClr val="CFCFD1"/>
              </a:gs>
              <a:gs pos="100000">
                <a:srgbClr val="FFFFFF"/>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ea typeface="隶书" pitchFamily="49" charset="-122"/>
              </a:rPr>
              <a:t>最终目标变量的数据类型</a:t>
            </a:r>
          </a:p>
        </p:txBody>
      </p:sp>
      <p:sp>
        <p:nvSpPr>
          <p:cNvPr id="1189894" name="AutoShape 6"/>
          <p:cNvSpPr>
            <a:spLocks noChangeArrowheads="1"/>
          </p:cNvSpPr>
          <p:nvPr/>
        </p:nvSpPr>
        <p:spPr bwMode="auto">
          <a:xfrm>
            <a:off x="7032363" y="1277019"/>
            <a:ext cx="3151187" cy="730250"/>
          </a:xfrm>
          <a:prstGeom prst="wedgeRectCallout">
            <a:avLst>
              <a:gd name="adj1" fmla="val -62695"/>
              <a:gd name="adj2" fmla="val -53142"/>
            </a:avLst>
          </a:prstGeom>
          <a:gradFill rotWithShape="1">
            <a:gsLst>
              <a:gs pos="0">
                <a:srgbClr val="CFCFD1"/>
              </a:gs>
              <a:gs pos="100000">
                <a:srgbClr val="FFFFFF"/>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en-US" altLang="zh-CN" sz="2000" dirty="0">
                <a:latin typeface="隶书" pitchFamily="49" charset="-122"/>
                <a:ea typeface="隶书" pitchFamily="49" charset="-122"/>
              </a:rPr>
              <a:t>*p</a:t>
            </a:r>
            <a:r>
              <a:rPr lang="zh-CN" altLang="zh-CN" sz="2000" dirty="0">
                <a:latin typeface="隶书" pitchFamily="49" charset="-122"/>
                <a:ea typeface="隶书" pitchFamily="49" charset="-122"/>
              </a:rPr>
              <a:t>是</a:t>
            </a:r>
            <a:r>
              <a:rPr lang="en-US" altLang="zh-CN" sz="2000" dirty="0">
                <a:latin typeface="隶书" pitchFamily="49" charset="-122"/>
                <a:ea typeface="隶书" pitchFamily="49" charset="-122"/>
              </a:rPr>
              <a:t>p</a:t>
            </a:r>
            <a:r>
              <a:rPr lang="zh-CN" altLang="zh-CN" sz="2000" dirty="0">
                <a:latin typeface="隶书" pitchFamily="49" charset="-122"/>
                <a:ea typeface="隶书" pitchFamily="49" charset="-122"/>
              </a:rPr>
              <a:t>间接指向对象的地址</a:t>
            </a:r>
          </a:p>
          <a:p>
            <a:pPr>
              <a:lnSpc>
                <a:spcPct val="100000"/>
              </a:lnSpc>
              <a:spcBef>
                <a:spcPct val="0"/>
              </a:spcBef>
            </a:pPr>
            <a:r>
              <a:rPr lang="zh-CN" altLang="zh-CN" sz="2000" dirty="0">
                <a:latin typeface="隶书" pitchFamily="49" charset="-122"/>
                <a:ea typeface="隶书" pitchFamily="49" charset="-122"/>
              </a:rPr>
              <a:t>**</a:t>
            </a:r>
            <a:r>
              <a:rPr lang="en-US" altLang="zh-CN" sz="2000" dirty="0">
                <a:latin typeface="隶书" pitchFamily="49" charset="-122"/>
                <a:ea typeface="隶书" pitchFamily="49" charset="-122"/>
              </a:rPr>
              <a:t>p</a:t>
            </a:r>
            <a:r>
              <a:rPr lang="zh-CN" altLang="zh-CN" sz="2000" dirty="0">
                <a:latin typeface="隶书" pitchFamily="49" charset="-122"/>
                <a:ea typeface="隶书" pitchFamily="49" charset="-122"/>
              </a:rPr>
              <a:t>是</a:t>
            </a:r>
            <a:r>
              <a:rPr lang="en-US" altLang="zh-CN" sz="2000" dirty="0">
                <a:latin typeface="隶书" pitchFamily="49" charset="-122"/>
                <a:ea typeface="隶书" pitchFamily="49" charset="-122"/>
              </a:rPr>
              <a:t>p</a:t>
            </a:r>
            <a:r>
              <a:rPr lang="zh-CN" altLang="zh-CN" sz="2000" dirty="0">
                <a:latin typeface="隶书" pitchFamily="49" charset="-122"/>
                <a:ea typeface="隶书" pitchFamily="49" charset="-122"/>
              </a:rPr>
              <a:t>间接指向对象的值</a:t>
            </a:r>
            <a:endParaRPr lang="zh-CN" altLang="en-US" sz="2000" dirty="0">
              <a:latin typeface="隶书" pitchFamily="49" charset="-122"/>
              <a:ea typeface="隶书" pitchFamily="49" charset="-122"/>
            </a:endParaRPr>
          </a:p>
        </p:txBody>
      </p:sp>
      <p:sp>
        <p:nvSpPr>
          <p:cNvPr id="1189895" name="Text Box 7" descr="信纸"/>
          <p:cNvSpPr txBox="1">
            <a:spLocks noChangeArrowheads="1"/>
          </p:cNvSpPr>
          <p:nvPr/>
        </p:nvSpPr>
        <p:spPr bwMode="auto">
          <a:xfrm>
            <a:off x="2086851" y="2216826"/>
            <a:ext cx="2867141" cy="232092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C00000"/>
                </a:solidFill>
                <a:ea typeface="隶书" pitchFamily="49" charset="-122"/>
              </a:rPr>
              <a:t>例</a:t>
            </a:r>
            <a:r>
              <a:rPr lang="zh-CN" altLang="en-US" dirty="0">
                <a:solidFill>
                  <a:srgbClr val="C00000"/>
                </a:solidFill>
                <a:ea typeface="宋体" pitchFamily="2" charset="-122"/>
              </a:rPr>
              <a:t> </a:t>
            </a:r>
            <a:r>
              <a:rPr lang="en-US" altLang="zh-CN" dirty="0" err="1">
                <a:ea typeface="宋体" pitchFamily="2" charset="-122"/>
                <a:sym typeface="Symbol" pitchFamily="18" charset="2"/>
              </a:rPr>
              <a:t>int</a:t>
            </a:r>
            <a:r>
              <a:rPr lang="en-US" altLang="zh-CN" dirty="0">
                <a:ea typeface="宋体" pitchFamily="2" charset="-122"/>
                <a:sym typeface="Symbol" pitchFamily="18" charset="2"/>
              </a:rPr>
              <a:t>  </a:t>
            </a:r>
            <a:r>
              <a:rPr lang="en-US" altLang="zh-CN" dirty="0" err="1">
                <a:ea typeface="宋体" pitchFamily="2" charset="-122"/>
                <a:sym typeface="Symbol" pitchFamily="18" charset="2"/>
              </a:rPr>
              <a:t>i</a:t>
            </a:r>
            <a:r>
              <a:rPr lang="en-US" altLang="zh-CN" dirty="0">
                <a:ea typeface="宋体" pitchFamily="2" charset="-122"/>
                <a:sym typeface="Symbol" pitchFamily="18" charset="2"/>
              </a:rPr>
              <a:t> = 3;</a:t>
            </a: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sym typeface="Symbol" pitchFamily="18" charset="2"/>
              </a:rPr>
              <a:t>int</a:t>
            </a:r>
            <a:r>
              <a:rPr lang="en-US" altLang="zh-CN" dirty="0">
                <a:ea typeface="宋体" pitchFamily="2" charset="-122"/>
                <a:sym typeface="Symbol" pitchFamily="18" charset="2"/>
              </a:rPr>
              <a:t>   *p1;</a:t>
            </a:r>
          </a:p>
          <a:p>
            <a:pPr eaLnBrk="0" hangingPunct="0">
              <a:lnSpc>
                <a:spcPct val="100000"/>
              </a:lnSpc>
              <a:spcBef>
                <a:spcPct val="0"/>
              </a:spcBef>
            </a:pPr>
            <a:r>
              <a:rPr lang="en-US" altLang="zh-CN" dirty="0">
                <a:ea typeface="宋体" pitchFamily="2" charset="-122"/>
                <a:sym typeface="Symbol" pitchFamily="18" charset="2"/>
              </a:rPr>
              <a:t>     </a:t>
            </a:r>
            <a:r>
              <a:rPr lang="en-US" altLang="zh-CN" dirty="0" err="1">
                <a:ea typeface="宋体" pitchFamily="2" charset="-122"/>
              </a:rPr>
              <a:t>int</a:t>
            </a:r>
            <a:r>
              <a:rPr lang="en-US" altLang="zh-CN" dirty="0">
                <a:ea typeface="宋体" pitchFamily="2" charset="-122"/>
              </a:rPr>
              <a:t>  </a:t>
            </a:r>
            <a:r>
              <a:rPr lang="en-US" altLang="zh-CN" dirty="0">
                <a:solidFill>
                  <a:srgbClr val="0000FF"/>
                </a:solidFill>
                <a:ea typeface="宋体" pitchFamily="2" charset="-122"/>
              </a:rPr>
              <a:t> </a:t>
            </a:r>
            <a:r>
              <a:rPr lang="en-US" altLang="zh-CN" dirty="0">
                <a:solidFill>
                  <a:srgbClr val="002060"/>
                </a:solidFill>
                <a:ea typeface="宋体" pitchFamily="2" charset="-122"/>
              </a:rPr>
              <a:t>**</a:t>
            </a:r>
            <a:r>
              <a:rPr lang="en-US" altLang="zh-CN" dirty="0">
                <a:ea typeface="宋体" pitchFamily="2" charset="-122"/>
              </a:rPr>
              <a:t>p2; </a:t>
            </a:r>
          </a:p>
          <a:p>
            <a:pPr eaLnBrk="0" hangingPunct="0">
              <a:lnSpc>
                <a:spcPct val="100000"/>
              </a:lnSpc>
              <a:spcBef>
                <a:spcPct val="0"/>
              </a:spcBef>
            </a:pPr>
            <a:r>
              <a:rPr lang="en-US" altLang="zh-CN" dirty="0">
                <a:ea typeface="宋体" pitchFamily="2" charset="-122"/>
                <a:sym typeface="Symbol" pitchFamily="18" charset="2"/>
              </a:rPr>
              <a:t>     p1 = &amp;</a:t>
            </a:r>
            <a:r>
              <a:rPr lang="en-US" altLang="zh-CN" dirty="0" err="1">
                <a:ea typeface="宋体" pitchFamily="2" charset="-122"/>
                <a:sym typeface="Symbol" pitchFamily="18" charset="2"/>
              </a:rPr>
              <a:t>i</a:t>
            </a:r>
            <a:r>
              <a:rPr lang="en-US" altLang="zh-CN" dirty="0">
                <a:ea typeface="宋体" pitchFamily="2" charset="-122"/>
                <a:sym typeface="Symbol" pitchFamily="18" charset="2"/>
              </a:rPr>
              <a:t>;</a:t>
            </a:r>
          </a:p>
          <a:p>
            <a:pPr eaLnBrk="0" hangingPunct="0">
              <a:lnSpc>
                <a:spcPct val="100000"/>
              </a:lnSpc>
              <a:spcBef>
                <a:spcPct val="0"/>
              </a:spcBef>
            </a:pPr>
            <a:r>
              <a:rPr lang="en-US" altLang="zh-CN" dirty="0">
                <a:ea typeface="宋体" pitchFamily="2" charset="-122"/>
                <a:sym typeface="Symbol" pitchFamily="18" charset="2"/>
              </a:rPr>
              <a:t>     p2 = &amp;p1;</a:t>
            </a:r>
          </a:p>
          <a:p>
            <a:pPr eaLnBrk="0" hangingPunct="0">
              <a:lnSpc>
                <a:spcPct val="100000"/>
              </a:lnSpc>
              <a:spcBef>
                <a:spcPct val="0"/>
              </a:spcBef>
            </a:pPr>
            <a:r>
              <a:rPr lang="en-US" altLang="zh-CN" dirty="0">
                <a:ea typeface="宋体" pitchFamily="2" charset="-122"/>
                <a:sym typeface="Symbol" pitchFamily="18" charset="2"/>
              </a:rPr>
              <a:t>     **p2 = 5;</a:t>
            </a:r>
          </a:p>
        </p:txBody>
      </p:sp>
      <p:grpSp>
        <p:nvGrpSpPr>
          <p:cNvPr id="1189920" name="Group 32"/>
          <p:cNvGrpSpPr>
            <a:grpSpLocks/>
          </p:cNvGrpSpPr>
          <p:nvPr/>
        </p:nvGrpSpPr>
        <p:grpSpPr bwMode="auto">
          <a:xfrm>
            <a:off x="7863509" y="2373163"/>
            <a:ext cx="1378063" cy="2640013"/>
            <a:chOff x="3384" y="1194"/>
            <a:chExt cx="833" cy="1663"/>
          </a:xfrm>
        </p:grpSpPr>
        <p:sp>
          <p:nvSpPr>
            <p:cNvPr id="1189897" name="AutoShape 9"/>
            <p:cNvSpPr>
              <a:spLocks noChangeArrowheads="1"/>
            </p:cNvSpPr>
            <p:nvPr/>
          </p:nvSpPr>
          <p:spPr bwMode="auto">
            <a:xfrm>
              <a:off x="3389" y="1194"/>
              <a:ext cx="828" cy="1663"/>
            </a:xfrm>
            <a:prstGeom prst="foldedCorner">
              <a:avLst>
                <a:gd name="adj" fmla="val 12500"/>
              </a:avLst>
            </a:prstGeom>
            <a:solidFill>
              <a:srgbClr val="DDFAED"/>
            </a:solidFill>
            <a:ln w="38100">
              <a:solidFill>
                <a:schemeClr val="tx1"/>
              </a:solidFill>
              <a:round/>
              <a:headEnd/>
              <a:tailEnd/>
            </a:ln>
            <a:effectLst>
              <a:outerShdw blurRad="50800" dist="106680" dir="2700000" algn="tl" rotWithShape="0">
                <a:prstClr val="black">
                  <a:alpha val="43000"/>
                </a:prstClr>
              </a:outerShdw>
            </a:effectLst>
          </p:spPr>
          <p:txBody>
            <a:bodyPr wrap="square" lIns="90000" tIns="46800" rIns="90000" bIns="46800" anchor="ctr">
              <a:spAutoFit/>
            </a:bodyPr>
            <a:lstStyle/>
            <a:p>
              <a:endParaRPr lang="zh-CN" altLang="en-US"/>
            </a:p>
          </p:txBody>
        </p:sp>
        <p:sp>
          <p:nvSpPr>
            <p:cNvPr id="1189898" name="Line 10"/>
            <p:cNvSpPr>
              <a:spLocks noChangeShapeType="1"/>
            </p:cNvSpPr>
            <p:nvPr/>
          </p:nvSpPr>
          <p:spPr bwMode="auto">
            <a:xfrm>
              <a:off x="3384" y="1476"/>
              <a:ext cx="828" cy="0"/>
            </a:xfrm>
            <a:prstGeom prst="line">
              <a:avLst/>
            </a:prstGeom>
            <a:noFill/>
            <a:ln w="38100">
              <a:solidFill>
                <a:srgbClr val="339966"/>
              </a:solidFill>
              <a:round/>
              <a:headEnd/>
              <a:tailEnd/>
            </a:ln>
            <a:effectLst/>
          </p:spPr>
          <p:txBody>
            <a:bodyPr wrap="none" lIns="90000" tIns="46800" rIns="90000" bIns="46800" anchor="ctr">
              <a:spAutoFit/>
            </a:bodyPr>
            <a:lstStyle/>
            <a:p>
              <a:endParaRPr lang="zh-CN" altLang="en-US"/>
            </a:p>
          </p:txBody>
        </p:sp>
        <p:sp>
          <p:nvSpPr>
            <p:cNvPr id="1189899" name="Line 11"/>
            <p:cNvSpPr>
              <a:spLocks noChangeShapeType="1"/>
            </p:cNvSpPr>
            <p:nvPr/>
          </p:nvSpPr>
          <p:spPr bwMode="auto">
            <a:xfrm>
              <a:off x="3384" y="1773"/>
              <a:ext cx="828" cy="0"/>
            </a:xfrm>
            <a:prstGeom prst="line">
              <a:avLst/>
            </a:prstGeom>
            <a:noFill/>
            <a:ln w="38100">
              <a:solidFill>
                <a:srgbClr val="339966"/>
              </a:solidFill>
              <a:round/>
              <a:headEnd/>
              <a:tailEnd/>
            </a:ln>
            <a:effectLst/>
          </p:spPr>
          <p:txBody>
            <a:bodyPr wrap="none" lIns="90000" tIns="46800" rIns="90000" bIns="46800" anchor="ctr">
              <a:spAutoFit/>
            </a:bodyPr>
            <a:lstStyle/>
            <a:p>
              <a:endParaRPr lang="zh-CN" altLang="en-US"/>
            </a:p>
          </p:txBody>
        </p:sp>
        <p:sp>
          <p:nvSpPr>
            <p:cNvPr id="1189900" name="Line 12"/>
            <p:cNvSpPr>
              <a:spLocks noChangeShapeType="1"/>
            </p:cNvSpPr>
            <p:nvPr/>
          </p:nvSpPr>
          <p:spPr bwMode="auto">
            <a:xfrm>
              <a:off x="3384" y="2070"/>
              <a:ext cx="828" cy="0"/>
            </a:xfrm>
            <a:prstGeom prst="line">
              <a:avLst/>
            </a:prstGeom>
            <a:noFill/>
            <a:ln w="38100">
              <a:solidFill>
                <a:srgbClr val="339966"/>
              </a:solidFill>
              <a:round/>
              <a:headEnd/>
              <a:tailEnd/>
            </a:ln>
            <a:effectLst/>
          </p:spPr>
          <p:txBody>
            <a:bodyPr wrap="none" lIns="90000" tIns="46800" rIns="90000" bIns="46800" anchor="ctr">
              <a:spAutoFit/>
            </a:bodyPr>
            <a:lstStyle/>
            <a:p>
              <a:endParaRPr lang="zh-CN" altLang="en-US"/>
            </a:p>
          </p:txBody>
        </p:sp>
        <p:sp>
          <p:nvSpPr>
            <p:cNvPr id="1189901" name="Line 13"/>
            <p:cNvSpPr>
              <a:spLocks noChangeShapeType="1"/>
            </p:cNvSpPr>
            <p:nvPr/>
          </p:nvSpPr>
          <p:spPr bwMode="auto">
            <a:xfrm>
              <a:off x="3384" y="2358"/>
              <a:ext cx="828" cy="0"/>
            </a:xfrm>
            <a:prstGeom prst="line">
              <a:avLst/>
            </a:prstGeom>
            <a:noFill/>
            <a:ln w="38100">
              <a:solidFill>
                <a:srgbClr val="339966"/>
              </a:solidFill>
              <a:round/>
              <a:headEnd/>
              <a:tailEnd/>
            </a:ln>
            <a:effectLst/>
          </p:spPr>
          <p:txBody>
            <a:bodyPr wrap="none" lIns="90000" tIns="46800" rIns="90000" bIns="46800" anchor="ctr">
              <a:spAutoFit/>
            </a:bodyPr>
            <a:lstStyle/>
            <a:p>
              <a:endParaRPr lang="zh-CN" altLang="en-US"/>
            </a:p>
          </p:txBody>
        </p:sp>
      </p:grpSp>
      <p:sp>
        <p:nvSpPr>
          <p:cNvPr id="1189903" name="Text Box 15"/>
          <p:cNvSpPr txBox="1">
            <a:spLocks noChangeArrowheads="1"/>
          </p:cNvSpPr>
          <p:nvPr/>
        </p:nvSpPr>
        <p:spPr bwMode="auto">
          <a:xfrm>
            <a:off x="7988805" y="3272156"/>
            <a:ext cx="452666" cy="402291"/>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en-US" altLang="zh-CN" sz="2000" b="1">
                <a:effectLst>
                  <a:outerShdw blurRad="38100" dist="38100" dir="2700000" algn="tl">
                    <a:srgbClr val="FFFFFF"/>
                  </a:outerShdw>
                </a:effectLst>
                <a:ea typeface="隶书" pitchFamily="49" charset="-122"/>
              </a:rPr>
              <a:t>p1</a:t>
            </a:r>
          </a:p>
        </p:txBody>
      </p:sp>
      <p:sp>
        <p:nvSpPr>
          <p:cNvPr id="1189904" name="Text Box 16"/>
          <p:cNvSpPr txBox="1">
            <a:spLocks noChangeArrowheads="1"/>
          </p:cNvSpPr>
          <p:nvPr/>
        </p:nvSpPr>
        <p:spPr bwMode="auto">
          <a:xfrm>
            <a:off x="8003092" y="3732531"/>
            <a:ext cx="452666" cy="402291"/>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en-US" altLang="zh-CN" sz="2000" b="1">
                <a:effectLst>
                  <a:outerShdw blurRad="38100" dist="38100" dir="2700000" algn="tl">
                    <a:srgbClr val="FFFFFF"/>
                  </a:outerShdw>
                </a:effectLst>
                <a:ea typeface="隶书" pitchFamily="49" charset="-122"/>
              </a:rPr>
              <a:t>p2</a:t>
            </a:r>
          </a:p>
        </p:txBody>
      </p:sp>
      <p:sp>
        <p:nvSpPr>
          <p:cNvPr id="1189905" name="Text Box 17"/>
          <p:cNvSpPr txBox="1">
            <a:spLocks noChangeArrowheads="1"/>
          </p:cNvSpPr>
          <p:nvPr/>
        </p:nvSpPr>
        <p:spPr bwMode="auto">
          <a:xfrm>
            <a:off x="7873032" y="2378393"/>
            <a:ext cx="1120775" cy="402291"/>
          </a:xfrm>
          <a:prstGeom prst="rect">
            <a:avLst/>
          </a:prstGeom>
          <a:noFill/>
          <a:ln w="38100">
            <a:noFill/>
            <a:miter lim="800000"/>
            <a:headEnd/>
            <a:tailEnd/>
          </a:ln>
          <a:effectLst/>
        </p:spPr>
        <p:txBody>
          <a:bodyPr lIns="90000" tIns="46800" rIns="90000" bIns="46800" anchor="ctr">
            <a:spAutoFit/>
          </a:bodyPr>
          <a:lstStyle/>
          <a:p>
            <a:pPr algn="ctr">
              <a:lnSpc>
                <a:spcPct val="100000"/>
              </a:lnSpc>
              <a:spcBef>
                <a:spcPct val="0"/>
              </a:spcBef>
            </a:pPr>
            <a:r>
              <a:rPr lang="en-US" altLang="zh-CN" sz="2000" b="1">
                <a:effectLst>
                  <a:outerShdw blurRad="38100" dist="38100" dir="2700000" algn="tl">
                    <a:srgbClr val="FFFFFF"/>
                  </a:outerShdw>
                </a:effectLst>
                <a:ea typeface="隶书" pitchFamily="49" charset="-122"/>
              </a:rPr>
              <a:t>i     </a:t>
            </a:r>
            <a:r>
              <a:rPr lang="en-US" altLang="en-US" sz="2000" b="1">
                <a:effectLst>
                  <a:outerShdw blurRad="38100" dist="38100" dir="2700000" algn="tl">
                    <a:srgbClr val="FFFFFF"/>
                  </a:outerShdw>
                </a:effectLst>
                <a:ea typeface="隶书" pitchFamily="49" charset="-122"/>
              </a:rPr>
              <a:t>3</a:t>
            </a:r>
            <a:endParaRPr lang="en-US" altLang="zh-CN" sz="2000" b="1">
              <a:effectLst>
                <a:outerShdw blurRad="38100" dist="38100" dir="2700000" algn="tl">
                  <a:srgbClr val="FFFFFF"/>
                </a:outerShdw>
              </a:effectLst>
              <a:ea typeface="隶书" pitchFamily="49" charset="-122"/>
            </a:endParaRPr>
          </a:p>
        </p:txBody>
      </p:sp>
      <p:sp>
        <p:nvSpPr>
          <p:cNvPr id="1189908" name="Freeform 20"/>
          <p:cNvSpPr>
            <a:spLocks/>
          </p:cNvSpPr>
          <p:nvPr/>
        </p:nvSpPr>
        <p:spPr bwMode="auto">
          <a:xfrm>
            <a:off x="9223995" y="2810367"/>
            <a:ext cx="452666" cy="463846"/>
          </a:xfrm>
          <a:custGeom>
            <a:avLst/>
            <a:gdLst/>
            <a:ahLst/>
            <a:cxnLst>
              <a:cxn ang="0">
                <a:pos x="12" y="270"/>
              </a:cxn>
              <a:cxn ang="0">
                <a:pos x="132" y="186"/>
              </a:cxn>
              <a:cxn ang="0">
                <a:pos x="108" y="30"/>
              </a:cxn>
              <a:cxn ang="0">
                <a:pos x="0" y="6"/>
              </a:cxn>
            </a:cxnLst>
            <a:rect l="0" t="0" r="r" b="b"/>
            <a:pathLst>
              <a:path w="148" h="270">
                <a:moveTo>
                  <a:pt x="12" y="270"/>
                </a:moveTo>
                <a:cubicBezTo>
                  <a:pt x="64" y="248"/>
                  <a:pt x="116" y="226"/>
                  <a:pt x="132" y="186"/>
                </a:cubicBezTo>
                <a:cubicBezTo>
                  <a:pt x="148" y="146"/>
                  <a:pt x="130" y="60"/>
                  <a:pt x="108" y="30"/>
                </a:cubicBezTo>
                <a:cubicBezTo>
                  <a:pt x="86" y="0"/>
                  <a:pt x="16" y="8"/>
                  <a:pt x="0" y="6"/>
                </a:cubicBezTo>
              </a:path>
            </a:pathLst>
          </a:custGeom>
          <a:noFill/>
          <a:ln w="38100" cap="flat" cmpd="sng">
            <a:solidFill>
              <a:srgbClr val="002060"/>
            </a:solidFill>
            <a:prstDash val="solid"/>
            <a:round/>
            <a:headEnd type="none" w="med" len="med"/>
            <a:tailEnd type="stealth" w="lg" len="lg"/>
          </a:ln>
          <a:effectLst/>
        </p:spPr>
        <p:txBody>
          <a:bodyPr wrap="square" lIns="90000" tIns="46800" rIns="90000" bIns="46800" anchor="ctr">
            <a:spAutoFit/>
          </a:bodyPr>
          <a:lstStyle/>
          <a:p>
            <a:endParaRPr lang="zh-CN" altLang="en-US" b="1"/>
          </a:p>
        </p:txBody>
      </p:sp>
      <p:sp>
        <p:nvSpPr>
          <p:cNvPr id="1189909" name="Freeform 21"/>
          <p:cNvSpPr>
            <a:spLocks/>
          </p:cNvSpPr>
          <p:nvPr/>
        </p:nvSpPr>
        <p:spPr bwMode="auto">
          <a:xfrm>
            <a:off x="9195420" y="3601739"/>
            <a:ext cx="503237" cy="463846"/>
          </a:xfrm>
          <a:custGeom>
            <a:avLst/>
            <a:gdLst/>
            <a:ahLst/>
            <a:cxnLst>
              <a:cxn ang="0">
                <a:pos x="12" y="270"/>
              </a:cxn>
              <a:cxn ang="0">
                <a:pos x="132" y="186"/>
              </a:cxn>
              <a:cxn ang="0">
                <a:pos x="108" y="30"/>
              </a:cxn>
              <a:cxn ang="0">
                <a:pos x="0" y="6"/>
              </a:cxn>
            </a:cxnLst>
            <a:rect l="0" t="0" r="r" b="b"/>
            <a:pathLst>
              <a:path w="148" h="270">
                <a:moveTo>
                  <a:pt x="12" y="270"/>
                </a:moveTo>
                <a:cubicBezTo>
                  <a:pt x="64" y="248"/>
                  <a:pt x="116" y="226"/>
                  <a:pt x="132" y="186"/>
                </a:cubicBezTo>
                <a:cubicBezTo>
                  <a:pt x="148" y="146"/>
                  <a:pt x="130" y="60"/>
                  <a:pt x="108" y="30"/>
                </a:cubicBezTo>
                <a:cubicBezTo>
                  <a:pt x="86" y="0"/>
                  <a:pt x="16" y="8"/>
                  <a:pt x="0" y="6"/>
                </a:cubicBezTo>
              </a:path>
            </a:pathLst>
          </a:custGeom>
          <a:noFill/>
          <a:ln w="38100" cap="flat" cmpd="sng">
            <a:solidFill>
              <a:srgbClr val="C00000"/>
            </a:solidFill>
            <a:prstDash val="solid"/>
            <a:round/>
            <a:headEnd type="none" w="med" len="med"/>
            <a:tailEnd type="stealth" w="lg" len="lg"/>
          </a:ln>
          <a:effectLst/>
        </p:spPr>
        <p:txBody>
          <a:bodyPr lIns="90000" tIns="46800" rIns="90000" bIns="46800" anchor="ctr">
            <a:spAutoFit/>
          </a:bodyPr>
          <a:lstStyle/>
          <a:p>
            <a:endParaRPr lang="zh-CN" altLang="en-US" b="1"/>
          </a:p>
        </p:txBody>
      </p:sp>
      <p:grpSp>
        <p:nvGrpSpPr>
          <p:cNvPr id="1189927" name="Group 39"/>
          <p:cNvGrpSpPr>
            <a:grpSpLocks/>
          </p:cNvGrpSpPr>
          <p:nvPr/>
        </p:nvGrpSpPr>
        <p:grpSpPr bwMode="auto">
          <a:xfrm>
            <a:off x="8979519" y="2258863"/>
            <a:ext cx="2228850" cy="463550"/>
            <a:chOff x="3696" y="3428"/>
            <a:chExt cx="1404" cy="292"/>
          </a:xfrm>
        </p:grpSpPr>
        <p:sp>
          <p:nvSpPr>
            <p:cNvPr id="1189911" name="Line 23"/>
            <p:cNvSpPr>
              <a:spLocks noChangeShapeType="1"/>
            </p:cNvSpPr>
            <p:nvPr/>
          </p:nvSpPr>
          <p:spPr bwMode="auto">
            <a:xfrm flipH="1">
              <a:off x="3696" y="3550"/>
              <a:ext cx="540" cy="0"/>
            </a:xfrm>
            <a:prstGeom prst="line">
              <a:avLst/>
            </a:prstGeom>
            <a:noFill/>
            <a:ln w="38100">
              <a:solidFill>
                <a:srgbClr val="C00000"/>
              </a:solidFill>
              <a:round/>
              <a:headEnd/>
              <a:tailEnd type="stealth" w="lg" len="lg"/>
            </a:ln>
            <a:effectLst>
              <a:outerShdw dist="35921" dir="2700000" algn="ctr" rotWithShape="0">
                <a:schemeClr val="bg2"/>
              </a:outerShdw>
            </a:effectLst>
          </p:spPr>
          <p:txBody>
            <a:bodyPr wrap="none" lIns="90000" tIns="46800" rIns="90000" bIns="46800" anchor="ctr">
              <a:spAutoFit/>
            </a:bodyPr>
            <a:lstStyle/>
            <a:p>
              <a:endParaRPr lang="zh-CN" altLang="en-US">
                <a:solidFill>
                  <a:srgbClr val="C00000"/>
                </a:solidFill>
              </a:endParaRPr>
            </a:p>
          </p:txBody>
        </p:sp>
        <p:sp>
          <p:nvSpPr>
            <p:cNvPr id="1189912" name="Text Box 24"/>
            <p:cNvSpPr txBox="1">
              <a:spLocks noChangeArrowheads="1"/>
            </p:cNvSpPr>
            <p:nvPr/>
          </p:nvSpPr>
          <p:spPr bwMode="auto">
            <a:xfrm>
              <a:off x="4188" y="3428"/>
              <a:ext cx="912" cy="292"/>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en-US" altLang="zh-CN">
                  <a:solidFill>
                    <a:srgbClr val="C00000"/>
                  </a:solidFill>
                  <a:ea typeface="隶书" pitchFamily="49" charset="-122"/>
                </a:rPr>
                <a:t>**p2, *p1</a:t>
              </a:r>
            </a:p>
          </p:txBody>
        </p:sp>
      </p:grpSp>
      <p:grpSp>
        <p:nvGrpSpPr>
          <p:cNvPr id="1189928" name="Group 40"/>
          <p:cNvGrpSpPr>
            <a:grpSpLocks/>
          </p:cNvGrpSpPr>
          <p:nvPr/>
        </p:nvGrpSpPr>
        <p:grpSpPr bwMode="auto">
          <a:xfrm>
            <a:off x="9008097" y="3238350"/>
            <a:ext cx="1465263" cy="463550"/>
            <a:chOff x="4195" y="1541"/>
            <a:chExt cx="923" cy="292"/>
          </a:xfrm>
        </p:grpSpPr>
        <p:sp>
          <p:nvSpPr>
            <p:cNvPr id="1189913" name="Line 25"/>
            <p:cNvSpPr>
              <a:spLocks noChangeShapeType="1"/>
            </p:cNvSpPr>
            <p:nvPr/>
          </p:nvSpPr>
          <p:spPr bwMode="auto">
            <a:xfrm flipH="1">
              <a:off x="4195" y="1706"/>
              <a:ext cx="540" cy="0"/>
            </a:xfrm>
            <a:prstGeom prst="line">
              <a:avLst/>
            </a:prstGeom>
            <a:noFill/>
            <a:ln w="38100">
              <a:solidFill>
                <a:srgbClr val="C00000"/>
              </a:solidFill>
              <a:round/>
              <a:headEnd/>
              <a:tailEnd type="stealth" w="lg" len="lg"/>
            </a:ln>
            <a:effectLst>
              <a:outerShdw dist="35921" dir="2700000" algn="ctr" rotWithShape="0">
                <a:schemeClr val="bg2"/>
              </a:outerShdw>
            </a:effectLst>
          </p:spPr>
          <p:txBody>
            <a:bodyPr wrap="none" lIns="90000" tIns="46800" rIns="90000" bIns="46800" anchor="ctr">
              <a:spAutoFit/>
            </a:bodyPr>
            <a:lstStyle/>
            <a:p>
              <a:endParaRPr lang="zh-CN" altLang="en-US" b="1">
                <a:solidFill>
                  <a:srgbClr val="C00000"/>
                </a:solidFill>
              </a:endParaRPr>
            </a:p>
          </p:txBody>
        </p:sp>
        <p:sp>
          <p:nvSpPr>
            <p:cNvPr id="1189914" name="Text Box 26"/>
            <p:cNvSpPr txBox="1">
              <a:spLocks noChangeArrowheads="1"/>
            </p:cNvSpPr>
            <p:nvPr/>
          </p:nvSpPr>
          <p:spPr bwMode="auto">
            <a:xfrm>
              <a:off x="4702" y="1541"/>
              <a:ext cx="416" cy="292"/>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en-US" altLang="zh-CN" b="1">
                  <a:solidFill>
                    <a:srgbClr val="C00000"/>
                  </a:solidFill>
                  <a:ea typeface="隶书" pitchFamily="49" charset="-122"/>
                </a:rPr>
                <a:t>*p2</a:t>
              </a:r>
            </a:p>
          </p:txBody>
        </p:sp>
      </p:grpSp>
      <p:sp>
        <p:nvSpPr>
          <p:cNvPr id="1189915" name="Rectangle 27"/>
          <p:cNvSpPr>
            <a:spLocks noChangeArrowheads="1"/>
          </p:cNvSpPr>
          <p:nvPr/>
        </p:nvSpPr>
        <p:spPr bwMode="auto">
          <a:xfrm>
            <a:off x="1007144" y="5627900"/>
            <a:ext cx="2154238" cy="538163"/>
          </a:xfrm>
          <a:prstGeom prst="rect">
            <a:avLst/>
          </a:prstGeom>
          <a:noFill/>
          <a:ln w="9525">
            <a:noFill/>
            <a:miter lim="800000"/>
            <a:headEnd/>
            <a:tailEnd/>
          </a:ln>
          <a:effectLst/>
        </p:spPr>
        <p:txBody>
          <a:bodyPr/>
          <a:lstStyle/>
          <a:p>
            <a:pPr marL="342900" indent="-342900">
              <a:lnSpc>
                <a:spcPct val="100000"/>
              </a:lnSpc>
              <a:buFont typeface="Wingdings" pitchFamily="2" charset="2"/>
              <a:buChar char="Ø"/>
            </a:pPr>
            <a:r>
              <a:rPr lang="zh-CN" altLang="en-US" dirty="0">
                <a:solidFill>
                  <a:srgbClr val="C00000"/>
                </a:solidFill>
                <a:latin typeface="+mn-lt"/>
                <a:ea typeface="楷体" pitchFamily="49" charset="-122"/>
              </a:rPr>
              <a:t>多级指针</a:t>
            </a:r>
          </a:p>
        </p:txBody>
      </p:sp>
      <p:sp>
        <p:nvSpPr>
          <p:cNvPr id="1189916" name="Text Box 28"/>
          <p:cNvSpPr txBox="1">
            <a:spLocks noChangeArrowheads="1"/>
          </p:cNvSpPr>
          <p:nvPr/>
        </p:nvSpPr>
        <p:spPr bwMode="auto">
          <a:xfrm>
            <a:off x="3361564" y="5665167"/>
            <a:ext cx="3981411" cy="878895"/>
          </a:xfrm>
          <a:prstGeom prst="rect">
            <a:avLst/>
          </a:prstGeom>
          <a:noFill/>
          <a:ln w="9525">
            <a:noFill/>
            <a:miter lim="800000"/>
            <a:headEnd/>
            <a:tailEnd/>
          </a:ln>
          <a:effectLst/>
        </p:spPr>
        <p:txBody>
          <a:bodyPr wrap="none">
            <a:spAutoFit/>
          </a:bodyPr>
          <a:lstStyle/>
          <a:p>
            <a:pPr>
              <a:lnSpc>
                <a:spcPts val="3200"/>
              </a:lnSpc>
              <a:spcBef>
                <a:spcPct val="0"/>
              </a:spcBef>
            </a:pPr>
            <a:r>
              <a:rPr lang="zh-CN" altLang="en-US" dirty="0">
                <a:solidFill>
                  <a:srgbClr val="C00000"/>
                </a:solidFill>
                <a:latin typeface="隶书" pitchFamily="49" charset="-122"/>
                <a:ea typeface="隶书" pitchFamily="49" charset="-122"/>
              </a:rPr>
              <a:t>例</a:t>
            </a:r>
            <a:r>
              <a:rPr lang="zh-CN" altLang="en-US" dirty="0">
                <a:solidFill>
                  <a:srgbClr val="C00000"/>
                </a:solidFill>
                <a:latin typeface="+mn-lt"/>
                <a:ea typeface="楷体" pitchFamily="49" charset="-122"/>
              </a:rPr>
              <a:t>  </a:t>
            </a:r>
            <a:r>
              <a:rPr lang="zh-CN" altLang="en-US" dirty="0">
                <a:latin typeface="+mn-lt"/>
                <a:ea typeface="楷体" pitchFamily="49" charset="-122"/>
              </a:rPr>
              <a:t>三级指针     </a:t>
            </a:r>
            <a:r>
              <a:rPr lang="en-US" altLang="zh-CN" dirty="0">
                <a:latin typeface="+mn-lt"/>
                <a:ea typeface="楷体" pitchFamily="49" charset="-122"/>
              </a:rPr>
              <a:t>int    ***p;</a:t>
            </a:r>
          </a:p>
          <a:p>
            <a:pPr>
              <a:lnSpc>
                <a:spcPts val="3200"/>
              </a:lnSpc>
              <a:spcBef>
                <a:spcPct val="0"/>
              </a:spcBef>
            </a:pPr>
            <a:r>
              <a:rPr lang="en-US" altLang="zh-CN" dirty="0">
                <a:latin typeface="+mn-lt"/>
                <a:ea typeface="楷体" pitchFamily="49" charset="-122"/>
              </a:rPr>
              <a:t>      </a:t>
            </a:r>
            <a:r>
              <a:rPr lang="zh-CN" altLang="zh-CN" dirty="0">
                <a:latin typeface="+mn-lt"/>
                <a:ea typeface="楷体" pitchFamily="49" charset="-122"/>
              </a:rPr>
              <a:t>四级指针     </a:t>
            </a:r>
            <a:r>
              <a:rPr lang="en-US" altLang="zh-CN" dirty="0">
                <a:latin typeface="+mn-lt"/>
                <a:ea typeface="楷体" pitchFamily="49" charset="-122"/>
              </a:rPr>
              <a:t>char   ****p;</a:t>
            </a:r>
          </a:p>
        </p:txBody>
      </p:sp>
      <p:sp>
        <p:nvSpPr>
          <p:cNvPr id="1189921" name="Text Box 33"/>
          <p:cNvSpPr txBox="1">
            <a:spLocks noChangeArrowheads="1"/>
          </p:cNvSpPr>
          <p:nvPr/>
        </p:nvSpPr>
        <p:spPr bwMode="auto">
          <a:xfrm>
            <a:off x="7176120" y="2438250"/>
            <a:ext cx="720725"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rgbClr val="002060"/>
                </a:solidFill>
              </a:rPr>
              <a:t>1080</a:t>
            </a:r>
          </a:p>
        </p:txBody>
      </p:sp>
      <p:sp>
        <p:nvSpPr>
          <p:cNvPr id="1189922" name="Text Box 34"/>
          <p:cNvSpPr txBox="1">
            <a:spLocks noChangeArrowheads="1"/>
          </p:cNvSpPr>
          <p:nvPr/>
        </p:nvSpPr>
        <p:spPr bwMode="auto">
          <a:xfrm>
            <a:off x="7220570" y="3354238"/>
            <a:ext cx="720725"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a:solidFill>
                  <a:srgbClr val="C00000"/>
                </a:solidFill>
              </a:rPr>
              <a:t>2000</a:t>
            </a:r>
          </a:p>
        </p:txBody>
      </p:sp>
      <p:sp>
        <p:nvSpPr>
          <p:cNvPr id="1189923" name="Text Box 35"/>
          <p:cNvSpPr txBox="1">
            <a:spLocks noChangeArrowheads="1"/>
          </p:cNvSpPr>
          <p:nvPr/>
        </p:nvSpPr>
        <p:spPr bwMode="auto">
          <a:xfrm>
            <a:off x="7222157" y="3813025"/>
            <a:ext cx="720725"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effectLst>
                  <a:outerShdw blurRad="38100" dist="38100" dir="2700000" algn="tl">
                    <a:srgbClr val="FFFFFF"/>
                  </a:outerShdw>
                </a:effectLst>
              </a:rPr>
              <a:t>2020</a:t>
            </a:r>
          </a:p>
        </p:txBody>
      </p:sp>
      <p:sp>
        <p:nvSpPr>
          <p:cNvPr id="1189924" name="Text Box 36"/>
          <p:cNvSpPr txBox="1">
            <a:spLocks noChangeArrowheads="1"/>
          </p:cNvSpPr>
          <p:nvPr/>
        </p:nvSpPr>
        <p:spPr bwMode="auto">
          <a:xfrm>
            <a:off x="8373095" y="3373288"/>
            <a:ext cx="720725"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a:solidFill>
                  <a:srgbClr val="002060"/>
                </a:solidFill>
              </a:rPr>
              <a:t>1080</a:t>
            </a:r>
          </a:p>
        </p:txBody>
      </p:sp>
      <p:sp>
        <p:nvSpPr>
          <p:cNvPr id="1189925" name="Text Box 37"/>
          <p:cNvSpPr txBox="1">
            <a:spLocks noChangeArrowheads="1"/>
          </p:cNvSpPr>
          <p:nvPr/>
        </p:nvSpPr>
        <p:spPr bwMode="auto">
          <a:xfrm>
            <a:off x="8374682" y="3820963"/>
            <a:ext cx="720725"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rgbClr val="C00000"/>
                </a:solidFill>
              </a:rPr>
              <a:t>2000</a:t>
            </a:r>
          </a:p>
        </p:txBody>
      </p:sp>
      <p:sp>
        <p:nvSpPr>
          <p:cNvPr id="1189926" name="Text Box 38"/>
          <p:cNvSpPr txBox="1">
            <a:spLocks noChangeArrowheads="1"/>
          </p:cNvSpPr>
          <p:nvPr/>
        </p:nvSpPr>
        <p:spPr bwMode="auto">
          <a:xfrm>
            <a:off x="8473106" y="2420888"/>
            <a:ext cx="431800" cy="400110"/>
          </a:xfrm>
          <a:prstGeom prst="rect">
            <a:avLst/>
          </a:prstGeom>
          <a:solidFill>
            <a:srgbClr val="DDFAED"/>
          </a:solidFill>
          <a:ln w="9525" algn="ctr">
            <a:noFill/>
            <a:miter lim="800000"/>
            <a:headEnd/>
            <a:tailEnd/>
          </a:ln>
          <a:effectLst/>
        </p:spPr>
        <p:txBody>
          <a:bodyPr>
            <a:spAutoFit/>
          </a:bodyPr>
          <a:lstStyle/>
          <a:p>
            <a:pPr marL="342900" indent="-342900">
              <a:spcBef>
                <a:spcPct val="50000"/>
              </a:spcBef>
            </a:pPr>
            <a:r>
              <a:rPr lang="en-US" altLang="zh-CN" sz="2000" b="1">
                <a:solidFill>
                  <a:srgbClr val="7030A0"/>
                </a:solidFill>
              </a:rPr>
              <a:t>5</a:t>
            </a:r>
          </a:p>
        </p:txBody>
      </p:sp>
      <p:sp>
        <p:nvSpPr>
          <p:cNvPr id="37" name="Rectangle 4">
            <a:extLst>
              <a:ext uri="{FF2B5EF4-FFF2-40B4-BE49-F238E27FC236}">
                <a16:creationId xmlns:a16="http://schemas.microsoft.com/office/drawing/2014/main" id="{BE95FF35-E407-4F2E-BEF7-B7C60160D47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9.7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多级指针</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9890">
                                            <p:txEl>
                                              <p:pRg st="0" end="0"/>
                                            </p:txEl>
                                          </p:spTgt>
                                        </p:tgtEl>
                                        <p:attrNameLst>
                                          <p:attrName>style.visibility</p:attrName>
                                        </p:attrNameLst>
                                      </p:cBhvr>
                                      <p:to>
                                        <p:strVal val="visible"/>
                                      </p:to>
                                    </p:set>
                                    <p:anim calcmode="lin" valueType="num">
                                      <p:cBhvr additive="base">
                                        <p:cTn id="7" dur="500" fill="hold"/>
                                        <p:tgtEl>
                                          <p:spTgt spid="118989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8989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89890">
                                            <p:txEl>
                                              <p:pRg st="1" end="1"/>
                                            </p:txEl>
                                          </p:spTgt>
                                        </p:tgtEl>
                                        <p:attrNameLst>
                                          <p:attrName>style.visibility</p:attrName>
                                        </p:attrNameLst>
                                      </p:cBhvr>
                                      <p:to>
                                        <p:strVal val="visible"/>
                                      </p:to>
                                    </p:set>
                                    <p:anim calcmode="lin" valueType="num">
                                      <p:cBhvr additive="base">
                                        <p:cTn id="13" dur="500" fill="hold"/>
                                        <p:tgtEl>
                                          <p:spTgt spid="118989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8989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189892"/>
                                        </p:tgtEl>
                                        <p:attrNameLst>
                                          <p:attrName>style.visibility</p:attrName>
                                        </p:attrNameLst>
                                      </p:cBhvr>
                                      <p:to>
                                        <p:strVal val="visible"/>
                                      </p:to>
                                    </p:set>
                                    <p:animEffect transition="in" filter="box(out)">
                                      <p:cBhvr>
                                        <p:cTn id="19" dur="500"/>
                                        <p:tgtEl>
                                          <p:spTgt spid="1189892"/>
                                        </p:tgtEl>
                                      </p:cBhvr>
                                    </p:animEffect>
                                  </p:childTnLst>
                                  <p:subTnLst>
                                    <p:set>
                                      <p:cBhvr override="childStyle">
                                        <p:cTn dur="1" fill="hold" display="0" masterRel="nextClick" afterEffect="1"/>
                                        <p:tgtEl>
                                          <p:spTgt spid="1189892"/>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89893"/>
                                        </p:tgtEl>
                                        <p:attrNameLst>
                                          <p:attrName>style.visibility</p:attrName>
                                        </p:attrNameLst>
                                      </p:cBhvr>
                                      <p:to>
                                        <p:strVal val="visible"/>
                                      </p:to>
                                    </p:set>
                                    <p:animEffect transition="in" filter="box(out)">
                                      <p:cBhvr>
                                        <p:cTn id="24" dur="500"/>
                                        <p:tgtEl>
                                          <p:spTgt spid="1189893"/>
                                        </p:tgtEl>
                                      </p:cBhvr>
                                    </p:animEffect>
                                  </p:childTnLst>
                                  <p:subTnLst>
                                    <p:set>
                                      <p:cBhvr override="childStyle">
                                        <p:cTn dur="1" fill="hold" display="0" masterRel="nextClick" afterEffect="1"/>
                                        <p:tgtEl>
                                          <p:spTgt spid="1189893"/>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189894"/>
                                        </p:tgtEl>
                                        <p:attrNameLst>
                                          <p:attrName>style.visibility</p:attrName>
                                        </p:attrNameLst>
                                      </p:cBhvr>
                                      <p:to>
                                        <p:strVal val="visible"/>
                                      </p:to>
                                    </p:set>
                                    <p:animEffect transition="in" filter="box(out)">
                                      <p:cBhvr>
                                        <p:cTn id="29" dur="500"/>
                                        <p:tgtEl>
                                          <p:spTgt spid="1189894"/>
                                        </p:tgtEl>
                                      </p:cBhvr>
                                    </p:animEffect>
                                  </p:childTnLst>
                                  <p:subTnLst>
                                    <p:set>
                                      <p:cBhvr override="childStyle">
                                        <p:cTn dur="1" fill="hold" display="0" masterRel="nextClick" afterEffect="1"/>
                                        <p:tgtEl>
                                          <p:spTgt spid="1189894"/>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189895">
                                            <p:txEl>
                                              <p:pRg st="0" end="0"/>
                                            </p:txEl>
                                          </p:spTgt>
                                        </p:tgtEl>
                                        <p:attrNameLst>
                                          <p:attrName>style.visibility</p:attrName>
                                        </p:attrNameLst>
                                      </p:cBhvr>
                                      <p:to>
                                        <p:strVal val="visible"/>
                                      </p:to>
                                    </p:set>
                                    <p:anim calcmode="lin" valueType="num">
                                      <p:cBhvr additive="base">
                                        <p:cTn id="34" dur="500" fill="hold"/>
                                        <p:tgtEl>
                                          <p:spTgt spid="1189895">
                                            <p:txEl>
                                              <p:pRg st="0" end="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189895">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6" fill="hold">
                            <p:stCondLst>
                              <p:cond delay="500"/>
                            </p:stCondLst>
                            <p:childTnLst>
                              <p:par>
                                <p:cTn id="37" presetID="4" presetClass="entr" presetSubtype="32" fill="hold" nodeType="afterEffect">
                                  <p:stCondLst>
                                    <p:cond delay="0"/>
                                  </p:stCondLst>
                                  <p:childTnLst>
                                    <p:set>
                                      <p:cBhvr>
                                        <p:cTn id="38" dur="1" fill="hold">
                                          <p:stCondLst>
                                            <p:cond delay="0"/>
                                          </p:stCondLst>
                                        </p:cTn>
                                        <p:tgtEl>
                                          <p:spTgt spid="1189920"/>
                                        </p:tgtEl>
                                        <p:attrNameLst>
                                          <p:attrName>style.visibility</p:attrName>
                                        </p:attrNameLst>
                                      </p:cBhvr>
                                      <p:to>
                                        <p:strVal val="visible"/>
                                      </p:to>
                                    </p:set>
                                    <p:animEffect transition="in" filter="box(out)">
                                      <p:cBhvr>
                                        <p:cTn id="39" dur="500"/>
                                        <p:tgtEl>
                                          <p:spTgt spid="1189920"/>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1000"/>
                            </p:stCondLst>
                            <p:childTnLst>
                              <p:par>
                                <p:cTn id="41" presetID="4" presetClass="entr" presetSubtype="16" fill="hold" grpId="0" nodeType="afterEffect">
                                  <p:stCondLst>
                                    <p:cond delay="0"/>
                                  </p:stCondLst>
                                  <p:childTnLst>
                                    <p:set>
                                      <p:cBhvr>
                                        <p:cTn id="42" dur="1" fill="hold">
                                          <p:stCondLst>
                                            <p:cond delay="0"/>
                                          </p:stCondLst>
                                        </p:cTn>
                                        <p:tgtEl>
                                          <p:spTgt spid="1189905"/>
                                        </p:tgtEl>
                                        <p:attrNameLst>
                                          <p:attrName>style.visibility</p:attrName>
                                        </p:attrNameLst>
                                      </p:cBhvr>
                                      <p:to>
                                        <p:strVal val="visible"/>
                                      </p:to>
                                    </p:set>
                                    <p:animEffect transition="in" filter="box(in)">
                                      <p:cBhvr>
                                        <p:cTn id="43" dur="500"/>
                                        <p:tgtEl>
                                          <p:spTgt spid="1189905"/>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par>
                                <p:cTn id="44" presetID="4" presetClass="entr" presetSubtype="16" fill="hold" grpId="0" nodeType="withEffect">
                                  <p:stCondLst>
                                    <p:cond delay="0"/>
                                  </p:stCondLst>
                                  <p:childTnLst>
                                    <p:set>
                                      <p:cBhvr>
                                        <p:cTn id="45" dur="1" fill="hold">
                                          <p:stCondLst>
                                            <p:cond delay="0"/>
                                          </p:stCondLst>
                                        </p:cTn>
                                        <p:tgtEl>
                                          <p:spTgt spid="1189921"/>
                                        </p:tgtEl>
                                        <p:attrNameLst>
                                          <p:attrName>style.visibility</p:attrName>
                                        </p:attrNameLst>
                                      </p:cBhvr>
                                      <p:to>
                                        <p:strVal val="visible"/>
                                      </p:to>
                                    </p:set>
                                    <p:animEffect transition="in" filter="box(in)">
                                      <p:cBhvr>
                                        <p:cTn id="46" dur="500"/>
                                        <p:tgtEl>
                                          <p:spTgt spid="1189921"/>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189895">
                                            <p:txEl>
                                              <p:pRg st="1" end="1"/>
                                            </p:txEl>
                                          </p:spTgt>
                                        </p:tgtEl>
                                        <p:attrNameLst>
                                          <p:attrName>style.visibility</p:attrName>
                                        </p:attrNameLst>
                                      </p:cBhvr>
                                      <p:to>
                                        <p:strVal val="visible"/>
                                      </p:to>
                                    </p:set>
                                    <p:anim calcmode="lin" valueType="num">
                                      <p:cBhvr additive="base">
                                        <p:cTn id="51" dur="500" fill="hold"/>
                                        <p:tgtEl>
                                          <p:spTgt spid="1189895">
                                            <p:txEl>
                                              <p:pRg st="1" end="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89895">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3" fill="hold">
                            <p:stCondLst>
                              <p:cond delay="500"/>
                            </p:stCondLst>
                            <p:childTnLst>
                              <p:par>
                                <p:cTn id="54" presetID="4" presetClass="entr" presetSubtype="16" fill="hold" grpId="0" nodeType="afterEffect">
                                  <p:stCondLst>
                                    <p:cond delay="0"/>
                                  </p:stCondLst>
                                  <p:childTnLst>
                                    <p:set>
                                      <p:cBhvr>
                                        <p:cTn id="55" dur="1" fill="hold">
                                          <p:stCondLst>
                                            <p:cond delay="0"/>
                                          </p:stCondLst>
                                        </p:cTn>
                                        <p:tgtEl>
                                          <p:spTgt spid="1189903"/>
                                        </p:tgtEl>
                                        <p:attrNameLst>
                                          <p:attrName>style.visibility</p:attrName>
                                        </p:attrNameLst>
                                      </p:cBhvr>
                                      <p:to>
                                        <p:strVal val="visible"/>
                                      </p:to>
                                    </p:set>
                                    <p:animEffect transition="in" filter="box(in)">
                                      <p:cBhvr>
                                        <p:cTn id="56" dur="500"/>
                                        <p:tgtEl>
                                          <p:spTgt spid="1189903"/>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par>
                          <p:cTn id="57" fill="hold">
                            <p:stCondLst>
                              <p:cond delay="1000"/>
                            </p:stCondLst>
                            <p:childTnLst>
                              <p:par>
                                <p:cTn id="58" presetID="4" presetClass="entr" presetSubtype="16" fill="hold" grpId="0" nodeType="afterEffect">
                                  <p:stCondLst>
                                    <p:cond delay="0"/>
                                  </p:stCondLst>
                                  <p:childTnLst>
                                    <p:set>
                                      <p:cBhvr>
                                        <p:cTn id="59" dur="1" fill="hold">
                                          <p:stCondLst>
                                            <p:cond delay="0"/>
                                          </p:stCondLst>
                                        </p:cTn>
                                        <p:tgtEl>
                                          <p:spTgt spid="1189922"/>
                                        </p:tgtEl>
                                        <p:attrNameLst>
                                          <p:attrName>style.visibility</p:attrName>
                                        </p:attrNameLst>
                                      </p:cBhvr>
                                      <p:to>
                                        <p:strVal val="visible"/>
                                      </p:to>
                                    </p:set>
                                    <p:animEffect transition="in" filter="box(in)">
                                      <p:cBhvr>
                                        <p:cTn id="60" dur="500"/>
                                        <p:tgtEl>
                                          <p:spTgt spid="1189922"/>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189895">
                                            <p:txEl>
                                              <p:pRg st="2" end="2"/>
                                            </p:txEl>
                                          </p:spTgt>
                                        </p:tgtEl>
                                        <p:attrNameLst>
                                          <p:attrName>style.visibility</p:attrName>
                                        </p:attrNameLst>
                                      </p:cBhvr>
                                      <p:to>
                                        <p:strVal val="visible"/>
                                      </p:to>
                                    </p:set>
                                    <p:anim calcmode="lin" valueType="num">
                                      <p:cBhvr additive="base">
                                        <p:cTn id="65" dur="500" fill="hold"/>
                                        <p:tgtEl>
                                          <p:spTgt spid="1189895">
                                            <p:txEl>
                                              <p:pRg st="2" end="2"/>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189895">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par>
                          <p:cTn id="67" fill="hold">
                            <p:stCondLst>
                              <p:cond delay="500"/>
                            </p:stCondLst>
                            <p:childTnLst>
                              <p:par>
                                <p:cTn id="68" presetID="4" presetClass="entr" presetSubtype="16" fill="hold" grpId="0" nodeType="afterEffect">
                                  <p:stCondLst>
                                    <p:cond delay="0"/>
                                  </p:stCondLst>
                                  <p:childTnLst>
                                    <p:set>
                                      <p:cBhvr>
                                        <p:cTn id="69" dur="1" fill="hold">
                                          <p:stCondLst>
                                            <p:cond delay="0"/>
                                          </p:stCondLst>
                                        </p:cTn>
                                        <p:tgtEl>
                                          <p:spTgt spid="1189904"/>
                                        </p:tgtEl>
                                        <p:attrNameLst>
                                          <p:attrName>style.visibility</p:attrName>
                                        </p:attrNameLst>
                                      </p:cBhvr>
                                      <p:to>
                                        <p:strVal val="visible"/>
                                      </p:to>
                                    </p:set>
                                    <p:animEffect transition="in" filter="box(in)">
                                      <p:cBhvr>
                                        <p:cTn id="70" dur="500"/>
                                        <p:tgtEl>
                                          <p:spTgt spid="1189904"/>
                                        </p:tgtEl>
                                      </p:cBhvr>
                                    </p:animEffect>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par>
                          <p:cTn id="71" fill="hold">
                            <p:stCondLst>
                              <p:cond delay="1000"/>
                            </p:stCondLst>
                            <p:childTnLst>
                              <p:par>
                                <p:cTn id="72" presetID="4" presetClass="entr" presetSubtype="16" fill="hold" nodeType="afterEffect">
                                  <p:stCondLst>
                                    <p:cond delay="0"/>
                                  </p:stCondLst>
                                  <p:childTnLst>
                                    <p:set>
                                      <p:cBhvr>
                                        <p:cTn id="73" dur="1" fill="hold">
                                          <p:stCondLst>
                                            <p:cond delay="0"/>
                                          </p:stCondLst>
                                        </p:cTn>
                                        <p:tgtEl>
                                          <p:spTgt spid="1189923">
                                            <p:txEl>
                                              <p:pRg st="0" end="0"/>
                                            </p:txEl>
                                          </p:spTgt>
                                        </p:tgtEl>
                                        <p:attrNameLst>
                                          <p:attrName>style.visibility</p:attrName>
                                        </p:attrNameLst>
                                      </p:cBhvr>
                                      <p:to>
                                        <p:strVal val="visible"/>
                                      </p:to>
                                    </p:set>
                                    <p:animEffect transition="in" filter="box(in)">
                                      <p:cBhvr>
                                        <p:cTn id="74" dur="500"/>
                                        <p:tgtEl>
                                          <p:spTgt spid="1189923">
                                            <p:txEl>
                                              <p:pRg st="0" end="0"/>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189895">
                                            <p:txEl>
                                              <p:pRg st="3" end="3"/>
                                            </p:txEl>
                                          </p:spTgt>
                                        </p:tgtEl>
                                        <p:attrNameLst>
                                          <p:attrName>style.visibility</p:attrName>
                                        </p:attrNameLst>
                                      </p:cBhvr>
                                      <p:to>
                                        <p:strVal val="visible"/>
                                      </p:to>
                                    </p:set>
                                    <p:anim calcmode="lin" valueType="num">
                                      <p:cBhvr additive="base">
                                        <p:cTn id="79" dur="500" fill="hold"/>
                                        <p:tgtEl>
                                          <p:spTgt spid="1189895">
                                            <p:txEl>
                                              <p:pRg st="3" end="3"/>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189895">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par>
                          <p:cTn id="81" fill="hold">
                            <p:stCondLst>
                              <p:cond delay="500"/>
                            </p:stCondLst>
                            <p:childTnLst>
                              <p:par>
                                <p:cTn id="82" presetID="4" presetClass="entr" presetSubtype="16" fill="hold" grpId="0" nodeType="afterEffect">
                                  <p:stCondLst>
                                    <p:cond delay="0"/>
                                  </p:stCondLst>
                                  <p:childTnLst>
                                    <p:set>
                                      <p:cBhvr>
                                        <p:cTn id="83" dur="1" fill="hold">
                                          <p:stCondLst>
                                            <p:cond delay="0"/>
                                          </p:stCondLst>
                                        </p:cTn>
                                        <p:tgtEl>
                                          <p:spTgt spid="1189924"/>
                                        </p:tgtEl>
                                        <p:attrNameLst>
                                          <p:attrName>style.visibility</p:attrName>
                                        </p:attrNameLst>
                                      </p:cBhvr>
                                      <p:to>
                                        <p:strVal val="visible"/>
                                      </p:to>
                                    </p:set>
                                    <p:animEffect transition="in" filter="box(in)">
                                      <p:cBhvr>
                                        <p:cTn id="84" dur="500"/>
                                        <p:tgtEl>
                                          <p:spTgt spid="1189924"/>
                                        </p:tgtEl>
                                      </p:cBhvr>
                                    </p:animEffect>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par>
                          <p:cTn id="85" fill="hold">
                            <p:stCondLst>
                              <p:cond delay="1000"/>
                            </p:stCondLst>
                            <p:childTnLst>
                              <p:par>
                                <p:cTn id="86" presetID="18" presetClass="entr" presetSubtype="3" fill="hold" grpId="0" nodeType="afterEffect">
                                  <p:stCondLst>
                                    <p:cond delay="0"/>
                                  </p:stCondLst>
                                  <p:childTnLst>
                                    <p:set>
                                      <p:cBhvr>
                                        <p:cTn id="87" dur="1" fill="hold">
                                          <p:stCondLst>
                                            <p:cond delay="0"/>
                                          </p:stCondLst>
                                        </p:cTn>
                                        <p:tgtEl>
                                          <p:spTgt spid="1189908"/>
                                        </p:tgtEl>
                                        <p:attrNameLst>
                                          <p:attrName>style.visibility</p:attrName>
                                        </p:attrNameLst>
                                      </p:cBhvr>
                                      <p:to>
                                        <p:strVal val="visible"/>
                                      </p:to>
                                    </p:set>
                                    <p:animEffect transition="in" filter="strips(upRight)">
                                      <p:cBhvr>
                                        <p:cTn id="88" dur="500"/>
                                        <p:tgtEl>
                                          <p:spTgt spid="1189908"/>
                                        </p:tgtEl>
                                      </p:cBhvr>
                                    </p:animEffect>
                                  </p:childTnLst>
                                  <p:subTnLst>
                                    <p:audio>
                                      <p:cMediaNode>
                                        <p:cTn display="0" masterRel="sameClick">
                                          <p:stCondLst>
                                            <p:cond evt="begin" delay="0">
                                              <p:tn val="86"/>
                                            </p:cond>
                                          </p:stCondLst>
                                          <p:endCondLst>
                                            <p:cond evt="onStopAudio" delay="0">
                                              <p:tgtEl>
                                                <p:sldTgt/>
                                              </p:tgtEl>
                                            </p:cond>
                                          </p:endCondLst>
                                        </p:cTn>
                                        <p:tgtEl>
                                          <p:sndTgt r:embed="rId4" name="laser.wav"/>
                                        </p:tgtEl>
                                      </p:cMediaNode>
                                    </p:audio>
                                  </p:sub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1189895">
                                            <p:txEl>
                                              <p:pRg st="4" end="4"/>
                                            </p:txEl>
                                          </p:spTgt>
                                        </p:tgtEl>
                                        <p:attrNameLst>
                                          <p:attrName>style.visibility</p:attrName>
                                        </p:attrNameLst>
                                      </p:cBhvr>
                                      <p:to>
                                        <p:strVal val="visible"/>
                                      </p:to>
                                    </p:set>
                                    <p:anim calcmode="lin" valueType="num">
                                      <p:cBhvr additive="base">
                                        <p:cTn id="93" dur="500" fill="hold"/>
                                        <p:tgtEl>
                                          <p:spTgt spid="1189895">
                                            <p:txEl>
                                              <p:pRg st="4" end="4"/>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189895">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childTnLst>
                          </p:cTn>
                        </p:par>
                        <p:par>
                          <p:cTn id="95" fill="hold">
                            <p:stCondLst>
                              <p:cond delay="500"/>
                            </p:stCondLst>
                            <p:childTnLst>
                              <p:par>
                                <p:cTn id="96" presetID="4" presetClass="entr" presetSubtype="16" fill="hold" grpId="0" nodeType="afterEffect">
                                  <p:stCondLst>
                                    <p:cond delay="0"/>
                                  </p:stCondLst>
                                  <p:childTnLst>
                                    <p:set>
                                      <p:cBhvr>
                                        <p:cTn id="97" dur="1" fill="hold">
                                          <p:stCondLst>
                                            <p:cond delay="0"/>
                                          </p:stCondLst>
                                        </p:cTn>
                                        <p:tgtEl>
                                          <p:spTgt spid="1189925"/>
                                        </p:tgtEl>
                                        <p:attrNameLst>
                                          <p:attrName>style.visibility</p:attrName>
                                        </p:attrNameLst>
                                      </p:cBhvr>
                                      <p:to>
                                        <p:strVal val="visible"/>
                                      </p:to>
                                    </p:set>
                                    <p:animEffect transition="in" filter="box(in)">
                                      <p:cBhvr>
                                        <p:cTn id="98" dur="500"/>
                                        <p:tgtEl>
                                          <p:spTgt spid="1189925"/>
                                        </p:tgtEl>
                                      </p:cBhvr>
                                    </p:animEffect>
                                  </p:childTnLst>
                                  <p:subTnLst>
                                    <p:audio>
                                      <p:cMediaNode>
                                        <p:cTn display="0" masterRel="sameClick">
                                          <p:stCondLst>
                                            <p:cond evt="begin" delay="0">
                                              <p:tn val="96"/>
                                            </p:cond>
                                          </p:stCondLst>
                                          <p:endCondLst>
                                            <p:cond evt="onStopAudio" delay="0">
                                              <p:tgtEl>
                                                <p:sldTgt/>
                                              </p:tgtEl>
                                            </p:cond>
                                          </p:endCondLst>
                                        </p:cTn>
                                        <p:tgtEl>
                                          <p:sndTgt r:embed="rId3" name="camera.wav"/>
                                        </p:tgtEl>
                                      </p:cMediaNode>
                                    </p:audio>
                                  </p:subTnLst>
                                </p:cTn>
                              </p:par>
                            </p:childTnLst>
                          </p:cTn>
                        </p:par>
                        <p:par>
                          <p:cTn id="99" fill="hold">
                            <p:stCondLst>
                              <p:cond delay="1000"/>
                            </p:stCondLst>
                            <p:childTnLst>
                              <p:par>
                                <p:cTn id="100" presetID="18" presetClass="entr" presetSubtype="3" fill="hold" grpId="0" nodeType="afterEffect">
                                  <p:stCondLst>
                                    <p:cond delay="0"/>
                                  </p:stCondLst>
                                  <p:childTnLst>
                                    <p:set>
                                      <p:cBhvr>
                                        <p:cTn id="101" dur="1" fill="hold">
                                          <p:stCondLst>
                                            <p:cond delay="0"/>
                                          </p:stCondLst>
                                        </p:cTn>
                                        <p:tgtEl>
                                          <p:spTgt spid="1189909"/>
                                        </p:tgtEl>
                                        <p:attrNameLst>
                                          <p:attrName>style.visibility</p:attrName>
                                        </p:attrNameLst>
                                      </p:cBhvr>
                                      <p:to>
                                        <p:strVal val="visible"/>
                                      </p:to>
                                    </p:set>
                                    <p:animEffect transition="in" filter="strips(upRight)">
                                      <p:cBhvr>
                                        <p:cTn id="102" dur="500"/>
                                        <p:tgtEl>
                                          <p:spTgt spid="1189909"/>
                                        </p:tgtEl>
                                      </p:cBhvr>
                                    </p:animEffect>
                                  </p:childTnLst>
                                  <p:subTnLst>
                                    <p:audio>
                                      <p:cMediaNode>
                                        <p:cTn display="0" masterRel="sameClick">
                                          <p:stCondLst>
                                            <p:cond evt="begin" delay="0">
                                              <p:tn val="100"/>
                                            </p:cond>
                                          </p:stCondLst>
                                          <p:endCondLst>
                                            <p:cond evt="onStopAudio" delay="0">
                                              <p:tgtEl>
                                                <p:sldTgt/>
                                              </p:tgtEl>
                                            </p:cond>
                                          </p:endCondLst>
                                        </p:cTn>
                                        <p:tgtEl>
                                          <p:sndTgt r:embed="rId4" name="laser.wav"/>
                                        </p:tgtEl>
                                      </p:cMediaNode>
                                    </p:audio>
                                  </p:sub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1189895">
                                            <p:txEl>
                                              <p:pRg st="5" end="5"/>
                                            </p:txEl>
                                          </p:spTgt>
                                        </p:tgtEl>
                                        <p:attrNameLst>
                                          <p:attrName>style.visibility</p:attrName>
                                        </p:attrNameLst>
                                      </p:cBhvr>
                                      <p:to>
                                        <p:strVal val="visible"/>
                                      </p:to>
                                    </p:set>
                                    <p:anim calcmode="lin" valueType="num">
                                      <p:cBhvr additive="base">
                                        <p:cTn id="107" dur="500" fill="hold"/>
                                        <p:tgtEl>
                                          <p:spTgt spid="1189895">
                                            <p:txEl>
                                              <p:pRg st="5" end="5"/>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1189895">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childTnLst>
                          </p:cTn>
                        </p:par>
                        <p:par>
                          <p:cTn id="109" fill="hold">
                            <p:stCondLst>
                              <p:cond delay="500"/>
                            </p:stCondLst>
                            <p:childTnLst>
                              <p:par>
                                <p:cTn id="110" presetID="4" presetClass="entr" presetSubtype="16" fill="hold" grpId="0" nodeType="afterEffect">
                                  <p:stCondLst>
                                    <p:cond delay="0"/>
                                  </p:stCondLst>
                                  <p:childTnLst>
                                    <p:set>
                                      <p:cBhvr>
                                        <p:cTn id="111" dur="1" fill="hold">
                                          <p:stCondLst>
                                            <p:cond delay="0"/>
                                          </p:stCondLst>
                                        </p:cTn>
                                        <p:tgtEl>
                                          <p:spTgt spid="1189926"/>
                                        </p:tgtEl>
                                        <p:attrNameLst>
                                          <p:attrName>style.visibility</p:attrName>
                                        </p:attrNameLst>
                                      </p:cBhvr>
                                      <p:to>
                                        <p:strVal val="visible"/>
                                      </p:to>
                                    </p:set>
                                    <p:animEffect transition="in" filter="box(in)">
                                      <p:cBhvr>
                                        <p:cTn id="112" dur="500"/>
                                        <p:tgtEl>
                                          <p:spTgt spid="1189926"/>
                                        </p:tgtEl>
                                      </p:cBhvr>
                                    </p:animEffect>
                                  </p:childTnLst>
                                  <p:subTnLst>
                                    <p:audio>
                                      <p:cMediaNode>
                                        <p:cTn display="0" masterRel="sameClick">
                                          <p:stCondLst>
                                            <p:cond evt="begin" delay="0">
                                              <p:tn val="110"/>
                                            </p:cond>
                                          </p:stCondLst>
                                          <p:endCondLst>
                                            <p:cond evt="onStopAudio" delay="0">
                                              <p:tgtEl>
                                                <p:sldTgt/>
                                              </p:tgtEl>
                                            </p:cond>
                                          </p:endCondLst>
                                        </p:cTn>
                                        <p:tgtEl>
                                          <p:sndTgt r:embed="rId4" name="laser.wav"/>
                                        </p:tgtEl>
                                      </p:cMediaNode>
                                    </p:audio>
                                  </p:subTnLst>
                                </p:cTn>
                              </p:par>
                            </p:childTnLst>
                          </p:cTn>
                        </p:par>
                      </p:childTnLst>
                    </p:cTn>
                  </p:par>
                  <p:par>
                    <p:cTn id="113" fill="hold">
                      <p:stCondLst>
                        <p:cond delay="indefinite"/>
                      </p:stCondLst>
                      <p:childTnLst>
                        <p:par>
                          <p:cTn id="114" fill="hold">
                            <p:stCondLst>
                              <p:cond delay="0"/>
                            </p:stCondLst>
                            <p:childTnLst>
                              <p:par>
                                <p:cTn id="115" presetID="18" presetClass="entr" presetSubtype="12" fill="hold" nodeType="clickEffect">
                                  <p:stCondLst>
                                    <p:cond delay="0"/>
                                  </p:stCondLst>
                                  <p:childTnLst>
                                    <p:set>
                                      <p:cBhvr>
                                        <p:cTn id="116" dur="1" fill="hold">
                                          <p:stCondLst>
                                            <p:cond delay="0"/>
                                          </p:stCondLst>
                                        </p:cTn>
                                        <p:tgtEl>
                                          <p:spTgt spid="1189927"/>
                                        </p:tgtEl>
                                        <p:attrNameLst>
                                          <p:attrName>style.visibility</p:attrName>
                                        </p:attrNameLst>
                                      </p:cBhvr>
                                      <p:to>
                                        <p:strVal val="visible"/>
                                      </p:to>
                                    </p:set>
                                    <p:animEffect transition="in" filter="strips(downLeft)">
                                      <p:cBhvr>
                                        <p:cTn id="117" dur="500"/>
                                        <p:tgtEl>
                                          <p:spTgt spid="1189927"/>
                                        </p:tgtEl>
                                      </p:cBhvr>
                                    </p:animEffect>
                                  </p:childTnLst>
                                  <p:subTnLst>
                                    <p:audio>
                                      <p:cMediaNode>
                                        <p:cTn display="0" masterRel="sameClick">
                                          <p:stCondLst>
                                            <p:cond evt="begin" delay="0">
                                              <p:tn val="115"/>
                                            </p:cond>
                                          </p:stCondLst>
                                          <p:endCondLst>
                                            <p:cond evt="onStopAudio" delay="0">
                                              <p:tgtEl>
                                                <p:sldTgt/>
                                              </p:tgtEl>
                                            </p:cond>
                                          </p:endCondLst>
                                        </p:cTn>
                                        <p:tgtEl>
                                          <p:sndTgt r:embed="rId4" name="laser.wav"/>
                                        </p:tgtEl>
                                      </p:cMediaNode>
                                    </p:audio>
                                  </p:subTnLst>
                                </p:cTn>
                              </p:par>
                            </p:childTnLst>
                          </p:cTn>
                        </p:par>
                      </p:childTnLst>
                    </p:cTn>
                  </p:par>
                  <p:par>
                    <p:cTn id="118" fill="hold">
                      <p:stCondLst>
                        <p:cond delay="indefinite"/>
                      </p:stCondLst>
                      <p:childTnLst>
                        <p:par>
                          <p:cTn id="119" fill="hold">
                            <p:stCondLst>
                              <p:cond delay="0"/>
                            </p:stCondLst>
                            <p:childTnLst>
                              <p:par>
                                <p:cTn id="120" presetID="18" presetClass="entr" presetSubtype="12" fill="hold" nodeType="clickEffect">
                                  <p:stCondLst>
                                    <p:cond delay="0"/>
                                  </p:stCondLst>
                                  <p:childTnLst>
                                    <p:set>
                                      <p:cBhvr>
                                        <p:cTn id="121" dur="1" fill="hold">
                                          <p:stCondLst>
                                            <p:cond delay="0"/>
                                          </p:stCondLst>
                                        </p:cTn>
                                        <p:tgtEl>
                                          <p:spTgt spid="1189928"/>
                                        </p:tgtEl>
                                        <p:attrNameLst>
                                          <p:attrName>style.visibility</p:attrName>
                                        </p:attrNameLst>
                                      </p:cBhvr>
                                      <p:to>
                                        <p:strVal val="visible"/>
                                      </p:to>
                                    </p:set>
                                    <p:animEffect transition="in" filter="strips(downLeft)">
                                      <p:cBhvr>
                                        <p:cTn id="122" dur="500"/>
                                        <p:tgtEl>
                                          <p:spTgt spid="1189928"/>
                                        </p:tgtEl>
                                      </p:cBhvr>
                                    </p:animEffect>
                                  </p:childTnLst>
                                  <p:subTnLst>
                                    <p:audio>
                                      <p:cMediaNode>
                                        <p:cTn display="0" masterRel="sameClick">
                                          <p:stCondLst>
                                            <p:cond evt="begin" delay="0">
                                              <p:tn val="120"/>
                                            </p:cond>
                                          </p:stCondLst>
                                          <p:endCondLst>
                                            <p:cond evt="onStopAudio" delay="0">
                                              <p:tgtEl>
                                                <p:sldTgt/>
                                              </p:tgtEl>
                                            </p:cond>
                                          </p:endCondLst>
                                        </p:cTn>
                                        <p:tgtEl>
                                          <p:sndTgt r:embed="rId4" name="laser.wav"/>
                                        </p:tgtEl>
                                      </p:cMediaNode>
                                    </p:audio>
                                  </p:subTnLst>
                                </p:cTn>
                              </p:par>
                            </p:childTnLst>
                          </p:cTn>
                        </p:par>
                      </p:childTnLst>
                    </p:cTn>
                  </p:par>
                  <p:par>
                    <p:cTn id="123" fill="hold">
                      <p:stCondLst>
                        <p:cond delay="indefinite"/>
                      </p:stCondLst>
                      <p:childTnLst>
                        <p:par>
                          <p:cTn id="124" fill="hold">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1189891"/>
                                        </p:tgtEl>
                                        <p:attrNameLst>
                                          <p:attrName>style.visibility</p:attrName>
                                        </p:attrNameLst>
                                      </p:cBhvr>
                                      <p:to>
                                        <p:strVal val="visible"/>
                                      </p:to>
                                    </p:set>
                                    <p:anim calcmode="lin" valueType="num">
                                      <p:cBhvr additive="base">
                                        <p:cTn id="127" dur="500" fill="hold"/>
                                        <p:tgtEl>
                                          <p:spTgt spid="1189891"/>
                                        </p:tgtEl>
                                        <p:attrNameLst>
                                          <p:attrName>ppt_x</p:attrName>
                                        </p:attrNameLst>
                                      </p:cBhvr>
                                      <p:tavLst>
                                        <p:tav tm="0">
                                          <p:val>
                                            <p:strVal val="0-#ppt_w/2"/>
                                          </p:val>
                                        </p:tav>
                                        <p:tav tm="100000">
                                          <p:val>
                                            <p:strVal val="#ppt_x"/>
                                          </p:val>
                                        </p:tav>
                                      </p:tavLst>
                                    </p:anim>
                                    <p:anim calcmode="lin" valueType="num">
                                      <p:cBhvr additive="base">
                                        <p:cTn id="128" dur="500" fill="hold"/>
                                        <p:tgtEl>
                                          <p:spTgt spid="118989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25"/>
                                            </p:cond>
                                          </p:stCondLst>
                                          <p:endCondLst>
                                            <p:cond evt="onStopAudio" delay="0">
                                              <p:tgtEl>
                                                <p:sldTgt/>
                                              </p:tgtEl>
                                            </p:cond>
                                          </p:endCondLst>
                                        </p:cTn>
                                        <p:tgtEl>
                                          <p:sndTgt r:embed="rId2" name="WHOOSH.WAV"/>
                                        </p:tgtEl>
                                      </p:cMediaNode>
                                    </p:audio>
                                  </p:subTnLst>
                                </p:cTn>
                              </p:par>
                            </p:childTnLst>
                          </p:cTn>
                        </p:par>
                      </p:childTnLst>
                    </p:cTn>
                  </p:par>
                  <p:par>
                    <p:cTn id="129" fill="hold">
                      <p:stCondLst>
                        <p:cond delay="indefinite"/>
                      </p:stCondLst>
                      <p:childTnLst>
                        <p:par>
                          <p:cTn id="130" fill="hold">
                            <p:stCondLst>
                              <p:cond delay="0"/>
                            </p:stCondLst>
                            <p:childTnLst>
                              <p:par>
                                <p:cTn id="131" presetID="2" presetClass="entr" presetSubtype="8" fill="hold" grpId="0" nodeType="clickEffect">
                                  <p:stCondLst>
                                    <p:cond delay="0"/>
                                  </p:stCondLst>
                                  <p:childTnLst>
                                    <p:set>
                                      <p:cBhvr>
                                        <p:cTn id="132" dur="1" fill="hold">
                                          <p:stCondLst>
                                            <p:cond delay="0"/>
                                          </p:stCondLst>
                                        </p:cTn>
                                        <p:tgtEl>
                                          <p:spTgt spid="1189915"/>
                                        </p:tgtEl>
                                        <p:attrNameLst>
                                          <p:attrName>style.visibility</p:attrName>
                                        </p:attrNameLst>
                                      </p:cBhvr>
                                      <p:to>
                                        <p:strVal val="visible"/>
                                      </p:to>
                                    </p:set>
                                    <p:anim calcmode="lin" valueType="num">
                                      <p:cBhvr additive="base">
                                        <p:cTn id="133" dur="500" fill="hold"/>
                                        <p:tgtEl>
                                          <p:spTgt spid="1189915"/>
                                        </p:tgtEl>
                                        <p:attrNameLst>
                                          <p:attrName>ppt_x</p:attrName>
                                        </p:attrNameLst>
                                      </p:cBhvr>
                                      <p:tavLst>
                                        <p:tav tm="0">
                                          <p:val>
                                            <p:strVal val="0-#ppt_w/2"/>
                                          </p:val>
                                        </p:tav>
                                        <p:tav tm="100000">
                                          <p:val>
                                            <p:strVal val="#ppt_x"/>
                                          </p:val>
                                        </p:tav>
                                      </p:tavLst>
                                    </p:anim>
                                    <p:anim calcmode="lin" valueType="num">
                                      <p:cBhvr additive="base">
                                        <p:cTn id="134" dur="500" fill="hold"/>
                                        <p:tgtEl>
                                          <p:spTgt spid="11899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1"/>
                                            </p:cond>
                                          </p:stCondLst>
                                          <p:endCondLst>
                                            <p:cond evt="onStopAudio" delay="0">
                                              <p:tgtEl>
                                                <p:sldTgt/>
                                              </p:tgtEl>
                                            </p:cond>
                                          </p:endCondLst>
                                        </p:cTn>
                                        <p:tgtEl>
                                          <p:sndTgt r:embed="rId2" name="WHOOSH.WAV"/>
                                        </p:tgtEl>
                                      </p:cMediaNode>
                                    </p:audio>
                                  </p:subTnLst>
                                </p:cTn>
                              </p:par>
                            </p:childTnLst>
                          </p:cTn>
                        </p:par>
                      </p:childTnLst>
                    </p:cTn>
                  </p:par>
                  <p:par>
                    <p:cTn id="135" fill="hold">
                      <p:stCondLst>
                        <p:cond delay="indefinite"/>
                      </p:stCondLst>
                      <p:childTnLst>
                        <p:par>
                          <p:cTn id="136" fill="hold">
                            <p:stCondLst>
                              <p:cond delay="0"/>
                            </p:stCondLst>
                            <p:childTnLst>
                              <p:par>
                                <p:cTn id="137" presetID="4" presetClass="entr" presetSubtype="32" fill="hold" nodeType="clickEffect">
                                  <p:stCondLst>
                                    <p:cond delay="0"/>
                                  </p:stCondLst>
                                  <p:childTnLst>
                                    <p:set>
                                      <p:cBhvr>
                                        <p:cTn id="138" dur="1" fill="hold">
                                          <p:stCondLst>
                                            <p:cond delay="0"/>
                                          </p:stCondLst>
                                        </p:cTn>
                                        <p:tgtEl>
                                          <p:spTgt spid="1189916">
                                            <p:txEl>
                                              <p:pRg st="0" end="0"/>
                                            </p:txEl>
                                          </p:spTgt>
                                        </p:tgtEl>
                                        <p:attrNameLst>
                                          <p:attrName>style.visibility</p:attrName>
                                        </p:attrNameLst>
                                      </p:cBhvr>
                                      <p:to>
                                        <p:strVal val="visible"/>
                                      </p:to>
                                    </p:set>
                                    <p:animEffect transition="in" filter="box(out)">
                                      <p:cBhvr>
                                        <p:cTn id="139" dur="500"/>
                                        <p:tgtEl>
                                          <p:spTgt spid="1189916">
                                            <p:txEl>
                                              <p:pRg st="0" end="0"/>
                                            </p:txEl>
                                          </p:spTgt>
                                        </p:tgtEl>
                                      </p:cBhvr>
                                    </p:animEffect>
                                  </p:childTnLst>
                                  <p:subTnLst>
                                    <p:audio>
                                      <p:cMediaNode>
                                        <p:cTn display="0" masterRel="sameClick">
                                          <p:stCondLst>
                                            <p:cond evt="begin" delay="0">
                                              <p:tn val="137"/>
                                            </p:cond>
                                          </p:stCondLst>
                                          <p:endCondLst>
                                            <p:cond evt="onStopAudio" delay="0">
                                              <p:tgtEl>
                                                <p:sldTgt/>
                                              </p:tgtEl>
                                            </p:cond>
                                          </p:endCondLst>
                                        </p:cTn>
                                        <p:tgtEl>
                                          <p:sndTgt r:embed="rId3" name="camera.wav"/>
                                        </p:tgtEl>
                                      </p:cMediaNode>
                                    </p:audio>
                                  </p:subTnLst>
                                </p:cTn>
                              </p:par>
                            </p:childTnLst>
                          </p:cTn>
                        </p:par>
                      </p:childTnLst>
                    </p:cTn>
                  </p:par>
                  <p:par>
                    <p:cTn id="140" fill="hold">
                      <p:stCondLst>
                        <p:cond delay="indefinite"/>
                      </p:stCondLst>
                      <p:childTnLst>
                        <p:par>
                          <p:cTn id="141" fill="hold">
                            <p:stCondLst>
                              <p:cond delay="0"/>
                            </p:stCondLst>
                            <p:childTnLst>
                              <p:par>
                                <p:cTn id="142" presetID="4" presetClass="entr" presetSubtype="32" fill="hold" nodeType="clickEffect">
                                  <p:stCondLst>
                                    <p:cond delay="0"/>
                                  </p:stCondLst>
                                  <p:childTnLst>
                                    <p:set>
                                      <p:cBhvr>
                                        <p:cTn id="143" dur="1" fill="hold">
                                          <p:stCondLst>
                                            <p:cond delay="0"/>
                                          </p:stCondLst>
                                        </p:cTn>
                                        <p:tgtEl>
                                          <p:spTgt spid="1189916">
                                            <p:txEl>
                                              <p:pRg st="1" end="1"/>
                                            </p:txEl>
                                          </p:spTgt>
                                        </p:tgtEl>
                                        <p:attrNameLst>
                                          <p:attrName>style.visibility</p:attrName>
                                        </p:attrNameLst>
                                      </p:cBhvr>
                                      <p:to>
                                        <p:strVal val="visible"/>
                                      </p:to>
                                    </p:set>
                                    <p:animEffect transition="in" filter="box(out)">
                                      <p:cBhvr>
                                        <p:cTn id="144" dur="500"/>
                                        <p:tgtEl>
                                          <p:spTgt spid="1189916">
                                            <p:txEl>
                                              <p:pRg st="1" end="1"/>
                                            </p:txEl>
                                          </p:spTgt>
                                        </p:tgtEl>
                                      </p:cBhvr>
                                    </p:animEffect>
                                  </p:childTnLst>
                                  <p:subTnLst>
                                    <p:audio>
                                      <p:cMediaNode>
                                        <p:cTn display="0" masterRel="sameClick">
                                          <p:stCondLst>
                                            <p:cond evt="begin" delay="0">
                                              <p:tn val="14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9890" grpId="0" build="p" bldLvl="5" autoUpdateAnimBg="0"/>
      <p:bldP spid="1189891" grpId="0"/>
      <p:bldP spid="1189892" grpId="0" animBg="1" autoUpdateAnimBg="0"/>
      <p:bldP spid="1189893" grpId="0" animBg="1" autoUpdateAnimBg="0"/>
      <p:bldP spid="1189894" grpId="0" animBg="1" autoUpdateAnimBg="0"/>
      <p:bldP spid="1189903" grpId="0"/>
      <p:bldP spid="1189904" grpId="0"/>
      <p:bldP spid="1189905" grpId="0"/>
      <p:bldP spid="1189908" grpId="0" animBg="1"/>
      <p:bldP spid="1189909" grpId="0" animBg="1"/>
      <p:bldP spid="1189915" grpId="0"/>
      <p:bldP spid="1189921" grpId="0"/>
      <p:bldP spid="1189922" grpId="0"/>
      <p:bldP spid="1189924" grpId="0"/>
      <p:bldP spid="1189925" grpId="0"/>
      <p:bldP spid="1189926"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 name="Rectangle 4">
            <a:extLst>
              <a:ext uri="{FF2B5EF4-FFF2-40B4-BE49-F238E27FC236}">
                <a16:creationId xmlns:a16="http://schemas.microsoft.com/office/drawing/2014/main" id="{3C53A62C-D100-481A-A8F6-0ADCAFBDA770}"/>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9.7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多级指针</a:t>
            </a:r>
          </a:p>
        </p:txBody>
      </p:sp>
      <p:sp>
        <p:nvSpPr>
          <p:cNvPr id="1190917" name="Rectangle 5"/>
          <p:cNvSpPr>
            <a:spLocks noChangeArrowheads="1"/>
          </p:cNvSpPr>
          <p:nvPr/>
        </p:nvSpPr>
        <p:spPr bwMode="auto">
          <a:xfrm>
            <a:off x="825897" y="811560"/>
            <a:ext cx="4982071" cy="457200"/>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利用二级指针来处理字符串 </a:t>
            </a:r>
          </a:p>
        </p:txBody>
      </p:sp>
      <p:sp>
        <p:nvSpPr>
          <p:cNvPr id="1190918" name="Rectangle 6" descr="信纸"/>
          <p:cNvSpPr>
            <a:spLocks noChangeArrowheads="1"/>
          </p:cNvSpPr>
          <p:nvPr/>
        </p:nvSpPr>
        <p:spPr bwMode="auto">
          <a:xfrm>
            <a:off x="5519936" y="810785"/>
            <a:ext cx="6230406" cy="4093428"/>
          </a:xfrm>
          <a:prstGeom prst="rect">
            <a:avLst/>
          </a:prstGeom>
          <a:gradFill>
            <a:gsLst>
              <a:gs pos="0">
                <a:srgbClr val="CFCFD1"/>
              </a:gs>
              <a:gs pos="100000">
                <a:schemeClr val="bg1">
                  <a:lumMod val="95000"/>
                </a:schemeClr>
              </a:gs>
            </a:gsLst>
            <a:lin ang="135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571500" algn="l"/>
              </a:tabLst>
            </a:pPr>
            <a:r>
              <a:rPr lang="en-US" altLang="zh-CN" sz="2000" dirty="0"/>
              <a:t>#include &lt;</a:t>
            </a:r>
            <a:r>
              <a:rPr lang="en-US" altLang="zh-CN" sz="2000" dirty="0" err="1"/>
              <a:t>stdio.h</a:t>
            </a:r>
            <a:r>
              <a:rPr lang="en-US" altLang="zh-CN" sz="2000" dirty="0"/>
              <a:t>&gt;</a:t>
            </a:r>
          </a:p>
          <a:p>
            <a:pPr marL="457200" indent="-457200">
              <a:tabLst>
                <a:tab pos="571500" algn="l"/>
              </a:tabLst>
            </a:pPr>
            <a:r>
              <a:rPr lang="en-US" altLang="zh-CN" sz="2000" dirty="0"/>
              <a:t>#define  NULL   0</a:t>
            </a:r>
          </a:p>
          <a:p>
            <a:pPr marL="457200" indent="-457200">
              <a:tabLst>
                <a:tab pos="571500" algn="l"/>
              </a:tabLst>
            </a:pPr>
            <a:r>
              <a:rPr lang="en-US" altLang="zh-CN" sz="2000" dirty="0" err="1">
                <a:solidFill>
                  <a:srgbClr val="CC0099"/>
                </a:solidFill>
              </a:rPr>
              <a:t>int</a:t>
            </a:r>
            <a:r>
              <a:rPr lang="en-US" altLang="zh-CN" sz="2000" dirty="0">
                <a:solidFill>
                  <a:srgbClr val="CC0099"/>
                </a:solidFill>
              </a:rPr>
              <a:t> main ( )</a:t>
            </a:r>
          </a:p>
          <a:p>
            <a:pPr marL="457200" indent="-457200">
              <a:tabLst>
                <a:tab pos="571500" algn="l"/>
              </a:tabLst>
            </a:pPr>
            <a:r>
              <a:rPr lang="en-US" altLang="zh-CN" sz="2000" dirty="0"/>
              <a:t>{</a:t>
            </a:r>
          </a:p>
          <a:p>
            <a:pPr marL="457200" indent="-457200">
              <a:tabLst>
                <a:tab pos="571500" algn="l"/>
              </a:tabLst>
            </a:pPr>
            <a:r>
              <a:rPr lang="en-US" altLang="zh-CN" sz="2000" dirty="0"/>
              <a:t>  char **p;</a:t>
            </a:r>
          </a:p>
          <a:p>
            <a:pPr marL="457200" indent="-457200">
              <a:tabLst>
                <a:tab pos="571500" algn="l"/>
              </a:tabLst>
            </a:pPr>
            <a:r>
              <a:rPr lang="en-US" altLang="zh-CN" sz="2000" dirty="0"/>
              <a:t>  char *name[ ] = {"hello", "good", "world", "bye", ""};</a:t>
            </a:r>
          </a:p>
          <a:p>
            <a:pPr marL="457200" indent="-457200">
              <a:tabLst>
                <a:tab pos="571500" algn="l"/>
              </a:tabLst>
            </a:pPr>
            <a:r>
              <a:rPr lang="en-US" altLang="zh-CN" sz="2000" dirty="0"/>
              <a:t>  p = name + 1;</a:t>
            </a:r>
          </a:p>
          <a:p>
            <a:pPr marL="457200" indent="-457200">
              <a:tabLst>
                <a:tab pos="571500" algn="l"/>
              </a:tabLst>
            </a:pPr>
            <a:r>
              <a:rPr lang="en-US" altLang="zh-CN" sz="2000" dirty="0"/>
              <a:t>  </a:t>
            </a:r>
            <a:r>
              <a:rPr lang="en-US" altLang="zh-CN" sz="2000" dirty="0" err="1"/>
              <a:t>printf</a:t>
            </a:r>
            <a:r>
              <a:rPr lang="en-US" altLang="zh-CN" sz="2000" dirty="0"/>
              <a:t> ("%X</a:t>
            </a:r>
            <a:r>
              <a:rPr lang="zh-CN" altLang="en-US" sz="2000" dirty="0"/>
              <a:t>：</a:t>
            </a:r>
            <a:r>
              <a:rPr lang="en-US" altLang="zh-CN" sz="2000" dirty="0"/>
              <a:t>%s  ", *p, *p);</a:t>
            </a:r>
          </a:p>
          <a:p>
            <a:pPr marL="457200" indent="-457200">
              <a:tabLst>
                <a:tab pos="571500" algn="l"/>
              </a:tabLst>
            </a:pPr>
            <a:r>
              <a:rPr lang="en-US" altLang="zh-CN" sz="2000" dirty="0"/>
              <a:t>  p += 2;</a:t>
            </a:r>
          </a:p>
          <a:p>
            <a:pPr marL="457200" indent="-457200">
              <a:tabLst>
                <a:tab pos="571500" algn="l"/>
              </a:tabLst>
            </a:pPr>
            <a:r>
              <a:rPr lang="en-US" altLang="zh-CN" sz="2000" dirty="0"/>
              <a:t>  while (**p != NULL)</a:t>
            </a:r>
          </a:p>
          <a:p>
            <a:pPr marL="457200" indent="-457200">
              <a:tabLst>
                <a:tab pos="571500" algn="l"/>
              </a:tabLst>
            </a:pPr>
            <a:r>
              <a:rPr lang="en-US" altLang="zh-CN" sz="2000" dirty="0"/>
              <a:t>      </a:t>
            </a:r>
            <a:r>
              <a:rPr lang="en-US" altLang="zh-CN" sz="2000" dirty="0" err="1"/>
              <a:t>printf</a:t>
            </a:r>
            <a:r>
              <a:rPr lang="en-US" altLang="zh-CN" sz="2000" dirty="0"/>
              <a:t> ("%s\n", *p++);</a:t>
            </a:r>
          </a:p>
          <a:p>
            <a:pPr marL="457200" indent="-457200">
              <a:tabLst>
                <a:tab pos="571500" algn="l"/>
              </a:tabLst>
            </a:pPr>
            <a:r>
              <a:rPr lang="en-US" altLang="zh-CN" sz="2000" dirty="0"/>
              <a:t>  return 0;</a:t>
            </a:r>
          </a:p>
          <a:p>
            <a:pPr marL="457200" indent="-457200">
              <a:tabLst>
                <a:tab pos="571500" algn="l"/>
              </a:tabLst>
            </a:pPr>
            <a:r>
              <a:rPr lang="en-US" altLang="zh-CN" sz="2000" dirty="0"/>
              <a:t>}</a:t>
            </a:r>
          </a:p>
        </p:txBody>
      </p:sp>
      <p:graphicFrame>
        <p:nvGraphicFramePr>
          <p:cNvPr id="1191074" name="Group 162"/>
          <p:cNvGraphicFramePr>
            <a:graphicFrameLocks noGrp="1"/>
          </p:cNvGraphicFramePr>
          <p:nvPr>
            <p:ph sz="half" idx="4294967295"/>
            <p:extLst>
              <p:ext uri="{D42A27DB-BD31-4B8C-83A1-F6EECF244321}">
                <p14:modId xmlns:p14="http://schemas.microsoft.com/office/powerpoint/2010/main" val="934569574"/>
              </p:ext>
            </p:extLst>
          </p:nvPr>
        </p:nvGraphicFramePr>
        <p:xfrm>
          <a:off x="730885" y="4652963"/>
          <a:ext cx="1368425" cy="2107565"/>
        </p:xfrm>
        <a:graphic>
          <a:graphicData uri="http://schemas.openxmlformats.org/drawingml/2006/table">
            <a:tbl>
              <a:tblPr/>
              <a:tblGrid>
                <a:gridCol w="1368425">
                  <a:extLst>
                    <a:ext uri="{9D8B030D-6E8A-4147-A177-3AD203B41FA5}">
                      <a16:colId xmlns:a16="http://schemas.microsoft.com/office/drawing/2014/main" val="20000"/>
                    </a:ext>
                  </a:extLst>
                </a:gridCol>
              </a:tblGrid>
              <a:tr h="415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name[0]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name[1]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name[2]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name[3]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name[4]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191076" name="Group 164"/>
          <p:cNvGraphicFramePr>
            <a:graphicFrameLocks noGrp="1"/>
          </p:cNvGraphicFramePr>
          <p:nvPr>
            <p:ph sz="half" idx="4294967295"/>
            <p:extLst>
              <p:ext uri="{D42A27DB-BD31-4B8C-83A1-F6EECF244321}">
                <p14:modId xmlns:p14="http://schemas.microsoft.com/office/powerpoint/2010/main" val="2142751220"/>
              </p:ext>
            </p:extLst>
          </p:nvPr>
        </p:nvGraphicFramePr>
        <p:xfrm>
          <a:off x="7680176" y="4652963"/>
          <a:ext cx="3810000" cy="2087565"/>
        </p:xfrm>
        <a:graphic>
          <a:graphicData uri="http://schemas.openxmlformats.org/drawingml/2006/table">
            <a:tbl>
              <a:tblPr/>
              <a:tblGrid>
                <a:gridCol w="647700">
                  <a:extLst>
                    <a:ext uri="{9D8B030D-6E8A-4147-A177-3AD203B41FA5}">
                      <a16:colId xmlns:a16="http://schemas.microsoft.com/office/drawing/2014/main" val="20000"/>
                    </a:ext>
                  </a:extLst>
                </a:gridCol>
                <a:gridCol w="622300">
                  <a:extLst>
                    <a:ext uri="{9D8B030D-6E8A-4147-A177-3AD203B41FA5}">
                      <a16:colId xmlns:a16="http://schemas.microsoft.com/office/drawing/2014/main" val="20001"/>
                    </a:ext>
                  </a:extLst>
                </a:gridCol>
                <a:gridCol w="635000">
                  <a:extLst>
                    <a:ext uri="{9D8B030D-6E8A-4147-A177-3AD203B41FA5}">
                      <a16:colId xmlns:a16="http://schemas.microsoft.com/office/drawing/2014/main" val="20002"/>
                    </a:ext>
                  </a:extLst>
                </a:gridCol>
                <a:gridCol w="635000">
                  <a:extLst>
                    <a:ext uri="{9D8B030D-6E8A-4147-A177-3AD203B41FA5}">
                      <a16:colId xmlns:a16="http://schemas.microsoft.com/office/drawing/2014/main" val="20003"/>
                    </a:ext>
                  </a:extLst>
                </a:gridCol>
                <a:gridCol w="6350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tblGrid>
              <a:tr h="417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'h'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'l'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'l'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'o'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'g'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'o'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'o'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'd'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'w'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'o'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'r'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'l'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'd'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'b'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417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0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horzOverflow="overflow">
                    <a:lnL>
                      <a:noFill/>
                    </a:lnL>
                    <a:lnR>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horzOverflow="overflow">
                    <a:lnL>
                      <a:noFill/>
                    </a:lnL>
                    <a:lnR>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91069" name="Line 157"/>
          <p:cNvSpPr>
            <a:spLocks noChangeShapeType="1"/>
          </p:cNvSpPr>
          <p:nvPr/>
        </p:nvSpPr>
        <p:spPr bwMode="auto">
          <a:xfrm>
            <a:off x="4455254" y="4869036"/>
            <a:ext cx="1368425" cy="0"/>
          </a:xfrm>
          <a:prstGeom prst="line">
            <a:avLst/>
          </a:prstGeom>
          <a:noFill/>
          <a:ln w="25400">
            <a:solidFill>
              <a:schemeClr val="accent2">
                <a:lumMod val="50000"/>
              </a:schemeClr>
            </a:solidFill>
            <a:round/>
            <a:headEnd/>
            <a:tailEnd type="stealth" w="lg" len="lg"/>
          </a:ln>
          <a:effectLst>
            <a:outerShdw dist="35921" dir="2700000" algn="ctr" rotWithShape="0">
              <a:schemeClr val="bg2"/>
            </a:outerShdw>
          </a:effectLst>
        </p:spPr>
        <p:txBody>
          <a:bodyPr/>
          <a:lstStyle/>
          <a:p>
            <a:endParaRPr lang="zh-CN" altLang="en-US"/>
          </a:p>
        </p:txBody>
      </p:sp>
      <p:sp>
        <p:nvSpPr>
          <p:cNvPr id="1191070" name="Line 158"/>
          <p:cNvSpPr>
            <a:spLocks noChangeShapeType="1"/>
          </p:cNvSpPr>
          <p:nvPr/>
        </p:nvSpPr>
        <p:spPr bwMode="auto">
          <a:xfrm>
            <a:off x="4442554" y="5270674"/>
            <a:ext cx="1368425" cy="0"/>
          </a:xfrm>
          <a:prstGeom prst="line">
            <a:avLst/>
          </a:prstGeom>
          <a:noFill/>
          <a:ln w="25400">
            <a:solidFill>
              <a:schemeClr val="accent2">
                <a:lumMod val="50000"/>
              </a:schemeClr>
            </a:solidFill>
            <a:round/>
            <a:headEnd/>
            <a:tailEnd type="stealth" w="lg" len="lg"/>
          </a:ln>
          <a:effectLst>
            <a:outerShdw dist="35921" dir="2700000" algn="ctr" rotWithShape="0">
              <a:schemeClr val="bg2"/>
            </a:outerShdw>
          </a:effectLst>
        </p:spPr>
        <p:txBody>
          <a:bodyPr/>
          <a:lstStyle/>
          <a:p>
            <a:endParaRPr lang="zh-CN" altLang="en-US"/>
          </a:p>
        </p:txBody>
      </p:sp>
      <p:sp>
        <p:nvSpPr>
          <p:cNvPr id="1191071" name="Line 159"/>
          <p:cNvSpPr>
            <a:spLocks noChangeShapeType="1"/>
          </p:cNvSpPr>
          <p:nvPr/>
        </p:nvSpPr>
        <p:spPr bwMode="auto">
          <a:xfrm>
            <a:off x="4444142" y="5715174"/>
            <a:ext cx="1368425" cy="0"/>
          </a:xfrm>
          <a:prstGeom prst="line">
            <a:avLst/>
          </a:prstGeom>
          <a:noFill/>
          <a:ln w="25400">
            <a:solidFill>
              <a:schemeClr val="accent2">
                <a:lumMod val="50000"/>
              </a:schemeClr>
            </a:solidFill>
            <a:round/>
            <a:headEnd/>
            <a:tailEnd type="stealth" w="lg" len="lg"/>
          </a:ln>
          <a:effectLst>
            <a:outerShdw dist="35921" dir="2700000" algn="ctr" rotWithShape="0">
              <a:schemeClr val="bg2"/>
            </a:outerShdw>
          </a:effectLst>
        </p:spPr>
        <p:txBody>
          <a:bodyPr/>
          <a:lstStyle/>
          <a:p>
            <a:endParaRPr lang="zh-CN" altLang="en-US"/>
          </a:p>
        </p:txBody>
      </p:sp>
      <p:sp>
        <p:nvSpPr>
          <p:cNvPr id="1191072" name="Line 160"/>
          <p:cNvSpPr>
            <a:spLocks noChangeShapeType="1"/>
          </p:cNvSpPr>
          <p:nvPr/>
        </p:nvSpPr>
        <p:spPr bwMode="auto">
          <a:xfrm>
            <a:off x="4431442" y="6116811"/>
            <a:ext cx="1368425" cy="0"/>
          </a:xfrm>
          <a:prstGeom prst="line">
            <a:avLst/>
          </a:prstGeom>
          <a:noFill/>
          <a:ln w="25400">
            <a:solidFill>
              <a:schemeClr val="accent2">
                <a:lumMod val="50000"/>
              </a:schemeClr>
            </a:solidFill>
            <a:round/>
            <a:headEnd/>
            <a:tailEnd type="stealth" w="lg" len="lg"/>
          </a:ln>
          <a:effectLst>
            <a:outerShdw dist="35921" dir="2700000" algn="ctr" rotWithShape="0">
              <a:schemeClr val="bg2"/>
            </a:outerShdw>
          </a:effectLst>
        </p:spPr>
        <p:txBody>
          <a:bodyPr/>
          <a:lstStyle/>
          <a:p>
            <a:endParaRPr lang="zh-CN" altLang="en-US"/>
          </a:p>
        </p:txBody>
      </p:sp>
      <p:sp>
        <p:nvSpPr>
          <p:cNvPr id="1191073" name="Line 161"/>
          <p:cNvSpPr>
            <a:spLocks noChangeShapeType="1"/>
          </p:cNvSpPr>
          <p:nvPr/>
        </p:nvSpPr>
        <p:spPr bwMode="auto">
          <a:xfrm>
            <a:off x="4433029" y="6504161"/>
            <a:ext cx="1368425" cy="0"/>
          </a:xfrm>
          <a:prstGeom prst="line">
            <a:avLst/>
          </a:prstGeom>
          <a:noFill/>
          <a:ln w="25400">
            <a:solidFill>
              <a:schemeClr val="accent2">
                <a:lumMod val="50000"/>
              </a:schemeClr>
            </a:solidFill>
            <a:round/>
            <a:headEnd/>
            <a:tailEnd type="stealth" w="lg" len="lg"/>
          </a:ln>
          <a:effectLst>
            <a:outerShdw dist="35921" dir="2700000" algn="ctr" rotWithShape="0">
              <a:schemeClr val="bg2"/>
            </a:outerShdw>
          </a:effectLst>
        </p:spPr>
        <p:txBody>
          <a:bodyPr/>
          <a:lstStyle/>
          <a:p>
            <a:endParaRPr lang="zh-CN" altLang="en-US"/>
          </a:p>
        </p:txBody>
      </p:sp>
      <p:grpSp>
        <p:nvGrpSpPr>
          <p:cNvPr id="1191079" name="Group 167"/>
          <p:cNvGrpSpPr>
            <a:grpSpLocks/>
          </p:cNvGrpSpPr>
          <p:nvPr/>
        </p:nvGrpSpPr>
        <p:grpSpPr bwMode="auto">
          <a:xfrm>
            <a:off x="2798539" y="4984756"/>
            <a:ext cx="1052513" cy="461963"/>
            <a:chOff x="512" y="3140"/>
            <a:chExt cx="663" cy="291"/>
          </a:xfrm>
        </p:grpSpPr>
        <p:sp useBgFill="1">
          <p:nvSpPr>
            <p:cNvPr id="1191077" name="Line 165"/>
            <p:cNvSpPr>
              <a:spLocks noChangeShapeType="1"/>
            </p:cNvSpPr>
            <p:nvPr/>
          </p:nvSpPr>
          <p:spPr bwMode="auto">
            <a:xfrm>
              <a:off x="721" y="3275"/>
              <a:ext cx="454" cy="0"/>
            </a:xfrm>
            <a:prstGeom prst="line">
              <a:avLst/>
            </a:prstGeom>
            <a:ln w="28575">
              <a:solidFill>
                <a:srgbClr val="C00000"/>
              </a:solidFill>
              <a:round/>
              <a:headEnd/>
              <a:tailEnd type="stealth" w="lg" len="lg"/>
            </a:ln>
            <a:effectLst>
              <a:outerShdw dist="35921" dir="2700000" algn="ctr" rotWithShape="0">
                <a:schemeClr val="bg2"/>
              </a:outerShdw>
            </a:effectLst>
          </p:spPr>
          <p:txBody>
            <a:bodyPr/>
            <a:lstStyle/>
            <a:p>
              <a:endParaRPr lang="zh-CN" altLang="en-US" dirty="0">
                <a:solidFill>
                  <a:srgbClr val="C00000"/>
                </a:solidFill>
              </a:endParaRPr>
            </a:p>
          </p:txBody>
        </p:sp>
        <p:sp useBgFill="1">
          <p:nvSpPr>
            <p:cNvPr id="1191078" name="Text Box 166"/>
            <p:cNvSpPr txBox="1">
              <a:spLocks noChangeArrowheads="1"/>
            </p:cNvSpPr>
            <p:nvPr/>
          </p:nvSpPr>
          <p:spPr bwMode="auto">
            <a:xfrm>
              <a:off x="512" y="3140"/>
              <a:ext cx="272" cy="291"/>
            </a:xfrm>
            <a:prstGeom prst="rect">
              <a:avLst/>
            </a:prstGeom>
            <a:ln w="9525" algn="ctr">
              <a:noFill/>
              <a:miter lim="800000"/>
              <a:headEnd/>
              <a:tailEnd/>
            </a:ln>
            <a:effectLst/>
          </p:spPr>
          <p:txBody>
            <a:bodyPr>
              <a:spAutoFit/>
            </a:bodyPr>
            <a:lstStyle/>
            <a:p>
              <a:pPr marL="342900" indent="-342900">
                <a:spcBef>
                  <a:spcPct val="50000"/>
                </a:spcBef>
              </a:pPr>
              <a:r>
                <a:rPr lang="en-US" altLang="zh-CN">
                  <a:solidFill>
                    <a:srgbClr val="C00000"/>
                  </a:solidFill>
                </a:rPr>
                <a:t>p</a:t>
              </a:r>
            </a:p>
          </p:txBody>
        </p:sp>
      </p:grpSp>
      <p:sp>
        <p:nvSpPr>
          <p:cNvPr id="1191080" name="Text Box 168"/>
          <p:cNvSpPr txBox="1">
            <a:spLocks noChangeArrowheads="1"/>
          </p:cNvSpPr>
          <p:nvPr/>
        </p:nvSpPr>
        <p:spPr bwMode="auto">
          <a:xfrm>
            <a:off x="7680945" y="3355901"/>
            <a:ext cx="3239591" cy="865187"/>
          </a:xfrm>
          <a:prstGeom prst="rect">
            <a:avLst/>
          </a:prstGeom>
          <a:solidFill>
            <a:srgbClr val="FFFFFF"/>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sz="2000" dirty="0">
                <a:solidFill>
                  <a:srgbClr val="C00000"/>
                </a:solidFill>
                <a:latin typeface="隶书" pitchFamily="49" charset="-122"/>
                <a:ea typeface="隶书" pitchFamily="49" charset="-122"/>
              </a:rPr>
              <a:t>运行结果：</a:t>
            </a:r>
          </a:p>
          <a:p>
            <a:pPr marL="342900" indent="-342900" algn="just"/>
            <a:r>
              <a:rPr lang="en-US" altLang="zh-CN" sz="2000" dirty="0">
                <a:solidFill>
                  <a:schemeClr val="accent2">
                    <a:lumMod val="50000"/>
                  </a:schemeClr>
                </a:solidFill>
              </a:rPr>
              <a:t>42003C</a:t>
            </a:r>
            <a:r>
              <a:rPr lang="zh-CN" altLang="en-US" sz="2000" dirty="0">
                <a:solidFill>
                  <a:schemeClr val="accent2">
                    <a:lumMod val="50000"/>
                  </a:schemeClr>
                </a:solidFill>
              </a:rPr>
              <a:t>：</a:t>
            </a:r>
            <a:r>
              <a:rPr lang="en-US" altLang="zh-CN" sz="2000" dirty="0">
                <a:solidFill>
                  <a:schemeClr val="accent2">
                    <a:lumMod val="50000"/>
                  </a:schemeClr>
                </a:solidFill>
              </a:rPr>
              <a:t>good </a:t>
            </a:r>
          </a:p>
        </p:txBody>
      </p:sp>
      <p:grpSp>
        <p:nvGrpSpPr>
          <p:cNvPr id="1191081" name="Group 169"/>
          <p:cNvGrpSpPr>
            <a:grpSpLocks/>
          </p:cNvGrpSpPr>
          <p:nvPr/>
        </p:nvGrpSpPr>
        <p:grpSpPr bwMode="auto">
          <a:xfrm>
            <a:off x="2800126" y="5857881"/>
            <a:ext cx="1052512" cy="461963"/>
            <a:chOff x="512" y="3140"/>
            <a:chExt cx="663" cy="291"/>
          </a:xfrm>
        </p:grpSpPr>
        <p:sp>
          <p:nvSpPr>
            <p:cNvPr id="1191082" name="Line 170"/>
            <p:cNvSpPr>
              <a:spLocks noChangeShapeType="1"/>
            </p:cNvSpPr>
            <p:nvPr/>
          </p:nvSpPr>
          <p:spPr bwMode="auto">
            <a:xfrm>
              <a:off x="721" y="3275"/>
              <a:ext cx="454"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dirty="0">
                <a:solidFill>
                  <a:srgbClr val="C00000"/>
                </a:solidFill>
              </a:endParaRPr>
            </a:p>
          </p:txBody>
        </p:sp>
        <p:sp>
          <p:nvSpPr>
            <p:cNvPr id="1191083" name="Text Box 171"/>
            <p:cNvSpPr txBox="1">
              <a:spLocks noChangeArrowheads="1"/>
            </p:cNvSpPr>
            <p:nvPr/>
          </p:nvSpPr>
          <p:spPr bwMode="auto">
            <a:xfrm>
              <a:off x="512" y="3140"/>
              <a:ext cx="272" cy="291"/>
            </a:xfrm>
            <a:prstGeom prst="rect">
              <a:avLst/>
            </a:prstGeom>
            <a:noFill/>
            <a:ln w="9525" algn="ctr">
              <a:noFill/>
              <a:miter lim="800000"/>
              <a:headEnd/>
              <a:tailEnd/>
            </a:ln>
            <a:effectLst/>
          </p:spPr>
          <p:txBody>
            <a:bodyPr>
              <a:spAutoFit/>
            </a:bodyPr>
            <a:lstStyle/>
            <a:p>
              <a:pPr marL="342900" indent="-342900">
                <a:spcBef>
                  <a:spcPct val="50000"/>
                </a:spcBef>
              </a:pPr>
              <a:r>
                <a:rPr lang="en-US" altLang="zh-CN">
                  <a:solidFill>
                    <a:srgbClr val="C00000"/>
                  </a:solidFill>
                </a:rPr>
                <a:t>p</a:t>
              </a:r>
            </a:p>
          </p:txBody>
        </p:sp>
      </p:grpSp>
      <p:sp useBgFill="1">
        <p:nvSpPr>
          <p:cNvPr id="1191084" name="Rectangle 172"/>
          <p:cNvSpPr>
            <a:spLocks noChangeArrowheads="1"/>
          </p:cNvSpPr>
          <p:nvPr/>
        </p:nvSpPr>
        <p:spPr bwMode="auto">
          <a:xfrm>
            <a:off x="2855689" y="4941168"/>
            <a:ext cx="1008063" cy="574675"/>
          </a:xfrm>
          <a:prstGeom prst="rect">
            <a:avLst/>
          </a:prstGeom>
          <a:ln w="9525" algn="ctr">
            <a:noFill/>
            <a:miter lim="800000"/>
            <a:headEnd/>
            <a:tailEnd/>
          </a:ln>
          <a:effectLst/>
        </p:spPr>
        <p:txBody>
          <a:bodyPr wrap="none" anchor="ctr"/>
          <a:lstStyle/>
          <a:p>
            <a:endParaRPr lang="zh-CN" altLang="en-US"/>
          </a:p>
        </p:txBody>
      </p:sp>
      <p:sp>
        <p:nvSpPr>
          <p:cNvPr id="1191085" name="Rectangle 173"/>
          <p:cNvSpPr>
            <a:spLocks noChangeArrowheads="1"/>
          </p:cNvSpPr>
          <p:nvPr/>
        </p:nvSpPr>
        <p:spPr bwMode="auto">
          <a:xfrm>
            <a:off x="9485937" y="3653668"/>
            <a:ext cx="554960" cy="400110"/>
          </a:xfrm>
          <a:prstGeom prst="rect">
            <a:avLst/>
          </a:prstGeom>
          <a:noFill/>
          <a:ln w="9525" algn="ctr">
            <a:noFill/>
            <a:miter lim="800000"/>
            <a:headEnd/>
            <a:tailEnd/>
          </a:ln>
          <a:effectLst/>
        </p:spPr>
        <p:txBody>
          <a:bodyPr wrap="none">
            <a:spAutoFit/>
          </a:bodyPr>
          <a:lstStyle/>
          <a:p>
            <a:pPr marL="342900" indent="-342900"/>
            <a:r>
              <a:rPr lang="en-US" altLang="zh-CN" sz="2000" dirty="0">
                <a:solidFill>
                  <a:schemeClr val="accent2">
                    <a:lumMod val="50000"/>
                  </a:schemeClr>
                </a:solidFill>
              </a:rPr>
              <a:t>bye</a:t>
            </a:r>
          </a:p>
        </p:txBody>
      </p:sp>
      <p:grpSp>
        <p:nvGrpSpPr>
          <p:cNvPr id="1191086" name="Group 174"/>
          <p:cNvGrpSpPr>
            <a:grpSpLocks/>
          </p:cNvGrpSpPr>
          <p:nvPr/>
        </p:nvGrpSpPr>
        <p:grpSpPr bwMode="auto">
          <a:xfrm>
            <a:off x="2801714" y="6345417"/>
            <a:ext cx="1052513" cy="461963"/>
            <a:chOff x="512" y="3140"/>
            <a:chExt cx="663" cy="291"/>
          </a:xfrm>
        </p:grpSpPr>
        <p:sp>
          <p:nvSpPr>
            <p:cNvPr id="1191087" name="Line 175"/>
            <p:cNvSpPr>
              <a:spLocks noChangeShapeType="1"/>
            </p:cNvSpPr>
            <p:nvPr/>
          </p:nvSpPr>
          <p:spPr bwMode="auto">
            <a:xfrm>
              <a:off x="721" y="3275"/>
              <a:ext cx="454"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solidFill>
                  <a:srgbClr val="C00000"/>
                </a:solidFill>
              </a:endParaRPr>
            </a:p>
          </p:txBody>
        </p:sp>
        <p:sp>
          <p:nvSpPr>
            <p:cNvPr id="1191088" name="Text Box 176"/>
            <p:cNvSpPr txBox="1">
              <a:spLocks noChangeArrowheads="1"/>
            </p:cNvSpPr>
            <p:nvPr/>
          </p:nvSpPr>
          <p:spPr bwMode="auto">
            <a:xfrm>
              <a:off x="512" y="3140"/>
              <a:ext cx="272" cy="291"/>
            </a:xfrm>
            <a:prstGeom prst="rect">
              <a:avLst/>
            </a:prstGeom>
            <a:noFill/>
            <a:ln w="9525" algn="ctr">
              <a:noFill/>
              <a:miter lim="800000"/>
              <a:headEnd/>
              <a:tailEnd/>
            </a:ln>
            <a:effectLst/>
          </p:spPr>
          <p:txBody>
            <a:bodyPr>
              <a:spAutoFit/>
            </a:bodyPr>
            <a:lstStyle/>
            <a:p>
              <a:pPr marL="342900" indent="-342900">
                <a:spcBef>
                  <a:spcPct val="50000"/>
                </a:spcBef>
              </a:pPr>
              <a:r>
                <a:rPr lang="en-US" altLang="zh-CN">
                  <a:solidFill>
                    <a:srgbClr val="C00000"/>
                  </a:solidFill>
                </a:rPr>
                <a:t>p</a:t>
              </a:r>
            </a:p>
          </p:txBody>
        </p:sp>
      </p:grpSp>
      <p:sp useBgFill="1">
        <p:nvSpPr>
          <p:cNvPr id="1191089" name="Rectangle 177"/>
          <p:cNvSpPr>
            <a:spLocks noChangeArrowheads="1"/>
          </p:cNvSpPr>
          <p:nvPr/>
        </p:nvSpPr>
        <p:spPr bwMode="auto">
          <a:xfrm>
            <a:off x="2842989" y="5757143"/>
            <a:ext cx="1008063" cy="574675"/>
          </a:xfrm>
          <a:prstGeom prst="rect">
            <a:avLst/>
          </a:prstGeom>
          <a:ln w="9525" algn="ctr">
            <a:noFill/>
            <a:miter lim="800000"/>
            <a:headEnd/>
            <a:tailEnd/>
          </a:ln>
          <a:effectLst/>
        </p:spPr>
        <p:txBody>
          <a:bodyPr wrap="none" anchor="ctr"/>
          <a:lstStyle/>
          <a:p>
            <a:endParaRPr lang="zh-CN" altLang="en-US"/>
          </a:p>
        </p:txBody>
      </p:sp>
      <p:sp>
        <p:nvSpPr>
          <p:cNvPr id="1191090" name="AutoShape 178"/>
          <p:cNvSpPr>
            <a:spLocks noChangeArrowheads="1"/>
          </p:cNvSpPr>
          <p:nvPr/>
        </p:nvSpPr>
        <p:spPr bwMode="auto">
          <a:xfrm>
            <a:off x="1645460" y="1746108"/>
            <a:ext cx="3503180" cy="710067"/>
          </a:xfrm>
          <a:prstGeom prst="wedgeRectCallout">
            <a:avLst>
              <a:gd name="adj1" fmla="val 134345"/>
              <a:gd name="adj2" fmla="val 123582"/>
            </a:avLst>
          </a:prstGeom>
          <a:gradFill rotWithShape="1">
            <a:gsLst>
              <a:gs pos="0">
                <a:srgbClr val="CFCFD1"/>
              </a:gs>
              <a:gs pos="100000">
                <a:srgbClr val="FFFFFF"/>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zh-CN" altLang="zh-CN" sz="2000" dirty="0">
                <a:latin typeface="隶书" pitchFamily="49" charset="-122"/>
                <a:ea typeface="隶书" pitchFamily="49" charset="-122"/>
              </a:rPr>
              <a:t>用</a:t>
            </a:r>
            <a:r>
              <a:rPr lang="zh-CN" altLang="zh-CN" sz="2000" dirty="0">
                <a:ea typeface="隶书" pitchFamily="49" charset="-122"/>
              </a:rPr>
              <a:t>*</a:t>
            </a:r>
            <a:r>
              <a:rPr lang="en-US" altLang="zh-CN" sz="2000" dirty="0">
                <a:ea typeface="隶书" pitchFamily="49" charset="-122"/>
              </a:rPr>
              <a:t>p</a:t>
            </a:r>
            <a:r>
              <a:rPr lang="zh-CN" altLang="zh-CN" sz="2000" dirty="0">
                <a:latin typeface="隶书" pitchFamily="49" charset="-122"/>
                <a:ea typeface="隶书" pitchFamily="49" charset="-122"/>
              </a:rPr>
              <a:t>可输出</a:t>
            </a:r>
            <a:r>
              <a:rPr lang="zh-CN" altLang="zh-CN" sz="2000" dirty="0">
                <a:solidFill>
                  <a:schemeClr val="accent2">
                    <a:lumMod val="50000"/>
                  </a:schemeClr>
                </a:solidFill>
                <a:latin typeface="隶书" pitchFamily="49" charset="-122"/>
                <a:ea typeface="隶书" pitchFamily="49" charset="-122"/>
              </a:rPr>
              <a:t>地址</a:t>
            </a:r>
            <a:r>
              <a:rPr lang="zh-CN" altLang="zh-CN" sz="2000" dirty="0">
                <a:ea typeface="隶书" pitchFamily="49" charset="-122"/>
              </a:rPr>
              <a:t>(%</a:t>
            </a:r>
            <a:r>
              <a:rPr lang="en-US" altLang="zh-CN" sz="2000" dirty="0">
                <a:ea typeface="隶书" pitchFamily="49" charset="-122"/>
              </a:rPr>
              <a:t>o</a:t>
            </a:r>
            <a:r>
              <a:rPr lang="zh-CN" altLang="en-US" sz="2000" dirty="0">
                <a:latin typeface="隶书" pitchFamily="49" charset="-122"/>
                <a:ea typeface="隶书" pitchFamily="49" charset="-122"/>
              </a:rPr>
              <a:t>或</a:t>
            </a:r>
            <a:r>
              <a:rPr lang="en-US" altLang="zh-CN" sz="2000" dirty="0">
                <a:ea typeface="隶书" pitchFamily="49" charset="-122"/>
              </a:rPr>
              <a:t>%x</a:t>
            </a:r>
            <a:r>
              <a:rPr lang="en-US" altLang="zh-CN" sz="2000" dirty="0">
                <a:latin typeface="隶书" pitchFamily="49" charset="-122"/>
                <a:ea typeface="隶书" pitchFamily="49" charset="-122"/>
              </a:rPr>
              <a:t>), </a:t>
            </a:r>
          </a:p>
          <a:p>
            <a:pPr>
              <a:lnSpc>
                <a:spcPct val="100000"/>
              </a:lnSpc>
              <a:spcBef>
                <a:spcPct val="0"/>
              </a:spcBef>
            </a:pPr>
            <a:r>
              <a:rPr lang="zh-CN" altLang="zh-CN" sz="2000" dirty="0">
                <a:latin typeface="隶书" pitchFamily="49" charset="-122"/>
                <a:ea typeface="隶书" pitchFamily="49" charset="-122"/>
              </a:rPr>
              <a:t>也可用它输出</a:t>
            </a:r>
            <a:r>
              <a:rPr lang="zh-CN" altLang="zh-CN" sz="2000" dirty="0">
                <a:solidFill>
                  <a:schemeClr val="accent1">
                    <a:lumMod val="50000"/>
                  </a:schemeClr>
                </a:solidFill>
                <a:latin typeface="隶书" pitchFamily="49" charset="-122"/>
                <a:ea typeface="隶书" pitchFamily="49" charset="-122"/>
              </a:rPr>
              <a:t>字符串</a:t>
            </a:r>
            <a:r>
              <a:rPr lang="zh-CN" altLang="zh-CN" sz="2000" dirty="0">
                <a:latin typeface="隶书" pitchFamily="49" charset="-122"/>
                <a:ea typeface="隶书" pitchFamily="49" charset="-122"/>
              </a:rPr>
              <a:t>(</a:t>
            </a:r>
            <a:r>
              <a:rPr lang="zh-CN" altLang="zh-CN" sz="2000" dirty="0">
                <a:ea typeface="隶书" pitchFamily="49" charset="-122"/>
              </a:rPr>
              <a:t>%</a:t>
            </a:r>
            <a:r>
              <a:rPr lang="en-US" altLang="zh-CN" sz="2000" dirty="0">
                <a:ea typeface="隶书" pitchFamily="49" charset="-122"/>
              </a:rPr>
              <a:t>s)</a:t>
            </a:r>
            <a:endParaRPr lang="en-US" altLang="zh-CN" sz="2000" dirty="0">
              <a:latin typeface="隶书" pitchFamily="49" charset="-122"/>
              <a:ea typeface="隶书" pitchFamily="49" charset="-122"/>
            </a:endParaRPr>
          </a:p>
        </p:txBody>
      </p:sp>
      <p:sp>
        <p:nvSpPr>
          <p:cNvPr id="1191092" name="Rectangle 180"/>
          <p:cNvSpPr>
            <a:spLocks noChangeArrowheads="1"/>
          </p:cNvSpPr>
          <p:nvPr/>
        </p:nvSpPr>
        <p:spPr bwMode="auto">
          <a:xfrm>
            <a:off x="1472154" y="4737249"/>
            <a:ext cx="9718845" cy="1938992"/>
          </a:xfrm>
          <a:prstGeom prst="rect">
            <a:avLst/>
          </a:prstGeom>
          <a:gradFill flip="none" rotWithShape="1">
            <a:gsLst>
              <a:gs pos="0">
                <a:srgbClr val="CFCFD1"/>
              </a:gs>
              <a:gs pos="100000">
                <a:schemeClr val="bg1">
                  <a:lumMod val="95000"/>
                </a:schemeClr>
              </a:gs>
            </a:gsLst>
            <a:lin ang="13500000" scaled="1"/>
            <a:tileRect/>
          </a:gra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r>
              <a:rPr lang="zh-CN" altLang="en-US" sz="2000" dirty="0">
                <a:solidFill>
                  <a:srgbClr val="C00000"/>
                </a:solidFill>
                <a:ea typeface="隶书" pitchFamily="49" charset="-122"/>
              </a:rPr>
              <a:t>注意：</a:t>
            </a:r>
            <a:r>
              <a:rPr lang="zh-CN" altLang="en-US" sz="2000" dirty="0">
                <a:solidFill>
                  <a:schemeClr val="accent2">
                    <a:lumMod val="50000"/>
                  </a:schemeClr>
                </a:solidFill>
                <a:ea typeface="隶书" pitchFamily="49" charset="-122"/>
              </a:rPr>
              <a:t>二级指针与指针数组的关系：</a:t>
            </a:r>
            <a:r>
              <a:rPr lang="en-US" altLang="zh-CN" sz="2000" dirty="0" err="1">
                <a:solidFill>
                  <a:schemeClr val="accent2">
                    <a:lumMod val="50000"/>
                  </a:schemeClr>
                </a:solidFill>
                <a:ea typeface="隶书" pitchFamily="49" charset="-122"/>
              </a:rPr>
              <a:t>int</a:t>
            </a:r>
            <a:r>
              <a:rPr lang="en-US" altLang="zh-CN" sz="2000" dirty="0">
                <a:solidFill>
                  <a:schemeClr val="accent2">
                    <a:lumMod val="50000"/>
                  </a:schemeClr>
                </a:solidFill>
                <a:ea typeface="隶书" pitchFamily="49" charset="-122"/>
              </a:rPr>
              <a:t>  **p;   </a:t>
            </a:r>
            <a:r>
              <a:rPr lang="zh-CN" altLang="en-US" sz="2000" dirty="0">
                <a:solidFill>
                  <a:schemeClr val="accent2">
                    <a:lumMod val="50000"/>
                  </a:schemeClr>
                </a:solidFill>
                <a:ea typeface="隶书" pitchFamily="49" charset="-122"/>
              </a:rPr>
              <a:t>与  </a:t>
            </a:r>
            <a:r>
              <a:rPr lang="en-US" altLang="zh-CN" sz="2000" dirty="0" err="1">
                <a:solidFill>
                  <a:schemeClr val="accent2">
                    <a:lumMod val="50000"/>
                  </a:schemeClr>
                </a:solidFill>
                <a:ea typeface="隶书" pitchFamily="49" charset="-122"/>
              </a:rPr>
              <a:t>int</a:t>
            </a:r>
            <a:r>
              <a:rPr lang="en-US" altLang="zh-CN" sz="2000" dirty="0">
                <a:solidFill>
                  <a:schemeClr val="accent2">
                    <a:lumMod val="50000"/>
                  </a:schemeClr>
                </a:solidFill>
                <a:ea typeface="隶书" pitchFamily="49" charset="-122"/>
              </a:rPr>
              <a:t>  *q[10];</a:t>
            </a:r>
          </a:p>
          <a:p>
            <a:pPr marL="342900" indent="-342900">
              <a:buClr>
                <a:srgbClr val="C00000"/>
              </a:buClr>
              <a:buFont typeface="Wingdings" pitchFamily="2" charset="2"/>
              <a:buChar char="Ø"/>
            </a:pPr>
            <a:r>
              <a:rPr lang="zh-CN" altLang="en-US" sz="2000" dirty="0">
                <a:ea typeface="隶书" pitchFamily="49" charset="-122"/>
              </a:rPr>
              <a:t>指针数组名是二级指针常量；</a:t>
            </a:r>
          </a:p>
          <a:p>
            <a:pPr marL="342900" indent="-342900">
              <a:buClr>
                <a:srgbClr val="C00000"/>
              </a:buClr>
              <a:buFont typeface="Wingdings" pitchFamily="2" charset="2"/>
              <a:buChar char="Ø"/>
            </a:pPr>
            <a:r>
              <a:rPr lang="zh-CN" altLang="en-US" sz="2000" dirty="0">
                <a:ea typeface="隶书" pitchFamily="49" charset="-122"/>
              </a:rPr>
              <a:t> </a:t>
            </a:r>
            <a:r>
              <a:rPr lang="en-US" altLang="zh-CN" sz="2000" dirty="0">
                <a:ea typeface="隶书" pitchFamily="49" charset="-122"/>
              </a:rPr>
              <a:t>p = q;   p + </a:t>
            </a:r>
            <a:r>
              <a:rPr lang="en-US" altLang="zh-CN" sz="2000" dirty="0" err="1">
                <a:ea typeface="隶书" pitchFamily="49" charset="-122"/>
              </a:rPr>
              <a:t>i</a:t>
            </a:r>
            <a:r>
              <a:rPr lang="en-US" altLang="zh-CN" sz="2000" dirty="0">
                <a:ea typeface="隶书" pitchFamily="49" charset="-122"/>
              </a:rPr>
              <a:t> </a:t>
            </a:r>
            <a:r>
              <a:rPr lang="zh-CN" altLang="en-US" sz="2000" dirty="0">
                <a:ea typeface="隶书" pitchFamily="49" charset="-122"/>
              </a:rPr>
              <a:t>是</a:t>
            </a:r>
            <a:r>
              <a:rPr lang="en-US" altLang="zh-CN" sz="2000" dirty="0">
                <a:ea typeface="隶书" pitchFamily="49" charset="-122"/>
              </a:rPr>
              <a:t>q[</a:t>
            </a:r>
            <a:r>
              <a:rPr lang="en-US" altLang="zh-CN" sz="2000" dirty="0" err="1">
                <a:ea typeface="隶书" pitchFamily="49" charset="-122"/>
              </a:rPr>
              <a:t>i</a:t>
            </a:r>
            <a:r>
              <a:rPr lang="en-US" altLang="zh-CN" sz="2000" dirty="0">
                <a:ea typeface="隶书" pitchFamily="49" charset="-122"/>
              </a:rPr>
              <a:t>]</a:t>
            </a:r>
            <a:r>
              <a:rPr lang="zh-CN" altLang="en-US" sz="2000" dirty="0">
                <a:ea typeface="隶书" pitchFamily="49" charset="-122"/>
              </a:rPr>
              <a:t>的地址；</a:t>
            </a:r>
          </a:p>
          <a:p>
            <a:pPr marL="342900" indent="-342900">
              <a:buClr>
                <a:srgbClr val="C00000"/>
              </a:buClr>
              <a:buFont typeface="Wingdings" pitchFamily="2" charset="2"/>
              <a:buChar char="Ø"/>
            </a:pPr>
            <a:r>
              <a:rPr lang="zh-CN" altLang="en-US" sz="2000" dirty="0">
                <a:ea typeface="隶书" pitchFamily="49" charset="-122"/>
              </a:rPr>
              <a:t>指针数组作形参时，</a:t>
            </a:r>
            <a:r>
              <a:rPr lang="en-US" altLang="zh-CN" sz="2000" dirty="0" err="1">
                <a:ea typeface="隶书" pitchFamily="49" charset="-122"/>
              </a:rPr>
              <a:t>int</a:t>
            </a:r>
            <a:r>
              <a:rPr lang="en-US" altLang="zh-CN" sz="2000" dirty="0">
                <a:ea typeface="隶书" pitchFamily="49" charset="-122"/>
              </a:rPr>
              <a:t>  *q[ ]</a:t>
            </a:r>
            <a:r>
              <a:rPr lang="zh-CN" altLang="en-US" sz="2000" dirty="0">
                <a:ea typeface="隶书" pitchFamily="49" charset="-122"/>
              </a:rPr>
              <a:t>与</a:t>
            </a:r>
            <a:r>
              <a:rPr lang="en-US" altLang="zh-CN" sz="2000" dirty="0" err="1">
                <a:ea typeface="隶书" pitchFamily="49" charset="-122"/>
              </a:rPr>
              <a:t>int</a:t>
            </a:r>
            <a:r>
              <a:rPr lang="en-US" altLang="zh-CN" sz="2000" dirty="0">
                <a:ea typeface="隶书" pitchFamily="49" charset="-122"/>
              </a:rPr>
              <a:t> **q</a:t>
            </a:r>
            <a:r>
              <a:rPr lang="zh-CN" altLang="en-US" sz="2000" dirty="0">
                <a:ea typeface="隶书" pitchFamily="49" charset="-122"/>
              </a:rPr>
              <a:t>完全等价；但作为变量定义两者不同。</a:t>
            </a:r>
          </a:p>
          <a:p>
            <a:pPr marL="342900" indent="-342900">
              <a:buClr>
                <a:srgbClr val="C00000"/>
              </a:buClr>
              <a:buFont typeface="Wingdings" pitchFamily="2" charset="2"/>
              <a:buChar char="Ø"/>
            </a:pPr>
            <a:r>
              <a:rPr lang="zh-CN" altLang="en-US" sz="2000" dirty="0">
                <a:ea typeface="隶书" pitchFamily="49" charset="-122"/>
              </a:rPr>
              <a:t>系统只给</a:t>
            </a:r>
            <a:r>
              <a:rPr lang="en-US" altLang="zh-CN" sz="2000" dirty="0">
                <a:ea typeface="隶书" pitchFamily="49" charset="-122"/>
              </a:rPr>
              <a:t>p</a:t>
            </a:r>
            <a:r>
              <a:rPr lang="zh-CN" altLang="en-US" sz="2000" dirty="0">
                <a:ea typeface="隶书" pitchFamily="49" charset="-122"/>
              </a:rPr>
              <a:t>分配能保存一个指针值的内存区；而给</a:t>
            </a:r>
            <a:r>
              <a:rPr lang="en-US" altLang="zh-CN" sz="2000" dirty="0">
                <a:ea typeface="隶书" pitchFamily="49" charset="-122"/>
              </a:rPr>
              <a:t>q</a:t>
            </a:r>
            <a:r>
              <a:rPr lang="zh-CN" altLang="en-US" sz="2000" dirty="0">
                <a:ea typeface="隶书" pitchFamily="49" charset="-122"/>
              </a:rPr>
              <a:t>分配</a:t>
            </a:r>
            <a:r>
              <a:rPr lang="en-US" altLang="zh-CN" sz="2000" dirty="0">
                <a:ea typeface="隶书" pitchFamily="49" charset="-122"/>
              </a:rPr>
              <a:t>10</a:t>
            </a:r>
            <a:r>
              <a:rPr lang="zh-CN" altLang="en-US" sz="2000" dirty="0">
                <a:ea typeface="隶书" pitchFamily="49" charset="-122"/>
              </a:rPr>
              <a:t>块内存区，每块可保存一个指针值。</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90918">
                                            <p:txEl>
                                              <p:pRg st="0" end="0"/>
                                            </p:txEl>
                                          </p:spTgt>
                                        </p:tgtEl>
                                        <p:attrNameLst>
                                          <p:attrName>style.visibility</p:attrName>
                                        </p:attrNameLst>
                                      </p:cBhvr>
                                      <p:to>
                                        <p:strVal val="visible"/>
                                      </p:to>
                                    </p:set>
                                    <p:anim calcmode="lin" valueType="num">
                                      <p:cBhvr additive="base">
                                        <p:cTn id="7" dur="500" fill="hold"/>
                                        <p:tgtEl>
                                          <p:spTgt spid="11909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90918">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190918">
                                            <p:txEl>
                                              <p:pRg st="1" end="1"/>
                                            </p:txEl>
                                          </p:spTgt>
                                        </p:tgtEl>
                                        <p:attrNameLst>
                                          <p:attrName>style.visibility</p:attrName>
                                        </p:attrNameLst>
                                      </p:cBhvr>
                                      <p:to>
                                        <p:strVal val="visible"/>
                                      </p:to>
                                    </p:set>
                                    <p:anim calcmode="lin" valueType="num">
                                      <p:cBhvr additive="base">
                                        <p:cTn id="11" dur="500" fill="hold"/>
                                        <p:tgtEl>
                                          <p:spTgt spid="119091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90918">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190918">
                                            <p:txEl>
                                              <p:pRg st="2" end="2"/>
                                            </p:txEl>
                                          </p:spTgt>
                                        </p:tgtEl>
                                        <p:attrNameLst>
                                          <p:attrName>style.visibility</p:attrName>
                                        </p:attrNameLst>
                                      </p:cBhvr>
                                      <p:to>
                                        <p:strVal val="visible"/>
                                      </p:to>
                                    </p:set>
                                    <p:anim calcmode="lin" valueType="num">
                                      <p:cBhvr additive="base">
                                        <p:cTn id="15" dur="500" fill="hold"/>
                                        <p:tgtEl>
                                          <p:spTgt spid="119091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90918">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190918">
                                            <p:txEl>
                                              <p:pRg st="3" end="3"/>
                                            </p:txEl>
                                          </p:spTgt>
                                        </p:tgtEl>
                                        <p:attrNameLst>
                                          <p:attrName>style.visibility</p:attrName>
                                        </p:attrNameLst>
                                      </p:cBhvr>
                                      <p:to>
                                        <p:strVal val="visible"/>
                                      </p:to>
                                    </p:set>
                                    <p:anim calcmode="lin" valueType="num">
                                      <p:cBhvr additive="base">
                                        <p:cTn id="19" dur="500" fill="hold"/>
                                        <p:tgtEl>
                                          <p:spTgt spid="119091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90918">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1190918">
                                            <p:txEl>
                                              <p:pRg st="4" end="4"/>
                                            </p:txEl>
                                          </p:spTgt>
                                        </p:tgtEl>
                                        <p:attrNameLst>
                                          <p:attrName>style.visibility</p:attrName>
                                        </p:attrNameLst>
                                      </p:cBhvr>
                                      <p:to>
                                        <p:strVal val="visible"/>
                                      </p:to>
                                    </p:set>
                                    <p:anim calcmode="lin" valueType="num">
                                      <p:cBhvr additive="base">
                                        <p:cTn id="23" dur="500" fill="hold"/>
                                        <p:tgtEl>
                                          <p:spTgt spid="1190918">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90918">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par>
                                <p:cTn id="25" presetID="2" presetClass="entr" presetSubtype="4" fill="hold" nodeType="withEffect">
                                  <p:stCondLst>
                                    <p:cond delay="0"/>
                                  </p:stCondLst>
                                  <p:childTnLst>
                                    <p:set>
                                      <p:cBhvr>
                                        <p:cTn id="26" dur="1" fill="hold">
                                          <p:stCondLst>
                                            <p:cond delay="0"/>
                                          </p:stCondLst>
                                        </p:cTn>
                                        <p:tgtEl>
                                          <p:spTgt spid="1190918">
                                            <p:txEl>
                                              <p:pRg st="5" end="5"/>
                                            </p:txEl>
                                          </p:spTgt>
                                        </p:tgtEl>
                                        <p:attrNameLst>
                                          <p:attrName>style.visibility</p:attrName>
                                        </p:attrNameLst>
                                      </p:cBhvr>
                                      <p:to>
                                        <p:strVal val="visible"/>
                                      </p:to>
                                    </p:set>
                                    <p:anim calcmode="lin" valueType="num">
                                      <p:cBhvr additive="base">
                                        <p:cTn id="27" dur="500" fill="hold"/>
                                        <p:tgtEl>
                                          <p:spTgt spid="1190918">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90918">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par>
                          <p:cTn id="29" fill="hold">
                            <p:stCondLst>
                              <p:cond delay="500"/>
                            </p:stCondLst>
                            <p:childTnLst>
                              <p:par>
                                <p:cTn id="30" presetID="4" presetClass="entr" presetSubtype="32" fill="hold" nodeType="afterEffect">
                                  <p:stCondLst>
                                    <p:cond delay="0"/>
                                  </p:stCondLst>
                                  <p:childTnLst>
                                    <p:set>
                                      <p:cBhvr>
                                        <p:cTn id="31" dur="1" fill="hold">
                                          <p:stCondLst>
                                            <p:cond delay="0"/>
                                          </p:stCondLst>
                                        </p:cTn>
                                        <p:tgtEl>
                                          <p:spTgt spid="1191074"/>
                                        </p:tgtEl>
                                        <p:attrNameLst>
                                          <p:attrName>style.visibility</p:attrName>
                                        </p:attrNameLst>
                                      </p:cBhvr>
                                      <p:to>
                                        <p:strVal val="visible"/>
                                      </p:to>
                                    </p:set>
                                    <p:animEffect transition="in" filter="box(out)">
                                      <p:cBhvr>
                                        <p:cTn id="32" dur="500"/>
                                        <p:tgtEl>
                                          <p:spTgt spid="1191074"/>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1000"/>
                            </p:stCondLst>
                            <p:childTnLst>
                              <p:par>
                                <p:cTn id="34" presetID="4" presetClass="entr" presetSubtype="32" fill="hold" nodeType="afterEffect">
                                  <p:stCondLst>
                                    <p:cond delay="0"/>
                                  </p:stCondLst>
                                  <p:childTnLst>
                                    <p:set>
                                      <p:cBhvr>
                                        <p:cTn id="35" dur="1" fill="hold">
                                          <p:stCondLst>
                                            <p:cond delay="0"/>
                                          </p:stCondLst>
                                        </p:cTn>
                                        <p:tgtEl>
                                          <p:spTgt spid="1191076"/>
                                        </p:tgtEl>
                                        <p:attrNameLst>
                                          <p:attrName>style.visibility</p:attrName>
                                        </p:attrNameLst>
                                      </p:cBhvr>
                                      <p:to>
                                        <p:strVal val="visible"/>
                                      </p:to>
                                    </p:set>
                                    <p:animEffect transition="in" filter="box(out)">
                                      <p:cBhvr>
                                        <p:cTn id="36" dur="500"/>
                                        <p:tgtEl>
                                          <p:spTgt spid="1191076"/>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par>
                          <p:cTn id="37" fill="hold">
                            <p:stCondLst>
                              <p:cond delay="1500"/>
                            </p:stCondLst>
                            <p:childTnLst>
                              <p:par>
                                <p:cTn id="38" presetID="18" presetClass="entr" presetSubtype="6" fill="hold" grpId="0" nodeType="afterEffect">
                                  <p:stCondLst>
                                    <p:cond delay="0"/>
                                  </p:stCondLst>
                                  <p:childTnLst>
                                    <p:set>
                                      <p:cBhvr>
                                        <p:cTn id="39" dur="1" fill="hold">
                                          <p:stCondLst>
                                            <p:cond delay="0"/>
                                          </p:stCondLst>
                                        </p:cTn>
                                        <p:tgtEl>
                                          <p:spTgt spid="1191069"/>
                                        </p:tgtEl>
                                        <p:attrNameLst>
                                          <p:attrName>style.visibility</p:attrName>
                                        </p:attrNameLst>
                                      </p:cBhvr>
                                      <p:to>
                                        <p:strVal val="visible"/>
                                      </p:to>
                                    </p:set>
                                    <p:animEffect transition="in" filter="strips(downRight)">
                                      <p:cBhvr>
                                        <p:cTn id="40" dur="500"/>
                                        <p:tgtEl>
                                          <p:spTgt spid="1191069"/>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par>
                          <p:cTn id="41" fill="hold">
                            <p:stCondLst>
                              <p:cond delay="2000"/>
                            </p:stCondLst>
                            <p:childTnLst>
                              <p:par>
                                <p:cTn id="42" presetID="18" presetClass="entr" presetSubtype="6" fill="hold" grpId="0" nodeType="afterEffect">
                                  <p:stCondLst>
                                    <p:cond delay="0"/>
                                  </p:stCondLst>
                                  <p:childTnLst>
                                    <p:set>
                                      <p:cBhvr>
                                        <p:cTn id="43" dur="1" fill="hold">
                                          <p:stCondLst>
                                            <p:cond delay="0"/>
                                          </p:stCondLst>
                                        </p:cTn>
                                        <p:tgtEl>
                                          <p:spTgt spid="1191070"/>
                                        </p:tgtEl>
                                        <p:attrNameLst>
                                          <p:attrName>style.visibility</p:attrName>
                                        </p:attrNameLst>
                                      </p:cBhvr>
                                      <p:to>
                                        <p:strVal val="visible"/>
                                      </p:to>
                                    </p:set>
                                    <p:animEffect transition="in" filter="strips(downRight)">
                                      <p:cBhvr>
                                        <p:cTn id="44" dur="500"/>
                                        <p:tgtEl>
                                          <p:spTgt spid="1191070"/>
                                        </p:tgtEl>
                                      </p:cBhvr>
                                    </p:animEffect>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par>
                          <p:cTn id="45" fill="hold">
                            <p:stCondLst>
                              <p:cond delay="2500"/>
                            </p:stCondLst>
                            <p:childTnLst>
                              <p:par>
                                <p:cTn id="46" presetID="18" presetClass="entr" presetSubtype="6" fill="hold" grpId="0" nodeType="afterEffect">
                                  <p:stCondLst>
                                    <p:cond delay="0"/>
                                  </p:stCondLst>
                                  <p:childTnLst>
                                    <p:set>
                                      <p:cBhvr>
                                        <p:cTn id="47" dur="1" fill="hold">
                                          <p:stCondLst>
                                            <p:cond delay="0"/>
                                          </p:stCondLst>
                                        </p:cTn>
                                        <p:tgtEl>
                                          <p:spTgt spid="1191071"/>
                                        </p:tgtEl>
                                        <p:attrNameLst>
                                          <p:attrName>style.visibility</p:attrName>
                                        </p:attrNameLst>
                                      </p:cBhvr>
                                      <p:to>
                                        <p:strVal val="visible"/>
                                      </p:to>
                                    </p:set>
                                    <p:animEffect transition="in" filter="strips(downRight)">
                                      <p:cBhvr>
                                        <p:cTn id="48" dur="500"/>
                                        <p:tgtEl>
                                          <p:spTgt spid="1191071"/>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par>
                          <p:cTn id="49" fill="hold">
                            <p:stCondLst>
                              <p:cond delay="3000"/>
                            </p:stCondLst>
                            <p:childTnLst>
                              <p:par>
                                <p:cTn id="50" presetID="18" presetClass="entr" presetSubtype="6" fill="hold" grpId="0" nodeType="afterEffect">
                                  <p:stCondLst>
                                    <p:cond delay="0"/>
                                  </p:stCondLst>
                                  <p:childTnLst>
                                    <p:set>
                                      <p:cBhvr>
                                        <p:cTn id="51" dur="1" fill="hold">
                                          <p:stCondLst>
                                            <p:cond delay="0"/>
                                          </p:stCondLst>
                                        </p:cTn>
                                        <p:tgtEl>
                                          <p:spTgt spid="1191072"/>
                                        </p:tgtEl>
                                        <p:attrNameLst>
                                          <p:attrName>style.visibility</p:attrName>
                                        </p:attrNameLst>
                                      </p:cBhvr>
                                      <p:to>
                                        <p:strVal val="visible"/>
                                      </p:to>
                                    </p:set>
                                    <p:animEffect transition="in" filter="strips(downRight)">
                                      <p:cBhvr>
                                        <p:cTn id="52" dur="500"/>
                                        <p:tgtEl>
                                          <p:spTgt spid="1191072"/>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par>
                          <p:cTn id="53" fill="hold">
                            <p:stCondLst>
                              <p:cond delay="3500"/>
                            </p:stCondLst>
                            <p:childTnLst>
                              <p:par>
                                <p:cTn id="54" presetID="18" presetClass="entr" presetSubtype="6" fill="hold" grpId="0" nodeType="afterEffect">
                                  <p:stCondLst>
                                    <p:cond delay="0"/>
                                  </p:stCondLst>
                                  <p:childTnLst>
                                    <p:set>
                                      <p:cBhvr>
                                        <p:cTn id="55" dur="1" fill="hold">
                                          <p:stCondLst>
                                            <p:cond delay="0"/>
                                          </p:stCondLst>
                                        </p:cTn>
                                        <p:tgtEl>
                                          <p:spTgt spid="1191073"/>
                                        </p:tgtEl>
                                        <p:attrNameLst>
                                          <p:attrName>style.visibility</p:attrName>
                                        </p:attrNameLst>
                                      </p:cBhvr>
                                      <p:to>
                                        <p:strVal val="visible"/>
                                      </p:to>
                                    </p:set>
                                    <p:animEffect transition="in" filter="strips(downRight)">
                                      <p:cBhvr>
                                        <p:cTn id="56" dur="500"/>
                                        <p:tgtEl>
                                          <p:spTgt spid="1191073"/>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190918">
                                            <p:txEl>
                                              <p:pRg st="6" end="6"/>
                                            </p:txEl>
                                          </p:spTgt>
                                        </p:tgtEl>
                                        <p:attrNameLst>
                                          <p:attrName>style.visibility</p:attrName>
                                        </p:attrNameLst>
                                      </p:cBhvr>
                                      <p:to>
                                        <p:strVal val="visible"/>
                                      </p:to>
                                    </p:set>
                                    <p:anim calcmode="lin" valueType="num">
                                      <p:cBhvr additive="base">
                                        <p:cTn id="61" dur="500" fill="hold"/>
                                        <p:tgtEl>
                                          <p:spTgt spid="1190918">
                                            <p:txEl>
                                              <p:pRg st="6" end="6"/>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190918">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par>
                          <p:cTn id="63" fill="hold">
                            <p:stCondLst>
                              <p:cond delay="500"/>
                            </p:stCondLst>
                            <p:childTnLst>
                              <p:par>
                                <p:cTn id="64" presetID="18" presetClass="entr" presetSubtype="6" fill="hold" nodeType="afterEffect">
                                  <p:stCondLst>
                                    <p:cond delay="0"/>
                                  </p:stCondLst>
                                  <p:childTnLst>
                                    <p:set>
                                      <p:cBhvr>
                                        <p:cTn id="65" dur="1" fill="hold">
                                          <p:stCondLst>
                                            <p:cond delay="0"/>
                                          </p:stCondLst>
                                        </p:cTn>
                                        <p:tgtEl>
                                          <p:spTgt spid="1191079"/>
                                        </p:tgtEl>
                                        <p:attrNameLst>
                                          <p:attrName>style.visibility</p:attrName>
                                        </p:attrNameLst>
                                      </p:cBhvr>
                                      <p:to>
                                        <p:strVal val="visible"/>
                                      </p:to>
                                    </p:set>
                                    <p:animEffect transition="in" filter="strips(downRight)">
                                      <p:cBhvr>
                                        <p:cTn id="66" dur="500"/>
                                        <p:tgtEl>
                                          <p:spTgt spid="1191079"/>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190918">
                                            <p:txEl>
                                              <p:pRg st="7" end="7"/>
                                            </p:txEl>
                                          </p:spTgt>
                                        </p:tgtEl>
                                        <p:attrNameLst>
                                          <p:attrName>style.visibility</p:attrName>
                                        </p:attrNameLst>
                                      </p:cBhvr>
                                      <p:to>
                                        <p:strVal val="visible"/>
                                      </p:to>
                                    </p:set>
                                    <p:anim calcmode="lin" valueType="num">
                                      <p:cBhvr additive="base">
                                        <p:cTn id="71" dur="500" fill="hold"/>
                                        <p:tgtEl>
                                          <p:spTgt spid="1190918">
                                            <p:txEl>
                                              <p:pRg st="7" end="7"/>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190918">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par>
                          <p:cTn id="73" fill="hold">
                            <p:stCondLst>
                              <p:cond delay="500"/>
                            </p:stCondLst>
                            <p:childTnLst>
                              <p:par>
                                <p:cTn id="74" presetID="4" presetClass="entr" presetSubtype="32" fill="hold" grpId="0" nodeType="afterEffect">
                                  <p:stCondLst>
                                    <p:cond delay="0"/>
                                  </p:stCondLst>
                                  <p:childTnLst>
                                    <p:set>
                                      <p:cBhvr>
                                        <p:cTn id="75" dur="1" fill="hold">
                                          <p:stCondLst>
                                            <p:cond delay="0"/>
                                          </p:stCondLst>
                                        </p:cTn>
                                        <p:tgtEl>
                                          <p:spTgt spid="1191080"/>
                                        </p:tgtEl>
                                        <p:attrNameLst>
                                          <p:attrName>style.visibility</p:attrName>
                                        </p:attrNameLst>
                                      </p:cBhvr>
                                      <p:to>
                                        <p:strVal val="visible"/>
                                      </p:to>
                                    </p:set>
                                    <p:animEffect transition="in" filter="box(out)">
                                      <p:cBhvr>
                                        <p:cTn id="76" dur="500"/>
                                        <p:tgtEl>
                                          <p:spTgt spid="1191080"/>
                                        </p:tgtEl>
                                      </p:cBhvr>
                                    </p:animEffect>
                                  </p:childTnLst>
                                  <p:subTnLst>
                                    <p:audio>
                                      <p:cMediaNode>
                                        <p:cTn display="0" masterRel="sameClick">
                                          <p:stCondLst>
                                            <p:cond evt="begin" delay="0">
                                              <p:tn val="74"/>
                                            </p:cond>
                                          </p:stCondLst>
                                          <p:endCondLst>
                                            <p:cond evt="onStopAudio" delay="0">
                                              <p:tgtEl>
                                                <p:sldTgt/>
                                              </p:tgtEl>
                                            </p:cond>
                                          </p:endCondLst>
                                        </p:cTn>
                                        <p:tgtEl>
                                          <p:sndTgt r:embed="rId3" name="chimes.wav"/>
                                        </p:tgtEl>
                                      </p:cMediaNode>
                                    </p:audio>
                                  </p:subTnLst>
                                </p:cTn>
                              </p:par>
                            </p:childTnLst>
                          </p:cTn>
                        </p:par>
                        <p:par>
                          <p:cTn id="77" fill="hold">
                            <p:stCondLst>
                              <p:cond delay="1000"/>
                            </p:stCondLst>
                            <p:childTnLst>
                              <p:par>
                                <p:cTn id="78" presetID="18" presetClass="entr" presetSubtype="3" fill="hold" grpId="0" nodeType="afterEffect">
                                  <p:stCondLst>
                                    <p:cond delay="0"/>
                                  </p:stCondLst>
                                  <p:childTnLst>
                                    <p:set>
                                      <p:cBhvr>
                                        <p:cTn id="79" dur="1" fill="hold">
                                          <p:stCondLst>
                                            <p:cond delay="0"/>
                                          </p:stCondLst>
                                        </p:cTn>
                                        <p:tgtEl>
                                          <p:spTgt spid="1191090"/>
                                        </p:tgtEl>
                                        <p:attrNameLst>
                                          <p:attrName>style.visibility</p:attrName>
                                        </p:attrNameLst>
                                      </p:cBhvr>
                                      <p:to>
                                        <p:strVal val="visible"/>
                                      </p:to>
                                    </p:set>
                                    <p:animEffect transition="in" filter="strips(upRight)">
                                      <p:cBhvr>
                                        <p:cTn id="80" dur="500"/>
                                        <p:tgtEl>
                                          <p:spTgt spid="1191090"/>
                                        </p:tgtEl>
                                      </p:cBhvr>
                                    </p:animEffect>
                                  </p:childTnLst>
                                  <p:subTnLst>
                                    <p:audio>
                                      <p:cMediaNode>
                                        <p:cTn display="0" masterRel="sameClick">
                                          <p:stCondLst>
                                            <p:cond evt="begin" delay="0">
                                              <p:tn val="78"/>
                                            </p:cond>
                                          </p:stCondLst>
                                          <p:endCondLst>
                                            <p:cond evt="onStopAudio" delay="0">
                                              <p:tgtEl>
                                                <p:sldTgt/>
                                              </p:tgtEl>
                                            </p:cond>
                                          </p:endCondLst>
                                        </p:cTn>
                                        <p:tgtEl>
                                          <p:sndTgt r:embed="rId4" name="laser.wav"/>
                                        </p:tgtEl>
                                      </p:cMediaNode>
                                    </p:audio>
                                  </p:sub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1190918">
                                            <p:txEl>
                                              <p:pRg st="8" end="8"/>
                                            </p:txEl>
                                          </p:spTgt>
                                        </p:tgtEl>
                                        <p:attrNameLst>
                                          <p:attrName>style.visibility</p:attrName>
                                        </p:attrNameLst>
                                      </p:cBhvr>
                                      <p:to>
                                        <p:strVal val="visible"/>
                                      </p:to>
                                    </p:set>
                                    <p:anim calcmode="lin" valueType="num">
                                      <p:cBhvr additive="base">
                                        <p:cTn id="85" dur="500" fill="hold"/>
                                        <p:tgtEl>
                                          <p:spTgt spid="1190918">
                                            <p:txEl>
                                              <p:pRg st="8" end="8"/>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190918">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3"/>
                                            </p:cond>
                                          </p:stCondLst>
                                          <p:endCondLst>
                                            <p:cond evt="onStopAudio" delay="0">
                                              <p:tgtEl>
                                                <p:sldTgt/>
                                              </p:tgtEl>
                                            </p:cond>
                                          </p:endCondLst>
                                        </p:cTn>
                                        <p:tgtEl>
                                          <p:sndTgt r:embed="rId2" name="camera.wav"/>
                                        </p:tgtEl>
                                      </p:cMediaNode>
                                    </p:audio>
                                  </p:subTnLst>
                                </p:cTn>
                              </p:par>
                            </p:childTnLst>
                          </p:cTn>
                        </p:par>
                        <p:par>
                          <p:cTn id="87" fill="hold">
                            <p:stCondLst>
                              <p:cond delay="500"/>
                            </p:stCondLst>
                            <p:childTnLst>
                              <p:par>
                                <p:cTn id="88" presetID="4" presetClass="entr" presetSubtype="16" fill="hold" grpId="0" nodeType="afterEffect">
                                  <p:stCondLst>
                                    <p:cond delay="0"/>
                                  </p:stCondLst>
                                  <p:childTnLst>
                                    <p:set>
                                      <p:cBhvr>
                                        <p:cTn id="89" dur="1" fill="hold">
                                          <p:stCondLst>
                                            <p:cond delay="0"/>
                                          </p:stCondLst>
                                        </p:cTn>
                                        <p:tgtEl>
                                          <p:spTgt spid="1191084"/>
                                        </p:tgtEl>
                                        <p:attrNameLst>
                                          <p:attrName>style.visibility</p:attrName>
                                        </p:attrNameLst>
                                      </p:cBhvr>
                                      <p:to>
                                        <p:strVal val="visible"/>
                                      </p:to>
                                    </p:set>
                                    <p:animEffect transition="in" filter="box(in)">
                                      <p:cBhvr>
                                        <p:cTn id="90" dur="500"/>
                                        <p:tgtEl>
                                          <p:spTgt spid="1191084"/>
                                        </p:tgtEl>
                                      </p:cBhvr>
                                    </p:animEffect>
                                  </p:childTnLst>
                                  <p:subTnLst>
                                    <p:audio>
                                      <p:cMediaNode>
                                        <p:cTn display="0" masterRel="sameClick">
                                          <p:stCondLst>
                                            <p:cond evt="begin" delay="0">
                                              <p:tn val="88"/>
                                            </p:cond>
                                          </p:stCondLst>
                                          <p:endCondLst>
                                            <p:cond evt="onStopAudio" delay="0">
                                              <p:tgtEl>
                                                <p:sldTgt/>
                                              </p:tgtEl>
                                            </p:cond>
                                          </p:endCondLst>
                                        </p:cTn>
                                        <p:tgtEl>
                                          <p:sndTgt r:embed="rId2" name="camera.wav"/>
                                        </p:tgtEl>
                                      </p:cMediaNode>
                                    </p:audio>
                                  </p:subTnLst>
                                </p:cTn>
                              </p:par>
                            </p:childTnLst>
                          </p:cTn>
                        </p:par>
                        <p:par>
                          <p:cTn id="91" fill="hold">
                            <p:stCondLst>
                              <p:cond delay="1000"/>
                            </p:stCondLst>
                            <p:childTnLst>
                              <p:par>
                                <p:cTn id="92" presetID="18" presetClass="entr" presetSubtype="6" fill="hold" nodeType="afterEffect">
                                  <p:stCondLst>
                                    <p:cond delay="0"/>
                                  </p:stCondLst>
                                  <p:childTnLst>
                                    <p:set>
                                      <p:cBhvr>
                                        <p:cTn id="93" dur="1" fill="hold">
                                          <p:stCondLst>
                                            <p:cond delay="0"/>
                                          </p:stCondLst>
                                        </p:cTn>
                                        <p:tgtEl>
                                          <p:spTgt spid="1191081"/>
                                        </p:tgtEl>
                                        <p:attrNameLst>
                                          <p:attrName>style.visibility</p:attrName>
                                        </p:attrNameLst>
                                      </p:cBhvr>
                                      <p:to>
                                        <p:strVal val="visible"/>
                                      </p:to>
                                    </p:set>
                                    <p:animEffect transition="in" filter="strips(downRight)">
                                      <p:cBhvr>
                                        <p:cTn id="94" dur="500"/>
                                        <p:tgtEl>
                                          <p:spTgt spid="1191081"/>
                                        </p:tgtEl>
                                      </p:cBhvr>
                                    </p:animEffect>
                                  </p:childTnLst>
                                  <p:subTnLst>
                                    <p:audio>
                                      <p:cMediaNode>
                                        <p:cTn display="0" masterRel="sameClick">
                                          <p:stCondLst>
                                            <p:cond evt="begin" delay="0">
                                              <p:tn val="92"/>
                                            </p:cond>
                                          </p:stCondLst>
                                          <p:endCondLst>
                                            <p:cond evt="onStopAudio" delay="0">
                                              <p:tgtEl>
                                                <p:sldTgt/>
                                              </p:tgtEl>
                                            </p:cond>
                                          </p:endCondLst>
                                        </p:cTn>
                                        <p:tgtEl>
                                          <p:sndTgt r:embed="rId2" name="camera.wav"/>
                                        </p:tgtEl>
                                      </p:cMediaNode>
                                    </p:audio>
                                  </p:sub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1190918">
                                            <p:txEl>
                                              <p:pRg st="9" end="9"/>
                                            </p:txEl>
                                          </p:spTgt>
                                        </p:tgtEl>
                                        <p:attrNameLst>
                                          <p:attrName>style.visibility</p:attrName>
                                        </p:attrNameLst>
                                      </p:cBhvr>
                                      <p:to>
                                        <p:strVal val="visible"/>
                                      </p:to>
                                    </p:set>
                                    <p:anim calcmode="lin" valueType="num">
                                      <p:cBhvr additive="base">
                                        <p:cTn id="99" dur="500" fill="hold"/>
                                        <p:tgtEl>
                                          <p:spTgt spid="1190918">
                                            <p:txEl>
                                              <p:pRg st="9" end="9"/>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1190918">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7"/>
                                            </p:cond>
                                          </p:stCondLst>
                                          <p:endCondLst>
                                            <p:cond evt="onStopAudio" delay="0">
                                              <p:tgtEl>
                                                <p:sldTgt/>
                                              </p:tgtEl>
                                            </p:cond>
                                          </p:endCondLst>
                                        </p:cTn>
                                        <p:tgtEl>
                                          <p:sndTgt r:embed="rId2" name="camera.wav"/>
                                        </p:tgtEl>
                                      </p:cMediaNode>
                                    </p:audio>
                                  </p:subTnLst>
                                </p:cTn>
                              </p:par>
                              <p:par>
                                <p:cTn id="101" presetID="2" presetClass="entr" presetSubtype="4" fill="hold" nodeType="withEffect">
                                  <p:stCondLst>
                                    <p:cond delay="0"/>
                                  </p:stCondLst>
                                  <p:childTnLst>
                                    <p:set>
                                      <p:cBhvr>
                                        <p:cTn id="102" dur="1" fill="hold">
                                          <p:stCondLst>
                                            <p:cond delay="0"/>
                                          </p:stCondLst>
                                        </p:cTn>
                                        <p:tgtEl>
                                          <p:spTgt spid="1190918">
                                            <p:txEl>
                                              <p:pRg st="10" end="10"/>
                                            </p:txEl>
                                          </p:spTgt>
                                        </p:tgtEl>
                                        <p:attrNameLst>
                                          <p:attrName>style.visibility</p:attrName>
                                        </p:attrNameLst>
                                      </p:cBhvr>
                                      <p:to>
                                        <p:strVal val="visible"/>
                                      </p:to>
                                    </p:set>
                                    <p:anim calcmode="lin" valueType="num">
                                      <p:cBhvr additive="base">
                                        <p:cTn id="103" dur="500" fill="hold"/>
                                        <p:tgtEl>
                                          <p:spTgt spid="1190918">
                                            <p:txEl>
                                              <p:pRg st="10" end="10"/>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190918">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1"/>
                                            </p:cond>
                                          </p:stCondLst>
                                          <p:endCondLst>
                                            <p:cond evt="onStopAudio" delay="0">
                                              <p:tgtEl>
                                                <p:sldTgt/>
                                              </p:tgtEl>
                                            </p:cond>
                                          </p:endCondLst>
                                        </p:cTn>
                                        <p:tgtEl>
                                          <p:sndTgt r:embed="rId2" name="camera.wav"/>
                                        </p:tgtEl>
                                      </p:cMediaNode>
                                    </p:audio>
                                  </p:subTnLst>
                                </p:cTn>
                              </p:par>
                              <p:par>
                                <p:cTn id="105" presetID="2" presetClass="entr" presetSubtype="4" fill="hold" nodeType="withEffect">
                                  <p:stCondLst>
                                    <p:cond delay="0"/>
                                  </p:stCondLst>
                                  <p:childTnLst>
                                    <p:set>
                                      <p:cBhvr>
                                        <p:cTn id="106" dur="1" fill="hold">
                                          <p:stCondLst>
                                            <p:cond delay="0"/>
                                          </p:stCondLst>
                                        </p:cTn>
                                        <p:tgtEl>
                                          <p:spTgt spid="1190918">
                                            <p:txEl>
                                              <p:pRg st="11" end="11"/>
                                            </p:txEl>
                                          </p:spTgt>
                                        </p:tgtEl>
                                        <p:attrNameLst>
                                          <p:attrName>style.visibility</p:attrName>
                                        </p:attrNameLst>
                                      </p:cBhvr>
                                      <p:to>
                                        <p:strVal val="visible"/>
                                      </p:to>
                                    </p:set>
                                    <p:anim calcmode="lin" valueType="num">
                                      <p:cBhvr additive="base">
                                        <p:cTn id="107" dur="500" fill="hold"/>
                                        <p:tgtEl>
                                          <p:spTgt spid="1190918">
                                            <p:txEl>
                                              <p:pRg st="11" end="11"/>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1190918">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par>
                                <p:cTn id="109" presetID="2" presetClass="entr" presetSubtype="4" fill="hold" nodeType="withEffect">
                                  <p:stCondLst>
                                    <p:cond delay="0"/>
                                  </p:stCondLst>
                                  <p:childTnLst>
                                    <p:set>
                                      <p:cBhvr>
                                        <p:cTn id="110" dur="1" fill="hold">
                                          <p:stCondLst>
                                            <p:cond delay="0"/>
                                          </p:stCondLst>
                                        </p:cTn>
                                        <p:tgtEl>
                                          <p:spTgt spid="1190918">
                                            <p:txEl>
                                              <p:pRg st="12" end="12"/>
                                            </p:txEl>
                                          </p:spTgt>
                                        </p:tgtEl>
                                        <p:attrNameLst>
                                          <p:attrName>style.visibility</p:attrName>
                                        </p:attrNameLst>
                                      </p:cBhvr>
                                      <p:to>
                                        <p:strVal val="visible"/>
                                      </p:to>
                                    </p:set>
                                    <p:anim calcmode="lin" valueType="num">
                                      <p:cBhvr additive="base">
                                        <p:cTn id="111" dur="500" fill="hold"/>
                                        <p:tgtEl>
                                          <p:spTgt spid="1190918">
                                            <p:txEl>
                                              <p:pRg st="12" end="12"/>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1190918">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9"/>
                                            </p:cond>
                                          </p:stCondLst>
                                          <p:endCondLst>
                                            <p:cond evt="onStopAudio" delay="0">
                                              <p:tgtEl>
                                                <p:sldTgt/>
                                              </p:tgtEl>
                                            </p:cond>
                                          </p:endCondLst>
                                        </p:cTn>
                                        <p:tgtEl>
                                          <p:sndTgt r:embed="rId2" name="camera.wav"/>
                                        </p:tgtEl>
                                      </p:cMediaNode>
                                    </p:audio>
                                  </p:subTnLst>
                                </p:cTn>
                              </p:par>
                            </p:childTnLst>
                          </p:cTn>
                        </p:par>
                        <p:par>
                          <p:cTn id="113" fill="hold">
                            <p:stCondLst>
                              <p:cond delay="500"/>
                            </p:stCondLst>
                            <p:childTnLst>
                              <p:par>
                                <p:cTn id="114" presetID="4" presetClass="entr" presetSubtype="16" fill="hold" grpId="0" nodeType="afterEffect">
                                  <p:stCondLst>
                                    <p:cond delay="0"/>
                                  </p:stCondLst>
                                  <p:childTnLst>
                                    <p:set>
                                      <p:cBhvr>
                                        <p:cTn id="115" dur="1" fill="hold">
                                          <p:stCondLst>
                                            <p:cond delay="0"/>
                                          </p:stCondLst>
                                        </p:cTn>
                                        <p:tgtEl>
                                          <p:spTgt spid="1191085"/>
                                        </p:tgtEl>
                                        <p:attrNameLst>
                                          <p:attrName>style.visibility</p:attrName>
                                        </p:attrNameLst>
                                      </p:cBhvr>
                                      <p:to>
                                        <p:strVal val="visible"/>
                                      </p:to>
                                    </p:set>
                                    <p:animEffect transition="in" filter="box(in)">
                                      <p:cBhvr>
                                        <p:cTn id="116" dur="500"/>
                                        <p:tgtEl>
                                          <p:spTgt spid="1191085"/>
                                        </p:tgtEl>
                                      </p:cBhvr>
                                    </p:animEffect>
                                  </p:childTnLst>
                                  <p:subTnLst>
                                    <p:audio>
                                      <p:cMediaNode>
                                        <p:cTn display="0" masterRel="sameClick">
                                          <p:stCondLst>
                                            <p:cond evt="begin" delay="0">
                                              <p:tn val="114"/>
                                            </p:cond>
                                          </p:stCondLst>
                                          <p:endCondLst>
                                            <p:cond evt="onStopAudio" delay="0">
                                              <p:tgtEl>
                                                <p:sldTgt/>
                                              </p:tgtEl>
                                            </p:cond>
                                          </p:endCondLst>
                                        </p:cTn>
                                        <p:tgtEl>
                                          <p:sndTgt r:embed="rId3" name="chimes.wav"/>
                                        </p:tgtEl>
                                      </p:cMediaNode>
                                    </p:audio>
                                  </p:subTnLst>
                                </p:cTn>
                              </p:par>
                            </p:childTnLst>
                          </p:cTn>
                        </p:par>
                        <p:par>
                          <p:cTn id="117" fill="hold">
                            <p:stCondLst>
                              <p:cond delay="1000"/>
                            </p:stCondLst>
                            <p:childTnLst>
                              <p:par>
                                <p:cTn id="118" presetID="4" presetClass="entr" presetSubtype="16" fill="hold" grpId="0" nodeType="afterEffect">
                                  <p:stCondLst>
                                    <p:cond delay="0"/>
                                  </p:stCondLst>
                                  <p:childTnLst>
                                    <p:set>
                                      <p:cBhvr>
                                        <p:cTn id="119" dur="1" fill="hold">
                                          <p:stCondLst>
                                            <p:cond delay="0"/>
                                          </p:stCondLst>
                                        </p:cTn>
                                        <p:tgtEl>
                                          <p:spTgt spid="1191089"/>
                                        </p:tgtEl>
                                        <p:attrNameLst>
                                          <p:attrName>style.visibility</p:attrName>
                                        </p:attrNameLst>
                                      </p:cBhvr>
                                      <p:to>
                                        <p:strVal val="visible"/>
                                      </p:to>
                                    </p:set>
                                    <p:animEffect transition="in" filter="box(in)">
                                      <p:cBhvr>
                                        <p:cTn id="120" dur="500"/>
                                        <p:tgtEl>
                                          <p:spTgt spid="1191089"/>
                                        </p:tgtEl>
                                      </p:cBhvr>
                                    </p:animEffect>
                                  </p:childTnLst>
                                  <p:subTnLst>
                                    <p:audio>
                                      <p:cMediaNode>
                                        <p:cTn display="0" masterRel="sameClick">
                                          <p:stCondLst>
                                            <p:cond evt="begin" delay="0">
                                              <p:tn val="118"/>
                                            </p:cond>
                                          </p:stCondLst>
                                          <p:endCondLst>
                                            <p:cond evt="onStopAudio" delay="0">
                                              <p:tgtEl>
                                                <p:sldTgt/>
                                              </p:tgtEl>
                                            </p:cond>
                                          </p:endCondLst>
                                        </p:cTn>
                                        <p:tgtEl>
                                          <p:sndTgt r:embed="rId2" name="camera.wav"/>
                                        </p:tgtEl>
                                      </p:cMediaNode>
                                    </p:audio>
                                  </p:subTnLst>
                                </p:cTn>
                              </p:par>
                            </p:childTnLst>
                          </p:cTn>
                        </p:par>
                        <p:par>
                          <p:cTn id="121" fill="hold">
                            <p:stCondLst>
                              <p:cond delay="1500"/>
                            </p:stCondLst>
                            <p:childTnLst>
                              <p:par>
                                <p:cTn id="122" presetID="18" presetClass="entr" presetSubtype="6" fill="hold" nodeType="afterEffect">
                                  <p:stCondLst>
                                    <p:cond delay="0"/>
                                  </p:stCondLst>
                                  <p:childTnLst>
                                    <p:set>
                                      <p:cBhvr>
                                        <p:cTn id="123" dur="1" fill="hold">
                                          <p:stCondLst>
                                            <p:cond delay="0"/>
                                          </p:stCondLst>
                                        </p:cTn>
                                        <p:tgtEl>
                                          <p:spTgt spid="1191086"/>
                                        </p:tgtEl>
                                        <p:attrNameLst>
                                          <p:attrName>style.visibility</p:attrName>
                                        </p:attrNameLst>
                                      </p:cBhvr>
                                      <p:to>
                                        <p:strVal val="visible"/>
                                      </p:to>
                                    </p:set>
                                    <p:animEffect transition="in" filter="strips(downRight)">
                                      <p:cBhvr>
                                        <p:cTn id="124" dur="500"/>
                                        <p:tgtEl>
                                          <p:spTgt spid="1191086"/>
                                        </p:tgtEl>
                                      </p:cBhvr>
                                    </p:animEffect>
                                  </p:childTnLst>
                                  <p:subTnLst>
                                    <p:audio>
                                      <p:cMediaNode>
                                        <p:cTn display="0" masterRel="sameClick">
                                          <p:stCondLst>
                                            <p:cond evt="begin" delay="0">
                                              <p:tn val="122"/>
                                            </p:cond>
                                          </p:stCondLst>
                                          <p:endCondLst>
                                            <p:cond evt="onStopAudio" delay="0">
                                              <p:tgtEl>
                                                <p:sldTgt/>
                                              </p:tgtEl>
                                            </p:cond>
                                          </p:endCondLst>
                                        </p:cTn>
                                        <p:tgtEl>
                                          <p:sndTgt r:embed="rId2" name="camera.wav"/>
                                        </p:tgtEl>
                                      </p:cMediaNode>
                                    </p:audio>
                                  </p:subTnLst>
                                </p:cTn>
                              </p:par>
                            </p:childTnLst>
                          </p:cTn>
                        </p:par>
                      </p:childTnLst>
                    </p:cTn>
                  </p:par>
                  <p:par>
                    <p:cTn id="125" fill="hold">
                      <p:stCondLst>
                        <p:cond delay="indefinite"/>
                      </p:stCondLst>
                      <p:childTnLst>
                        <p:par>
                          <p:cTn id="126" fill="hold">
                            <p:stCondLst>
                              <p:cond delay="0"/>
                            </p:stCondLst>
                            <p:childTnLst>
                              <p:par>
                                <p:cTn id="127" presetID="4" presetClass="entr" presetSubtype="32" fill="hold" grpId="0" nodeType="clickEffect">
                                  <p:stCondLst>
                                    <p:cond delay="0"/>
                                  </p:stCondLst>
                                  <p:childTnLst>
                                    <p:set>
                                      <p:cBhvr>
                                        <p:cTn id="128" dur="1" fill="hold">
                                          <p:stCondLst>
                                            <p:cond delay="0"/>
                                          </p:stCondLst>
                                        </p:cTn>
                                        <p:tgtEl>
                                          <p:spTgt spid="1191092"/>
                                        </p:tgtEl>
                                        <p:attrNameLst>
                                          <p:attrName>style.visibility</p:attrName>
                                        </p:attrNameLst>
                                      </p:cBhvr>
                                      <p:to>
                                        <p:strVal val="visible"/>
                                      </p:to>
                                    </p:set>
                                    <p:animEffect transition="in" filter="box(out)">
                                      <p:cBhvr>
                                        <p:cTn id="129" dur="500"/>
                                        <p:tgtEl>
                                          <p:spTgt spid="1191092"/>
                                        </p:tgtEl>
                                      </p:cBhvr>
                                    </p:animEffect>
                                  </p:childTnLst>
                                  <p:subTnLst>
                                    <p:audio>
                                      <p:cMediaNode>
                                        <p:cTn display="0" masterRel="sameClick">
                                          <p:stCondLst>
                                            <p:cond evt="begin" delay="0">
                                              <p:tn val="127"/>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1069" grpId="0" animBg="1"/>
      <p:bldP spid="1191070" grpId="0" animBg="1"/>
      <p:bldP spid="1191071" grpId="0" animBg="1"/>
      <p:bldP spid="1191072" grpId="0" animBg="1"/>
      <p:bldP spid="1191073" grpId="0" animBg="1"/>
      <p:bldP spid="1191080" grpId="0" animBg="1"/>
      <p:bldP spid="1191084" grpId="0" animBg="1"/>
      <p:bldP spid="1191085" grpId="0"/>
      <p:bldP spid="1191089" grpId="0" animBg="1"/>
      <p:bldP spid="1191090" grpId="0" animBg="1"/>
      <p:bldP spid="1191092" grpId="0" animBg="1"/>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2991" name="Text Box 31"/>
          <p:cNvSpPr txBox="1">
            <a:spLocks noChangeArrowheads="1"/>
          </p:cNvSpPr>
          <p:nvPr/>
        </p:nvSpPr>
        <p:spPr bwMode="auto">
          <a:xfrm>
            <a:off x="1005168" y="1136022"/>
            <a:ext cx="10131592" cy="2769989"/>
          </a:xfrm>
          <a:prstGeom prst="rect">
            <a:avLst/>
          </a:prstGeom>
          <a:noFill/>
          <a:ln w="9525" algn="ctr">
            <a:noFill/>
            <a:miter lim="800000"/>
            <a:headEnd/>
            <a:tailEnd/>
          </a:ln>
          <a:effectLst/>
        </p:spPr>
        <p:txBody>
          <a:bodyPr wrap="square">
            <a:spAutoFit/>
          </a:bodyPr>
          <a:lstStyle/>
          <a:p>
            <a:pPr>
              <a:spcBef>
                <a:spcPts val="0"/>
              </a:spcBef>
              <a:buFont typeface="Wingdings" pitchFamily="2" charset="2"/>
              <a:buChar char="Ø"/>
            </a:pPr>
            <a:r>
              <a:rPr lang="zh-CN" altLang="en-US" b="1" dirty="0">
                <a:solidFill>
                  <a:srgbClr val="C00000"/>
                </a:solidFill>
                <a:latin typeface="+mn-lt"/>
                <a:ea typeface="楷体" pitchFamily="49" charset="-122"/>
              </a:rPr>
              <a:t> 参数传递方式</a:t>
            </a:r>
            <a:endParaRPr lang="en-US" altLang="zh-CN" b="1" dirty="0">
              <a:solidFill>
                <a:srgbClr val="C00000"/>
              </a:solidFill>
              <a:latin typeface="+mn-lt"/>
              <a:ea typeface="楷体" pitchFamily="49" charset="-122"/>
            </a:endParaRPr>
          </a:p>
          <a:p>
            <a:pPr>
              <a:spcBef>
                <a:spcPts val="0"/>
              </a:spcBef>
              <a:buFont typeface="Wingdings" pitchFamily="2" charset="2"/>
              <a:buChar char="Ø"/>
            </a:pPr>
            <a:endParaRPr lang="en-US" altLang="zh-CN" sz="1400" b="1" dirty="0">
              <a:solidFill>
                <a:srgbClr val="C00000"/>
              </a:solidFill>
              <a:latin typeface="+mn-lt"/>
              <a:ea typeface="楷体" pitchFamily="49" charset="-122"/>
            </a:endParaRPr>
          </a:p>
          <a:p>
            <a:pPr marL="800100" lvl="1" indent="-342900">
              <a:spcBef>
                <a:spcPts val="0"/>
              </a:spcBef>
              <a:buFont typeface="Wingdings" panose="05000000000000000000" pitchFamily="2" charset="2"/>
              <a:buChar char="l"/>
            </a:pPr>
            <a:r>
              <a:rPr lang="zh-CN" altLang="en-US" b="1" dirty="0">
                <a:solidFill>
                  <a:srgbClr val="C00000"/>
                </a:solidFill>
                <a:latin typeface="楷体" panose="02010609060101010101" pitchFamily="49" charset="-122"/>
                <a:ea typeface="楷体" panose="02010609060101010101" pitchFamily="49" charset="-122"/>
              </a:rPr>
              <a:t>传值调用</a:t>
            </a:r>
            <a:r>
              <a:rPr lang="zh-CN" altLang="en-US" dirty="0">
                <a:solidFill>
                  <a:srgbClr val="C00000"/>
                </a:solidFill>
                <a:latin typeface="楷体" panose="02010609060101010101" pitchFamily="49" charset="-122"/>
                <a:ea typeface="楷体" panose="02010609060101010101" pitchFamily="49" charset="-122"/>
              </a:rPr>
              <a:t>：</a:t>
            </a:r>
            <a:r>
              <a:rPr lang="zh-CN" altLang="en-US" dirty="0">
                <a:latin typeface="+mn-lt"/>
                <a:ea typeface="楷体" pitchFamily="49" charset="-122"/>
              </a:rPr>
              <a:t>将参数值传递给形参。实参和形参占用各自的内存单元，互不干扰，函数中对形参值得改变不会改变实参的值，属于</a:t>
            </a:r>
            <a:r>
              <a:rPr lang="zh-CN" altLang="en-US" dirty="0">
                <a:solidFill>
                  <a:srgbClr val="C00000"/>
                </a:solidFill>
                <a:latin typeface="+mn-lt"/>
                <a:ea typeface="楷体" pitchFamily="49" charset="-122"/>
              </a:rPr>
              <a:t>单向数据传递方式</a:t>
            </a:r>
            <a:r>
              <a:rPr lang="zh-CN" altLang="en-US" dirty="0">
                <a:latin typeface="+mn-lt"/>
                <a:ea typeface="楷体" pitchFamily="49" charset="-122"/>
              </a:rPr>
              <a:t>。</a:t>
            </a:r>
            <a:endParaRPr lang="en-US" altLang="zh-CN" dirty="0">
              <a:latin typeface="+mn-lt"/>
              <a:ea typeface="楷体" pitchFamily="49" charset="-122"/>
            </a:endParaRPr>
          </a:p>
          <a:p>
            <a:pPr marL="800100" lvl="1" indent="-342900">
              <a:spcBef>
                <a:spcPts val="0"/>
              </a:spcBef>
              <a:buFont typeface="Wingdings" panose="05000000000000000000" pitchFamily="2" charset="2"/>
              <a:buChar char="l"/>
            </a:pPr>
            <a:endParaRPr lang="en-US" altLang="zh-CN" sz="1200" dirty="0">
              <a:latin typeface="+mn-lt"/>
              <a:ea typeface="楷体" pitchFamily="49" charset="-122"/>
            </a:endParaRPr>
          </a:p>
          <a:p>
            <a:pPr marL="800100" lvl="1" indent="-342900">
              <a:spcBef>
                <a:spcPts val="0"/>
              </a:spcBef>
              <a:buFont typeface="Wingdings" panose="05000000000000000000" pitchFamily="2" charset="2"/>
              <a:buChar char="l"/>
            </a:pPr>
            <a:r>
              <a:rPr lang="zh-CN" altLang="en-US" b="1" dirty="0">
                <a:solidFill>
                  <a:srgbClr val="C00000"/>
                </a:solidFill>
                <a:latin typeface="楷体" panose="02010609060101010101" pitchFamily="49" charset="-122"/>
                <a:ea typeface="楷体" panose="02010609060101010101" pitchFamily="49" charset="-122"/>
              </a:rPr>
              <a:t>传址调用</a:t>
            </a:r>
            <a:r>
              <a:rPr lang="zh-CN" altLang="en-US" dirty="0">
                <a:solidFill>
                  <a:srgbClr val="C00000"/>
                </a:solidFill>
                <a:latin typeface="楷体" panose="02010609060101010101" pitchFamily="49" charset="-122"/>
                <a:ea typeface="楷体" panose="02010609060101010101" pitchFamily="49" charset="-122"/>
              </a:rPr>
              <a:t>：</a:t>
            </a:r>
            <a:r>
              <a:rPr lang="zh-CN" altLang="en-US" dirty="0">
                <a:latin typeface="+mn-lt"/>
                <a:ea typeface="楷体" pitchFamily="49" charset="-122"/>
              </a:rPr>
              <a:t>将实参的地址传递给形参。形参和实参占用同样的内存单元，对形参值得改变也会改变实参的值，属于</a:t>
            </a:r>
            <a:r>
              <a:rPr lang="zh-CN" altLang="en-US" dirty="0">
                <a:solidFill>
                  <a:srgbClr val="C00000"/>
                </a:solidFill>
                <a:latin typeface="+mn-lt"/>
                <a:ea typeface="楷体" pitchFamily="49" charset="-122"/>
              </a:rPr>
              <a:t>双向数据传递方式</a:t>
            </a:r>
            <a:r>
              <a:rPr lang="zh-CN" altLang="en-US" dirty="0">
                <a:latin typeface="+mn-lt"/>
                <a:ea typeface="楷体" pitchFamily="49" charset="-122"/>
              </a:rPr>
              <a:t>。</a:t>
            </a:r>
          </a:p>
        </p:txBody>
      </p:sp>
      <p:grpSp>
        <p:nvGrpSpPr>
          <p:cNvPr id="1193062" name="Group 102"/>
          <p:cNvGrpSpPr>
            <a:grpSpLocks/>
          </p:cNvGrpSpPr>
          <p:nvPr/>
        </p:nvGrpSpPr>
        <p:grpSpPr bwMode="auto">
          <a:xfrm>
            <a:off x="1847528" y="3081443"/>
            <a:ext cx="4012148" cy="3478213"/>
            <a:chOff x="810" y="2106"/>
            <a:chExt cx="2095" cy="2191"/>
          </a:xfrm>
          <a:effectLst>
            <a:outerShdw blurRad="50800" dist="106680" dir="2700000" algn="tl" rotWithShape="0">
              <a:prstClr val="black">
                <a:alpha val="43000"/>
              </a:prstClr>
            </a:outerShdw>
          </a:effectLst>
        </p:grpSpPr>
        <p:sp>
          <p:nvSpPr>
            <p:cNvPr id="1193056" name="Text Box 96" descr="信纸"/>
            <p:cNvSpPr txBox="1">
              <a:spLocks noChangeArrowheads="1"/>
            </p:cNvSpPr>
            <p:nvPr/>
          </p:nvSpPr>
          <p:spPr bwMode="auto">
            <a:xfrm>
              <a:off x="810" y="2106"/>
              <a:ext cx="2095" cy="2191"/>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sz="2000" dirty="0">
                  <a:solidFill>
                    <a:srgbClr val="C00000"/>
                  </a:solidFill>
                </a:rPr>
                <a:t>void </a:t>
              </a:r>
              <a:r>
                <a:rPr lang="en-US" altLang="zh-CN" sz="2000" dirty="0" err="1">
                  <a:solidFill>
                    <a:srgbClr val="C00000"/>
                  </a:solidFill>
                </a:rPr>
                <a:t>func</a:t>
              </a:r>
              <a:r>
                <a:rPr lang="en-US" altLang="zh-CN" sz="2000" dirty="0">
                  <a:solidFill>
                    <a:srgbClr val="C00000"/>
                  </a:solidFill>
                </a:rPr>
                <a:t> (</a:t>
              </a:r>
              <a:r>
                <a:rPr lang="en-US" altLang="zh-CN" sz="2000" dirty="0" err="1">
                  <a:solidFill>
                    <a:srgbClr val="C00000"/>
                  </a:solidFill>
                </a:rPr>
                <a:t>int</a:t>
              </a:r>
              <a:r>
                <a:rPr lang="en-US" altLang="zh-CN" sz="2000" dirty="0">
                  <a:solidFill>
                    <a:srgbClr val="C00000"/>
                  </a:solidFill>
                </a:rPr>
                <a:t> a) </a:t>
              </a:r>
            </a:p>
            <a:p>
              <a:pPr eaLnBrk="0" hangingPunct="0">
                <a:lnSpc>
                  <a:spcPct val="100000"/>
                </a:lnSpc>
                <a:spcBef>
                  <a:spcPct val="0"/>
                </a:spcBef>
              </a:pPr>
              <a:r>
                <a:rPr lang="en-US" altLang="zh-CN" sz="2000" dirty="0"/>
                <a:t>{</a:t>
              </a:r>
            </a:p>
            <a:p>
              <a:pPr eaLnBrk="0" hangingPunct="0">
                <a:lnSpc>
                  <a:spcPct val="100000"/>
                </a:lnSpc>
                <a:spcBef>
                  <a:spcPct val="0"/>
                </a:spcBef>
              </a:pPr>
              <a:r>
                <a:rPr lang="en-US" altLang="zh-CN" sz="2000" dirty="0"/>
                <a:t>    a = 5;</a:t>
              </a:r>
            </a:p>
            <a:p>
              <a:pPr eaLnBrk="0" hangingPunct="0">
                <a:lnSpc>
                  <a:spcPct val="100000"/>
                </a:lnSpc>
                <a:spcBef>
                  <a:spcPct val="0"/>
                </a:spcBef>
              </a:pPr>
              <a:r>
                <a:rPr lang="en-US" altLang="zh-CN" sz="2000" dirty="0"/>
                <a:t>}</a:t>
              </a:r>
            </a:p>
            <a:p>
              <a:pPr eaLnBrk="0" hangingPunct="0">
                <a:lnSpc>
                  <a:spcPct val="100000"/>
                </a:lnSpc>
                <a:spcBef>
                  <a:spcPct val="0"/>
                </a:spcBef>
              </a:pPr>
              <a:r>
                <a:rPr lang="en-US" altLang="zh-CN" sz="2000" dirty="0" err="1">
                  <a:solidFill>
                    <a:srgbClr val="C00000"/>
                  </a:solidFill>
                </a:rPr>
                <a:t>int</a:t>
              </a:r>
              <a:r>
                <a:rPr lang="en-US" altLang="zh-CN" sz="2000" dirty="0">
                  <a:solidFill>
                    <a:srgbClr val="C00000"/>
                  </a:solidFill>
                </a:rPr>
                <a:t> main ( ) </a:t>
              </a:r>
            </a:p>
            <a:p>
              <a:pPr eaLnBrk="0" hangingPunct="0">
                <a:lnSpc>
                  <a:spcPct val="100000"/>
                </a:lnSpc>
                <a:spcBef>
                  <a:spcPct val="0"/>
                </a:spcBef>
              </a:pPr>
              <a:r>
                <a:rPr lang="en-US" altLang="zh-CN" sz="2000" dirty="0"/>
                <a:t>{</a:t>
              </a:r>
            </a:p>
            <a:p>
              <a:pPr eaLnBrk="0" hangingPunct="0">
                <a:lnSpc>
                  <a:spcPct val="100000"/>
                </a:lnSpc>
                <a:spcBef>
                  <a:spcPct val="0"/>
                </a:spcBef>
              </a:pPr>
              <a:r>
                <a:rPr lang="en-US" altLang="zh-CN" sz="2000" dirty="0"/>
                <a:t>   </a:t>
              </a:r>
              <a:r>
                <a:rPr lang="en-US" altLang="zh-CN" sz="2000" dirty="0" err="1"/>
                <a:t>int</a:t>
              </a:r>
              <a:r>
                <a:rPr lang="en-US" altLang="zh-CN" sz="2000" dirty="0"/>
                <a:t> b = 0; </a:t>
              </a:r>
            </a:p>
            <a:p>
              <a:pPr eaLnBrk="0" hangingPunct="0">
                <a:lnSpc>
                  <a:spcPct val="100000"/>
                </a:lnSpc>
                <a:spcBef>
                  <a:spcPct val="0"/>
                </a:spcBef>
              </a:pPr>
              <a:r>
                <a:rPr lang="en-US" altLang="zh-CN" sz="2000" dirty="0"/>
                <a:t>   </a:t>
              </a:r>
              <a:r>
                <a:rPr lang="en-US" altLang="zh-CN" sz="2000" dirty="0" err="1"/>
                <a:t>func</a:t>
              </a:r>
              <a:r>
                <a:rPr lang="en-US" altLang="zh-CN" sz="2000" dirty="0"/>
                <a:t> (b); </a:t>
              </a:r>
            </a:p>
            <a:p>
              <a:pPr eaLnBrk="0" hangingPunct="0">
                <a:lnSpc>
                  <a:spcPct val="100000"/>
                </a:lnSpc>
                <a:spcBef>
                  <a:spcPct val="0"/>
                </a:spcBef>
              </a:pPr>
              <a:r>
                <a:rPr lang="en-US" altLang="zh-CN" sz="2000" dirty="0"/>
                <a:t>   </a:t>
              </a:r>
              <a:r>
                <a:rPr lang="en-US" altLang="zh-CN" sz="2000" dirty="0" err="1"/>
                <a:t>printf</a:t>
              </a:r>
              <a:r>
                <a:rPr lang="en-US" altLang="zh-CN" sz="2000" dirty="0"/>
                <a:t> ("b = %d\n", b); </a:t>
              </a:r>
            </a:p>
            <a:p>
              <a:pPr eaLnBrk="0" hangingPunct="0">
                <a:lnSpc>
                  <a:spcPct val="100000"/>
                </a:lnSpc>
                <a:spcBef>
                  <a:spcPct val="0"/>
                </a:spcBef>
              </a:pPr>
              <a:r>
                <a:rPr lang="en-US" altLang="zh-CN" sz="2000" dirty="0"/>
                <a:t>   return 0;</a:t>
              </a:r>
            </a:p>
            <a:p>
              <a:pPr eaLnBrk="0" hangingPunct="0">
                <a:lnSpc>
                  <a:spcPct val="100000"/>
                </a:lnSpc>
                <a:spcBef>
                  <a:spcPct val="0"/>
                </a:spcBef>
              </a:pPr>
              <a:r>
                <a:rPr lang="en-US" altLang="zh-CN" sz="2000" dirty="0"/>
                <a:t>}</a:t>
              </a:r>
            </a:p>
          </p:txBody>
        </p:sp>
        <p:sp>
          <p:nvSpPr>
            <p:cNvPr id="1193060" name="Text Box 100"/>
            <p:cNvSpPr txBox="1">
              <a:spLocks noChangeArrowheads="1"/>
            </p:cNvSpPr>
            <p:nvPr/>
          </p:nvSpPr>
          <p:spPr bwMode="auto">
            <a:xfrm>
              <a:off x="2183" y="2241"/>
              <a:ext cx="657" cy="252"/>
            </a:xfrm>
            <a:prstGeom prst="rect">
              <a:avLst/>
            </a:prstGeom>
            <a:gradFill>
              <a:gsLst>
                <a:gs pos="0">
                  <a:srgbClr val="BEDFC4"/>
                </a:gs>
                <a:gs pos="100000">
                  <a:schemeClr val="bg1">
                    <a:lumMod val="95000"/>
                  </a:schemeClr>
                </a:gs>
              </a:gsLst>
            </a:gradFill>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spAutoFit/>
            </a:bodyPr>
            <a:lstStyle/>
            <a:p>
              <a:pPr marL="342900" indent="-342900">
                <a:spcBef>
                  <a:spcPct val="50000"/>
                </a:spcBef>
              </a:pPr>
              <a:r>
                <a:rPr lang="zh-CN" altLang="en-US" sz="2000" dirty="0">
                  <a:solidFill>
                    <a:schemeClr val="accent2">
                      <a:lumMod val="50000"/>
                    </a:schemeClr>
                  </a:solidFill>
                  <a:latin typeface="隶书" pitchFamily="49" charset="-122"/>
                  <a:ea typeface="隶书" pitchFamily="49" charset="-122"/>
                </a:rPr>
                <a:t>传值调用</a:t>
              </a:r>
            </a:p>
          </p:txBody>
        </p:sp>
      </p:grpSp>
      <p:grpSp>
        <p:nvGrpSpPr>
          <p:cNvPr id="1193063" name="Group 103"/>
          <p:cNvGrpSpPr>
            <a:grpSpLocks/>
          </p:cNvGrpSpPr>
          <p:nvPr/>
        </p:nvGrpSpPr>
        <p:grpSpPr bwMode="auto">
          <a:xfrm>
            <a:off x="6960047" y="3094143"/>
            <a:ext cx="4176713" cy="3478213"/>
            <a:chOff x="3332" y="2114"/>
            <a:chExt cx="2631" cy="2191"/>
          </a:xfrm>
          <a:effectLst>
            <a:outerShdw blurRad="50800" dist="106680" dir="2700000" algn="tl" rotWithShape="0">
              <a:prstClr val="black">
                <a:alpha val="43000"/>
              </a:prstClr>
            </a:outerShdw>
          </a:effectLst>
        </p:grpSpPr>
        <p:sp>
          <p:nvSpPr>
            <p:cNvPr id="1193057" name="Text Box 97" descr="信纸"/>
            <p:cNvSpPr txBox="1">
              <a:spLocks noChangeArrowheads="1"/>
            </p:cNvSpPr>
            <p:nvPr/>
          </p:nvSpPr>
          <p:spPr bwMode="auto">
            <a:xfrm>
              <a:off x="3332" y="2114"/>
              <a:ext cx="2631" cy="2191"/>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sz="2000" dirty="0">
                  <a:solidFill>
                    <a:srgbClr val="C00000"/>
                  </a:solidFill>
                </a:rPr>
                <a:t>void </a:t>
              </a:r>
              <a:r>
                <a:rPr lang="en-US" altLang="zh-CN" sz="2000" dirty="0" err="1">
                  <a:solidFill>
                    <a:srgbClr val="C00000"/>
                  </a:solidFill>
                </a:rPr>
                <a:t>func</a:t>
              </a:r>
              <a:r>
                <a:rPr lang="en-US" altLang="zh-CN" sz="2000" dirty="0">
                  <a:solidFill>
                    <a:srgbClr val="C00000"/>
                  </a:solidFill>
                </a:rPr>
                <a:t> (</a:t>
              </a:r>
              <a:r>
                <a:rPr lang="en-US" altLang="zh-CN" sz="2000" dirty="0" err="1">
                  <a:solidFill>
                    <a:srgbClr val="C00000"/>
                  </a:solidFill>
                </a:rPr>
                <a:t>int</a:t>
              </a:r>
              <a:r>
                <a:rPr lang="en-US" altLang="zh-CN" sz="2000" dirty="0">
                  <a:solidFill>
                    <a:srgbClr val="C00000"/>
                  </a:solidFill>
                </a:rPr>
                <a:t> *p) </a:t>
              </a:r>
            </a:p>
            <a:p>
              <a:pPr eaLnBrk="0" hangingPunct="0">
                <a:lnSpc>
                  <a:spcPct val="100000"/>
                </a:lnSpc>
                <a:spcBef>
                  <a:spcPct val="0"/>
                </a:spcBef>
              </a:pPr>
              <a:r>
                <a:rPr lang="en-US" altLang="zh-CN" sz="2000" dirty="0"/>
                <a:t>{</a:t>
              </a:r>
            </a:p>
            <a:p>
              <a:pPr eaLnBrk="0" hangingPunct="0">
                <a:lnSpc>
                  <a:spcPct val="100000"/>
                </a:lnSpc>
                <a:spcBef>
                  <a:spcPct val="0"/>
                </a:spcBef>
              </a:pPr>
              <a:r>
                <a:rPr lang="en-US" altLang="zh-CN" sz="2000" dirty="0"/>
                <a:t>    *p = 5;</a:t>
              </a:r>
            </a:p>
            <a:p>
              <a:pPr eaLnBrk="0" hangingPunct="0">
                <a:lnSpc>
                  <a:spcPct val="100000"/>
                </a:lnSpc>
                <a:spcBef>
                  <a:spcPct val="0"/>
                </a:spcBef>
              </a:pPr>
              <a:r>
                <a:rPr lang="en-US" altLang="zh-CN" sz="2000" dirty="0"/>
                <a:t>}</a:t>
              </a:r>
            </a:p>
            <a:p>
              <a:pPr eaLnBrk="0" hangingPunct="0">
                <a:lnSpc>
                  <a:spcPct val="100000"/>
                </a:lnSpc>
                <a:spcBef>
                  <a:spcPct val="0"/>
                </a:spcBef>
              </a:pPr>
              <a:r>
                <a:rPr lang="en-US" altLang="zh-CN" sz="2000" dirty="0" err="1">
                  <a:solidFill>
                    <a:srgbClr val="C00000"/>
                  </a:solidFill>
                </a:rPr>
                <a:t>int</a:t>
              </a:r>
              <a:r>
                <a:rPr lang="en-US" altLang="zh-CN" sz="2000" dirty="0">
                  <a:solidFill>
                    <a:srgbClr val="C00000"/>
                  </a:solidFill>
                </a:rPr>
                <a:t> main ( ) </a:t>
              </a:r>
            </a:p>
            <a:p>
              <a:pPr eaLnBrk="0" hangingPunct="0">
                <a:lnSpc>
                  <a:spcPct val="100000"/>
                </a:lnSpc>
                <a:spcBef>
                  <a:spcPct val="0"/>
                </a:spcBef>
              </a:pPr>
              <a:r>
                <a:rPr lang="en-US" altLang="zh-CN" sz="2000" dirty="0"/>
                <a:t>{</a:t>
              </a:r>
            </a:p>
            <a:p>
              <a:pPr eaLnBrk="0" hangingPunct="0">
                <a:lnSpc>
                  <a:spcPct val="100000"/>
                </a:lnSpc>
                <a:spcBef>
                  <a:spcPct val="0"/>
                </a:spcBef>
              </a:pPr>
              <a:r>
                <a:rPr lang="en-US" altLang="zh-CN" sz="2000" dirty="0"/>
                <a:t>   </a:t>
              </a:r>
              <a:r>
                <a:rPr lang="en-US" altLang="zh-CN" sz="2000" dirty="0" err="1"/>
                <a:t>int</a:t>
              </a:r>
              <a:r>
                <a:rPr lang="en-US" altLang="zh-CN" sz="2000" dirty="0"/>
                <a:t> b = 0; </a:t>
              </a:r>
            </a:p>
            <a:p>
              <a:pPr eaLnBrk="0" hangingPunct="0">
                <a:lnSpc>
                  <a:spcPct val="100000"/>
                </a:lnSpc>
                <a:spcBef>
                  <a:spcPct val="0"/>
                </a:spcBef>
              </a:pPr>
              <a:r>
                <a:rPr lang="en-US" altLang="zh-CN" sz="2000" dirty="0"/>
                <a:t>   </a:t>
              </a:r>
              <a:r>
                <a:rPr lang="en-US" altLang="zh-CN" sz="2000" dirty="0" err="1"/>
                <a:t>func</a:t>
              </a:r>
              <a:r>
                <a:rPr lang="en-US" altLang="zh-CN" sz="2000" dirty="0"/>
                <a:t> (&amp;b); </a:t>
              </a:r>
            </a:p>
            <a:p>
              <a:pPr eaLnBrk="0" hangingPunct="0">
                <a:lnSpc>
                  <a:spcPct val="100000"/>
                </a:lnSpc>
                <a:spcBef>
                  <a:spcPct val="0"/>
                </a:spcBef>
              </a:pPr>
              <a:r>
                <a:rPr lang="en-US" altLang="zh-CN" sz="2000" dirty="0"/>
                <a:t>   </a:t>
              </a:r>
              <a:r>
                <a:rPr lang="en-US" altLang="zh-CN" sz="2000" dirty="0" err="1"/>
                <a:t>printf</a:t>
              </a:r>
              <a:r>
                <a:rPr lang="en-US" altLang="zh-CN" sz="2000" dirty="0"/>
                <a:t> ("b = %d\n", b); </a:t>
              </a:r>
            </a:p>
            <a:p>
              <a:pPr eaLnBrk="0" hangingPunct="0">
                <a:lnSpc>
                  <a:spcPct val="100000"/>
                </a:lnSpc>
                <a:spcBef>
                  <a:spcPct val="0"/>
                </a:spcBef>
              </a:pPr>
              <a:r>
                <a:rPr lang="en-US" altLang="zh-CN" sz="2000" dirty="0"/>
                <a:t>   return 0;</a:t>
              </a:r>
            </a:p>
            <a:p>
              <a:pPr eaLnBrk="0" hangingPunct="0">
                <a:lnSpc>
                  <a:spcPct val="100000"/>
                </a:lnSpc>
                <a:spcBef>
                  <a:spcPct val="0"/>
                </a:spcBef>
              </a:pPr>
              <a:r>
                <a:rPr lang="en-US" altLang="zh-CN" sz="2000" dirty="0"/>
                <a:t>}</a:t>
              </a:r>
            </a:p>
          </p:txBody>
        </p:sp>
        <p:sp>
          <p:nvSpPr>
            <p:cNvPr id="1193061" name="Text Box 101"/>
            <p:cNvSpPr txBox="1">
              <a:spLocks noChangeArrowheads="1"/>
            </p:cNvSpPr>
            <p:nvPr/>
          </p:nvSpPr>
          <p:spPr bwMode="auto">
            <a:xfrm>
              <a:off x="4978" y="2257"/>
              <a:ext cx="817" cy="252"/>
            </a:xfrm>
            <a:prstGeom prst="rect">
              <a:avLst/>
            </a:prstGeom>
            <a:gradFill>
              <a:gsLst>
                <a:gs pos="0">
                  <a:srgbClr val="BEDFC4"/>
                </a:gs>
                <a:gs pos="100000">
                  <a:schemeClr val="bg1">
                    <a:lumMod val="95000"/>
                  </a:schemeClr>
                </a:gs>
              </a:gsLst>
            </a:gradFill>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spAutoFit/>
            </a:bodyPr>
            <a:lstStyle/>
            <a:p>
              <a:pPr marL="342900" indent="-342900">
                <a:spcBef>
                  <a:spcPct val="50000"/>
                </a:spcBef>
              </a:pPr>
              <a:r>
                <a:rPr lang="zh-CN" altLang="en-US" sz="2000" dirty="0">
                  <a:solidFill>
                    <a:schemeClr val="accent2">
                      <a:lumMod val="50000"/>
                    </a:schemeClr>
                  </a:solidFill>
                  <a:latin typeface="隶书" pitchFamily="49" charset="-122"/>
                  <a:ea typeface="隶书" pitchFamily="49" charset="-122"/>
                </a:rPr>
                <a:t>传址调用</a:t>
              </a:r>
            </a:p>
          </p:txBody>
        </p:sp>
      </p:grpSp>
      <p:sp>
        <p:nvSpPr>
          <p:cNvPr id="1193058" name="Rectangle 98"/>
          <p:cNvSpPr>
            <a:spLocks noChangeArrowheads="1"/>
          </p:cNvSpPr>
          <p:nvPr/>
        </p:nvSpPr>
        <p:spPr bwMode="auto">
          <a:xfrm>
            <a:off x="3653431" y="5928788"/>
            <a:ext cx="2206053" cy="461665"/>
          </a:xfrm>
          <a:prstGeom prst="rect">
            <a:avLst/>
          </a:prstGeom>
          <a:solidFill>
            <a:srgbClr val="FFFFFF"/>
          </a:solidFill>
          <a:ln w="38100" algn="ctr">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nSpc>
                <a:spcPct val="100000"/>
              </a:lnSpc>
              <a:spcBef>
                <a:spcPct val="0"/>
              </a:spcBef>
            </a:pPr>
            <a:r>
              <a:rPr lang="zh-CN" altLang="en-US" sz="2000" dirty="0">
                <a:solidFill>
                  <a:srgbClr val="C00000"/>
                </a:solidFill>
                <a:latin typeface="+mn-lt"/>
                <a:ea typeface="隶书" pitchFamily="49" charset="-122"/>
              </a:rPr>
              <a:t>运行结果：</a:t>
            </a:r>
            <a:r>
              <a:rPr lang="en-US" altLang="zh-CN" dirty="0">
                <a:solidFill>
                  <a:schemeClr val="accent2">
                    <a:lumMod val="50000"/>
                  </a:schemeClr>
                </a:solidFill>
              </a:rPr>
              <a:t>b = 0 </a:t>
            </a:r>
          </a:p>
        </p:txBody>
      </p:sp>
      <p:sp>
        <p:nvSpPr>
          <p:cNvPr id="1193059" name="Rectangle 99"/>
          <p:cNvSpPr>
            <a:spLocks noChangeArrowheads="1"/>
          </p:cNvSpPr>
          <p:nvPr/>
        </p:nvSpPr>
        <p:spPr bwMode="auto">
          <a:xfrm>
            <a:off x="8757746" y="5943073"/>
            <a:ext cx="2206053" cy="461665"/>
          </a:xfrm>
          <a:prstGeom prst="rect">
            <a:avLst/>
          </a:prstGeom>
          <a:solidFill>
            <a:srgbClr val="FFFFFF"/>
          </a:solidFill>
          <a:ln w="38100" algn="ctr">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nSpc>
                <a:spcPct val="100000"/>
              </a:lnSpc>
              <a:spcBef>
                <a:spcPct val="0"/>
              </a:spcBef>
            </a:pPr>
            <a:r>
              <a:rPr lang="zh-CN" altLang="en-US" sz="2000" dirty="0">
                <a:solidFill>
                  <a:srgbClr val="C00000"/>
                </a:solidFill>
                <a:latin typeface="+mn-lt"/>
                <a:ea typeface="隶书" pitchFamily="49" charset="-122"/>
              </a:rPr>
              <a:t>运行结果：</a:t>
            </a:r>
            <a:r>
              <a:rPr lang="en-US" altLang="zh-CN" dirty="0">
                <a:solidFill>
                  <a:schemeClr val="accent2">
                    <a:lumMod val="50000"/>
                  </a:schemeClr>
                </a:solidFill>
              </a:rPr>
              <a:t>b = 5 </a:t>
            </a:r>
          </a:p>
        </p:txBody>
      </p:sp>
      <p:sp>
        <p:nvSpPr>
          <p:cNvPr id="1193064" name="AutoShape 104"/>
          <p:cNvSpPr>
            <a:spLocks noChangeArrowheads="1"/>
          </p:cNvSpPr>
          <p:nvPr/>
        </p:nvSpPr>
        <p:spPr bwMode="auto">
          <a:xfrm>
            <a:off x="3265613" y="3893697"/>
            <a:ext cx="5832475" cy="1008062"/>
          </a:xfrm>
          <a:prstGeom prst="cloudCallout">
            <a:avLst>
              <a:gd name="adj1" fmla="val -17282"/>
              <a:gd name="adj2" fmla="val 125907"/>
            </a:avLst>
          </a:prstGeom>
          <a:gradFill rotWithShape="1">
            <a:gsLst>
              <a:gs pos="0">
                <a:srgbClr val="CFCFD1"/>
              </a:gs>
              <a:gs pos="100000">
                <a:schemeClr val="bg1">
                  <a:lumMod val="95000"/>
                </a:schemeClr>
              </a:gs>
            </a:gsLst>
            <a:lin ang="5400000" scaled="1"/>
          </a:gradFill>
          <a:ln w="25400">
            <a:solidFill>
              <a:srgbClr val="C00000"/>
            </a:solidFill>
            <a:round/>
            <a:headEnd/>
            <a:tailEnd/>
          </a:ln>
          <a:effectLst>
            <a:outerShdw dist="107763" dir="2700000" algn="ctr" rotWithShape="0">
              <a:schemeClr val="bg2">
                <a:alpha val="50000"/>
              </a:schemeClr>
            </a:outerShdw>
          </a:effectLst>
          <a:scene3d>
            <a:camera prst="orthographicFront"/>
            <a:lightRig rig="threePt" dir="t"/>
          </a:scene3d>
          <a:sp3d>
            <a:bevelT w="114300" prst="artDeco"/>
          </a:sp3d>
        </p:spPr>
        <p:txBody>
          <a:bodyPr/>
          <a:lstStyle/>
          <a:p>
            <a:pPr lvl="1" algn="ctr"/>
            <a:r>
              <a:rPr lang="en-US" altLang="zh-CN" b="1">
                <a:solidFill>
                  <a:srgbClr val="C00000"/>
                </a:solidFill>
                <a:latin typeface="+mn-lt"/>
                <a:ea typeface="楷体" pitchFamily="49" charset="-122"/>
              </a:rPr>
              <a:t>      </a:t>
            </a:r>
            <a:r>
              <a:rPr lang="zh-CN" altLang="en-US" b="1">
                <a:solidFill>
                  <a:srgbClr val="C00000"/>
                </a:solidFill>
                <a:latin typeface="+mn-lt"/>
                <a:ea typeface="楷体" pitchFamily="49" charset="-122"/>
              </a:rPr>
              <a:t>为什么结果不一样呢？ </a:t>
            </a:r>
          </a:p>
        </p:txBody>
      </p:sp>
      <p:grpSp>
        <p:nvGrpSpPr>
          <p:cNvPr id="1193098" name="Group 138"/>
          <p:cNvGrpSpPr>
            <a:grpSpLocks/>
          </p:cNvGrpSpPr>
          <p:nvPr/>
        </p:nvGrpSpPr>
        <p:grpSpPr bwMode="auto">
          <a:xfrm>
            <a:off x="1894027" y="1329774"/>
            <a:ext cx="4176713" cy="1958975"/>
            <a:chOff x="481" y="881"/>
            <a:chExt cx="2631" cy="1234"/>
          </a:xfrm>
        </p:grpSpPr>
        <p:grpSp>
          <p:nvGrpSpPr>
            <p:cNvPr id="1193065" name="Group 105"/>
            <p:cNvGrpSpPr>
              <a:grpSpLocks/>
            </p:cNvGrpSpPr>
            <p:nvPr/>
          </p:nvGrpSpPr>
          <p:grpSpPr bwMode="auto">
            <a:xfrm>
              <a:off x="481" y="881"/>
              <a:ext cx="2631" cy="862"/>
              <a:chOff x="930" y="527"/>
              <a:chExt cx="2631" cy="862"/>
            </a:xfrm>
          </p:grpSpPr>
          <p:sp>
            <p:nvSpPr>
              <p:cNvPr id="1193066" name="Rectangle 106"/>
              <p:cNvSpPr>
                <a:spLocks noChangeArrowheads="1"/>
              </p:cNvSpPr>
              <p:nvPr/>
            </p:nvSpPr>
            <p:spPr bwMode="auto">
              <a:xfrm>
                <a:off x="930" y="527"/>
                <a:ext cx="2631" cy="862"/>
              </a:xfrm>
              <a:prstGeom prst="rect">
                <a:avLst/>
              </a:prstGeom>
              <a:gradFill flip="none" rotWithShape="1">
                <a:gsLst>
                  <a:gs pos="0">
                    <a:srgbClr val="CFCFD1"/>
                  </a:gs>
                  <a:gs pos="100000">
                    <a:schemeClr val="bg1">
                      <a:lumMod val="95000"/>
                    </a:schemeClr>
                  </a:gs>
                </a:gsLst>
                <a:lin ang="16200000" scaled="1"/>
                <a:tileRect/>
              </a:gradFill>
              <a:ln w="28575" algn="ctr">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193067" name="Group 107"/>
              <p:cNvGrpSpPr>
                <a:grpSpLocks/>
              </p:cNvGrpSpPr>
              <p:nvPr/>
            </p:nvGrpSpPr>
            <p:grpSpPr bwMode="auto">
              <a:xfrm>
                <a:off x="1078" y="608"/>
                <a:ext cx="2459" cy="674"/>
                <a:chOff x="1078" y="608"/>
                <a:chExt cx="2459" cy="674"/>
              </a:xfrm>
            </p:grpSpPr>
            <p:sp>
              <p:nvSpPr>
                <p:cNvPr id="1193068" name="Text Box 108"/>
                <p:cNvSpPr txBox="1">
                  <a:spLocks noChangeArrowheads="1"/>
                </p:cNvSpPr>
                <p:nvPr/>
              </p:nvSpPr>
              <p:spPr bwMode="auto">
                <a:xfrm>
                  <a:off x="1087" y="833"/>
                  <a:ext cx="507" cy="238"/>
                </a:xfrm>
                <a:prstGeom prst="rect">
                  <a:avLst/>
                </a:prstGeom>
                <a:gradFill rotWithShape="1">
                  <a:gsLst>
                    <a:gs pos="0">
                      <a:srgbClr val="BEDFC4"/>
                    </a:gs>
                    <a:gs pos="100000">
                      <a:schemeClr val="bg1">
                        <a:lumMod val="95000"/>
                      </a:schemeClr>
                    </a:gs>
                  </a:gsLst>
                  <a:lin ang="5400000" scaled="1"/>
                </a:gradFill>
                <a:ln w="28575">
                  <a:solidFill>
                    <a:srgbClr val="C01920"/>
                  </a:solidFill>
                  <a:miter lim="800000"/>
                  <a:headEnd/>
                  <a:tailEnd/>
                </a:ln>
                <a:effectLst>
                  <a:outerShdw blurRad="50800" dist="38100" dir="2700000" algn="tl" rotWithShape="0">
                    <a:prstClr val="black">
                      <a:alpha val="40000"/>
                    </a:prstClr>
                  </a:outerShdw>
                </a:effectLst>
              </p:spPr>
              <p:txBody>
                <a:bodyPr/>
                <a:lstStyle/>
                <a:p>
                  <a:pPr marL="342900" indent="-342900" algn="ctr"/>
                  <a:r>
                    <a:rPr lang="en-US" altLang="zh-CN" sz="2000">
                      <a:effectLst>
                        <a:outerShdw blurRad="38100" dist="38100" dir="2700000" algn="tl">
                          <a:srgbClr val="FFFFFF"/>
                        </a:outerShdw>
                      </a:effectLst>
                      <a:ea typeface="宋体" pitchFamily="2" charset="-122"/>
                    </a:rPr>
                    <a:t>0</a:t>
                  </a:r>
                  <a:endParaRPr lang="en-US" altLang="zh-CN" sz="2000">
                    <a:effectLst>
                      <a:outerShdw blurRad="38100" dist="38100" dir="2700000" algn="tl">
                        <a:srgbClr val="FFFFFF"/>
                      </a:outerShdw>
                    </a:effectLst>
                  </a:endParaRPr>
                </a:p>
              </p:txBody>
            </p:sp>
            <p:sp>
              <p:nvSpPr>
                <p:cNvPr id="1193069" name="Text Box 109"/>
                <p:cNvSpPr txBox="1">
                  <a:spLocks noChangeArrowheads="1"/>
                </p:cNvSpPr>
                <p:nvPr/>
              </p:nvSpPr>
              <p:spPr bwMode="auto">
                <a:xfrm>
                  <a:off x="1078" y="608"/>
                  <a:ext cx="572" cy="182"/>
                </a:xfrm>
                <a:prstGeom prst="rect">
                  <a:avLst/>
                </a:prstGeom>
                <a:noFill/>
                <a:ln w="9525">
                  <a:noFill/>
                  <a:miter lim="800000"/>
                  <a:headEnd/>
                  <a:tailEnd/>
                </a:ln>
                <a:effectLst/>
              </p:spPr>
              <p:txBody>
                <a:bodyPr/>
                <a:lstStyle/>
                <a:p>
                  <a:pPr marL="342900" indent="-342900" algn="just"/>
                  <a:r>
                    <a:rPr lang="zh-CN" altLang="en-US" sz="2000" dirty="0">
                      <a:effectLst>
                        <a:outerShdw blurRad="38100" dist="38100" dir="2700000" algn="tl">
                          <a:srgbClr val="FFFFFF"/>
                        </a:outerShdw>
                      </a:effectLst>
                      <a:ea typeface="隶书" pitchFamily="49" charset="-122"/>
                    </a:rPr>
                    <a:t>变量</a:t>
                  </a:r>
                  <a:r>
                    <a:rPr lang="en-US" altLang="zh-CN" sz="2000" dirty="0">
                      <a:effectLst>
                        <a:outerShdw blurRad="38100" dist="38100" dir="2700000" algn="tl">
                          <a:srgbClr val="FFFFFF"/>
                        </a:outerShdw>
                      </a:effectLst>
                      <a:ea typeface="隶书" pitchFamily="49" charset="-122"/>
                    </a:rPr>
                    <a:t>b</a:t>
                  </a:r>
                </a:p>
              </p:txBody>
            </p:sp>
            <p:sp>
              <p:nvSpPr>
                <p:cNvPr id="1193070" name="Text Box 110"/>
                <p:cNvSpPr txBox="1">
                  <a:spLocks noChangeArrowheads="1"/>
                </p:cNvSpPr>
                <p:nvPr/>
              </p:nvSpPr>
              <p:spPr bwMode="auto">
                <a:xfrm>
                  <a:off x="2273" y="612"/>
                  <a:ext cx="529" cy="214"/>
                </a:xfrm>
                <a:prstGeom prst="rect">
                  <a:avLst/>
                </a:prstGeom>
                <a:noFill/>
                <a:ln w="9525">
                  <a:noFill/>
                  <a:miter lim="800000"/>
                  <a:headEnd/>
                  <a:tailEnd/>
                </a:ln>
                <a:effectLst/>
              </p:spPr>
              <p:txBody>
                <a:bodyPr/>
                <a:lstStyle/>
                <a:p>
                  <a:pPr marL="342900" indent="-342900" algn="just"/>
                  <a:r>
                    <a:rPr lang="zh-CN" altLang="en-US" sz="2000">
                      <a:effectLst>
                        <a:outerShdw blurRad="38100" dist="38100" dir="2700000" algn="tl">
                          <a:srgbClr val="FFFFFF"/>
                        </a:outerShdw>
                      </a:effectLst>
                      <a:ea typeface="隶书" pitchFamily="49" charset="-122"/>
                    </a:rPr>
                    <a:t>形参</a:t>
                  </a:r>
                  <a:r>
                    <a:rPr lang="en-US" altLang="zh-CN" sz="2000">
                      <a:effectLst>
                        <a:outerShdw blurRad="38100" dist="38100" dir="2700000" algn="tl">
                          <a:srgbClr val="FFFFFF"/>
                        </a:outerShdw>
                      </a:effectLst>
                      <a:ea typeface="隶书" pitchFamily="49" charset="-122"/>
                    </a:rPr>
                    <a:t>a</a:t>
                  </a:r>
                </a:p>
              </p:txBody>
            </p:sp>
            <p:grpSp>
              <p:nvGrpSpPr>
                <p:cNvPr id="1193071" name="Group 111"/>
                <p:cNvGrpSpPr>
                  <a:grpSpLocks/>
                </p:cNvGrpSpPr>
                <p:nvPr/>
              </p:nvGrpSpPr>
              <p:grpSpPr bwMode="auto">
                <a:xfrm>
                  <a:off x="1341" y="1082"/>
                  <a:ext cx="1183" cy="200"/>
                  <a:chOff x="4400" y="9554"/>
                  <a:chExt cx="2520" cy="312"/>
                </a:xfrm>
              </p:grpSpPr>
              <p:sp>
                <p:nvSpPr>
                  <p:cNvPr id="1193072" name="Line 112"/>
                  <p:cNvSpPr>
                    <a:spLocks noChangeShapeType="1"/>
                  </p:cNvSpPr>
                  <p:nvPr/>
                </p:nvSpPr>
                <p:spPr bwMode="auto">
                  <a:xfrm>
                    <a:off x="4400" y="9554"/>
                    <a:ext cx="0" cy="307"/>
                  </a:xfrm>
                  <a:prstGeom prst="line">
                    <a:avLst/>
                  </a:prstGeom>
                  <a:noFill/>
                  <a:ln w="28575" cap="rnd">
                    <a:solidFill>
                      <a:srgbClr val="C00000"/>
                    </a:solidFill>
                    <a:prstDash val="sysDot"/>
                    <a:round/>
                    <a:headEnd/>
                    <a:tailEnd/>
                  </a:ln>
                  <a:effectLst/>
                </p:spPr>
                <p:txBody>
                  <a:bodyPr/>
                  <a:lstStyle/>
                  <a:p>
                    <a:endParaRPr lang="zh-CN" altLang="en-US"/>
                  </a:p>
                </p:txBody>
              </p:sp>
              <p:sp>
                <p:nvSpPr>
                  <p:cNvPr id="1193073" name="Line 113"/>
                  <p:cNvSpPr>
                    <a:spLocks noChangeShapeType="1"/>
                  </p:cNvSpPr>
                  <p:nvPr/>
                </p:nvSpPr>
                <p:spPr bwMode="auto">
                  <a:xfrm>
                    <a:off x="4400" y="9866"/>
                    <a:ext cx="2520" cy="0"/>
                  </a:xfrm>
                  <a:prstGeom prst="line">
                    <a:avLst/>
                  </a:prstGeom>
                  <a:noFill/>
                  <a:ln w="28575" cap="rnd">
                    <a:solidFill>
                      <a:srgbClr val="C00000"/>
                    </a:solidFill>
                    <a:prstDash val="sysDot"/>
                    <a:round/>
                    <a:headEnd/>
                    <a:tailEnd/>
                  </a:ln>
                  <a:effectLst/>
                </p:spPr>
                <p:txBody>
                  <a:bodyPr/>
                  <a:lstStyle/>
                  <a:p>
                    <a:endParaRPr lang="zh-CN" altLang="en-US"/>
                  </a:p>
                </p:txBody>
              </p:sp>
              <p:sp>
                <p:nvSpPr>
                  <p:cNvPr id="1193074" name="Line 114"/>
                  <p:cNvSpPr>
                    <a:spLocks noChangeShapeType="1"/>
                  </p:cNvSpPr>
                  <p:nvPr/>
                </p:nvSpPr>
                <p:spPr bwMode="auto">
                  <a:xfrm flipV="1">
                    <a:off x="6917" y="9554"/>
                    <a:ext cx="0" cy="312"/>
                  </a:xfrm>
                  <a:prstGeom prst="line">
                    <a:avLst/>
                  </a:prstGeom>
                  <a:noFill/>
                  <a:ln w="28575" cap="rnd">
                    <a:solidFill>
                      <a:srgbClr val="C00000"/>
                    </a:solidFill>
                    <a:prstDash val="sysDot"/>
                    <a:round/>
                    <a:headEnd/>
                    <a:tailEnd type="stealth" w="lg" len="lg"/>
                  </a:ln>
                  <a:effectLst/>
                </p:spPr>
                <p:txBody>
                  <a:bodyPr/>
                  <a:lstStyle/>
                  <a:p>
                    <a:endParaRPr lang="zh-CN" altLang="en-US"/>
                  </a:p>
                </p:txBody>
              </p:sp>
            </p:grpSp>
            <p:sp>
              <p:nvSpPr>
                <p:cNvPr id="1193075" name="AutoShape 115"/>
                <p:cNvSpPr>
                  <a:spLocks noChangeArrowheads="1"/>
                </p:cNvSpPr>
                <p:nvPr/>
              </p:nvSpPr>
              <p:spPr bwMode="auto">
                <a:xfrm rot="10800000">
                  <a:off x="2804" y="890"/>
                  <a:ext cx="488" cy="164"/>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FF99"/>
                    </a:gs>
                    <a:gs pos="100000">
                      <a:schemeClr val="bg1">
                        <a:lumMod val="95000"/>
                      </a:schemeClr>
                    </a:gs>
                  </a:gsLst>
                  <a:lin ang="5400000" scaled="1"/>
                </a:gradFill>
                <a:ln w="9525">
                  <a:solidFill>
                    <a:srgbClr val="000000"/>
                  </a:solidFill>
                  <a:miter lim="800000"/>
                  <a:headEnd/>
                  <a:tailEnd/>
                </a:ln>
                <a:effectLst/>
              </p:spPr>
              <p:txBody>
                <a:bodyPr/>
                <a:lstStyle/>
                <a:p>
                  <a:endParaRPr lang="zh-CN" altLang="en-US"/>
                </a:p>
              </p:txBody>
            </p:sp>
            <p:sp>
              <p:nvSpPr>
                <p:cNvPr id="1193076" name="Text Box 116"/>
                <p:cNvSpPr txBox="1">
                  <a:spLocks noChangeArrowheads="1"/>
                </p:cNvSpPr>
                <p:nvPr/>
              </p:nvSpPr>
              <p:spPr bwMode="auto">
                <a:xfrm>
                  <a:off x="3283" y="863"/>
                  <a:ext cx="254" cy="227"/>
                </a:xfrm>
                <a:prstGeom prst="rect">
                  <a:avLst/>
                </a:prstGeom>
                <a:noFill/>
                <a:ln w="9525">
                  <a:noFill/>
                  <a:miter lim="800000"/>
                  <a:headEnd/>
                  <a:tailEnd/>
                </a:ln>
                <a:effectLst/>
              </p:spPr>
              <p:txBody>
                <a:bodyPr/>
                <a:lstStyle/>
                <a:p>
                  <a:pPr marL="342900" indent="-342900" algn="just"/>
                  <a:r>
                    <a:rPr lang="en-US" altLang="zh-CN" sz="2000" b="1">
                      <a:solidFill>
                        <a:srgbClr val="C00000"/>
                      </a:solidFill>
                      <a:ea typeface="宋体" pitchFamily="2" charset="-122"/>
                    </a:rPr>
                    <a:t>5</a:t>
                  </a:r>
                </a:p>
              </p:txBody>
            </p:sp>
            <p:sp>
              <p:nvSpPr>
                <p:cNvPr id="1193077" name="Text Box 117"/>
                <p:cNvSpPr txBox="1">
                  <a:spLocks noChangeArrowheads="1"/>
                </p:cNvSpPr>
                <p:nvPr/>
              </p:nvSpPr>
              <p:spPr bwMode="auto">
                <a:xfrm>
                  <a:off x="2275" y="826"/>
                  <a:ext cx="507" cy="238"/>
                </a:xfrm>
                <a:prstGeom prst="rect">
                  <a:avLst/>
                </a:prstGeom>
                <a:gradFill rotWithShape="1">
                  <a:gsLst>
                    <a:gs pos="0">
                      <a:srgbClr val="BEDFC4"/>
                    </a:gs>
                    <a:gs pos="100000">
                      <a:schemeClr val="bg1">
                        <a:lumMod val="95000"/>
                      </a:schemeClr>
                    </a:gs>
                  </a:gsLst>
                  <a:lin ang="5400000" scaled="1"/>
                </a:gradFill>
                <a:ln w="28575">
                  <a:solidFill>
                    <a:srgbClr val="C01920"/>
                  </a:solidFill>
                  <a:miter lim="800000"/>
                  <a:headEnd/>
                  <a:tailEnd/>
                </a:ln>
                <a:effectLst>
                  <a:outerShdw blurRad="50800" dist="38100" dir="2700000" algn="tl" rotWithShape="0">
                    <a:prstClr val="black">
                      <a:alpha val="40000"/>
                    </a:prstClr>
                  </a:outerShdw>
                </a:effectLst>
              </p:spPr>
              <p:txBody>
                <a:bodyPr/>
                <a:lstStyle/>
                <a:p>
                  <a:pPr marL="342900" indent="-342900" algn="ctr"/>
                  <a:r>
                    <a:rPr lang="en-US" altLang="zh-CN" sz="2000">
                      <a:effectLst>
                        <a:outerShdw blurRad="38100" dist="38100" dir="2700000" algn="tl">
                          <a:srgbClr val="FFFFFF"/>
                        </a:outerShdw>
                      </a:effectLst>
                      <a:ea typeface="宋体" pitchFamily="2" charset="-122"/>
                    </a:rPr>
                    <a:t>0</a:t>
                  </a:r>
                  <a:endParaRPr lang="en-US" altLang="zh-CN" sz="2000">
                    <a:effectLst>
                      <a:outerShdw blurRad="38100" dist="38100" dir="2700000" algn="tl">
                        <a:srgbClr val="FFFFFF"/>
                      </a:outerShdw>
                    </a:effectLst>
                  </a:endParaRPr>
                </a:p>
              </p:txBody>
            </p:sp>
          </p:grpSp>
        </p:grpSp>
        <p:sp>
          <p:nvSpPr>
            <p:cNvPr id="1193078" name="Line 118"/>
            <p:cNvSpPr>
              <a:spLocks noChangeShapeType="1"/>
            </p:cNvSpPr>
            <p:nvPr/>
          </p:nvSpPr>
          <p:spPr bwMode="auto">
            <a:xfrm>
              <a:off x="1252" y="1743"/>
              <a:ext cx="313" cy="372"/>
            </a:xfrm>
            <a:prstGeom prst="line">
              <a:avLst/>
            </a:prstGeom>
            <a:noFill/>
            <a:ln w="38100">
              <a:solidFill>
                <a:schemeClr val="accent1">
                  <a:lumMod val="50000"/>
                </a:schemeClr>
              </a:solidFill>
              <a:round/>
              <a:headEnd/>
              <a:tailEnd/>
            </a:ln>
            <a:effectLst>
              <a:outerShdw dist="35921" dir="2700000" algn="ctr" rotWithShape="0">
                <a:schemeClr val="bg2"/>
              </a:outerShdw>
            </a:effectLst>
          </p:spPr>
          <p:txBody>
            <a:bodyPr/>
            <a:lstStyle/>
            <a:p>
              <a:endParaRPr lang="zh-CN" altLang="en-US"/>
            </a:p>
          </p:txBody>
        </p:sp>
      </p:grpSp>
      <p:grpSp>
        <p:nvGrpSpPr>
          <p:cNvPr id="1193097" name="Group 137"/>
          <p:cNvGrpSpPr>
            <a:grpSpLocks/>
          </p:cNvGrpSpPr>
          <p:nvPr/>
        </p:nvGrpSpPr>
        <p:grpSpPr bwMode="auto">
          <a:xfrm>
            <a:off x="6961312" y="1052736"/>
            <a:ext cx="4176713" cy="2290763"/>
            <a:chOff x="3077" y="764"/>
            <a:chExt cx="2631" cy="1443"/>
          </a:xfrm>
        </p:grpSpPr>
        <p:grpSp>
          <p:nvGrpSpPr>
            <p:cNvPr id="1193080" name="Group 120"/>
            <p:cNvGrpSpPr>
              <a:grpSpLocks/>
            </p:cNvGrpSpPr>
            <p:nvPr/>
          </p:nvGrpSpPr>
          <p:grpSpPr bwMode="auto">
            <a:xfrm>
              <a:off x="3077" y="764"/>
              <a:ext cx="2631" cy="1107"/>
              <a:chOff x="1110" y="1679"/>
              <a:chExt cx="2631" cy="1107"/>
            </a:xfrm>
          </p:grpSpPr>
          <p:sp>
            <p:nvSpPr>
              <p:cNvPr id="1193081" name="Rectangle 121"/>
              <p:cNvSpPr>
                <a:spLocks noChangeArrowheads="1"/>
              </p:cNvSpPr>
              <p:nvPr/>
            </p:nvSpPr>
            <p:spPr bwMode="auto">
              <a:xfrm>
                <a:off x="1110" y="1679"/>
                <a:ext cx="2631" cy="1107"/>
              </a:xfrm>
              <a:prstGeom prst="rect">
                <a:avLst/>
              </a:prstGeom>
              <a:gradFill flip="none" rotWithShape="1">
                <a:gsLst>
                  <a:gs pos="0">
                    <a:srgbClr val="CFCFD1"/>
                  </a:gs>
                  <a:gs pos="100000">
                    <a:schemeClr val="bg1">
                      <a:lumMod val="95000"/>
                    </a:schemeClr>
                  </a:gs>
                </a:gsLst>
                <a:lin ang="13500000" scaled="1"/>
                <a:tileRect/>
              </a:gradFill>
              <a:ln w="28575" algn="ctr">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193082" name="Group 122"/>
              <p:cNvGrpSpPr>
                <a:grpSpLocks/>
              </p:cNvGrpSpPr>
              <p:nvPr/>
            </p:nvGrpSpPr>
            <p:grpSpPr bwMode="auto">
              <a:xfrm>
                <a:off x="1301" y="1698"/>
                <a:ext cx="2086" cy="1065"/>
                <a:chOff x="1301" y="1698"/>
                <a:chExt cx="2086" cy="1065"/>
              </a:xfrm>
            </p:grpSpPr>
            <p:sp>
              <p:nvSpPr>
                <p:cNvPr id="1193083" name="Text Box 123"/>
                <p:cNvSpPr txBox="1">
                  <a:spLocks noChangeArrowheads="1"/>
                </p:cNvSpPr>
                <p:nvPr/>
              </p:nvSpPr>
              <p:spPr bwMode="auto">
                <a:xfrm>
                  <a:off x="1610" y="1706"/>
                  <a:ext cx="544" cy="227"/>
                </a:xfrm>
                <a:prstGeom prst="rect">
                  <a:avLst/>
                </a:prstGeom>
                <a:noFill/>
                <a:ln w="9525">
                  <a:noFill/>
                  <a:miter lim="800000"/>
                  <a:headEnd/>
                  <a:tailEnd/>
                </a:ln>
                <a:effectLst/>
              </p:spPr>
              <p:txBody>
                <a:bodyPr/>
                <a:lstStyle/>
                <a:p>
                  <a:pPr marL="342900" indent="-342900" algn="just"/>
                  <a:r>
                    <a:rPr lang="zh-CN" altLang="en-US" sz="2000">
                      <a:effectLst>
                        <a:outerShdw blurRad="38100" dist="38100" dir="2700000" algn="tl">
                          <a:srgbClr val="FFFFFF"/>
                        </a:outerShdw>
                      </a:effectLst>
                      <a:latin typeface="隶书" pitchFamily="49" charset="-122"/>
                      <a:ea typeface="隶书" pitchFamily="49" charset="-122"/>
                    </a:rPr>
                    <a:t>变量</a:t>
                  </a:r>
                  <a:r>
                    <a:rPr lang="en-US" altLang="zh-CN" sz="2000">
                      <a:effectLst>
                        <a:outerShdw blurRad="38100" dist="38100" dir="2700000" algn="tl">
                          <a:srgbClr val="FFFFFF"/>
                        </a:outerShdw>
                      </a:effectLst>
                      <a:latin typeface="隶书" pitchFamily="49" charset="-122"/>
                      <a:ea typeface="隶书" pitchFamily="49" charset="-122"/>
                    </a:rPr>
                    <a:t>b</a:t>
                  </a:r>
                </a:p>
              </p:txBody>
            </p:sp>
            <p:sp>
              <p:nvSpPr>
                <p:cNvPr id="1193084" name="Text Box 124"/>
                <p:cNvSpPr txBox="1">
                  <a:spLocks noChangeArrowheads="1"/>
                </p:cNvSpPr>
                <p:nvPr/>
              </p:nvSpPr>
              <p:spPr bwMode="auto">
                <a:xfrm>
                  <a:off x="2798" y="1698"/>
                  <a:ext cx="589" cy="227"/>
                </a:xfrm>
                <a:prstGeom prst="rect">
                  <a:avLst/>
                </a:prstGeom>
                <a:noFill/>
                <a:ln w="9525">
                  <a:noFill/>
                  <a:miter lim="800000"/>
                  <a:headEnd/>
                  <a:tailEnd/>
                </a:ln>
                <a:effectLst/>
              </p:spPr>
              <p:txBody>
                <a:bodyPr/>
                <a:lstStyle/>
                <a:p>
                  <a:pPr marL="342900" indent="-342900" algn="just"/>
                  <a:r>
                    <a:rPr lang="zh-CN" altLang="en-US" sz="2000">
                      <a:effectLst>
                        <a:outerShdw blurRad="38100" dist="38100" dir="2700000" algn="tl">
                          <a:srgbClr val="FFFFFF"/>
                        </a:outerShdw>
                      </a:effectLst>
                      <a:latin typeface="隶书" pitchFamily="49" charset="-122"/>
                      <a:ea typeface="隶书" pitchFamily="49" charset="-122"/>
                    </a:rPr>
                    <a:t>指针</a:t>
                  </a:r>
                  <a:r>
                    <a:rPr lang="en-US" altLang="zh-CN" sz="2000">
                      <a:effectLst>
                        <a:outerShdw blurRad="38100" dist="38100" dir="2700000" algn="tl">
                          <a:srgbClr val="FFFFFF"/>
                        </a:outerShdw>
                      </a:effectLst>
                      <a:latin typeface="隶书" pitchFamily="49" charset="-122"/>
                      <a:ea typeface="隶书" pitchFamily="49" charset="-122"/>
                    </a:rPr>
                    <a:t>p</a:t>
                  </a:r>
                </a:p>
              </p:txBody>
            </p:sp>
            <p:sp>
              <p:nvSpPr>
                <p:cNvPr id="1193085" name="AutoShape 125"/>
                <p:cNvSpPr>
                  <a:spLocks noChangeArrowheads="1"/>
                </p:cNvSpPr>
                <p:nvPr/>
              </p:nvSpPr>
              <p:spPr bwMode="auto">
                <a:xfrm rot="-5400000">
                  <a:off x="1636" y="2277"/>
                  <a:ext cx="401" cy="18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FF99"/>
                    </a:gs>
                    <a:gs pos="100000">
                      <a:schemeClr val="bg1">
                        <a:lumMod val="95000"/>
                      </a:schemeClr>
                    </a:gs>
                  </a:gsLst>
                  <a:lin ang="5400000" scaled="1"/>
                </a:gradFill>
                <a:ln w="9525">
                  <a:solidFill>
                    <a:srgbClr val="000000"/>
                  </a:solidFill>
                  <a:miter lim="800000"/>
                  <a:headEnd/>
                  <a:tailEnd/>
                </a:ln>
                <a:effectLst/>
              </p:spPr>
              <p:txBody>
                <a:bodyPr/>
                <a:lstStyle/>
                <a:p>
                  <a:endParaRPr lang="zh-CN" altLang="en-US"/>
                </a:p>
              </p:txBody>
            </p:sp>
            <p:sp>
              <p:nvSpPr>
                <p:cNvPr id="1193086" name="Text Box 126"/>
                <p:cNvSpPr txBox="1">
                  <a:spLocks noChangeArrowheads="1"/>
                </p:cNvSpPr>
                <p:nvPr/>
              </p:nvSpPr>
              <p:spPr bwMode="auto">
                <a:xfrm>
                  <a:off x="1742" y="2576"/>
                  <a:ext cx="216" cy="187"/>
                </a:xfrm>
                <a:prstGeom prst="rect">
                  <a:avLst/>
                </a:prstGeom>
                <a:noFill/>
                <a:ln w="9525">
                  <a:noFill/>
                  <a:miter lim="800000"/>
                  <a:headEnd/>
                  <a:tailEnd/>
                </a:ln>
                <a:effectLst/>
              </p:spPr>
              <p:txBody>
                <a:bodyPr/>
                <a:lstStyle/>
                <a:p>
                  <a:pPr marL="342900" indent="-342900" algn="just"/>
                  <a:r>
                    <a:rPr lang="en-US" altLang="zh-CN" sz="2000" b="1" dirty="0">
                      <a:solidFill>
                        <a:srgbClr val="C00000"/>
                      </a:solidFill>
                      <a:ea typeface="宋体" pitchFamily="2" charset="-122"/>
                    </a:rPr>
                    <a:t>5</a:t>
                  </a:r>
                </a:p>
              </p:txBody>
            </p:sp>
            <p:sp>
              <p:nvSpPr>
                <p:cNvPr id="1193087" name="Text Box 127"/>
                <p:cNvSpPr txBox="1">
                  <a:spLocks noChangeArrowheads="1"/>
                </p:cNvSpPr>
                <p:nvPr/>
              </p:nvSpPr>
              <p:spPr bwMode="auto">
                <a:xfrm>
                  <a:off x="1301" y="1897"/>
                  <a:ext cx="408" cy="227"/>
                </a:xfrm>
                <a:prstGeom prst="rect">
                  <a:avLst/>
                </a:prstGeom>
                <a:noFill/>
                <a:ln w="9525">
                  <a:noFill/>
                  <a:miter lim="800000"/>
                  <a:headEnd/>
                  <a:tailEnd/>
                </a:ln>
                <a:effectLst/>
              </p:spPr>
              <p:txBody>
                <a:bodyPr/>
                <a:lstStyle/>
                <a:p>
                  <a:pPr marL="342900" indent="-342900" algn="just"/>
                  <a:r>
                    <a:rPr lang="en-US" altLang="zh-CN" sz="2000">
                      <a:effectLst>
                        <a:outerShdw blurRad="38100" dist="38100" dir="2700000" algn="tl">
                          <a:srgbClr val="FFFFFF"/>
                        </a:outerShdw>
                      </a:effectLst>
                      <a:ea typeface="宋体" pitchFamily="2" charset="-122"/>
                    </a:rPr>
                    <a:t>&amp;b</a:t>
                  </a:r>
                </a:p>
              </p:txBody>
            </p:sp>
            <p:grpSp>
              <p:nvGrpSpPr>
                <p:cNvPr id="1193088" name="Group 128"/>
                <p:cNvGrpSpPr>
                  <a:grpSpLocks/>
                </p:cNvGrpSpPr>
                <p:nvPr/>
              </p:nvGrpSpPr>
              <p:grpSpPr bwMode="auto">
                <a:xfrm>
                  <a:off x="1451" y="2149"/>
                  <a:ext cx="1610" cy="283"/>
                  <a:chOff x="3900" y="12614"/>
                  <a:chExt cx="3315" cy="418"/>
                </a:xfrm>
              </p:grpSpPr>
              <p:sp>
                <p:nvSpPr>
                  <p:cNvPr id="1193089" name="Line 129"/>
                  <p:cNvSpPr>
                    <a:spLocks noChangeShapeType="1"/>
                  </p:cNvSpPr>
                  <p:nvPr/>
                </p:nvSpPr>
                <p:spPr bwMode="auto">
                  <a:xfrm>
                    <a:off x="3900" y="12614"/>
                    <a:ext cx="0" cy="418"/>
                  </a:xfrm>
                  <a:prstGeom prst="line">
                    <a:avLst/>
                  </a:prstGeom>
                  <a:noFill/>
                  <a:ln w="28575" cap="rnd">
                    <a:solidFill>
                      <a:srgbClr val="C00000"/>
                    </a:solidFill>
                    <a:prstDash val="sysDot"/>
                    <a:round/>
                    <a:headEnd/>
                    <a:tailEnd/>
                  </a:ln>
                  <a:effectLst/>
                </p:spPr>
                <p:txBody>
                  <a:bodyPr/>
                  <a:lstStyle/>
                  <a:p>
                    <a:endParaRPr lang="zh-CN" altLang="en-US"/>
                  </a:p>
                </p:txBody>
              </p:sp>
              <p:sp>
                <p:nvSpPr>
                  <p:cNvPr id="1193090" name="Line 130"/>
                  <p:cNvSpPr>
                    <a:spLocks noChangeShapeType="1"/>
                  </p:cNvSpPr>
                  <p:nvPr/>
                </p:nvSpPr>
                <p:spPr bwMode="auto">
                  <a:xfrm flipV="1">
                    <a:off x="7188" y="12680"/>
                    <a:ext cx="0" cy="312"/>
                  </a:xfrm>
                  <a:prstGeom prst="line">
                    <a:avLst/>
                  </a:prstGeom>
                  <a:noFill/>
                  <a:ln w="28575" cap="rnd">
                    <a:solidFill>
                      <a:srgbClr val="C00000"/>
                    </a:solidFill>
                    <a:prstDash val="sysDot"/>
                    <a:round/>
                    <a:headEnd/>
                    <a:tailEnd type="stealth" w="lg" len="lg"/>
                  </a:ln>
                  <a:effectLst/>
                </p:spPr>
                <p:txBody>
                  <a:bodyPr/>
                  <a:lstStyle/>
                  <a:p>
                    <a:endParaRPr lang="zh-CN" altLang="en-US"/>
                  </a:p>
                </p:txBody>
              </p:sp>
              <p:sp>
                <p:nvSpPr>
                  <p:cNvPr id="1193091" name="Line 131"/>
                  <p:cNvSpPr>
                    <a:spLocks noChangeShapeType="1"/>
                  </p:cNvSpPr>
                  <p:nvPr/>
                </p:nvSpPr>
                <p:spPr bwMode="auto">
                  <a:xfrm>
                    <a:off x="3915" y="13009"/>
                    <a:ext cx="3300" cy="0"/>
                  </a:xfrm>
                  <a:prstGeom prst="line">
                    <a:avLst/>
                  </a:prstGeom>
                  <a:noFill/>
                  <a:ln w="28575" cap="rnd">
                    <a:solidFill>
                      <a:srgbClr val="C00000"/>
                    </a:solidFill>
                    <a:prstDash val="sysDot"/>
                    <a:round/>
                    <a:headEnd/>
                    <a:tailEnd/>
                  </a:ln>
                  <a:effectLst/>
                </p:spPr>
                <p:txBody>
                  <a:bodyPr/>
                  <a:lstStyle/>
                  <a:p>
                    <a:endParaRPr lang="zh-CN" altLang="en-US"/>
                  </a:p>
                </p:txBody>
              </p:sp>
            </p:grpSp>
            <p:sp>
              <p:nvSpPr>
                <p:cNvPr id="1193092" name="Line 132"/>
                <p:cNvSpPr>
                  <a:spLocks noChangeShapeType="1"/>
                </p:cNvSpPr>
                <p:nvPr/>
              </p:nvSpPr>
              <p:spPr bwMode="auto">
                <a:xfrm flipH="1">
                  <a:off x="2132" y="2042"/>
                  <a:ext cx="648" cy="0"/>
                </a:xfrm>
                <a:prstGeom prst="line">
                  <a:avLst/>
                </a:prstGeom>
                <a:noFill/>
                <a:ln w="28575">
                  <a:solidFill>
                    <a:schemeClr val="accent2">
                      <a:lumMod val="50000"/>
                    </a:schemeClr>
                  </a:solidFill>
                  <a:round/>
                  <a:headEnd/>
                  <a:tailEnd type="stealth" w="lg" len="lg"/>
                </a:ln>
                <a:effectLst>
                  <a:outerShdw dist="35921" dir="2700000" algn="ctr" rotWithShape="0">
                    <a:srgbClr val="808080"/>
                  </a:outerShdw>
                </a:effectLst>
              </p:spPr>
              <p:txBody>
                <a:bodyPr/>
                <a:lstStyle/>
                <a:p>
                  <a:endParaRPr lang="zh-CN" altLang="en-US"/>
                </a:p>
              </p:txBody>
            </p:sp>
            <p:sp>
              <p:nvSpPr>
                <p:cNvPr id="1193093" name="Text Box 133"/>
                <p:cNvSpPr txBox="1">
                  <a:spLocks noChangeArrowheads="1"/>
                </p:cNvSpPr>
                <p:nvPr/>
              </p:nvSpPr>
              <p:spPr bwMode="auto">
                <a:xfrm>
                  <a:off x="1610" y="1915"/>
                  <a:ext cx="507" cy="238"/>
                </a:xfrm>
                <a:prstGeom prst="rect">
                  <a:avLst/>
                </a:prstGeom>
                <a:gradFill rotWithShape="1">
                  <a:gsLst>
                    <a:gs pos="0">
                      <a:srgbClr val="BEDFC4"/>
                    </a:gs>
                    <a:gs pos="100000">
                      <a:srgbClr val="FFFFFF"/>
                    </a:gs>
                  </a:gsLst>
                  <a:lin ang="5400000" scaled="1"/>
                </a:gradFill>
                <a:ln w="28575">
                  <a:solidFill>
                    <a:srgbClr val="C00000"/>
                  </a:solidFill>
                  <a:miter lim="800000"/>
                  <a:headEnd/>
                  <a:tailEnd/>
                </a:ln>
                <a:effectLst>
                  <a:outerShdw blurRad="50800" dist="38100" dir="2700000" algn="tl" rotWithShape="0">
                    <a:prstClr val="black">
                      <a:alpha val="40000"/>
                    </a:prstClr>
                  </a:outerShdw>
                </a:effectLst>
              </p:spPr>
              <p:txBody>
                <a:bodyPr/>
                <a:lstStyle/>
                <a:p>
                  <a:pPr marL="342900" indent="-342900" algn="ctr"/>
                  <a:r>
                    <a:rPr lang="en-US" altLang="zh-CN" sz="2000">
                      <a:effectLst>
                        <a:outerShdw blurRad="38100" dist="38100" dir="2700000" algn="tl">
                          <a:srgbClr val="FFFFFF"/>
                        </a:outerShdw>
                      </a:effectLst>
                      <a:ea typeface="宋体" pitchFamily="2" charset="-122"/>
                    </a:rPr>
                    <a:t>0</a:t>
                  </a:r>
                  <a:endParaRPr lang="en-US" altLang="zh-CN" sz="2000">
                    <a:effectLst>
                      <a:outerShdw blurRad="38100" dist="38100" dir="2700000" algn="tl">
                        <a:srgbClr val="FFFFFF"/>
                      </a:outerShdw>
                    </a:effectLst>
                  </a:endParaRPr>
                </a:p>
              </p:txBody>
            </p:sp>
            <p:sp>
              <p:nvSpPr>
                <p:cNvPr id="1193094" name="Text Box 134"/>
                <p:cNvSpPr txBox="1">
                  <a:spLocks noChangeArrowheads="1"/>
                </p:cNvSpPr>
                <p:nvPr/>
              </p:nvSpPr>
              <p:spPr bwMode="auto">
                <a:xfrm>
                  <a:off x="2807" y="1915"/>
                  <a:ext cx="507" cy="238"/>
                </a:xfrm>
                <a:prstGeom prst="rect">
                  <a:avLst/>
                </a:prstGeom>
                <a:gradFill rotWithShape="1">
                  <a:gsLst>
                    <a:gs pos="0">
                      <a:srgbClr val="BEDFC4"/>
                    </a:gs>
                    <a:gs pos="100000">
                      <a:srgbClr val="FFFFFF"/>
                    </a:gs>
                  </a:gsLst>
                  <a:lin ang="5400000" scaled="1"/>
                </a:gradFill>
                <a:ln w="28575">
                  <a:solidFill>
                    <a:srgbClr val="C00000"/>
                  </a:solidFill>
                  <a:miter lim="800000"/>
                  <a:headEnd/>
                  <a:tailEnd/>
                </a:ln>
                <a:effectLst>
                  <a:outerShdw blurRad="50800" dist="38100" dir="2700000" algn="tl" rotWithShape="0">
                    <a:prstClr val="black">
                      <a:alpha val="40000"/>
                    </a:prstClr>
                  </a:outerShdw>
                </a:effectLst>
              </p:spPr>
              <p:txBody>
                <a:bodyPr/>
                <a:lstStyle/>
                <a:p>
                  <a:pPr marL="342900" indent="-342900" algn="ctr"/>
                  <a:r>
                    <a:rPr lang="en-US" altLang="zh-CN" sz="2000">
                      <a:effectLst>
                        <a:outerShdw blurRad="38100" dist="38100" dir="2700000" algn="tl">
                          <a:srgbClr val="FFFFFF"/>
                        </a:outerShdw>
                      </a:effectLst>
                    </a:rPr>
                    <a:t>&amp;b</a:t>
                  </a:r>
                </a:p>
              </p:txBody>
            </p:sp>
          </p:grpSp>
        </p:grpSp>
        <p:sp>
          <p:nvSpPr>
            <p:cNvPr id="1193096" name="Line 136"/>
            <p:cNvSpPr>
              <a:spLocks noChangeShapeType="1"/>
            </p:cNvSpPr>
            <p:nvPr/>
          </p:nvSpPr>
          <p:spPr bwMode="auto">
            <a:xfrm>
              <a:off x="4015" y="1861"/>
              <a:ext cx="416" cy="346"/>
            </a:xfrm>
            <a:prstGeom prst="line">
              <a:avLst/>
            </a:prstGeom>
            <a:noFill/>
            <a:ln w="38100">
              <a:solidFill>
                <a:schemeClr val="accent1">
                  <a:lumMod val="50000"/>
                </a:schemeClr>
              </a:solidFill>
              <a:round/>
              <a:headEnd/>
              <a:tailEnd/>
            </a:ln>
            <a:effectLst>
              <a:outerShdw dist="35921" dir="2700000" algn="ctr" rotWithShape="0">
                <a:schemeClr val="bg2"/>
              </a:outerShdw>
            </a:effectLst>
          </p:spPr>
          <p:txBody>
            <a:bodyPr/>
            <a:lstStyle/>
            <a:p>
              <a:endParaRPr lang="zh-CN" altLang="en-US"/>
            </a:p>
          </p:txBody>
        </p:sp>
      </p:grpSp>
      <p:sp>
        <p:nvSpPr>
          <p:cNvPr id="48" name="Rectangle 4">
            <a:extLst>
              <a:ext uri="{FF2B5EF4-FFF2-40B4-BE49-F238E27FC236}">
                <a16:creationId xmlns:a16="http://schemas.microsoft.com/office/drawing/2014/main" id="{E7F6A2A4-2022-458F-A1DA-4FE744F4252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92991">
                                            <p:txEl>
                                              <p:pRg st="0" end="0"/>
                                            </p:txEl>
                                          </p:spTgt>
                                        </p:tgtEl>
                                        <p:attrNameLst>
                                          <p:attrName>style.visibility</p:attrName>
                                        </p:attrNameLst>
                                      </p:cBhvr>
                                      <p:to>
                                        <p:strVal val="visible"/>
                                      </p:to>
                                    </p:set>
                                    <p:anim calcmode="lin" valueType="num">
                                      <p:cBhvr additive="base">
                                        <p:cTn id="7" dur="500" fill="hold"/>
                                        <p:tgtEl>
                                          <p:spTgt spid="11929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9299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192991">
                                            <p:txEl>
                                              <p:pRg st="2" end="2"/>
                                            </p:txEl>
                                          </p:spTgt>
                                        </p:tgtEl>
                                        <p:attrNameLst>
                                          <p:attrName>style.visibility</p:attrName>
                                        </p:attrNameLst>
                                      </p:cBhvr>
                                      <p:to>
                                        <p:strVal val="visible"/>
                                      </p:to>
                                    </p:set>
                                    <p:anim calcmode="lin" valueType="num">
                                      <p:cBhvr additive="base">
                                        <p:cTn id="13" dur="500" fill="hold"/>
                                        <p:tgtEl>
                                          <p:spTgt spid="119299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9299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192991">
                                            <p:txEl>
                                              <p:pRg st="4" end="4"/>
                                            </p:txEl>
                                          </p:spTgt>
                                        </p:tgtEl>
                                        <p:attrNameLst>
                                          <p:attrName>style.visibility</p:attrName>
                                        </p:attrNameLst>
                                      </p:cBhvr>
                                      <p:to>
                                        <p:strVal val="visible"/>
                                      </p:to>
                                    </p:set>
                                    <p:anim calcmode="lin" valueType="num">
                                      <p:cBhvr additive="base">
                                        <p:cTn id="19" dur="500" fill="hold"/>
                                        <p:tgtEl>
                                          <p:spTgt spid="1192991">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9299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1193062"/>
                                        </p:tgtEl>
                                        <p:attrNameLst>
                                          <p:attrName>style.visibility</p:attrName>
                                        </p:attrNameLst>
                                      </p:cBhvr>
                                      <p:to>
                                        <p:strVal val="visible"/>
                                      </p:to>
                                    </p:set>
                                    <p:animEffect transition="in" filter="box(out)">
                                      <p:cBhvr>
                                        <p:cTn id="25" dur="500"/>
                                        <p:tgtEl>
                                          <p:spTgt spid="1193062"/>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1193058"/>
                                        </p:tgtEl>
                                        <p:attrNameLst>
                                          <p:attrName>style.visibility</p:attrName>
                                        </p:attrNameLst>
                                      </p:cBhvr>
                                      <p:to>
                                        <p:strVal val="visible"/>
                                      </p:to>
                                    </p:set>
                                    <p:animEffect transition="in" filter="box(out)">
                                      <p:cBhvr>
                                        <p:cTn id="30" dur="500"/>
                                        <p:tgtEl>
                                          <p:spTgt spid="1193058"/>
                                        </p:tgtEl>
                                      </p:cBhvr>
                                    </p:animEffect>
                                  </p:childTnLst>
                                  <p:subTnLst>
                                    <p:audio>
                                      <p:cMediaNode>
                                        <p:cTn display="0" masterRel="sameClick">
                                          <p:stCondLst>
                                            <p:cond evt="begin" delay="0">
                                              <p:tn val="28"/>
                                            </p:cond>
                                          </p:stCondLst>
                                          <p:endCondLst>
                                            <p:cond evt="onStopAudio" delay="0">
                                              <p:tgtEl>
                                                <p:sldTgt/>
                                              </p:tgtEl>
                                            </p:cond>
                                          </p:endCondLst>
                                        </p:cTn>
                                        <p:tgtEl>
                                          <p:sndTgt r:embed="rId3" name="chimes.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1193063"/>
                                        </p:tgtEl>
                                        <p:attrNameLst>
                                          <p:attrName>style.visibility</p:attrName>
                                        </p:attrNameLst>
                                      </p:cBhvr>
                                      <p:to>
                                        <p:strVal val="visible"/>
                                      </p:to>
                                    </p:set>
                                    <p:animEffect transition="in" filter="box(out)">
                                      <p:cBhvr>
                                        <p:cTn id="35" dur="500"/>
                                        <p:tgtEl>
                                          <p:spTgt spid="1193063"/>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193059"/>
                                        </p:tgtEl>
                                        <p:attrNameLst>
                                          <p:attrName>style.visibility</p:attrName>
                                        </p:attrNameLst>
                                      </p:cBhvr>
                                      <p:to>
                                        <p:strVal val="visible"/>
                                      </p:to>
                                    </p:set>
                                    <p:animEffect transition="in" filter="box(out)">
                                      <p:cBhvr>
                                        <p:cTn id="40" dur="500"/>
                                        <p:tgtEl>
                                          <p:spTgt spid="1193059"/>
                                        </p:tgtEl>
                                      </p:cBhvr>
                                    </p:animEffect>
                                  </p:childTnLst>
                                  <p:subTnLst>
                                    <p:audio>
                                      <p:cMediaNode>
                                        <p:cTn display="0" masterRel="sameClick">
                                          <p:stCondLst>
                                            <p:cond evt="begin" delay="0">
                                              <p:tn val="38"/>
                                            </p:cond>
                                          </p:stCondLst>
                                          <p:endCondLst>
                                            <p:cond evt="onStopAudio" delay="0">
                                              <p:tgtEl>
                                                <p:sldTgt/>
                                              </p:tgtEl>
                                            </p:cond>
                                          </p:endCondLst>
                                        </p:cTn>
                                        <p:tgtEl>
                                          <p:sndTgt r:embed="rId3" name="chimes.wav"/>
                                        </p:tgtEl>
                                      </p:cMediaNode>
                                    </p:audio>
                                  </p:subTnLst>
                                </p:cTn>
                              </p:par>
                            </p:childTnLst>
                          </p:cTn>
                        </p:par>
                      </p:childTnLst>
                    </p:cTn>
                  </p:par>
                  <p:par>
                    <p:cTn id="41" fill="hold">
                      <p:stCondLst>
                        <p:cond delay="indefinite"/>
                      </p:stCondLst>
                      <p:childTnLst>
                        <p:par>
                          <p:cTn id="42" fill="hold">
                            <p:stCondLst>
                              <p:cond delay="0"/>
                            </p:stCondLst>
                            <p:childTnLst>
                              <p:par>
                                <p:cTn id="43" presetID="18" presetClass="entr" presetSubtype="3" fill="hold" grpId="0" nodeType="clickEffect">
                                  <p:stCondLst>
                                    <p:cond delay="0"/>
                                  </p:stCondLst>
                                  <p:childTnLst>
                                    <p:set>
                                      <p:cBhvr>
                                        <p:cTn id="44" dur="1" fill="hold">
                                          <p:stCondLst>
                                            <p:cond delay="0"/>
                                          </p:stCondLst>
                                        </p:cTn>
                                        <p:tgtEl>
                                          <p:spTgt spid="1193064"/>
                                        </p:tgtEl>
                                        <p:attrNameLst>
                                          <p:attrName>style.visibility</p:attrName>
                                        </p:attrNameLst>
                                      </p:cBhvr>
                                      <p:to>
                                        <p:strVal val="visible"/>
                                      </p:to>
                                    </p:set>
                                    <p:animEffect transition="in" filter="strips(upRight)">
                                      <p:cBhvr>
                                        <p:cTn id="45" dur="500"/>
                                        <p:tgtEl>
                                          <p:spTgt spid="1193064"/>
                                        </p:tgtEl>
                                      </p:cBhvr>
                                    </p:animEffect>
                                  </p:childTnLst>
                                  <p:subTnLst>
                                    <p:set>
                                      <p:cBhvr override="childStyle">
                                        <p:cTn dur="1" fill="hold" display="0" masterRel="nextClick" afterEffect="1"/>
                                        <p:tgtEl>
                                          <p:spTgt spid="1193064"/>
                                        </p:tgtEl>
                                        <p:attrNameLst>
                                          <p:attrName>style.visibility</p:attrName>
                                        </p:attrNameLst>
                                      </p:cBhvr>
                                      <p:to>
                                        <p:strVal val="hidden"/>
                                      </p:to>
                                    </p:set>
                                    <p:audio>
                                      <p:cMediaNode>
                                        <p:cTn display="0" masterRel="sameClick">
                                          <p:stCondLst>
                                            <p:cond evt="begin" delay="0">
                                              <p:tn val="43"/>
                                            </p:cond>
                                          </p:stCondLst>
                                          <p:endCondLst>
                                            <p:cond evt="onStopAudio" delay="0">
                                              <p:tgtEl>
                                                <p:sldTgt/>
                                              </p:tgtEl>
                                            </p:cond>
                                          </p:endCondLst>
                                        </p:cTn>
                                        <p:tgtEl>
                                          <p:sndTgt r:embed="rId4" name="laser.wav"/>
                                        </p:tgtEl>
                                      </p:cMediaNode>
                                    </p:audio>
                                  </p:subTnLst>
                                </p:cTn>
                              </p:par>
                            </p:childTnLst>
                          </p:cTn>
                        </p:par>
                      </p:childTnLst>
                    </p:cTn>
                  </p:par>
                  <p:par>
                    <p:cTn id="46" fill="hold">
                      <p:stCondLst>
                        <p:cond delay="indefinite"/>
                      </p:stCondLst>
                      <p:childTnLst>
                        <p:par>
                          <p:cTn id="47" fill="hold">
                            <p:stCondLst>
                              <p:cond delay="0"/>
                            </p:stCondLst>
                            <p:childTnLst>
                              <p:par>
                                <p:cTn id="48" presetID="18" presetClass="entr" presetSubtype="3" fill="hold" nodeType="clickEffect">
                                  <p:stCondLst>
                                    <p:cond delay="0"/>
                                  </p:stCondLst>
                                  <p:childTnLst>
                                    <p:set>
                                      <p:cBhvr>
                                        <p:cTn id="49" dur="1" fill="hold">
                                          <p:stCondLst>
                                            <p:cond delay="0"/>
                                          </p:stCondLst>
                                        </p:cTn>
                                        <p:tgtEl>
                                          <p:spTgt spid="1193098"/>
                                        </p:tgtEl>
                                        <p:attrNameLst>
                                          <p:attrName>style.visibility</p:attrName>
                                        </p:attrNameLst>
                                      </p:cBhvr>
                                      <p:to>
                                        <p:strVal val="visible"/>
                                      </p:to>
                                    </p:set>
                                    <p:animEffect transition="in" filter="strips(upRight)">
                                      <p:cBhvr>
                                        <p:cTn id="50" dur="500"/>
                                        <p:tgtEl>
                                          <p:spTgt spid="1193098"/>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18" presetClass="entr" presetSubtype="3" fill="hold" nodeType="clickEffect">
                                  <p:stCondLst>
                                    <p:cond delay="0"/>
                                  </p:stCondLst>
                                  <p:childTnLst>
                                    <p:set>
                                      <p:cBhvr>
                                        <p:cTn id="54" dur="1" fill="hold">
                                          <p:stCondLst>
                                            <p:cond delay="0"/>
                                          </p:stCondLst>
                                        </p:cTn>
                                        <p:tgtEl>
                                          <p:spTgt spid="1193097"/>
                                        </p:tgtEl>
                                        <p:attrNameLst>
                                          <p:attrName>style.visibility</p:attrName>
                                        </p:attrNameLst>
                                      </p:cBhvr>
                                      <p:to>
                                        <p:strVal val="visible"/>
                                      </p:to>
                                    </p:set>
                                    <p:animEffect transition="in" filter="strips(upRight)">
                                      <p:cBhvr>
                                        <p:cTn id="55" dur="500"/>
                                        <p:tgtEl>
                                          <p:spTgt spid="1193097"/>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3058" grpId="0" animBg="1"/>
      <p:bldP spid="1193059" grpId="0" animBg="1"/>
      <p:bldP spid="1193064" grpId="0" animBg="1"/>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6037" name="Text Box 5"/>
          <p:cNvSpPr txBox="1">
            <a:spLocks noChangeArrowheads="1"/>
          </p:cNvSpPr>
          <p:nvPr/>
        </p:nvSpPr>
        <p:spPr bwMode="auto">
          <a:xfrm>
            <a:off x="798149" y="811560"/>
            <a:ext cx="3554413"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将数从大到小输出</a:t>
            </a:r>
          </a:p>
        </p:txBody>
      </p:sp>
      <p:sp>
        <p:nvSpPr>
          <p:cNvPr id="1196036" name="Text Box 4" descr="信纸"/>
          <p:cNvSpPr txBox="1">
            <a:spLocks noChangeArrowheads="1"/>
          </p:cNvSpPr>
          <p:nvPr/>
        </p:nvSpPr>
        <p:spPr bwMode="auto">
          <a:xfrm>
            <a:off x="1862743" y="1225689"/>
            <a:ext cx="4296678" cy="5632311"/>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chemeClr val="accent1">
                    <a:lumMod val="50000"/>
                  </a:schemeClr>
                </a:solidFill>
                <a:ea typeface="宋体" pitchFamily="2" charset="-122"/>
              </a:rPr>
              <a:t>void swap (</a:t>
            </a:r>
            <a:r>
              <a:rPr lang="en-US" altLang="zh-CN" dirty="0" err="1">
                <a:solidFill>
                  <a:schemeClr val="accent1">
                    <a:lumMod val="50000"/>
                  </a:schemeClr>
                </a:solidFill>
                <a:ea typeface="宋体" pitchFamily="2" charset="-122"/>
              </a:rPr>
              <a:t>int</a:t>
            </a:r>
            <a:r>
              <a:rPr lang="en-US" altLang="zh-CN" dirty="0">
                <a:solidFill>
                  <a:schemeClr val="accent1">
                    <a:lumMod val="50000"/>
                  </a:schemeClr>
                </a:solidFill>
                <a:ea typeface="宋体" pitchFamily="2" charset="-122"/>
              </a:rPr>
              <a:t>  x, </a:t>
            </a:r>
            <a:r>
              <a:rPr lang="en-US" altLang="zh-CN" dirty="0" err="1">
                <a:solidFill>
                  <a:schemeClr val="accent1">
                    <a:lumMod val="50000"/>
                  </a:schemeClr>
                </a:solidFill>
                <a:ea typeface="宋体" pitchFamily="2" charset="-122"/>
              </a:rPr>
              <a:t>int</a:t>
            </a:r>
            <a:r>
              <a:rPr lang="en-US" altLang="zh-CN" dirty="0">
                <a:solidFill>
                  <a:schemeClr val="accent1">
                    <a:lumMod val="50000"/>
                  </a:schemeClr>
                </a:solidFill>
                <a:ea typeface="宋体" pitchFamily="2" charset="-122"/>
              </a:rPr>
              <a:t> y)</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temp;</a:t>
            </a:r>
          </a:p>
          <a:p>
            <a:pPr eaLnBrk="0" hangingPunct="0">
              <a:lnSpc>
                <a:spcPct val="100000"/>
              </a:lnSpc>
              <a:spcBef>
                <a:spcPct val="0"/>
              </a:spcBef>
            </a:pPr>
            <a:r>
              <a:rPr lang="en-US" altLang="zh-CN" dirty="0">
                <a:ea typeface="宋体" pitchFamily="2" charset="-122"/>
              </a:rPr>
              <a:t>   temp = x;</a:t>
            </a:r>
          </a:p>
          <a:p>
            <a:pPr eaLnBrk="0" hangingPunct="0">
              <a:lnSpc>
                <a:spcPct val="100000"/>
              </a:lnSpc>
              <a:spcBef>
                <a:spcPct val="0"/>
              </a:spcBef>
            </a:pPr>
            <a:r>
              <a:rPr lang="en-US" altLang="zh-CN" dirty="0">
                <a:ea typeface="宋体" pitchFamily="2" charset="-122"/>
              </a:rPr>
              <a:t>   x = y;</a:t>
            </a:r>
          </a:p>
          <a:p>
            <a:pPr eaLnBrk="0" hangingPunct="0">
              <a:lnSpc>
                <a:spcPct val="100000"/>
              </a:lnSpc>
              <a:spcBef>
                <a:spcPct val="0"/>
              </a:spcBef>
            </a:pPr>
            <a:r>
              <a:rPr lang="en-US" altLang="zh-CN" dirty="0">
                <a:ea typeface="宋体" pitchFamily="2" charset="-122"/>
              </a:rPr>
              <a:t>   y = temp;</a:t>
            </a:r>
          </a:p>
          <a:p>
            <a:pPr eaLnBrk="0" hangingPunct="0">
              <a:lnSpc>
                <a:spcPct val="100000"/>
              </a:lnSpc>
              <a:spcBef>
                <a:spcPct val="0"/>
              </a:spcBef>
            </a:pPr>
            <a:r>
              <a:rPr lang="en-US" altLang="zh-CN" dirty="0">
                <a:ea typeface="宋体" pitchFamily="2" charset="-122"/>
              </a:rPr>
              <a:t>}</a:t>
            </a:r>
          </a:p>
          <a:p>
            <a:pPr eaLnBrk="0" hangingPunct="0">
              <a:lnSpc>
                <a:spcPct val="100000"/>
              </a:lnSpc>
              <a:spcBef>
                <a:spcPct val="0"/>
              </a:spcBef>
            </a:pPr>
            <a:r>
              <a:rPr lang="en-US" altLang="zh-CN" dirty="0" err="1">
                <a:solidFill>
                  <a:srgbClr val="CC0099"/>
                </a:solidFill>
                <a:ea typeface="宋体" pitchFamily="2" charset="-122"/>
              </a:rPr>
              <a:t>int</a:t>
            </a:r>
            <a:r>
              <a:rPr lang="en-US" altLang="zh-CN" dirty="0">
                <a:solidFill>
                  <a:srgbClr val="CC0099"/>
                </a:solidFill>
                <a:ea typeface="宋体" pitchFamily="2" charset="-122"/>
              </a:rPr>
              <a:t> main (  )</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a, b;</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scanf</a:t>
            </a:r>
            <a:r>
              <a:rPr lang="en-US" altLang="zh-CN" dirty="0">
                <a:ea typeface="宋体" pitchFamily="2" charset="-122"/>
              </a:rPr>
              <a:t>("%</a:t>
            </a:r>
            <a:r>
              <a:rPr lang="en-US" altLang="zh-CN" dirty="0" err="1">
                <a:ea typeface="宋体" pitchFamily="2" charset="-122"/>
              </a:rPr>
              <a:t>d,%d",&amp;a,&amp;b</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if(a&lt;b)  swap(</a:t>
            </a:r>
            <a:r>
              <a:rPr lang="en-US" altLang="zh-CN" dirty="0" err="1">
                <a:ea typeface="宋体" pitchFamily="2" charset="-122"/>
              </a:rPr>
              <a:t>a,b</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a:t>
            </a:r>
            <a:r>
              <a:rPr lang="en-US" altLang="zh-CN" dirty="0" err="1">
                <a:ea typeface="宋体" pitchFamily="2" charset="-122"/>
              </a:rPr>
              <a:t>n%d,%d</a:t>
            </a:r>
            <a:r>
              <a:rPr lang="en-US" altLang="zh-CN" dirty="0">
                <a:ea typeface="宋体" pitchFamily="2" charset="-122"/>
              </a:rPr>
              <a:t>\</a:t>
            </a:r>
            <a:r>
              <a:rPr lang="en-US" altLang="zh-CN" dirty="0" err="1">
                <a:ea typeface="宋体" pitchFamily="2" charset="-122"/>
              </a:rPr>
              <a:t>n",a,b</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return 0;</a:t>
            </a:r>
          </a:p>
          <a:p>
            <a:pPr eaLnBrk="0" hangingPunct="0">
              <a:lnSpc>
                <a:spcPct val="100000"/>
              </a:lnSpc>
              <a:spcBef>
                <a:spcPct val="0"/>
              </a:spcBef>
            </a:pPr>
            <a:r>
              <a:rPr lang="en-US" altLang="zh-CN" dirty="0">
                <a:ea typeface="宋体" pitchFamily="2" charset="-122"/>
              </a:rPr>
              <a:t>}</a:t>
            </a:r>
          </a:p>
        </p:txBody>
      </p:sp>
      <p:sp>
        <p:nvSpPr>
          <p:cNvPr id="1196038" name="Text Box 6"/>
          <p:cNvSpPr txBox="1">
            <a:spLocks noChangeArrowheads="1"/>
          </p:cNvSpPr>
          <p:nvPr/>
        </p:nvSpPr>
        <p:spPr bwMode="auto">
          <a:xfrm>
            <a:off x="7469559" y="4111626"/>
            <a:ext cx="184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endParaRPr lang="zh-CN" altLang="zh-CN" sz="2000" b="0">
              <a:effectLst/>
              <a:ea typeface="宋体" pitchFamily="2" charset="-122"/>
            </a:endParaRPr>
          </a:p>
        </p:txBody>
      </p:sp>
      <p:grpSp>
        <p:nvGrpSpPr>
          <p:cNvPr id="1196039" name="Group 7"/>
          <p:cNvGrpSpPr>
            <a:grpSpLocks/>
          </p:cNvGrpSpPr>
          <p:nvPr/>
        </p:nvGrpSpPr>
        <p:grpSpPr bwMode="auto">
          <a:xfrm>
            <a:off x="7185398" y="1279526"/>
            <a:ext cx="2617787" cy="4625975"/>
            <a:chOff x="3003" y="806"/>
            <a:chExt cx="1649" cy="2914"/>
          </a:xfrm>
        </p:grpSpPr>
        <p:sp>
          <p:nvSpPr>
            <p:cNvPr id="1196040" name="Freeform 8"/>
            <p:cNvSpPr>
              <a:spLocks/>
            </p:cNvSpPr>
            <p:nvPr/>
          </p:nvSpPr>
          <p:spPr bwMode="auto">
            <a:xfrm>
              <a:off x="3429"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96042" name="Rectangle 10"/>
            <p:cNvSpPr>
              <a:spLocks noChangeArrowheads="1"/>
            </p:cNvSpPr>
            <p:nvPr/>
          </p:nvSpPr>
          <p:spPr bwMode="auto">
            <a:xfrm>
              <a:off x="3429" y="806"/>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96043" name="Line 11"/>
            <p:cNvSpPr>
              <a:spLocks noChangeShapeType="1"/>
            </p:cNvSpPr>
            <p:nvPr/>
          </p:nvSpPr>
          <p:spPr bwMode="auto">
            <a:xfrm>
              <a:off x="3441"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6044" name="Line 12"/>
            <p:cNvSpPr>
              <a:spLocks noChangeShapeType="1"/>
            </p:cNvSpPr>
            <p:nvPr/>
          </p:nvSpPr>
          <p:spPr bwMode="auto">
            <a:xfrm>
              <a:off x="3441"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196045" name="Line 13"/>
            <p:cNvSpPr>
              <a:spLocks noChangeShapeType="1"/>
            </p:cNvSpPr>
            <p:nvPr/>
          </p:nvSpPr>
          <p:spPr bwMode="auto">
            <a:xfrm>
              <a:off x="3441"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6046" name="Line 14"/>
            <p:cNvSpPr>
              <a:spLocks noChangeShapeType="1"/>
            </p:cNvSpPr>
            <p:nvPr/>
          </p:nvSpPr>
          <p:spPr bwMode="auto">
            <a:xfrm>
              <a:off x="3441"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6047" name="Line 15"/>
            <p:cNvSpPr>
              <a:spLocks noChangeShapeType="1"/>
            </p:cNvSpPr>
            <p:nvPr/>
          </p:nvSpPr>
          <p:spPr bwMode="auto">
            <a:xfrm>
              <a:off x="3429"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6048" name="Line 16"/>
            <p:cNvSpPr>
              <a:spLocks noChangeShapeType="1"/>
            </p:cNvSpPr>
            <p:nvPr/>
          </p:nvSpPr>
          <p:spPr bwMode="auto">
            <a:xfrm>
              <a:off x="3441"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6049" name="Line 17"/>
            <p:cNvSpPr>
              <a:spLocks noChangeShapeType="1"/>
            </p:cNvSpPr>
            <p:nvPr/>
          </p:nvSpPr>
          <p:spPr bwMode="auto">
            <a:xfrm>
              <a:off x="3429"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96050" name="Line 18"/>
            <p:cNvSpPr>
              <a:spLocks noChangeShapeType="1"/>
            </p:cNvSpPr>
            <p:nvPr/>
          </p:nvSpPr>
          <p:spPr bwMode="auto">
            <a:xfrm>
              <a:off x="4640"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196051" name="Text Box 19"/>
            <p:cNvSpPr txBox="1">
              <a:spLocks noChangeArrowheads="1"/>
            </p:cNvSpPr>
            <p:nvPr/>
          </p:nvSpPr>
          <p:spPr bwMode="auto">
            <a:xfrm>
              <a:off x="3919"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96052" name="Text Box 20"/>
            <p:cNvSpPr txBox="1">
              <a:spLocks noChangeArrowheads="1"/>
            </p:cNvSpPr>
            <p:nvPr/>
          </p:nvSpPr>
          <p:spPr bwMode="auto">
            <a:xfrm>
              <a:off x="3918" y="3068"/>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96053" name="Line 21"/>
            <p:cNvSpPr>
              <a:spLocks noChangeShapeType="1"/>
            </p:cNvSpPr>
            <p:nvPr/>
          </p:nvSpPr>
          <p:spPr bwMode="auto">
            <a:xfrm>
              <a:off x="3441"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6054" name="Text Box 22"/>
            <p:cNvSpPr txBox="1">
              <a:spLocks noChangeArrowheads="1"/>
            </p:cNvSpPr>
            <p:nvPr/>
          </p:nvSpPr>
          <p:spPr bwMode="auto">
            <a:xfrm>
              <a:off x="3021"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2000</a:t>
              </a:r>
            </a:p>
          </p:txBody>
        </p:sp>
        <p:sp>
          <p:nvSpPr>
            <p:cNvPr id="1196055" name="Text Box 23"/>
            <p:cNvSpPr txBox="1">
              <a:spLocks noChangeArrowheads="1"/>
            </p:cNvSpPr>
            <p:nvPr/>
          </p:nvSpPr>
          <p:spPr bwMode="auto">
            <a:xfrm>
              <a:off x="3022"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2008</a:t>
              </a:r>
              <a:endParaRPr lang="en-US" altLang="zh-CN" sz="2000" b="0">
                <a:solidFill>
                  <a:srgbClr val="336600"/>
                </a:solidFill>
                <a:effectLst>
                  <a:outerShdw blurRad="38100" dist="38100" dir="2700000" algn="tl">
                    <a:srgbClr val="000000"/>
                  </a:outerShdw>
                </a:effectLst>
                <a:ea typeface="宋体" pitchFamily="2" charset="-122"/>
              </a:endParaRPr>
            </a:p>
          </p:txBody>
        </p:sp>
        <p:sp>
          <p:nvSpPr>
            <p:cNvPr id="1196056" name="Text Box 24"/>
            <p:cNvSpPr txBox="1">
              <a:spLocks noChangeArrowheads="1"/>
            </p:cNvSpPr>
            <p:nvPr/>
          </p:nvSpPr>
          <p:spPr bwMode="auto">
            <a:xfrm>
              <a:off x="3003" y="2348"/>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200A</a:t>
              </a:r>
            </a:p>
          </p:txBody>
        </p:sp>
        <p:sp>
          <p:nvSpPr>
            <p:cNvPr id="1196057" name="Text Box 25"/>
            <p:cNvSpPr txBox="1">
              <a:spLocks noChangeArrowheads="1"/>
            </p:cNvSpPr>
            <p:nvPr/>
          </p:nvSpPr>
          <p:spPr bwMode="auto">
            <a:xfrm>
              <a:off x="3021"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outerShdw blurRad="38100" dist="38100" dir="2700000" algn="tl">
                      <a:srgbClr val="FFFFFF"/>
                    </a:outerShdw>
                  </a:effectLst>
                  <a:ea typeface="宋体" pitchFamily="2" charset="-122"/>
                </a:rPr>
                <a:t>2002</a:t>
              </a:r>
            </a:p>
          </p:txBody>
        </p:sp>
        <p:sp>
          <p:nvSpPr>
            <p:cNvPr id="1196058" name="Text Box 26"/>
            <p:cNvSpPr txBox="1">
              <a:spLocks noChangeArrowheads="1"/>
            </p:cNvSpPr>
            <p:nvPr/>
          </p:nvSpPr>
          <p:spPr bwMode="auto">
            <a:xfrm>
              <a:off x="3021"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2004</a:t>
              </a:r>
            </a:p>
          </p:txBody>
        </p:sp>
        <p:sp>
          <p:nvSpPr>
            <p:cNvPr id="1196059" name="Text Box 27"/>
            <p:cNvSpPr txBox="1">
              <a:spLocks noChangeArrowheads="1"/>
            </p:cNvSpPr>
            <p:nvPr/>
          </p:nvSpPr>
          <p:spPr bwMode="auto">
            <a:xfrm>
              <a:off x="3021"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outerShdw blurRad="38100" dist="38100" dir="2700000" algn="tl">
                      <a:srgbClr val="FFFFFF"/>
                    </a:outerShdw>
                  </a:effectLst>
                  <a:ea typeface="宋体" pitchFamily="2" charset="-122"/>
                </a:rPr>
                <a:t>2006</a:t>
              </a:r>
            </a:p>
          </p:txBody>
        </p:sp>
        <p:grpSp>
          <p:nvGrpSpPr>
            <p:cNvPr id="1196060" name="Group 28"/>
            <p:cNvGrpSpPr>
              <a:grpSpLocks/>
            </p:cNvGrpSpPr>
            <p:nvPr/>
          </p:nvGrpSpPr>
          <p:grpSpPr bwMode="auto">
            <a:xfrm>
              <a:off x="3444" y="1380"/>
              <a:ext cx="60" cy="1548"/>
              <a:chOff x="3960" y="1560"/>
              <a:chExt cx="60" cy="1548"/>
            </a:xfrm>
          </p:grpSpPr>
          <p:sp>
            <p:nvSpPr>
              <p:cNvPr id="1196061" name="Line 29"/>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62" name="Line 30"/>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63" name="Line 31"/>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64" name="Line 32"/>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65" name="Line 33"/>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66" name="Line 34"/>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67" name="Line 35"/>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96068" name="Group 36"/>
            <p:cNvGrpSpPr>
              <a:grpSpLocks/>
            </p:cNvGrpSpPr>
            <p:nvPr/>
          </p:nvGrpSpPr>
          <p:grpSpPr bwMode="auto">
            <a:xfrm>
              <a:off x="4572" y="1368"/>
              <a:ext cx="60" cy="1548"/>
              <a:chOff x="3960" y="1560"/>
              <a:chExt cx="60" cy="1548"/>
            </a:xfrm>
          </p:grpSpPr>
          <p:sp>
            <p:nvSpPr>
              <p:cNvPr id="1196069" name="Line 37"/>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70" name="Line 38"/>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71" name="Line 39"/>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72" name="Line 40"/>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73" name="Line 41"/>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74" name="Line 42"/>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75" name="Line 43"/>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196041" name="Freeform 9"/>
            <p:cNvSpPr>
              <a:spLocks/>
            </p:cNvSpPr>
            <p:nvPr/>
          </p:nvSpPr>
          <p:spPr bwMode="auto">
            <a:xfrm>
              <a:off x="3430"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196076" name="Text Box 44"/>
          <p:cNvSpPr txBox="1">
            <a:spLocks noChangeArrowheads="1"/>
          </p:cNvSpPr>
          <p:nvPr/>
        </p:nvSpPr>
        <p:spPr bwMode="auto">
          <a:xfrm>
            <a:off x="8607797" y="1960563"/>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chemeClr val="accent2">
                    <a:lumMod val="50000"/>
                  </a:schemeClr>
                </a:solidFill>
                <a:ea typeface="宋体" pitchFamily="2" charset="-122"/>
              </a:rPr>
              <a:t>5</a:t>
            </a:r>
          </a:p>
        </p:txBody>
      </p:sp>
      <p:grpSp>
        <p:nvGrpSpPr>
          <p:cNvPr id="1196077" name="Group 45"/>
          <p:cNvGrpSpPr>
            <a:grpSpLocks/>
          </p:cNvGrpSpPr>
          <p:nvPr/>
        </p:nvGrpSpPr>
        <p:grpSpPr bwMode="auto">
          <a:xfrm>
            <a:off x="8347447" y="1550989"/>
            <a:ext cx="2546349" cy="1016001"/>
            <a:chOff x="3735" y="977"/>
            <a:chExt cx="1604" cy="640"/>
          </a:xfrm>
        </p:grpSpPr>
        <p:grpSp>
          <p:nvGrpSpPr>
            <p:cNvPr id="1196078" name="Group 46"/>
            <p:cNvGrpSpPr>
              <a:grpSpLocks/>
            </p:cNvGrpSpPr>
            <p:nvPr/>
          </p:nvGrpSpPr>
          <p:grpSpPr bwMode="auto">
            <a:xfrm>
              <a:off x="4630" y="1125"/>
              <a:ext cx="705" cy="252"/>
              <a:chOff x="4402" y="1437"/>
              <a:chExt cx="705" cy="252"/>
            </a:xfrm>
          </p:grpSpPr>
          <p:sp>
            <p:nvSpPr>
              <p:cNvPr id="1196079" name="Line 47"/>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6080" name="Text Box 48"/>
              <p:cNvSpPr txBox="1">
                <a:spLocks noChangeArrowheads="1"/>
              </p:cNvSpPr>
              <p:nvPr/>
            </p:nvSpPr>
            <p:spPr bwMode="auto">
              <a:xfrm>
                <a:off x="4584" y="1437"/>
                <a:ext cx="523"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变量</a:t>
                </a:r>
                <a:r>
                  <a:rPr lang="en-US" altLang="zh-CN" sz="2000" dirty="0">
                    <a:effectLst>
                      <a:outerShdw blurRad="38100" dist="38100" dir="2700000" algn="tl">
                        <a:srgbClr val="FFFFFF"/>
                      </a:outerShdw>
                    </a:effectLst>
                    <a:latin typeface="+mn-lt"/>
                    <a:ea typeface="楷体" pitchFamily="49" charset="-122"/>
                  </a:rPr>
                  <a:t>a</a:t>
                </a:r>
              </a:p>
            </p:txBody>
          </p:sp>
        </p:grpSp>
        <p:grpSp>
          <p:nvGrpSpPr>
            <p:cNvPr id="1196081" name="Group 49"/>
            <p:cNvGrpSpPr>
              <a:grpSpLocks/>
            </p:cNvGrpSpPr>
            <p:nvPr/>
          </p:nvGrpSpPr>
          <p:grpSpPr bwMode="auto">
            <a:xfrm>
              <a:off x="4630" y="1365"/>
              <a:ext cx="709" cy="252"/>
              <a:chOff x="4426" y="1917"/>
              <a:chExt cx="709" cy="252"/>
            </a:xfrm>
          </p:grpSpPr>
          <p:sp>
            <p:nvSpPr>
              <p:cNvPr id="1196082" name="Line 50"/>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6083" name="Text Box 51"/>
              <p:cNvSpPr txBox="1">
                <a:spLocks noChangeArrowheads="1"/>
              </p:cNvSpPr>
              <p:nvPr/>
            </p:nvSpPr>
            <p:spPr bwMode="auto">
              <a:xfrm>
                <a:off x="4523" y="1917"/>
                <a:ext cx="612"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变量</a:t>
                </a:r>
                <a:r>
                  <a:rPr lang="en-US" altLang="zh-CN" sz="2000">
                    <a:effectLst>
                      <a:outerShdw blurRad="38100" dist="38100" dir="2700000" algn="tl">
                        <a:srgbClr val="FFFFFF"/>
                      </a:outerShdw>
                    </a:effectLst>
                    <a:latin typeface="+mn-lt"/>
                    <a:ea typeface="楷体" pitchFamily="49" charset="-122"/>
                  </a:rPr>
                  <a:t>b</a:t>
                </a:r>
              </a:p>
            </p:txBody>
          </p:sp>
        </p:grpSp>
        <p:sp>
          <p:nvSpPr>
            <p:cNvPr id="1196084" name="Text Box 52"/>
            <p:cNvSpPr txBox="1">
              <a:spLocks noChangeArrowheads="1"/>
            </p:cNvSpPr>
            <p:nvPr/>
          </p:nvSpPr>
          <p:spPr bwMode="auto">
            <a:xfrm>
              <a:off x="3735" y="977"/>
              <a:ext cx="57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dirty="0">
                  <a:solidFill>
                    <a:srgbClr val="CC0099"/>
                  </a:solidFill>
                  <a:latin typeface="+mn-lt"/>
                  <a:ea typeface="楷体" pitchFamily="49" charset="-122"/>
                </a:rPr>
                <a:t>(main)</a:t>
              </a:r>
            </a:p>
          </p:txBody>
        </p:sp>
      </p:grpSp>
      <p:sp>
        <p:nvSpPr>
          <p:cNvPr id="1196085" name="Text Box 53"/>
          <p:cNvSpPr txBox="1">
            <a:spLocks noChangeArrowheads="1"/>
          </p:cNvSpPr>
          <p:nvPr/>
        </p:nvSpPr>
        <p:spPr bwMode="auto">
          <a:xfrm>
            <a:off x="8612559" y="2365375"/>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C00000"/>
                </a:solidFill>
                <a:ea typeface="宋体" pitchFamily="2" charset="-122"/>
              </a:rPr>
              <a:t>9</a:t>
            </a:r>
          </a:p>
        </p:txBody>
      </p:sp>
      <p:grpSp>
        <p:nvGrpSpPr>
          <p:cNvPr id="1196086" name="Group 54"/>
          <p:cNvGrpSpPr>
            <a:grpSpLocks/>
          </p:cNvGrpSpPr>
          <p:nvPr/>
        </p:nvGrpSpPr>
        <p:grpSpPr bwMode="auto">
          <a:xfrm>
            <a:off x="8403009" y="2770189"/>
            <a:ext cx="2949575" cy="1397001"/>
            <a:chOff x="3770" y="1745"/>
            <a:chExt cx="1858" cy="880"/>
          </a:xfrm>
        </p:grpSpPr>
        <p:grpSp>
          <p:nvGrpSpPr>
            <p:cNvPr id="1196087" name="Group 55"/>
            <p:cNvGrpSpPr>
              <a:grpSpLocks/>
            </p:cNvGrpSpPr>
            <p:nvPr/>
          </p:nvGrpSpPr>
          <p:grpSpPr bwMode="auto">
            <a:xfrm>
              <a:off x="4659" y="2373"/>
              <a:ext cx="969" cy="252"/>
              <a:chOff x="4426" y="1917"/>
              <a:chExt cx="969" cy="252"/>
            </a:xfrm>
          </p:grpSpPr>
          <p:sp>
            <p:nvSpPr>
              <p:cNvPr id="1196088" name="Line 56"/>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6089" name="Text Box 57"/>
              <p:cNvSpPr txBox="1">
                <a:spLocks noChangeArrowheads="1"/>
              </p:cNvSpPr>
              <p:nvPr/>
            </p:nvSpPr>
            <p:spPr bwMode="auto">
              <a:xfrm>
                <a:off x="4523" y="1917"/>
                <a:ext cx="872"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dirty="0">
                    <a:effectLst>
                      <a:outerShdw blurRad="38100" dist="38100" dir="2700000" algn="tl">
                        <a:srgbClr val="FFFFFF"/>
                      </a:outerShdw>
                    </a:effectLst>
                    <a:latin typeface="+mn-lt"/>
                    <a:ea typeface="楷体" pitchFamily="49" charset="-122"/>
                  </a:rPr>
                  <a:t>  </a:t>
                </a:r>
                <a:r>
                  <a:rPr lang="zh-CN" altLang="en-US" sz="2000" dirty="0">
                    <a:effectLst>
                      <a:outerShdw blurRad="38100" dist="38100" dir="2700000" algn="tl">
                        <a:srgbClr val="FFFFFF"/>
                      </a:outerShdw>
                    </a:effectLst>
                    <a:latin typeface="+mn-lt"/>
                    <a:ea typeface="楷体" pitchFamily="49" charset="-122"/>
                  </a:rPr>
                  <a:t>变量</a:t>
                </a:r>
                <a:r>
                  <a:rPr lang="en-US" altLang="zh-CN" sz="2000" dirty="0">
                    <a:effectLst>
                      <a:outerShdw blurRad="38100" dist="38100" dir="2700000" algn="tl">
                        <a:srgbClr val="FFFFFF"/>
                      </a:outerShdw>
                    </a:effectLst>
                    <a:latin typeface="+mn-lt"/>
                    <a:ea typeface="楷体" pitchFamily="49" charset="-122"/>
                  </a:rPr>
                  <a:t>temp</a:t>
                </a:r>
              </a:p>
            </p:txBody>
          </p:sp>
        </p:grpSp>
        <p:grpSp>
          <p:nvGrpSpPr>
            <p:cNvPr id="1196090" name="Group 58"/>
            <p:cNvGrpSpPr>
              <a:grpSpLocks/>
            </p:cNvGrpSpPr>
            <p:nvPr/>
          </p:nvGrpSpPr>
          <p:grpSpPr bwMode="auto">
            <a:xfrm>
              <a:off x="4642" y="2121"/>
              <a:ext cx="700" cy="252"/>
              <a:chOff x="4426" y="1917"/>
              <a:chExt cx="700" cy="252"/>
            </a:xfrm>
          </p:grpSpPr>
          <p:sp>
            <p:nvSpPr>
              <p:cNvPr id="1196091" name="Line 59"/>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6092" name="Text Box 60"/>
              <p:cNvSpPr txBox="1">
                <a:spLocks noChangeArrowheads="1"/>
              </p:cNvSpPr>
              <p:nvPr/>
            </p:nvSpPr>
            <p:spPr bwMode="auto">
              <a:xfrm>
                <a:off x="4523" y="1917"/>
                <a:ext cx="603"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变量</a:t>
                </a:r>
                <a:r>
                  <a:rPr lang="en-US" altLang="zh-CN" sz="2000">
                    <a:effectLst>
                      <a:outerShdw blurRad="38100" dist="38100" dir="2700000" algn="tl">
                        <a:srgbClr val="FFFFFF"/>
                      </a:outerShdw>
                    </a:effectLst>
                    <a:latin typeface="+mn-lt"/>
                    <a:ea typeface="楷体" pitchFamily="49" charset="-122"/>
                  </a:rPr>
                  <a:t>y</a:t>
                </a:r>
              </a:p>
            </p:txBody>
          </p:sp>
        </p:grpSp>
        <p:grpSp>
          <p:nvGrpSpPr>
            <p:cNvPr id="1196093" name="Group 61"/>
            <p:cNvGrpSpPr>
              <a:grpSpLocks/>
            </p:cNvGrpSpPr>
            <p:nvPr/>
          </p:nvGrpSpPr>
          <p:grpSpPr bwMode="auto">
            <a:xfrm>
              <a:off x="4642" y="1869"/>
              <a:ext cx="700" cy="252"/>
              <a:chOff x="4426" y="1917"/>
              <a:chExt cx="700" cy="252"/>
            </a:xfrm>
          </p:grpSpPr>
          <p:sp>
            <p:nvSpPr>
              <p:cNvPr id="1196094" name="Line 62"/>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6095" name="Text Box 63"/>
              <p:cNvSpPr txBox="1">
                <a:spLocks noChangeArrowheads="1"/>
              </p:cNvSpPr>
              <p:nvPr/>
            </p:nvSpPr>
            <p:spPr bwMode="auto">
              <a:xfrm>
                <a:off x="4523" y="1917"/>
                <a:ext cx="603"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变量</a:t>
                </a:r>
                <a:r>
                  <a:rPr lang="en-US" altLang="zh-CN" sz="2000">
                    <a:effectLst>
                      <a:outerShdw blurRad="38100" dist="38100" dir="2700000" algn="tl">
                        <a:srgbClr val="FFFFFF"/>
                      </a:outerShdw>
                    </a:effectLst>
                    <a:latin typeface="+mn-lt"/>
                    <a:ea typeface="楷体" pitchFamily="49" charset="-122"/>
                  </a:rPr>
                  <a:t>x</a:t>
                </a:r>
              </a:p>
            </p:txBody>
          </p:sp>
        </p:grpSp>
        <p:sp>
          <p:nvSpPr>
            <p:cNvPr id="1196096" name="Text Box 64"/>
            <p:cNvSpPr txBox="1">
              <a:spLocks noChangeArrowheads="1"/>
            </p:cNvSpPr>
            <p:nvPr/>
          </p:nvSpPr>
          <p:spPr bwMode="auto">
            <a:xfrm>
              <a:off x="3770" y="1745"/>
              <a:ext cx="574"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a:solidFill>
                    <a:schemeClr val="accent1">
                      <a:lumMod val="50000"/>
                    </a:schemeClr>
                  </a:solidFill>
                  <a:latin typeface="+mn-lt"/>
                  <a:ea typeface="楷体" pitchFamily="49" charset="-122"/>
                </a:rPr>
                <a:t>(swap)</a:t>
              </a:r>
            </a:p>
          </p:txBody>
        </p:sp>
      </p:grpSp>
      <p:sp>
        <p:nvSpPr>
          <p:cNvPr id="1196097" name="Text Box 65"/>
          <p:cNvSpPr txBox="1">
            <a:spLocks noChangeArrowheads="1"/>
          </p:cNvSpPr>
          <p:nvPr/>
        </p:nvSpPr>
        <p:spPr bwMode="auto">
          <a:xfrm>
            <a:off x="8639770" y="3960813"/>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chemeClr val="accent2">
                    <a:lumMod val="50000"/>
                  </a:schemeClr>
                </a:solidFill>
                <a:ea typeface="宋体" pitchFamily="2" charset="-122"/>
              </a:rPr>
              <a:t>5</a:t>
            </a:r>
            <a:endParaRPr lang="en-US" altLang="zh-CN" sz="2000" b="1" dirty="0">
              <a:solidFill>
                <a:schemeClr val="accent2">
                  <a:lumMod val="50000"/>
                </a:schemeClr>
              </a:solidFill>
              <a:ea typeface="宋体" pitchFamily="2" charset="-122"/>
            </a:endParaRPr>
          </a:p>
        </p:txBody>
      </p:sp>
      <p:grpSp>
        <p:nvGrpSpPr>
          <p:cNvPr id="1196098" name="Group 66"/>
          <p:cNvGrpSpPr>
            <a:grpSpLocks/>
          </p:cNvGrpSpPr>
          <p:nvPr/>
        </p:nvGrpSpPr>
        <p:grpSpPr bwMode="auto">
          <a:xfrm>
            <a:off x="7115548" y="2170116"/>
            <a:ext cx="1890713" cy="1414464"/>
            <a:chOff x="2959" y="1367"/>
            <a:chExt cx="1191" cy="891"/>
          </a:xfrm>
        </p:grpSpPr>
        <p:sp>
          <p:nvSpPr>
            <p:cNvPr id="1196099" name="Text Box 67"/>
            <p:cNvSpPr txBox="1">
              <a:spLocks noChangeArrowheads="1"/>
            </p:cNvSpPr>
            <p:nvPr/>
          </p:nvSpPr>
          <p:spPr bwMode="auto">
            <a:xfrm>
              <a:off x="3938" y="1970"/>
              <a:ext cx="212"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chemeClr val="accent2">
                      <a:lumMod val="50000"/>
                    </a:schemeClr>
                  </a:solidFill>
                  <a:ea typeface="宋体" pitchFamily="2" charset="-122"/>
                </a:rPr>
                <a:t>5</a:t>
              </a:r>
            </a:p>
          </p:txBody>
        </p:sp>
        <p:sp>
          <p:nvSpPr>
            <p:cNvPr id="1196100" name="Freeform 68"/>
            <p:cNvSpPr>
              <a:spLocks/>
            </p:cNvSpPr>
            <p:nvPr/>
          </p:nvSpPr>
          <p:spPr bwMode="auto">
            <a:xfrm rot="577328">
              <a:off x="2959" y="1367"/>
              <a:ext cx="513" cy="746"/>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002060"/>
              </a:solidFill>
              <a:prstDash val="solid"/>
              <a:round/>
              <a:headEnd type="none" w="med" len="med"/>
              <a:tailEnd type="triangle" w="med" len="med"/>
            </a:ln>
            <a:effectLst/>
          </p:spPr>
          <p:txBody>
            <a:bodyPr wrap="square" lIns="90000" tIns="46800" rIns="90000" bIns="46800" anchor="ctr">
              <a:spAutoFit/>
            </a:bodyPr>
            <a:lstStyle/>
            <a:p>
              <a:endParaRPr lang="zh-CN" altLang="en-US" dirty="0"/>
            </a:p>
          </p:txBody>
        </p:sp>
      </p:grpSp>
      <p:grpSp>
        <p:nvGrpSpPr>
          <p:cNvPr id="1196101" name="Group 69"/>
          <p:cNvGrpSpPr>
            <a:grpSpLocks/>
          </p:cNvGrpSpPr>
          <p:nvPr/>
        </p:nvGrpSpPr>
        <p:grpSpPr bwMode="auto">
          <a:xfrm>
            <a:off x="7171109" y="2528889"/>
            <a:ext cx="1816100" cy="1493838"/>
            <a:chOff x="2994" y="1593"/>
            <a:chExt cx="1144" cy="941"/>
          </a:xfrm>
        </p:grpSpPr>
        <p:sp>
          <p:nvSpPr>
            <p:cNvPr id="1196102" name="Text Box 70"/>
            <p:cNvSpPr txBox="1">
              <a:spLocks noChangeArrowheads="1"/>
            </p:cNvSpPr>
            <p:nvPr/>
          </p:nvSpPr>
          <p:spPr bwMode="auto">
            <a:xfrm>
              <a:off x="3926" y="2246"/>
              <a:ext cx="212"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C00000"/>
                  </a:solidFill>
                  <a:ea typeface="宋体" pitchFamily="2" charset="-122"/>
                </a:rPr>
                <a:t>9</a:t>
              </a:r>
            </a:p>
          </p:txBody>
        </p:sp>
        <p:sp>
          <p:nvSpPr>
            <p:cNvPr id="1196103" name="Freeform 71"/>
            <p:cNvSpPr>
              <a:spLocks/>
            </p:cNvSpPr>
            <p:nvPr/>
          </p:nvSpPr>
          <p:spPr bwMode="auto">
            <a:xfrm>
              <a:off x="2994" y="1593"/>
              <a:ext cx="421" cy="737"/>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rgbClr val="C00000"/>
              </a:solidFill>
              <a:prstDash val="solid"/>
              <a:round/>
              <a:headEnd type="none" w="lg" len="lg"/>
              <a:tailEnd type="triangle" w="med" len="med"/>
            </a:ln>
            <a:effectLst/>
          </p:spPr>
          <p:txBody>
            <a:bodyPr wrap="square" lIns="90000" tIns="46800" rIns="90000" bIns="46800" anchor="ctr">
              <a:spAutoFit/>
            </a:bodyPr>
            <a:lstStyle/>
            <a:p>
              <a:endParaRPr lang="zh-CN" altLang="en-US" dirty="0"/>
            </a:p>
          </p:txBody>
        </p:sp>
      </p:grpSp>
      <p:sp>
        <p:nvSpPr>
          <p:cNvPr id="1196104" name="Text Box 72"/>
          <p:cNvSpPr txBox="1">
            <a:spLocks noChangeArrowheads="1"/>
          </p:cNvSpPr>
          <p:nvPr/>
        </p:nvSpPr>
        <p:spPr bwMode="auto">
          <a:xfrm>
            <a:off x="8626386" y="3555852"/>
            <a:ext cx="335646" cy="463846"/>
          </a:xfrm>
          <a:prstGeom prst="rect">
            <a:avLst/>
          </a:prstGeom>
          <a:solidFill>
            <a:srgbClr val="DDFAED"/>
          </a:solid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b="1" dirty="0">
                <a:solidFill>
                  <a:schemeClr val="accent2">
                    <a:lumMod val="50000"/>
                  </a:schemeClr>
                </a:solidFill>
                <a:ea typeface="隶书" pitchFamily="49" charset="-122"/>
              </a:rPr>
              <a:t>5</a:t>
            </a:r>
          </a:p>
        </p:txBody>
      </p:sp>
      <p:sp>
        <p:nvSpPr>
          <p:cNvPr id="1196105" name="Text Box 73"/>
          <p:cNvSpPr txBox="1">
            <a:spLocks noChangeArrowheads="1"/>
          </p:cNvSpPr>
          <p:nvPr/>
        </p:nvSpPr>
        <p:spPr bwMode="auto">
          <a:xfrm>
            <a:off x="8640674" y="3109765"/>
            <a:ext cx="335646" cy="463846"/>
          </a:xfrm>
          <a:prstGeom prst="rect">
            <a:avLst/>
          </a:prstGeom>
          <a:solidFill>
            <a:srgbClr val="DDFAED"/>
          </a:solid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b="1">
                <a:solidFill>
                  <a:srgbClr val="C00000"/>
                </a:solidFill>
                <a:ea typeface="隶书" pitchFamily="49" charset="-122"/>
              </a:rPr>
              <a:t>9</a:t>
            </a:r>
          </a:p>
        </p:txBody>
      </p:sp>
      <p:sp>
        <p:nvSpPr>
          <p:cNvPr id="1196106" name="Text Box 74"/>
          <p:cNvSpPr txBox="1">
            <a:spLocks noChangeArrowheads="1"/>
          </p:cNvSpPr>
          <p:nvPr/>
        </p:nvSpPr>
        <p:spPr bwMode="auto">
          <a:xfrm>
            <a:off x="6266453" y="2785896"/>
            <a:ext cx="909521" cy="402291"/>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b="1" dirty="0">
                <a:solidFill>
                  <a:schemeClr val="accent2">
                    <a:lumMod val="50000"/>
                  </a:schemeClr>
                </a:solidFill>
                <a:ea typeface="隶书" pitchFamily="49" charset="-122"/>
              </a:rPr>
              <a:t>COPY</a:t>
            </a:r>
          </a:p>
        </p:txBody>
      </p:sp>
      <p:sp>
        <p:nvSpPr>
          <p:cNvPr id="76" name="Rectangle 4">
            <a:extLst>
              <a:ext uri="{FF2B5EF4-FFF2-40B4-BE49-F238E27FC236}">
                <a16:creationId xmlns:a16="http://schemas.microsoft.com/office/drawing/2014/main" id="{41523B3B-6FF2-4C72-B9AD-7B7FBB003D65}"/>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96037"/>
                                        </p:tgtEl>
                                        <p:attrNameLst>
                                          <p:attrName>style.visibility</p:attrName>
                                        </p:attrNameLst>
                                      </p:cBhvr>
                                      <p:to>
                                        <p:strVal val="visible"/>
                                      </p:to>
                                    </p:set>
                                    <p:anim calcmode="lin" valueType="num">
                                      <p:cBhvr additive="base">
                                        <p:cTn id="7" dur="500" fill="hold"/>
                                        <p:tgtEl>
                                          <p:spTgt spid="1196037"/>
                                        </p:tgtEl>
                                        <p:attrNameLst>
                                          <p:attrName>ppt_x</p:attrName>
                                        </p:attrNameLst>
                                      </p:cBhvr>
                                      <p:tavLst>
                                        <p:tav tm="0">
                                          <p:val>
                                            <p:strVal val="0-#ppt_w/2"/>
                                          </p:val>
                                        </p:tav>
                                        <p:tav tm="100000">
                                          <p:val>
                                            <p:strVal val="#ppt_x"/>
                                          </p:val>
                                        </p:tav>
                                      </p:tavLst>
                                    </p:anim>
                                    <p:anim calcmode="lin" valueType="num">
                                      <p:cBhvr additive="base">
                                        <p:cTn id="8" dur="500" fill="hold"/>
                                        <p:tgtEl>
                                          <p:spTgt spid="119603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96036"/>
                                        </p:tgtEl>
                                        <p:attrNameLst>
                                          <p:attrName>style.visibility</p:attrName>
                                        </p:attrNameLst>
                                      </p:cBhvr>
                                      <p:to>
                                        <p:strVal val="visible"/>
                                      </p:to>
                                    </p:set>
                                    <p:animEffect transition="in" filter="box(out)">
                                      <p:cBhvr>
                                        <p:cTn id="13" dur="500"/>
                                        <p:tgtEl>
                                          <p:spTgt spid="1196036"/>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96039"/>
                                        </p:tgtEl>
                                        <p:attrNameLst>
                                          <p:attrName>style.visibility</p:attrName>
                                        </p:attrNameLst>
                                      </p:cBhvr>
                                      <p:to>
                                        <p:strVal val="visible"/>
                                      </p:to>
                                    </p:set>
                                    <p:animEffect transition="in" filter="box(out)">
                                      <p:cBhvr>
                                        <p:cTn id="18" dur="500"/>
                                        <p:tgtEl>
                                          <p:spTgt spid="1196039"/>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96077"/>
                                        </p:tgtEl>
                                        <p:attrNameLst>
                                          <p:attrName>style.visibility</p:attrName>
                                        </p:attrNameLst>
                                      </p:cBhvr>
                                      <p:to>
                                        <p:strVal val="visible"/>
                                      </p:to>
                                    </p:set>
                                    <p:animEffect transition="in" filter="box(out)">
                                      <p:cBhvr>
                                        <p:cTn id="23" dur="500"/>
                                        <p:tgtEl>
                                          <p:spTgt spid="1196077"/>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96076">
                                            <p:txEl>
                                              <p:pRg st="0" end="0"/>
                                            </p:txEl>
                                          </p:spTgt>
                                        </p:tgtEl>
                                        <p:attrNameLst>
                                          <p:attrName>style.visibility</p:attrName>
                                        </p:attrNameLst>
                                      </p:cBhvr>
                                      <p:to>
                                        <p:strVal val="visible"/>
                                      </p:to>
                                    </p:set>
                                    <p:animEffect transition="in" filter="box(out)">
                                      <p:cBhvr>
                                        <p:cTn id="28" dur="500"/>
                                        <p:tgtEl>
                                          <p:spTgt spid="1196076">
                                            <p:txEl>
                                              <p:pRg st="0" end="0"/>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196085">
                                            <p:txEl>
                                              <p:pRg st="0" end="0"/>
                                            </p:txEl>
                                          </p:spTgt>
                                        </p:tgtEl>
                                        <p:attrNameLst>
                                          <p:attrName>style.visibility</p:attrName>
                                        </p:attrNameLst>
                                      </p:cBhvr>
                                      <p:to>
                                        <p:strVal val="visible"/>
                                      </p:to>
                                    </p:set>
                                    <p:animEffect transition="in" filter="box(out)">
                                      <p:cBhvr>
                                        <p:cTn id="33" dur="500"/>
                                        <p:tgtEl>
                                          <p:spTgt spid="1196085">
                                            <p:txEl>
                                              <p:pRg st="0" end="0"/>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1196086"/>
                                        </p:tgtEl>
                                        <p:attrNameLst>
                                          <p:attrName>style.visibility</p:attrName>
                                        </p:attrNameLst>
                                      </p:cBhvr>
                                      <p:to>
                                        <p:strVal val="visible"/>
                                      </p:to>
                                    </p:set>
                                    <p:animEffect transition="in" filter="box(out)">
                                      <p:cBhvr>
                                        <p:cTn id="38" dur="500"/>
                                        <p:tgtEl>
                                          <p:spTgt spid="1196086"/>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1196098"/>
                                        </p:tgtEl>
                                        <p:attrNameLst>
                                          <p:attrName>style.visibility</p:attrName>
                                        </p:attrNameLst>
                                      </p:cBhvr>
                                      <p:to>
                                        <p:strVal val="visible"/>
                                      </p:to>
                                    </p:set>
                                    <p:animEffect transition="in" filter="box(out)">
                                      <p:cBhvr>
                                        <p:cTn id="43" dur="500"/>
                                        <p:tgtEl>
                                          <p:spTgt spid="1196098"/>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par>
                          <p:cTn id="44" fill="hold">
                            <p:stCondLst>
                              <p:cond delay="500"/>
                            </p:stCondLst>
                            <p:childTnLst>
                              <p:par>
                                <p:cTn id="45" presetID="4" presetClass="entr" presetSubtype="32" fill="hold" nodeType="afterEffect">
                                  <p:stCondLst>
                                    <p:cond delay="0"/>
                                  </p:stCondLst>
                                  <p:childTnLst>
                                    <p:set>
                                      <p:cBhvr>
                                        <p:cTn id="46" dur="1" fill="hold">
                                          <p:stCondLst>
                                            <p:cond delay="0"/>
                                          </p:stCondLst>
                                        </p:cTn>
                                        <p:tgtEl>
                                          <p:spTgt spid="1196101"/>
                                        </p:tgtEl>
                                        <p:attrNameLst>
                                          <p:attrName>style.visibility</p:attrName>
                                        </p:attrNameLst>
                                      </p:cBhvr>
                                      <p:to>
                                        <p:strVal val="visible"/>
                                      </p:to>
                                    </p:set>
                                    <p:animEffect transition="in" filter="box(out)">
                                      <p:cBhvr>
                                        <p:cTn id="47" dur="500"/>
                                        <p:tgtEl>
                                          <p:spTgt spid="1196101"/>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1000"/>
                            </p:stCondLst>
                            <p:childTnLst>
                              <p:par>
                                <p:cTn id="49" presetID="4" presetClass="entr" presetSubtype="32" fill="hold" grpId="0" nodeType="afterEffect">
                                  <p:stCondLst>
                                    <p:cond delay="0"/>
                                  </p:stCondLst>
                                  <p:childTnLst>
                                    <p:set>
                                      <p:cBhvr>
                                        <p:cTn id="50" dur="1" fill="hold">
                                          <p:stCondLst>
                                            <p:cond delay="0"/>
                                          </p:stCondLst>
                                        </p:cTn>
                                        <p:tgtEl>
                                          <p:spTgt spid="1196106">
                                            <p:txEl>
                                              <p:pRg st="0" end="0"/>
                                            </p:txEl>
                                          </p:spTgt>
                                        </p:tgtEl>
                                        <p:attrNameLst>
                                          <p:attrName>style.visibility</p:attrName>
                                        </p:attrNameLst>
                                      </p:cBhvr>
                                      <p:to>
                                        <p:strVal val="visible"/>
                                      </p:to>
                                    </p:set>
                                    <p:animEffect transition="in" filter="box(out)">
                                      <p:cBhvr>
                                        <p:cTn id="51" dur="500"/>
                                        <p:tgtEl>
                                          <p:spTgt spid="1196106">
                                            <p:txEl>
                                              <p:pRg st="0" end="0"/>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1196097">
                                            <p:txEl>
                                              <p:pRg st="0" end="0"/>
                                            </p:txEl>
                                          </p:spTgt>
                                        </p:tgtEl>
                                        <p:attrNameLst>
                                          <p:attrName>style.visibility</p:attrName>
                                        </p:attrNameLst>
                                      </p:cBhvr>
                                      <p:to>
                                        <p:strVal val="visible"/>
                                      </p:to>
                                    </p:set>
                                    <p:animEffect transition="in" filter="box(out)">
                                      <p:cBhvr>
                                        <p:cTn id="56" dur="500"/>
                                        <p:tgtEl>
                                          <p:spTgt spid="1196097">
                                            <p:txEl>
                                              <p:pRg st="0" end="0"/>
                                            </p:txEl>
                                          </p:spTgt>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grpId="0" nodeType="clickEffect">
                                  <p:stCondLst>
                                    <p:cond delay="0"/>
                                  </p:stCondLst>
                                  <p:childTnLst>
                                    <p:set>
                                      <p:cBhvr>
                                        <p:cTn id="60" dur="1" fill="hold">
                                          <p:stCondLst>
                                            <p:cond delay="0"/>
                                          </p:stCondLst>
                                        </p:cTn>
                                        <p:tgtEl>
                                          <p:spTgt spid="1196105"/>
                                        </p:tgtEl>
                                        <p:attrNameLst>
                                          <p:attrName>style.visibility</p:attrName>
                                        </p:attrNameLst>
                                      </p:cBhvr>
                                      <p:to>
                                        <p:strVal val="visible"/>
                                      </p:to>
                                    </p:set>
                                    <p:animEffect transition="in" filter="box(out)">
                                      <p:cBhvr>
                                        <p:cTn id="61" dur="500"/>
                                        <p:tgtEl>
                                          <p:spTgt spid="1196105"/>
                                        </p:tgtEl>
                                      </p:cBhvr>
                                    </p:animEffect>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par>
                    <p:cTn id="62" fill="hold">
                      <p:stCondLst>
                        <p:cond delay="indefinite"/>
                      </p:stCondLst>
                      <p:childTnLst>
                        <p:par>
                          <p:cTn id="63" fill="hold">
                            <p:stCondLst>
                              <p:cond delay="0"/>
                            </p:stCondLst>
                            <p:childTnLst>
                              <p:par>
                                <p:cTn id="64" presetID="4" presetClass="entr" presetSubtype="32" fill="hold" grpId="0" nodeType="clickEffect">
                                  <p:stCondLst>
                                    <p:cond delay="0"/>
                                  </p:stCondLst>
                                  <p:childTnLst>
                                    <p:set>
                                      <p:cBhvr>
                                        <p:cTn id="65" dur="1" fill="hold">
                                          <p:stCondLst>
                                            <p:cond delay="0"/>
                                          </p:stCondLst>
                                        </p:cTn>
                                        <p:tgtEl>
                                          <p:spTgt spid="1196104"/>
                                        </p:tgtEl>
                                        <p:attrNameLst>
                                          <p:attrName>style.visibility</p:attrName>
                                        </p:attrNameLst>
                                      </p:cBhvr>
                                      <p:to>
                                        <p:strVal val="visible"/>
                                      </p:to>
                                    </p:set>
                                    <p:animEffect transition="in" filter="box(out)">
                                      <p:cBhvr>
                                        <p:cTn id="66" dur="500"/>
                                        <p:tgtEl>
                                          <p:spTgt spid="1196104"/>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6037" grpId="0" autoUpdateAnimBg="0"/>
      <p:bldP spid="1196036" grpId="0" animBg="1" autoUpdateAnimBg="0"/>
      <p:bldP spid="1196076" grpId="0" build="p" autoUpdateAnimBg="0"/>
      <p:bldP spid="1196085" grpId="0" build="p" autoUpdateAnimBg="0"/>
      <p:bldP spid="1196097" grpId="0" build="p" autoUpdateAnimBg="0"/>
      <p:bldP spid="1196104" grpId="0" animBg="1" autoUpdateAnimBg="0"/>
      <p:bldP spid="1196105" grpId="0" animBg="1" autoUpdateAnimBg="0"/>
      <p:bldP spid="1196106" grpId="0" build="p" autoUpdateAnimBg="0" advAuto="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7060" name="Text Box 4"/>
          <p:cNvSpPr txBox="1">
            <a:spLocks noChangeArrowheads="1"/>
          </p:cNvSpPr>
          <p:nvPr/>
        </p:nvSpPr>
        <p:spPr bwMode="auto">
          <a:xfrm>
            <a:off x="839416" y="764704"/>
            <a:ext cx="3554413" cy="457200"/>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a:t>
            </a:r>
            <a:r>
              <a:rPr lang="zh-CN" altLang="en-US" dirty="0"/>
              <a:t>将数从大到小输出</a:t>
            </a:r>
          </a:p>
        </p:txBody>
      </p:sp>
      <p:sp>
        <p:nvSpPr>
          <p:cNvPr id="1197059" name="Text Box 3" descr="信纸"/>
          <p:cNvSpPr txBox="1">
            <a:spLocks noChangeArrowheads="1"/>
          </p:cNvSpPr>
          <p:nvPr/>
        </p:nvSpPr>
        <p:spPr bwMode="auto">
          <a:xfrm>
            <a:off x="1868021" y="1219340"/>
            <a:ext cx="4901547" cy="5632311"/>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chemeClr val="accent1">
                    <a:lumMod val="50000"/>
                  </a:schemeClr>
                </a:solidFill>
                <a:ea typeface="宋体" pitchFamily="2" charset="-122"/>
              </a:rPr>
              <a:t>void swap (</a:t>
            </a:r>
            <a:r>
              <a:rPr lang="en-US" altLang="zh-CN" dirty="0" err="1">
                <a:solidFill>
                  <a:schemeClr val="accent1">
                    <a:lumMod val="50000"/>
                  </a:schemeClr>
                </a:solidFill>
                <a:ea typeface="宋体" pitchFamily="2" charset="-122"/>
              </a:rPr>
              <a:t>int</a:t>
            </a:r>
            <a:r>
              <a:rPr lang="en-US" altLang="zh-CN" dirty="0">
                <a:solidFill>
                  <a:schemeClr val="accent1">
                    <a:lumMod val="50000"/>
                  </a:schemeClr>
                </a:solidFill>
                <a:ea typeface="宋体" pitchFamily="2" charset="-122"/>
              </a:rPr>
              <a:t>  x, </a:t>
            </a:r>
            <a:r>
              <a:rPr lang="en-US" altLang="zh-CN" dirty="0" err="1">
                <a:solidFill>
                  <a:schemeClr val="accent1">
                    <a:lumMod val="50000"/>
                  </a:schemeClr>
                </a:solidFill>
                <a:ea typeface="宋体" pitchFamily="2" charset="-122"/>
              </a:rPr>
              <a:t>int</a:t>
            </a:r>
            <a:r>
              <a:rPr lang="en-US" altLang="zh-CN" dirty="0">
                <a:solidFill>
                  <a:schemeClr val="accent1">
                    <a:lumMod val="50000"/>
                  </a:schemeClr>
                </a:solidFill>
                <a:ea typeface="宋体" pitchFamily="2" charset="-122"/>
              </a:rPr>
              <a:t> y)</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temp;</a:t>
            </a:r>
          </a:p>
          <a:p>
            <a:pPr eaLnBrk="0" hangingPunct="0">
              <a:lnSpc>
                <a:spcPct val="100000"/>
              </a:lnSpc>
              <a:spcBef>
                <a:spcPct val="0"/>
              </a:spcBef>
            </a:pPr>
            <a:r>
              <a:rPr lang="en-US" altLang="zh-CN" dirty="0">
                <a:ea typeface="宋体" pitchFamily="2" charset="-122"/>
              </a:rPr>
              <a:t>   temp = x;</a:t>
            </a:r>
          </a:p>
          <a:p>
            <a:pPr eaLnBrk="0" hangingPunct="0">
              <a:lnSpc>
                <a:spcPct val="100000"/>
              </a:lnSpc>
              <a:spcBef>
                <a:spcPct val="0"/>
              </a:spcBef>
            </a:pPr>
            <a:r>
              <a:rPr lang="en-US" altLang="zh-CN" dirty="0">
                <a:ea typeface="宋体" pitchFamily="2" charset="-122"/>
              </a:rPr>
              <a:t>   x = y;</a:t>
            </a:r>
          </a:p>
          <a:p>
            <a:pPr eaLnBrk="0" hangingPunct="0">
              <a:lnSpc>
                <a:spcPct val="100000"/>
              </a:lnSpc>
              <a:spcBef>
                <a:spcPct val="0"/>
              </a:spcBef>
            </a:pPr>
            <a:r>
              <a:rPr lang="en-US" altLang="zh-CN" dirty="0">
                <a:ea typeface="宋体" pitchFamily="2" charset="-122"/>
              </a:rPr>
              <a:t>   y = temp;</a:t>
            </a:r>
          </a:p>
          <a:p>
            <a:pPr eaLnBrk="0" hangingPunct="0">
              <a:lnSpc>
                <a:spcPct val="100000"/>
              </a:lnSpc>
              <a:spcBef>
                <a:spcPct val="0"/>
              </a:spcBef>
            </a:pPr>
            <a:r>
              <a:rPr lang="en-US" altLang="zh-CN" dirty="0">
                <a:ea typeface="宋体" pitchFamily="2" charset="-122"/>
              </a:rPr>
              <a:t>}</a:t>
            </a:r>
          </a:p>
          <a:p>
            <a:pPr eaLnBrk="0" hangingPunct="0">
              <a:lnSpc>
                <a:spcPct val="100000"/>
              </a:lnSpc>
              <a:spcBef>
                <a:spcPct val="0"/>
              </a:spcBef>
            </a:pPr>
            <a:r>
              <a:rPr lang="en-US" altLang="zh-CN" dirty="0" err="1">
                <a:solidFill>
                  <a:srgbClr val="CC0099"/>
                </a:solidFill>
                <a:ea typeface="宋体" pitchFamily="2" charset="-122"/>
              </a:rPr>
              <a:t>int</a:t>
            </a:r>
            <a:r>
              <a:rPr lang="en-US" altLang="zh-CN" dirty="0">
                <a:solidFill>
                  <a:srgbClr val="CC0099"/>
                </a:solidFill>
                <a:ea typeface="宋体" pitchFamily="2" charset="-122"/>
              </a:rPr>
              <a:t> main (  )</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a, b;</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scanf</a:t>
            </a:r>
            <a:r>
              <a:rPr lang="en-US" altLang="zh-CN" dirty="0">
                <a:ea typeface="宋体" pitchFamily="2" charset="-122"/>
              </a:rPr>
              <a:t>("%</a:t>
            </a:r>
            <a:r>
              <a:rPr lang="en-US" altLang="zh-CN" dirty="0" err="1">
                <a:ea typeface="宋体" pitchFamily="2" charset="-122"/>
              </a:rPr>
              <a:t>d,%d",&amp;a,&amp;b</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if(a&lt;b)  swap(</a:t>
            </a:r>
            <a:r>
              <a:rPr lang="en-US" altLang="zh-CN" dirty="0" err="1">
                <a:ea typeface="宋体" pitchFamily="2" charset="-122"/>
              </a:rPr>
              <a:t>a,b</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a:t>
            </a:r>
            <a:r>
              <a:rPr lang="en-US" altLang="zh-CN" dirty="0" err="1">
                <a:ea typeface="宋体" pitchFamily="2" charset="-122"/>
              </a:rPr>
              <a:t>n%d,%d</a:t>
            </a:r>
            <a:r>
              <a:rPr lang="en-US" altLang="zh-CN" dirty="0">
                <a:ea typeface="宋体" pitchFamily="2" charset="-122"/>
              </a:rPr>
              <a:t>\</a:t>
            </a:r>
            <a:r>
              <a:rPr lang="en-US" altLang="zh-CN" dirty="0" err="1">
                <a:ea typeface="宋体" pitchFamily="2" charset="-122"/>
              </a:rPr>
              <a:t>n",a,b</a:t>
            </a:r>
            <a:r>
              <a:rPr lang="en-US" altLang="zh-CN" dirty="0">
                <a:ea typeface="宋体" pitchFamily="2" charset="-122"/>
              </a:rPr>
              <a:t>);</a:t>
            </a:r>
          </a:p>
          <a:p>
            <a:pPr eaLnBrk="0" hangingPunct="0">
              <a:lnSpc>
                <a:spcPct val="100000"/>
              </a:lnSpc>
              <a:spcBef>
                <a:spcPct val="0"/>
              </a:spcBef>
            </a:pPr>
            <a:r>
              <a:rPr lang="en-US" altLang="zh-CN" dirty="0">
                <a:ea typeface="宋体" pitchFamily="2" charset="-122"/>
              </a:rPr>
              <a:t>   return 0;</a:t>
            </a:r>
          </a:p>
          <a:p>
            <a:pPr eaLnBrk="0" hangingPunct="0">
              <a:lnSpc>
                <a:spcPct val="100000"/>
              </a:lnSpc>
              <a:spcBef>
                <a:spcPct val="0"/>
              </a:spcBef>
            </a:pPr>
            <a:r>
              <a:rPr lang="en-US" altLang="zh-CN" dirty="0">
                <a:ea typeface="宋体" pitchFamily="2" charset="-122"/>
              </a:rPr>
              <a:t>}</a:t>
            </a:r>
          </a:p>
        </p:txBody>
      </p:sp>
      <p:sp>
        <p:nvSpPr>
          <p:cNvPr id="1197061" name="Text Box 5"/>
          <p:cNvSpPr txBox="1">
            <a:spLocks noChangeArrowheads="1"/>
          </p:cNvSpPr>
          <p:nvPr/>
        </p:nvSpPr>
        <p:spPr bwMode="auto">
          <a:xfrm>
            <a:off x="7640312" y="4111626"/>
            <a:ext cx="184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endParaRPr lang="zh-CN" altLang="zh-CN" sz="2000" b="0">
              <a:effectLst/>
              <a:ea typeface="宋体" pitchFamily="2" charset="-122"/>
            </a:endParaRPr>
          </a:p>
        </p:txBody>
      </p:sp>
      <p:grpSp>
        <p:nvGrpSpPr>
          <p:cNvPr id="1197062" name="Group 6"/>
          <p:cNvGrpSpPr>
            <a:grpSpLocks/>
          </p:cNvGrpSpPr>
          <p:nvPr/>
        </p:nvGrpSpPr>
        <p:grpSpPr bwMode="auto">
          <a:xfrm>
            <a:off x="7356151" y="1279526"/>
            <a:ext cx="2617787" cy="4625975"/>
            <a:chOff x="3003" y="806"/>
            <a:chExt cx="1649" cy="2914"/>
          </a:xfrm>
        </p:grpSpPr>
        <p:sp>
          <p:nvSpPr>
            <p:cNvPr id="1197063" name="Freeform 7"/>
            <p:cNvSpPr>
              <a:spLocks/>
            </p:cNvSpPr>
            <p:nvPr/>
          </p:nvSpPr>
          <p:spPr bwMode="auto">
            <a:xfrm>
              <a:off x="3429"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97065" name="Rectangle 9"/>
            <p:cNvSpPr>
              <a:spLocks noChangeArrowheads="1"/>
            </p:cNvSpPr>
            <p:nvPr/>
          </p:nvSpPr>
          <p:spPr bwMode="auto">
            <a:xfrm>
              <a:off x="3429" y="806"/>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97066" name="Line 10"/>
            <p:cNvSpPr>
              <a:spLocks noChangeShapeType="1"/>
            </p:cNvSpPr>
            <p:nvPr/>
          </p:nvSpPr>
          <p:spPr bwMode="auto">
            <a:xfrm>
              <a:off x="3441"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7067" name="Line 11"/>
            <p:cNvSpPr>
              <a:spLocks noChangeShapeType="1"/>
            </p:cNvSpPr>
            <p:nvPr/>
          </p:nvSpPr>
          <p:spPr bwMode="auto">
            <a:xfrm>
              <a:off x="3441"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197068" name="Line 12"/>
            <p:cNvSpPr>
              <a:spLocks noChangeShapeType="1"/>
            </p:cNvSpPr>
            <p:nvPr/>
          </p:nvSpPr>
          <p:spPr bwMode="auto">
            <a:xfrm>
              <a:off x="3441"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7069" name="Line 13"/>
            <p:cNvSpPr>
              <a:spLocks noChangeShapeType="1"/>
            </p:cNvSpPr>
            <p:nvPr/>
          </p:nvSpPr>
          <p:spPr bwMode="auto">
            <a:xfrm>
              <a:off x="3441"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7070" name="Line 14"/>
            <p:cNvSpPr>
              <a:spLocks noChangeShapeType="1"/>
            </p:cNvSpPr>
            <p:nvPr/>
          </p:nvSpPr>
          <p:spPr bwMode="auto">
            <a:xfrm>
              <a:off x="3429"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7071" name="Line 15"/>
            <p:cNvSpPr>
              <a:spLocks noChangeShapeType="1"/>
            </p:cNvSpPr>
            <p:nvPr/>
          </p:nvSpPr>
          <p:spPr bwMode="auto">
            <a:xfrm>
              <a:off x="3441"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7072" name="Line 16"/>
            <p:cNvSpPr>
              <a:spLocks noChangeShapeType="1"/>
            </p:cNvSpPr>
            <p:nvPr/>
          </p:nvSpPr>
          <p:spPr bwMode="auto">
            <a:xfrm>
              <a:off x="3429"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97073" name="Line 17"/>
            <p:cNvSpPr>
              <a:spLocks noChangeShapeType="1"/>
            </p:cNvSpPr>
            <p:nvPr/>
          </p:nvSpPr>
          <p:spPr bwMode="auto">
            <a:xfrm>
              <a:off x="4640"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197074" name="Text Box 18"/>
            <p:cNvSpPr txBox="1">
              <a:spLocks noChangeArrowheads="1"/>
            </p:cNvSpPr>
            <p:nvPr/>
          </p:nvSpPr>
          <p:spPr bwMode="auto">
            <a:xfrm>
              <a:off x="3919"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97075" name="Text Box 19"/>
            <p:cNvSpPr txBox="1">
              <a:spLocks noChangeArrowheads="1"/>
            </p:cNvSpPr>
            <p:nvPr/>
          </p:nvSpPr>
          <p:spPr bwMode="auto">
            <a:xfrm>
              <a:off x="3918" y="3068"/>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97076" name="Line 20"/>
            <p:cNvSpPr>
              <a:spLocks noChangeShapeType="1"/>
            </p:cNvSpPr>
            <p:nvPr/>
          </p:nvSpPr>
          <p:spPr bwMode="auto">
            <a:xfrm>
              <a:off x="3441"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7077" name="Text Box 21"/>
            <p:cNvSpPr txBox="1">
              <a:spLocks noChangeArrowheads="1"/>
            </p:cNvSpPr>
            <p:nvPr/>
          </p:nvSpPr>
          <p:spPr bwMode="auto">
            <a:xfrm>
              <a:off x="3021"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2000</a:t>
              </a:r>
            </a:p>
          </p:txBody>
        </p:sp>
        <p:sp>
          <p:nvSpPr>
            <p:cNvPr id="1197078" name="Text Box 22"/>
            <p:cNvSpPr txBox="1">
              <a:spLocks noChangeArrowheads="1"/>
            </p:cNvSpPr>
            <p:nvPr/>
          </p:nvSpPr>
          <p:spPr bwMode="auto">
            <a:xfrm>
              <a:off x="3022"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2008</a:t>
              </a:r>
              <a:endParaRPr lang="en-US" altLang="zh-CN" sz="2000" b="0">
                <a:solidFill>
                  <a:srgbClr val="336600"/>
                </a:solidFill>
                <a:effectLst>
                  <a:outerShdw blurRad="38100" dist="38100" dir="2700000" algn="tl">
                    <a:srgbClr val="000000"/>
                  </a:outerShdw>
                </a:effectLst>
                <a:ea typeface="宋体" pitchFamily="2" charset="-122"/>
              </a:endParaRPr>
            </a:p>
          </p:txBody>
        </p:sp>
        <p:sp>
          <p:nvSpPr>
            <p:cNvPr id="1197079" name="Text Box 23"/>
            <p:cNvSpPr txBox="1">
              <a:spLocks noChangeArrowheads="1"/>
            </p:cNvSpPr>
            <p:nvPr/>
          </p:nvSpPr>
          <p:spPr bwMode="auto">
            <a:xfrm>
              <a:off x="3003" y="2348"/>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200A</a:t>
              </a:r>
            </a:p>
          </p:txBody>
        </p:sp>
        <p:sp>
          <p:nvSpPr>
            <p:cNvPr id="1197080" name="Text Box 24"/>
            <p:cNvSpPr txBox="1">
              <a:spLocks noChangeArrowheads="1"/>
            </p:cNvSpPr>
            <p:nvPr/>
          </p:nvSpPr>
          <p:spPr bwMode="auto">
            <a:xfrm>
              <a:off x="3021"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2002</a:t>
              </a:r>
            </a:p>
          </p:txBody>
        </p:sp>
        <p:sp>
          <p:nvSpPr>
            <p:cNvPr id="1197081" name="Text Box 25"/>
            <p:cNvSpPr txBox="1">
              <a:spLocks noChangeArrowheads="1"/>
            </p:cNvSpPr>
            <p:nvPr/>
          </p:nvSpPr>
          <p:spPr bwMode="auto">
            <a:xfrm>
              <a:off x="3021"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2004</a:t>
              </a:r>
            </a:p>
          </p:txBody>
        </p:sp>
        <p:sp>
          <p:nvSpPr>
            <p:cNvPr id="1197082" name="Text Box 26"/>
            <p:cNvSpPr txBox="1">
              <a:spLocks noChangeArrowheads="1"/>
            </p:cNvSpPr>
            <p:nvPr/>
          </p:nvSpPr>
          <p:spPr bwMode="auto">
            <a:xfrm>
              <a:off x="3021"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2006</a:t>
              </a:r>
            </a:p>
          </p:txBody>
        </p:sp>
        <p:grpSp>
          <p:nvGrpSpPr>
            <p:cNvPr id="1197083" name="Group 27"/>
            <p:cNvGrpSpPr>
              <a:grpSpLocks/>
            </p:cNvGrpSpPr>
            <p:nvPr/>
          </p:nvGrpSpPr>
          <p:grpSpPr bwMode="auto">
            <a:xfrm>
              <a:off x="3444" y="1380"/>
              <a:ext cx="60" cy="1548"/>
              <a:chOff x="3960" y="1560"/>
              <a:chExt cx="60" cy="1548"/>
            </a:xfrm>
          </p:grpSpPr>
          <p:sp>
            <p:nvSpPr>
              <p:cNvPr id="1197084" name="Line 28"/>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85" name="Line 29"/>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86" name="Line 30"/>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87" name="Line 31"/>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88" name="Line 32"/>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89" name="Line 33"/>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0" name="Line 34"/>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97091" name="Group 35"/>
            <p:cNvGrpSpPr>
              <a:grpSpLocks/>
            </p:cNvGrpSpPr>
            <p:nvPr/>
          </p:nvGrpSpPr>
          <p:grpSpPr bwMode="auto">
            <a:xfrm>
              <a:off x="4572" y="1368"/>
              <a:ext cx="60" cy="1548"/>
              <a:chOff x="3960" y="1560"/>
              <a:chExt cx="60" cy="1548"/>
            </a:xfrm>
          </p:grpSpPr>
          <p:sp>
            <p:nvSpPr>
              <p:cNvPr id="1197092" name="Line 36"/>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3" name="Line 37"/>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4" name="Line 38"/>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5" name="Line 39"/>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6" name="Line 40"/>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7" name="Line 41"/>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8" name="Line 42"/>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197064" name="Freeform 8"/>
            <p:cNvSpPr>
              <a:spLocks/>
            </p:cNvSpPr>
            <p:nvPr/>
          </p:nvSpPr>
          <p:spPr bwMode="auto">
            <a:xfrm>
              <a:off x="3430"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197099" name="Text Box 43"/>
          <p:cNvSpPr txBox="1">
            <a:spLocks noChangeArrowheads="1"/>
          </p:cNvSpPr>
          <p:nvPr/>
        </p:nvSpPr>
        <p:spPr bwMode="auto">
          <a:xfrm>
            <a:off x="8778550" y="1960563"/>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002060"/>
                </a:solidFill>
                <a:ea typeface="宋体" pitchFamily="2" charset="-122"/>
              </a:rPr>
              <a:t>5</a:t>
            </a:r>
          </a:p>
        </p:txBody>
      </p:sp>
      <p:grpSp>
        <p:nvGrpSpPr>
          <p:cNvPr id="1197100" name="Group 44"/>
          <p:cNvGrpSpPr>
            <a:grpSpLocks/>
          </p:cNvGrpSpPr>
          <p:nvPr/>
        </p:nvGrpSpPr>
        <p:grpSpPr bwMode="auto">
          <a:xfrm>
            <a:off x="8516616" y="1550989"/>
            <a:ext cx="2547938" cy="1016001"/>
            <a:chOff x="3734" y="977"/>
            <a:chExt cx="1605" cy="640"/>
          </a:xfrm>
        </p:grpSpPr>
        <p:grpSp>
          <p:nvGrpSpPr>
            <p:cNvPr id="1197101" name="Group 45"/>
            <p:cNvGrpSpPr>
              <a:grpSpLocks/>
            </p:cNvGrpSpPr>
            <p:nvPr/>
          </p:nvGrpSpPr>
          <p:grpSpPr bwMode="auto">
            <a:xfrm>
              <a:off x="4630" y="1125"/>
              <a:ext cx="705" cy="252"/>
              <a:chOff x="4402" y="1437"/>
              <a:chExt cx="705" cy="252"/>
            </a:xfrm>
          </p:grpSpPr>
          <p:sp>
            <p:nvSpPr>
              <p:cNvPr id="1197102" name="Line 46"/>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197103" name="Text Box 47"/>
              <p:cNvSpPr txBox="1">
                <a:spLocks noChangeArrowheads="1"/>
              </p:cNvSpPr>
              <p:nvPr/>
            </p:nvSpPr>
            <p:spPr bwMode="auto">
              <a:xfrm>
                <a:off x="4584" y="1437"/>
                <a:ext cx="523"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变量</a:t>
                </a:r>
                <a:r>
                  <a:rPr lang="en-US" altLang="zh-CN" sz="2000" dirty="0">
                    <a:effectLst>
                      <a:outerShdw blurRad="38100" dist="38100" dir="2700000" algn="tl">
                        <a:srgbClr val="FFFFFF"/>
                      </a:outerShdw>
                    </a:effectLst>
                    <a:latin typeface="+mn-lt"/>
                    <a:ea typeface="楷体" pitchFamily="49" charset="-122"/>
                  </a:rPr>
                  <a:t>a</a:t>
                </a:r>
              </a:p>
            </p:txBody>
          </p:sp>
        </p:grpSp>
        <p:grpSp>
          <p:nvGrpSpPr>
            <p:cNvPr id="1197104" name="Group 48"/>
            <p:cNvGrpSpPr>
              <a:grpSpLocks/>
            </p:cNvGrpSpPr>
            <p:nvPr/>
          </p:nvGrpSpPr>
          <p:grpSpPr bwMode="auto">
            <a:xfrm>
              <a:off x="4630" y="1365"/>
              <a:ext cx="709" cy="252"/>
              <a:chOff x="4426" y="1917"/>
              <a:chExt cx="709" cy="252"/>
            </a:xfrm>
          </p:grpSpPr>
          <p:sp>
            <p:nvSpPr>
              <p:cNvPr id="1197105" name="Line 49"/>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197106" name="Text Box 50"/>
              <p:cNvSpPr txBox="1">
                <a:spLocks noChangeArrowheads="1"/>
              </p:cNvSpPr>
              <p:nvPr/>
            </p:nvSpPr>
            <p:spPr bwMode="auto">
              <a:xfrm>
                <a:off x="4523" y="1917"/>
                <a:ext cx="612"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dirty="0">
                    <a:effectLst>
                      <a:outerShdw blurRad="38100" dist="38100" dir="2700000" algn="tl">
                        <a:srgbClr val="FFFFFF"/>
                      </a:outerShdw>
                    </a:effectLst>
                    <a:latin typeface="+mn-lt"/>
                    <a:ea typeface="楷体" pitchFamily="49" charset="-122"/>
                  </a:rPr>
                  <a:t>  </a:t>
                </a:r>
                <a:r>
                  <a:rPr lang="zh-CN" altLang="en-US" sz="2000" dirty="0">
                    <a:effectLst>
                      <a:outerShdw blurRad="38100" dist="38100" dir="2700000" algn="tl">
                        <a:srgbClr val="FFFFFF"/>
                      </a:outerShdw>
                    </a:effectLst>
                    <a:latin typeface="+mn-lt"/>
                    <a:ea typeface="楷体" pitchFamily="49" charset="-122"/>
                  </a:rPr>
                  <a:t>变量</a:t>
                </a:r>
                <a:r>
                  <a:rPr lang="en-US" altLang="zh-CN" sz="2000" dirty="0">
                    <a:effectLst>
                      <a:outerShdw blurRad="38100" dist="38100" dir="2700000" algn="tl">
                        <a:srgbClr val="FFFFFF"/>
                      </a:outerShdw>
                    </a:effectLst>
                    <a:latin typeface="+mn-lt"/>
                    <a:ea typeface="楷体" pitchFamily="49" charset="-122"/>
                  </a:rPr>
                  <a:t>b</a:t>
                </a:r>
              </a:p>
            </p:txBody>
          </p:sp>
        </p:grpSp>
        <p:sp>
          <p:nvSpPr>
            <p:cNvPr id="1197107" name="Text Box 51"/>
            <p:cNvSpPr txBox="1">
              <a:spLocks noChangeArrowheads="1"/>
            </p:cNvSpPr>
            <p:nvPr/>
          </p:nvSpPr>
          <p:spPr bwMode="auto">
            <a:xfrm>
              <a:off x="3734" y="977"/>
              <a:ext cx="57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dirty="0">
                  <a:solidFill>
                    <a:srgbClr val="CC0099"/>
                  </a:solidFill>
                </a:rPr>
                <a:t>(main)</a:t>
              </a:r>
            </a:p>
          </p:txBody>
        </p:sp>
      </p:grpSp>
      <p:sp>
        <p:nvSpPr>
          <p:cNvPr id="1197108" name="Text Box 52"/>
          <p:cNvSpPr txBox="1">
            <a:spLocks noChangeArrowheads="1"/>
          </p:cNvSpPr>
          <p:nvPr/>
        </p:nvSpPr>
        <p:spPr bwMode="auto">
          <a:xfrm>
            <a:off x="8783312" y="2365375"/>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9</a:t>
            </a:r>
          </a:p>
        </p:txBody>
      </p:sp>
      <p:sp>
        <p:nvSpPr>
          <p:cNvPr id="1197133" name="Text Box 77"/>
          <p:cNvSpPr txBox="1">
            <a:spLocks noChangeArrowheads="1"/>
          </p:cNvSpPr>
          <p:nvPr/>
        </p:nvSpPr>
        <p:spPr bwMode="auto">
          <a:xfrm>
            <a:off x="7124375" y="6165304"/>
            <a:ext cx="2303462" cy="400110"/>
          </a:xfrm>
          <a:prstGeom prst="rect">
            <a:avLst/>
          </a:prstGeom>
          <a:solidFill>
            <a:srgbClr val="FFFFFF"/>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zh-CN" altLang="en-US" sz="2000" dirty="0">
                <a:solidFill>
                  <a:srgbClr val="C00000"/>
                </a:solidFill>
                <a:latin typeface="+mn-lt"/>
                <a:ea typeface="隶书" pitchFamily="49" charset="-122"/>
              </a:rPr>
              <a:t>运行结果：</a:t>
            </a:r>
            <a:r>
              <a:rPr lang="en-US" altLang="zh-CN" sz="2000" dirty="0">
                <a:solidFill>
                  <a:srgbClr val="002060"/>
                </a:solidFill>
                <a:ea typeface="宋体" pitchFamily="2" charset="-122"/>
              </a:rPr>
              <a:t>5, 9</a:t>
            </a:r>
          </a:p>
        </p:txBody>
      </p:sp>
      <p:sp>
        <p:nvSpPr>
          <p:cNvPr id="1197134" name="AutoShape 78"/>
          <p:cNvSpPr>
            <a:spLocks noChangeArrowheads="1"/>
          </p:cNvSpPr>
          <p:nvPr/>
        </p:nvSpPr>
        <p:spPr bwMode="auto">
          <a:xfrm>
            <a:off x="4152577" y="2207730"/>
            <a:ext cx="2303463" cy="1302716"/>
          </a:xfrm>
          <a:prstGeom prst="irregularSeal1">
            <a:avLst/>
          </a:prstGeom>
          <a:gradFill rotWithShape="1">
            <a:gsLst>
              <a:gs pos="0">
                <a:srgbClr val="CFCFD1"/>
              </a:gs>
              <a:gs pos="100000">
                <a:schemeClr val="bg1"/>
              </a:gs>
            </a:gsLst>
            <a:lin ang="5400000" scaled="1"/>
          </a:gradFill>
          <a:ln w="28575">
            <a:solidFill>
              <a:srgbClr val="C00000"/>
            </a:solidFill>
            <a:miter lim="800000"/>
            <a:headEnd type="none" w="lg" len="lg"/>
            <a:tailEnd/>
          </a:ln>
          <a:effectLst>
            <a:outerShdw blurRad="50800" dist="106680" dir="2700000" algn="tl" rotWithShape="0">
              <a:prstClr val="black">
                <a:alpha val="43000"/>
              </a:prstClr>
            </a:outerShdw>
          </a:effectLst>
        </p:spPr>
        <p:txBody>
          <a:bodyPr lIns="90000" tIns="46800" rIns="90000" bIns="46800" anchor="ctr">
            <a:spAutoFit/>
          </a:bodyPr>
          <a:lstStyle/>
          <a:p>
            <a:pPr algn="ctr">
              <a:lnSpc>
                <a:spcPct val="100000"/>
              </a:lnSpc>
              <a:spcBef>
                <a:spcPct val="0"/>
              </a:spcBef>
            </a:pPr>
            <a:r>
              <a:rPr lang="zh-CN" altLang="en-US">
                <a:solidFill>
                  <a:srgbClr val="C00000"/>
                </a:solidFill>
                <a:ea typeface="隶书" pitchFamily="49" charset="-122"/>
              </a:rPr>
              <a:t>值传递</a:t>
            </a:r>
          </a:p>
        </p:txBody>
      </p:sp>
      <p:sp>
        <p:nvSpPr>
          <p:cNvPr id="57" name="Rectangle 4">
            <a:extLst>
              <a:ext uri="{FF2B5EF4-FFF2-40B4-BE49-F238E27FC236}">
                <a16:creationId xmlns:a16="http://schemas.microsoft.com/office/drawing/2014/main" id="{2A1DE9F4-8E5A-47BD-939E-C3C094CC7D0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97133"/>
                                        </p:tgtEl>
                                        <p:attrNameLst>
                                          <p:attrName>style.visibility</p:attrName>
                                        </p:attrNameLst>
                                      </p:cBhvr>
                                      <p:to>
                                        <p:strVal val="visible"/>
                                      </p:to>
                                    </p:set>
                                    <p:animEffect transition="in" filter="box(out)">
                                      <p:cBhvr>
                                        <p:cTn id="7" dur="500"/>
                                        <p:tgtEl>
                                          <p:spTgt spid="1197133"/>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97134"/>
                                        </p:tgtEl>
                                        <p:attrNameLst>
                                          <p:attrName>style.visibility</p:attrName>
                                        </p:attrNameLst>
                                      </p:cBhvr>
                                      <p:to>
                                        <p:strVal val="visible"/>
                                      </p:to>
                                    </p:set>
                                    <p:animEffect transition="in" filter="box(out)">
                                      <p:cBhvr>
                                        <p:cTn id="12" dur="500"/>
                                        <p:tgtEl>
                                          <p:spTgt spid="1197134"/>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7133" grpId="0" animBg="1" autoUpdateAnimBg="0"/>
      <p:bldP spid="1197134" grpId="0" animBg="1"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4">
            <a:extLst>
              <a:ext uri="{FF2B5EF4-FFF2-40B4-BE49-F238E27FC236}">
                <a16:creationId xmlns:a16="http://schemas.microsoft.com/office/drawing/2014/main" id="{3D290740-2BA2-4B93-9F2D-B0E42EEE11E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
        <p:nvSpPr>
          <p:cNvPr id="1198172" name="Text Box 92"/>
          <p:cNvSpPr txBox="1">
            <a:spLocks noChangeArrowheads="1"/>
          </p:cNvSpPr>
          <p:nvPr/>
        </p:nvSpPr>
        <p:spPr bwMode="auto">
          <a:xfrm>
            <a:off x="839416" y="754916"/>
            <a:ext cx="3554412" cy="457200"/>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a:t>
            </a:r>
            <a:r>
              <a:rPr lang="zh-CN" altLang="en-US" dirty="0"/>
              <a:t>将数从大到小输出</a:t>
            </a:r>
          </a:p>
        </p:txBody>
      </p:sp>
      <p:sp>
        <p:nvSpPr>
          <p:cNvPr id="1198082" name="Rectangle 2" descr="信纸"/>
          <p:cNvSpPr>
            <a:spLocks noChangeArrowheads="1"/>
          </p:cNvSpPr>
          <p:nvPr/>
        </p:nvSpPr>
        <p:spPr bwMode="auto">
          <a:xfrm>
            <a:off x="6470616" y="404664"/>
            <a:ext cx="4642111" cy="6001643"/>
          </a:xfrm>
          <a:prstGeom prst="rect">
            <a:avLst/>
          </a:prstGeom>
          <a:gradFill>
            <a:gsLst>
              <a:gs pos="0">
                <a:srgbClr val="CFCFD1"/>
              </a:gs>
              <a:gs pos="100000">
                <a:schemeClr val="bg1">
                  <a:lumMod val="95000"/>
                </a:schemeClr>
              </a:gs>
            </a:gsLst>
            <a:lin ang="5400000" scaled="1"/>
          </a:gra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chemeClr val="accent1">
                    <a:lumMod val="50000"/>
                  </a:schemeClr>
                </a:solidFill>
                <a:ea typeface="宋体" pitchFamily="2" charset="-122"/>
              </a:rPr>
              <a:t>void swap(</a:t>
            </a:r>
            <a:r>
              <a:rPr lang="en-US" altLang="zh-CN" dirty="0" err="1">
                <a:solidFill>
                  <a:schemeClr val="accent1">
                    <a:lumMod val="50000"/>
                  </a:schemeClr>
                </a:solidFill>
                <a:ea typeface="宋体" pitchFamily="2" charset="-122"/>
              </a:rPr>
              <a:t>int</a:t>
            </a:r>
            <a:r>
              <a:rPr lang="en-US" altLang="zh-CN" dirty="0">
                <a:solidFill>
                  <a:schemeClr val="accent1">
                    <a:lumMod val="50000"/>
                  </a:schemeClr>
                </a:solidFill>
                <a:ea typeface="宋体" pitchFamily="2" charset="-122"/>
              </a:rPr>
              <a:t>  *p1, </a:t>
            </a:r>
            <a:r>
              <a:rPr lang="en-US" altLang="zh-CN" dirty="0" err="1">
                <a:solidFill>
                  <a:schemeClr val="accent1">
                    <a:lumMod val="50000"/>
                  </a:schemeClr>
                </a:solidFill>
                <a:ea typeface="宋体" pitchFamily="2" charset="-122"/>
              </a:rPr>
              <a:t>int</a:t>
            </a:r>
            <a:r>
              <a:rPr lang="en-US" altLang="zh-CN" dirty="0">
                <a:solidFill>
                  <a:schemeClr val="accent1">
                    <a:lumMod val="50000"/>
                  </a:schemeClr>
                </a:solidFill>
                <a:ea typeface="宋体" pitchFamily="2" charset="-122"/>
              </a:rPr>
              <a:t>  *p2)</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p;</a:t>
            </a:r>
          </a:p>
          <a:p>
            <a:pPr eaLnBrk="0" hangingPunct="0">
              <a:lnSpc>
                <a:spcPct val="100000"/>
              </a:lnSpc>
              <a:spcBef>
                <a:spcPct val="0"/>
              </a:spcBef>
            </a:pPr>
            <a:r>
              <a:rPr lang="en-US" altLang="zh-CN" dirty="0">
                <a:ea typeface="宋体" pitchFamily="2" charset="-122"/>
              </a:rPr>
              <a:t>   p = *p1;</a:t>
            </a:r>
          </a:p>
          <a:p>
            <a:pPr eaLnBrk="0" hangingPunct="0">
              <a:lnSpc>
                <a:spcPct val="100000"/>
              </a:lnSpc>
              <a:spcBef>
                <a:spcPct val="0"/>
              </a:spcBef>
            </a:pPr>
            <a:r>
              <a:rPr lang="en-US" altLang="zh-CN" dirty="0">
                <a:ea typeface="宋体" pitchFamily="2" charset="-122"/>
              </a:rPr>
              <a:t>   *p1 = *p2;</a:t>
            </a:r>
          </a:p>
          <a:p>
            <a:pPr eaLnBrk="0" hangingPunct="0">
              <a:lnSpc>
                <a:spcPct val="100000"/>
              </a:lnSpc>
              <a:spcBef>
                <a:spcPct val="0"/>
              </a:spcBef>
            </a:pPr>
            <a:r>
              <a:rPr lang="en-US" altLang="zh-CN" dirty="0">
                <a:ea typeface="宋体" pitchFamily="2" charset="-122"/>
              </a:rPr>
              <a:t>   *p2 = p;</a:t>
            </a:r>
          </a:p>
          <a:p>
            <a:pPr eaLnBrk="0" hangingPunct="0">
              <a:lnSpc>
                <a:spcPct val="100000"/>
              </a:lnSpc>
              <a:spcBef>
                <a:spcPct val="0"/>
              </a:spcBef>
            </a:pPr>
            <a:r>
              <a:rPr lang="en-US" altLang="zh-CN" dirty="0">
                <a:ea typeface="宋体" pitchFamily="2" charset="-122"/>
              </a:rPr>
              <a:t>}</a:t>
            </a:r>
          </a:p>
          <a:p>
            <a:pPr eaLnBrk="0" hangingPunct="0">
              <a:lnSpc>
                <a:spcPct val="100000"/>
              </a:lnSpc>
              <a:spcBef>
                <a:spcPct val="0"/>
              </a:spcBef>
            </a:pPr>
            <a:r>
              <a:rPr lang="en-US" altLang="zh-CN" dirty="0" err="1">
                <a:solidFill>
                  <a:srgbClr val="CC0099"/>
                </a:solidFill>
                <a:ea typeface="宋体" pitchFamily="2" charset="-122"/>
              </a:rPr>
              <a:t>int</a:t>
            </a:r>
            <a:r>
              <a:rPr lang="en-US" altLang="zh-CN" dirty="0">
                <a:solidFill>
                  <a:srgbClr val="CC0099"/>
                </a:solidFill>
                <a:ea typeface="宋体" pitchFamily="2" charset="-122"/>
              </a:rPr>
              <a:t> main (  )</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a, b, *p_1, *p_2;</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scanf</a:t>
            </a:r>
            <a:r>
              <a:rPr lang="en-US" altLang="zh-CN" dirty="0">
                <a:ea typeface="宋体" pitchFamily="2" charset="-122"/>
              </a:rPr>
              <a:t> ("%</a:t>
            </a:r>
            <a:r>
              <a:rPr lang="en-US" altLang="zh-CN" dirty="0" err="1">
                <a:ea typeface="宋体" pitchFamily="2" charset="-122"/>
              </a:rPr>
              <a:t>d,%d</a:t>
            </a:r>
            <a:r>
              <a:rPr lang="en-US" altLang="zh-CN" dirty="0">
                <a:ea typeface="宋体" pitchFamily="2" charset="-122"/>
              </a:rPr>
              <a:t>", &amp;a, &amp;b);</a:t>
            </a:r>
          </a:p>
          <a:p>
            <a:pPr eaLnBrk="0" hangingPunct="0">
              <a:lnSpc>
                <a:spcPct val="100000"/>
              </a:lnSpc>
              <a:spcBef>
                <a:spcPct val="0"/>
              </a:spcBef>
            </a:pPr>
            <a:r>
              <a:rPr lang="en-US" altLang="zh-CN" dirty="0">
                <a:solidFill>
                  <a:srgbClr val="002060"/>
                </a:solidFill>
                <a:ea typeface="宋体" pitchFamily="2" charset="-122"/>
              </a:rPr>
              <a:t>    p_1 = &amp;a;  p_2 = &amp;b;</a:t>
            </a:r>
          </a:p>
          <a:p>
            <a:pPr eaLnBrk="0" hangingPunct="0">
              <a:lnSpc>
                <a:spcPct val="100000"/>
              </a:lnSpc>
              <a:spcBef>
                <a:spcPct val="0"/>
              </a:spcBef>
            </a:pPr>
            <a:r>
              <a:rPr lang="en-US" altLang="zh-CN" dirty="0">
                <a:ea typeface="宋体" pitchFamily="2" charset="-122"/>
              </a:rPr>
              <a:t>    if (a &lt; b)  </a:t>
            </a:r>
            <a:r>
              <a:rPr lang="en-US" altLang="zh-CN" dirty="0">
                <a:solidFill>
                  <a:srgbClr val="002060"/>
                </a:solidFill>
              </a:rPr>
              <a:t>swap (p_1, p_2);</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a:t>
            </a:r>
            <a:r>
              <a:rPr lang="en-US" altLang="zh-CN" dirty="0" err="1">
                <a:ea typeface="宋体" pitchFamily="2" charset="-122"/>
              </a:rPr>
              <a:t>n%d</a:t>
            </a:r>
            <a:r>
              <a:rPr lang="en-US" altLang="zh-CN" dirty="0">
                <a:ea typeface="宋体" pitchFamily="2" charset="-122"/>
              </a:rPr>
              <a:t>,%d\n", a, b);</a:t>
            </a:r>
          </a:p>
          <a:p>
            <a:pPr eaLnBrk="0" hangingPunct="0">
              <a:lnSpc>
                <a:spcPct val="100000"/>
              </a:lnSpc>
              <a:spcBef>
                <a:spcPct val="0"/>
              </a:spcBef>
            </a:pPr>
            <a:r>
              <a:rPr lang="en-US" altLang="zh-CN" dirty="0">
                <a:ea typeface="宋体" pitchFamily="2" charset="-122"/>
              </a:rPr>
              <a:t>    return 0;</a:t>
            </a:r>
          </a:p>
          <a:p>
            <a:pPr eaLnBrk="0" hangingPunct="0">
              <a:lnSpc>
                <a:spcPct val="100000"/>
              </a:lnSpc>
              <a:spcBef>
                <a:spcPct val="0"/>
              </a:spcBef>
            </a:pPr>
            <a:r>
              <a:rPr lang="en-US" altLang="zh-CN" dirty="0">
                <a:ea typeface="宋体" pitchFamily="2" charset="-122"/>
              </a:rPr>
              <a:t>}</a:t>
            </a:r>
          </a:p>
        </p:txBody>
      </p:sp>
      <p:grpSp>
        <p:nvGrpSpPr>
          <p:cNvPr id="1198083" name="Group 3"/>
          <p:cNvGrpSpPr>
            <a:grpSpLocks/>
          </p:cNvGrpSpPr>
          <p:nvPr/>
        </p:nvGrpSpPr>
        <p:grpSpPr bwMode="auto">
          <a:xfrm>
            <a:off x="1852613" y="1827361"/>
            <a:ext cx="2636837" cy="4625975"/>
            <a:chOff x="2879" y="554"/>
            <a:chExt cx="1661" cy="2914"/>
          </a:xfrm>
        </p:grpSpPr>
        <p:grpSp>
          <p:nvGrpSpPr>
            <p:cNvPr id="1198084" name="Group 4"/>
            <p:cNvGrpSpPr>
              <a:grpSpLocks/>
            </p:cNvGrpSpPr>
            <p:nvPr/>
          </p:nvGrpSpPr>
          <p:grpSpPr bwMode="auto">
            <a:xfrm>
              <a:off x="2879" y="554"/>
              <a:ext cx="1661" cy="2914"/>
              <a:chOff x="3144" y="806"/>
              <a:chExt cx="1661" cy="2914"/>
            </a:xfrm>
          </p:grpSpPr>
          <p:sp>
            <p:nvSpPr>
              <p:cNvPr id="1198085" name="Freeform 5"/>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98087" name="Rectangle 7"/>
              <p:cNvSpPr>
                <a:spLocks noChangeArrowheads="1"/>
              </p:cNvSpPr>
              <p:nvPr/>
            </p:nvSpPr>
            <p:spPr bwMode="auto">
              <a:xfrm>
                <a:off x="3582" y="806"/>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98088" name="Line 8"/>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8089" name="Line 9"/>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198090" name="Line 10"/>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8091" name="Line 11"/>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8092" name="Line 12"/>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8093" name="Line 13"/>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8094" name="Line 14"/>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98095" name="Line 15"/>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198096" name="Text Box 16"/>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98097" name="Line 17"/>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8098" name="Text Box 18"/>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198099" name="Text Box 19"/>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198100" name="Text Box 20"/>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198101" name="Text Box 21"/>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198102" name="Text Box 22"/>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198103" name="Text Box 23"/>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198104" name="Group 24"/>
              <p:cNvGrpSpPr>
                <a:grpSpLocks/>
              </p:cNvGrpSpPr>
              <p:nvPr/>
            </p:nvGrpSpPr>
            <p:grpSpPr bwMode="auto">
              <a:xfrm>
                <a:off x="3597" y="1380"/>
                <a:ext cx="60" cy="1548"/>
                <a:chOff x="3960" y="1560"/>
                <a:chExt cx="60" cy="1548"/>
              </a:xfrm>
            </p:grpSpPr>
            <p:sp>
              <p:nvSpPr>
                <p:cNvPr id="1198105" name="Line 25"/>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06" name="Line 26"/>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07" name="Line 27"/>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08" name="Line 28"/>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09" name="Line 29"/>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0" name="Line 30"/>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1" name="Line 31"/>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98112" name="Group 32"/>
              <p:cNvGrpSpPr>
                <a:grpSpLocks/>
              </p:cNvGrpSpPr>
              <p:nvPr/>
            </p:nvGrpSpPr>
            <p:grpSpPr bwMode="auto">
              <a:xfrm>
                <a:off x="4725" y="1368"/>
                <a:ext cx="60" cy="1548"/>
                <a:chOff x="3960" y="1560"/>
                <a:chExt cx="60" cy="1548"/>
              </a:xfrm>
            </p:grpSpPr>
            <p:sp>
              <p:nvSpPr>
                <p:cNvPr id="1198113" name="Line 33"/>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4" name="Line 34"/>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5" name="Line 35"/>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6" name="Line 36"/>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7" name="Line 37"/>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8" name="Line 38"/>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9" name="Line 39"/>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198120" name="Line 40"/>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21" name="Line 41"/>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98122" name="Line 42"/>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23" name="Text Box 43"/>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198124" name="Text Box 44"/>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198125" name="Text Box 45"/>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198086" name="Freeform 6"/>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198126" name="Text Box 46"/>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sp>
        <p:nvSpPr>
          <p:cNvPr id="1198127" name="Text Box 47"/>
          <p:cNvSpPr txBox="1">
            <a:spLocks noChangeArrowheads="1"/>
          </p:cNvSpPr>
          <p:nvPr/>
        </p:nvSpPr>
        <p:spPr bwMode="auto">
          <a:xfrm>
            <a:off x="3336924" y="2494110"/>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chemeClr val="accent2">
                    <a:lumMod val="50000"/>
                  </a:schemeClr>
                </a:solidFill>
                <a:ea typeface="宋体" pitchFamily="2" charset="-122"/>
              </a:rPr>
              <a:t>5</a:t>
            </a:r>
          </a:p>
        </p:txBody>
      </p:sp>
      <p:sp>
        <p:nvSpPr>
          <p:cNvPr id="1198128" name="Text Box 48"/>
          <p:cNvSpPr txBox="1">
            <a:spLocks noChangeArrowheads="1"/>
          </p:cNvSpPr>
          <p:nvPr/>
        </p:nvSpPr>
        <p:spPr bwMode="auto">
          <a:xfrm>
            <a:off x="3327399" y="2870348"/>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9</a:t>
            </a:r>
          </a:p>
        </p:txBody>
      </p:sp>
      <p:grpSp>
        <p:nvGrpSpPr>
          <p:cNvPr id="1198129" name="Group 49"/>
          <p:cNvGrpSpPr>
            <a:grpSpLocks/>
          </p:cNvGrpSpPr>
          <p:nvPr/>
        </p:nvGrpSpPr>
        <p:grpSpPr bwMode="auto">
          <a:xfrm>
            <a:off x="3033713" y="2071835"/>
            <a:ext cx="3062287" cy="1812924"/>
            <a:chOff x="3888" y="977"/>
            <a:chExt cx="1929" cy="1142"/>
          </a:xfrm>
        </p:grpSpPr>
        <p:grpSp>
          <p:nvGrpSpPr>
            <p:cNvPr id="1198130" name="Group 50"/>
            <p:cNvGrpSpPr>
              <a:grpSpLocks/>
            </p:cNvGrpSpPr>
            <p:nvPr/>
          </p:nvGrpSpPr>
          <p:grpSpPr bwMode="auto">
            <a:xfrm>
              <a:off x="4783" y="1125"/>
              <a:ext cx="1030" cy="252"/>
              <a:chOff x="4402" y="1437"/>
              <a:chExt cx="1030" cy="252"/>
            </a:xfrm>
          </p:grpSpPr>
          <p:sp>
            <p:nvSpPr>
              <p:cNvPr id="1198131" name="Line 51"/>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32" name="Text Box 52"/>
              <p:cNvSpPr txBox="1">
                <a:spLocks noChangeArrowheads="1"/>
              </p:cNvSpPr>
              <p:nvPr/>
            </p:nvSpPr>
            <p:spPr bwMode="auto">
              <a:xfrm>
                <a:off x="4584" y="1437"/>
                <a:ext cx="848"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整型变量</a:t>
                </a:r>
                <a:r>
                  <a:rPr lang="en-US" altLang="zh-CN" sz="2000" dirty="0">
                    <a:effectLst>
                      <a:outerShdw blurRad="38100" dist="38100" dir="2700000" algn="tl">
                        <a:srgbClr val="FFFFFF"/>
                      </a:outerShdw>
                    </a:effectLst>
                    <a:latin typeface="+mn-lt"/>
                    <a:ea typeface="楷体" pitchFamily="49" charset="-122"/>
                  </a:rPr>
                  <a:t>a</a:t>
                </a:r>
              </a:p>
            </p:txBody>
          </p:sp>
        </p:grpSp>
        <p:grpSp>
          <p:nvGrpSpPr>
            <p:cNvPr id="1198133" name="Group 53"/>
            <p:cNvGrpSpPr>
              <a:grpSpLocks/>
            </p:cNvGrpSpPr>
            <p:nvPr/>
          </p:nvGrpSpPr>
          <p:grpSpPr bwMode="auto">
            <a:xfrm>
              <a:off x="4783" y="1365"/>
              <a:ext cx="1034" cy="252"/>
              <a:chOff x="4426" y="1917"/>
              <a:chExt cx="1034" cy="252"/>
            </a:xfrm>
          </p:grpSpPr>
          <p:sp>
            <p:nvSpPr>
              <p:cNvPr id="1198134" name="Line 54"/>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35" name="Text Box 55"/>
              <p:cNvSpPr txBox="1">
                <a:spLocks noChangeArrowheads="1"/>
              </p:cNvSpPr>
              <p:nvPr/>
            </p:nvSpPr>
            <p:spPr bwMode="auto">
              <a:xfrm>
                <a:off x="4523" y="1917"/>
                <a:ext cx="937"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整型变量</a:t>
                </a:r>
                <a:r>
                  <a:rPr lang="en-US" altLang="zh-CN" sz="2000">
                    <a:effectLst>
                      <a:outerShdw blurRad="38100" dist="38100" dir="2700000" algn="tl">
                        <a:srgbClr val="FFFFFF"/>
                      </a:outerShdw>
                    </a:effectLst>
                    <a:latin typeface="+mn-lt"/>
                    <a:ea typeface="楷体" pitchFamily="49" charset="-122"/>
                  </a:rPr>
                  <a:t>b</a:t>
                </a:r>
              </a:p>
            </p:txBody>
          </p:sp>
        </p:grpSp>
        <p:sp>
          <p:nvSpPr>
            <p:cNvPr id="1198136" name="Text Box 56"/>
            <p:cNvSpPr txBox="1">
              <a:spLocks noChangeArrowheads="1"/>
            </p:cNvSpPr>
            <p:nvPr/>
          </p:nvSpPr>
          <p:spPr bwMode="auto">
            <a:xfrm>
              <a:off x="3888" y="977"/>
              <a:ext cx="57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dirty="0">
                  <a:solidFill>
                    <a:srgbClr val="CF0D9E"/>
                  </a:solidFill>
                  <a:latin typeface="+mn-lt"/>
                  <a:ea typeface="楷体" pitchFamily="49" charset="-122"/>
                </a:rPr>
                <a:t>(main)</a:t>
              </a:r>
            </a:p>
          </p:txBody>
        </p:sp>
        <p:grpSp>
          <p:nvGrpSpPr>
            <p:cNvPr id="1198137" name="Group 57"/>
            <p:cNvGrpSpPr>
              <a:grpSpLocks/>
            </p:cNvGrpSpPr>
            <p:nvPr/>
          </p:nvGrpSpPr>
          <p:grpSpPr bwMode="auto">
            <a:xfrm>
              <a:off x="4783" y="1605"/>
              <a:ext cx="869" cy="250"/>
              <a:chOff x="4402" y="1437"/>
              <a:chExt cx="869" cy="250"/>
            </a:xfrm>
          </p:grpSpPr>
          <p:sp>
            <p:nvSpPr>
              <p:cNvPr id="1198138" name="Line 58"/>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39" name="Text Box 59"/>
              <p:cNvSpPr txBox="1">
                <a:spLocks noChangeArrowheads="1"/>
              </p:cNvSpPr>
              <p:nvPr/>
            </p:nvSpPr>
            <p:spPr bwMode="auto">
              <a:xfrm>
                <a:off x="4584" y="1437"/>
                <a:ext cx="68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p_1</a:t>
                </a:r>
              </a:p>
            </p:txBody>
          </p:sp>
        </p:grpSp>
        <p:grpSp>
          <p:nvGrpSpPr>
            <p:cNvPr id="1198140" name="Group 60"/>
            <p:cNvGrpSpPr>
              <a:grpSpLocks/>
            </p:cNvGrpSpPr>
            <p:nvPr/>
          </p:nvGrpSpPr>
          <p:grpSpPr bwMode="auto">
            <a:xfrm>
              <a:off x="4795" y="1869"/>
              <a:ext cx="869" cy="250"/>
              <a:chOff x="4402" y="1437"/>
              <a:chExt cx="869" cy="250"/>
            </a:xfrm>
          </p:grpSpPr>
          <p:sp>
            <p:nvSpPr>
              <p:cNvPr id="1198141" name="Line 61"/>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42" name="Text Box 62"/>
              <p:cNvSpPr txBox="1">
                <a:spLocks noChangeArrowheads="1"/>
              </p:cNvSpPr>
              <p:nvPr/>
            </p:nvSpPr>
            <p:spPr bwMode="auto">
              <a:xfrm>
                <a:off x="4584" y="1437"/>
                <a:ext cx="68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p_2</a:t>
                </a:r>
              </a:p>
            </p:txBody>
          </p:sp>
        </p:grpSp>
      </p:grpSp>
      <p:sp>
        <p:nvSpPr>
          <p:cNvPr id="1198143" name="Text Box 63"/>
          <p:cNvSpPr txBox="1">
            <a:spLocks noChangeArrowheads="1"/>
          </p:cNvSpPr>
          <p:nvPr/>
        </p:nvSpPr>
        <p:spPr bwMode="auto">
          <a:xfrm>
            <a:off x="3089274" y="3294210"/>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002060"/>
                </a:solidFill>
                <a:ea typeface="宋体" pitchFamily="2" charset="-122"/>
              </a:rPr>
              <a:t>2000</a:t>
            </a:r>
          </a:p>
        </p:txBody>
      </p:sp>
      <p:sp>
        <p:nvSpPr>
          <p:cNvPr id="1198144" name="Text Box 64"/>
          <p:cNvSpPr txBox="1">
            <a:spLocks noChangeArrowheads="1"/>
          </p:cNvSpPr>
          <p:nvPr/>
        </p:nvSpPr>
        <p:spPr bwMode="auto">
          <a:xfrm>
            <a:off x="3089274" y="3694260"/>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C00000"/>
                </a:solidFill>
                <a:ea typeface="宋体" pitchFamily="2" charset="-122"/>
              </a:rPr>
              <a:t>2002</a:t>
            </a:r>
          </a:p>
        </p:txBody>
      </p:sp>
      <p:grpSp>
        <p:nvGrpSpPr>
          <p:cNvPr id="1198145" name="Group 65"/>
          <p:cNvGrpSpPr>
            <a:grpSpLocks/>
          </p:cNvGrpSpPr>
          <p:nvPr/>
        </p:nvGrpSpPr>
        <p:grpSpPr bwMode="auto">
          <a:xfrm>
            <a:off x="3051174" y="4156224"/>
            <a:ext cx="2674938" cy="1374776"/>
            <a:chOff x="3899" y="2273"/>
            <a:chExt cx="1685" cy="866"/>
          </a:xfrm>
        </p:grpSpPr>
        <p:sp>
          <p:nvSpPr>
            <p:cNvPr id="1198146" name="Text Box 66"/>
            <p:cNvSpPr txBox="1">
              <a:spLocks noChangeArrowheads="1"/>
            </p:cNvSpPr>
            <p:nvPr/>
          </p:nvSpPr>
          <p:spPr bwMode="auto">
            <a:xfrm>
              <a:off x="3899" y="2273"/>
              <a:ext cx="574"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dirty="0">
                  <a:solidFill>
                    <a:schemeClr val="accent1">
                      <a:lumMod val="50000"/>
                    </a:schemeClr>
                  </a:solidFill>
                  <a:latin typeface="+mn-lt"/>
                  <a:ea typeface="楷体" pitchFamily="49" charset="-122"/>
                </a:rPr>
                <a:t>(swap)</a:t>
              </a:r>
            </a:p>
          </p:txBody>
        </p:sp>
        <p:grpSp>
          <p:nvGrpSpPr>
            <p:cNvPr id="1198147" name="Group 67"/>
            <p:cNvGrpSpPr>
              <a:grpSpLocks/>
            </p:cNvGrpSpPr>
            <p:nvPr/>
          </p:nvGrpSpPr>
          <p:grpSpPr bwMode="auto">
            <a:xfrm>
              <a:off x="4795" y="2397"/>
              <a:ext cx="789" cy="250"/>
              <a:chOff x="4402" y="1437"/>
              <a:chExt cx="789" cy="250"/>
            </a:xfrm>
          </p:grpSpPr>
          <p:sp>
            <p:nvSpPr>
              <p:cNvPr id="1198148" name="Line 68"/>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49" name="Text Box 69"/>
              <p:cNvSpPr txBox="1">
                <a:spLocks noChangeArrowheads="1"/>
              </p:cNvSpPr>
              <p:nvPr/>
            </p:nvSpPr>
            <p:spPr bwMode="auto">
              <a:xfrm>
                <a:off x="4584" y="1437"/>
                <a:ext cx="60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zh-CN"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p1</a:t>
                </a:r>
              </a:p>
            </p:txBody>
          </p:sp>
        </p:grpSp>
        <p:grpSp>
          <p:nvGrpSpPr>
            <p:cNvPr id="1198150" name="Group 70"/>
            <p:cNvGrpSpPr>
              <a:grpSpLocks/>
            </p:cNvGrpSpPr>
            <p:nvPr/>
          </p:nvGrpSpPr>
          <p:grpSpPr bwMode="auto">
            <a:xfrm>
              <a:off x="4795" y="2637"/>
              <a:ext cx="789" cy="250"/>
              <a:chOff x="4402" y="1437"/>
              <a:chExt cx="789" cy="250"/>
            </a:xfrm>
          </p:grpSpPr>
          <p:sp>
            <p:nvSpPr>
              <p:cNvPr id="1198151" name="Line 71"/>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52" name="Text Box 72"/>
              <p:cNvSpPr txBox="1">
                <a:spLocks noChangeArrowheads="1"/>
              </p:cNvSpPr>
              <p:nvPr/>
            </p:nvSpPr>
            <p:spPr bwMode="auto">
              <a:xfrm>
                <a:off x="4584" y="1437"/>
                <a:ext cx="60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p2</a:t>
                </a:r>
              </a:p>
            </p:txBody>
          </p:sp>
        </p:grpSp>
        <p:grpSp>
          <p:nvGrpSpPr>
            <p:cNvPr id="1198153" name="Group 73"/>
            <p:cNvGrpSpPr>
              <a:grpSpLocks/>
            </p:cNvGrpSpPr>
            <p:nvPr/>
          </p:nvGrpSpPr>
          <p:grpSpPr bwMode="auto">
            <a:xfrm>
              <a:off x="4795" y="2889"/>
              <a:ext cx="709" cy="250"/>
              <a:chOff x="4402" y="1437"/>
              <a:chExt cx="709" cy="250"/>
            </a:xfrm>
          </p:grpSpPr>
          <p:sp>
            <p:nvSpPr>
              <p:cNvPr id="1198154" name="Line 74"/>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55" name="Text Box 75"/>
              <p:cNvSpPr txBox="1">
                <a:spLocks noChangeArrowheads="1"/>
              </p:cNvSpPr>
              <p:nvPr/>
            </p:nvSpPr>
            <p:spPr bwMode="auto">
              <a:xfrm>
                <a:off x="4584" y="1437"/>
                <a:ext cx="52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整型</a:t>
                </a:r>
                <a:r>
                  <a:rPr lang="en-US" altLang="zh-CN" sz="2000">
                    <a:effectLst>
                      <a:outerShdw blurRad="38100" dist="38100" dir="2700000" algn="tl">
                        <a:srgbClr val="FFFFFF"/>
                      </a:outerShdw>
                    </a:effectLst>
                    <a:latin typeface="+mn-lt"/>
                    <a:ea typeface="楷体" pitchFamily="49" charset="-122"/>
                  </a:rPr>
                  <a:t>p</a:t>
                </a:r>
              </a:p>
            </p:txBody>
          </p:sp>
        </p:grpSp>
      </p:grpSp>
      <p:sp>
        <p:nvSpPr>
          <p:cNvPr id="1198156" name="Text Box 76"/>
          <p:cNvSpPr txBox="1">
            <a:spLocks noChangeArrowheads="1"/>
          </p:cNvSpPr>
          <p:nvPr/>
        </p:nvSpPr>
        <p:spPr bwMode="auto">
          <a:xfrm>
            <a:off x="3287688" y="2863998"/>
            <a:ext cx="336550" cy="457200"/>
          </a:xfrm>
          <a:prstGeom prst="rect">
            <a:avLst/>
          </a:prstGeom>
          <a:solidFill>
            <a:srgbClr val="DDFAED"/>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chemeClr val="accent2">
                    <a:lumMod val="50000"/>
                  </a:schemeClr>
                </a:solidFill>
                <a:ea typeface="宋体" pitchFamily="2" charset="-122"/>
              </a:rPr>
              <a:t>5</a:t>
            </a:r>
          </a:p>
        </p:txBody>
      </p:sp>
      <p:sp>
        <p:nvSpPr>
          <p:cNvPr id="1198157" name="Text Box 77"/>
          <p:cNvSpPr txBox="1">
            <a:spLocks noChangeArrowheads="1"/>
          </p:cNvSpPr>
          <p:nvPr/>
        </p:nvSpPr>
        <p:spPr bwMode="auto">
          <a:xfrm>
            <a:off x="3287688" y="2476648"/>
            <a:ext cx="336550" cy="457200"/>
          </a:xfrm>
          <a:prstGeom prst="rect">
            <a:avLst/>
          </a:prstGeom>
          <a:solidFill>
            <a:srgbClr val="DDFAED"/>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C00000"/>
                </a:solidFill>
                <a:ea typeface="宋体" pitchFamily="2" charset="-122"/>
              </a:rPr>
              <a:t>9</a:t>
            </a:r>
          </a:p>
        </p:txBody>
      </p:sp>
      <p:grpSp>
        <p:nvGrpSpPr>
          <p:cNvPr id="1198158" name="Group 78"/>
          <p:cNvGrpSpPr>
            <a:grpSpLocks/>
          </p:cNvGrpSpPr>
          <p:nvPr/>
        </p:nvGrpSpPr>
        <p:grpSpPr bwMode="auto">
          <a:xfrm>
            <a:off x="1774826" y="3833960"/>
            <a:ext cx="2093913" cy="1136650"/>
            <a:chOff x="2975" y="1542"/>
            <a:chExt cx="1319" cy="716"/>
          </a:xfrm>
        </p:grpSpPr>
        <p:sp>
          <p:nvSpPr>
            <p:cNvPr id="1198159" name="Text Box 79"/>
            <p:cNvSpPr txBox="1">
              <a:spLocks noChangeArrowheads="1"/>
            </p:cNvSpPr>
            <p:nvPr/>
          </p:nvSpPr>
          <p:spPr bwMode="auto">
            <a:xfrm>
              <a:off x="3794" y="1970"/>
              <a:ext cx="500"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002060"/>
                  </a:solidFill>
                  <a:ea typeface="宋体" pitchFamily="2" charset="-122"/>
                </a:rPr>
                <a:t>2000</a:t>
              </a:r>
            </a:p>
          </p:txBody>
        </p:sp>
        <p:sp>
          <p:nvSpPr>
            <p:cNvPr id="1198160" name="Freeform 80"/>
            <p:cNvSpPr>
              <a:spLocks/>
            </p:cNvSpPr>
            <p:nvPr/>
          </p:nvSpPr>
          <p:spPr bwMode="auto">
            <a:xfrm rot="315812">
              <a:off x="2975" y="1542"/>
              <a:ext cx="484" cy="292"/>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002060"/>
              </a:solidFill>
              <a:prstDash val="solid"/>
              <a:round/>
              <a:headEnd type="none" w="med" len="med"/>
              <a:tailEnd type="triangle" w="med" len="med"/>
            </a:ln>
            <a:effectLst/>
          </p:spPr>
          <p:txBody>
            <a:bodyPr wrap="square" lIns="90000" tIns="46800" rIns="90000" bIns="46800" anchor="ctr">
              <a:spAutoFit/>
            </a:bodyPr>
            <a:lstStyle/>
            <a:p>
              <a:endParaRPr lang="zh-CN" altLang="en-US" b="1" dirty="0">
                <a:solidFill>
                  <a:srgbClr val="002060"/>
                </a:solidFill>
              </a:endParaRPr>
            </a:p>
          </p:txBody>
        </p:sp>
      </p:grpSp>
      <p:grpSp>
        <p:nvGrpSpPr>
          <p:cNvPr id="1198161" name="Group 81"/>
          <p:cNvGrpSpPr>
            <a:grpSpLocks/>
          </p:cNvGrpSpPr>
          <p:nvPr/>
        </p:nvGrpSpPr>
        <p:grpSpPr bwMode="auto">
          <a:xfrm>
            <a:off x="1787526" y="4281639"/>
            <a:ext cx="2062163" cy="1089026"/>
            <a:chOff x="2983" y="1848"/>
            <a:chExt cx="1299" cy="686"/>
          </a:xfrm>
        </p:grpSpPr>
        <p:sp>
          <p:nvSpPr>
            <p:cNvPr id="1198162" name="Text Box 82"/>
            <p:cNvSpPr txBox="1">
              <a:spLocks noChangeArrowheads="1"/>
            </p:cNvSpPr>
            <p:nvPr/>
          </p:nvSpPr>
          <p:spPr bwMode="auto">
            <a:xfrm>
              <a:off x="3782" y="2246"/>
              <a:ext cx="500"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2002</a:t>
              </a:r>
            </a:p>
          </p:txBody>
        </p:sp>
        <p:sp>
          <p:nvSpPr>
            <p:cNvPr id="1198163" name="Freeform 83"/>
            <p:cNvSpPr>
              <a:spLocks/>
            </p:cNvSpPr>
            <p:nvPr/>
          </p:nvSpPr>
          <p:spPr bwMode="auto">
            <a:xfrm>
              <a:off x="2983" y="1848"/>
              <a:ext cx="486" cy="292"/>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rgbClr val="C00000"/>
              </a:solidFill>
              <a:prstDash val="solid"/>
              <a:round/>
              <a:headEnd type="none" w="lg" len="lg"/>
              <a:tailEnd type="triangle" w="med" len="med"/>
            </a:ln>
            <a:effectLst/>
          </p:spPr>
          <p:txBody>
            <a:bodyPr wrap="square" lIns="90000" tIns="46800" rIns="90000" bIns="46800" anchor="ctr">
              <a:spAutoFit/>
            </a:bodyPr>
            <a:lstStyle/>
            <a:p>
              <a:endParaRPr lang="zh-CN" altLang="en-US" b="1">
                <a:solidFill>
                  <a:srgbClr val="C00000"/>
                </a:solidFill>
              </a:endParaRPr>
            </a:p>
          </p:txBody>
        </p:sp>
      </p:grpSp>
      <p:sp>
        <p:nvSpPr>
          <p:cNvPr id="1198164" name="Text Box 84"/>
          <p:cNvSpPr txBox="1">
            <a:spLocks noChangeArrowheads="1"/>
          </p:cNvSpPr>
          <p:nvPr/>
        </p:nvSpPr>
        <p:spPr bwMode="auto">
          <a:xfrm>
            <a:off x="998585" y="4039705"/>
            <a:ext cx="909521" cy="402291"/>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b="1" dirty="0">
                <a:solidFill>
                  <a:srgbClr val="002060"/>
                </a:solidFill>
                <a:ea typeface="隶书" pitchFamily="49" charset="-122"/>
              </a:rPr>
              <a:t>COPY</a:t>
            </a:r>
          </a:p>
        </p:txBody>
      </p:sp>
      <p:sp>
        <p:nvSpPr>
          <p:cNvPr id="1198165" name="Text Box 85"/>
          <p:cNvSpPr txBox="1">
            <a:spLocks noChangeArrowheads="1"/>
          </p:cNvSpPr>
          <p:nvPr/>
        </p:nvSpPr>
        <p:spPr bwMode="auto">
          <a:xfrm>
            <a:off x="3317874" y="5294460"/>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002060"/>
                </a:solidFill>
                <a:ea typeface="宋体" pitchFamily="2" charset="-122"/>
              </a:rPr>
              <a:t>5</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98082"/>
                                        </p:tgtEl>
                                        <p:attrNameLst>
                                          <p:attrName>style.visibility</p:attrName>
                                        </p:attrNameLst>
                                      </p:cBhvr>
                                      <p:to>
                                        <p:strVal val="visible"/>
                                      </p:to>
                                    </p:set>
                                    <p:animEffect transition="in" filter="box(out)">
                                      <p:cBhvr>
                                        <p:cTn id="7" dur="500"/>
                                        <p:tgtEl>
                                          <p:spTgt spid="119808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198083"/>
                                        </p:tgtEl>
                                        <p:attrNameLst>
                                          <p:attrName>style.visibility</p:attrName>
                                        </p:attrNameLst>
                                      </p:cBhvr>
                                      <p:to>
                                        <p:strVal val="visible"/>
                                      </p:to>
                                    </p:set>
                                    <p:animEffect transition="in" filter="box(out)">
                                      <p:cBhvr>
                                        <p:cTn id="12" dur="500"/>
                                        <p:tgtEl>
                                          <p:spTgt spid="119808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198129"/>
                                        </p:tgtEl>
                                        <p:attrNameLst>
                                          <p:attrName>style.visibility</p:attrName>
                                        </p:attrNameLst>
                                      </p:cBhvr>
                                      <p:to>
                                        <p:strVal val="visible"/>
                                      </p:to>
                                    </p:set>
                                    <p:animEffect transition="in" filter="box(out)">
                                      <p:cBhvr>
                                        <p:cTn id="17" dur="500"/>
                                        <p:tgtEl>
                                          <p:spTgt spid="1198129"/>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98127">
                                            <p:txEl>
                                              <p:pRg st="0" end="0"/>
                                            </p:txEl>
                                          </p:spTgt>
                                        </p:tgtEl>
                                        <p:attrNameLst>
                                          <p:attrName>style.visibility</p:attrName>
                                        </p:attrNameLst>
                                      </p:cBhvr>
                                      <p:to>
                                        <p:strVal val="visible"/>
                                      </p:to>
                                    </p:set>
                                    <p:animEffect transition="in" filter="box(out)">
                                      <p:cBhvr>
                                        <p:cTn id="22" dur="500"/>
                                        <p:tgtEl>
                                          <p:spTgt spid="1198127">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98128">
                                            <p:txEl>
                                              <p:pRg st="0" end="0"/>
                                            </p:txEl>
                                          </p:spTgt>
                                        </p:tgtEl>
                                        <p:attrNameLst>
                                          <p:attrName>style.visibility</p:attrName>
                                        </p:attrNameLst>
                                      </p:cBhvr>
                                      <p:to>
                                        <p:strVal val="visible"/>
                                      </p:to>
                                    </p:set>
                                    <p:animEffect transition="in" filter="box(out)">
                                      <p:cBhvr>
                                        <p:cTn id="27" dur="500"/>
                                        <p:tgtEl>
                                          <p:spTgt spid="1198128">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98143">
                                            <p:txEl>
                                              <p:pRg st="0" end="0"/>
                                            </p:txEl>
                                          </p:spTgt>
                                        </p:tgtEl>
                                        <p:attrNameLst>
                                          <p:attrName>style.visibility</p:attrName>
                                        </p:attrNameLst>
                                      </p:cBhvr>
                                      <p:to>
                                        <p:strVal val="visible"/>
                                      </p:to>
                                    </p:set>
                                    <p:animEffect transition="in" filter="box(out)">
                                      <p:cBhvr>
                                        <p:cTn id="32" dur="500"/>
                                        <p:tgtEl>
                                          <p:spTgt spid="1198143">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198144">
                                            <p:txEl>
                                              <p:pRg st="0" end="0"/>
                                            </p:txEl>
                                          </p:spTgt>
                                        </p:tgtEl>
                                        <p:attrNameLst>
                                          <p:attrName>style.visibility</p:attrName>
                                        </p:attrNameLst>
                                      </p:cBhvr>
                                      <p:to>
                                        <p:strVal val="visible"/>
                                      </p:to>
                                    </p:set>
                                    <p:animEffect transition="in" filter="box(out)">
                                      <p:cBhvr>
                                        <p:cTn id="37" dur="500"/>
                                        <p:tgtEl>
                                          <p:spTgt spid="1198144">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198145"/>
                                        </p:tgtEl>
                                        <p:attrNameLst>
                                          <p:attrName>style.visibility</p:attrName>
                                        </p:attrNameLst>
                                      </p:cBhvr>
                                      <p:to>
                                        <p:strVal val="visible"/>
                                      </p:to>
                                    </p:set>
                                    <p:animEffect transition="in" filter="box(out)">
                                      <p:cBhvr>
                                        <p:cTn id="42" dur="500"/>
                                        <p:tgtEl>
                                          <p:spTgt spid="1198145"/>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198158"/>
                                        </p:tgtEl>
                                        <p:attrNameLst>
                                          <p:attrName>style.visibility</p:attrName>
                                        </p:attrNameLst>
                                      </p:cBhvr>
                                      <p:to>
                                        <p:strVal val="visible"/>
                                      </p:to>
                                    </p:set>
                                    <p:animEffect transition="in" filter="box(out)">
                                      <p:cBhvr>
                                        <p:cTn id="47" dur="500"/>
                                        <p:tgtEl>
                                          <p:spTgt spid="1198158"/>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500"/>
                            </p:stCondLst>
                            <p:childTnLst>
                              <p:par>
                                <p:cTn id="49" presetID="4" presetClass="entr" presetSubtype="32" fill="hold" nodeType="afterEffect">
                                  <p:stCondLst>
                                    <p:cond delay="0"/>
                                  </p:stCondLst>
                                  <p:childTnLst>
                                    <p:set>
                                      <p:cBhvr>
                                        <p:cTn id="50" dur="1" fill="hold">
                                          <p:stCondLst>
                                            <p:cond delay="0"/>
                                          </p:stCondLst>
                                        </p:cTn>
                                        <p:tgtEl>
                                          <p:spTgt spid="1198161"/>
                                        </p:tgtEl>
                                        <p:attrNameLst>
                                          <p:attrName>style.visibility</p:attrName>
                                        </p:attrNameLst>
                                      </p:cBhvr>
                                      <p:to>
                                        <p:strVal val="visible"/>
                                      </p:to>
                                    </p:set>
                                    <p:animEffect transition="in" filter="box(out)">
                                      <p:cBhvr>
                                        <p:cTn id="51" dur="500"/>
                                        <p:tgtEl>
                                          <p:spTgt spid="1198161"/>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par>
                          <p:cTn id="52" fill="hold">
                            <p:stCondLst>
                              <p:cond delay="1000"/>
                            </p:stCondLst>
                            <p:childTnLst>
                              <p:par>
                                <p:cTn id="53" presetID="4" presetClass="entr" presetSubtype="32" fill="hold" grpId="0" nodeType="afterEffect">
                                  <p:stCondLst>
                                    <p:cond delay="0"/>
                                  </p:stCondLst>
                                  <p:childTnLst>
                                    <p:set>
                                      <p:cBhvr>
                                        <p:cTn id="54" dur="1" fill="hold">
                                          <p:stCondLst>
                                            <p:cond delay="0"/>
                                          </p:stCondLst>
                                        </p:cTn>
                                        <p:tgtEl>
                                          <p:spTgt spid="1198164">
                                            <p:txEl>
                                              <p:pRg st="0" end="0"/>
                                            </p:txEl>
                                          </p:spTgt>
                                        </p:tgtEl>
                                        <p:attrNameLst>
                                          <p:attrName>style.visibility</p:attrName>
                                        </p:attrNameLst>
                                      </p:cBhvr>
                                      <p:to>
                                        <p:strVal val="visible"/>
                                      </p:to>
                                    </p:set>
                                    <p:animEffect transition="in" filter="box(out)">
                                      <p:cBhvr>
                                        <p:cTn id="55" dur="500"/>
                                        <p:tgtEl>
                                          <p:spTgt spid="1198164">
                                            <p:txEl>
                                              <p:pRg st="0" end="0"/>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198165">
                                            <p:txEl>
                                              <p:pRg st="0" end="0"/>
                                            </p:txEl>
                                          </p:spTgt>
                                        </p:tgtEl>
                                        <p:attrNameLst>
                                          <p:attrName>style.visibility</p:attrName>
                                        </p:attrNameLst>
                                      </p:cBhvr>
                                      <p:to>
                                        <p:strVal val="visible"/>
                                      </p:to>
                                    </p:set>
                                    <p:animEffect transition="in" filter="box(out)">
                                      <p:cBhvr>
                                        <p:cTn id="60" dur="500"/>
                                        <p:tgtEl>
                                          <p:spTgt spid="1198165">
                                            <p:txEl>
                                              <p:pRg st="0" end="0"/>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198157"/>
                                        </p:tgtEl>
                                        <p:attrNameLst>
                                          <p:attrName>style.visibility</p:attrName>
                                        </p:attrNameLst>
                                      </p:cBhvr>
                                      <p:to>
                                        <p:strVal val="visible"/>
                                      </p:to>
                                    </p:set>
                                    <p:animEffect transition="in" filter="box(out)">
                                      <p:cBhvr>
                                        <p:cTn id="65" dur="500"/>
                                        <p:tgtEl>
                                          <p:spTgt spid="1198157"/>
                                        </p:tgtEl>
                                      </p:cBhvr>
                                    </p:animEffect>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198156"/>
                                        </p:tgtEl>
                                        <p:attrNameLst>
                                          <p:attrName>style.visibility</p:attrName>
                                        </p:attrNameLst>
                                      </p:cBhvr>
                                      <p:to>
                                        <p:strVal val="visible"/>
                                      </p:to>
                                    </p:set>
                                    <p:animEffect transition="in" filter="box(out)">
                                      <p:cBhvr>
                                        <p:cTn id="70" dur="500"/>
                                        <p:tgtEl>
                                          <p:spTgt spid="1198156"/>
                                        </p:tgtEl>
                                      </p:cBhvr>
                                    </p:animEffect>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082" grpId="0" animBg="1" autoUpdateAnimBg="0"/>
      <p:bldP spid="1198127" grpId="0" build="p" autoUpdateAnimBg="0"/>
      <p:bldP spid="1198128" grpId="0" build="p" autoUpdateAnimBg="0"/>
      <p:bldP spid="1198143" grpId="0" build="p" autoUpdateAnimBg="0"/>
      <p:bldP spid="1198144" grpId="0" build="p" autoUpdateAnimBg="0"/>
      <p:bldP spid="1198156" grpId="0" animBg="1" autoUpdateAnimBg="0"/>
      <p:bldP spid="1198157" grpId="0" animBg="1" autoUpdateAnimBg="0"/>
      <p:bldP spid="1198164" grpId="0" build="p" autoUpdateAnimBg="0" advAuto="0"/>
      <p:bldP spid="1198165"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4">
            <a:extLst>
              <a:ext uri="{FF2B5EF4-FFF2-40B4-BE49-F238E27FC236}">
                <a16:creationId xmlns:a16="http://schemas.microsoft.com/office/drawing/2014/main" id="{9A09F480-E5E1-4809-9C83-860D7DFC1F7F}"/>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
        <p:nvSpPr>
          <p:cNvPr id="1199193" name="Text Box 89"/>
          <p:cNvSpPr txBox="1">
            <a:spLocks noChangeArrowheads="1"/>
          </p:cNvSpPr>
          <p:nvPr/>
        </p:nvSpPr>
        <p:spPr bwMode="auto">
          <a:xfrm>
            <a:off x="502743" y="783433"/>
            <a:ext cx="3554412" cy="457200"/>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a:t>
            </a:r>
            <a:r>
              <a:rPr lang="zh-CN" altLang="en-US" dirty="0"/>
              <a:t>将数从大到小输出</a:t>
            </a:r>
          </a:p>
        </p:txBody>
      </p:sp>
      <p:sp>
        <p:nvSpPr>
          <p:cNvPr id="1199106" name="Rectangle 2" descr="信纸"/>
          <p:cNvSpPr>
            <a:spLocks noChangeArrowheads="1"/>
          </p:cNvSpPr>
          <p:nvPr/>
        </p:nvSpPr>
        <p:spPr bwMode="auto">
          <a:xfrm>
            <a:off x="6089669" y="362350"/>
            <a:ext cx="5046644" cy="6001643"/>
          </a:xfrm>
          <a:prstGeom prst="rect">
            <a:avLst/>
          </a:prstGeom>
          <a:gradFill>
            <a:gsLst>
              <a:gs pos="0">
                <a:srgbClr val="CFCFD1"/>
              </a:gs>
              <a:gs pos="100000">
                <a:schemeClr val="bg1"/>
              </a:gs>
            </a:gsLst>
            <a:lin ang="5400000" scaled="1"/>
          </a:gra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chemeClr val="accent1">
                    <a:lumMod val="50000"/>
                  </a:schemeClr>
                </a:solidFill>
                <a:ea typeface="宋体" pitchFamily="2" charset="-122"/>
              </a:rPr>
              <a:t>void swap(</a:t>
            </a:r>
            <a:r>
              <a:rPr lang="en-US" altLang="zh-CN" dirty="0" err="1">
                <a:solidFill>
                  <a:schemeClr val="accent1">
                    <a:lumMod val="50000"/>
                  </a:schemeClr>
                </a:solidFill>
                <a:ea typeface="宋体" pitchFamily="2" charset="-122"/>
              </a:rPr>
              <a:t>int</a:t>
            </a:r>
            <a:r>
              <a:rPr lang="en-US" altLang="zh-CN" dirty="0">
                <a:solidFill>
                  <a:schemeClr val="accent1">
                    <a:lumMod val="50000"/>
                  </a:schemeClr>
                </a:solidFill>
                <a:ea typeface="宋体" pitchFamily="2" charset="-122"/>
              </a:rPr>
              <a:t>  *p1, </a:t>
            </a:r>
            <a:r>
              <a:rPr lang="en-US" altLang="zh-CN" dirty="0" err="1">
                <a:solidFill>
                  <a:schemeClr val="accent1">
                    <a:lumMod val="50000"/>
                  </a:schemeClr>
                </a:solidFill>
                <a:ea typeface="宋体" pitchFamily="2" charset="-122"/>
              </a:rPr>
              <a:t>int</a:t>
            </a:r>
            <a:r>
              <a:rPr lang="en-US" altLang="zh-CN" dirty="0">
                <a:solidFill>
                  <a:schemeClr val="accent1">
                    <a:lumMod val="50000"/>
                  </a:schemeClr>
                </a:solidFill>
                <a:ea typeface="宋体" pitchFamily="2" charset="-122"/>
              </a:rPr>
              <a:t>  *p2)</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p;</a:t>
            </a:r>
          </a:p>
          <a:p>
            <a:pPr eaLnBrk="0" hangingPunct="0">
              <a:lnSpc>
                <a:spcPct val="100000"/>
              </a:lnSpc>
              <a:spcBef>
                <a:spcPct val="0"/>
              </a:spcBef>
            </a:pPr>
            <a:r>
              <a:rPr lang="en-US" altLang="zh-CN" dirty="0">
                <a:ea typeface="宋体" pitchFamily="2" charset="-122"/>
              </a:rPr>
              <a:t>   p = *p1;</a:t>
            </a:r>
          </a:p>
          <a:p>
            <a:pPr eaLnBrk="0" hangingPunct="0">
              <a:lnSpc>
                <a:spcPct val="100000"/>
              </a:lnSpc>
              <a:spcBef>
                <a:spcPct val="0"/>
              </a:spcBef>
            </a:pPr>
            <a:r>
              <a:rPr lang="en-US" altLang="zh-CN" dirty="0">
                <a:ea typeface="宋体" pitchFamily="2" charset="-122"/>
              </a:rPr>
              <a:t>   *p1 = *p2;</a:t>
            </a:r>
          </a:p>
          <a:p>
            <a:pPr eaLnBrk="0" hangingPunct="0">
              <a:lnSpc>
                <a:spcPct val="100000"/>
              </a:lnSpc>
              <a:spcBef>
                <a:spcPct val="0"/>
              </a:spcBef>
            </a:pPr>
            <a:r>
              <a:rPr lang="en-US" altLang="zh-CN" dirty="0">
                <a:ea typeface="宋体" pitchFamily="2" charset="-122"/>
              </a:rPr>
              <a:t>   *p2 = p;</a:t>
            </a:r>
          </a:p>
          <a:p>
            <a:pPr eaLnBrk="0" hangingPunct="0">
              <a:lnSpc>
                <a:spcPct val="100000"/>
              </a:lnSpc>
              <a:spcBef>
                <a:spcPct val="0"/>
              </a:spcBef>
            </a:pPr>
            <a:r>
              <a:rPr lang="en-US" altLang="zh-CN" dirty="0">
                <a:ea typeface="宋体" pitchFamily="2" charset="-122"/>
              </a:rPr>
              <a:t>}</a:t>
            </a:r>
          </a:p>
          <a:p>
            <a:pPr eaLnBrk="0" hangingPunct="0">
              <a:lnSpc>
                <a:spcPct val="100000"/>
              </a:lnSpc>
              <a:spcBef>
                <a:spcPct val="0"/>
              </a:spcBef>
            </a:pPr>
            <a:r>
              <a:rPr lang="en-US" altLang="zh-CN" dirty="0">
                <a:solidFill>
                  <a:srgbClr val="CC0099"/>
                </a:solidFill>
                <a:ea typeface="宋体" pitchFamily="2" charset="-122"/>
              </a:rPr>
              <a:t>void main (  )</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a, b, *p_1, *p_2;</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scanf</a:t>
            </a:r>
            <a:r>
              <a:rPr lang="en-US" altLang="zh-CN" dirty="0">
                <a:ea typeface="宋体" pitchFamily="2" charset="-122"/>
              </a:rPr>
              <a:t> ("%</a:t>
            </a:r>
            <a:r>
              <a:rPr lang="en-US" altLang="zh-CN" dirty="0" err="1">
                <a:ea typeface="宋体" pitchFamily="2" charset="-122"/>
              </a:rPr>
              <a:t>d,%d</a:t>
            </a:r>
            <a:r>
              <a:rPr lang="en-US" altLang="zh-CN" dirty="0">
                <a:ea typeface="宋体" pitchFamily="2" charset="-122"/>
              </a:rPr>
              <a:t>", &amp;a, &amp;b);</a:t>
            </a:r>
          </a:p>
          <a:p>
            <a:pPr eaLnBrk="0" hangingPunct="0">
              <a:lnSpc>
                <a:spcPct val="100000"/>
              </a:lnSpc>
              <a:spcBef>
                <a:spcPct val="0"/>
              </a:spcBef>
            </a:pPr>
            <a:r>
              <a:rPr lang="en-US" altLang="zh-CN" dirty="0">
                <a:solidFill>
                  <a:srgbClr val="002060"/>
                </a:solidFill>
                <a:ea typeface="宋体" pitchFamily="2" charset="-122"/>
              </a:rPr>
              <a:t>    p_1 = &amp;a;  p_2 = &amp;b;</a:t>
            </a:r>
          </a:p>
          <a:p>
            <a:pPr eaLnBrk="0" hangingPunct="0">
              <a:lnSpc>
                <a:spcPct val="100000"/>
              </a:lnSpc>
              <a:spcBef>
                <a:spcPct val="0"/>
              </a:spcBef>
            </a:pPr>
            <a:r>
              <a:rPr lang="en-US" altLang="zh-CN" dirty="0">
                <a:ea typeface="宋体" pitchFamily="2" charset="-122"/>
              </a:rPr>
              <a:t>    if (a &lt; b)  </a:t>
            </a:r>
            <a:r>
              <a:rPr lang="en-US" altLang="zh-CN" dirty="0">
                <a:solidFill>
                  <a:srgbClr val="002060"/>
                </a:solidFill>
                <a:ea typeface="宋体" pitchFamily="2" charset="-122"/>
              </a:rPr>
              <a:t>swap (p_1, p_2);</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a:t>
            </a:r>
            <a:r>
              <a:rPr lang="en-US" altLang="zh-CN" dirty="0" err="1">
                <a:ea typeface="宋体" pitchFamily="2" charset="-122"/>
              </a:rPr>
              <a:t>n%d,%d</a:t>
            </a:r>
            <a:r>
              <a:rPr lang="en-US" altLang="zh-CN" dirty="0">
                <a:ea typeface="宋体" pitchFamily="2" charset="-122"/>
              </a:rPr>
              <a:t>\n", a, b);</a:t>
            </a:r>
          </a:p>
          <a:p>
            <a:pPr eaLnBrk="0" hangingPunct="0">
              <a:lnSpc>
                <a:spcPct val="100000"/>
              </a:lnSpc>
              <a:spcBef>
                <a:spcPct val="0"/>
              </a:spcBef>
            </a:pPr>
            <a:r>
              <a:rPr lang="en-US" altLang="zh-CN" dirty="0">
                <a:ea typeface="宋体" pitchFamily="2" charset="-122"/>
              </a:rPr>
              <a:t>    return 0;</a:t>
            </a:r>
          </a:p>
          <a:p>
            <a:pPr eaLnBrk="0" hangingPunct="0">
              <a:lnSpc>
                <a:spcPct val="100000"/>
              </a:lnSpc>
              <a:spcBef>
                <a:spcPct val="0"/>
              </a:spcBef>
            </a:pPr>
            <a:r>
              <a:rPr lang="en-US" altLang="zh-CN" dirty="0">
                <a:ea typeface="宋体" pitchFamily="2" charset="-122"/>
              </a:rPr>
              <a:t>}</a:t>
            </a:r>
          </a:p>
        </p:txBody>
      </p:sp>
      <p:grpSp>
        <p:nvGrpSpPr>
          <p:cNvPr id="1199107" name="Group 3"/>
          <p:cNvGrpSpPr>
            <a:grpSpLocks/>
          </p:cNvGrpSpPr>
          <p:nvPr/>
        </p:nvGrpSpPr>
        <p:grpSpPr bwMode="auto">
          <a:xfrm>
            <a:off x="1276550" y="1724946"/>
            <a:ext cx="2636837" cy="4625975"/>
            <a:chOff x="2879" y="554"/>
            <a:chExt cx="1661" cy="2914"/>
          </a:xfrm>
        </p:grpSpPr>
        <p:grpSp>
          <p:nvGrpSpPr>
            <p:cNvPr id="1199108" name="Group 4"/>
            <p:cNvGrpSpPr>
              <a:grpSpLocks/>
            </p:cNvGrpSpPr>
            <p:nvPr/>
          </p:nvGrpSpPr>
          <p:grpSpPr bwMode="auto">
            <a:xfrm>
              <a:off x="2879" y="554"/>
              <a:ext cx="1661" cy="2914"/>
              <a:chOff x="3144" y="806"/>
              <a:chExt cx="1661" cy="2914"/>
            </a:xfrm>
          </p:grpSpPr>
          <p:sp>
            <p:nvSpPr>
              <p:cNvPr id="1199109" name="Freeform 5"/>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99111" name="Rectangle 7"/>
              <p:cNvSpPr>
                <a:spLocks noChangeArrowheads="1"/>
              </p:cNvSpPr>
              <p:nvPr/>
            </p:nvSpPr>
            <p:spPr bwMode="auto">
              <a:xfrm>
                <a:off x="3582" y="806"/>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99112" name="Line 8"/>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9113" name="Line 9"/>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199114" name="Line 10"/>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9115" name="Line 11"/>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9116" name="Line 12"/>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9117" name="Line 13"/>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9118" name="Line 14"/>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99119" name="Line 15"/>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199120" name="Text Box 16"/>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99121" name="Line 17"/>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9122" name="Text Box 18"/>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199123" name="Text Box 19"/>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199124" name="Text Box 20"/>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199125" name="Text Box 21"/>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199126" name="Text Box 22"/>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199127" name="Text Box 23"/>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199128" name="Group 24"/>
              <p:cNvGrpSpPr>
                <a:grpSpLocks/>
              </p:cNvGrpSpPr>
              <p:nvPr/>
            </p:nvGrpSpPr>
            <p:grpSpPr bwMode="auto">
              <a:xfrm>
                <a:off x="3597" y="1380"/>
                <a:ext cx="60" cy="1548"/>
                <a:chOff x="3960" y="1560"/>
                <a:chExt cx="60" cy="1548"/>
              </a:xfrm>
            </p:grpSpPr>
            <p:sp>
              <p:nvSpPr>
                <p:cNvPr id="1199129" name="Line 25"/>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0" name="Line 26"/>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1" name="Line 27"/>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2" name="Line 28"/>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3" name="Line 29"/>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4" name="Line 30"/>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5" name="Line 31"/>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99136" name="Group 32"/>
              <p:cNvGrpSpPr>
                <a:grpSpLocks/>
              </p:cNvGrpSpPr>
              <p:nvPr/>
            </p:nvGrpSpPr>
            <p:grpSpPr bwMode="auto">
              <a:xfrm>
                <a:off x="4725" y="1368"/>
                <a:ext cx="60" cy="1548"/>
                <a:chOff x="3960" y="1560"/>
                <a:chExt cx="60" cy="1548"/>
              </a:xfrm>
            </p:grpSpPr>
            <p:sp>
              <p:nvSpPr>
                <p:cNvPr id="1199137" name="Line 33"/>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8" name="Line 34"/>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9" name="Line 35"/>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40" name="Line 36"/>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41" name="Line 37"/>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42" name="Line 38"/>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43" name="Line 39"/>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199144" name="Line 40"/>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45" name="Line 41"/>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99146" name="Line 42"/>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47" name="Text Box 43"/>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199148" name="Text Box 44"/>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199149" name="Text Box 45"/>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199110" name="Freeform 6"/>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dirty="0"/>
              </a:p>
            </p:txBody>
          </p:sp>
        </p:grpSp>
        <p:sp>
          <p:nvSpPr>
            <p:cNvPr id="1199150" name="Text Box 46"/>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sp>
        <p:nvSpPr>
          <p:cNvPr id="1199151" name="Text Box 47"/>
          <p:cNvSpPr txBox="1">
            <a:spLocks noChangeArrowheads="1"/>
          </p:cNvSpPr>
          <p:nvPr/>
        </p:nvSpPr>
        <p:spPr bwMode="auto">
          <a:xfrm>
            <a:off x="2760861" y="2391695"/>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chemeClr val="accent2">
                    <a:lumMod val="50000"/>
                  </a:schemeClr>
                </a:solidFill>
                <a:ea typeface="宋体" pitchFamily="2" charset="-122"/>
              </a:rPr>
              <a:t>5</a:t>
            </a:r>
          </a:p>
        </p:txBody>
      </p:sp>
      <p:sp>
        <p:nvSpPr>
          <p:cNvPr id="1199152" name="Text Box 48"/>
          <p:cNvSpPr txBox="1">
            <a:spLocks noChangeArrowheads="1"/>
          </p:cNvSpPr>
          <p:nvPr/>
        </p:nvSpPr>
        <p:spPr bwMode="auto">
          <a:xfrm>
            <a:off x="2751336" y="2767933"/>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9</a:t>
            </a:r>
          </a:p>
        </p:txBody>
      </p:sp>
      <p:grpSp>
        <p:nvGrpSpPr>
          <p:cNvPr id="1199153" name="Group 49"/>
          <p:cNvGrpSpPr>
            <a:grpSpLocks/>
          </p:cNvGrpSpPr>
          <p:nvPr/>
        </p:nvGrpSpPr>
        <p:grpSpPr bwMode="auto">
          <a:xfrm>
            <a:off x="2456063" y="1969421"/>
            <a:ext cx="3063875" cy="1812924"/>
            <a:chOff x="3887" y="977"/>
            <a:chExt cx="1930" cy="1142"/>
          </a:xfrm>
        </p:grpSpPr>
        <p:grpSp>
          <p:nvGrpSpPr>
            <p:cNvPr id="1199154" name="Group 50"/>
            <p:cNvGrpSpPr>
              <a:grpSpLocks/>
            </p:cNvGrpSpPr>
            <p:nvPr/>
          </p:nvGrpSpPr>
          <p:grpSpPr bwMode="auto">
            <a:xfrm>
              <a:off x="4783" y="1125"/>
              <a:ext cx="1030" cy="252"/>
              <a:chOff x="4402" y="1437"/>
              <a:chExt cx="1030" cy="252"/>
            </a:xfrm>
          </p:grpSpPr>
          <p:sp>
            <p:nvSpPr>
              <p:cNvPr id="1199155" name="Line 51"/>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199156" name="Text Box 52"/>
              <p:cNvSpPr txBox="1">
                <a:spLocks noChangeArrowheads="1"/>
              </p:cNvSpPr>
              <p:nvPr/>
            </p:nvSpPr>
            <p:spPr bwMode="auto">
              <a:xfrm>
                <a:off x="4584" y="1437"/>
                <a:ext cx="848"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整型变量</a:t>
                </a:r>
                <a:r>
                  <a:rPr lang="en-US" altLang="zh-CN" sz="2000" dirty="0">
                    <a:effectLst>
                      <a:outerShdw blurRad="38100" dist="38100" dir="2700000" algn="tl">
                        <a:srgbClr val="FFFFFF"/>
                      </a:outerShdw>
                    </a:effectLst>
                    <a:latin typeface="+mn-lt"/>
                    <a:ea typeface="楷体" pitchFamily="49" charset="-122"/>
                  </a:rPr>
                  <a:t>a</a:t>
                </a:r>
              </a:p>
            </p:txBody>
          </p:sp>
        </p:grpSp>
        <p:grpSp>
          <p:nvGrpSpPr>
            <p:cNvPr id="1199157" name="Group 53"/>
            <p:cNvGrpSpPr>
              <a:grpSpLocks/>
            </p:cNvGrpSpPr>
            <p:nvPr/>
          </p:nvGrpSpPr>
          <p:grpSpPr bwMode="auto">
            <a:xfrm>
              <a:off x="4783" y="1365"/>
              <a:ext cx="1034" cy="252"/>
              <a:chOff x="4426" y="1917"/>
              <a:chExt cx="1034" cy="252"/>
            </a:xfrm>
          </p:grpSpPr>
          <p:sp>
            <p:nvSpPr>
              <p:cNvPr id="1199158" name="Line 54"/>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199159" name="Text Box 55"/>
              <p:cNvSpPr txBox="1">
                <a:spLocks noChangeArrowheads="1"/>
              </p:cNvSpPr>
              <p:nvPr/>
            </p:nvSpPr>
            <p:spPr bwMode="auto">
              <a:xfrm>
                <a:off x="4523" y="1917"/>
                <a:ext cx="937"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整型变量</a:t>
                </a:r>
                <a:r>
                  <a:rPr lang="en-US" altLang="zh-CN" sz="2000">
                    <a:effectLst>
                      <a:outerShdw blurRad="38100" dist="38100" dir="2700000" algn="tl">
                        <a:srgbClr val="FFFFFF"/>
                      </a:outerShdw>
                    </a:effectLst>
                    <a:latin typeface="+mn-lt"/>
                    <a:ea typeface="楷体" pitchFamily="49" charset="-122"/>
                  </a:rPr>
                  <a:t>b</a:t>
                </a:r>
              </a:p>
            </p:txBody>
          </p:sp>
        </p:grpSp>
        <p:sp>
          <p:nvSpPr>
            <p:cNvPr id="1199160" name="Text Box 56"/>
            <p:cNvSpPr txBox="1">
              <a:spLocks noChangeArrowheads="1"/>
            </p:cNvSpPr>
            <p:nvPr/>
          </p:nvSpPr>
          <p:spPr bwMode="auto">
            <a:xfrm>
              <a:off x="3887" y="977"/>
              <a:ext cx="57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dirty="0">
                  <a:solidFill>
                    <a:srgbClr val="CF0D9E"/>
                  </a:solidFill>
                </a:rPr>
                <a:t>(main)</a:t>
              </a:r>
            </a:p>
          </p:txBody>
        </p:sp>
        <p:grpSp>
          <p:nvGrpSpPr>
            <p:cNvPr id="1199161" name="Group 57"/>
            <p:cNvGrpSpPr>
              <a:grpSpLocks/>
            </p:cNvGrpSpPr>
            <p:nvPr/>
          </p:nvGrpSpPr>
          <p:grpSpPr bwMode="auto">
            <a:xfrm>
              <a:off x="4783" y="1605"/>
              <a:ext cx="869" cy="250"/>
              <a:chOff x="4402" y="1437"/>
              <a:chExt cx="869" cy="250"/>
            </a:xfrm>
          </p:grpSpPr>
          <p:sp>
            <p:nvSpPr>
              <p:cNvPr id="1199162" name="Line 58"/>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199163" name="Text Box 59"/>
              <p:cNvSpPr txBox="1">
                <a:spLocks noChangeArrowheads="1"/>
              </p:cNvSpPr>
              <p:nvPr/>
            </p:nvSpPr>
            <p:spPr bwMode="auto">
              <a:xfrm>
                <a:off x="4584" y="1437"/>
                <a:ext cx="68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p_1</a:t>
                </a:r>
              </a:p>
            </p:txBody>
          </p:sp>
        </p:grpSp>
        <p:grpSp>
          <p:nvGrpSpPr>
            <p:cNvPr id="1199164" name="Group 60"/>
            <p:cNvGrpSpPr>
              <a:grpSpLocks/>
            </p:cNvGrpSpPr>
            <p:nvPr/>
          </p:nvGrpSpPr>
          <p:grpSpPr bwMode="auto">
            <a:xfrm>
              <a:off x="4795" y="1869"/>
              <a:ext cx="869" cy="250"/>
              <a:chOff x="4402" y="1437"/>
              <a:chExt cx="869" cy="250"/>
            </a:xfrm>
          </p:grpSpPr>
          <p:sp>
            <p:nvSpPr>
              <p:cNvPr id="1199165" name="Line 61"/>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199166" name="Text Box 62"/>
              <p:cNvSpPr txBox="1">
                <a:spLocks noChangeArrowheads="1"/>
              </p:cNvSpPr>
              <p:nvPr/>
            </p:nvSpPr>
            <p:spPr bwMode="auto">
              <a:xfrm>
                <a:off x="4584" y="1437"/>
                <a:ext cx="68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p_2</a:t>
                </a:r>
              </a:p>
            </p:txBody>
          </p:sp>
        </p:grpSp>
      </p:grpSp>
      <p:sp>
        <p:nvSpPr>
          <p:cNvPr id="1199167" name="Text Box 63"/>
          <p:cNvSpPr txBox="1">
            <a:spLocks noChangeArrowheads="1"/>
          </p:cNvSpPr>
          <p:nvPr/>
        </p:nvSpPr>
        <p:spPr bwMode="auto">
          <a:xfrm>
            <a:off x="2513211" y="3191795"/>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chemeClr val="accent2">
                    <a:lumMod val="50000"/>
                  </a:schemeClr>
                </a:solidFill>
                <a:ea typeface="宋体" pitchFamily="2" charset="-122"/>
              </a:rPr>
              <a:t>2000</a:t>
            </a:r>
          </a:p>
        </p:txBody>
      </p:sp>
      <p:sp>
        <p:nvSpPr>
          <p:cNvPr id="1199168" name="Text Box 64"/>
          <p:cNvSpPr txBox="1">
            <a:spLocks noChangeArrowheads="1"/>
          </p:cNvSpPr>
          <p:nvPr/>
        </p:nvSpPr>
        <p:spPr bwMode="auto">
          <a:xfrm>
            <a:off x="2513211" y="3591845"/>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2002</a:t>
            </a:r>
          </a:p>
        </p:txBody>
      </p:sp>
      <p:sp>
        <p:nvSpPr>
          <p:cNvPr id="1199180" name="Text Box 76"/>
          <p:cNvSpPr txBox="1">
            <a:spLocks noChangeArrowheads="1"/>
          </p:cNvSpPr>
          <p:nvPr/>
        </p:nvSpPr>
        <p:spPr bwMode="auto">
          <a:xfrm>
            <a:off x="2711624" y="2761583"/>
            <a:ext cx="336550" cy="457200"/>
          </a:xfrm>
          <a:prstGeom prst="rect">
            <a:avLst/>
          </a:prstGeom>
          <a:solidFill>
            <a:srgbClr val="DDFAED"/>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chemeClr val="accent2">
                    <a:lumMod val="50000"/>
                  </a:schemeClr>
                </a:solidFill>
                <a:ea typeface="宋体" pitchFamily="2" charset="-122"/>
              </a:rPr>
              <a:t>5</a:t>
            </a:r>
          </a:p>
        </p:txBody>
      </p:sp>
      <p:sp>
        <p:nvSpPr>
          <p:cNvPr id="1199181" name="Text Box 77"/>
          <p:cNvSpPr txBox="1">
            <a:spLocks noChangeArrowheads="1"/>
          </p:cNvSpPr>
          <p:nvPr/>
        </p:nvSpPr>
        <p:spPr bwMode="auto">
          <a:xfrm>
            <a:off x="2711624" y="2374233"/>
            <a:ext cx="336550" cy="457200"/>
          </a:xfrm>
          <a:prstGeom prst="rect">
            <a:avLst/>
          </a:prstGeom>
          <a:solidFill>
            <a:srgbClr val="DDFAED"/>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9</a:t>
            </a:r>
          </a:p>
        </p:txBody>
      </p:sp>
      <p:sp>
        <p:nvSpPr>
          <p:cNvPr id="1199194" name="Text Box 90"/>
          <p:cNvSpPr txBox="1">
            <a:spLocks noChangeArrowheads="1"/>
          </p:cNvSpPr>
          <p:nvPr/>
        </p:nvSpPr>
        <p:spPr bwMode="auto">
          <a:xfrm>
            <a:off x="8779857" y="5641595"/>
            <a:ext cx="2303462" cy="40011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zh-CN" altLang="en-US" sz="2000" dirty="0">
                <a:solidFill>
                  <a:srgbClr val="C00000"/>
                </a:solidFill>
                <a:latin typeface="隶书" pitchFamily="49" charset="-122"/>
                <a:ea typeface="隶书" pitchFamily="49" charset="-122"/>
              </a:rPr>
              <a:t>运行结果：</a:t>
            </a:r>
            <a:r>
              <a:rPr lang="en-US" altLang="zh-CN" sz="2000" dirty="0">
                <a:solidFill>
                  <a:srgbClr val="002060"/>
                </a:solidFill>
                <a:ea typeface="宋体" pitchFamily="2" charset="-122"/>
              </a:rPr>
              <a:t>9, 5</a:t>
            </a:r>
          </a:p>
        </p:txBody>
      </p:sp>
      <p:sp>
        <p:nvSpPr>
          <p:cNvPr id="1199195" name="AutoShape 91"/>
          <p:cNvSpPr>
            <a:spLocks noChangeArrowheads="1"/>
          </p:cNvSpPr>
          <p:nvPr/>
        </p:nvSpPr>
        <p:spPr bwMode="auto">
          <a:xfrm>
            <a:off x="8494985" y="1164076"/>
            <a:ext cx="2521198" cy="1302716"/>
          </a:xfrm>
          <a:prstGeom prst="irregularSeal1">
            <a:avLst/>
          </a:prstGeom>
          <a:gradFill rotWithShape="1">
            <a:gsLst>
              <a:gs pos="0">
                <a:srgbClr val="CFCFD1"/>
              </a:gs>
              <a:gs pos="100000">
                <a:schemeClr val="bg1"/>
              </a:gs>
            </a:gsLst>
            <a:lin ang="5400000" scaled="1"/>
          </a:gradFill>
          <a:ln w="28575">
            <a:solidFill>
              <a:srgbClr val="C01920"/>
            </a:solidFill>
            <a:miter lim="800000"/>
            <a:headEnd type="none" w="lg" len="lg"/>
            <a:tailEnd/>
          </a:ln>
          <a:effectLst>
            <a:outerShdw blurRad="50800" dist="106680" dir="2700000" algn="tl" rotWithShape="0">
              <a:prstClr val="black">
                <a:alpha val="43000"/>
              </a:prstClr>
            </a:outerShdw>
          </a:effectLst>
        </p:spPr>
        <p:txBody>
          <a:bodyPr wrap="square" lIns="90000" tIns="46800" rIns="90000" bIns="46800" anchor="ctr">
            <a:spAutoFit/>
          </a:bodyPr>
          <a:lstStyle/>
          <a:p>
            <a:pPr algn="ctr">
              <a:lnSpc>
                <a:spcPct val="100000"/>
              </a:lnSpc>
              <a:spcBef>
                <a:spcPct val="0"/>
              </a:spcBef>
            </a:pPr>
            <a:r>
              <a:rPr lang="zh-CN" altLang="en-US" dirty="0">
                <a:solidFill>
                  <a:srgbClr val="C00000"/>
                </a:solidFill>
                <a:ea typeface="隶书" pitchFamily="49" charset="-122"/>
              </a:rPr>
              <a:t>地址传递</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99194"/>
                                        </p:tgtEl>
                                        <p:attrNameLst>
                                          <p:attrName>style.visibility</p:attrName>
                                        </p:attrNameLst>
                                      </p:cBhvr>
                                      <p:to>
                                        <p:strVal val="visible"/>
                                      </p:to>
                                    </p:set>
                                    <p:animEffect transition="in" filter="box(out)">
                                      <p:cBhvr>
                                        <p:cTn id="7" dur="500"/>
                                        <p:tgtEl>
                                          <p:spTgt spid="1199194"/>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99195"/>
                                        </p:tgtEl>
                                        <p:attrNameLst>
                                          <p:attrName>style.visibility</p:attrName>
                                        </p:attrNameLst>
                                      </p:cBhvr>
                                      <p:to>
                                        <p:strVal val="visible"/>
                                      </p:to>
                                    </p:set>
                                    <p:animEffect transition="in" filter="box(out)">
                                      <p:cBhvr>
                                        <p:cTn id="12" dur="500"/>
                                        <p:tgtEl>
                                          <p:spTgt spid="119919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9194" grpId="0" animBg="1" autoUpdateAnimBg="0"/>
      <p:bldP spid="1199195" grpId="0" animBg="1"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0223" name="Text Box 95"/>
          <p:cNvSpPr txBox="1">
            <a:spLocks noChangeArrowheads="1"/>
          </p:cNvSpPr>
          <p:nvPr/>
        </p:nvSpPr>
        <p:spPr bwMode="auto">
          <a:xfrm>
            <a:off x="816754" y="794097"/>
            <a:ext cx="3554412" cy="457200"/>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a:t>
            </a:r>
            <a:r>
              <a:rPr lang="zh-CN" altLang="en-US" dirty="0"/>
              <a:t>将数从大到小输出</a:t>
            </a:r>
          </a:p>
        </p:txBody>
      </p:sp>
      <p:sp>
        <p:nvSpPr>
          <p:cNvPr id="1200132" name="Rectangle 4" descr="信纸"/>
          <p:cNvSpPr>
            <a:spLocks noChangeArrowheads="1"/>
          </p:cNvSpPr>
          <p:nvPr/>
        </p:nvSpPr>
        <p:spPr bwMode="auto">
          <a:xfrm>
            <a:off x="6384032" y="451693"/>
            <a:ext cx="4857028" cy="6001643"/>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rgbClr val="339933"/>
                </a:solidFill>
                <a:ea typeface="宋体" pitchFamily="2" charset="-122"/>
              </a:rPr>
              <a:t>void swap (</a:t>
            </a:r>
            <a:r>
              <a:rPr lang="en-US" altLang="zh-CN" dirty="0" err="1">
                <a:solidFill>
                  <a:srgbClr val="339933"/>
                </a:solidFill>
                <a:ea typeface="宋体" pitchFamily="2" charset="-122"/>
              </a:rPr>
              <a:t>int</a:t>
            </a:r>
            <a:r>
              <a:rPr lang="en-US" altLang="zh-CN" dirty="0">
                <a:solidFill>
                  <a:srgbClr val="339933"/>
                </a:solidFill>
                <a:ea typeface="宋体" pitchFamily="2" charset="-122"/>
              </a:rPr>
              <a:t> *p1, </a:t>
            </a:r>
            <a:r>
              <a:rPr lang="en-US" altLang="zh-CN" dirty="0" err="1">
                <a:solidFill>
                  <a:srgbClr val="339933"/>
                </a:solidFill>
                <a:ea typeface="宋体" pitchFamily="2" charset="-122"/>
              </a:rPr>
              <a:t>int</a:t>
            </a:r>
            <a:r>
              <a:rPr lang="en-US" altLang="zh-CN" dirty="0">
                <a:solidFill>
                  <a:srgbClr val="339933"/>
                </a:solidFill>
                <a:ea typeface="宋体" pitchFamily="2" charset="-122"/>
              </a:rPr>
              <a:t> *p2)</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*p;</a:t>
            </a:r>
          </a:p>
          <a:p>
            <a:pPr eaLnBrk="0" hangingPunct="0">
              <a:lnSpc>
                <a:spcPct val="100000"/>
              </a:lnSpc>
              <a:spcBef>
                <a:spcPct val="0"/>
              </a:spcBef>
            </a:pPr>
            <a:r>
              <a:rPr lang="en-US" altLang="zh-CN" dirty="0">
                <a:ea typeface="宋体" pitchFamily="2" charset="-122"/>
              </a:rPr>
              <a:t>   *p = *p1;</a:t>
            </a:r>
          </a:p>
          <a:p>
            <a:pPr eaLnBrk="0" hangingPunct="0">
              <a:lnSpc>
                <a:spcPct val="100000"/>
              </a:lnSpc>
              <a:spcBef>
                <a:spcPct val="0"/>
              </a:spcBef>
            </a:pPr>
            <a:r>
              <a:rPr lang="en-US" altLang="zh-CN" dirty="0">
                <a:ea typeface="宋体" pitchFamily="2" charset="-122"/>
              </a:rPr>
              <a:t>   *p1 = *p2;</a:t>
            </a:r>
          </a:p>
          <a:p>
            <a:pPr eaLnBrk="0" hangingPunct="0">
              <a:lnSpc>
                <a:spcPct val="100000"/>
              </a:lnSpc>
              <a:spcBef>
                <a:spcPct val="0"/>
              </a:spcBef>
            </a:pPr>
            <a:r>
              <a:rPr lang="en-US" altLang="zh-CN" dirty="0">
                <a:ea typeface="宋体" pitchFamily="2" charset="-122"/>
              </a:rPr>
              <a:t>   *p2 = *p;</a:t>
            </a:r>
          </a:p>
          <a:p>
            <a:pPr eaLnBrk="0" hangingPunct="0">
              <a:lnSpc>
                <a:spcPct val="100000"/>
              </a:lnSpc>
              <a:spcBef>
                <a:spcPct val="0"/>
              </a:spcBef>
            </a:pPr>
            <a:r>
              <a:rPr lang="en-US" altLang="zh-CN" dirty="0">
                <a:ea typeface="宋体" pitchFamily="2" charset="-122"/>
              </a:rPr>
              <a:t>}</a:t>
            </a:r>
          </a:p>
          <a:p>
            <a:pPr eaLnBrk="0" hangingPunct="0">
              <a:lnSpc>
                <a:spcPct val="100000"/>
              </a:lnSpc>
              <a:spcBef>
                <a:spcPct val="0"/>
              </a:spcBef>
            </a:pPr>
            <a:r>
              <a:rPr lang="en-US" altLang="zh-CN" dirty="0">
                <a:solidFill>
                  <a:srgbClr val="CC0099"/>
                </a:solidFill>
                <a:ea typeface="宋体" pitchFamily="2" charset="-122"/>
              </a:rPr>
              <a:t>void main ( )</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a:t>
            </a:r>
            <a:r>
              <a:rPr lang="en-US" altLang="zh-CN" dirty="0" err="1">
                <a:ea typeface="宋体" pitchFamily="2" charset="-122"/>
              </a:rPr>
              <a:t>a,b</a:t>
            </a:r>
            <a:r>
              <a:rPr lang="en-US" altLang="zh-CN" dirty="0">
                <a:ea typeface="宋体" pitchFamily="2" charset="-122"/>
              </a:rPr>
              <a:t>, *p_1, *p_2;</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scanf</a:t>
            </a:r>
            <a:r>
              <a:rPr lang="en-US" altLang="zh-CN" dirty="0">
                <a:ea typeface="宋体" pitchFamily="2" charset="-122"/>
              </a:rPr>
              <a:t> ("%</a:t>
            </a:r>
            <a:r>
              <a:rPr lang="en-US" altLang="zh-CN" dirty="0" err="1">
                <a:ea typeface="宋体" pitchFamily="2" charset="-122"/>
              </a:rPr>
              <a:t>d,%d</a:t>
            </a:r>
            <a:r>
              <a:rPr lang="en-US" altLang="zh-CN" dirty="0">
                <a:ea typeface="宋体" pitchFamily="2" charset="-122"/>
              </a:rPr>
              <a:t>", &amp;a, &amp;b);</a:t>
            </a:r>
          </a:p>
          <a:p>
            <a:pPr eaLnBrk="0" hangingPunct="0">
              <a:lnSpc>
                <a:spcPct val="100000"/>
              </a:lnSpc>
              <a:spcBef>
                <a:spcPct val="0"/>
              </a:spcBef>
            </a:pPr>
            <a:r>
              <a:rPr lang="en-US" altLang="zh-CN" dirty="0">
                <a:solidFill>
                  <a:schemeClr val="accent2">
                    <a:lumMod val="50000"/>
                  </a:schemeClr>
                </a:solidFill>
                <a:ea typeface="宋体" pitchFamily="2" charset="-122"/>
              </a:rPr>
              <a:t>    p_1 = &amp;a;  p_2 = &amp;b;</a:t>
            </a:r>
          </a:p>
          <a:p>
            <a:pPr eaLnBrk="0" hangingPunct="0">
              <a:lnSpc>
                <a:spcPct val="100000"/>
              </a:lnSpc>
              <a:spcBef>
                <a:spcPct val="0"/>
              </a:spcBef>
            </a:pPr>
            <a:r>
              <a:rPr lang="en-US" altLang="zh-CN" dirty="0">
                <a:ea typeface="宋体" pitchFamily="2" charset="-122"/>
              </a:rPr>
              <a:t>    if (a &lt; b)  </a:t>
            </a:r>
            <a:r>
              <a:rPr lang="en-US" altLang="zh-CN" dirty="0">
                <a:solidFill>
                  <a:schemeClr val="accent2">
                    <a:lumMod val="50000"/>
                  </a:schemeClr>
                </a:solidFill>
                <a:ea typeface="宋体" pitchFamily="2" charset="-122"/>
              </a:rPr>
              <a:t>swap (p_1, p_2);</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a:t>
            </a:r>
            <a:r>
              <a:rPr lang="en-US" altLang="zh-CN" dirty="0" err="1">
                <a:ea typeface="宋体" pitchFamily="2" charset="-122"/>
              </a:rPr>
              <a:t>n%d,%d</a:t>
            </a:r>
            <a:r>
              <a:rPr lang="en-US" altLang="zh-CN" dirty="0">
                <a:ea typeface="宋体" pitchFamily="2" charset="-122"/>
              </a:rPr>
              <a:t>\n", a, b);</a:t>
            </a:r>
          </a:p>
          <a:p>
            <a:pPr eaLnBrk="0" hangingPunct="0">
              <a:lnSpc>
                <a:spcPct val="100000"/>
              </a:lnSpc>
              <a:spcBef>
                <a:spcPct val="0"/>
              </a:spcBef>
            </a:pPr>
            <a:r>
              <a:rPr lang="en-US" altLang="zh-CN" dirty="0">
                <a:ea typeface="宋体" pitchFamily="2" charset="-122"/>
              </a:rPr>
              <a:t>    return 0;</a:t>
            </a:r>
          </a:p>
          <a:p>
            <a:pPr eaLnBrk="0" hangingPunct="0">
              <a:lnSpc>
                <a:spcPct val="100000"/>
              </a:lnSpc>
              <a:spcBef>
                <a:spcPct val="0"/>
              </a:spcBef>
            </a:pPr>
            <a:r>
              <a:rPr lang="en-US" altLang="zh-CN" dirty="0">
                <a:ea typeface="宋体" pitchFamily="2" charset="-122"/>
              </a:rPr>
              <a:t>}</a:t>
            </a:r>
          </a:p>
        </p:txBody>
      </p:sp>
      <p:sp>
        <p:nvSpPr>
          <p:cNvPr id="1200133" name="Text Box 5"/>
          <p:cNvSpPr txBox="1">
            <a:spLocks noChangeArrowheads="1"/>
          </p:cNvSpPr>
          <p:nvPr/>
        </p:nvSpPr>
        <p:spPr bwMode="auto">
          <a:xfrm>
            <a:off x="9020731" y="5880013"/>
            <a:ext cx="1989647" cy="40011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a:lnSpc>
                <a:spcPct val="100000"/>
              </a:lnSpc>
              <a:spcBef>
                <a:spcPct val="0"/>
              </a:spcBef>
            </a:pPr>
            <a:r>
              <a:rPr lang="zh-CN" altLang="en-US" sz="2000" dirty="0">
                <a:solidFill>
                  <a:srgbClr val="C00000"/>
                </a:solidFill>
                <a:latin typeface="隶书" pitchFamily="49" charset="-122"/>
                <a:ea typeface="隶书" pitchFamily="49" charset="-122"/>
              </a:rPr>
              <a:t>运行结果：</a:t>
            </a:r>
            <a:r>
              <a:rPr lang="en-US" altLang="zh-CN" sz="2000" dirty="0">
                <a:solidFill>
                  <a:schemeClr val="accent2">
                    <a:lumMod val="50000"/>
                  </a:schemeClr>
                </a:solidFill>
              </a:rPr>
              <a:t>9</a:t>
            </a:r>
            <a:r>
              <a:rPr lang="zh-CN" altLang="en-US" sz="2000" dirty="0">
                <a:solidFill>
                  <a:schemeClr val="accent2">
                    <a:lumMod val="50000"/>
                  </a:schemeClr>
                </a:solidFill>
              </a:rPr>
              <a:t>，</a:t>
            </a:r>
            <a:r>
              <a:rPr lang="en-US" altLang="zh-CN" sz="2000" dirty="0">
                <a:solidFill>
                  <a:schemeClr val="accent2">
                    <a:lumMod val="50000"/>
                  </a:schemeClr>
                </a:solidFill>
              </a:rPr>
              <a:t>9</a:t>
            </a:r>
          </a:p>
        </p:txBody>
      </p:sp>
      <p:sp>
        <p:nvSpPr>
          <p:cNvPr id="1200134" name="Text Box 6"/>
          <p:cNvSpPr txBox="1">
            <a:spLocks noChangeArrowheads="1"/>
          </p:cNvSpPr>
          <p:nvPr/>
        </p:nvSpPr>
        <p:spPr bwMode="auto">
          <a:xfrm>
            <a:off x="9299287" y="3039763"/>
            <a:ext cx="1665660" cy="730250"/>
          </a:xfrm>
          <a:prstGeom prst="rect">
            <a:avLst/>
          </a:prstGeom>
          <a:gradFill rotWithShape="1">
            <a:gsLst>
              <a:gs pos="0">
                <a:srgbClr val="CFCFD1"/>
              </a:gs>
              <a:gs pos="100000">
                <a:srgbClr val="FFFFFF"/>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lnSpc>
                <a:spcPct val="100000"/>
              </a:lnSpc>
              <a:spcBef>
                <a:spcPct val="0"/>
              </a:spcBef>
            </a:pPr>
            <a:r>
              <a:rPr lang="zh-CN" altLang="en-US" sz="2000" dirty="0">
                <a:solidFill>
                  <a:srgbClr val="C00000"/>
                </a:solidFill>
                <a:latin typeface="隶书" pitchFamily="49" charset="-122"/>
                <a:ea typeface="隶书" pitchFamily="49" charset="-122"/>
              </a:rPr>
              <a:t>编译警告！</a:t>
            </a:r>
          </a:p>
          <a:p>
            <a:pPr algn="ctr">
              <a:lnSpc>
                <a:spcPct val="100000"/>
              </a:lnSpc>
              <a:spcBef>
                <a:spcPct val="0"/>
              </a:spcBef>
            </a:pPr>
            <a:r>
              <a:rPr lang="zh-CN" altLang="en-US" sz="2000" dirty="0">
                <a:solidFill>
                  <a:srgbClr val="C00000"/>
                </a:solidFill>
                <a:latin typeface="隶书" pitchFamily="49" charset="-122"/>
                <a:ea typeface="隶书" pitchFamily="49" charset="-122"/>
              </a:rPr>
              <a:t>结果不对！</a:t>
            </a:r>
          </a:p>
        </p:txBody>
      </p:sp>
      <p:sp>
        <p:nvSpPr>
          <p:cNvPr id="1200135" name="Text Box 7"/>
          <p:cNvSpPr txBox="1">
            <a:spLocks noChangeArrowheads="1"/>
          </p:cNvSpPr>
          <p:nvPr/>
        </p:nvSpPr>
        <p:spPr bwMode="auto">
          <a:xfrm>
            <a:off x="8209657" y="1528018"/>
            <a:ext cx="1864613" cy="830997"/>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b="1" dirty="0" err="1">
                <a:solidFill>
                  <a:srgbClr val="C00000"/>
                </a:solidFill>
                <a:ea typeface="宋体" pitchFamily="2" charset="-122"/>
              </a:rPr>
              <a:t>int</a:t>
            </a:r>
            <a:r>
              <a:rPr lang="en-US" altLang="zh-CN" b="1" dirty="0">
                <a:solidFill>
                  <a:srgbClr val="C00000"/>
                </a:solidFill>
                <a:ea typeface="宋体" pitchFamily="2" charset="-122"/>
              </a:rPr>
              <a:t>   x;</a:t>
            </a:r>
          </a:p>
          <a:p>
            <a:pPr>
              <a:lnSpc>
                <a:spcPct val="100000"/>
              </a:lnSpc>
              <a:spcBef>
                <a:spcPct val="0"/>
              </a:spcBef>
            </a:pPr>
            <a:r>
              <a:rPr lang="en-US" altLang="zh-CN" b="1" dirty="0" err="1">
                <a:solidFill>
                  <a:srgbClr val="C00000"/>
                </a:solidFill>
                <a:ea typeface="宋体" pitchFamily="2" charset="-122"/>
              </a:rPr>
              <a:t>int</a:t>
            </a:r>
            <a:r>
              <a:rPr lang="en-US" altLang="zh-CN" b="1" dirty="0">
                <a:solidFill>
                  <a:srgbClr val="C00000"/>
                </a:solidFill>
                <a:ea typeface="宋体" pitchFamily="2" charset="-122"/>
              </a:rPr>
              <a:t>  *p = &amp;x;</a:t>
            </a:r>
          </a:p>
        </p:txBody>
      </p:sp>
      <p:grpSp>
        <p:nvGrpSpPr>
          <p:cNvPr id="1200137" name="Group 9"/>
          <p:cNvGrpSpPr>
            <a:grpSpLocks/>
          </p:cNvGrpSpPr>
          <p:nvPr/>
        </p:nvGrpSpPr>
        <p:grpSpPr bwMode="auto">
          <a:xfrm>
            <a:off x="1886607" y="1755353"/>
            <a:ext cx="2636838" cy="4625975"/>
            <a:chOff x="2879" y="554"/>
            <a:chExt cx="1661" cy="2914"/>
          </a:xfrm>
        </p:grpSpPr>
        <p:grpSp>
          <p:nvGrpSpPr>
            <p:cNvPr id="1200138" name="Group 10"/>
            <p:cNvGrpSpPr>
              <a:grpSpLocks/>
            </p:cNvGrpSpPr>
            <p:nvPr/>
          </p:nvGrpSpPr>
          <p:grpSpPr bwMode="auto">
            <a:xfrm>
              <a:off x="2879" y="554"/>
              <a:ext cx="1661" cy="2914"/>
              <a:chOff x="3144" y="806"/>
              <a:chExt cx="1661" cy="2914"/>
            </a:xfrm>
          </p:grpSpPr>
          <p:sp>
            <p:nvSpPr>
              <p:cNvPr id="1200139" name="Freeform 11"/>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00141" name="Rectangle 13"/>
              <p:cNvSpPr>
                <a:spLocks noChangeArrowheads="1"/>
              </p:cNvSpPr>
              <p:nvPr/>
            </p:nvSpPr>
            <p:spPr bwMode="auto">
              <a:xfrm>
                <a:off x="3582" y="806"/>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00142" name="Line 14"/>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0143" name="Line 15"/>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00144" name="Line 16"/>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0145" name="Line 17"/>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0146" name="Line 18"/>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0147" name="Line 19"/>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0148" name="Line 20"/>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00149" name="Line 21"/>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00150" name="Text Box 22"/>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200151" name="Line 23"/>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0152" name="Text Box 24"/>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00153" name="Text Box 25"/>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00154" name="Text Box 26"/>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00155" name="Text Box 27"/>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00156" name="Text Box 28"/>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00157" name="Text Box 29"/>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2006</a:t>
                </a:r>
              </a:p>
            </p:txBody>
          </p:sp>
          <p:grpSp>
            <p:nvGrpSpPr>
              <p:cNvPr id="1200158" name="Group 30"/>
              <p:cNvGrpSpPr>
                <a:grpSpLocks/>
              </p:cNvGrpSpPr>
              <p:nvPr/>
            </p:nvGrpSpPr>
            <p:grpSpPr bwMode="auto">
              <a:xfrm>
                <a:off x="3597" y="1380"/>
                <a:ext cx="60" cy="1548"/>
                <a:chOff x="3960" y="1560"/>
                <a:chExt cx="60" cy="1548"/>
              </a:xfrm>
            </p:grpSpPr>
            <p:sp>
              <p:nvSpPr>
                <p:cNvPr id="1200159" name="Line 31"/>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0" name="Line 32"/>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1" name="Line 33"/>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2" name="Line 34"/>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3" name="Line 35"/>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4" name="Line 36"/>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5" name="Line 37"/>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00166" name="Group 38"/>
              <p:cNvGrpSpPr>
                <a:grpSpLocks/>
              </p:cNvGrpSpPr>
              <p:nvPr/>
            </p:nvGrpSpPr>
            <p:grpSpPr bwMode="auto">
              <a:xfrm>
                <a:off x="4725" y="1368"/>
                <a:ext cx="60" cy="1548"/>
                <a:chOff x="3960" y="1560"/>
                <a:chExt cx="60" cy="1548"/>
              </a:xfrm>
            </p:grpSpPr>
            <p:sp>
              <p:nvSpPr>
                <p:cNvPr id="1200167" name="Line 39"/>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8" name="Line 40"/>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9" name="Line 41"/>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70" name="Line 42"/>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71" name="Line 43"/>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72" name="Line 44"/>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73" name="Line 45"/>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00174" name="Line 46"/>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75" name="Line 47"/>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00176" name="Line 48"/>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77" name="Text Box 49"/>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00178" name="Text Box 50"/>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00179" name="Text Box 51"/>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00140" name="Freeform 12"/>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200180" name="Text Box 52"/>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sp>
        <p:nvSpPr>
          <p:cNvPr id="1200181" name="Text Box 53"/>
          <p:cNvSpPr txBox="1">
            <a:spLocks noChangeArrowheads="1"/>
          </p:cNvSpPr>
          <p:nvPr/>
        </p:nvSpPr>
        <p:spPr bwMode="auto">
          <a:xfrm>
            <a:off x="3370920" y="2422102"/>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002060"/>
                </a:solidFill>
                <a:ea typeface="宋体" pitchFamily="2" charset="-122"/>
              </a:rPr>
              <a:t>5</a:t>
            </a:r>
          </a:p>
        </p:txBody>
      </p:sp>
      <p:sp>
        <p:nvSpPr>
          <p:cNvPr id="1200182" name="Text Box 54"/>
          <p:cNvSpPr txBox="1">
            <a:spLocks noChangeArrowheads="1"/>
          </p:cNvSpPr>
          <p:nvPr/>
        </p:nvSpPr>
        <p:spPr bwMode="auto">
          <a:xfrm>
            <a:off x="3374095" y="2796752"/>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9</a:t>
            </a:r>
          </a:p>
        </p:txBody>
      </p:sp>
      <p:grpSp>
        <p:nvGrpSpPr>
          <p:cNvPr id="1200183" name="Group 55"/>
          <p:cNvGrpSpPr>
            <a:grpSpLocks/>
          </p:cNvGrpSpPr>
          <p:nvPr/>
        </p:nvGrpSpPr>
        <p:grpSpPr bwMode="auto">
          <a:xfrm>
            <a:off x="3067707" y="2026815"/>
            <a:ext cx="3062288" cy="1812926"/>
            <a:chOff x="3888" y="977"/>
            <a:chExt cx="1929" cy="1142"/>
          </a:xfrm>
        </p:grpSpPr>
        <p:grpSp>
          <p:nvGrpSpPr>
            <p:cNvPr id="1200184" name="Group 56"/>
            <p:cNvGrpSpPr>
              <a:grpSpLocks/>
            </p:cNvGrpSpPr>
            <p:nvPr/>
          </p:nvGrpSpPr>
          <p:grpSpPr bwMode="auto">
            <a:xfrm>
              <a:off x="4783" y="1125"/>
              <a:ext cx="1030" cy="252"/>
              <a:chOff x="4402" y="1437"/>
              <a:chExt cx="1030" cy="252"/>
            </a:xfrm>
          </p:grpSpPr>
          <p:sp>
            <p:nvSpPr>
              <p:cNvPr id="1200185" name="Line 57"/>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a:latin typeface="+mn-lt"/>
                  <a:ea typeface="楷体" pitchFamily="49" charset="-122"/>
                </a:endParaRPr>
              </a:p>
            </p:txBody>
          </p:sp>
          <p:sp>
            <p:nvSpPr>
              <p:cNvPr id="1200186" name="Text Box 58"/>
              <p:cNvSpPr txBox="1">
                <a:spLocks noChangeArrowheads="1"/>
              </p:cNvSpPr>
              <p:nvPr/>
            </p:nvSpPr>
            <p:spPr bwMode="auto">
              <a:xfrm>
                <a:off x="4584" y="1437"/>
                <a:ext cx="848"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整型变量</a:t>
                </a:r>
                <a:r>
                  <a:rPr lang="en-US" altLang="zh-CN" sz="2000" dirty="0">
                    <a:effectLst>
                      <a:outerShdw blurRad="38100" dist="38100" dir="2700000" algn="tl">
                        <a:srgbClr val="FFFFFF"/>
                      </a:outerShdw>
                    </a:effectLst>
                    <a:latin typeface="+mn-lt"/>
                    <a:ea typeface="楷体" pitchFamily="49" charset="-122"/>
                  </a:rPr>
                  <a:t>a</a:t>
                </a:r>
              </a:p>
            </p:txBody>
          </p:sp>
        </p:grpSp>
        <p:grpSp>
          <p:nvGrpSpPr>
            <p:cNvPr id="1200187" name="Group 59"/>
            <p:cNvGrpSpPr>
              <a:grpSpLocks/>
            </p:cNvGrpSpPr>
            <p:nvPr/>
          </p:nvGrpSpPr>
          <p:grpSpPr bwMode="auto">
            <a:xfrm>
              <a:off x="4783" y="1365"/>
              <a:ext cx="1034" cy="252"/>
              <a:chOff x="4426" y="1917"/>
              <a:chExt cx="1034" cy="252"/>
            </a:xfrm>
          </p:grpSpPr>
          <p:sp>
            <p:nvSpPr>
              <p:cNvPr id="1200188" name="Line 60"/>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a:latin typeface="+mn-lt"/>
                  <a:ea typeface="楷体" pitchFamily="49" charset="-122"/>
                </a:endParaRPr>
              </a:p>
            </p:txBody>
          </p:sp>
          <p:sp>
            <p:nvSpPr>
              <p:cNvPr id="1200189" name="Text Box 61"/>
              <p:cNvSpPr txBox="1">
                <a:spLocks noChangeArrowheads="1"/>
              </p:cNvSpPr>
              <p:nvPr/>
            </p:nvSpPr>
            <p:spPr bwMode="auto">
              <a:xfrm>
                <a:off x="4523" y="1917"/>
                <a:ext cx="937"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整型变量</a:t>
                </a:r>
                <a:r>
                  <a:rPr lang="en-US" altLang="zh-CN" sz="2000">
                    <a:effectLst>
                      <a:outerShdw blurRad="38100" dist="38100" dir="2700000" algn="tl">
                        <a:srgbClr val="FFFFFF"/>
                      </a:outerShdw>
                    </a:effectLst>
                    <a:latin typeface="+mn-lt"/>
                    <a:ea typeface="楷体" pitchFamily="49" charset="-122"/>
                  </a:rPr>
                  <a:t>b</a:t>
                </a:r>
              </a:p>
            </p:txBody>
          </p:sp>
        </p:grpSp>
        <p:sp>
          <p:nvSpPr>
            <p:cNvPr id="1200190" name="Text Box 62"/>
            <p:cNvSpPr txBox="1">
              <a:spLocks noChangeArrowheads="1"/>
            </p:cNvSpPr>
            <p:nvPr/>
          </p:nvSpPr>
          <p:spPr bwMode="auto">
            <a:xfrm>
              <a:off x="3888" y="977"/>
              <a:ext cx="57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dirty="0">
                  <a:solidFill>
                    <a:srgbClr val="CF0D9E"/>
                  </a:solidFill>
                  <a:latin typeface="+mn-lt"/>
                  <a:ea typeface="楷体" pitchFamily="49" charset="-122"/>
                </a:rPr>
                <a:t>(main)</a:t>
              </a:r>
            </a:p>
          </p:txBody>
        </p:sp>
        <p:grpSp>
          <p:nvGrpSpPr>
            <p:cNvPr id="1200191" name="Group 63"/>
            <p:cNvGrpSpPr>
              <a:grpSpLocks/>
            </p:cNvGrpSpPr>
            <p:nvPr/>
          </p:nvGrpSpPr>
          <p:grpSpPr bwMode="auto">
            <a:xfrm>
              <a:off x="4783" y="1605"/>
              <a:ext cx="869" cy="250"/>
              <a:chOff x="4402" y="1437"/>
              <a:chExt cx="869" cy="250"/>
            </a:xfrm>
          </p:grpSpPr>
          <p:sp>
            <p:nvSpPr>
              <p:cNvPr id="1200192" name="Line 64"/>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a:latin typeface="+mn-lt"/>
                  <a:ea typeface="楷体" pitchFamily="49" charset="-122"/>
                </a:endParaRPr>
              </a:p>
            </p:txBody>
          </p:sp>
          <p:sp>
            <p:nvSpPr>
              <p:cNvPr id="1200193" name="Text Box 65"/>
              <p:cNvSpPr txBox="1">
                <a:spLocks noChangeArrowheads="1"/>
              </p:cNvSpPr>
              <p:nvPr/>
            </p:nvSpPr>
            <p:spPr bwMode="auto">
              <a:xfrm>
                <a:off x="4584" y="1437"/>
                <a:ext cx="68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p_1</a:t>
                </a:r>
              </a:p>
            </p:txBody>
          </p:sp>
        </p:grpSp>
        <p:grpSp>
          <p:nvGrpSpPr>
            <p:cNvPr id="1200194" name="Group 66"/>
            <p:cNvGrpSpPr>
              <a:grpSpLocks/>
            </p:cNvGrpSpPr>
            <p:nvPr/>
          </p:nvGrpSpPr>
          <p:grpSpPr bwMode="auto">
            <a:xfrm>
              <a:off x="4795" y="1869"/>
              <a:ext cx="869" cy="250"/>
              <a:chOff x="4402" y="1437"/>
              <a:chExt cx="869" cy="250"/>
            </a:xfrm>
          </p:grpSpPr>
          <p:sp>
            <p:nvSpPr>
              <p:cNvPr id="1200195" name="Line 67"/>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a:latin typeface="+mn-lt"/>
                  <a:ea typeface="楷体" pitchFamily="49" charset="-122"/>
                </a:endParaRPr>
              </a:p>
            </p:txBody>
          </p:sp>
          <p:sp>
            <p:nvSpPr>
              <p:cNvPr id="1200196" name="Text Box 68"/>
              <p:cNvSpPr txBox="1">
                <a:spLocks noChangeArrowheads="1"/>
              </p:cNvSpPr>
              <p:nvPr/>
            </p:nvSpPr>
            <p:spPr bwMode="auto">
              <a:xfrm>
                <a:off x="4584" y="1437"/>
                <a:ext cx="68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p_2</a:t>
                </a:r>
              </a:p>
            </p:txBody>
          </p:sp>
        </p:grpSp>
      </p:grpSp>
      <p:sp>
        <p:nvSpPr>
          <p:cNvPr id="1200197" name="Text Box 69"/>
          <p:cNvSpPr txBox="1">
            <a:spLocks noChangeArrowheads="1"/>
          </p:cNvSpPr>
          <p:nvPr/>
        </p:nvSpPr>
        <p:spPr bwMode="auto">
          <a:xfrm>
            <a:off x="3123270" y="3222202"/>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002060"/>
                </a:solidFill>
                <a:ea typeface="宋体" pitchFamily="2" charset="-122"/>
              </a:rPr>
              <a:t>2000</a:t>
            </a:r>
          </a:p>
        </p:txBody>
      </p:sp>
      <p:sp>
        <p:nvSpPr>
          <p:cNvPr id="1200198" name="Text Box 70"/>
          <p:cNvSpPr txBox="1">
            <a:spLocks noChangeArrowheads="1"/>
          </p:cNvSpPr>
          <p:nvPr/>
        </p:nvSpPr>
        <p:spPr bwMode="auto">
          <a:xfrm>
            <a:off x="3123270" y="3622252"/>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2002</a:t>
            </a:r>
          </a:p>
        </p:txBody>
      </p:sp>
      <p:sp>
        <p:nvSpPr>
          <p:cNvPr id="1200199" name="Text Box 71"/>
          <p:cNvSpPr txBox="1">
            <a:spLocks noChangeArrowheads="1"/>
          </p:cNvSpPr>
          <p:nvPr/>
        </p:nvSpPr>
        <p:spPr bwMode="auto">
          <a:xfrm>
            <a:off x="3373984" y="2795165"/>
            <a:ext cx="336550" cy="457200"/>
          </a:xfrm>
          <a:prstGeom prst="rect">
            <a:avLst/>
          </a:prstGeom>
          <a:solidFill>
            <a:srgbClr val="DDFAED"/>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002060"/>
                </a:solidFill>
                <a:ea typeface="宋体" pitchFamily="2" charset="-122"/>
              </a:rPr>
              <a:t>9</a:t>
            </a:r>
          </a:p>
        </p:txBody>
      </p:sp>
      <p:sp>
        <p:nvSpPr>
          <p:cNvPr id="1200200" name="Text Box 72"/>
          <p:cNvSpPr txBox="1">
            <a:spLocks noChangeArrowheads="1"/>
          </p:cNvSpPr>
          <p:nvPr/>
        </p:nvSpPr>
        <p:spPr bwMode="auto">
          <a:xfrm>
            <a:off x="3359696" y="2422102"/>
            <a:ext cx="336550" cy="457200"/>
          </a:xfrm>
          <a:prstGeom prst="rect">
            <a:avLst/>
          </a:prstGeom>
          <a:solidFill>
            <a:srgbClr val="DDFAED"/>
          </a:solidFill>
          <a:ln w="9525">
            <a:noFill/>
            <a:miter lim="800000"/>
            <a:headEnd/>
            <a:tailEnd/>
          </a:ln>
          <a:effectLst/>
        </p:spPr>
        <p:txBody>
          <a:bodyPr anchor="ctr">
            <a:spAutoFit/>
          </a:bodyPr>
          <a:lstStyle/>
          <a:p>
            <a:pPr algn="ctr" eaLnBrk="0" hangingPunct="0">
              <a:lnSpc>
                <a:spcPct val="100000"/>
              </a:lnSpc>
              <a:spcBef>
                <a:spcPct val="0"/>
              </a:spcBef>
            </a:pPr>
            <a:r>
              <a:rPr lang="en-US" altLang="zh-CN" b="1" dirty="0">
                <a:solidFill>
                  <a:srgbClr val="C00000"/>
                </a:solidFill>
                <a:ea typeface="宋体" pitchFamily="2" charset="-122"/>
              </a:rPr>
              <a:t>9</a:t>
            </a:r>
          </a:p>
        </p:txBody>
      </p:sp>
      <p:grpSp>
        <p:nvGrpSpPr>
          <p:cNvPr id="1200201" name="Group 73"/>
          <p:cNvGrpSpPr>
            <a:grpSpLocks/>
          </p:cNvGrpSpPr>
          <p:nvPr/>
        </p:nvGrpSpPr>
        <p:grpSpPr bwMode="auto">
          <a:xfrm>
            <a:off x="1840571" y="3392065"/>
            <a:ext cx="2062163" cy="1506538"/>
            <a:chOff x="2995" y="1309"/>
            <a:chExt cx="1299" cy="949"/>
          </a:xfrm>
        </p:grpSpPr>
        <p:sp>
          <p:nvSpPr>
            <p:cNvPr id="1200202" name="Text Box 74"/>
            <p:cNvSpPr txBox="1">
              <a:spLocks noChangeArrowheads="1"/>
            </p:cNvSpPr>
            <p:nvPr/>
          </p:nvSpPr>
          <p:spPr bwMode="auto">
            <a:xfrm>
              <a:off x="3794" y="1970"/>
              <a:ext cx="500"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002060"/>
                  </a:solidFill>
                  <a:ea typeface="宋体" pitchFamily="2" charset="-122"/>
                </a:rPr>
                <a:t>2000</a:t>
              </a:r>
            </a:p>
          </p:txBody>
        </p:sp>
        <p:sp>
          <p:nvSpPr>
            <p:cNvPr id="1200203" name="Freeform 75"/>
            <p:cNvSpPr>
              <a:spLocks/>
            </p:cNvSpPr>
            <p:nvPr/>
          </p:nvSpPr>
          <p:spPr bwMode="auto">
            <a:xfrm rot="588835">
              <a:off x="2995" y="1309"/>
              <a:ext cx="485" cy="741"/>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002060"/>
              </a:solidFill>
              <a:prstDash val="solid"/>
              <a:round/>
              <a:headEnd type="none" w="med" len="med"/>
              <a:tailEnd type="triangle" w="med" len="med"/>
            </a:ln>
            <a:effectLst/>
          </p:spPr>
          <p:txBody>
            <a:bodyPr wrap="square" lIns="90000" tIns="46800" rIns="90000" bIns="46800" anchor="ctr">
              <a:spAutoFit/>
            </a:bodyPr>
            <a:lstStyle/>
            <a:p>
              <a:endParaRPr lang="zh-CN" altLang="en-US"/>
            </a:p>
          </p:txBody>
        </p:sp>
      </p:grpSp>
      <p:grpSp>
        <p:nvGrpSpPr>
          <p:cNvPr id="1200204" name="Group 76"/>
          <p:cNvGrpSpPr>
            <a:grpSpLocks/>
          </p:cNvGrpSpPr>
          <p:nvPr/>
        </p:nvGrpSpPr>
        <p:grpSpPr bwMode="auto">
          <a:xfrm>
            <a:off x="1889782" y="3776241"/>
            <a:ext cx="1993900" cy="1522413"/>
            <a:chOff x="3026" y="1575"/>
            <a:chExt cx="1256" cy="959"/>
          </a:xfrm>
        </p:grpSpPr>
        <p:sp>
          <p:nvSpPr>
            <p:cNvPr id="1200205" name="Text Box 77"/>
            <p:cNvSpPr txBox="1">
              <a:spLocks noChangeArrowheads="1"/>
            </p:cNvSpPr>
            <p:nvPr/>
          </p:nvSpPr>
          <p:spPr bwMode="auto">
            <a:xfrm>
              <a:off x="3782" y="2246"/>
              <a:ext cx="500"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C00000"/>
                  </a:solidFill>
                  <a:ea typeface="宋体" pitchFamily="2" charset="-122"/>
                </a:rPr>
                <a:t>2002</a:t>
              </a:r>
            </a:p>
          </p:txBody>
        </p:sp>
        <p:sp>
          <p:nvSpPr>
            <p:cNvPr id="1200206" name="Freeform 78"/>
            <p:cNvSpPr>
              <a:spLocks/>
            </p:cNvSpPr>
            <p:nvPr/>
          </p:nvSpPr>
          <p:spPr bwMode="auto">
            <a:xfrm>
              <a:off x="3026" y="1575"/>
              <a:ext cx="387" cy="813"/>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rgbClr val="C00000"/>
              </a:solidFill>
              <a:prstDash val="solid"/>
              <a:round/>
              <a:headEnd type="none" w="lg" len="lg"/>
              <a:tailEnd type="triangle" w="med" len="med"/>
            </a:ln>
            <a:effectLst/>
          </p:spPr>
          <p:txBody>
            <a:bodyPr wrap="square" lIns="90000" tIns="46800" rIns="90000" bIns="46800" anchor="ctr">
              <a:spAutoFit/>
            </a:bodyPr>
            <a:lstStyle/>
            <a:p>
              <a:endParaRPr lang="zh-CN" altLang="en-US" dirty="0"/>
            </a:p>
          </p:txBody>
        </p:sp>
      </p:grpSp>
      <p:sp>
        <p:nvSpPr>
          <p:cNvPr id="1200207" name="Text Box 79"/>
          <p:cNvSpPr txBox="1">
            <a:spLocks noChangeArrowheads="1"/>
          </p:cNvSpPr>
          <p:nvPr/>
        </p:nvSpPr>
        <p:spPr bwMode="auto">
          <a:xfrm>
            <a:off x="1055440" y="4016494"/>
            <a:ext cx="909521" cy="402291"/>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b="1" dirty="0">
                <a:solidFill>
                  <a:srgbClr val="002060"/>
                </a:solidFill>
                <a:ea typeface="隶书" pitchFamily="49" charset="-122"/>
              </a:rPr>
              <a:t>COPY</a:t>
            </a:r>
          </a:p>
        </p:txBody>
      </p:sp>
      <p:grpSp>
        <p:nvGrpSpPr>
          <p:cNvPr id="1200208" name="Group 80"/>
          <p:cNvGrpSpPr>
            <a:grpSpLocks/>
          </p:cNvGrpSpPr>
          <p:nvPr/>
        </p:nvGrpSpPr>
        <p:grpSpPr bwMode="auto">
          <a:xfrm>
            <a:off x="3085171" y="4084216"/>
            <a:ext cx="2674937" cy="1604964"/>
            <a:chOff x="3634" y="2021"/>
            <a:chExt cx="1685" cy="1011"/>
          </a:xfrm>
        </p:grpSpPr>
        <p:grpSp>
          <p:nvGrpSpPr>
            <p:cNvPr id="1200209" name="Group 81"/>
            <p:cNvGrpSpPr>
              <a:grpSpLocks/>
            </p:cNvGrpSpPr>
            <p:nvPr/>
          </p:nvGrpSpPr>
          <p:grpSpPr bwMode="auto">
            <a:xfrm>
              <a:off x="3634" y="2021"/>
              <a:ext cx="1685" cy="866"/>
              <a:chOff x="3899" y="2273"/>
              <a:chExt cx="1685" cy="866"/>
            </a:xfrm>
          </p:grpSpPr>
          <p:sp>
            <p:nvSpPr>
              <p:cNvPr id="1200210" name="Text Box 82"/>
              <p:cNvSpPr txBox="1">
                <a:spLocks noChangeArrowheads="1"/>
              </p:cNvSpPr>
              <p:nvPr/>
            </p:nvSpPr>
            <p:spPr bwMode="auto">
              <a:xfrm>
                <a:off x="3899" y="2273"/>
                <a:ext cx="574"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a:solidFill>
                      <a:srgbClr val="C00000"/>
                    </a:solidFill>
                    <a:latin typeface="+mn-lt"/>
                    <a:ea typeface="楷体" pitchFamily="49" charset="-122"/>
                  </a:rPr>
                  <a:t>(swap)</a:t>
                </a:r>
              </a:p>
            </p:txBody>
          </p:sp>
          <p:grpSp>
            <p:nvGrpSpPr>
              <p:cNvPr id="1200211" name="Group 83"/>
              <p:cNvGrpSpPr>
                <a:grpSpLocks/>
              </p:cNvGrpSpPr>
              <p:nvPr/>
            </p:nvGrpSpPr>
            <p:grpSpPr bwMode="auto">
              <a:xfrm>
                <a:off x="4795" y="2397"/>
                <a:ext cx="789" cy="250"/>
                <a:chOff x="4402" y="1437"/>
                <a:chExt cx="789" cy="250"/>
              </a:xfrm>
            </p:grpSpPr>
            <p:sp>
              <p:nvSpPr>
                <p:cNvPr id="1200212" name="Line 84"/>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b="1">
                    <a:solidFill>
                      <a:srgbClr val="C00000"/>
                    </a:solidFill>
                    <a:latin typeface="+mn-lt"/>
                    <a:ea typeface="楷体" pitchFamily="49" charset="-122"/>
                  </a:endParaRPr>
                </a:p>
              </p:txBody>
            </p:sp>
            <p:sp>
              <p:nvSpPr>
                <p:cNvPr id="1200213" name="Text Box 85"/>
                <p:cNvSpPr txBox="1">
                  <a:spLocks noChangeArrowheads="1"/>
                </p:cNvSpPr>
                <p:nvPr/>
              </p:nvSpPr>
              <p:spPr bwMode="auto">
                <a:xfrm>
                  <a:off x="4584" y="1437"/>
                  <a:ext cx="60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zh-CN" sz="2000" b="1">
                      <a:solidFill>
                        <a:srgbClr val="C00000"/>
                      </a:solidFill>
                      <a:latin typeface="+mn-lt"/>
                      <a:ea typeface="楷体" pitchFamily="49" charset="-122"/>
                    </a:rPr>
                    <a:t>指针</a:t>
                  </a:r>
                  <a:r>
                    <a:rPr lang="en-US" altLang="zh-CN" sz="2000" b="1">
                      <a:solidFill>
                        <a:srgbClr val="C00000"/>
                      </a:solidFill>
                      <a:latin typeface="+mn-lt"/>
                      <a:ea typeface="楷体" pitchFamily="49" charset="-122"/>
                    </a:rPr>
                    <a:t>p1</a:t>
                  </a:r>
                </a:p>
              </p:txBody>
            </p:sp>
          </p:grpSp>
          <p:grpSp>
            <p:nvGrpSpPr>
              <p:cNvPr id="1200214" name="Group 86"/>
              <p:cNvGrpSpPr>
                <a:grpSpLocks/>
              </p:cNvGrpSpPr>
              <p:nvPr/>
            </p:nvGrpSpPr>
            <p:grpSpPr bwMode="auto">
              <a:xfrm>
                <a:off x="4795" y="2637"/>
                <a:ext cx="789" cy="250"/>
                <a:chOff x="4402" y="1437"/>
                <a:chExt cx="789" cy="250"/>
              </a:xfrm>
            </p:grpSpPr>
            <p:sp>
              <p:nvSpPr>
                <p:cNvPr id="1200215" name="Line 87"/>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b="1">
                    <a:solidFill>
                      <a:srgbClr val="C00000"/>
                    </a:solidFill>
                    <a:latin typeface="+mn-lt"/>
                    <a:ea typeface="楷体" pitchFamily="49" charset="-122"/>
                  </a:endParaRPr>
                </a:p>
              </p:txBody>
            </p:sp>
            <p:sp>
              <p:nvSpPr>
                <p:cNvPr id="1200216" name="Text Box 88"/>
                <p:cNvSpPr txBox="1">
                  <a:spLocks noChangeArrowheads="1"/>
                </p:cNvSpPr>
                <p:nvPr/>
              </p:nvSpPr>
              <p:spPr bwMode="auto">
                <a:xfrm>
                  <a:off x="4584" y="1437"/>
                  <a:ext cx="60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b="1">
                      <a:solidFill>
                        <a:srgbClr val="C00000"/>
                      </a:solidFill>
                      <a:latin typeface="+mn-lt"/>
                      <a:ea typeface="楷体" pitchFamily="49" charset="-122"/>
                    </a:rPr>
                    <a:t>指针</a:t>
                  </a:r>
                  <a:r>
                    <a:rPr lang="en-US" altLang="zh-CN" sz="2000" b="1">
                      <a:solidFill>
                        <a:srgbClr val="C00000"/>
                      </a:solidFill>
                      <a:latin typeface="+mn-lt"/>
                      <a:ea typeface="楷体" pitchFamily="49" charset="-122"/>
                    </a:rPr>
                    <a:t>p2</a:t>
                  </a:r>
                </a:p>
              </p:txBody>
            </p:sp>
          </p:grpSp>
          <p:grpSp>
            <p:nvGrpSpPr>
              <p:cNvPr id="1200217" name="Group 89"/>
              <p:cNvGrpSpPr>
                <a:grpSpLocks/>
              </p:cNvGrpSpPr>
              <p:nvPr/>
            </p:nvGrpSpPr>
            <p:grpSpPr bwMode="auto">
              <a:xfrm>
                <a:off x="4795" y="2889"/>
                <a:ext cx="709" cy="250"/>
                <a:chOff x="4402" y="1437"/>
                <a:chExt cx="709" cy="250"/>
              </a:xfrm>
            </p:grpSpPr>
            <p:sp>
              <p:nvSpPr>
                <p:cNvPr id="1200218" name="Line 90"/>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b="1">
                    <a:solidFill>
                      <a:srgbClr val="C00000"/>
                    </a:solidFill>
                    <a:latin typeface="+mn-lt"/>
                    <a:ea typeface="楷体" pitchFamily="49" charset="-122"/>
                  </a:endParaRPr>
                </a:p>
              </p:txBody>
            </p:sp>
            <p:sp>
              <p:nvSpPr>
                <p:cNvPr id="1200219" name="Text Box 91"/>
                <p:cNvSpPr txBox="1">
                  <a:spLocks noChangeArrowheads="1"/>
                </p:cNvSpPr>
                <p:nvPr/>
              </p:nvSpPr>
              <p:spPr bwMode="auto">
                <a:xfrm>
                  <a:off x="4584" y="1437"/>
                  <a:ext cx="52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b="1">
                      <a:solidFill>
                        <a:srgbClr val="C00000"/>
                      </a:solidFill>
                      <a:latin typeface="+mn-lt"/>
                      <a:ea typeface="楷体" pitchFamily="49" charset="-122"/>
                    </a:rPr>
                    <a:t>指针</a:t>
                  </a:r>
                  <a:r>
                    <a:rPr lang="en-US" altLang="zh-CN" sz="2000" b="1">
                      <a:solidFill>
                        <a:srgbClr val="C00000"/>
                      </a:solidFill>
                      <a:latin typeface="+mn-lt"/>
                      <a:ea typeface="楷体" pitchFamily="49" charset="-122"/>
                    </a:rPr>
                    <a:t>p</a:t>
                  </a:r>
                </a:p>
              </p:txBody>
            </p:sp>
          </p:grpSp>
        </p:grpSp>
        <p:sp>
          <p:nvSpPr>
            <p:cNvPr id="1200220" name="Text Box 92"/>
            <p:cNvSpPr txBox="1">
              <a:spLocks noChangeArrowheads="1"/>
            </p:cNvSpPr>
            <p:nvPr/>
          </p:nvSpPr>
          <p:spPr bwMode="auto">
            <a:xfrm>
              <a:off x="3686" y="2780"/>
              <a:ext cx="44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dirty="0">
                  <a:solidFill>
                    <a:srgbClr val="C00000"/>
                  </a:solidFill>
                  <a:latin typeface="+mn-lt"/>
                  <a:ea typeface="楷体" pitchFamily="49" charset="-122"/>
                </a:rPr>
                <a:t>****</a:t>
              </a:r>
            </a:p>
          </p:txBody>
        </p:sp>
      </p:grpSp>
      <p:sp>
        <p:nvSpPr>
          <p:cNvPr id="1200221" name="Text Box 93"/>
          <p:cNvSpPr txBox="1">
            <a:spLocks noChangeArrowheads="1"/>
          </p:cNvSpPr>
          <p:nvPr/>
        </p:nvSpPr>
        <p:spPr bwMode="auto">
          <a:xfrm>
            <a:off x="4556783" y="5347866"/>
            <a:ext cx="1203325"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b="1">
                <a:solidFill>
                  <a:srgbClr val="C00000"/>
                </a:solidFill>
                <a:ea typeface="隶书" pitchFamily="49" charset="-122"/>
              </a:rPr>
              <a:t>假设</a:t>
            </a:r>
            <a:r>
              <a:rPr lang="en-US" altLang="zh-CN" sz="2000" b="1">
                <a:solidFill>
                  <a:srgbClr val="C00000"/>
                </a:solidFill>
              </a:rPr>
              <a:t>2000</a:t>
            </a:r>
          </a:p>
        </p:txBody>
      </p:sp>
      <p:sp>
        <p:nvSpPr>
          <p:cNvPr id="1200222" name="AutoShape 94"/>
          <p:cNvSpPr>
            <a:spLocks noChangeArrowheads="1"/>
          </p:cNvSpPr>
          <p:nvPr/>
        </p:nvSpPr>
        <p:spPr bwMode="auto">
          <a:xfrm>
            <a:off x="8997537" y="607037"/>
            <a:ext cx="3143635" cy="1523942"/>
          </a:xfrm>
          <a:prstGeom prst="irregularSeal1">
            <a:avLst/>
          </a:prstGeom>
          <a:gradFill rotWithShape="1">
            <a:gsLst>
              <a:gs pos="0">
                <a:srgbClr val="CFCFD1"/>
              </a:gs>
              <a:gs pos="100000">
                <a:schemeClr val="bg1"/>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lstStyle/>
          <a:p>
            <a:pPr algn="ctr">
              <a:lnSpc>
                <a:spcPct val="100000"/>
              </a:lnSpc>
              <a:spcBef>
                <a:spcPct val="0"/>
              </a:spcBef>
            </a:pPr>
            <a:r>
              <a:rPr lang="zh-CN" altLang="en-US" sz="2000" dirty="0">
                <a:solidFill>
                  <a:srgbClr val="C00000"/>
                </a:solidFill>
                <a:ea typeface="隶书" pitchFamily="49" charset="-122"/>
              </a:rPr>
              <a:t>指针变量在使用前</a:t>
            </a:r>
          </a:p>
          <a:p>
            <a:pPr algn="ctr">
              <a:lnSpc>
                <a:spcPct val="100000"/>
              </a:lnSpc>
              <a:spcBef>
                <a:spcPct val="0"/>
              </a:spcBef>
            </a:pPr>
            <a:r>
              <a:rPr lang="zh-CN" altLang="en-US" sz="2000" dirty="0">
                <a:solidFill>
                  <a:srgbClr val="C00000"/>
                </a:solidFill>
                <a:ea typeface="隶书" pitchFamily="49" charset="-122"/>
              </a:rPr>
              <a:t>必须赋值！</a:t>
            </a:r>
            <a:endParaRPr lang="zh-CN" altLang="en-US" sz="2000" dirty="0">
              <a:solidFill>
                <a:srgbClr val="C00000"/>
              </a:solidFill>
            </a:endParaRPr>
          </a:p>
        </p:txBody>
      </p:sp>
      <p:sp>
        <p:nvSpPr>
          <p:cNvPr id="96" name="Rectangle 4">
            <a:extLst>
              <a:ext uri="{FF2B5EF4-FFF2-40B4-BE49-F238E27FC236}">
                <a16:creationId xmlns:a16="http://schemas.microsoft.com/office/drawing/2014/main" id="{80DC5540-628C-45E2-BEC6-D06F798A5C43}"/>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0132"/>
                                        </p:tgtEl>
                                        <p:attrNameLst>
                                          <p:attrName>style.visibility</p:attrName>
                                        </p:attrNameLst>
                                      </p:cBhvr>
                                      <p:to>
                                        <p:strVal val="visible"/>
                                      </p:to>
                                    </p:set>
                                    <p:animEffect transition="in" filter="box(out)">
                                      <p:cBhvr>
                                        <p:cTn id="7" dur="500"/>
                                        <p:tgtEl>
                                          <p:spTgt spid="120013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200137"/>
                                        </p:tgtEl>
                                        <p:attrNameLst>
                                          <p:attrName>style.visibility</p:attrName>
                                        </p:attrNameLst>
                                      </p:cBhvr>
                                      <p:to>
                                        <p:strVal val="visible"/>
                                      </p:to>
                                    </p:set>
                                    <p:animEffect transition="in" filter="box(out)">
                                      <p:cBhvr>
                                        <p:cTn id="12" dur="500"/>
                                        <p:tgtEl>
                                          <p:spTgt spid="1200137"/>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200183"/>
                                        </p:tgtEl>
                                        <p:attrNameLst>
                                          <p:attrName>style.visibility</p:attrName>
                                        </p:attrNameLst>
                                      </p:cBhvr>
                                      <p:to>
                                        <p:strVal val="visible"/>
                                      </p:to>
                                    </p:set>
                                    <p:animEffect transition="in" filter="box(out)">
                                      <p:cBhvr>
                                        <p:cTn id="17" dur="500"/>
                                        <p:tgtEl>
                                          <p:spTgt spid="120018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00181">
                                            <p:txEl>
                                              <p:pRg st="0" end="0"/>
                                            </p:txEl>
                                          </p:spTgt>
                                        </p:tgtEl>
                                        <p:attrNameLst>
                                          <p:attrName>style.visibility</p:attrName>
                                        </p:attrNameLst>
                                      </p:cBhvr>
                                      <p:to>
                                        <p:strVal val="visible"/>
                                      </p:to>
                                    </p:set>
                                    <p:animEffect transition="in" filter="box(out)">
                                      <p:cBhvr>
                                        <p:cTn id="22" dur="500"/>
                                        <p:tgtEl>
                                          <p:spTgt spid="1200181">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00182">
                                            <p:txEl>
                                              <p:pRg st="0" end="0"/>
                                            </p:txEl>
                                          </p:spTgt>
                                        </p:tgtEl>
                                        <p:attrNameLst>
                                          <p:attrName>style.visibility</p:attrName>
                                        </p:attrNameLst>
                                      </p:cBhvr>
                                      <p:to>
                                        <p:strVal val="visible"/>
                                      </p:to>
                                    </p:set>
                                    <p:animEffect transition="in" filter="box(out)">
                                      <p:cBhvr>
                                        <p:cTn id="27" dur="500"/>
                                        <p:tgtEl>
                                          <p:spTgt spid="1200182">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200197">
                                            <p:txEl>
                                              <p:pRg st="0" end="0"/>
                                            </p:txEl>
                                          </p:spTgt>
                                        </p:tgtEl>
                                        <p:attrNameLst>
                                          <p:attrName>style.visibility</p:attrName>
                                        </p:attrNameLst>
                                      </p:cBhvr>
                                      <p:to>
                                        <p:strVal val="visible"/>
                                      </p:to>
                                    </p:set>
                                    <p:animEffect transition="in" filter="box(out)">
                                      <p:cBhvr>
                                        <p:cTn id="32" dur="500"/>
                                        <p:tgtEl>
                                          <p:spTgt spid="1200197">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200198">
                                            <p:txEl>
                                              <p:pRg st="0" end="0"/>
                                            </p:txEl>
                                          </p:spTgt>
                                        </p:tgtEl>
                                        <p:attrNameLst>
                                          <p:attrName>style.visibility</p:attrName>
                                        </p:attrNameLst>
                                      </p:cBhvr>
                                      <p:to>
                                        <p:strVal val="visible"/>
                                      </p:to>
                                    </p:set>
                                    <p:animEffect transition="in" filter="box(out)">
                                      <p:cBhvr>
                                        <p:cTn id="37" dur="500"/>
                                        <p:tgtEl>
                                          <p:spTgt spid="1200198">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200208"/>
                                        </p:tgtEl>
                                        <p:attrNameLst>
                                          <p:attrName>style.visibility</p:attrName>
                                        </p:attrNameLst>
                                      </p:cBhvr>
                                      <p:to>
                                        <p:strVal val="visible"/>
                                      </p:to>
                                    </p:set>
                                    <p:animEffect transition="in" filter="box(out)">
                                      <p:cBhvr>
                                        <p:cTn id="42" dur="500"/>
                                        <p:tgtEl>
                                          <p:spTgt spid="1200208"/>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200201"/>
                                        </p:tgtEl>
                                        <p:attrNameLst>
                                          <p:attrName>style.visibility</p:attrName>
                                        </p:attrNameLst>
                                      </p:cBhvr>
                                      <p:to>
                                        <p:strVal val="visible"/>
                                      </p:to>
                                    </p:set>
                                    <p:animEffect transition="in" filter="box(out)">
                                      <p:cBhvr>
                                        <p:cTn id="47" dur="500"/>
                                        <p:tgtEl>
                                          <p:spTgt spid="1200201"/>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500"/>
                            </p:stCondLst>
                            <p:childTnLst>
                              <p:par>
                                <p:cTn id="49" presetID="4" presetClass="entr" presetSubtype="32" fill="hold" nodeType="afterEffect">
                                  <p:stCondLst>
                                    <p:cond delay="0"/>
                                  </p:stCondLst>
                                  <p:childTnLst>
                                    <p:set>
                                      <p:cBhvr>
                                        <p:cTn id="50" dur="1" fill="hold">
                                          <p:stCondLst>
                                            <p:cond delay="0"/>
                                          </p:stCondLst>
                                        </p:cTn>
                                        <p:tgtEl>
                                          <p:spTgt spid="1200204"/>
                                        </p:tgtEl>
                                        <p:attrNameLst>
                                          <p:attrName>style.visibility</p:attrName>
                                        </p:attrNameLst>
                                      </p:cBhvr>
                                      <p:to>
                                        <p:strVal val="visible"/>
                                      </p:to>
                                    </p:set>
                                    <p:animEffect transition="in" filter="box(out)">
                                      <p:cBhvr>
                                        <p:cTn id="51" dur="500"/>
                                        <p:tgtEl>
                                          <p:spTgt spid="1200204"/>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par>
                          <p:cTn id="52" fill="hold">
                            <p:stCondLst>
                              <p:cond delay="1000"/>
                            </p:stCondLst>
                            <p:childTnLst>
                              <p:par>
                                <p:cTn id="53" presetID="4" presetClass="entr" presetSubtype="32" fill="hold" grpId="0" nodeType="afterEffect">
                                  <p:stCondLst>
                                    <p:cond delay="0"/>
                                  </p:stCondLst>
                                  <p:childTnLst>
                                    <p:set>
                                      <p:cBhvr>
                                        <p:cTn id="54" dur="1" fill="hold">
                                          <p:stCondLst>
                                            <p:cond delay="0"/>
                                          </p:stCondLst>
                                        </p:cTn>
                                        <p:tgtEl>
                                          <p:spTgt spid="1200207">
                                            <p:txEl>
                                              <p:pRg st="0" end="0"/>
                                            </p:txEl>
                                          </p:spTgt>
                                        </p:tgtEl>
                                        <p:attrNameLst>
                                          <p:attrName>style.visibility</p:attrName>
                                        </p:attrNameLst>
                                      </p:cBhvr>
                                      <p:to>
                                        <p:strVal val="visible"/>
                                      </p:to>
                                    </p:set>
                                    <p:animEffect transition="in" filter="box(out)">
                                      <p:cBhvr>
                                        <p:cTn id="55" dur="500"/>
                                        <p:tgtEl>
                                          <p:spTgt spid="1200207">
                                            <p:txEl>
                                              <p:pRg st="0" end="0"/>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200221">
                                            <p:txEl>
                                              <p:pRg st="0" end="0"/>
                                            </p:txEl>
                                          </p:spTgt>
                                        </p:tgtEl>
                                        <p:attrNameLst>
                                          <p:attrName>style.visibility</p:attrName>
                                        </p:attrNameLst>
                                      </p:cBhvr>
                                      <p:to>
                                        <p:strVal val="visible"/>
                                      </p:to>
                                    </p:set>
                                    <p:animEffect transition="in" filter="box(out)">
                                      <p:cBhvr>
                                        <p:cTn id="60" dur="500"/>
                                        <p:tgtEl>
                                          <p:spTgt spid="1200221">
                                            <p:txEl>
                                              <p:pRg st="0" end="0"/>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200200"/>
                                        </p:tgtEl>
                                        <p:attrNameLst>
                                          <p:attrName>style.visibility</p:attrName>
                                        </p:attrNameLst>
                                      </p:cBhvr>
                                      <p:to>
                                        <p:strVal val="visible"/>
                                      </p:to>
                                    </p:set>
                                    <p:animEffect transition="in" filter="box(out)">
                                      <p:cBhvr>
                                        <p:cTn id="65" dur="500"/>
                                        <p:tgtEl>
                                          <p:spTgt spid="1200200"/>
                                        </p:tgtEl>
                                      </p:cBhvr>
                                    </p:animEffect>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200199"/>
                                        </p:tgtEl>
                                        <p:attrNameLst>
                                          <p:attrName>style.visibility</p:attrName>
                                        </p:attrNameLst>
                                      </p:cBhvr>
                                      <p:to>
                                        <p:strVal val="visible"/>
                                      </p:to>
                                    </p:set>
                                    <p:animEffect transition="in" filter="box(out)">
                                      <p:cBhvr>
                                        <p:cTn id="70" dur="500"/>
                                        <p:tgtEl>
                                          <p:spTgt spid="1200199"/>
                                        </p:tgtEl>
                                      </p:cBhvr>
                                    </p:animEffect>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childTnLst>
                          </p:cTn>
                        </p:par>
                      </p:childTnLst>
                    </p:cTn>
                  </p:par>
                  <p:par>
                    <p:cTn id="71" fill="hold">
                      <p:stCondLst>
                        <p:cond delay="indefinite"/>
                      </p:stCondLst>
                      <p:childTnLst>
                        <p:par>
                          <p:cTn id="72" fill="hold">
                            <p:stCondLst>
                              <p:cond delay="0"/>
                            </p:stCondLst>
                            <p:childTnLst>
                              <p:par>
                                <p:cTn id="73" presetID="4" presetClass="entr" presetSubtype="32" fill="hold" grpId="0" nodeType="clickEffect">
                                  <p:stCondLst>
                                    <p:cond delay="0"/>
                                  </p:stCondLst>
                                  <p:childTnLst>
                                    <p:set>
                                      <p:cBhvr>
                                        <p:cTn id="74" dur="1" fill="hold">
                                          <p:stCondLst>
                                            <p:cond delay="0"/>
                                          </p:stCondLst>
                                        </p:cTn>
                                        <p:tgtEl>
                                          <p:spTgt spid="1200133"/>
                                        </p:tgtEl>
                                        <p:attrNameLst>
                                          <p:attrName>style.visibility</p:attrName>
                                        </p:attrNameLst>
                                      </p:cBhvr>
                                      <p:to>
                                        <p:strVal val="visible"/>
                                      </p:to>
                                    </p:set>
                                    <p:animEffect transition="in" filter="box(out)">
                                      <p:cBhvr>
                                        <p:cTn id="75" dur="500"/>
                                        <p:tgtEl>
                                          <p:spTgt spid="1200133"/>
                                        </p:tgtEl>
                                      </p:cBhvr>
                                    </p:animEffect>
                                  </p:childTnLst>
                                  <p:subTnLst>
                                    <p:audio>
                                      <p:cMediaNode>
                                        <p:cTn display="0" masterRel="sameClick">
                                          <p:stCondLst>
                                            <p:cond evt="begin" delay="0">
                                              <p:tn val="73"/>
                                            </p:cond>
                                          </p:stCondLst>
                                          <p:endCondLst>
                                            <p:cond evt="onStopAudio" delay="0">
                                              <p:tgtEl>
                                                <p:sldTgt/>
                                              </p:tgtEl>
                                            </p:cond>
                                          </p:endCondLst>
                                        </p:cTn>
                                        <p:tgtEl>
                                          <p:sndTgt r:embed="rId3" name="chimes.wav"/>
                                        </p:tgtEl>
                                      </p:cMediaNode>
                                    </p:audio>
                                  </p:subTnLst>
                                </p:cTn>
                              </p:par>
                            </p:childTnLst>
                          </p:cTn>
                        </p:par>
                      </p:childTnLst>
                    </p:cTn>
                  </p:par>
                  <p:par>
                    <p:cTn id="76" fill="hold">
                      <p:stCondLst>
                        <p:cond delay="indefinite"/>
                      </p:stCondLst>
                      <p:childTnLst>
                        <p:par>
                          <p:cTn id="77" fill="hold">
                            <p:stCondLst>
                              <p:cond delay="0"/>
                            </p:stCondLst>
                            <p:childTnLst>
                              <p:par>
                                <p:cTn id="78" presetID="4" presetClass="entr" presetSubtype="32" fill="hold" grpId="0" nodeType="clickEffect">
                                  <p:stCondLst>
                                    <p:cond delay="0"/>
                                  </p:stCondLst>
                                  <p:childTnLst>
                                    <p:set>
                                      <p:cBhvr>
                                        <p:cTn id="79" dur="1" fill="hold">
                                          <p:stCondLst>
                                            <p:cond delay="0"/>
                                          </p:stCondLst>
                                        </p:cTn>
                                        <p:tgtEl>
                                          <p:spTgt spid="1200134"/>
                                        </p:tgtEl>
                                        <p:attrNameLst>
                                          <p:attrName>style.visibility</p:attrName>
                                        </p:attrNameLst>
                                      </p:cBhvr>
                                      <p:to>
                                        <p:strVal val="visible"/>
                                      </p:to>
                                    </p:set>
                                    <p:animEffect transition="in" filter="box(out)">
                                      <p:cBhvr>
                                        <p:cTn id="80" dur="500"/>
                                        <p:tgtEl>
                                          <p:spTgt spid="1200134"/>
                                        </p:tgtEl>
                                      </p:cBhvr>
                                    </p:animEffect>
                                  </p:childTnLst>
                                  <p:subTnLst>
                                    <p:audio>
                                      <p:cMediaNode>
                                        <p:cTn display="0" masterRel="sameClick">
                                          <p:stCondLst>
                                            <p:cond evt="begin" delay="0">
                                              <p:tn val="78"/>
                                            </p:cond>
                                          </p:stCondLst>
                                          <p:endCondLst>
                                            <p:cond evt="onStopAudio" delay="0">
                                              <p:tgtEl>
                                                <p:sldTgt/>
                                              </p:tgtEl>
                                            </p:cond>
                                          </p:endCondLst>
                                        </p:cTn>
                                        <p:tgtEl>
                                          <p:sndTgt r:embed="rId2" name="CAMERA.WAV"/>
                                        </p:tgtEl>
                                      </p:cMediaNode>
                                    </p:audio>
                                  </p:subTnLst>
                                </p:cTn>
                              </p:par>
                            </p:childTnLst>
                          </p:cTn>
                        </p:par>
                      </p:childTnLst>
                    </p:cTn>
                  </p:par>
                  <p:par>
                    <p:cTn id="81" fill="hold">
                      <p:stCondLst>
                        <p:cond delay="indefinite"/>
                      </p:stCondLst>
                      <p:childTnLst>
                        <p:par>
                          <p:cTn id="82" fill="hold">
                            <p:stCondLst>
                              <p:cond delay="0"/>
                            </p:stCondLst>
                            <p:childTnLst>
                              <p:par>
                                <p:cTn id="83" presetID="4" presetClass="entr" presetSubtype="32" fill="hold" grpId="0" nodeType="clickEffect">
                                  <p:stCondLst>
                                    <p:cond delay="0"/>
                                  </p:stCondLst>
                                  <p:childTnLst>
                                    <p:set>
                                      <p:cBhvr>
                                        <p:cTn id="84" dur="1" fill="hold">
                                          <p:stCondLst>
                                            <p:cond delay="0"/>
                                          </p:stCondLst>
                                        </p:cTn>
                                        <p:tgtEl>
                                          <p:spTgt spid="1200222"/>
                                        </p:tgtEl>
                                        <p:attrNameLst>
                                          <p:attrName>style.visibility</p:attrName>
                                        </p:attrNameLst>
                                      </p:cBhvr>
                                      <p:to>
                                        <p:strVal val="visible"/>
                                      </p:to>
                                    </p:set>
                                    <p:animEffect transition="in" filter="box(out)">
                                      <p:cBhvr>
                                        <p:cTn id="85" dur="500"/>
                                        <p:tgtEl>
                                          <p:spTgt spid="1200222"/>
                                        </p:tgtEl>
                                      </p:cBhvr>
                                    </p:animEffect>
                                  </p:childTnLst>
                                  <p:subTnLst>
                                    <p:audio>
                                      <p:cMediaNode>
                                        <p:cTn display="0" masterRel="sameClick">
                                          <p:stCondLst>
                                            <p:cond evt="begin" delay="0">
                                              <p:tn val="83"/>
                                            </p:cond>
                                          </p:stCondLst>
                                          <p:endCondLst>
                                            <p:cond evt="onStopAudio" delay="0">
                                              <p:tgtEl>
                                                <p:sldTgt/>
                                              </p:tgtEl>
                                            </p:cond>
                                          </p:endCondLst>
                                        </p:cTn>
                                        <p:tgtEl>
                                          <p:sndTgt r:embed="rId2" name="CAMERA.WAV"/>
                                        </p:tgtEl>
                                      </p:cMediaNode>
                                    </p:audio>
                                  </p:subTnLst>
                                </p:cTn>
                              </p:par>
                            </p:childTnLst>
                          </p:cTn>
                        </p:par>
                      </p:childTnLst>
                    </p:cTn>
                  </p:par>
                  <p:par>
                    <p:cTn id="86" fill="hold">
                      <p:stCondLst>
                        <p:cond delay="indefinite"/>
                      </p:stCondLst>
                      <p:childTnLst>
                        <p:par>
                          <p:cTn id="87" fill="hold">
                            <p:stCondLst>
                              <p:cond delay="0"/>
                            </p:stCondLst>
                            <p:childTnLst>
                              <p:par>
                                <p:cTn id="88" presetID="4" presetClass="entr" presetSubtype="32" fill="hold" grpId="0" nodeType="clickEffect">
                                  <p:stCondLst>
                                    <p:cond delay="0"/>
                                  </p:stCondLst>
                                  <p:childTnLst>
                                    <p:set>
                                      <p:cBhvr>
                                        <p:cTn id="89" dur="1" fill="hold">
                                          <p:stCondLst>
                                            <p:cond delay="0"/>
                                          </p:stCondLst>
                                        </p:cTn>
                                        <p:tgtEl>
                                          <p:spTgt spid="1200135"/>
                                        </p:tgtEl>
                                        <p:attrNameLst>
                                          <p:attrName>style.visibility</p:attrName>
                                        </p:attrNameLst>
                                      </p:cBhvr>
                                      <p:to>
                                        <p:strVal val="visible"/>
                                      </p:to>
                                    </p:set>
                                    <p:animEffect transition="in" filter="box(out)">
                                      <p:cBhvr>
                                        <p:cTn id="90" dur="500"/>
                                        <p:tgtEl>
                                          <p:spTgt spid="1200135"/>
                                        </p:tgtEl>
                                      </p:cBhvr>
                                    </p:animEffect>
                                  </p:childTnLst>
                                  <p:subTnLst>
                                    <p:audio>
                                      <p:cMediaNode>
                                        <p:cTn display="0" masterRel="sameClick">
                                          <p:stCondLst>
                                            <p:cond evt="begin" delay="0">
                                              <p:tn val="8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0132" grpId="0" animBg="1" autoUpdateAnimBg="0"/>
      <p:bldP spid="1200133" grpId="0" animBg="1" autoUpdateAnimBg="0"/>
      <p:bldP spid="1200134" grpId="0" animBg="1" autoUpdateAnimBg="0"/>
      <p:bldP spid="1200135" grpId="0" autoUpdateAnimBg="0"/>
      <p:bldP spid="1200181" grpId="0" build="p" autoUpdateAnimBg="0"/>
      <p:bldP spid="1200182" grpId="0" build="p" autoUpdateAnimBg="0"/>
      <p:bldP spid="1200197" grpId="0" build="p" autoUpdateAnimBg="0"/>
      <p:bldP spid="1200198" grpId="0" build="p" autoUpdateAnimBg="0"/>
      <p:bldP spid="1200199" grpId="0" animBg="1" autoUpdateAnimBg="0"/>
      <p:bldP spid="1200200" grpId="0" animBg="1" autoUpdateAnimBg="0"/>
      <p:bldP spid="1200207" grpId="0" build="p" autoUpdateAnimBg="0" advAuto="0"/>
      <p:bldP spid="1200221" grpId="0" build="p" autoUpdateAnimBg="0"/>
      <p:bldP spid="1200222" grpId="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156" name="Rectangle 4" descr="信纸"/>
          <p:cNvSpPr>
            <a:spLocks noChangeArrowheads="1"/>
          </p:cNvSpPr>
          <p:nvPr/>
        </p:nvSpPr>
        <p:spPr bwMode="auto">
          <a:xfrm>
            <a:off x="1328065" y="1349803"/>
            <a:ext cx="5157511" cy="5262979"/>
          </a:xfrm>
          <a:prstGeom prst="rect">
            <a:avLst/>
          </a:prstGeom>
          <a:gradFill>
            <a:gsLst>
              <a:gs pos="0">
                <a:srgbClr val="CFCFD1"/>
              </a:gs>
              <a:gs pos="100000">
                <a:schemeClr val="bg1"/>
              </a:gs>
            </a:gsLst>
            <a:lin ang="5400000" scaled="1"/>
          </a:gra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chemeClr val="accent1">
                    <a:lumMod val="50000"/>
                  </a:schemeClr>
                </a:solidFill>
                <a:ea typeface="宋体" pitchFamily="2" charset="-122"/>
              </a:rPr>
              <a:t>void swap (</a:t>
            </a:r>
            <a:r>
              <a:rPr lang="en-US" altLang="zh-CN" dirty="0" err="1">
                <a:solidFill>
                  <a:schemeClr val="accent1">
                    <a:lumMod val="50000"/>
                  </a:schemeClr>
                </a:solidFill>
                <a:ea typeface="宋体" pitchFamily="2" charset="-122"/>
              </a:rPr>
              <a:t>int</a:t>
            </a:r>
            <a:r>
              <a:rPr lang="en-US" altLang="zh-CN" dirty="0">
                <a:solidFill>
                  <a:schemeClr val="accent1">
                    <a:lumMod val="50000"/>
                  </a:schemeClr>
                </a:solidFill>
                <a:ea typeface="宋体" pitchFamily="2" charset="-122"/>
              </a:rPr>
              <a:t> x, </a:t>
            </a:r>
            <a:r>
              <a:rPr lang="en-US" altLang="zh-CN" dirty="0" err="1">
                <a:solidFill>
                  <a:schemeClr val="accent1">
                    <a:lumMod val="50000"/>
                  </a:schemeClr>
                </a:solidFill>
                <a:ea typeface="宋体" pitchFamily="2" charset="-122"/>
              </a:rPr>
              <a:t>int</a:t>
            </a:r>
            <a:r>
              <a:rPr lang="en-US" altLang="zh-CN" dirty="0">
                <a:solidFill>
                  <a:schemeClr val="accent1">
                    <a:lumMod val="50000"/>
                  </a:schemeClr>
                </a:solidFill>
                <a:ea typeface="宋体" pitchFamily="2" charset="-122"/>
              </a:rPr>
              <a:t> y)</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t;</a:t>
            </a:r>
          </a:p>
          <a:p>
            <a:pPr eaLnBrk="0" hangingPunct="0">
              <a:lnSpc>
                <a:spcPct val="100000"/>
              </a:lnSpc>
              <a:spcBef>
                <a:spcPct val="0"/>
              </a:spcBef>
            </a:pPr>
            <a:r>
              <a:rPr lang="en-US" altLang="zh-CN" dirty="0">
                <a:ea typeface="宋体" pitchFamily="2" charset="-122"/>
              </a:rPr>
              <a:t>   t = x;  x = y;  y = t;</a:t>
            </a:r>
          </a:p>
          <a:p>
            <a:pPr eaLnBrk="0" hangingPunct="0">
              <a:lnSpc>
                <a:spcPct val="100000"/>
              </a:lnSpc>
              <a:spcBef>
                <a:spcPct val="0"/>
              </a:spcBef>
            </a:pPr>
            <a:r>
              <a:rPr lang="en-US" altLang="zh-CN" dirty="0">
                <a:ea typeface="宋体" pitchFamily="2" charset="-122"/>
              </a:rPr>
              <a:t>}</a:t>
            </a:r>
          </a:p>
          <a:p>
            <a:pPr eaLnBrk="0" hangingPunct="0">
              <a:lnSpc>
                <a:spcPct val="100000"/>
              </a:lnSpc>
              <a:spcBef>
                <a:spcPct val="0"/>
              </a:spcBef>
            </a:pPr>
            <a:r>
              <a:rPr lang="en-US" altLang="zh-CN" dirty="0">
                <a:solidFill>
                  <a:srgbClr val="CC0099"/>
                </a:solidFill>
                <a:ea typeface="宋体" pitchFamily="2" charset="-122"/>
              </a:rPr>
              <a:t>void main ( )</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a:t>
            </a:r>
            <a:r>
              <a:rPr lang="en-US" altLang="zh-CN" dirty="0" err="1">
                <a:ea typeface="宋体" pitchFamily="2" charset="-122"/>
              </a:rPr>
              <a:t>a,b</a:t>
            </a:r>
            <a:r>
              <a:rPr lang="en-US" altLang="zh-CN" dirty="0">
                <a:ea typeface="宋体" pitchFamily="2" charset="-122"/>
              </a:rPr>
              <a:t>, *p_1,*p_2;</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scanf</a:t>
            </a:r>
            <a:r>
              <a:rPr lang="en-US" altLang="zh-CN" dirty="0">
                <a:ea typeface="宋体" pitchFamily="2" charset="-122"/>
              </a:rPr>
              <a:t> ("%</a:t>
            </a:r>
            <a:r>
              <a:rPr lang="en-US" altLang="zh-CN" dirty="0" err="1">
                <a:ea typeface="宋体" pitchFamily="2" charset="-122"/>
              </a:rPr>
              <a:t>d,%d</a:t>
            </a:r>
            <a:r>
              <a:rPr lang="en-US" altLang="zh-CN" dirty="0">
                <a:ea typeface="宋体" pitchFamily="2" charset="-122"/>
              </a:rPr>
              <a:t>", &amp;a, &amp;b);</a:t>
            </a:r>
          </a:p>
          <a:p>
            <a:pPr eaLnBrk="0" hangingPunct="0">
              <a:lnSpc>
                <a:spcPct val="100000"/>
              </a:lnSpc>
              <a:spcBef>
                <a:spcPct val="0"/>
              </a:spcBef>
            </a:pPr>
            <a:r>
              <a:rPr lang="en-US" altLang="zh-CN" dirty="0">
                <a:solidFill>
                  <a:srgbClr val="002060"/>
                </a:solidFill>
                <a:ea typeface="宋体" pitchFamily="2" charset="-122"/>
              </a:rPr>
              <a:t>   p_1 = &amp;a;  p_2 = &amp;b;</a:t>
            </a:r>
          </a:p>
          <a:p>
            <a:pPr eaLnBrk="0" hangingPunct="0">
              <a:lnSpc>
                <a:spcPct val="100000"/>
              </a:lnSpc>
              <a:spcBef>
                <a:spcPct val="0"/>
              </a:spcBef>
            </a:pPr>
            <a:r>
              <a:rPr lang="en-US" altLang="zh-CN" dirty="0">
                <a:ea typeface="宋体" pitchFamily="2" charset="-122"/>
              </a:rPr>
              <a:t>   if (a &lt; b)  </a:t>
            </a:r>
            <a:r>
              <a:rPr lang="en-US" altLang="zh-CN" dirty="0">
                <a:solidFill>
                  <a:srgbClr val="002060"/>
                </a:solidFill>
                <a:ea typeface="宋体" pitchFamily="2" charset="-122"/>
              </a:rPr>
              <a:t>swap (*p_1, *p_2);</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a:t>
            </a:r>
            <a:r>
              <a:rPr lang="en-US" altLang="zh-CN" dirty="0" err="1">
                <a:ea typeface="宋体" pitchFamily="2" charset="-122"/>
              </a:rPr>
              <a:t>n%d,%d</a:t>
            </a:r>
            <a:r>
              <a:rPr lang="en-US" altLang="zh-CN" dirty="0">
                <a:ea typeface="宋体" pitchFamily="2" charset="-122"/>
              </a:rPr>
              <a:t>\n", a, b);</a:t>
            </a:r>
          </a:p>
          <a:p>
            <a:pPr eaLnBrk="0" hangingPunct="0">
              <a:lnSpc>
                <a:spcPct val="100000"/>
              </a:lnSpc>
              <a:spcBef>
                <a:spcPct val="0"/>
              </a:spcBef>
            </a:pPr>
            <a:r>
              <a:rPr lang="en-US" altLang="zh-CN" dirty="0">
                <a:ea typeface="宋体" pitchFamily="2" charset="-122"/>
              </a:rPr>
              <a:t>   return 0;</a:t>
            </a:r>
          </a:p>
          <a:p>
            <a:pPr eaLnBrk="0" hangingPunct="0">
              <a:lnSpc>
                <a:spcPct val="100000"/>
              </a:lnSpc>
              <a:spcBef>
                <a:spcPct val="0"/>
              </a:spcBef>
            </a:pPr>
            <a:r>
              <a:rPr lang="en-US" altLang="zh-CN" dirty="0">
                <a:ea typeface="宋体" pitchFamily="2" charset="-122"/>
              </a:rPr>
              <a:t>}</a:t>
            </a:r>
          </a:p>
        </p:txBody>
      </p:sp>
      <p:sp>
        <p:nvSpPr>
          <p:cNvPr id="1201157" name="Text Box 5"/>
          <p:cNvSpPr txBox="1">
            <a:spLocks noChangeArrowheads="1"/>
          </p:cNvSpPr>
          <p:nvPr/>
        </p:nvSpPr>
        <p:spPr bwMode="auto">
          <a:xfrm>
            <a:off x="4419279" y="6021288"/>
            <a:ext cx="1989647" cy="40011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a:lnSpc>
                <a:spcPct val="100000"/>
              </a:lnSpc>
              <a:spcBef>
                <a:spcPct val="0"/>
              </a:spcBef>
            </a:pPr>
            <a:r>
              <a:rPr lang="zh-CN" altLang="en-US" sz="2000" dirty="0">
                <a:solidFill>
                  <a:srgbClr val="C00000"/>
                </a:solidFill>
                <a:latin typeface="隶书" pitchFamily="49" charset="-122"/>
                <a:ea typeface="隶书" pitchFamily="49" charset="-122"/>
              </a:rPr>
              <a:t>运行结果：</a:t>
            </a:r>
            <a:r>
              <a:rPr lang="en-US" altLang="zh-CN" sz="2000" dirty="0">
                <a:solidFill>
                  <a:schemeClr val="accent2">
                    <a:lumMod val="50000"/>
                  </a:schemeClr>
                </a:solidFill>
              </a:rPr>
              <a:t>5</a:t>
            </a:r>
            <a:r>
              <a:rPr lang="zh-CN" altLang="en-US" sz="2000" dirty="0">
                <a:solidFill>
                  <a:schemeClr val="accent2">
                    <a:lumMod val="50000"/>
                  </a:schemeClr>
                </a:solidFill>
              </a:rPr>
              <a:t>，</a:t>
            </a:r>
            <a:r>
              <a:rPr lang="en-US" altLang="zh-CN" sz="2000" dirty="0">
                <a:solidFill>
                  <a:schemeClr val="accent2">
                    <a:lumMod val="50000"/>
                  </a:schemeClr>
                </a:solidFill>
              </a:rPr>
              <a:t>9</a:t>
            </a:r>
          </a:p>
        </p:txBody>
      </p:sp>
      <p:sp>
        <p:nvSpPr>
          <p:cNvPr id="1201159" name="AutoShape 7"/>
          <p:cNvSpPr>
            <a:spLocks noChangeArrowheads="1"/>
          </p:cNvSpPr>
          <p:nvPr/>
        </p:nvSpPr>
        <p:spPr bwMode="auto">
          <a:xfrm>
            <a:off x="4484461" y="2082168"/>
            <a:ext cx="2138702" cy="1302716"/>
          </a:xfrm>
          <a:prstGeom prst="irregularSeal1">
            <a:avLst/>
          </a:prstGeom>
          <a:gradFill rotWithShape="1">
            <a:gsLst>
              <a:gs pos="0">
                <a:srgbClr val="CFCFD1"/>
              </a:gs>
              <a:gs pos="100000">
                <a:schemeClr val="bg1"/>
              </a:gs>
            </a:gsLst>
            <a:lin ang="5400000" scaled="1"/>
          </a:gradFill>
          <a:ln w="28575">
            <a:solidFill>
              <a:srgbClr val="C01920"/>
            </a:solidFill>
            <a:miter lim="800000"/>
            <a:headEnd type="none" w="lg" len="lg"/>
            <a:tailEnd/>
          </a:ln>
          <a:effectLst>
            <a:outerShdw blurRad="50800" dist="106680" dir="2700000" algn="tl" rotWithShape="0">
              <a:prstClr val="black">
                <a:alpha val="43000"/>
              </a:prstClr>
            </a:outerShdw>
          </a:effectLst>
        </p:spPr>
        <p:txBody>
          <a:bodyPr wrap="square" lIns="90000" tIns="46800" rIns="90000" bIns="46800" anchor="ctr">
            <a:spAutoFit/>
          </a:bodyPr>
          <a:lstStyle/>
          <a:p>
            <a:pPr algn="ctr">
              <a:lnSpc>
                <a:spcPct val="100000"/>
              </a:lnSpc>
              <a:spcBef>
                <a:spcPct val="0"/>
              </a:spcBef>
            </a:pPr>
            <a:r>
              <a:rPr lang="zh-CN" altLang="en-US" dirty="0">
                <a:solidFill>
                  <a:srgbClr val="C00000"/>
                </a:solidFill>
                <a:ea typeface="隶书" pitchFamily="49" charset="-122"/>
              </a:rPr>
              <a:t>值传递</a:t>
            </a:r>
          </a:p>
        </p:txBody>
      </p:sp>
      <p:grpSp>
        <p:nvGrpSpPr>
          <p:cNvPr id="1201160" name="Group 8"/>
          <p:cNvGrpSpPr>
            <a:grpSpLocks/>
          </p:cNvGrpSpPr>
          <p:nvPr/>
        </p:nvGrpSpPr>
        <p:grpSpPr bwMode="auto">
          <a:xfrm>
            <a:off x="7735622" y="1556792"/>
            <a:ext cx="2636837" cy="4625975"/>
            <a:chOff x="2879" y="554"/>
            <a:chExt cx="1661" cy="2914"/>
          </a:xfrm>
        </p:grpSpPr>
        <p:grpSp>
          <p:nvGrpSpPr>
            <p:cNvPr id="1201161" name="Group 9"/>
            <p:cNvGrpSpPr>
              <a:grpSpLocks/>
            </p:cNvGrpSpPr>
            <p:nvPr/>
          </p:nvGrpSpPr>
          <p:grpSpPr bwMode="auto">
            <a:xfrm>
              <a:off x="2879" y="554"/>
              <a:ext cx="1661" cy="2914"/>
              <a:chOff x="3144" y="806"/>
              <a:chExt cx="1661" cy="2914"/>
            </a:xfrm>
          </p:grpSpPr>
          <p:sp>
            <p:nvSpPr>
              <p:cNvPr id="1201162" name="Freeform 10"/>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01164" name="Rectangle 12"/>
              <p:cNvSpPr>
                <a:spLocks noChangeArrowheads="1"/>
              </p:cNvSpPr>
              <p:nvPr/>
            </p:nvSpPr>
            <p:spPr bwMode="auto">
              <a:xfrm>
                <a:off x="3582" y="806"/>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01165" name="Line 13"/>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1166" name="Line 14"/>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01167" name="Line 15"/>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1168" name="Line 16"/>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1169" name="Line 17"/>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1170" name="Line 18"/>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1171" name="Line 19"/>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01172" name="Line 20"/>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01173" name="Text Box 21"/>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201174" name="Line 22"/>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1175" name="Text Box 23"/>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01176" name="Text Box 24"/>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01177" name="Text Box 25"/>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01178" name="Text Box 26"/>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01179" name="Text Box 27"/>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01180" name="Text Box 28"/>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201181" name="Group 29"/>
              <p:cNvGrpSpPr>
                <a:grpSpLocks/>
              </p:cNvGrpSpPr>
              <p:nvPr/>
            </p:nvGrpSpPr>
            <p:grpSpPr bwMode="auto">
              <a:xfrm>
                <a:off x="3597" y="1380"/>
                <a:ext cx="60" cy="1548"/>
                <a:chOff x="3960" y="1560"/>
                <a:chExt cx="60" cy="1548"/>
              </a:xfrm>
            </p:grpSpPr>
            <p:sp>
              <p:nvSpPr>
                <p:cNvPr id="1201182" name="Line 30"/>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83" name="Line 31"/>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84" name="Line 32"/>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85" name="Line 33"/>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86" name="Line 34"/>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87" name="Line 35"/>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88" name="Line 36"/>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01189" name="Group 37"/>
              <p:cNvGrpSpPr>
                <a:grpSpLocks/>
              </p:cNvGrpSpPr>
              <p:nvPr/>
            </p:nvGrpSpPr>
            <p:grpSpPr bwMode="auto">
              <a:xfrm>
                <a:off x="4725" y="1368"/>
                <a:ext cx="60" cy="1548"/>
                <a:chOff x="3960" y="1560"/>
                <a:chExt cx="60" cy="1548"/>
              </a:xfrm>
            </p:grpSpPr>
            <p:sp>
              <p:nvSpPr>
                <p:cNvPr id="1201190" name="Line 38"/>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1" name="Line 39"/>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2" name="Line 40"/>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3" name="Line 41"/>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4" name="Line 42"/>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5" name="Line 43"/>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6" name="Line 44"/>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01197" name="Line 45"/>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8" name="Line 46"/>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01199" name="Line 47"/>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200" name="Text Box 48"/>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01201" name="Text Box 49"/>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01202" name="Text Box 50"/>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01163" name="Freeform 11"/>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201203" name="Text Box 51"/>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sp>
        <p:nvSpPr>
          <p:cNvPr id="1201204" name="Text Box 52"/>
          <p:cNvSpPr txBox="1">
            <a:spLocks noChangeArrowheads="1"/>
          </p:cNvSpPr>
          <p:nvPr/>
        </p:nvSpPr>
        <p:spPr bwMode="auto">
          <a:xfrm>
            <a:off x="9219933" y="2280691"/>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002060"/>
                </a:solidFill>
                <a:ea typeface="宋体" pitchFamily="2" charset="-122"/>
              </a:rPr>
              <a:t>5</a:t>
            </a:r>
          </a:p>
        </p:txBody>
      </p:sp>
      <p:sp>
        <p:nvSpPr>
          <p:cNvPr id="1201205" name="Text Box 53"/>
          <p:cNvSpPr txBox="1">
            <a:spLocks noChangeArrowheads="1"/>
          </p:cNvSpPr>
          <p:nvPr/>
        </p:nvSpPr>
        <p:spPr bwMode="auto">
          <a:xfrm>
            <a:off x="9238983" y="2642641"/>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9</a:t>
            </a:r>
          </a:p>
        </p:txBody>
      </p:sp>
      <p:grpSp>
        <p:nvGrpSpPr>
          <p:cNvPr id="1201206" name="Group 54"/>
          <p:cNvGrpSpPr>
            <a:grpSpLocks/>
          </p:cNvGrpSpPr>
          <p:nvPr/>
        </p:nvGrpSpPr>
        <p:grpSpPr bwMode="auto">
          <a:xfrm>
            <a:off x="8842114" y="1798092"/>
            <a:ext cx="2635252" cy="1828801"/>
            <a:chOff x="3841" y="958"/>
            <a:chExt cx="1660" cy="1152"/>
          </a:xfrm>
        </p:grpSpPr>
        <p:grpSp>
          <p:nvGrpSpPr>
            <p:cNvPr id="1201207" name="Group 55"/>
            <p:cNvGrpSpPr>
              <a:grpSpLocks/>
            </p:cNvGrpSpPr>
            <p:nvPr/>
          </p:nvGrpSpPr>
          <p:grpSpPr bwMode="auto">
            <a:xfrm>
              <a:off x="4783" y="1114"/>
              <a:ext cx="701" cy="250"/>
              <a:chOff x="4402" y="1426"/>
              <a:chExt cx="701" cy="250"/>
            </a:xfrm>
          </p:grpSpPr>
          <p:sp>
            <p:nvSpPr>
              <p:cNvPr id="1201208" name="Line 56"/>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09" name="Text Box 57"/>
              <p:cNvSpPr txBox="1">
                <a:spLocks noChangeArrowheads="1"/>
              </p:cNvSpPr>
              <p:nvPr/>
            </p:nvSpPr>
            <p:spPr bwMode="auto">
              <a:xfrm>
                <a:off x="4584" y="1426"/>
                <a:ext cx="519"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整型</a:t>
                </a:r>
                <a:r>
                  <a:rPr lang="en-US" altLang="zh-CN" sz="2000">
                    <a:effectLst>
                      <a:outerShdw blurRad="38100" dist="38100" dir="2700000" algn="tl">
                        <a:srgbClr val="FFFFFF"/>
                      </a:outerShdw>
                    </a:effectLst>
                    <a:latin typeface="+mn-lt"/>
                    <a:ea typeface="楷体" pitchFamily="49" charset="-122"/>
                  </a:rPr>
                  <a:t>a</a:t>
                </a:r>
              </a:p>
            </p:txBody>
          </p:sp>
        </p:grpSp>
        <p:grpSp>
          <p:nvGrpSpPr>
            <p:cNvPr id="1201210" name="Group 58"/>
            <p:cNvGrpSpPr>
              <a:grpSpLocks/>
            </p:cNvGrpSpPr>
            <p:nvPr/>
          </p:nvGrpSpPr>
          <p:grpSpPr bwMode="auto">
            <a:xfrm>
              <a:off x="4783" y="1354"/>
              <a:ext cx="718" cy="252"/>
              <a:chOff x="4426" y="1906"/>
              <a:chExt cx="718" cy="252"/>
            </a:xfrm>
          </p:grpSpPr>
          <p:sp>
            <p:nvSpPr>
              <p:cNvPr id="1201211" name="Line 59"/>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12" name="Text Box 60"/>
              <p:cNvSpPr txBox="1">
                <a:spLocks noChangeArrowheads="1"/>
              </p:cNvSpPr>
              <p:nvPr/>
            </p:nvSpPr>
            <p:spPr bwMode="auto">
              <a:xfrm>
                <a:off x="4572" y="1906"/>
                <a:ext cx="572"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dirty="0">
                    <a:effectLst>
                      <a:outerShdw blurRad="38100" dist="38100" dir="2700000" algn="tl">
                        <a:srgbClr val="FFFFFF"/>
                      </a:outerShdw>
                    </a:effectLst>
                    <a:latin typeface="+mn-lt"/>
                    <a:ea typeface="楷体" pitchFamily="49" charset="-122"/>
                  </a:rPr>
                  <a:t> </a:t>
                </a:r>
                <a:r>
                  <a:rPr lang="zh-CN" altLang="en-US" sz="2000" dirty="0">
                    <a:effectLst>
                      <a:outerShdw blurRad="38100" dist="38100" dir="2700000" algn="tl">
                        <a:srgbClr val="FFFFFF"/>
                      </a:outerShdw>
                    </a:effectLst>
                    <a:latin typeface="+mn-lt"/>
                    <a:ea typeface="楷体" pitchFamily="49" charset="-122"/>
                  </a:rPr>
                  <a:t>整型</a:t>
                </a:r>
                <a:r>
                  <a:rPr lang="en-US" altLang="zh-CN" sz="2000" dirty="0">
                    <a:effectLst>
                      <a:outerShdw blurRad="38100" dist="38100" dir="2700000" algn="tl">
                        <a:srgbClr val="FFFFFF"/>
                      </a:outerShdw>
                    </a:effectLst>
                    <a:latin typeface="+mn-lt"/>
                    <a:ea typeface="楷体" pitchFamily="49" charset="-122"/>
                  </a:rPr>
                  <a:t>b</a:t>
                </a:r>
              </a:p>
            </p:txBody>
          </p:sp>
        </p:grpSp>
        <p:sp>
          <p:nvSpPr>
            <p:cNvPr id="1201213" name="Text Box 61"/>
            <p:cNvSpPr txBox="1">
              <a:spLocks noChangeArrowheads="1"/>
            </p:cNvSpPr>
            <p:nvPr/>
          </p:nvSpPr>
          <p:spPr bwMode="auto">
            <a:xfrm>
              <a:off x="3841" y="958"/>
              <a:ext cx="666" cy="291"/>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CF0D9E"/>
                  </a:solidFill>
                  <a:latin typeface="+mn-lt"/>
                  <a:ea typeface="楷体" pitchFamily="49" charset="-122"/>
                </a:rPr>
                <a:t>(main)</a:t>
              </a:r>
            </a:p>
          </p:txBody>
        </p:sp>
        <p:grpSp>
          <p:nvGrpSpPr>
            <p:cNvPr id="1201214" name="Group 62"/>
            <p:cNvGrpSpPr>
              <a:grpSpLocks/>
            </p:cNvGrpSpPr>
            <p:nvPr/>
          </p:nvGrpSpPr>
          <p:grpSpPr bwMode="auto">
            <a:xfrm>
              <a:off x="4783" y="1594"/>
              <a:ext cx="550" cy="252"/>
              <a:chOff x="4402" y="1426"/>
              <a:chExt cx="550" cy="252"/>
            </a:xfrm>
          </p:grpSpPr>
          <p:sp>
            <p:nvSpPr>
              <p:cNvPr id="1201215" name="Line 63"/>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16" name="Text Box 64"/>
              <p:cNvSpPr txBox="1">
                <a:spLocks noChangeArrowheads="1"/>
              </p:cNvSpPr>
              <p:nvPr/>
            </p:nvSpPr>
            <p:spPr bwMode="auto">
              <a:xfrm>
                <a:off x="4584" y="1426"/>
                <a:ext cx="368"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p_1</a:t>
                </a:r>
              </a:p>
            </p:txBody>
          </p:sp>
        </p:grpSp>
        <p:grpSp>
          <p:nvGrpSpPr>
            <p:cNvPr id="1201217" name="Group 65"/>
            <p:cNvGrpSpPr>
              <a:grpSpLocks/>
            </p:cNvGrpSpPr>
            <p:nvPr/>
          </p:nvGrpSpPr>
          <p:grpSpPr bwMode="auto">
            <a:xfrm>
              <a:off x="4795" y="1858"/>
              <a:ext cx="550" cy="252"/>
              <a:chOff x="4402" y="1426"/>
              <a:chExt cx="550" cy="252"/>
            </a:xfrm>
          </p:grpSpPr>
          <p:sp>
            <p:nvSpPr>
              <p:cNvPr id="1201218" name="Line 66"/>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19" name="Text Box 67"/>
              <p:cNvSpPr txBox="1">
                <a:spLocks noChangeArrowheads="1"/>
              </p:cNvSpPr>
              <p:nvPr/>
            </p:nvSpPr>
            <p:spPr bwMode="auto">
              <a:xfrm>
                <a:off x="4584" y="1426"/>
                <a:ext cx="368"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p_2</a:t>
                </a:r>
              </a:p>
            </p:txBody>
          </p:sp>
        </p:grpSp>
      </p:grpSp>
      <p:sp>
        <p:nvSpPr>
          <p:cNvPr id="1201220" name="Text Box 68"/>
          <p:cNvSpPr txBox="1">
            <a:spLocks noChangeArrowheads="1"/>
          </p:cNvSpPr>
          <p:nvPr/>
        </p:nvSpPr>
        <p:spPr bwMode="auto">
          <a:xfrm>
            <a:off x="8972283" y="3023641"/>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002060"/>
                </a:solidFill>
                <a:ea typeface="宋体" pitchFamily="2" charset="-122"/>
              </a:rPr>
              <a:t>2000</a:t>
            </a:r>
          </a:p>
        </p:txBody>
      </p:sp>
      <p:sp>
        <p:nvSpPr>
          <p:cNvPr id="1201221" name="Text Box 69"/>
          <p:cNvSpPr txBox="1">
            <a:spLocks noChangeArrowheads="1"/>
          </p:cNvSpPr>
          <p:nvPr/>
        </p:nvSpPr>
        <p:spPr bwMode="auto">
          <a:xfrm>
            <a:off x="8972283" y="3423691"/>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2002</a:t>
            </a:r>
          </a:p>
        </p:txBody>
      </p:sp>
      <p:grpSp>
        <p:nvGrpSpPr>
          <p:cNvPr id="1201222" name="Group 70"/>
          <p:cNvGrpSpPr>
            <a:grpSpLocks/>
          </p:cNvGrpSpPr>
          <p:nvPr/>
        </p:nvGrpSpPr>
        <p:grpSpPr bwMode="auto">
          <a:xfrm>
            <a:off x="7580046" y="2820443"/>
            <a:ext cx="1924050" cy="2279651"/>
            <a:chOff x="2926" y="1098"/>
            <a:chExt cx="1212" cy="1436"/>
          </a:xfrm>
        </p:grpSpPr>
        <p:sp>
          <p:nvSpPr>
            <p:cNvPr id="1201223" name="Text Box 71"/>
            <p:cNvSpPr txBox="1">
              <a:spLocks noChangeArrowheads="1"/>
            </p:cNvSpPr>
            <p:nvPr/>
          </p:nvSpPr>
          <p:spPr bwMode="auto">
            <a:xfrm>
              <a:off x="3926" y="2246"/>
              <a:ext cx="212"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C00000"/>
                  </a:solidFill>
                  <a:ea typeface="宋体" pitchFamily="2" charset="-122"/>
                </a:rPr>
                <a:t>9</a:t>
              </a:r>
            </a:p>
          </p:txBody>
        </p:sp>
        <p:sp>
          <p:nvSpPr>
            <p:cNvPr id="1201224" name="Freeform 72"/>
            <p:cNvSpPr>
              <a:spLocks/>
            </p:cNvSpPr>
            <p:nvPr/>
          </p:nvSpPr>
          <p:spPr bwMode="auto">
            <a:xfrm>
              <a:off x="2926" y="1098"/>
              <a:ext cx="540" cy="1290"/>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rgbClr val="C00000"/>
              </a:solidFill>
              <a:prstDash val="solid"/>
              <a:round/>
              <a:headEnd type="none" w="lg" len="lg"/>
              <a:tailEnd type="triangle" w="med" len="med"/>
            </a:ln>
            <a:effectLst/>
          </p:spPr>
          <p:txBody>
            <a:bodyPr wrap="square" lIns="90000" tIns="46800" rIns="90000" bIns="46800" anchor="ctr">
              <a:spAutoFit/>
            </a:bodyPr>
            <a:lstStyle/>
            <a:p>
              <a:endParaRPr lang="zh-CN" altLang="en-US"/>
            </a:p>
          </p:txBody>
        </p:sp>
      </p:grpSp>
      <p:sp>
        <p:nvSpPr>
          <p:cNvPr id="1201225" name="Text Box 73"/>
          <p:cNvSpPr txBox="1">
            <a:spLocks noChangeArrowheads="1"/>
          </p:cNvSpPr>
          <p:nvPr/>
        </p:nvSpPr>
        <p:spPr bwMode="auto">
          <a:xfrm>
            <a:off x="6816080" y="3446238"/>
            <a:ext cx="835783" cy="37151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1800" b="1" dirty="0">
                <a:solidFill>
                  <a:srgbClr val="002060"/>
                </a:solidFill>
                <a:ea typeface="隶书" pitchFamily="49" charset="-122"/>
              </a:rPr>
              <a:t>COPY</a:t>
            </a:r>
          </a:p>
        </p:txBody>
      </p:sp>
      <p:grpSp>
        <p:nvGrpSpPr>
          <p:cNvPr id="1201226" name="Group 74"/>
          <p:cNvGrpSpPr>
            <a:grpSpLocks/>
          </p:cNvGrpSpPr>
          <p:nvPr/>
        </p:nvGrpSpPr>
        <p:grpSpPr bwMode="auto">
          <a:xfrm>
            <a:off x="8859569" y="3855491"/>
            <a:ext cx="2628900" cy="1633538"/>
            <a:chOff x="3587" y="2002"/>
            <a:chExt cx="1656" cy="1029"/>
          </a:xfrm>
        </p:grpSpPr>
        <p:grpSp>
          <p:nvGrpSpPr>
            <p:cNvPr id="1201227" name="Group 75"/>
            <p:cNvGrpSpPr>
              <a:grpSpLocks/>
            </p:cNvGrpSpPr>
            <p:nvPr/>
          </p:nvGrpSpPr>
          <p:grpSpPr bwMode="auto">
            <a:xfrm>
              <a:off x="3587" y="2002"/>
              <a:ext cx="1656" cy="876"/>
              <a:chOff x="3852" y="2254"/>
              <a:chExt cx="1656" cy="876"/>
            </a:xfrm>
          </p:grpSpPr>
          <p:sp>
            <p:nvSpPr>
              <p:cNvPr id="1201228" name="Text Box 76"/>
              <p:cNvSpPr txBox="1">
                <a:spLocks noChangeArrowheads="1"/>
              </p:cNvSpPr>
              <p:nvPr/>
            </p:nvSpPr>
            <p:spPr bwMode="auto">
              <a:xfrm>
                <a:off x="3852" y="2254"/>
                <a:ext cx="667" cy="291"/>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chemeClr val="accent1">
                        <a:lumMod val="50000"/>
                      </a:schemeClr>
                    </a:solidFill>
                    <a:latin typeface="+mn-lt"/>
                    <a:ea typeface="楷体" pitchFamily="49" charset="-122"/>
                  </a:rPr>
                  <a:t>(swap)</a:t>
                </a:r>
              </a:p>
            </p:txBody>
          </p:sp>
          <p:grpSp>
            <p:nvGrpSpPr>
              <p:cNvPr id="1201229" name="Group 77"/>
              <p:cNvGrpSpPr>
                <a:grpSpLocks/>
              </p:cNvGrpSpPr>
              <p:nvPr/>
            </p:nvGrpSpPr>
            <p:grpSpPr bwMode="auto">
              <a:xfrm>
                <a:off x="4795" y="2386"/>
                <a:ext cx="701" cy="250"/>
                <a:chOff x="4402" y="1426"/>
                <a:chExt cx="701" cy="250"/>
              </a:xfrm>
            </p:grpSpPr>
            <p:sp>
              <p:nvSpPr>
                <p:cNvPr id="1201230" name="Line 78"/>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31" name="Text Box 79"/>
                <p:cNvSpPr txBox="1">
                  <a:spLocks noChangeArrowheads="1"/>
                </p:cNvSpPr>
                <p:nvPr/>
              </p:nvSpPr>
              <p:spPr bwMode="auto">
                <a:xfrm>
                  <a:off x="4584" y="1426"/>
                  <a:ext cx="519"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整型</a:t>
                  </a:r>
                  <a:r>
                    <a:rPr lang="en-US" altLang="zh-CN" sz="2000">
                      <a:effectLst>
                        <a:outerShdw blurRad="38100" dist="38100" dir="2700000" algn="tl">
                          <a:srgbClr val="FFFFFF"/>
                        </a:outerShdw>
                      </a:effectLst>
                      <a:latin typeface="+mn-lt"/>
                      <a:ea typeface="楷体" pitchFamily="49" charset="-122"/>
                    </a:rPr>
                    <a:t>x</a:t>
                  </a:r>
                </a:p>
              </p:txBody>
            </p:sp>
          </p:grpSp>
          <p:grpSp>
            <p:nvGrpSpPr>
              <p:cNvPr id="1201232" name="Group 80"/>
              <p:cNvGrpSpPr>
                <a:grpSpLocks/>
              </p:cNvGrpSpPr>
              <p:nvPr/>
            </p:nvGrpSpPr>
            <p:grpSpPr bwMode="auto">
              <a:xfrm>
                <a:off x="4795" y="2626"/>
                <a:ext cx="713" cy="252"/>
                <a:chOff x="4402" y="1426"/>
                <a:chExt cx="713" cy="252"/>
              </a:xfrm>
            </p:grpSpPr>
            <p:sp>
              <p:nvSpPr>
                <p:cNvPr id="1201233" name="Line 81"/>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34" name="Text Box 82"/>
                <p:cNvSpPr txBox="1">
                  <a:spLocks noChangeArrowheads="1"/>
                </p:cNvSpPr>
                <p:nvPr/>
              </p:nvSpPr>
              <p:spPr bwMode="auto">
                <a:xfrm>
                  <a:off x="4584" y="1426"/>
                  <a:ext cx="531"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整型</a:t>
                  </a:r>
                  <a:r>
                    <a:rPr lang="en-US" altLang="zh-CN" sz="2000" dirty="0">
                      <a:effectLst>
                        <a:outerShdw blurRad="38100" dist="38100" dir="2700000" algn="tl">
                          <a:srgbClr val="FFFFFF"/>
                        </a:outerShdw>
                      </a:effectLst>
                      <a:latin typeface="+mn-lt"/>
                      <a:ea typeface="楷体" pitchFamily="49" charset="-122"/>
                    </a:rPr>
                    <a:t>y</a:t>
                  </a:r>
                </a:p>
              </p:txBody>
            </p:sp>
          </p:grpSp>
          <p:grpSp>
            <p:nvGrpSpPr>
              <p:cNvPr id="1201235" name="Group 83"/>
              <p:cNvGrpSpPr>
                <a:grpSpLocks/>
              </p:cNvGrpSpPr>
              <p:nvPr/>
            </p:nvGrpSpPr>
            <p:grpSpPr bwMode="auto">
              <a:xfrm>
                <a:off x="4795" y="2878"/>
                <a:ext cx="677" cy="252"/>
                <a:chOff x="4402" y="1426"/>
                <a:chExt cx="677" cy="252"/>
              </a:xfrm>
            </p:grpSpPr>
            <p:sp>
              <p:nvSpPr>
                <p:cNvPr id="1201236" name="Line 84"/>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37" name="Text Box 85"/>
                <p:cNvSpPr txBox="1">
                  <a:spLocks noChangeArrowheads="1"/>
                </p:cNvSpPr>
                <p:nvPr/>
              </p:nvSpPr>
              <p:spPr bwMode="auto">
                <a:xfrm>
                  <a:off x="4584" y="1426"/>
                  <a:ext cx="495"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整型</a:t>
                  </a:r>
                  <a:r>
                    <a:rPr lang="en-US" altLang="zh-CN" sz="2000" dirty="0">
                      <a:effectLst>
                        <a:outerShdw blurRad="38100" dist="38100" dir="2700000" algn="tl">
                          <a:srgbClr val="FFFFFF"/>
                        </a:outerShdw>
                      </a:effectLst>
                      <a:latin typeface="+mn-lt"/>
                      <a:ea typeface="楷体" pitchFamily="49" charset="-122"/>
                    </a:rPr>
                    <a:t>t</a:t>
                  </a:r>
                </a:p>
              </p:txBody>
            </p:sp>
          </p:grpSp>
        </p:grpSp>
        <p:sp>
          <p:nvSpPr>
            <p:cNvPr id="1201238" name="Text Box 86"/>
            <p:cNvSpPr txBox="1">
              <a:spLocks noChangeArrowheads="1"/>
            </p:cNvSpPr>
            <p:nvPr/>
          </p:nvSpPr>
          <p:spPr bwMode="auto">
            <a:xfrm>
              <a:off x="3850" y="2781"/>
              <a:ext cx="11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endParaRPr lang="zh-CN" altLang="zh-CN" sz="2000">
                <a:solidFill>
                  <a:srgbClr val="0000FF"/>
                </a:solidFill>
                <a:effectLst>
                  <a:outerShdw blurRad="38100" dist="38100" dir="2700000" algn="tl">
                    <a:srgbClr val="000000"/>
                  </a:outerShdw>
                </a:effectLst>
                <a:latin typeface="+mn-lt"/>
                <a:ea typeface="楷体" pitchFamily="49" charset="-122"/>
              </a:endParaRPr>
            </a:p>
          </p:txBody>
        </p:sp>
      </p:grpSp>
      <p:sp>
        <p:nvSpPr>
          <p:cNvPr id="1201239" name="Text Box 87"/>
          <p:cNvSpPr txBox="1">
            <a:spLocks noChangeArrowheads="1"/>
          </p:cNvSpPr>
          <p:nvPr/>
        </p:nvSpPr>
        <p:spPr bwMode="auto">
          <a:xfrm>
            <a:off x="9180715" y="5023891"/>
            <a:ext cx="336550" cy="457200"/>
          </a:xfrm>
          <a:prstGeom prst="rect">
            <a:avLst/>
          </a:prstGeom>
          <a:solidFill>
            <a:srgbClr val="DDFAED"/>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002060"/>
                </a:solidFill>
                <a:ea typeface="宋体" pitchFamily="2" charset="-122"/>
              </a:rPr>
              <a:t>5</a:t>
            </a:r>
          </a:p>
        </p:txBody>
      </p:sp>
      <p:sp>
        <p:nvSpPr>
          <p:cNvPr id="1201240" name="Text Box 88"/>
          <p:cNvSpPr txBox="1">
            <a:spLocks noChangeArrowheads="1"/>
          </p:cNvSpPr>
          <p:nvPr/>
        </p:nvSpPr>
        <p:spPr bwMode="auto">
          <a:xfrm>
            <a:off x="9191828" y="4655591"/>
            <a:ext cx="336550" cy="457200"/>
          </a:xfrm>
          <a:prstGeom prst="rect">
            <a:avLst/>
          </a:prstGeom>
          <a:solidFill>
            <a:srgbClr val="DDFAED"/>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002060"/>
                </a:solidFill>
                <a:ea typeface="宋体" pitchFamily="2" charset="-122"/>
              </a:rPr>
              <a:t>5</a:t>
            </a:r>
          </a:p>
        </p:txBody>
      </p:sp>
      <p:grpSp>
        <p:nvGrpSpPr>
          <p:cNvPr id="1201241" name="Group 89"/>
          <p:cNvGrpSpPr>
            <a:grpSpLocks/>
          </p:cNvGrpSpPr>
          <p:nvPr/>
        </p:nvGrpSpPr>
        <p:grpSpPr bwMode="auto">
          <a:xfrm>
            <a:off x="7567346" y="2498180"/>
            <a:ext cx="1955800" cy="2201864"/>
            <a:chOff x="2918" y="871"/>
            <a:chExt cx="1232" cy="1387"/>
          </a:xfrm>
        </p:grpSpPr>
        <p:sp>
          <p:nvSpPr>
            <p:cNvPr id="1201242" name="Text Box 90"/>
            <p:cNvSpPr txBox="1">
              <a:spLocks noChangeArrowheads="1"/>
            </p:cNvSpPr>
            <p:nvPr/>
          </p:nvSpPr>
          <p:spPr bwMode="auto">
            <a:xfrm>
              <a:off x="3938" y="1970"/>
              <a:ext cx="212"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002060"/>
                  </a:solidFill>
                  <a:ea typeface="宋体" pitchFamily="2" charset="-122"/>
                </a:rPr>
                <a:t>5</a:t>
              </a:r>
            </a:p>
          </p:txBody>
        </p:sp>
        <p:sp>
          <p:nvSpPr>
            <p:cNvPr id="1201243" name="Freeform 91"/>
            <p:cNvSpPr>
              <a:spLocks/>
            </p:cNvSpPr>
            <p:nvPr/>
          </p:nvSpPr>
          <p:spPr bwMode="auto">
            <a:xfrm rot="372485">
              <a:off x="2918" y="871"/>
              <a:ext cx="547" cy="1238"/>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002060"/>
              </a:solidFill>
              <a:prstDash val="solid"/>
              <a:round/>
              <a:headEnd type="none" w="med" len="med"/>
              <a:tailEnd type="triangle" w="med" len="med"/>
            </a:ln>
            <a:effectLst/>
          </p:spPr>
          <p:txBody>
            <a:bodyPr wrap="square" lIns="90000" tIns="46800" rIns="90000" bIns="46800" anchor="ctr">
              <a:spAutoFit/>
            </a:bodyPr>
            <a:lstStyle/>
            <a:p>
              <a:endParaRPr lang="zh-CN" altLang="en-US"/>
            </a:p>
          </p:txBody>
        </p:sp>
      </p:grpSp>
      <p:sp>
        <p:nvSpPr>
          <p:cNvPr id="1201244" name="Text Box 92"/>
          <p:cNvSpPr txBox="1">
            <a:spLocks noChangeArrowheads="1"/>
          </p:cNvSpPr>
          <p:nvPr/>
        </p:nvSpPr>
        <p:spPr bwMode="auto">
          <a:xfrm>
            <a:off x="9207703" y="4239666"/>
            <a:ext cx="336550" cy="457200"/>
          </a:xfrm>
          <a:prstGeom prst="rect">
            <a:avLst/>
          </a:prstGeom>
          <a:solidFill>
            <a:srgbClr val="DDFAED"/>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9</a:t>
            </a:r>
          </a:p>
        </p:txBody>
      </p:sp>
      <p:sp>
        <p:nvSpPr>
          <p:cNvPr id="1201245" name="Text Box 93"/>
          <p:cNvSpPr txBox="1">
            <a:spLocks noChangeArrowheads="1"/>
          </p:cNvSpPr>
          <p:nvPr/>
        </p:nvSpPr>
        <p:spPr bwMode="auto">
          <a:xfrm>
            <a:off x="862802" y="892603"/>
            <a:ext cx="3554412" cy="457200"/>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a:t>
            </a:r>
            <a:r>
              <a:rPr lang="zh-CN" altLang="en-US" dirty="0"/>
              <a:t>将数从大到小输出</a:t>
            </a:r>
          </a:p>
        </p:txBody>
      </p:sp>
      <p:sp>
        <p:nvSpPr>
          <p:cNvPr id="94" name="Rectangle 4">
            <a:extLst>
              <a:ext uri="{FF2B5EF4-FFF2-40B4-BE49-F238E27FC236}">
                <a16:creationId xmlns:a16="http://schemas.microsoft.com/office/drawing/2014/main" id="{BC502071-8288-4D3D-86BE-771DD7CC87CC}"/>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1156"/>
                                        </p:tgtEl>
                                        <p:attrNameLst>
                                          <p:attrName>style.visibility</p:attrName>
                                        </p:attrNameLst>
                                      </p:cBhvr>
                                      <p:to>
                                        <p:strVal val="visible"/>
                                      </p:to>
                                    </p:set>
                                    <p:animEffect transition="in" filter="box(out)">
                                      <p:cBhvr>
                                        <p:cTn id="7" dur="500"/>
                                        <p:tgtEl>
                                          <p:spTgt spid="120115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201160"/>
                                        </p:tgtEl>
                                        <p:attrNameLst>
                                          <p:attrName>style.visibility</p:attrName>
                                        </p:attrNameLst>
                                      </p:cBhvr>
                                      <p:to>
                                        <p:strVal val="visible"/>
                                      </p:to>
                                    </p:set>
                                    <p:animEffect transition="in" filter="box(out)">
                                      <p:cBhvr>
                                        <p:cTn id="12" dur="500"/>
                                        <p:tgtEl>
                                          <p:spTgt spid="120116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201206"/>
                                        </p:tgtEl>
                                        <p:attrNameLst>
                                          <p:attrName>style.visibility</p:attrName>
                                        </p:attrNameLst>
                                      </p:cBhvr>
                                      <p:to>
                                        <p:strVal val="visible"/>
                                      </p:to>
                                    </p:set>
                                    <p:animEffect transition="in" filter="box(out)">
                                      <p:cBhvr>
                                        <p:cTn id="17" dur="500"/>
                                        <p:tgtEl>
                                          <p:spTgt spid="1201206"/>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01204">
                                            <p:txEl>
                                              <p:pRg st="0" end="0"/>
                                            </p:txEl>
                                          </p:spTgt>
                                        </p:tgtEl>
                                        <p:attrNameLst>
                                          <p:attrName>style.visibility</p:attrName>
                                        </p:attrNameLst>
                                      </p:cBhvr>
                                      <p:to>
                                        <p:strVal val="visible"/>
                                      </p:to>
                                    </p:set>
                                    <p:animEffect transition="in" filter="box(out)">
                                      <p:cBhvr>
                                        <p:cTn id="22" dur="500"/>
                                        <p:tgtEl>
                                          <p:spTgt spid="1201204">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01205">
                                            <p:txEl>
                                              <p:pRg st="0" end="0"/>
                                            </p:txEl>
                                          </p:spTgt>
                                        </p:tgtEl>
                                        <p:attrNameLst>
                                          <p:attrName>style.visibility</p:attrName>
                                        </p:attrNameLst>
                                      </p:cBhvr>
                                      <p:to>
                                        <p:strVal val="visible"/>
                                      </p:to>
                                    </p:set>
                                    <p:animEffect transition="in" filter="box(out)">
                                      <p:cBhvr>
                                        <p:cTn id="27" dur="500"/>
                                        <p:tgtEl>
                                          <p:spTgt spid="1201205">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201220">
                                            <p:txEl>
                                              <p:pRg st="0" end="0"/>
                                            </p:txEl>
                                          </p:spTgt>
                                        </p:tgtEl>
                                        <p:attrNameLst>
                                          <p:attrName>style.visibility</p:attrName>
                                        </p:attrNameLst>
                                      </p:cBhvr>
                                      <p:to>
                                        <p:strVal val="visible"/>
                                      </p:to>
                                    </p:set>
                                    <p:animEffect transition="in" filter="box(out)">
                                      <p:cBhvr>
                                        <p:cTn id="32" dur="500"/>
                                        <p:tgtEl>
                                          <p:spTgt spid="1201220">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201221">
                                            <p:txEl>
                                              <p:pRg st="0" end="0"/>
                                            </p:txEl>
                                          </p:spTgt>
                                        </p:tgtEl>
                                        <p:attrNameLst>
                                          <p:attrName>style.visibility</p:attrName>
                                        </p:attrNameLst>
                                      </p:cBhvr>
                                      <p:to>
                                        <p:strVal val="visible"/>
                                      </p:to>
                                    </p:set>
                                    <p:animEffect transition="in" filter="box(out)">
                                      <p:cBhvr>
                                        <p:cTn id="37" dur="500"/>
                                        <p:tgtEl>
                                          <p:spTgt spid="1201221">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201226"/>
                                        </p:tgtEl>
                                        <p:attrNameLst>
                                          <p:attrName>style.visibility</p:attrName>
                                        </p:attrNameLst>
                                      </p:cBhvr>
                                      <p:to>
                                        <p:strVal val="visible"/>
                                      </p:to>
                                    </p:set>
                                    <p:animEffect transition="in" filter="box(out)">
                                      <p:cBhvr>
                                        <p:cTn id="42" dur="500"/>
                                        <p:tgtEl>
                                          <p:spTgt spid="1201226"/>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201241"/>
                                        </p:tgtEl>
                                        <p:attrNameLst>
                                          <p:attrName>style.visibility</p:attrName>
                                        </p:attrNameLst>
                                      </p:cBhvr>
                                      <p:to>
                                        <p:strVal val="visible"/>
                                      </p:to>
                                    </p:set>
                                    <p:animEffect transition="in" filter="box(out)">
                                      <p:cBhvr>
                                        <p:cTn id="47" dur="500"/>
                                        <p:tgtEl>
                                          <p:spTgt spid="1201241"/>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500"/>
                            </p:stCondLst>
                            <p:childTnLst>
                              <p:par>
                                <p:cTn id="49" presetID="4" presetClass="entr" presetSubtype="32" fill="hold" nodeType="afterEffect">
                                  <p:stCondLst>
                                    <p:cond delay="0"/>
                                  </p:stCondLst>
                                  <p:childTnLst>
                                    <p:set>
                                      <p:cBhvr>
                                        <p:cTn id="50" dur="1" fill="hold">
                                          <p:stCondLst>
                                            <p:cond delay="0"/>
                                          </p:stCondLst>
                                        </p:cTn>
                                        <p:tgtEl>
                                          <p:spTgt spid="1201222"/>
                                        </p:tgtEl>
                                        <p:attrNameLst>
                                          <p:attrName>style.visibility</p:attrName>
                                        </p:attrNameLst>
                                      </p:cBhvr>
                                      <p:to>
                                        <p:strVal val="visible"/>
                                      </p:to>
                                    </p:set>
                                    <p:animEffect transition="in" filter="box(out)">
                                      <p:cBhvr>
                                        <p:cTn id="51" dur="500"/>
                                        <p:tgtEl>
                                          <p:spTgt spid="1201222"/>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par>
                          <p:cTn id="52" fill="hold">
                            <p:stCondLst>
                              <p:cond delay="1000"/>
                            </p:stCondLst>
                            <p:childTnLst>
                              <p:par>
                                <p:cTn id="53" presetID="4" presetClass="entr" presetSubtype="32" fill="hold" grpId="0" nodeType="afterEffect">
                                  <p:stCondLst>
                                    <p:cond delay="0"/>
                                  </p:stCondLst>
                                  <p:childTnLst>
                                    <p:set>
                                      <p:cBhvr>
                                        <p:cTn id="54" dur="1" fill="hold">
                                          <p:stCondLst>
                                            <p:cond delay="0"/>
                                          </p:stCondLst>
                                        </p:cTn>
                                        <p:tgtEl>
                                          <p:spTgt spid="1201225">
                                            <p:txEl>
                                              <p:pRg st="0" end="0"/>
                                            </p:txEl>
                                          </p:spTgt>
                                        </p:tgtEl>
                                        <p:attrNameLst>
                                          <p:attrName>style.visibility</p:attrName>
                                        </p:attrNameLst>
                                      </p:cBhvr>
                                      <p:to>
                                        <p:strVal val="visible"/>
                                      </p:to>
                                    </p:set>
                                    <p:animEffect transition="in" filter="box(out)">
                                      <p:cBhvr>
                                        <p:cTn id="55" dur="500"/>
                                        <p:tgtEl>
                                          <p:spTgt spid="1201225">
                                            <p:txEl>
                                              <p:pRg st="0" end="0"/>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201239"/>
                                        </p:tgtEl>
                                        <p:attrNameLst>
                                          <p:attrName>style.visibility</p:attrName>
                                        </p:attrNameLst>
                                      </p:cBhvr>
                                      <p:to>
                                        <p:strVal val="visible"/>
                                      </p:to>
                                    </p:set>
                                    <p:animEffect transition="in" filter="box(out)">
                                      <p:cBhvr>
                                        <p:cTn id="60" dur="500"/>
                                        <p:tgtEl>
                                          <p:spTgt spid="1201239"/>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201244"/>
                                        </p:tgtEl>
                                        <p:attrNameLst>
                                          <p:attrName>style.visibility</p:attrName>
                                        </p:attrNameLst>
                                      </p:cBhvr>
                                      <p:to>
                                        <p:strVal val="visible"/>
                                      </p:to>
                                    </p:set>
                                    <p:animEffect transition="in" filter="box(out)">
                                      <p:cBhvr>
                                        <p:cTn id="65" dur="500"/>
                                        <p:tgtEl>
                                          <p:spTgt spid="1201244"/>
                                        </p:tgtEl>
                                      </p:cBhvr>
                                    </p:animEffect>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201240"/>
                                        </p:tgtEl>
                                        <p:attrNameLst>
                                          <p:attrName>style.visibility</p:attrName>
                                        </p:attrNameLst>
                                      </p:cBhvr>
                                      <p:to>
                                        <p:strVal val="visible"/>
                                      </p:to>
                                    </p:set>
                                    <p:animEffect transition="in" filter="box(out)">
                                      <p:cBhvr>
                                        <p:cTn id="70" dur="500"/>
                                        <p:tgtEl>
                                          <p:spTgt spid="1201240"/>
                                        </p:tgtEl>
                                      </p:cBhvr>
                                    </p:animEffect>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childTnLst>
                          </p:cTn>
                        </p:par>
                      </p:childTnLst>
                    </p:cTn>
                  </p:par>
                  <p:par>
                    <p:cTn id="71" fill="hold">
                      <p:stCondLst>
                        <p:cond delay="indefinite"/>
                      </p:stCondLst>
                      <p:childTnLst>
                        <p:par>
                          <p:cTn id="72" fill="hold">
                            <p:stCondLst>
                              <p:cond delay="0"/>
                            </p:stCondLst>
                            <p:childTnLst>
                              <p:par>
                                <p:cTn id="73" presetID="4" presetClass="entr" presetSubtype="32" fill="hold" grpId="0" nodeType="clickEffect">
                                  <p:stCondLst>
                                    <p:cond delay="0"/>
                                  </p:stCondLst>
                                  <p:childTnLst>
                                    <p:set>
                                      <p:cBhvr>
                                        <p:cTn id="74" dur="1" fill="hold">
                                          <p:stCondLst>
                                            <p:cond delay="0"/>
                                          </p:stCondLst>
                                        </p:cTn>
                                        <p:tgtEl>
                                          <p:spTgt spid="1201157"/>
                                        </p:tgtEl>
                                        <p:attrNameLst>
                                          <p:attrName>style.visibility</p:attrName>
                                        </p:attrNameLst>
                                      </p:cBhvr>
                                      <p:to>
                                        <p:strVal val="visible"/>
                                      </p:to>
                                    </p:set>
                                    <p:animEffect transition="in" filter="box(out)">
                                      <p:cBhvr>
                                        <p:cTn id="75" dur="500"/>
                                        <p:tgtEl>
                                          <p:spTgt spid="1201157"/>
                                        </p:tgtEl>
                                      </p:cBhvr>
                                    </p:animEffect>
                                  </p:childTnLst>
                                  <p:subTnLst>
                                    <p:audio>
                                      <p:cMediaNode>
                                        <p:cTn display="0" masterRel="sameClick">
                                          <p:stCondLst>
                                            <p:cond evt="begin" delay="0">
                                              <p:tn val="73"/>
                                            </p:cond>
                                          </p:stCondLst>
                                          <p:endCondLst>
                                            <p:cond evt="onStopAudio" delay="0">
                                              <p:tgtEl>
                                                <p:sldTgt/>
                                              </p:tgtEl>
                                            </p:cond>
                                          </p:endCondLst>
                                        </p:cTn>
                                        <p:tgtEl>
                                          <p:sndTgt r:embed="rId3" name="chimes.wav"/>
                                        </p:tgtEl>
                                      </p:cMediaNode>
                                    </p:audio>
                                  </p:subTnLst>
                                </p:cTn>
                              </p:par>
                            </p:childTnLst>
                          </p:cTn>
                        </p:par>
                      </p:childTnLst>
                    </p:cTn>
                  </p:par>
                  <p:par>
                    <p:cTn id="76" fill="hold">
                      <p:stCondLst>
                        <p:cond delay="indefinite"/>
                      </p:stCondLst>
                      <p:childTnLst>
                        <p:par>
                          <p:cTn id="77" fill="hold">
                            <p:stCondLst>
                              <p:cond delay="0"/>
                            </p:stCondLst>
                            <p:childTnLst>
                              <p:par>
                                <p:cTn id="78" presetID="4" presetClass="entr" presetSubtype="32" fill="hold" grpId="0" nodeType="clickEffect">
                                  <p:stCondLst>
                                    <p:cond delay="0"/>
                                  </p:stCondLst>
                                  <p:childTnLst>
                                    <p:set>
                                      <p:cBhvr>
                                        <p:cTn id="79" dur="1" fill="hold">
                                          <p:stCondLst>
                                            <p:cond delay="0"/>
                                          </p:stCondLst>
                                        </p:cTn>
                                        <p:tgtEl>
                                          <p:spTgt spid="1201159"/>
                                        </p:tgtEl>
                                        <p:attrNameLst>
                                          <p:attrName>style.visibility</p:attrName>
                                        </p:attrNameLst>
                                      </p:cBhvr>
                                      <p:to>
                                        <p:strVal val="visible"/>
                                      </p:to>
                                    </p:set>
                                    <p:animEffect transition="in" filter="box(out)">
                                      <p:cBhvr>
                                        <p:cTn id="80" dur="500"/>
                                        <p:tgtEl>
                                          <p:spTgt spid="1201159"/>
                                        </p:tgtEl>
                                      </p:cBhvr>
                                    </p:animEffect>
                                  </p:childTnLst>
                                  <p:subTnLst>
                                    <p:audio>
                                      <p:cMediaNode>
                                        <p:cTn display="0" masterRel="sameClick">
                                          <p:stCondLst>
                                            <p:cond evt="begin" delay="0">
                                              <p:tn val="7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1156" grpId="0" animBg="1" autoUpdateAnimBg="0"/>
      <p:bldP spid="1201157" grpId="0" animBg="1" autoUpdateAnimBg="0"/>
      <p:bldP spid="1201159" grpId="0" animBg="1" autoUpdateAnimBg="0"/>
      <p:bldP spid="1201204" grpId="0" build="p" autoUpdateAnimBg="0"/>
      <p:bldP spid="1201205" grpId="0" build="p" autoUpdateAnimBg="0"/>
      <p:bldP spid="1201220" grpId="0" build="p" autoUpdateAnimBg="0"/>
      <p:bldP spid="1201221" grpId="0" build="p" autoUpdateAnimBg="0"/>
      <p:bldP spid="1201225" grpId="0" build="p" autoUpdateAnimBg="0" advAuto="0"/>
      <p:bldP spid="1201239" grpId="0" animBg="1" autoUpdateAnimBg="0"/>
      <p:bldP spid="1201240" grpId="0" animBg="1" autoUpdateAnimBg="0"/>
      <p:bldP spid="1201244"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4">
            <a:extLst>
              <a:ext uri="{FF2B5EF4-FFF2-40B4-BE49-F238E27FC236}">
                <a16:creationId xmlns:a16="http://schemas.microsoft.com/office/drawing/2014/main" id="{D3CE10D7-B46F-4EDF-8823-0DCCE6673529}"/>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
        <p:nvSpPr>
          <p:cNvPr id="1202182" name="Text Box 6" descr="信纸"/>
          <p:cNvSpPr txBox="1">
            <a:spLocks noChangeArrowheads="1"/>
          </p:cNvSpPr>
          <p:nvPr/>
        </p:nvSpPr>
        <p:spPr bwMode="auto">
          <a:xfrm>
            <a:off x="6221421" y="405406"/>
            <a:ext cx="5243200" cy="6001643"/>
          </a:xfrm>
          <a:prstGeom prst="rect">
            <a:avLst/>
          </a:prstGeom>
          <a:gradFill>
            <a:gsLst>
              <a:gs pos="0">
                <a:srgbClr val="CFCFD1"/>
              </a:gs>
              <a:gs pos="100000">
                <a:schemeClr val="bg1"/>
              </a:gs>
            </a:gsLst>
            <a:lin ang="5400000" scaled="1"/>
          </a:gradFill>
          <a:ln w="38100">
            <a:solidFill>
              <a:schemeClr val="accent2">
                <a:lumMod val="50000"/>
              </a:schemeClr>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chemeClr val="accent1">
                    <a:lumMod val="50000"/>
                  </a:schemeClr>
                </a:solidFill>
                <a:ea typeface="宋体" pitchFamily="2" charset="-122"/>
              </a:rPr>
              <a:t>void swap (</a:t>
            </a:r>
            <a:r>
              <a:rPr lang="en-US" altLang="zh-CN" dirty="0" err="1">
                <a:solidFill>
                  <a:schemeClr val="accent1">
                    <a:lumMod val="50000"/>
                  </a:schemeClr>
                </a:solidFill>
                <a:ea typeface="宋体" pitchFamily="2" charset="-122"/>
              </a:rPr>
              <a:t>int</a:t>
            </a:r>
            <a:r>
              <a:rPr lang="en-US" altLang="zh-CN" dirty="0">
                <a:solidFill>
                  <a:schemeClr val="accent1">
                    <a:lumMod val="50000"/>
                  </a:schemeClr>
                </a:solidFill>
                <a:ea typeface="宋体" pitchFamily="2" charset="-122"/>
              </a:rPr>
              <a:t> *p1, </a:t>
            </a:r>
            <a:r>
              <a:rPr lang="en-US" altLang="zh-CN" dirty="0" err="1">
                <a:solidFill>
                  <a:schemeClr val="accent1">
                    <a:lumMod val="50000"/>
                  </a:schemeClr>
                </a:solidFill>
                <a:ea typeface="宋体" pitchFamily="2" charset="-122"/>
              </a:rPr>
              <a:t>int</a:t>
            </a:r>
            <a:r>
              <a:rPr lang="en-US" altLang="zh-CN" dirty="0">
                <a:solidFill>
                  <a:schemeClr val="accent1">
                    <a:lumMod val="50000"/>
                  </a:schemeClr>
                </a:solidFill>
                <a:ea typeface="宋体" pitchFamily="2" charset="-122"/>
              </a:rPr>
              <a:t> *p2)</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*p;</a:t>
            </a:r>
          </a:p>
          <a:p>
            <a:pPr eaLnBrk="0" hangingPunct="0">
              <a:lnSpc>
                <a:spcPct val="100000"/>
              </a:lnSpc>
              <a:spcBef>
                <a:spcPct val="0"/>
              </a:spcBef>
            </a:pPr>
            <a:r>
              <a:rPr lang="en-US" altLang="zh-CN" dirty="0">
                <a:ea typeface="宋体" pitchFamily="2" charset="-122"/>
              </a:rPr>
              <a:t>   p = p1;</a:t>
            </a:r>
          </a:p>
          <a:p>
            <a:pPr eaLnBrk="0" hangingPunct="0">
              <a:lnSpc>
                <a:spcPct val="100000"/>
              </a:lnSpc>
              <a:spcBef>
                <a:spcPct val="0"/>
              </a:spcBef>
            </a:pPr>
            <a:r>
              <a:rPr lang="en-US" altLang="zh-CN" dirty="0">
                <a:ea typeface="宋体" pitchFamily="2" charset="-122"/>
              </a:rPr>
              <a:t>   p1 = p2;</a:t>
            </a:r>
          </a:p>
          <a:p>
            <a:pPr eaLnBrk="0" hangingPunct="0">
              <a:lnSpc>
                <a:spcPct val="100000"/>
              </a:lnSpc>
              <a:spcBef>
                <a:spcPct val="0"/>
              </a:spcBef>
            </a:pPr>
            <a:r>
              <a:rPr lang="en-US" altLang="zh-CN" dirty="0">
                <a:ea typeface="宋体" pitchFamily="2" charset="-122"/>
              </a:rPr>
              <a:t>   p2 = p;</a:t>
            </a:r>
          </a:p>
          <a:p>
            <a:pPr eaLnBrk="0" hangingPunct="0">
              <a:lnSpc>
                <a:spcPct val="100000"/>
              </a:lnSpc>
              <a:spcBef>
                <a:spcPct val="0"/>
              </a:spcBef>
            </a:pPr>
            <a:r>
              <a:rPr lang="en-US" altLang="zh-CN" dirty="0">
                <a:ea typeface="宋体" pitchFamily="2" charset="-122"/>
              </a:rPr>
              <a:t>}</a:t>
            </a:r>
          </a:p>
          <a:p>
            <a:pPr eaLnBrk="0" hangingPunct="0">
              <a:lnSpc>
                <a:spcPct val="100000"/>
              </a:lnSpc>
              <a:spcBef>
                <a:spcPct val="0"/>
              </a:spcBef>
            </a:pPr>
            <a:r>
              <a:rPr lang="en-US" altLang="zh-CN" dirty="0">
                <a:solidFill>
                  <a:srgbClr val="CC0099"/>
                </a:solidFill>
                <a:ea typeface="宋体" pitchFamily="2" charset="-122"/>
              </a:rPr>
              <a:t>void main ( )</a:t>
            </a:r>
          </a:p>
          <a:p>
            <a:pPr eaLnBrk="0" hangingPunct="0">
              <a:lnSpc>
                <a:spcPct val="100000"/>
              </a:lnSpc>
              <a:spcBef>
                <a:spcPct val="0"/>
              </a:spcBef>
            </a:pPr>
            <a:r>
              <a:rPr lang="en-US" altLang="zh-CN" dirty="0">
                <a:ea typeface="宋体" pitchFamily="2" charset="-122"/>
              </a:rPr>
              <a:t>{   </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int</a:t>
            </a:r>
            <a:r>
              <a:rPr lang="en-US" altLang="zh-CN" dirty="0">
                <a:ea typeface="宋体" pitchFamily="2" charset="-122"/>
              </a:rPr>
              <a:t> a, b, *p_1, *p_2;</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scanf</a:t>
            </a:r>
            <a:r>
              <a:rPr lang="en-US" altLang="zh-CN" dirty="0">
                <a:ea typeface="宋体" pitchFamily="2" charset="-122"/>
              </a:rPr>
              <a:t> ("%</a:t>
            </a:r>
            <a:r>
              <a:rPr lang="en-US" altLang="zh-CN" dirty="0" err="1">
                <a:ea typeface="宋体" pitchFamily="2" charset="-122"/>
              </a:rPr>
              <a:t>d,%d</a:t>
            </a:r>
            <a:r>
              <a:rPr lang="en-US" altLang="zh-CN" dirty="0">
                <a:ea typeface="宋体" pitchFamily="2" charset="-122"/>
              </a:rPr>
              <a:t>", &amp;a, &amp;b);</a:t>
            </a:r>
          </a:p>
          <a:p>
            <a:pPr eaLnBrk="0" hangingPunct="0">
              <a:lnSpc>
                <a:spcPct val="100000"/>
              </a:lnSpc>
              <a:spcBef>
                <a:spcPct val="0"/>
              </a:spcBef>
            </a:pPr>
            <a:r>
              <a:rPr lang="en-US" altLang="zh-CN" dirty="0">
                <a:solidFill>
                  <a:srgbClr val="002060"/>
                </a:solidFill>
                <a:ea typeface="宋体" pitchFamily="2" charset="-122"/>
              </a:rPr>
              <a:t>   p_1 = &amp;a;  p_2 = &amp;b;</a:t>
            </a:r>
          </a:p>
          <a:p>
            <a:pPr eaLnBrk="0" hangingPunct="0">
              <a:lnSpc>
                <a:spcPct val="100000"/>
              </a:lnSpc>
              <a:spcBef>
                <a:spcPct val="0"/>
              </a:spcBef>
            </a:pPr>
            <a:r>
              <a:rPr lang="en-US" altLang="zh-CN" dirty="0">
                <a:ea typeface="宋体" pitchFamily="2" charset="-122"/>
              </a:rPr>
              <a:t>   if (a &lt; b)  </a:t>
            </a:r>
            <a:r>
              <a:rPr lang="en-US" altLang="zh-CN" dirty="0">
                <a:solidFill>
                  <a:srgbClr val="002060"/>
                </a:solidFill>
                <a:ea typeface="宋体" pitchFamily="2" charset="-122"/>
              </a:rPr>
              <a:t>swap (p_1, p_2);</a:t>
            </a:r>
          </a:p>
          <a:p>
            <a:pPr eaLnBrk="0" hangingPunct="0">
              <a:lnSpc>
                <a:spcPct val="100000"/>
              </a:lnSpc>
              <a:spcBef>
                <a:spcPct val="0"/>
              </a:spcBef>
            </a:pPr>
            <a:r>
              <a:rPr lang="en-US" altLang="zh-CN" dirty="0">
                <a:ea typeface="宋体" pitchFamily="2" charset="-122"/>
              </a:rPr>
              <a:t>   </a:t>
            </a:r>
            <a:r>
              <a:rPr lang="en-US" altLang="zh-CN" dirty="0" err="1">
                <a:ea typeface="宋体" pitchFamily="2" charset="-122"/>
              </a:rPr>
              <a:t>printf</a:t>
            </a:r>
            <a:r>
              <a:rPr lang="en-US" altLang="zh-CN" dirty="0">
                <a:ea typeface="宋体" pitchFamily="2" charset="-122"/>
              </a:rPr>
              <a:t> ("%</a:t>
            </a:r>
            <a:r>
              <a:rPr lang="en-US" altLang="zh-CN" dirty="0" err="1">
                <a:ea typeface="宋体" pitchFamily="2" charset="-122"/>
              </a:rPr>
              <a:t>d,%d</a:t>
            </a:r>
            <a:r>
              <a:rPr lang="en-US" altLang="zh-CN" dirty="0">
                <a:ea typeface="宋体" pitchFamily="2" charset="-122"/>
              </a:rPr>
              <a:t>", *p_1,*p_2);</a:t>
            </a:r>
          </a:p>
          <a:p>
            <a:pPr eaLnBrk="0" hangingPunct="0">
              <a:lnSpc>
                <a:spcPct val="100000"/>
              </a:lnSpc>
              <a:spcBef>
                <a:spcPct val="0"/>
              </a:spcBef>
            </a:pPr>
            <a:r>
              <a:rPr lang="en-US" altLang="zh-CN" dirty="0">
                <a:ea typeface="宋体" pitchFamily="2" charset="-122"/>
              </a:rPr>
              <a:t>   return 0;</a:t>
            </a:r>
          </a:p>
          <a:p>
            <a:pPr eaLnBrk="0" hangingPunct="0">
              <a:lnSpc>
                <a:spcPct val="100000"/>
              </a:lnSpc>
              <a:spcBef>
                <a:spcPct val="0"/>
              </a:spcBef>
            </a:pPr>
            <a:r>
              <a:rPr lang="en-US" altLang="zh-CN" dirty="0">
                <a:ea typeface="宋体" pitchFamily="2" charset="-122"/>
              </a:rPr>
              <a:t>}</a:t>
            </a:r>
          </a:p>
        </p:txBody>
      </p:sp>
      <p:sp>
        <p:nvSpPr>
          <p:cNvPr id="1202180" name="Text Box 4"/>
          <p:cNvSpPr txBox="1">
            <a:spLocks noChangeArrowheads="1"/>
          </p:cNvSpPr>
          <p:nvPr/>
        </p:nvSpPr>
        <p:spPr bwMode="auto">
          <a:xfrm>
            <a:off x="9140306" y="5693817"/>
            <a:ext cx="1989647" cy="40011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a:lnSpc>
                <a:spcPct val="100000"/>
              </a:lnSpc>
              <a:spcBef>
                <a:spcPct val="0"/>
              </a:spcBef>
            </a:pPr>
            <a:r>
              <a:rPr lang="zh-CN" altLang="en-US" sz="2000" dirty="0">
                <a:solidFill>
                  <a:srgbClr val="C00000"/>
                </a:solidFill>
                <a:latin typeface="隶书" pitchFamily="49" charset="-122"/>
                <a:ea typeface="隶书" pitchFamily="49" charset="-122"/>
              </a:rPr>
              <a:t>运行结果：</a:t>
            </a:r>
            <a:r>
              <a:rPr lang="en-US" altLang="zh-CN" sz="2000" dirty="0">
                <a:solidFill>
                  <a:srgbClr val="002060"/>
                </a:solidFill>
              </a:rPr>
              <a:t>5</a:t>
            </a:r>
            <a:r>
              <a:rPr lang="zh-CN" altLang="en-US" sz="2000" dirty="0">
                <a:solidFill>
                  <a:srgbClr val="002060"/>
                </a:solidFill>
              </a:rPr>
              <a:t>，</a:t>
            </a:r>
            <a:r>
              <a:rPr lang="en-US" altLang="zh-CN" sz="2000" dirty="0">
                <a:solidFill>
                  <a:srgbClr val="002060"/>
                </a:solidFill>
              </a:rPr>
              <a:t>9</a:t>
            </a:r>
          </a:p>
        </p:txBody>
      </p:sp>
      <p:grpSp>
        <p:nvGrpSpPr>
          <p:cNvPr id="1202183" name="Group 7"/>
          <p:cNvGrpSpPr>
            <a:grpSpLocks/>
          </p:cNvGrpSpPr>
          <p:nvPr/>
        </p:nvGrpSpPr>
        <p:grpSpPr bwMode="auto">
          <a:xfrm>
            <a:off x="1919313" y="1539329"/>
            <a:ext cx="2636838" cy="4625975"/>
            <a:chOff x="2879" y="554"/>
            <a:chExt cx="1661" cy="2914"/>
          </a:xfrm>
        </p:grpSpPr>
        <p:grpSp>
          <p:nvGrpSpPr>
            <p:cNvPr id="1202184" name="Group 8"/>
            <p:cNvGrpSpPr>
              <a:grpSpLocks/>
            </p:cNvGrpSpPr>
            <p:nvPr/>
          </p:nvGrpSpPr>
          <p:grpSpPr bwMode="auto">
            <a:xfrm>
              <a:off x="2879" y="554"/>
              <a:ext cx="1661" cy="2914"/>
              <a:chOff x="3144" y="806"/>
              <a:chExt cx="1661" cy="2914"/>
            </a:xfrm>
          </p:grpSpPr>
          <p:sp>
            <p:nvSpPr>
              <p:cNvPr id="1202185" name="Freeform 9"/>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02187" name="Rectangle 11"/>
              <p:cNvSpPr>
                <a:spLocks noChangeArrowheads="1"/>
              </p:cNvSpPr>
              <p:nvPr/>
            </p:nvSpPr>
            <p:spPr bwMode="auto">
              <a:xfrm>
                <a:off x="3582" y="806"/>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02188" name="Line 12"/>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2189" name="Line 13"/>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02190" name="Line 14"/>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2191" name="Line 15"/>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2192" name="Line 16"/>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2193" name="Line 17"/>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2194" name="Line 18"/>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02195" name="Line 19"/>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02196" name="Text Box 20"/>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202197" name="Line 21"/>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2198" name="Text Box 22"/>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02199" name="Text Box 23"/>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02200" name="Text Box 24"/>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02201" name="Text Box 25"/>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02202" name="Text Box 26"/>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02203" name="Text Box 27"/>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202204" name="Group 28"/>
              <p:cNvGrpSpPr>
                <a:grpSpLocks/>
              </p:cNvGrpSpPr>
              <p:nvPr/>
            </p:nvGrpSpPr>
            <p:grpSpPr bwMode="auto">
              <a:xfrm>
                <a:off x="3597" y="1380"/>
                <a:ext cx="60" cy="1548"/>
                <a:chOff x="3960" y="1560"/>
                <a:chExt cx="60" cy="1548"/>
              </a:xfrm>
            </p:grpSpPr>
            <p:sp>
              <p:nvSpPr>
                <p:cNvPr id="1202205" name="Line 29"/>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06" name="Line 30"/>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07" name="Line 31"/>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08" name="Line 32"/>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09" name="Line 33"/>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0" name="Line 34"/>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1" name="Line 35"/>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02212" name="Group 36"/>
              <p:cNvGrpSpPr>
                <a:grpSpLocks/>
              </p:cNvGrpSpPr>
              <p:nvPr/>
            </p:nvGrpSpPr>
            <p:grpSpPr bwMode="auto">
              <a:xfrm>
                <a:off x="4725" y="1368"/>
                <a:ext cx="60" cy="1548"/>
                <a:chOff x="3960" y="1560"/>
                <a:chExt cx="60" cy="1548"/>
              </a:xfrm>
            </p:grpSpPr>
            <p:sp>
              <p:nvSpPr>
                <p:cNvPr id="1202213" name="Line 37"/>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4" name="Line 38"/>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5" name="Line 39"/>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6" name="Line 40"/>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7" name="Line 41"/>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8" name="Line 42"/>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9" name="Line 43"/>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02220" name="Line 44"/>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21" name="Line 45"/>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02222" name="Line 46"/>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23" name="Text Box 47"/>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02224" name="Text Box 48"/>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02225" name="Text Box 49"/>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02186" name="Freeform 10"/>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202226" name="Text Box 50"/>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sp>
        <p:nvSpPr>
          <p:cNvPr id="1202227" name="Text Box 51"/>
          <p:cNvSpPr txBox="1">
            <a:spLocks noChangeArrowheads="1"/>
          </p:cNvSpPr>
          <p:nvPr/>
        </p:nvSpPr>
        <p:spPr bwMode="auto">
          <a:xfrm>
            <a:off x="3403626" y="2263228"/>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002060"/>
                </a:solidFill>
                <a:ea typeface="宋体" pitchFamily="2" charset="-122"/>
              </a:rPr>
              <a:t>5</a:t>
            </a:r>
          </a:p>
        </p:txBody>
      </p:sp>
      <p:sp>
        <p:nvSpPr>
          <p:cNvPr id="1202228" name="Text Box 52"/>
          <p:cNvSpPr txBox="1">
            <a:spLocks noChangeArrowheads="1"/>
          </p:cNvSpPr>
          <p:nvPr/>
        </p:nvSpPr>
        <p:spPr bwMode="auto">
          <a:xfrm>
            <a:off x="3422676" y="2625178"/>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9</a:t>
            </a:r>
          </a:p>
        </p:txBody>
      </p:sp>
      <p:grpSp>
        <p:nvGrpSpPr>
          <p:cNvPr id="1202229" name="Group 53"/>
          <p:cNvGrpSpPr>
            <a:grpSpLocks/>
          </p:cNvGrpSpPr>
          <p:nvPr/>
        </p:nvGrpSpPr>
        <p:grpSpPr bwMode="auto">
          <a:xfrm>
            <a:off x="3025801" y="1780629"/>
            <a:ext cx="2620963" cy="1843088"/>
            <a:chOff x="3841" y="958"/>
            <a:chExt cx="1651" cy="1161"/>
          </a:xfrm>
        </p:grpSpPr>
        <p:grpSp>
          <p:nvGrpSpPr>
            <p:cNvPr id="1202230" name="Group 54"/>
            <p:cNvGrpSpPr>
              <a:grpSpLocks/>
            </p:cNvGrpSpPr>
            <p:nvPr/>
          </p:nvGrpSpPr>
          <p:grpSpPr bwMode="auto">
            <a:xfrm>
              <a:off x="4783" y="1125"/>
              <a:ext cx="705" cy="252"/>
              <a:chOff x="4402" y="1437"/>
              <a:chExt cx="705" cy="252"/>
            </a:xfrm>
          </p:grpSpPr>
          <p:sp>
            <p:nvSpPr>
              <p:cNvPr id="1202231" name="Line 55"/>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32" name="Text Box 56"/>
              <p:cNvSpPr txBox="1">
                <a:spLocks noChangeArrowheads="1"/>
              </p:cNvSpPr>
              <p:nvPr/>
            </p:nvSpPr>
            <p:spPr bwMode="auto">
              <a:xfrm>
                <a:off x="4584" y="1437"/>
                <a:ext cx="523"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整型</a:t>
                </a:r>
                <a:r>
                  <a:rPr lang="en-US" altLang="zh-CN" sz="2000">
                    <a:effectLst>
                      <a:outerShdw blurRad="38100" dist="38100" dir="2700000" algn="tl">
                        <a:srgbClr val="FFFFFF"/>
                      </a:outerShdw>
                    </a:effectLst>
                    <a:latin typeface="+mn-lt"/>
                    <a:ea typeface="楷体" pitchFamily="49" charset="-122"/>
                  </a:rPr>
                  <a:t>a</a:t>
                </a:r>
              </a:p>
            </p:txBody>
          </p:sp>
        </p:grpSp>
        <p:grpSp>
          <p:nvGrpSpPr>
            <p:cNvPr id="1202233" name="Group 57"/>
            <p:cNvGrpSpPr>
              <a:grpSpLocks/>
            </p:cNvGrpSpPr>
            <p:nvPr/>
          </p:nvGrpSpPr>
          <p:grpSpPr bwMode="auto">
            <a:xfrm>
              <a:off x="4783" y="1365"/>
              <a:ext cx="709" cy="252"/>
              <a:chOff x="4426" y="1917"/>
              <a:chExt cx="709" cy="252"/>
            </a:xfrm>
          </p:grpSpPr>
          <p:sp>
            <p:nvSpPr>
              <p:cNvPr id="1202234" name="Line 58"/>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35" name="Text Box 59"/>
              <p:cNvSpPr txBox="1">
                <a:spLocks noChangeArrowheads="1"/>
              </p:cNvSpPr>
              <p:nvPr/>
            </p:nvSpPr>
            <p:spPr bwMode="auto">
              <a:xfrm>
                <a:off x="4523" y="1917"/>
                <a:ext cx="612"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整型</a:t>
                </a:r>
                <a:r>
                  <a:rPr lang="en-US" altLang="zh-CN" sz="2000">
                    <a:effectLst>
                      <a:outerShdw blurRad="38100" dist="38100" dir="2700000" algn="tl">
                        <a:srgbClr val="FFFFFF"/>
                      </a:outerShdw>
                    </a:effectLst>
                    <a:latin typeface="+mn-lt"/>
                    <a:ea typeface="楷体" pitchFamily="49" charset="-122"/>
                  </a:rPr>
                  <a:t>b</a:t>
                </a:r>
              </a:p>
            </p:txBody>
          </p:sp>
        </p:grpSp>
        <p:sp>
          <p:nvSpPr>
            <p:cNvPr id="1202236" name="Text Box 60"/>
            <p:cNvSpPr txBox="1">
              <a:spLocks noChangeArrowheads="1"/>
            </p:cNvSpPr>
            <p:nvPr/>
          </p:nvSpPr>
          <p:spPr bwMode="auto">
            <a:xfrm>
              <a:off x="3841" y="958"/>
              <a:ext cx="666" cy="291"/>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CF0D9E"/>
                  </a:solidFill>
                  <a:latin typeface="+mn-lt"/>
                  <a:ea typeface="楷体" pitchFamily="49" charset="-122"/>
                </a:rPr>
                <a:t>(main)</a:t>
              </a:r>
            </a:p>
          </p:txBody>
        </p:sp>
        <p:grpSp>
          <p:nvGrpSpPr>
            <p:cNvPr id="1202237" name="Group 61"/>
            <p:cNvGrpSpPr>
              <a:grpSpLocks/>
            </p:cNvGrpSpPr>
            <p:nvPr/>
          </p:nvGrpSpPr>
          <p:grpSpPr bwMode="auto">
            <a:xfrm>
              <a:off x="4783" y="1605"/>
              <a:ext cx="547" cy="250"/>
              <a:chOff x="4402" y="1437"/>
              <a:chExt cx="547" cy="250"/>
            </a:xfrm>
          </p:grpSpPr>
          <p:sp>
            <p:nvSpPr>
              <p:cNvPr id="1202238" name="Line 62"/>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39" name="Text Box 63"/>
              <p:cNvSpPr txBox="1">
                <a:spLocks noChangeArrowheads="1"/>
              </p:cNvSpPr>
              <p:nvPr/>
            </p:nvSpPr>
            <p:spPr bwMode="auto">
              <a:xfrm>
                <a:off x="4584" y="1437"/>
                <a:ext cx="36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p_1</a:t>
                </a:r>
              </a:p>
            </p:txBody>
          </p:sp>
        </p:grpSp>
        <p:grpSp>
          <p:nvGrpSpPr>
            <p:cNvPr id="1202240" name="Group 64"/>
            <p:cNvGrpSpPr>
              <a:grpSpLocks/>
            </p:cNvGrpSpPr>
            <p:nvPr/>
          </p:nvGrpSpPr>
          <p:grpSpPr bwMode="auto">
            <a:xfrm>
              <a:off x="4795" y="1869"/>
              <a:ext cx="547" cy="250"/>
              <a:chOff x="4402" y="1437"/>
              <a:chExt cx="547" cy="250"/>
            </a:xfrm>
          </p:grpSpPr>
          <p:sp>
            <p:nvSpPr>
              <p:cNvPr id="1202241" name="Line 65"/>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42" name="Text Box 66"/>
              <p:cNvSpPr txBox="1">
                <a:spLocks noChangeArrowheads="1"/>
              </p:cNvSpPr>
              <p:nvPr/>
            </p:nvSpPr>
            <p:spPr bwMode="auto">
              <a:xfrm>
                <a:off x="4584" y="1437"/>
                <a:ext cx="36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p_2</a:t>
                </a:r>
              </a:p>
            </p:txBody>
          </p:sp>
        </p:grpSp>
      </p:grpSp>
      <p:sp>
        <p:nvSpPr>
          <p:cNvPr id="1202243" name="Text Box 67"/>
          <p:cNvSpPr txBox="1">
            <a:spLocks noChangeArrowheads="1"/>
          </p:cNvSpPr>
          <p:nvPr/>
        </p:nvSpPr>
        <p:spPr bwMode="auto">
          <a:xfrm>
            <a:off x="3155976" y="3006178"/>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002060"/>
                </a:solidFill>
                <a:ea typeface="宋体" pitchFamily="2" charset="-122"/>
              </a:rPr>
              <a:t>2000</a:t>
            </a:r>
          </a:p>
        </p:txBody>
      </p:sp>
      <p:sp>
        <p:nvSpPr>
          <p:cNvPr id="1202244" name="Text Box 68"/>
          <p:cNvSpPr txBox="1">
            <a:spLocks noChangeArrowheads="1"/>
          </p:cNvSpPr>
          <p:nvPr/>
        </p:nvSpPr>
        <p:spPr bwMode="auto">
          <a:xfrm>
            <a:off x="3155976" y="3406228"/>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C00000"/>
                </a:solidFill>
                <a:ea typeface="宋体" pitchFamily="2" charset="-122"/>
              </a:rPr>
              <a:t>2002</a:t>
            </a:r>
          </a:p>
        </p:txBody>
      </p:sp>
      <p:grpSp>
        <p:nvGrpSpPr>
          <p:cNvPr id="1202245" name="Group 69"/>
          <p:cNvGrpSpPr>
            <a:grpSpLocks/>
          </p:cNvGrpSpPr>
          <p:nvPr/>
        </p:nvGrpSpPr>
        <p:grpSpPr bwMode="auto">
          <a:xfrm>
            <a:off x="1879627" y="3110953"/>
            <a:ext cx="2055813" cy="1571625"/>
            <a:chOff x="2999" y="1268"/>
            <a:chExt cx="1295" cy="990"/>
          </a:xfrm>
        </p:grpSpPr>
        <p:sp>
          <p:nvSpPr>
            <p:cNvPr id="1202246" name="Text Box 70"/>
            <p:cNvSpPr txBox="1">
              <a:spLocks noChangeArrowheads="1"/>
            </p:cNvSpPr>
            <p:nvPr/>
          </p:nvSpPr>
          <p:spPr bwMode="auto">
            <a:xfrm>
              <a:off x="3794" y="1970"/>
              <a:ext cx="500"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002060"/>
                  </a:solidFill>
                  <a:ea typeface="宋体" pitchFamily="2" charset="-122"/>
                </a:rPr>
                <a:t>2000</a:t>
              </a:r>
            </a:p>
          </p:txBody>
        </p:sp>
        <p:sp>
          <p:nvSpPr>
            <p:cNvPr id="1202247" name="Freeform 71"/>
            <p:cNvSpPr>
              <a:spLocks/>
            </p:cNvSpPr>
            <p:nvPr/>
          </p:nvSpPr>
          <p:spPr bwMode="auto">
            <a:xfrm rot="537757">
              <a:off x="2999" y="1268"/>
              <a:ext cx="482" cy="889"/>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002060"/>
              </a:solidFill>
              <a:prstDash val="solid"/>
              <a:round/>
              <a:headEnd type="none" w="med" len="med"/>
              <a:tailEnd type="triangle" w="med" len="med"/>
            </a:ln>
            <a:effectLst/>
          </p:spPr>
          <p:txBody>
            <a:bodyPr wrap="square" lIns="90000" tIns="46800" rIns="90000" bIns="46800" anchor="ctr">
              <a:spAutoFit/>
            </a:bodyPr>
            <a:lstStyle/>
            <a:p>
              <a:endParaRPr lang="zh-CN" altLang="en-US" dirty="0"/>
            </a:p>
          </p:txBody>
        </p:sp>
      </p:grpSp>
      <p:grpSp>
        <p:nvGrpSpPr>
          <p:cNvPr id="1202248" name="Group 72"/>
          <p:cNvGrpSpPr>
            <a:grpSpLocks/>
          </p:cNvGrpSpPr>
          <p:nvPr/>
        </p:nvGrpSpPr>
        <p:grpSpPr bwMode="auto">
          <a:xfrm>
            <a:off x="1862163" y="3601492"/>
            <a:ext cx="2054225" cy="1481138"/>
            <a:chOff x="2988" y="1601"/>
            <a:chExt cx="1294" cy="933"/>
          </a:xfrm>
        </p:grpSpPr>
        <p:sp>
          <p:nvSpPr>
            <p:cNvPr id="1202249" name="Text Box 73"/>
            <p:cNvSpPr txBox="1">
              <a:spLocks noChangeArrowheads="1"/>
            </p:cNvSpPr>
            <p:nvPr/>
          </p:nvSpPr>
          <p:spPr bwMode="auto">
            <a:xfrm>
              <a:off x="3782" y="2246"/>
              <a:ext cx="500"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C00000"/>
                  </a:solidFill>
                  <a:ea typeface="宋体" pitchFamily="2" charset="-122"/>
                </a:rPr>
                <a:t>2002</a:t>
              </a:r>
            </a:p>
          </p:txBody>
        </p:sp>
        <p:sp>
          <p:nvSpPr>
            <p:cNvPr id="1202250" name="Freeform 74"/>
            <p:cNvSpPr>
              <a:spLocks/>
            </p:cNvSpPr>
            <p:nvPr/>
          </p:nvSpPr>
          <p:spPr bwMode="auto">
            <a:xfrm>
              <a:off x="2988" y="1601"/>
              <a:ext cx="460" cy="830"/>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rgbClr val="C00000"/>
              </a:solidFill>
              <a:prstDash val="solid"/>
              <a:round/>
              <a:headEnd type="none" w="lg" len="lg"/>
              <a:tailEnd type="triangle" w="med" len="med"/>
            </a:ln>
            <a:effectLst/>
          </p:spPr>
          <p:txBody>
            <a:bodyPr wrap="square" lIns="90000" tIns="46800" rIns="90000" bIns="46800" anchor="ctr">
              <a:spAutoFit/>
            </a:bodyPr>
            <a:lstStyle/>
            <a:p>
              <a:endParaRPr lang="zh-CN" altLang="en-US"/>
            </a:p>
          </p:txBody>
        </p:sp>
      </p:grpSp>
      <p:sp>
        <p:nvSpPr>
          <p:cNvPr id="1202251" name="Text Box 75"/>
          <p:cNvSpPr txBox="1">
            <a:spLocks noChangeArrowheads="1"/>
          </p:cNvSpPr>
          <p:nvPr/>
        </p:nvSpPr>
        <p:spPr bwMode="auto">
          <a:xfrm>
            <a:off x="1127448" y="3796269"/>
            <a:ext cx="909521" cy="402291"/>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b="1" dirty="0">
                <a:solidFill>
                  <a:srgbClr val="002060"/>
                </a:solidFill>
                <a:ea typeface="隶书" pitchFamily="49" charset="-122"/>
              </a:rPr>
              <a:t>COPY</a:t>
            </a:r>
          </a:p>
        </p:txBody>
      </p:sp>
      <p:grpSp>
        <p:nvGrpSpPr>
          <p:cNvPr id="1202252" name="Group 76"/>
          <p:cNvGrpSpPr>
            <a:grpSpLocks/>
          </p:cNvGrpSpPr>
          <p:nvPr/>
        </p:nvGrpSpPr>
        <p:grpSpPr bwMode="auto">
          <a:xfrm>
            <a:off x="3043265" y="3838028"/>
            <a:ext cx="2749550" cy="1666874"/>
            <a:chOff x="3587" y="2002"/>
            <a:chExt cx="1732" cy="1050"/>
          </a:xfrm>
        </p:grpSpPr>
        <p:grpSp>
          <p:nvGrpSpPr>
            <p:cNvPr id="1202253" name="Group 77"/>
            <p:cNvGrpSpPr>
              <a:grpSpLocks/>
            </p:cNvGrpSpPr>
            <p:nvPr/>
          </p:nvGrpSpPr>
          <p:grpSpPr bwMode="auto">
            <a:xfrm>
              <a:off x="3587" y="2002"/>
              <a:ext cx="1732" cy="885"/>
              <a:chOff x="3852" y="2254"/>
              <a:chExt cx="1732" cy="885"/>
            </a:xfrm>
          </p:grpSpPr>
          <p:sp>
            <p:nvSpPr>
              <p:cNvPr id="1202254" name="Text Box 78"/>
              <p:cNvSpPr txBox="1">
                <a:spLocks noChangeArrowheads="1"/>
              </p:cNvSpPr>
              <p:nvPr/>
            </p:nvSpPr>
            <p:spPr bwMode="auto">
              <a:xfrm>
                <a:off x="3852" y="2254"/>
                <a:ext cx="667" cy="291"/>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chemeClr val="accent1">
                        <a:lumMod val="50000"/>
                      </a:schemeClr>
                    </a:solidFill>
                    <a:latin typeface="+mn-lt"/>
                    <a:ea typeface="楷体" pitchFamily="49" charset="-122"/>
                  </a:rPr>
                  <a:t>(swap)</a:t>
                </a:r>
              </a:p>
            </p:txBody>
          </p:sp>
          <p:grpSp>
            <p:nvGrpSpPr>
              <p:cNvPr id="1202255" name="Group 79"/>
              <p:cNvGrpSpPr>
                <a:grpSpLocks/>
              </p:cNvGrpSpPr>
              <p:nvPr/>
            </p:nvGrpSpPr>
            <p:grpSpPr bwMode="auto">
              <a:xfrm>
                <a:off x="4795" y="2397"/>
                <a:ext cx="789" cy="250"/>
                <a:chOff x="4402" y="1437"/>
                <a:chExt cx="789" cy="250"/>
              </a:xfrm>
            </p:grpSpPr>
            <p:sp>
              <p:nvSpPr>
                <p:cNvPr id="1202256" name="Line 80"/>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57" name="Text Box 81"/>
                <p:cNvSpPr txBox="1">
                  <a:spLocks noChangeArrowheads="1"/>
                </p:cNvSpPr>
                <p:nvPr/>
              </p:nvSpPr>
              <p:spPr bwMode="auto">
                <a:xfrm>
                  <a:off x="4584" y="1437"/>
                  <a:ext cx="60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zh-CN"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p1</a:t>
                  </a:r>
                </a:p>
              </p:txBody>
            </p:sp>
          </p:grpSp>
          <p:grpSp>
            <p:nvGrpSpPr>
              <p:cNvPr id="1202258" name="Group 82"/>
              <p:cNvGrpSpPr>
                <a:grpSpLocks/>
              </p:cNvGrpSpPr>
              <p:nvPr/>
            </p:nvGrpSpPr>
            <p:grpSpPr bwMode="auto">
              <a:xfrm>
                <a:off x="4795" y="2637"/>
                <a:ext cx="789" cy="250"/>
                <a:chOff x="4402" y="1437"/>
                <a:chExt cx="789" cy="250"/>
              </a:xfrm>
            </p:grpSpPr>
            <p:sp>
              <p:nvSpPr>
                <p:cNvPr id="1202259" name="Line 83"/>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60" name="Text Box 84"/>
                <p:cNvSpPr txBox="1">
                  <a:spLocks noChangeArrowheads="1"/>
                </p:cNvSpPr>
                <p:nvPr/>
              </p:nvSpPr>
              <p:spPr bwMode="auto">
                <a:xfrm>
                  <a:off x="4584" y="1437"/>
                  <a:ext cx="60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p2</a:t>
                  </a:r>
                </a:p>
              </p:txBody>
            </p:sp>
          </p:grpSp>
          <p:grpSp>
            <p:nvGrpSpPr>
              <p:cNvPr id="1202261" name="Group 85"/>
              <p:cNvGrpSpPr>
                <a:grpSpLocks/>
              </p:cNvGrpSpPr>
              <p:nvPr/>
            </p:nvGrpSpPr>
            <p:grpSpPr bwMode="auto">
              <a:xfrm>
                <a:off x="4795" y="2889"/>
                <a:ext cx="709" cy="250"/>
                <a:chOff x="4402" y="1437"/>
                <a:chExt cx="709" cy="250"/>
              </a:xfrm>
            </p:grpSpPr>
            <p:sp>
              <p:nvSpPr>
                <p:cNvPr id="1202262" name="Line 86"/>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63" name="Text Box 87"/>
                <p:cNvSpPr txBox="1">
                  <a:spLocks noChangeArrowheads="1"/>
                </p:cNvSpPr>
                <p:nvPr/>
              </p:nvSpPr>
              <p:spPr bwMode="auto">
                <a:xfrm>
                  <a:off x="4584" y="1437"/>
                  <a:ext cx="52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指针</a:t>
                  </a:r>
                  <a:r>
                    <a:rPr lang="en-US" altLang="zh-CN" sz="2000" dirty="0">
                      <a:effectLst>
                        <a:outerShdw blurRad="38100" dist="38100" dir="2700000" algn="tl">
                          <a:srgbClr val="FFFFFF"/>
                        </a:outerShdw>
                      </a:effectLst>
                      <a:latin typeface="+mn-lt"/>
                      <a:ea typeface="楷体" pitchFamily="49" charset="-122"/>
                    </a:rPr>
                    <a:t>p</a:t>
                  </a:r>
                </a:p>
              </p:txBody>
            </p:sp>
          </p:grpSp>
        </p:grpSp>
        <p:sp>
          <p:nvSpPr>
            <p:cNvPr id="1202264" name="Text Box 88"/>
            <p:cNvSpPr txBox="1">
              <a:spLocks noChangeArrowheads="1"/>
            </p:cNvSpPr>
            <p:nvPr/>
          </p:nvSpPr>
          <p:spPr bwMode="auto">
            <a:xfrm>
              <a:off x="3654" y="2761"/>
              <a:ext cx="508" cy="291"/>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C00000"/>
                  </a:solidFill>
                  <a:latin typeface="+mn-lt"/>
                  <a:ea typeface="楷体" pitchFamily="49" charset="-122"/>
                </a:rPr>
                <a:t>****</a:t>
              </a:r>
            </a:p>
          </p:txBody>
        </p:sp>
      </p:grpSp>
      <p:sp>
        <p:nvSpPr>
          <p:cNvPr id="1202265" name="Text Box 89"/>
          <p:cNvSpPr txBox="1">
            <a:spLocks noChangeArrowheads="1"/>
          </p:cNvSpPr>
          <p:nvPr/>
        </p:nvSpPr>
        <p:spPr bwMode="auto">
          <a:xfrm>
            <a:off x="3143672" y="5025478"/>
            <a:ext cx="793750" cy="457200"/>
          </a:xfrm>
          <a:prstGeom prst="rect">
            <a:avLst/>
          </a:prstGeom>
          <a:solidFill>
            <a:srgbClr val="DDFAED"/>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002060"/>
                </a:solidFill>
                <a:ea typeface="宋体" pitchFamily="2" charset="-122"/>
              </a:rPr>
              <a:t>2000</a:t>
            </a:r>
          </a:p>
        </p:txBody>
      </p:sp>
      <p:sp>
        <p:nvSpPr>
          <p:cNvPr id="1202266" name="AutoShape 90"/>
          <p:cNvSpPr>
            <a:spLocks noChangeArrowheads="1"/>
          </p:cNvSpPr>
          <p:nvPr/>
        </p:nvSpPr>
        <p:spPr bwMode="auto">
          <a:xfrm>
            <a:off x="8618951" y="1155382"/>
            <a:ext cx="2517362" cy="1302716"/>
          </a:xfrm>
          <a:prstGeom prst="irregularSeal1">
            <a:avLst/>
          </a:prstGeom>
          <a:gradFill rotWithShape="1">
            <a:gsLst>
              <a:gs pos="0">
                <a:srgbClr val="CFCFD1"/>
              </a:gs>
              <a:gs pos="100000">
                <a:schemeClr val="bg1"/>
              </a:gs>
            </a:gsLst>
            <a:lin ang="5400000" scaled="1"/>
          </a:gradFill>
          <a:ln w="28575">
            <a:solidFill>
              <a:srgbClr val="C01920"/>
            </a:solidFill>
            <a:miter lim="800000"/>
            <a:headEnd type="none" w="lg" len="lg"/>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zh-CN" altLang="en-US" dirty="0">
                <a:solidFill>
                  <a:srgbClr val="C00000"/>
                </a:solidFill>
                <a:ea typeface="隶书" pitchFamily="49" charset="-122"/>
              </a:rPr>
              <a:t>地址传递</a:t>
            </a:r>
          </a:p>
        </p:txBody>
      </p:sp>
      <p:sp>
        <p:nvSpPr>
          <p:cNvPr id="1202267" name="Text Box 91"/>
          <p:cNvSpPr txBox="1">
            <a:spLocks noChangeArrowheads="1"/>
          </p:cNvSpPr>
          <p:nvPr/>
        </p:nvSpPr>
        <p:spPr bwMode="auto">
          <a:xfrm>
            <a:off x="3145259" y="4617491"/>
            <a:ext cx="793750" cy="457200"/>
          </a:xfrm>
          <a:prstGeom prst="rect">
            <a:avLst/>
          </a:prstGeom>
          <a:solidFill>
            <a:srgbClr val="DDFAED"/>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a:solidFill>
                  <a:srgbClr val="002060"/>
                </a:solidFill>
                <a:ea typeface="宋体" pitchFamily="2" charset="-122"/>
              </a:rPr>
              <a:t>2000</a:t>
            </a:r>
          </a:p>
        </p:txBody>
      </p:sp>
      <p:sp>
        <p:nvSpPr>
          <p:cNvPr id="1202268" name="Text Box 92"/>
          <p:cNvSpPr txBox="1">
            <a:spLocks noChangeArrowheads="1"/>
          </p:cNvSpPr>
          <p:nvPr/>
        </p:nvSpPr>
        <p:spPr bwMode="auto">
          <a:xfrm>
            <a:off x="3159547" y="4228553"/>
            <a:ext cx="793750" cy="457200"/>
          </a:xfrm>
          <a:prstGeom prst="rect">
            <a:avLst/>
          </a:prstGeom>
          <a:solidFill>
            <a:srgbClr val="DDFAED"/>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b="1" dirty="0">
                <a:solidFill>
                  <a:srgbClr val="C00000"/>
                </a:solidFill>
                <a:ea typeface="宋体" pitchFamily="2" charset="-122"/>
              </a:rPr>
              <a:t>2002</a:t>
            </a:r>
          </a:p>
        </p:txBody>
      </p:sp>
      <p:sp>
        <p:nvSpPr>
          <p:cNvPr id="1202272" name="Text Box 96"/>
          <p:cNvSpPr txBox="1">
            <a:spLocks noChangeArrowheads="1"/>
          </p:cNvSpPr>
          <p:nvPr/>
        </p:nvSpPr>
        <p:spPr bwMode="auto">
          <a:xfrm>
            <a:off x="839416" y="822878"/>
            <a:ext cx="3554412" cy="457200"/>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a:t>
            </a:r>
            <a:r>
              <a:rPr lang="zh-CN" altLang="en-US" dirty="0"/>
              <a:t>将数从大到小输出</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2182"/>
                                        </p:tgtEl>
                                        <p:attrNameLst>
                                          <p:attrName>style.visibility</p:attrName>
                                        </p:attrNameLst>
                                      </p:cBhvr>
                                      <p:to>
                                        <p:strVal val="visible"/>
                                      </p:to>
                                    </p:set>
                                    <p:animEffect transition="in" filter="box(out)">
                                      <p:cBhvr>
                                        <p:cTn id="7" dur="500"/>
                                        <p:tgtEl>
                                          <p:spTgt spid="120218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202183"/>
                                        </p:tgtEl>
                                        <p:attrNameLst>
                                          <p:attrName>style.visibility</p:attrName>
                                        </p:attrNameLst>
                                      </p:cBhvr>
                                      <p:to>
                                        <p:strVal val="visible"/>
                                      </p:to>
                                    </p:set>
                                    <p:animEffect transition="in" filter="box(out)">
                                      <p:cBhvr>
                                        <p:cTn id="12" dur="500"/>
                                        <p:tgtEl>
                                          <p:spTgt spid="120218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202229"/>
                                        </p:tgtEl>
                                        <p:attrNameLst>
                                          <p:attrName>style.visibility</p:attrName>
                                        </p:attrNameLst>
                                      </p:cBhvr>
                                      <p:to>
                                        <p:strVal val="visible"/>
                                      </p:to>
                                    </p:set>
                                    <p:animEffect transition="in" filter="box(out)">
                                      <p:cBhvr>
                                        <p:cTn id="17" dur="500"/>
                                        <p:tgtEl>
                                          <p:spTgt spid="1202229"/>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02227">
                                            <p:txEl>
                                              <p:pRg st="0" end="0"/>
                                            </p:txEl>
                                          </p:spTgt>
                                        </p:tgtEl>
                                        <p:attrNameLst>
                                          <p:attrName>style.visibility</p:attrName>
                                        </p:attrNameLst>
                                      </p:cBhvr>
                                      <p:to>
                                        <p:strVal val="visible"/>
                                      </p:to>
                                    </p:set>
                                    <p:animEffect transition="in" filter="box(out)">
                                      <p:cBhvr>
                                        <p:cTn id="22" dur="500"/>
                                        <p:tgtEl>
                                          <p:spTgt spid="1202227">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02228">
                                            <p:txEl>
                                              <p:pRg st="0" end="0"/>
                                            </p:txEl>
                                          </p:spTgt>
                                        </p:tgtEl>
                                        <p:attrNameLst>
                                          <p:attrName>style.visibility</p:attrName>
                                        </p:attrNameLst>
                                      </p:cBhvr>
                                      <p:to>
                                        <p:strVal val="visible"/>
                                      </p:to>
                                    </p:set>
                                    <p:animEffect transition="in" filter="box(out)">
                                      <p:cBhvr>
                                        <p:cTn id="27" dur="500"/>
                                        <p:tgtEl>
                                          <p:spTgt spid="1202228">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202243">
                                            <p:txEl>
                                              <p:pRg st="0" end="0"/>
                                            </p:txEl>
                                          </p:spTgt>
                                        </p:tgtEl>
                                        <p:attrNameLst>
                                          <p:attrName>style.visibility</p:attrName>
                                        </p:attrNameLst>
                                      </p:cBhvr>
                                      <p:to>
                                        <p:strVal val="visible"/>
                                      </p:to>
                                    </p:set>
                                    <p:animEffect transition="in" filter="box(out)">
                                      <p:cBhvr>
                                        <p:cTn id="32" dur="500"/>
                                        <p:tgtEl>
                                          <p:spTgt spid="1202243">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202244">
                                            <p:txEl>
                                              <p:pRg st="0" end="0"/>
                                            </p:txEl>
                                          </p:spTgt>
                                        </p:tgtEl>
                                        <p:attrNameLst>
                                          <p:attrName>style.visibility</p:attrName>
                                        </p:attrNameLst>
                                      </p:cBhvr>
                                      <p:to>
                                        <p:strVal val="visible"/>
                                      </p:to>
                                    </p:set>
                                    <p:animEffect transition="in" filter="box(out)">
                                      <p:cBhvr>
                                        <p:cTn id="37" dur="500"/>
                                        <p:tgtEl>
                                          <p:spTgt spid="1202244">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202252"/>
                                        </p:tgtEl>
                                        <p:attrNameLst>
                                          <p:attrName>style.visibility</p:attrName>
                                        </p:attrNameLst>
                                      </p:cBhvr>
                                      <p:to>
                                        <p:strVal val="visible"/>
                                      </p:to>
                                    </p:set>
                                    <p:animEffect transition="in" filter="box(out)">
                                      <p:cBhvr>
                                        <p:cTn id="42" dur="500"/>
                                        <p:tgtEl>
                                          <p:spTgt spid="1202252"/>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202245"/>
                                        </p:tgtEl>
                                        <p:attrNameLst>
                                          <p:attrName>style.visibility</p:attrName>
                                        </p:attrNameLst>
                                      </p:cBhvr>
                                      <p:to>
                                        <p:strVal val="visible"/>
                                      </p:to>
                                    </p:set>
                                    <p:animEffect transition="in" filter="box(out)">
                                      <p:cBhvr>
                                        <p:cTn id="47" dur="500"/>
                                        <p:tgtEl>
                                          <p:spTgt spid="1202245"/>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500"/>
                            </p:stCondLst>
                            <p:childTnLst>
                              <p:par>
                                <p:cTn id="49" presetID="4" presetClass="entr" presetSubtype="32" fill="hold" nodeType="afterEffect">
                                  <p:stCondLst>
                                    <p:cond delay="0"/>
                                  </p:stCondLst>
                                  <p:childTnLst>
                                    <p:set>
                                      <p:cBhvr>
                                        <p:cTn id="50" dur="1" fill="hold">
                                          <p:stCondLst>
                                            <p:cond delay="0"/>
                                          </p:stCondLst>
                                        </p:cTn>
                                        <p:tgtEl>
                                          <p:spTgt spid="1202248"/>
                                        </p:tgtEl>
                                        <p:attrNameLst>
                                          <p:attrName>style.visibility</p:attrName>
                                        </p:attrNameLst>
                                      </p:cBhvr>
                                      <p:to>
                                        <p:strVal val="visible"/>
                                      </p:to>
                                    </p:set>
                                    <p:animEffect transition="in" filter="box(out)">
                                      <p:cBhvr>
                                        <p:cTn id="51" dur="500"/>
                                        <p:tgtEl>
                                          <p:spTgt spid="1202248"/>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par>
                          <p:cTn id="52" fill="hold">
                            <p:stCondLst>
                              <p:cond delay="1000"/>
                            </p:stCondLst>
                            <p:childTnLst>
                              <p:par>
                                <p:cTn id="53" presetID="4" presetClass="entr" presetSubtype="32" fill="hold" grpId="0" nodeType="afterEffect">
                                  <p:stCondLst>
                                    <p:cond delay="0"/>
                                  </p:stCondLst>
                                  <p:childTnLst>
                                    <p:set>
                                      <p:cBhvr>
                                        <p:cTn id="54" dur="1" fill="hold">
                                          <p:stCondLst>
                                            <p:cond delay="0"/>
                                          </p:stCondLst>
                                        </p:cTn>
                                        <p:tgtEl>
                                          <p:spTgt spid="1202251">
                                            <p:txEl>
                                              <p:pRg st="0" end="0"/>
                                            </p:txEl>
                                          </p:spTgt>
                                        </p:tgtEl>
                                        <p:attrNameLst>
                                          <p:attrName>style.visibility</p:attrName>
                                        </p:attrNameLst>
                                      </p:cBhvr>
                                      <p:to>
                                        <p:strVal val="visible"/>
                                      </p:to>
                                    </p:set>
                                    <p:animEffect transition="in" filter="box(out)">
                                      <p:cBhvr>
                                        <p:cTn id="55" dur="500"/>
                                        <p:tgtEl>
                                          <p:spTgt spid="1202251">
                                            <p:txEl>
                                              <p:pRg st="0" end="0"/>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202265"/>
                                        </p:tgtEl>
                                        <p:attrNameLst>
                                          <p:attrName>style.visibility</p:attrName>
                                        </p:attrNameLst>
                                      </p:cBhvr>
                                      <p:to>
                                        <p:strVal val="visible"/>
                                      </p:to>
                                    </p:set>
                                    <p:animEffect transition="in" filter="box(out)">
                                      <p:cBhvr>
                                        <p:cTn id="60" dur="500"/>
                                        <p:tgtEl>
                                          <p:spTgt spid="1202265"/>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202268"/>
                                        </p:tgtEl>
                                        <p:attrNameLst>
                                          <p:attrName>style.visibility</p:attrName>
                                        </p:attrNameLst>
                                      </p:cBhvr>
                                      <p:to>
                                        <p:strVal val="visible"/>
                                      </p:to>
                                    </p:set>
                                    <p:animEffect transition="in" filter="box(out)">
                                      <p:cBhvr>
                                        <p:cTn id="65" dur="500"/>
                                        <p:tgtEl>
                                          <p:spTgt spid="1202268"/>
                                        </p:tgtEl>
                                      </p:cBhvr>
                                    </p:animEffect>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202267"/>
                                        </p:tgtEl>
                                        <p:attrNameLst>
                                          <p:attrName>style.visibility</p:attrName>
                                        </p:attrNameLst>
                                      </p:cBhvr>
                                      <p:to>
                                        <p:strVal val="visible"/>
                                      </p:to>
                                    </p:set>
                                    <p:animEffect transition="in" filter="box(out)">
                                      <p:cBhvr>
                                        <p:cTn id="70" dur="500"/>
                                        <p:tgtEl>
                                          <p:spTgt spid="1202267"/>
                                        </p:tgtEl>
                                      </p:cBhvr>
                                    </p:animEffect>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childTnLst>
                          </p:cTn>
                        </p:par>
                      </p:childTnLst>
                    </p:cTn>
                  </p:par>
                  <p:par>
                    <p:cTn id="71" fill="hold">
                      <p:stCondLst>
                        <p:cond delay="indefinite"/>
                      </p:stCondLst>
                      <p:childTnLst>
                        <p:par>
                          <p:cTn id="72" fill="hold">
                            <p:stCondLst>
                              <p:cond delay="0"/>
                            </p:stCondLst>
                            <p:childTnLst>
                              <p:par>
                                <p:cTn id="73" presetID="4" presetClass="entr" presetSubtype="32" fill="hold" grpId="0" nodeType="clickEffect">
                                  <p:stCondLst>
                                    <p:cond delay="0"/>
                                  </p:stCondLst>
                                  <p:childTnLst>
                                    <p:set>
                                      <p:cBhvr>
                                        <p:cTn id="74" dur="1" fill="hold">
                                          <p:stCondLst>
                                            <p:cond delay="0"/>
                                          </p:stCondLst>
                                        </p:cTn>
                                        <p:tgtEl>
                                          <p:spTgt spid="1202180"/>
                                        </p:tgtEl>
                                        <p:attrNameLst>
                                          <p:attrName>style.visibility</p:attrName>
                                        </p:attrNameLst>
                                      </p:cBhvr>
                                      <p:to>
                                        <p:strVal val="visible"/>
                                      </p:to>
                                    </p:set>
                                    <p:animEffect transition="in" filter="box(out)">
                                      <p:cBhvr>
                                        <p:cTn id="75" dur="500"/>
                                        <p:tgtEl>
                                          <p:spTgt spid="1202180"/>
                                        </p:tgtEl>
                                      </p:cBhvr>
                                    </p:animEffect>
                                  </p:childTnLst>
                                  <p:subTnLst>
                                    <p:audio>
                                      <p:cMediaNode>
                                        <p:cTn display="0" masterRel="sameClick">
                                          <p:stCondLst>
                                            <p:cond evt="begin" delay="0">
                                              <p:tn val="73"/>
                                            </p:cond>
                                          </p:stCondLst>
                                          <p:endCondLst>
                                            <p:cond evt="onStopAudio" delay="0">
                                              <p:tgtEl>
                                                <p:sldTgt/>
                                              </p:tgtEl>
                                            </p:cond>
                                          </p:endCondLst>
                                        </p:cTn>
                                        <p:tgtEl>
                                          <p:sndTgt r:embed="rId3" name="chimes.wav"/>
                                        </p:tgtEl>
                                      </p:cMediaNode>
                                    </p:audio>
                                  </p:subTnLst>
                                </p:cTn>
                              </p:par>
                            </p:childTnLst>
                          </p:cTn>
                        </p:par>
                      </p:childTnLst>
                    </p:cTn>
                  </p:par>
                  <p:par>
                    <p:cTn id="76" fill="hold">
                      <p:stCondLst>
                        <p:cond delay="indefinite"/>
                      </p:stCondLst>
                      <p:childTnLst>
                        <p:par>
                          <p:cTn id="77" fill="hold">
                            <p:stCondLst>
                              <p:cond delay="0"/>
                            </p:stCondLst>
                            <p:childTnLst>
                              <p:par>
                                <p:cTn id="78" presetID="4" presetClass="entr" presetSubtype="32" fill="hold" grpId="0" nodeType="clickEffect">
                                  <p:stCondLst>
                                    <p:cond delay="0"/>
                                  </p:stCondLst>
                                  <p:childTnLst>
                                    <p:set>
                                      <p:cBhvr>
                                        <p:cTn id="79" dur="1" fill="hold">
                                          <p:stCondLst>
                                            <p:cond delay="0"/>
                                          </p:stCondLst>
                                        </p:cTn>
                                        <p:tgtEl>
                                          <p:spTgt spid="1202266"/>
                                        </p:tgtEl>
                                        <p:attrNameLst>
                                          <p:attrName>style.visibility</p:attrName>
                                        </p:attrNameLst>
                                      </p:cBhvr>
                                      <p:to>
                                        <p:strVal val="visible"/>
                                      </p:to>
                                    </p:set>
                                    <p:animEffect transition="in" filter="box(out)">
                                      <p:cBhvr>
                                        <p:cTn id="80" dur="500"/>
                                        <p:tgtEl>
                                          <p:spTgt spid="1202266"/>
                                        </p:tgtEl>
                                      </p:cBhvr>
                                    </p:animEffect>
                                  </p:childTnLst>
                                  <p:subTnLst>
                                    <p:audio>
                                      <p:cMediaNode>
                                        <p:cTn display="0" masterRel="sameClick">
                                          <p:stCondLst>
                                            <p:cond evt="begin" delay="0">
                                              <p:tn val="7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2182" grpId="0" animBg="1" autoUpdateAnimBg="0"/>
      <p:bldP spid="1202180" grpId="0" animBg="1" autoUpdateAnimBg="0"/>
      <p:bldP spid="1202227" grpId="0" build="p" autoUpdateAnimBg="0"/>
      <p:bldP spid="1202228" grpId="0" build="p" autoUpdateAnimBg="0"/>
      <p:bldP spid="1202243" grpId="0" build="p" autoUpdateAnimBg="0"/>
      <p:bldP spid="1202244" grpId="0" build="p" autoUpdateAnimBg="0"/>
      <p:bldP spid="1202251" grpId="0" build="p" autoUpdateAnimBg="0" advAuto="0"/>
      <p:bldP spid="1202265" grpId="0" animBg="1" autoUpdateAnimBg="0"/>
      <p:bldP spid="1202266" grpId="0" animBg="1" autoUpdateAnimBg="0"/>
      <p:bldP spid="1202267" grpId="0" animBg="1" autoUpdateAnimBg="0"/>
      <p:bldP spid="1202268"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3202" name="Text Box 2" descr="信纸"/>
          <p:cNvSpPr txBox="1">
            <a:spLocks noChangeArrowheads="1"/>
          </p:cNvSpPr>
          <p:nvPr/>
        </p:nvSpPr>
        <p:spPr bwMode="auto">
          <a:xfrm>
            <a:off x="796328" y="1412776"/>
            <a:ext cx="4066498" cy="3785652"/>
          </a:xfrm>
          <a:prstGeom prst="rect">
            <a:avLst/>
          </a:prstGeom>
          <a:gradFill>
            <a:gsLst>
              <a:gs pos="0">
                <a:srgbClr val="CFCFD1"/>
              </a:gs>
              <a:gs pos="100000">
                <a:schemeClr val="bg1"/>
              </a:gs>
            </a:gsLst>
            <a:lin ang="5400000" scaled="1"/>
          </a:gra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marL="457200" indent="-457200"/>
            <a:r>
              <a:rPr lang="en-US" altLang="zh-CN" sz="2000" dirty="0"/>
              <a:t>#include &lt;</a:t>
            </a:r>
            <a:r>
              <a:rPr lang="en-US" altLang="zh-CN" sz="2000" dirty="0" err="1"/>
              <a:t>stdio.h</a:t>
            </a:r>
            <a:r>
              <a:rPr lang="en-US" altLang="zh-CN" sz="2000" dirty="0"/>
              <a:t>&gt;</a:t>
            </a:r>
          </a:p>
          <a:p>
            <a:pPr marL="457200" indent="-457200"/>
            <a:r>
              <a:rPr lang="en-US" altLang="zh-CN" sz="2000" dirty="0"/>
              <a:t>#include &lt;</a:t>
            </a:r>
            <a:r>
              <a:rPr lang="en-US" altLang="zh-CN" sz="2000" dirty="0" err="1"/>
              <a:t>string.h</a:t>
            </a:r>
            <a:r>
              <a:rPr lang="en-US" altLang="zh-CN" sz="2000" dirty="0"/>
              <a:t>&gt;</a:t>
            </a:r>
          </a:p>
          <a:p>
            <a:pPr marL="457200" indent="-457200"/>
            <a:r>
              <a:rPr lang="en-US" altLang="zh-CN" sz="2000" dirty="0"/>
              <a:t>void </a:t>
            </a:r>
            <a:r>
              <a:rPr lang="en-US" altLang="zh-CN" sz="2000" dirty="0" err="1"/>
              <a:t>alltrim</a:t>
            </a:r>
            <a:r>
              <a:rPr lang="en-US" altLang="zh-CN" sz="2000" dirty="0"/>
              <a:t> (char *</a:t>
            </a:r>
            <a:r>
              <a:rPr lang="en-US" altLang="zh-CN" sz="2000" dirty="0" err="1"/>
              <a:t>psstr</a:t>
            </a:r>
            <a:r>
              <a:rPr lang="en-US" altLang="zh-CN" sz="2000" dirty="0"/>
              <a:t>, char *</a:t>
            </a:r>
            <a:r>
              <a:rPr lang="en-US" altLang="zh-CN" sz="2000" dirty="0" err="1"/>
              <a:t>pdstr</a:t>
            </a:r>
            <a:r>
              <a:rPr lang="en-US" altLang="zh-CN" sz="2000" dirty="0"/>
              <a:t>);</a:t>
            </a:r>
          </a:p>
          <a:p>
            <a:pPr marL="457200" indent="-457200"/>
            <a:r>
              <a:rPr lang="en-US" altLang="zh-CN" sz="2000" dirty="0" err="1">
                <a:solidFill>
                  <a:srgbClr val="CC0099"/>
                </a:solidFill>
              </a:rPr>
              <a:t>int</a:t>
            </a:r>
            <a:r>
              <a:rPr lang="en-US" altLang="zh-CN" sz="2000" dirty="0">
                <a:solidFill>
                  <a:srgbClr val="CC0099"/>
                </a:solidFill>
              </a:rPr>
              <a:t> main ( )</a:t>
            </a:r>
          </a:p>
          <a:p>
            <a:pPr marL="457200" indent="-457200"/>
            <a:r>
              <a:rPr lang="en-US" altLang="zh-CN" sz="2000" dirty="0"/>
              <a:t>{</a:t>
            </a:r>
          </a:p>
          <a:p>
            <a:pPr marL="457200" indent="-457200"/>
            <a:r>
              <a:rPr lang="en-US" altLang="zh-CN" sz="2000" dirty="0"/>
              <a:t>  char *</a:t>
            </a:r>
            <a:r>
              <a:rPr lang="en-US" altLang="zh-CN" sz="2000" dirty="0" err="1"/>
              <a:t>pstr</a:t>
            </a:r>
            <a:r>
              <a:rPr lang="en-US" altLang="zh-CN" sz="2000" dirty="0"/>
              <a:t>, </a:t>
            </a:r>
            <a:r>
              <a:rPr lang="en-US" altLang="zh-CN" sz="2000" dirty="0" err="1"/>
              <a:t>str</a:t>
            </a:r>
            <a:r>
              <a:rPr lang="en-US" altLang="zh-CN" sz="2000" dirty="0"/>
              <a:t>[20];</a:t>
            </a:r>
          </a:p>
          <a:p>
            <a:pPr marL="457200" indent="-457200"/>
            <a:r>
              <a:rPr lang="en-US" altLang="zh-CN" sz="2000" dirty="0"/>
              <a:t>  </a:t>
            </a:r>
            <a:r>
              <a:rPr lang="en-US" altLang="zh-CN" sz="2000" dirty="0" err="1"/>
              <a:t>pstr</a:t>
            </a:r>
            <a:r>
              <a:rPr lang="en-US" altLang="zh-CN" sz="2000" dirty="0"/>
              <a:t> = "  Good Bye!  ";</a:t>
            </a:r>
          </a:p>
          <a:p>
            <a:pPr marL="457200" indent="-457200"/>
            <a:r>
              <a:rPr lang="en-US" altLang="zh-CN" sz="2000" dirty="0"/>
              <a:t>  </a:t>
            </a:r>
            <a:r>
              <a:rPr lang="en-US" altLang="zh-CN" sz="2000" dirty="0" err="1"/>
              <a:t>printf</a:t>
            </a:r>
            <a:r>
              <a:rPr lang="en-US" altLang="zh-CN" sz="2000" dirty="0"/>
              <a:t> ("before </a:t>
            </a:r>
            <a:r>
              <a:rPr lang="en-US" altLang="zh-CN" sz="2000" dirty="0" err="1"/>
              <a:t>alltrim</a:t>
            </a:r>
            <a:r>
              <a:rPr lang="en-US" altLang="zh-CN" sz="2000" dirty="0"/>
              <a:t>: %s\n", </a:t>
            </a:r>
            <a:r>
              <a:rPr lang="en-US" altLang="zh-CN" sz="2000" dirty="0" err="1"/>
              <a:t>pstr</a:t>
            </a:r>
            <a:r>
              <a:rPr lang="en-US" altLang="zh-CN" sz="2000" dirty="0"/>
              <a:t>);</a:t>
            </a:r>
          </a:p>
          <a:p>
            <a:pPr marL="457200" indent="-457200"/>
            <a:r>
              <a:rPr lang="en-US" altLang="zh-CN" sz="2000" dirty="0"/>
              <a:t>  </a:t>
            </a:r>
            <a:r>
              <a:rPr lang="en-US" altLang="zh-CN" sz="2000" dirty="0" err="1"/>
              <a:t>alltrim</a:t>
            </a:r>
            <a:r>
              <a:rPr lang="en-US" altLang="zh-CN" sz="2000" dirty="0"/>
              <a:t> (</a:t>
            </a:r>
            <a:r>
              <a:rPr lang="en-US" altLang="zh-CN" sz="2000" dirty="0" err="1"/>
              <a:t>pstr</a:t>
            </a:r>
            <a:r>
              <a:rPr lang="en-US" altLang="zh-CN" sz="2000" dirty="0"/>
              <a:t>, </a:t>
            </a:r>
            <a:r>
              <a:rPr lang="en-US" altLang="zh-CN" sz="2000" dirty="0" err="1"/>
              <a:t>str</a:t>
            </a:r>
            <a:r>
              <a:rPr lang="en-US" altLang="zh-CN" sz="2000" dirty="0"/>
              <a:t>);</a:t>
            </a:r>
          </a:p>
          <a:p>
            <a:pPr marL="457200" indent="-457200"/>
            <a:r>
              <a:rPr lang="en-US" altLang="zh-CN" sz="2000" dirty="0"/>
              <a:t>  </a:t>
            </a:r>
            <a:r>
              <a:rPr lang="en-US" altLang="zh-CN" sz="2000" dirty="0" err="1"/>
              <a:t>printf</a:t>
            </a:r>
            <a:r>
              <a:rPr lang="en-US" altLang="zh-CN" sz="2000" dirty="0"/>
              <a:t> ("after  </a:t>
            </a:r>
            <a:r>
              <a:rPr lang="en-US" altLang="zh-CN" sz="2000" dirty="0" err="1"/>
              <a:t>alltrim</a:t>
            </a:r>
            <a:r>
              <a:rPr lang="en-US" altLang="zh-CN" sz="2000" dirty="0"/>
              <a:t>: %s\n", </a:t>
            </a:r>
            <a:r>
              <a:rPr lang="en-US" altLang="zh-CN" sz="2000" dirty="0" err="1"/>
              <a:t>str</a:t>
            </a:r>
            <a:r>
              <a:rPr lang="en-US" altLang="zh-CN" sz="2000" dirty="0"/>
              <a:t>);</a:t>
            </a:r>
          </a:p>
          <a:p>
            <a:pPr marL="457200" indent="-457200"/>
            <a:r>
              <a:rPr lang="en-US" altLang="zh-CN" sz="2000" dirty="0"/>
              <a:t>  return 0;</a:t>
            </a:r>
          </a:p>
          <a:p>
            <a:pPr marL="457200" indent="-457200"/>
            <a:r>
              <a:rPr lang="en-US" altLang="zh-CN" sz="2000" dirty="0"/>
              <a:t>}</a:t>
            </a:r>
          </a:p>
        </p:txBody>
      </p:sp>
      <p:sp>
        <p:nvSpPr>
          <p:cNvPr id="1203293" name="Text Box 93"/>
          <p:cNvSpPr txBox="1">
            <a:spLocks noChangeArrowheads="1"/>
          </p:cNvSpPr>
          <p:nvPr/>
        </p:nvSpPr>
        <p:spPr bwMode="auto">
          <a:xfrm>
            <a:off x="796328" y="879103"/>
            <a:ext cx="9472465" cy="461665"/>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a:t>
            </a:r>
            <a:r>
              <a:rPr lang="zh-CN" altLang="en-US" dirty="0"/>
              <a:t>编写一函数</a:t>
            </a:r>
            <a:r>
              <a:rPr lang="en-US" altLang="zh-CN" dirty="0" err="1"/>
              <a:t>alltrim</a:t>
            </a:r>
            <a:r>
              <a:rPr lang="zh-CN" altLang="en-US" dirty="0"/>
              <a:t>用于去掉字符串的前导空格和后续空格。 </a:t>
            </a:r>
          </a:p>
        </p:txBody>
      </p:sp>
      <p:sp>
        <p:nvSpPr>
          <p:cNvPr id="1203294" name="Text Box 94" descr="信纸"/>
          <p:cNvSpPr txBox="1">
            <a:spLocks noChangeArrowheads="1"/>
          </p:cNvSpPr>
          <p:nvPr/>
        </p:nvSpPr>
        <p:spPr bwMode="auto">
          <a:xfrm>
            <a:off x="5569469" y="1423794"/>
            <a:ext cx="6006773" cy="4985980"/>
          </a:xfrm>
          <a:prstGeom prst="rect">
            <a:avLst/>
          </a:prstGeom>
          <a:gradFill>
            <a:gsLst>
              <a:gs pos="0">
                <a:srgbClr val="CFCFD1"/>
              </a:gs>
              <a:gs pos="100000">
                <a:schemeClr val="bg1"/>
              </a:gs>
            </a:gsLst>
            <a:lin ang="5400000" scaled="1"/>
          </a:gra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marL="457200" indent="-457200"/>
            <a:r>
              <a:rPr lang="en-US" altLang="zh-CN" sz="2000" dirty="0">
                <a:solidFill>
                  <a:srgbClr val="C00000"/>
                </a:solidFill>
              </a:rPr>
              <a:t>void </a:t>
            </a:r>
            <a:r>
              <a:rPr lang="en-US" altLang="zh-CN" sz="2000" dirty="0" err="1">
                <a:solidFill>
                  <a:srgbClr val="C00000"/>
                </a:solidFill>
              </a:rPr>
              <a:t>alltrim</a:t>
            </a:r>
            <a:r>
              <a:rPr lang="en-US" altLang="zh-CN" sz="2000" dirty="0">
                <a:solidFill>
                  <a:srgbClr val="C00000"/>
                </a:solidFill>
              </a:rPr>
              <a:t> (char *</a:t>
            </a:r>
            <a:r>
              <a:rPr lang="en-US" altLang="zh-CN" sz="2000" dirty="0" err="1">
                <a:solidFill>
                  <a:srgbClr val="C00000"/>
                </a:solidFill>
              </a:rPr>
              <a:t>psstr</a:t>
            </a:r>
            <a:r>
              <a:rPr lang="en-US" altLang="zh-CN" sz="2000" dirty="0">
                <a:solidFill>
                  <a:srgbClr val="C00000"/>
                </a:solidFill>
              </a:rPr>
              <a:t>, char *</a:t>
            </a:r>
            <a:r>
              <a:rPr lang="en-US" altLang="zh-CN" sz="2000" dirty="0" err="1">
                <a:solidFill>
                  <a:srgbClr val="C00000"/>
                </a:solidFill>
              </a:rPr>
              <a:t>pdstr</a:t>
            </a:r>
            <a:r>
              <a:rPr lang="en-US" altLang="zh-CN" sz="2000" dirty="0">
                <a:solidFill>
                  <a:srgbClr val="C00000"/>
                </a:solidFill>
              </a:rPr>
              <a:t>)</a:t>
            </a:r>
          </a:p>
          <a:p>
            <a:pPr marL="457200" indent="-457200"/>
            <a:r>
              <a:rPr lang="en-US" altLang="zh-CN" sz="2000" dirty="0"/>
              <a:t>{</a:t>
            </a:r>
          </a:p>
          <a:p>
            <a:pPr marL="457200" indent="-457200"/>
            <a:r>
              <a:rPr lang="en-US" altLang="zh-CN" sz="2000" dirty="0"/>
              <a:t>  char *</a:t>
            </a:r>
            <a:r>
              <a:rPr lang="en-US" altLang="zh-CN" sz="2000" dirty="0" err="1"/>
              <a:t>pstart</a:t>
            </a:r>
            <a:r>
              <a:rPr lang="en-US" altLang="zh-CN" sz="2000" dirty="0"/>
              <a:t>, *</a:t>
            </a:r>
            <a:r>
              <a:rPr lang="en-US" altLang="zh-CN" sz="2000" dirty="0" err="1"/>
              <a:t>pend</a:t>
            </a:r>
            <a:r>
              <a:rPr lang="en-US" altLang="zh-CN" sz="2000" dirty="0"/>
              <a:t>;</a:t>
            </a:r>
          </a:p>
          <a:p>
            <a:pPr marL="457200" indent="-457200"/>
            <a:r>
              <a:rPr lang="en-US" altLang="zh-CN" sz="2000" dirty="0">
                <a:latin typeface="+mn-lt"/>
                <a:ea typeface="楷体" pitchFamily="49" charset="-122"/>
              </a:rPr>
              <a:t>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将</a:t>
            </a:r>
            <a:r>
              <a:rPr lang="en-US" altLang="zh-CN" sz="1800" dirty="0" err="1">
                <a:solidFill>
                  <a:schemeClr val="accent2">
                    <a:lumMod val="50000"/>
                  </a:schemeClr>
                </a:solidFill>
                <a:latin typeface="+mn-lt"/>
                <a:ea typeface="楷体" pitchFamily="49" charset="-122"/>
              </a:rPr>
              <a:t>pstart</a:t>
            </a:r>
            <a:r>
              <a:rPr lang="zh-CN" altLang="en-US" sz="1800" dirty="0">
                <a:solidFill>
                  <a:schemeClr val="accent2">
                    <a:lumMod val="50000"/>
                  </a:schemeClr>
                </a:solidFill>
                <a:latin typeface="+mn-lt"/>
                <a:ea typeface="楷体" pitchFamily="49" charset="-122"/>
              </a:rPr>
              <a:t>指向左边第一个非空格字符的位置</a:t>
            </a:r>
          </a:p>
          <a:p>
            <a:pPr marL="457200" indent="-457200"/>
            <a:r>
              <a:rPr lang="zh-CN" altLang="en-US" sz="2000" dirty="0"/>
              <a:t>  </a:t>
            </a:r>
            <a:r>
              <a:rPr lang="en-US" altLang="zh-CN" sz="2000" dirty="0" err="1"/>
              <a:t>pstart</a:t>
            </a:r>
            <a:r>
              <a:rPr lang="en-US" altLang="zh-CN" sz="2000" dirty="0"/>
              <a:t> = </a:t>
            </a:r>
            <a:r>
              <a:rPr lang="en-US" altLang="zh-CN" sz="2000" dirty="0" err="1"/>
              <a:t>psstr</a:t>
            </a:r>
            <a:r>
              <a:rPr lang="en-US" altLang="zh-CN" sz="2000" dirty="0"/>
              <a:t>;   </a:t>
            </a:r>
          </a:p>
          <a:p>
            <a:pPr marL="457200" indent="-457200"/>
            <a:r>
              <a:rPr lang="en-US" altLang="zh-CN" sz="2000" dirty="0"/>
              <a:t>  while (*</a:t>
            </a:r>
            <a:r>
              <a:rPr lang="en-US" altLang="zh-CN" sz="2000" dirty="0" err="1"/>
              <a:t>pstart</a:t>
            </a:r>
            <a:r>
              <a:rPr lang="en-US" altLang="zh-CN" sz="2000" dirty="0"/>
              <a:t> == ' ')</a:t>
            </a:r>
          </a:p>
          <a:p>
            <a:pPr marL="457200" indent="-457200"/>
            <a:r>
              <a:rPr lang="en-US" altLang="zh-CN" sz="2000" dirty="0"/>
              <a:t>      </a:t>
            </a:r>
            <a:r>
              <a:rPr lang="en-US" altLang="zh-CN" sz="2000" dirty="0" err="1"/>
              <a:t>pstart</a:t>
            </a:r>
            <a:r>
              <a:rPr lang="en-US" altLang="zh-CN" sz="2000" dirty="0"/>
              <a:t>++;</a:t>
            </a:r>
          </a:p>
          <a:p>
            <a:pPr marL="457200" indent="-457200"/>
            <a:r>
              <a:rPr lang="en-US" altLang="zh-CN" sz="2000" dirty="0"/>
              <a:t>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将</a:t>
            </a:r>
            <a:r>
              <a:rPr lang="en-US" altLang="zh-CN" sz="1800" dirty="0" err="1">
                <a:solidFill>
                  <a:schemeClr val="accent2">
                    <a:lumMod val="50000"/>
                  </a:schemeClr>
                </a:solidFill>
                <a:latin typeface="+mn-lt"/>
                <a:ea typeface="楷体" pitchFamily="49" charset="-122"/>
              </a:rPr>
              <a:t>pend</a:t>
            </a:r>
            <a:r>
              <a:rPr lang="zh-CN" altLang="en-US" sz="1800" dirty="0">
                <a:solidFill>
                  <a:schemeClr val="accent2">
                    <a:lumMod val="50000"/>
                  </a:schemeClr>
                </a:solidFill>
                <a:latin typeface="+mn-lt"/>
                <a:ea typeface="楷体" pitchFamily="49" charset="-122"/>
              </a:rPr>
              <a:t>指向右边第一个非空格字符的位置</a:t>
            </a:r>
          </a:p>
          <a:p>
            <a:pPr marL="457200" indent="-457200"/>
            <a:r>
              <a:rPr lang="zh-CN" altLang="en-US" sz="2000" dirty="0"/>
              <a:t>  </a:t>
            </a:r>
            <a:r>
              <a:rPr lang="en-US" altLang="zh-CN" sz="2000" dirty="0" err="1"/>
              <a:t>pend</a:t>
            </a:r>
            <a:r>
              <a:rPr lang="en-US" altLang="zh-CN" sz="2000" dirty="0"/>
              <a:t> = </a:t>
            </a:r>
            <a:r>
              <a:rPr lang="en-US" altLang="zh-CN" sz="2000" dirty="0" err="1"/>
              <a:t>pstart</a:t>
            </a:r>
            <a:r>
              <a:rPr lang="en-US" altLang="zh-CN" sz="2000" dirty="0"/>
              <a:t> + </a:t>
            </a:r>
            <a:r>
              <a:rPr lang="en-US" altLang="zh-CN" sz="2000" dirty="0" err="1"/>
              <a:t>strlen</a:t>
            </a:r>
            <a:r>
              <a:rPr lang="en-US" altLang="zh-CN" sz="2000" dirty="0"/>
              <a:t>(</a:t>
            </a:r>
            <a:r>
              <a:rPr lang="en-US" altLang="zh-CN" sz="2000" dirty="0" err="1"/>
              <a:t>pstart</a:t>
            </a:r>
            <a:r>
              <a:rPr lang="en-US" altLang="zh-CN" sz="2000" dirty="0"/>
              <a:t>) - 1;  </a:t>
            </a:r>
          </a:p>
          <a:p>
            <a:pPr marL="457200" indent="-457200"/>
            <a:r>
              <a:rPr lang="en-US" altLang="zh-CN" sz="2000" dirty="0"/>
              <a:t>  while (</a:t>
            </a:r>
            <a:r>
              <a:rPr lang="en-US" altLang="zh-CN" sz="2000" dirty="0" err="1"/>
              <a:t>pend</a:t>
            </a:r>
            <a:r>
              <a:rPr lang="en-US" altLang="zh-CN" sz="2000" dirty="0"/>
              <a:t> &gt; </a:t>
            </a:r>
            <a:r>
              <a:rPr lang="en-US" altLang="zh-CN" sz="2000" dirty="0" err="1"/>
              <a:t>pstart</a:t>
            </a:r>
            <a:r>
              <a:rPr lang="en-US" altLang="zh-CN" sz="2000" dirty="0"/>
              <a:t> &amp;&amp; *</a:t>
            </a:r>
            <a:r>
              <a:rPr lang="en-US" altLang="zh-CN" sz="2000" dirty="0" err="1"/>
              <a:t>pend</a:t>
            </a:r>
            <a:r>
              <a:rPr lang="en-US" altLang="zh-CN" sz="2000" dirty="0"/>
              <a:t> == ' ')</a:t>
            </a:r>
          </a:p>
          <a:p>
            <a:pPr marL="457200" indent="-457200"/>
            <a:r>
              <a:rPr lang="en-US" altLang="zh-CN" sz="2000" dirty="0"/>
              <a:t>      </a:t>
            </a:r>
            <a:r>
              <a:rPr lang="en-US" altLang="zh-CN" sz="2000" dirty="0" err="1"/>
              <a:t>pend</a:t>
            </a:r>
            <a:r>
              <a:rPr lang="en-US" altLang="zh-CN" sz="2000" dirty="0"/>
              <a:t>--;</a:t>
            </a:r>
          </a:p>
          <a:p>
            <a:pPr marL="457200" indent="-457200"/>
            <a:r>
              <a:rPr lang="en-US" altLang="zh-CN" sz="1800" dirty="0"/>
              <a:t>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将</a:t>
            </a:r>
            <a:r>
              <a:rPr lang="en-US" altLang="zh-CN" sz="1800" dirty="0" err="1">
                <a:solidFill>
                  <a:schemeClr val="accent2">
                    <a:lumMod val="50000"/>
                  </a:schemeClr>
                </a:solidFill>
                <a:latin typeface="+mn-lt"/>
                <a:ea typeface="楷体" pitchFamily="49" charset="-122"/>
              </a:rPr>
              <a:t>pstart</a:t>
            </a:r>
            <a:r>
              <a:rPr lang="zh-CN" altLang="en-US" sz="1800" dirty="0">
                <a:solidFill>
                  <a:schemeClr val="accent2">
                    <a:lumMod val="50000"/>
                  </a:schemeClr>
                </a:solidFill>
                <a:latin typeface="+mn-lt"/>
                <a:ea typeface="楷体" pitchFamily="49" charset="-122"/>
              </a:rPr>
              <a:t>所指向的字符至</a:t>
            </a:r>
            <a:r>
              <a:rPr lang="en-US" altLang="zh-CN" sz="1800" dirty="0">
                <a:solidFill>
                  <a:schemeClr val="accent2">
                    <a:lumMod val="50000"/>
                  </a:schemeClr>
                </a:solidFill>
                <a:latin typeface="+mn-lt"/>
                <a:ea typeface="楷体" pitchFamily="49" charset="-122"/>
              </a:rPr>
              <a:t>pend</a:t>
            </a:r>
            <a:r>
              <a:rPr lang="zh-CN" altLang="en-US" sz="1800" dirty="0">
                <a:solidFill>
                  <a:schemeClr val="accent2">
                    <a:lumMod val="50000"/>
                  </a:schemeClr>
                </a:solidFill>
                <a:latin typeface="+mn-lt"/>
                <a:ea typeface="楷体" pitchFamily="49" charset="-122"/>
              </a:rPr>
              <a:t>所指向的字符拷贝到</a:t>
            </a:r>
            <a:r>
              <a:rPr lang="en-US" altLang="zh-CN" sz="1800" dirty="0" err="1">
                <a:solidFill>
                  <a:schemeClr val="accent2">
                    <a:lumMod val="50000"/>
                  </a:schemeClr>
                </a:solidFill>
                <a:latin typeface="+mn-lt"/>
                <a:ea typeface="楷体" pitchFamily="49" charset="-122"/>
              </a:rPr>
              <a:t>pdstr</a:t>
            </a:r>
            <a:r>
              <a:rPr lang="zh-CN" altLang="en-US" sz="1800" dirty="0">
                <a:solidFill>
                  <a:schemeClr val="accent2">
                    <a:lumMod val="50000"/>
                  </a:schemeClr>
                </a:solidFill>
                <a:latin typeface="+mn-lt"/>
                <a:ea typeface="楷体" pitchFamily="49" charset="-122"/>
              </a:rPr>
              <a:t>中</a:t>
            </a:r>
          </a:p>
          <a:p>
            <a:pPr marL="457200" indent="-457200"/>
            <a:r>
              <a:rPr lang="zh-CN" altLang="en-US" sz="2000" dirty="0"/>
              <a:t>  </a:t>
            </a:r>
            <a:r>
              <a:rPr lang="en-US" altLang="zh-CN" sz="2000" dirty="0"/>
              <a:t>while (</a:t>
            </a:r>
            <a:r>
              <a:rPr lang="en-US" altLang="zh-CN" sz="2000" dirty="0" err="1"/>
              <a:t>pstart</a:t>
            </a:r>
            <a:r>
              <a:rPr lang="en-US" altLang="zh-CN" sz="2000" dirty="0"/>
              <a:t> &lt;= pend)</a:t>
            </a:r>
          </a:p>
          <a:p>
            <a:pPr marL="457200" indent="-457200"/>
            <a:r>
              <a:rPr lang="en-US" altLang="zh-CN" sz="2000" dirty="0"/>
              <a:t>      *</a:t>
            </a:r>
            <a:r>
              <a:rPr lang="en-US" altLang="zh-CN" sz="2000" dirty="0" err="1"/>
              <a:t>pdstr</a:t>
            </a:r>
            <a:r>
              <a:rPr lang="en-US" altLang="zh-CN" sz="2000" dirty="0"/>
              <a:t>++ = *</a:t>
            </a:r>
            <a:r>
              <a:rPr lang="en-US" altLang="zh-CN" sz="2000" dirty="0" err="1"/>
              <a:t>pstart</a:t>
            </a:r>
            <a:r>
              <a:rPr lang="en-US" altLang="zh-CN" sz="2000" dirty="0"/>
              <a:t>++;</a:t>
            </a:r>
          </a:p>
          <a:p>
            <a:pPr marL="457200" indent="-457200"/>
            <a:r>
              <a:rPr lang="en-US" altLang="zh-CN" sz="2000" dirty="0"/>
              <a:t>  *</a:t>
            </a:r>
            <a:r>
              <a:rPr lang="en-US" altLang="zh-CN" sz="2000" dirty="0" err="1"/>
              <a:t>pdstr</a:t>
            </a:r>
            <a:r>
              <a:rPr lang="en-US" altLang="zh-CN" sz="2000" dirty="0"/>
              <a:t> = '\0';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加字符串结束标志</a:t>
            </a:r>
            <a:r>
              <a:rPr lang="en-US" altLang="zh-CN" sz="1800" dirty="0">
                <a:solidFill>
                  <a:schemeClr val="accent2">
                    <a:lumMod val="50000"/>
                  </a:schemeClr>
                </a:solidFill>
                <a:latin typeface="+mn-lt"/>
                <a:ea typeface="楷体" pitchFamily="49" charset="-122"/>
              </a:rPr>
              <a:t>0</a:t>
            </a:r>
          </a:p>
          <a:p>
            <a:pPr marL="457200" indent="-457200"/>
            <a:r>
              <a:rPr lang="en-US" altLang="zh-CN" sz="2000" dirty="0"/>
              <a:t>}</a:t>
            </a:r>
          </a:p>
        </p:txBody>
      </p:sp>
      <p:sp>
        <p:nvSpPr>
          <p:cNvPr id="1203295" name="Text Box 95"/>
          <p:cNvSpPr txBox="1">
            <a:spLocks noChangeArrowheads="1"/>
          </p:cNvSpPr>
          <p:nvPr/>
        </p:nvSpPr>
        <p:spPr bwMode="auto">
          <a:xfrm>
            <a:off x="796328" y="5337532"/>
            <a:ext cx="4390241" cy="104457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zh-CN" altLang="en-US" sz="2000" dirty="0">
                <a:solidFill>
                  <a:srgbClr val="C00000"/>
                </a:solidFill>
                <a:latin typeface="隶书" pitchFamily="49" charset="-122"/>
                <a:ea typeface="隶书" pitchFamily="49" charset="-122"/>
              </a:rPr>
              <a:t>运行结果：</a:t>
            </a:r>
          </a:p>
          <a:p>
            <a:r>
              <a:rPr lang="en-US" altLang="zh-CN" sz="2000" dirty="0">
                <a:solidFill>
                  <a:srgbClr val="002060"/>
                </a:solidFill>
              </a:rPr>
              <a:t>before  </a:t>
            </a:r>
            <a:r>
              <a:rPr lang="en-US" altLang="zh-CN" sz="2000" dirty="0" err="1">
                <a:solidFill>
                  <a:srgbClr val="002060"/>
                </a:solidFill>
              </a:rPr>
              <a:t>alltrim</a:t>
            </a:r>
            <a:r>
              <a:rPr lang="zh-CN" altLang="en-US" sz="2000" dirty="0">
                <a:solidFill>
                  <a:srgbClr val="002060"/>
                </a:solidFill>
              </a:rPr>
              <a:t>：  </a:t>
            </a:r>
            <a:r>
              <a:rPr lang="en-US" altLang="zh-CN" sz="2000" dirty="0">
                <a:solidFill>
                  <a:srgbClr val="002060"/>
                </a:solidFill>
              </a:rPr>
              <a:t>Good Bye!</a:t>
            </a:r>
          </a:p>
          <a:p>
            <a:r>
              <a:rPr lang="en-US" altLang="zh-CN" sz="2000" dirty="0">
                <a:solidFill>
                  <a:srgbClr val="002060"/>
                </a:solidFill>
              </a:rPr>
              <a:t>after   </a:t>
            </a:r>
            <a:r>
              <a:rPr lang="en-US" altLang="zh-CN" sz="2000" dirty="0" err="1">
                <a:solidFill>
                  <a:srgbClr val="002060"/>
                </a:solidFill>
              </a:rPr>
              <a:t>alltrim</a:t>
            </a:r>
            <a:r>
              <a:rPr lang="zh-CN" altLang="en-US" sz="2000" dirty="0">
                <a:solidFill>
                  <a:srgbClr val="002060"/>
                </a:solidFill>
              </a:rPr>
              <a:t>：</a:t>
            </a:r>
            <a:r>
              <a:rPr lang="en-US" altLang="zh-CN" sz="2000" dirty="0">
                <a:solidFill>
                  <a:srgbClr val="002060"/>
                </a:solidFill>
              </a:rPr>
              <a:t>Good Bye!</a:t>
            </a:r>
          </a:p>
        </p:txBody>
      </p:sp>
      <p:sp>
        <p:nvSpPr>
          <p:cNvPr id="9" name="Rectangle 4">
            <a:extLst>
              <a:ext uri="{FF2B5EF4-FFF2-40B4-BE49-F238E27FC236}">
                <a16:creationId xmlns:a16="http://schemas.microsoft.com/office/drawing/2014/main" id="{4B06C054-4BF5-444B-B3A1-795F9B06BA30}"/>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3202"/>
                                        </p:tgtEl>
                                        <p:attrNameLst>
                                          <p:attrName>style.visibility</p:attrName>
                                        </p:attrNameLst>
                                      </p:cBhvr>
                                      <p:to>
                                        <p:strVal val="visible"/>
                                      </p:to>
                                    </p:set>
                                    <p:animEffect transition="in" filter="box(out)">
                                      <p:cBhvr>
                                        <p:cTn id="7" dur="500"/>
                                        <p:tgtEl>
                                          <p:spTgt spid="120320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03294"/>
                                        </p:tgtEl>
                                        <p:attrNameLst>
                                          <p:attrName>style.visibility</p:attrName>
                                        </p:attrNameLst>
                                      </p:cBhvr>
                                      <p:to>
                                        <p:strVal val="visible"/>
                                      </p:to>
                                    </p:set>
                                    <p:animEffect transition="in" filter="box(out)">
                                      <p:cBhvr>
                                        <p:cTn id="12" dur="500"/>
                                        <p:tgtEl>
                                          <p:spTgt spid="1203294"/>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203295"/>
                                        </p:tgtEl>
                                        <p:attrNameLst>
                                          <p:attrName>style.visibility</p:attrName>
                                        </p:attrNameLst>
                                      </p:cBhvr>
                                      <p:to>
                                        <p:strVal val="visible"/>
                                      </p:to>
                                    </p:set>
                                    <p:animEffect transition="in" filter="box(out)">
                                      <p:cBhvr>
                                        <p:cTn id="17" dur="500"/>
                                        <p:tgtEl>
                                          <p:spTgt spid="1203295"/>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3202" grpId="0" animBg="1" autoUpdateAnimBg="0"/>
      <p:bldP spid="1203294" grpId="0" animBg="1" autoUpdateAnimBg="0"/>
      <p:bldP spid="1203295" grpId="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04278" name="Group 54"/>
          <p:cNvGraphicFramePr>
            <a:graphicFrameLocks noGrp="1"/>
          </p:cNvGraphicFramePr>
          <p:nvPr>
            <p:extLst>
              <p:ext uri="{D42A27DB-BD31-4B8C-83A1-F6EECF244321}">
                <p14:modId xmlns:p14="http://schemas.microsoft.com/office/powerpoint/2010/main" val="3321967844"/>
              </p:ext>
            </p:extLst>
          </p:nvPr>
        </p:nvGraphicFramePr>
        <p:xfrm>
          <a:off x="2961133" y="1744761"/>
          <a:ext cx="7561263" cy="396240"/>
        </p:xfrm>
        <a:graphic>
          <a:graphicData uri="http://schemas.openxmlformats.org/drawingml/2006/table">
            <a:tbl>
              <a:tblPr/>
              <a:tblGrid>
                <a:gridCol w="539750">
                  <a:extLst>
                    <a:ext uri="{9D8B030D-6E8A-4147-A177-3AD203B41FA5}">
                      <a16:colId xmlns:a16="http://schemas.microsoft.com/office/drawing/2014/main" val="20000"/>
                    </a:ext>
                  </a:extLst>
                </a:gridCol>
                <a:gridCol w="541338">
                  <a:extLst>
                    <a:ext uri="{9D8B030D-6E8A-4147-A177-3AD203B41FA5}">
                      <a16:colId xmlns:a16="http://schemas.microsoft.com/office/drawing/2014/main" val="20001"/>
                    </a:ext>
                  </a:extLst>
                </a:gridCol>
                <a:gridCol w="539750">
                  <a:extLst>
                    <a:ext uri="{9D8B030D-6E8A-4147-A177-3AD203B41FA5}">
                      <a16:colId xmlns:a16="http://schemas.microsoft.com/office/drawing/2014/main" val="20002"/>
                    </a:ext>
                  </a:extLst>
                </a:gridCol>
                <a:gridCol w="539750">
                  <a:extLst>
                    <a:ext uri="{9D8B030D-6E8A-4147-A177-3AD203B41FA5}">
                      <a16:colId xmlns:a16="http://schemas.microsoft.com/office/drawing/2014/main" val="20003"/>
                    </a:ext>
                  </a:extLst>
                </a:gridCol>
                <a:gridCol w="539750">
                  <a:extLst>
                    <a:ext uri="{9D8B030D-6E8A-4147-A177-3AD203B41FA5}">
                      <a16:colId xmlns:a16="http://schemas.microsoft.com/office/drawing/2014/main" val="20004"/>
                    </a:ext>
                  </a:extLst>
                </a:gridCol>
                <a:gridCol w="541337">
                  <a:extLst>
                    <a:ext uri="{9D8B030D-6E8A-4147-A177-3AD203B41FA5}">
                      <a16:colId xmlns:a16="http://schemas.microsoft.com/office/drawing/2014/main" val="20005"/>
                    </a:ext>
                  </a:extLst>
                </a:gridCol>
                <a:gridCol w="539750">
                  <a:extLst>
                    <a:ext uri="{9D8B030D-6E8A-4147-A177-3AD203B41FA5}">
                      <a16:colId xmlns:a16="http://schemas.microsoft.com/office/drawing/2014/main" val="20006"/>
                    </a:ext>
                  </a:extLst>
                </a:gridCol>
                <a:gridCol w="538163">
                  <a:extLst>
                    <a:ext uri="{9D8B030D-6E8A-4147-A177-3AD203B41FA5}">
                      <a16:colId xmlns:a16="http://schemas.microsoft.com/office/drawing/2014/main" val="20007"/>
                    </a:ext>
                  </a:extLst>
                </a:gridCol>
                <a:gridCol w="541337">
                  <a:extLst>
                    <a:ext uri="{9D8B030D-6E8A-4147-A177-3AD203B41FA5}">
                      <a16:colId xmlns:a16="http://schemas.microsoft.com/office/drawing/2014/main" val="20008"/>
                    </a:ext>
                  </a:extLst>
                </a:gridCol>
                <a:gridCol w="539750">
                  <a:extLst>
                    <a:ext uri="{9D8B030D-6E8A-4147-A177-3AD203B41FA5}">
                      <a16:colId xmlns:a16="http://schemas.microsoft.com/office/drawing/2014/main" val="20009"/>
                    </a:ext>
                  </a:extLst>
                </a:gridCol>
                <a:gridCol w="539750">
                  <a:extLst>
                    <a:ext uri="{9D8B030D-6E8A-4147-A177-3AD203B41FA5}">
                      <a16:colId xmlns:a16="http://schemas.microsoft.com/office/drawing/2014/main" val="20010"/>
                    </a:ext>
                  </a:extLst>
                </a:gridCol>
                <a:gridCol w="539750">
                  <a:extLst>
                    <a:ext uri="{9D8B030D-6E8A-4147-A177-3AD203B41FA5}">
                      <a16:colId xmlns:a16="http://schemas.microsoft.com/office/drawing/2014/main" val="20011"/>
                    </a:ext>
                  </a:extLst>
                </a:gridCol>
                <a:gridCol w="541338">
                  <a:extLst>
                    <a:ext uri="{9D8B030D-6E8A-4147-A177-3AD203B41FA5}">
                      <a16:colId xmlns:a16="http://schemas.microsoft.com/office/drawing/2014/main" val="20012"/>
                    </a:ext>
                  </a:extLst>
                </a:gridCol>
                <a:gridCol w="539750">
                  <a:extLst>
                    <a:ext uri="{9D8B030D-6E8A-4147-A177-3AD203B41FA5}">
                      <a16:colId xmlns:a16="http://schemas.microsoft.com/office/drawing/2014/main" val="20013"/>
                    </a:ext>
                  </a:extLst>
                </a:gridCol>
              </a:tblGrid>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'G'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C00000"/>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1204271" name="Group 47"/>
          <p:cNvGrpSpPr>
            <a:grpSpLocks/>
          </p:cNvGrpSpPr>
          <p:nvPr/>
        </p:nvGrpSpPr>
        <p:grpSpPr bwMode="auto">
          <a:xfrm>
            <a:off x="2788095" y="836712"/>
            <a:ext cx="1295400" cy="865187"/>
            <a:chOff x="613" y="300"/>
            <a:chExt cx="816" cy="545"/>
          </a:xfrm>
        </p:grpSpPr>
        <p:sp>
          <p:nvSpPr>
            <p:cNvPr id="1204269" name="Line 45"/>
            <p:cNvSpPr>
              <a:spLocks noChangeShapeType="1"/>
            </p:cNvSpPr>
            <p:nvPr/>
          </p:nvSpPr>
          <p:spPr bwMode="auto">
            <a:xfrm>
              <a:off x="884" y="527"/>
              <a:ext cx="0" cy="31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b="1">
                <a:solidFill>
                  <a:schemeClr val="accent2">
                    <a:lumMod val="50000"/>
                  </a:schemeClr>
                </a:solidFill>
              </a:endParaRPr>
            </a:p>
          </p:txBody>
        </p:sp>
        <p:sp>
          <p:nvSpPr>
            <p:cNvPr id="1204270" name="Text Box 46"/>
            <p:cNvSpPr txBox="1">
              <a:spLocks noChangeArrowheads="1"/>
            </p:cNvSpPr>
            <p:nvPr/>
          </p:nvSpPr>
          <p:spPr bwMode="auto">
            <a:xfrm>
              <a:off x="613" y="300"/>
              <a:ext cx="816"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err="1">
                  <a:solidFill>
                    <a:schemeClr val="accent2">
                      <a:lumMod val="50000"/>
                    </a:schemeClr>
                  </a:solidFill>
                </a:rPr>
                <a:t>pstr</a:t>
              </a:r>
              <a:r>
                <a:rPr lang="en-US" altLang="zh-CN" sz="2000" b="1" dirty="0">
                  <a:solidFill>
                    <a:schemeClr val="accent2">
                      <a:lumMod val="50000"/>
                    </a:schemeClr>
                  </a:solidFill>
                </a:rPr>
                <a:t>(</a:t>
              </a:r>
              <a:r>
                <a:rPr lang="zh-CN" altLang="en-US" sz="2000" b="1" dirty="0">
                  <a:solidFill>
                    <a:schemeClr val="accent2">
                      <a:lumMod val="50000"/>
                    </a:schemeClr>
                  </a:solidFill>
                  <a:latin typeface="楷体" pitchFamily="49" charset="-122"/>
                  <a:ea typeface="楷体" pitchFamily="49" charset="-122"/>
                </a:rPr>
                <a:t>实参</a:t>
              </a:r>
              <a:r>
                <a:rPr lang="en-US" altLang="zh-CN" sz="2000" b="1" dirty="0">
                  <a:solidFill>
                    <a:schemeClr val="accent2">
                      <a:lumMod val="50000"/>
                    </a:schemeClr>
                  </a:solidFill>
                </a:rPr>
                <a:t>)</a:t>
              </a:r>
            </a:p>
          </p:txBody>
        </p:sp>
      </p:grpSp>
      <p:grpSp>
        <p:nvGrpSpPr>
          <p:cNvPr id="1204277" name="Group 53"/>
          <p:cNvGrpSpPr>
            <a:grpSpLocks/>
          </p:cNvGrpSpPr>
          <p:nvPr/>
        </p:nvGrpSpPr>
        <p:grpSpPr bwMode="auto">
          <a:xfrm>
            <a:off x="1922908" y="1530450"/>
            <a:ext cx="1008063" cy="862013"/>
            <a:chOff x="158" y="800"/>
            <a:chExt cx="635" cy="543"/>
          </a:xfrm>
        </p:grpSpPr>
        <p:sp>
          <p:nvSpPr>
            <p:cNvPr id="1204273" name="Line 49"/>
            <p:cNvSpPr>
              <a:spLocks noChangeShapeType="1"/>
            </p:cNvSpPr>
            <p:nvPr/>
          </p:nvSpPr>
          <p:spPr bwMode="auto">
            <a:xfrm>
              <a:off x="567" y="1026"/>
              <a:ext cx="226" cy="0"/>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b="1">
                <a:solidFill>
                  <a:schemeClr val="accent1">
                    <a:lumMod val="50000"/>
                  </a:schemeClr>
                </a:solidFill>
              </a:endParaRPr>
            </a:p>
          </p:txBody>
        </p:sp>
        <p:sp>
          <p:nvSpPr>
            <p:cNvPr id="1204274" name="Text Box 50"/>
            <p:cNvSpPr txBox="1">
              <a:spLocks noChangeArrowheads="1"/>
            </p:cNvSpPr>
            <p:nvPr/>
          </p:nvSpPr>
          <p:spPr bwMode="auto">
            <a:xfrm>
              <a:off x="158" y="800"/>
              <a:ext cx="544" cy="543"/>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err="1">
                  <a:solidFill>
                    <a:schemeClr val="accent1">
                      <a:lumMod val="50000"/>
                    </a:schemeClr>
                  </a:solidFill>
                  <a:latin typeface="+mn-lt"/>
                  <a:ea typeface="楷体" pitchFamily="49" charset="-122"/>
                </a:rPr>
                <a:t>psstr</a:t>
              </a:r>
              <a:endParaRPr lang="en-US" altLang="zh-CN" sz="2000" b="1" dirty="0">
                <a:solidFill>
                  <a:schemeClr val="accent1">
                    <a:lumMod val="50000"/>
                  </a:schemeClr>
                </a:solidFill>
                <a:latin typeface="+mn-lt"/>
                <a:ea typeface="楷体" pitchFamily="49" charset="-122"/>
              </a:endParaRPr>
            </a:p>
            <a:p>
              <a:pPr marL="342900" indent="-342900">
                <a:spcBef>
                  <a:spcPct val="50000"/>
                </a:spcBef>
              </a:pPr>
              <a:r>
                <a:rPr lang="en-US" altLang="zh-CN" sz="2000" b="1" dirty="0">
                  <a:solidFill>
                    <a:schemeClr val="accent1">
                      <a:lumMod val="50000"/>
                    </a:schemeClr>
                  </a:solidFill>
                  <a:latin typeface="+mn-lt"/>
                  <a:ea typeface="楷体" pitchFamily="49" charset="-122"/>
                </a:rPr>
                <a:t>(</a:t>
              </a:r>
              <a:r>
                <a:rPr lang="zh-CN" altLang="en-US" sz="2000" b="1" dirty="0">
                  <a:solidFill>
                    <a:schemeClr val="accent1">
                      <a:lumMod val="50000"/>
                    </a:schemeClr>
                  </a:solidFill>
                  <a:latin typeface="+mn-lt"/>
                  <a:ea typeface="楷体" pitchFamily="49" charset="-122"/>
                </a:rPr>
                <a:t>形参</a:t>
              </a:r>
              <a:r>
                <a:rPr lang="en-US" altLang="zh-CN" sz="2000" b="1" dirty="0">
                  <a:solidFill>
                    <a:schemeClr val="accent1">
                      <a:lumMod val="50000"/>
                    </a:schemeClr>
                  </a:solidFill>
                  <a:latin typeface="+mn-lt"/>
                  <a:ea typeface="楷体" pitchFamily="49" charset="-122"/>
                </a:rPr>
                <a:t>)</a:t>
              </a:r>
            </a:p>
          </p:txBody>
        </p:sp>
      </p:grpSp>
      <p:grpSp>
        <p:nvGrpSpPr>
          <p:cNvPr id="1204279" name="Group 55"/>
          <p:cNvGrpSpPr>
            <a:grpSpLocks/>
          </p:cNvGrpSpPr>
          <p:nvPr/>
        </p:nvGrpSpPr>
        <p:grpSpPr bwMode="auto">
          <a:xfrm>
            <a:off x="2859533" y="2162273"/>
            <a:ext cx="936625" cy="863600"/>
            <a:chOff x="838" y="1198"/>
            <a:chExt cx="590" cy="544"/>
          </a:xfrm>
        </p:grpSpPr>
        <p:sp useBgFill="1">
          <p:nvSpPr>
            <p:cNvPr id="1204275" name="Line 51"/>
            <p:cNvSpPr>
              <a:spLocks noChangeShapeType="1"/>
            </p:cNvSpPr>
            <p:nvPr/>
          </p:nvSpPr>
          <p:spPr bwMode="auto">
            <a:xfrm flipV="1">
              <a:off x="1074" y="1198"/>
              <a:ext cx="0" cy="318"/>
            </a:xfrm>
            <a:prstGeom prst="line">
              <a:avLst/>
            </a:prstGeom>
            <a:ln w="28575">
              <a:solidFill>
                <a:srgbClr val="C00000"/>
              </a:solidFill>
              <a:round/>
              <a:headEnd/>
              <a:tailEnd type="stealth" w="lg" len="lg"/>
            </a:ln>
            <a:effectLst>
              <a:outerShdw dist="35921" dir="2700000" algn="ctr" rotWithShape="0">
                <a:schemeClr val="bg2"/>
              </a:outerShdw>
            </a:effectLst>
          </p:spPr>
          <p:txBody>
            <a:bodyPr/>
            <a:lstStyle/>
            <a:p>
              <a:endParaRPr lang="zh-CN" altLang="en-US" b="1" dirty="0">
                <a:solidFill>
                  <a:srgbClr val="C00000"/>
                </a:solidFill>
              </a:endParaRPr>
            </a:p>
          </p:txBody>
        </p:sp>
        <p:sp useBgFill="1">
          <p:nvSpPr>
            <p:cNvPr id="1204276" name="Text Box 52"/>
            <p:cNvSpPr txBox="1">
              <a:spLocks noChangeArrowheads="1"/>
            </p:cNvSpPr>
            <p:nvPr/>
          </p:nvSpPr>
          <p:spPr bwMode="auto">
            <a:xfrm>
              <a:off x="838" y="1490"/>
              <a:ext cx="590" cy="252"/>
            </a:xfrm>
            <a:prstGeom prst="rect">
              <a:avLst/>
            </a:prstGeom>
            <a:ln w="9525" algn="ctr">
              <a:noFill/>
              <a:miter lim="800000"/>
              <a:headEnd/>
              <a:tailEnd/>
            </a:ln>
            <a:effectLst/>
          </p:spPr>
          <p:txBody>
            <a:bodyPr>
              <a:spAutoFit/>
            </a:bodyPr>
            <a:lstStyle/>
            <a:p>
              <a:pPr marL="342900" indent="-342900">
                <a:spcBef>
                  <a:spcPct val="50000"/>
                </a:spcBef>
              </a:pPr>
              <a:r>
                <a:rPr lang="en-US" altLang="zh-CN" sz="2000" b="1" dirty="0" err="1">
                  <a:solidFill>
                    <a:srgbClr val="C00000"/>
                  </a:solidFill>
                </a:rPr>
                <a:t>pstart</a:t>
              </a:r>
              <a:endParaRPr lang="en-US" altLang="zh-CN" sz="2000" b="1" dirty="0">
                <a:solidFill>
                  <a:srgbClr val="C00000"/>
                </a:solidFill>
              </a:endParaRPr>
            </a:p>
          </p:txBody>
        </p:sp>
      </p:grpSp>
      <p:grpSp>
        <p:nvGrpSpPr>
          <p:cNvPr id="1204280" name="Group 56"/>
          <p:cNvGrpSpPr>
            <a:grpSpLocks/>
          </p:cNvGrpSpPr>
          <p:nvPr/>
        </p:nvGrpSpPr>
        <p:grpSpPr bwMode="auto">
          <a:xfrm>
            <a:off x="3889821" y="2163861"/>
            <a:ext cx="936625" cy="863600"/>
            <a:chOff x="838" y="1198"/>
            <a:chExt cx="590" cy="544"/>
          </a:xfrm>
        </p:grpSpPr>
        <p:sp>
          <p:nvSpPr>
            <p:cNvPr id="1204281" name="Line 57"/>
            <p:cNvSpPr>
              <a:spLocks noChangeShapeType="1"/>
            </p:cNvSpPr>
            <p:nvPr/>
          </p:nvSpPr>
          <p:spPr bwMode="auto">
            <a:xfrm flipV="1">
              <a:off x="1074" y="1198"/>
              <a:ext cx="0" cy="318"/>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b="1" dirty="0">
                <a:solidFill>
                  <a:srgbClr val="C00000"/>
                </a:solidFill>
              </a:endParaRPr>
            </a:p>
          </p:txBody>
        </p:sp>
        <p:sp>
          <p:nvSpPr>
            <p:cNvPr id="1204282" name="Text Box 58"/>
            <p:cNvSpPr txBox="1">
              <a:spLocks noChangeArrowheads="1"/>
            </p:cNvSpPr>
            <p:nvPr/>
          </p:nvSpPr>
          <p:spPr bwMode="auto">
            <a:xfrm>
              <a:off x="838" y="1490"/>
              <a:ext cx="590"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rgbClr val="C00000"/>
                  </a:solidFill>
                </a:rPr>
                <a:t>pstart</a:t>
              </a:r>
            </a:p>
          </p:txBody>
        </p:sp>
      </p:grpSp>
      <p:sp>
        <p:nvSpPr>
          <p:cNvPr id="1204283" name="Line 59"/>
          <p:cNvSpPr>
            <a:spLocks noChangeShapeType="1"/>
          </p:cNvSpPr>
          <p:nvPr/>
        </p:nvSpPr>
        <p:spPr bwMode="auto">
          <a:xfrm>
            <a:off x="3364358" y="2421036"/>
            <a:ext cx="792163" cy="0"/>
          </a:xfrm>
          <a:prstGeom prst="line">
            <a:avLst/>
          </a:prstGeom>
          <a:noFill/>
          <a:ln w="28575">
            <a:solidFill>
              <a:srgbClr val="7030A0"/>
            </a:solidFill>
            <a:prstDash val="sysDot"/>
            <a:round/>
            <a:headEnd/>
            <a:tailEnd type="stealth" w="lg" len="lg"/>
          </a:ln>
          <a:effectLst/>
        </p:spPr>
        <p:txBody>
          <a:bodyPr/>
          <a:lstStyle/>
          <a:p>
            <a:endParaRPr lang="zh-CN" altLang="en-US"/>
          </a:p>
        </p:txBody>
      </p:sp>
      <p:sp useBgFill="1">
        <p:nvSpPr>
          <p:cNvPr id="1204284" name="Rectangle 60"/>
          <p:cNvSpPr>
            <a:spLocks noChangeArrowheads="1"/>
          </p:cNvSpPr>
          <p:nvPr/>
        </p:nvSpPr>
        <p:spPr bwMode="auto">
          <a:xfrm>
            <a:off x="2867471" y="2203203"/>
            <a:ext cx="720725" cy="792163"/>
          </a:xfrm>
          <a:prstGeom prst="rect">
            <a:avLst/>
          </a:prstGeom>
          <a:ln w="9525" algn="ctr">
            <a:noFill/>
            <a:miter lim="800000"/>
            <a:headEnd/>
            <a:tailEnd/>
          </a:ln>
          <a:effectLst/>
        </p:spPr>
        <p:txBody>
          <a:bodyPr wrap="none" anchor="ctr"/>
          <a:lstStyle/>
          <a:p>
            <a:endParaRPr lang="zh-CN" altLang="en-US"/>
          </a:p>
        </p:txBody>
      </p:sp>
      <p:sp>
        <p:nvSpPr>
          <p:cNvPr id="1204285" name="Rectangle 61"/>
          <p:cNvSpPr>
            <a:spLocks noChangeArrowheads="1"/>
          </p:cNvSpPr>
          <p:nvPr/>
        </p:nvSpPr>
        <p:spPr bwMode="auto">
          <a:xfrm>
            <a:off x="2243583" y="3027462"/>
            <a:ext cx="3078163" cy="669925"/>
          </a:xfrm>
          <a:prstGeom prst="rect">
            <a:avLst/>
          </a:prstGeom>
          <a:gradFill rotWithShape="1">
            <a:gsLst>
              <a:gs pos="0">
                <a:srgbClr val="CFCFD1"/>
              </a:gs>
              <a:gs pos="100000">
                <a:schemeClr val="bg1"/>
              </a:gs>
            </a:gsLst>
            <a:lin ang="5400000" scaled="1"/>
          </a:gradFill>
          <a:ln w="28575" algn="ctr">
            <a:solidFill>
              <a:srgbClr val="C00000"/>
            </a:solidFill>
            <a:miter lim="800000"/>
            <a:headEnd/>
            <a:tailEnd/>
          </a:ln>
          <a:effectLst>
            <a:outerShdw blurRad="50800" dist="106680" dir="2700000" algn="tl" rotWithShape="0">
              <a:prstClr val="black">
                <a:alpha val="43000"/>
              </a:prstClr>
            </a:outerShdw>
          </a:effectLst>
        </p:spPr>
        <p:txBody>
          <a:bodyPr>
            <a:spAutoFit/>
          </a:bodyPr>
          <a:lstStyle/>
          <a:p>
            <a:pPr marL="342900" indent="-342900"/>
            <a:r>
              <a:rPr lang="en-US" altLang="zh-CN" sz="2000">
                <a:effectLst>
                  <a:outerShdw blurRad="38100" dist="38100" dir="2700000" algn="tl">
                    <a:srgbClr val="FFFFFF"/>
                  </a:outerShdw>
                </a:effectLst>
              </a:rPr>
              <a:t>while (*pstart == ' ')</a:t>
            </a:r>
          </a:p>
          <a:p>
            <a:pPr marL="342900" indent="-342900"/>
            <a:r>
              <a:rPr lang="en-US" altLang="zh-CN" sz="2000">
                <a:effectLst>
                  <a:outerShdw blurRad="38100" dist="38100" dir="2700000" algn="tl">
                    <a:srgbClr val="FFFFFF"/>
                  </a:outerShdw>
                </a:effectLst>
              </a:rPr>
              <a:t>      pstart++;</a:t>
            </a:r>
          </a:p>
        </p:txBody>
      </p:sp>
      <p:grpSp>
        <p:nvGrpSpPr>
          <p:cNvPr id="1204286" name="Group 62"/>
          <p:cNvGrpSpPr>
            <a:grpSpLocks/>
          </p:cNvGrpSpPr>
          <p:nvPr/>
        </p:nvGrpSpPr>
        <p:grpSpPr bwMode="auto">
          <a:xfrm>
            <a:off x="9341296" y="2176561"/>
            <a:ext cx="936625" cy="863600"/>
            <a:chOff x="838" y="1198"/>
            <a:chExt cx="590" cy="544"/>
          </a:xfrm>
        </p:grpSpPr>
        <p:sp>
          <p:nvSpPr>
            <p:cNvPr id="1204287" name="Line 63"/>
            <p:cNvSpPr>
              <a:spLocks noChangeShapeType="1"/>
            </p:cNvSpPr>
            <p:nvPr/>
          </p:nvSpPr>
          <p:spPr bwMode="auto">
            <a:xfrm flipV="1">
              <a:off x="1074" y="1198"/>
              <a:ext cx="0" cy="318"/>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b="1" dirty="0">
                <a:solidFill>
                  <a:srgbClr val="C00000"/>
                </a:solidFill>
              </a:endParaRPr>
            </a:p>
          </p:txBody>
        </p:sp>
        <p:sp>
          <p:nvSpPr>
            <p:cNvPr id="1204288" name="Text Box 64"/>
            <p:cNvSpPr txBox="1">
              <a:spLocks noChangeArrowheads="1"/>
            </p:cNvSpPr>
            <p:nvPr/>
          </p:nvSpPr>
          <p:spPr bwMode="auto">
            <a:xfrm>
              <a:off x="838" y="1490"/>
              <a:ext cx="590"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rgbClr val="C00000"/>
                  </a:solidFill>
                </a:rPr>
                <a:t>pend</a:t>
              </a:r>
            </a:p>
          </p:txBody>
        </p:sp>
      </p:grpSp>
      <p:sp>
        <p:nvSpPr>
          <p:cNvPr id="1204289" name="Line 65"/>
          <p:cNvSpPr>
            <a:spLocks noChangeShapeType="1"/>
          </p:cNvSpPr>
          <p:nvPr/>
        </p:nvSpPr>
        <p:spPr bwMode="auto">
          <a:xfrm flipH="1">
            <a:off x="8766620" y="2436911"/>
            <a:ext cx="792162" cy="0"/>
          </a:xfrm>
          <a:prstGeom prst="line">
            <a:avLst/>
          </a:prstGeom>
          <a:noFill/>
          <a:ln w="28575">
            <a:solidFill>
              <a:srgbClr val="7030A0"/>
            </a:solidFill>
            <a:prstDash val="sysDot"/>
            <a:round/>
            <a:headEnd/>
            <a:tailEnd type="stealth" w="lg" len="lg"/>
          </a:ln>
          <a:effectLst/>
        </p:spPr>
        <p:txBody>
          <a:bodyPr/>
          <a:lstStyle/>
          <a:p>
            <a:endParaRPr lang="zh-CN" altLang="en-US"/>
          </a:p>
        </p:txBody>
      </p:sp>
      <p:grpSp>
        <p:nvGrpSpPr>
          <p:cNvPr id="1204290" name="Group 66"/>
          <p:cNvGrpSpPr>
            <a:grpSpLocks/>
          </p:cNvGrpSpPr>
          <p:nvPr/>
        </p:nvGrpSpPr>
        <p:grpSpPr bwMode="auto">
          <a:xfrm>
            <a:off x="8214171" y="2163861"/>
            <a:ext cx="936625" cy="863600"/>
            <a:chOff x="838" y="1198"/>
            <a:chExt cx="590" cy="544"/>
          </a:xfrm>
        </p:grpSpPr>
        <p:sp>
          <p:nvSpPr>
            <p:cNvPr id="1204291" name="Line 67"/>
            <p:cNvSpPr>
              <a:spLocks noChangeShapeType="1"/>
            </p:cNvSpPr>
            <p:nvPr/>
          </p:nvSpPr>
          <p:spPr bwMode="auto">
            <a:xfrm flipV="1">
              <a:off x="1074" y="1198"/>
              <a:ext cx="0" cy="318"/>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b="1">
                <a:solidFill>
                  <a:srgbClr val="C00000"/>
                </a:solidFill>
              </a:endParaRPr>
            </a:p>
          </p:txBody>
        </p:sp>
        <p:sp>
          <p:nvSpPr>
            <p:cNvPr id="1204292" name="Text Box 68"/>
            <p:cNvSpPr txBox="1">
              <a:spLocks noChangeArrowheads="1"/>
            </p:cNvSpPr>
            <p:nvPr/>
          </p:nvSpPr>
          <p:spPr bwMode="auto">
            <a:xfrm>
              <a:off x="838" y="1490"/>
              <a:ext cx="590"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rgbClr val="C00000"/>
                  </a:solidFill>
                </a:rPr>
                <a:t>pend</a:t>
              </a:r>
            </a:p>
          </p:txBody>
        </p:sp>
      </p:grpSp>
      <p:sp useBgFill="1">
        <p:nvSpPr>
          <p:cNvPr id="1204293" name="Rectangle 69"/>
          <p:cNvSpPr>
            <a:spLocks noChangeArrowheads="1"/>
          </p:cNvSpPr>
          <p:nvPr/>
        </p:nvSpPr>
        <p:spPr bwMode="auto">
          <a:xfrm>
            <a:off x="9341296" y="2204790"/>
            <a:ext cx="720725" cy="792162"/>
          </a:xfrm>
          <a:prstGeom prst="rect">
            <a:avLst/>
          </a:prstGeom>
          <a:ln w="9525" algn="ctr">
            <a:noFill/>
            <a:miter lim="800000"/>
            <a:headEnd/>
            <a:tailEnd/>
          </a:ln>
          <a:effectLst/>
        </p:spPr>
        <p:txBody>
          <a:bodyPr wrap="none" anchor="ctr"/>
          <a:lstStyle/>
          <a:p>
            <a:endParaRPr lang="zh-CN" altLang="en-US"/>
          </a:p>
        </p:txBody>
      </p:sp>
      <p:sp>
        <p:nvSpPr>
          <p:cNvPr id="1204294" name="Rectangle 70"/>
          <p:cNvSpPr>
            <a:spLocks noChangeArrowheads="1"/>
          </p:cNvSpPr>
          <p:nvPr/>
        </p:nvSpPr>
        <p:spPr bwMode="auto">
          <a:xfrm>
            <a:off x="6258371" y="2997299"/>
            <a:ext cx="4302125" cy="669925"/>
          </a:xfrm>
          <a:prstGeom prst="rect">
            <a:avLst/>
          </a:prstGeom>
          <a:gradFill rotWithShape="1">
            <a:gsLst>
              <a:gs pos="0">
                <a:srgbClr val="CFCFD1"/>
              </a:gs>
              <a:gs pos="100000">
                <a:schemeClr val="bg1"/>
              </a:gs>
            </a:gsLst>
            <a:lin ang="5400000" scaled="1"/>
          </a:gradFill>
          <a:ln w="28575" algn="ctr">
            <a:solidFill>
              <a:srgbClr val="C00000"/>
            </a:solidFill>
            <a:miter lim="800000"/>
            <a:headEnd/>
            <a:tailEnd/>
          </a:ln>
          <a:effectLst>
            <a:outerShdw blurRad="50800" dist="106680" dir="2700000" algn="tl" rotWithShape="0">
              <a:prstClr val="black">
                <a:alpha val="43000"/>
              </a:prstClr>
            </a:outerShdw>
          </a:effectLst>
        </p:spPr>
        <p:txBody>
          <a:bodyPr>
            <a:spAutoFit/>
          </a:bodyPr>
          <a:lstStyle/>
          <a:p>
            <a:pPr marL="342900" indent="-342900"/>
            <a:r>
              <a:rPr lang="en-US" altLang="zh-CN" sz="2000">
                <a:effectLst>
                  <a:outerShdw blurRad="38100" dist="38100" dir="2700000" algn="tl">
                    <a:srgbClr val="FFFFFF"/>
                  </a:outerShdw>
                </a:effectLst>
              </a:rPr>
              <a:t>while (pend &gt; pstart &amp;&amp; *pend == ' ')</a:t>
            </a:r>
          </a:p>
          <a:p>
            <a:pPr marL="342900" indent="-342900"/>
            <a:r>
              <a:rPr lang="en-US" altLang="zh-CN" sz="2000">
                <a:effectLst>
                  <a:outerShdw blurRad="38100" dist="38100" dir="2700000" algn="tl">
                    <a:srgbClr val="FFFFFF"/>
                  </a:outerShdw>
                </a:effectLst>
              </a:rPr>
              <a:t>      pend--;</a:t>
            </a:r>
          </a:p>
        </p:txBody>
      </p:sp>
      <p:graphicFrame>
        <p:nvGraphicFramePr>
          <p:cNvPr id="1204352" name="Group 128"/>
          <p:cNvGraphicFramePr>
            <a:graphicFrameLocks noGrp="1"/>
          </p:cNvGraphicFramePr>
          <p:nvPr>
            <p:extLst>
              <p:ext uri="{D42A27DB-BD31-4B8C-83A1-F6EECF244321}">
                <p14:modId xmlns:p14="http://schemas.microsoft.com/office/powerpoint/2010/main" val="1993581210"/>
              </p:ext>
            </p:extLst>
          </p:nvPr>
        </p:nvGraphicFramePr>
        <p:xfrm>
          <a:off x="2716658" y="4902188"/>
          <a:ext cx="7561263" cy="396240"/>
        </p:xfrm>
        <a:graphic>
          <a:graphicData uri="http://schemas.openxmlformats.org/drawingml/2006/table">
            <a:tbl>
              <a:tblPr/>
              <a:tblGrid>
                <a:gridCol w="544513">
                  <a:extLst>
                    <a:ext uri="{9D8B030D-6E8A-4147-A177-3AD203B41FA5}">
                      <a16:colId xmlns:a16="http://schemas.microsoft.com/office/drawing/2014/main" val="20000"/>
                    </a:ext>
                  </a:extLst>
                </a:gridCol>
                <a:gridCol w="546100">
                  <a:extLst>
                    <a:ext uri="{9D8B030D-6E8A-4147-A177-3AD203B41FA5}">
                      <a16:colId xmlns:a16="http://schemas.microsoft.com/office/drawing/2014/main" val="20001"/>
                    </a:ext>
                  </a:extLst>
                </a:gridCol>
                <a:gridCol w="546100">
                  <a:extLst>
                    <a:ext uri="{9D8B030D-6E8A-4147-A177-3AD203B41FA5}">
                      <a16:colId xmlns:a16="http://schemas.microsoft.com/office/drawing/2014/main" val="20002"/>
                    </a:ext>
                  </a:extLst>
                </a:gridCol>
                <a:gridCol w="544512">
                  <a:extLst>
                    <a:ext uri="{9D8B030D-6E8A-4147-A177-3AD203B41FA5}">
                      <a16:colId xmlns:a16="http://schemas.microsoft.com/office/drawing/2014/main" val="20003"/>
                    </a:ext>
                  </a:extLst>
                </a:gridCol>
                <a:gridCol w="544513">
                  <a:extLst>
                    <a:ext uri="{9D8B030D-6E8A-4147-A177-3AD203B41FA5}">
                      <a16:colId xmlns:a16="http://schemas.microsoft.com/office/drawing/2014/main" val="20004"/>
                    </a:ext>
                  </a:extLst>
                </a:gridCol>
                <a:gridCol w="546100">
                  <a:extLst>
                    <a:ext uri="{9D8B030D-6E8A-4147-A177-3AD203B41FA5}">
                      <a16:colId xmlns:a16="http://schemas.microsoft.com/office/drawing/2014/main" val="20005"/>
                    </a:ext>
                  </a:extLst>
                </a:gridCol>
                <a:gridCol w="546100">
                  <a:extLst>
                    <a:ext uri="{9D8B030D-6E8A-4147-A177-3AD203B41FA5}">
                      <a16:colId xmlns:a16="http://schemas.microsoft.com/office/drawing/2014/main" val="20006"/>
                    </a:ext>
                  </a:extLst>
                </a:gridCol>
                <a:gridCol w="542925">
                  <a:extLst>
                    <a:ext uri="{9D8B030D-6E8A-4147-A177-3AD203B41FA5}">
                      <a16:colId xmlns:a16="http://schemas.microsoft.com/office/drawing/2014/main" val="20007"/>
                    </a:ext>
                  </a:extLst>
                </a:gridCol>
                <a:gridCol w="546100">
                  <a:extLst>
                    <a:ext uri="{9D8B030D-6E8A-4147-A177-3AD203B41FA5}">
                      <a16:colId xmlns:a16="http://schemas.microsoft.com/office/drawing/2014/main" val="20008"/>
                    </a:ext>
                  </a:extLst>
                </a:gridCol>
                <a:gridCol w="544512">
                  <a:extLst>
                    <a:ext uri="{9D8B030D-6E8A-4147-A177-3AD203B41FA5}">
                      <a16:colId xmlns:a16="http://schemas.microsoft.com/office/drawing/2014/main" val="20009"/>
                    </a:ext>
                  </a:extLst>
                </a:gridCol>
                <a:gridCol w="1090613">
                  <a:extLst>
                    <a:ext uri="{9D8B030D-6E8A-4147-A177-3AD203B41FA5}">
                      <a16:colId xmlns:a16="http://schemas.microsoft.com/office/drawing/2014/main" val="20010"/>
                    </a:ext>
                  </a:extLst>
                </a:gridCol>
                <a:gridCol w="546100">
                  <a:extLst>
                    <a:ext uri="{9D8B030D-6E8A-4147-A177-3AD203B41FA5}">
                      <a16:colId xmlns:a16="http://schemas.microsoft.com/office/drawing/2014/main" val="20011"/>
                    </a:ext>
                  </a:extLst>
                </a:gridCol>
                <a:gridCol w="473075">
                  <a:extLst>
                    <a:ext uri="{9D8B030D-6E8A-4147-A177-3AD203B41FA5}">
                      <a16:colId xmlns:a16="http://schemas.microsoft.com/office/drawing/2014/main" val="20012"/>
                    </a:ext>
                  </a:extLst>
                </a:gridCol>
              </a:tblGrid>
              <a:tr h="3698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BEDFC4"/>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rgbClr val="FF6600"/>
                        </a:solidFill>
                        <a:effectLst>
                          <a:outerShdw blurRad="38100" dist="38100" dir="2700000" algn="tl">
                            <a:srgbClr val="C0C0C0"/>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204327" name="Rectangle 103"/>
          <p:cNvSpPr>
            <a:spLocks noChangeArrowheads="1"/>
          </p:cNvSpPr>
          <p:nvPr/>
        </p:nvSpPr>
        <p:spPr bwMode="auto">
          <a:xfrm>
            <a:off x="2745233" y="4915385"/>
            <a:ext cx="504825" cy="369332"/>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a:spAutoFit/>
          </a:bodyPr>
          <a:lstStyle/>
          <a:p>
            <a:pPr marL="342900" indent="-342900"/>
            <a:r>
              <a:rPr lang="en-US" altLang="zh-CN" sz="1800" dirty="0"/>
              <a:t>'G'</a:t>
            </a:r>
          </a:p>
        </p:txBody>
      </p:sp>
      <p:sp>
        <p:nvSpPr>
          <p:cNvPr id="1204330" name="Rectangle 106"/>
          <p:cNvSpPr>
            <a:spLocks noChangeArrowheads="1"/>
          </p:cNvSpPr>
          <p:nvPr/>
        </p:nvSpPr>
        <p:spPr bwMode="auto">
          <a:xfrm>
            <a:off x="3292920" y="4886810"/>
            <a:ext cx="405880"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t>'o'</a:t>
            </a:r>
          </a:p>
        </p:txBody>
      </p:sp>
      <p:sp>
        <p:nvSpPr>
          <p:cNvPr id="1204331" name="Rectangle 107"/>
          <p:cNvSpPr>
            <a:spLocks noChangeArrowheads="1"/>
          </p:cNvSpPr>
          <p:nvPr/>
        </p:nvSpPr>
        <p:spPr bwMode="auto">
          <a:xfrm>
            <a:off x="3866007" y="4888398"/>
            <a:ext cx="405880"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t>'o'</a:t>
            </a:r>
          </a:p>
        </p:txBody>
      </p:sp>
      <p:sp>
        <p:nvSpPr>
          <p:cNvPr id="1204332" name="Rectangle 108"/>
          <p:cNvSpPr>
            <a:spLocks noChangeArrowheads="1"/>
          </p:cNvSpPr>
          <p:nvPr/>
        </p:nvSpPr>
        <p:spPr bwMode="auto">
          <a:xfrm>
            <a:off x="4410521" y="4889985"/>
            <a:ext cx="405880"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t>'d'</a:t>
            </a:r>
          </a:p>
        </p:txBody>
      </p:sp>
      <p:sp>
        <p:nvSpPr>
          <p:cNvPr id="1204333" name="Rectangle 109"/>
          <p:cNvSpPr>
            <a:spLocks noChangeArrowheads="1"/>
          </p:cNvSpPr>
          <p:nvPr/>
        </p:nvSpPr>
        <p:spPr bwMode="auto">
          <a:xfrm>
            <a:off x="4997895" y="4891573"/>
            <a:ext cx="341760"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t>' '</a:t>
            </a:r>
          </a:p>
        </p:txBody>
      </p:sp>
      <p:sp>
        <p:nvSpPr>
          <p:cNvPr id="1204334" name="Rectangle 110"/>
          <p:cNvSpPr>
            <a:spLocks noChangeArrowheads="1"/>
          </p:cNvSpPr>
          <p:nvPr/>
        </p:nvSpPr>
        <p:spPr bwMode="auto">
          <a:xfrm>
            <a:off x="5467795" y="4886810"/>
            <a:ext cx="449162"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t>'B'</a:t>
            </a:r>
          </a:p>
        </p:txBody>
      </p:sp>
      <p:sp>
        <p:nvSpPr>
          <p:cNvPr id="1204335" name="Rectangle 111"/>
          <p:cNvSpPr>
            <a:spLocks noChangeArrowheads="1"/>
          </p:cNvSpPr>
          <p:nvPr/>
        </p:nvSpPr>
        <p:spPr bwMode="auto">
          <a:xfrm>
            <a:off x="6058345" y="4886810"/>
            <a:ext cx="405880"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t>'y'</a:t>
            </a:r>
          </a:p>
        </p:txBody>
      </p:sp>
      <p:sp>
        <p:nvSpPr>
          <p:cNvPr id="1204336" name="Rectangle 112"/>
          <p:cNvSpPr>
            <a:spLocks noChangeArrowheads="1"/>
          </p:cNvSpPr>
          <p:nvPr/>
        </p:nvSpPr>
        <p:spPr bwMode="auto">
          <a:xfrm>
            <a:off x="6606033" y="4886810"/>
            <a:ext cx="391454"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t>'e'</a:t>
            </a:r>
          </a:p>
        </p:txBody>
      </p:sp>
      <p:sp>
        <p:nvSpPr>
          <p:cNvPr id="1204337" name="Rectangle 113"/>
          <p:cNvSpPr>
            <a:spLocks noChangeArrowheads="1"/>
          </p:cNvSpPr>
          <p:nvPr/>
        </p:nvSpPr>
        <p:spPr bwMode="auto">
          <a:xfrm>
            <a:off x="7180707" y="4901098"/>
            <a:ext cx="362600" cy="400110"/>
          </a:xfrm>
          <a:prstGeom prst="rect">
            <a:avLst/>
          </a:prstGeom>
          <a:gradFill rotWithShape="1">
            <a:gsLst>
              <a:gs pos="0">
                <a:srgbClr val="BEDFC4"/>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t>'!'</a:t>
            </a:r>
          </a:p>
        </p:txBody>
      </p:sp>
      <p:sp>
        <p:nvSpPr>
          <p:cNvPr id="1204338" name="Rectangle 114"/>
          <p:cNvSpPr>
            <a:spLocks noChangeArrowheads="1"/>
          </p:cNvSpPr>
          <p:nvPr/>
        </p:nvSpPr>
        <p:spPr bwMode="auto">
          <a:xfrm>
            <a:off x="7728395" y="4927588"/>
            <a:ext cx="312906" cy="400110"/>
          </a:xfrm>
          <a:prstGeom prst="rect">
            <a:avLst/>
          </a:prstGeom>
          <a:noFill/>
          <a:ln w="9525" algn="ctr">
            <a:noFill/>
            <a:miter lim="800000"/>
            <a:headEnd/>
            <a:tailEnd/>
          </a:ln>
          <a:effectLst/>
        </p:spPr>
        <p:txBody>
          <a:bodyPr wrap="none">
            <a:spAutoFit/>
          </a:bodyPr>
          <a:lstStyle/>
          <a:p>
            <a:pPr marL="342900" indent="-342900"/>
            <a:r>
              <a:rPr lang="en-US" altLang="zh-CN" sz="2000" b="1" dirty="0">
                <a:solidFill>
                  <a:srgbClr val="C00000"/>
                </a:solidFill>
              </a:rPr>
              <a:t>0</a:t>
            </a:r>
          </a:p>
        </p:txBody>
      </p:sp>
      <p:grpSp>
        <p:nvGrpSpPr>
          <p:cNvPr id="1204351" name="Group 127"/>
          <p:cNvGrpSpPr>
            <a:grpSpLocks/>
          </p:cNvGrpSpPr>
          <p:nvPr/>
        </p:nvGrpSpPr>
        <p:grpSpPr bwMode="auto">
          <a:xfrm>
            <a:off x="4375596" y="2120467"/>
            <a:ext cx="4105275" cy="2857500"/>
            <a:chOff x="1793" y="1315"/>
            <a:chExt cx="2586" cy="1800"/>
          </a:xfrm>
          <a:effectLst>
            <a:outerShdw blurRad="50800" dist="106680" dir="2700000" algn="tl" rotWithShape="0">
              <a:prstClr val="black">
                <a:alpha val="43000"/>
              </a:prstClr>
            </a:outerShdw>
          </a:effectLst>
        </p:grpSpPr>
        <p:sp>
          <p:nvSpPr>
            <p:cNvPr id="1204339" name="AutoShape 115"/>
            <p:cNvSpPr>
              <a:spLocks/>
            </p:cNvSpPr>
            <p:nvPr/>
          </p:nvSpPr>
          <p:spPr bwMode="auto">
            <a:xfrm rot="16200000">
              <a:off x="2949" y="159"/>
              <a:ext cx="273" cy="2586"/>
            </a:xfrm>
            <a:prstGeom prst="leftBrace">
              <a:avLst>
                <a:gd name="adj1" fmla="val 78938"/>
                <a:gd name="adj2" fmla="val 50000"/>
              </a:avLst>
            </a:prstGeom>
            <a:noFill/>
            <a:ln w="31750">
              <a:solidFill>
                <a:srgbClr val="7030A0"/>
              </a:solidFill>
              <a:round/>
              <a:headEnd/>
              <a:tailEnd/>
            </a:ln>
            <a:effectLst/>
          </p:spPr>
          <p:txBody>
            <a:bodyPr wrap="none" anchor="ctr"/>
            <a:lstStyle/>
            <a:p>
              <a:endParaRPr lang="zh-CN" altLang="en-US"/>
            </a:p>
          </p:txBody>
        </p:sp>
        <p:sp>
          <p:nvSpPr>
            <p:cNvPr id="1204341" name="AutoShape 117"/>
            <p:cNvSpPr>
              <a:spLocks noChangeArrowheads="1"/>
            </p:cNvSpPr>
            <p:nvPr/>
          </p:nvSpPr>
          <p:spPr bwMode="auto">
            <a:xfrm rot="6952817">
              <a:off x="1660" y="2184"/>
              <a:ext cx="1636" cy="22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BAA1B9"/>
                </a:gs>
                <a:gs pos="100000">
                  <a:srgbClr val="FF3399">
                    <a:gamma/>
                    <a:shade val="66667"/>
                    <a:invGamma/>
                  </a:srgbClr>
                </a:gs>
              </a:gsLst>
              <a:lin ang="5400000" scaled="1"/>
            </a:gradFill>
            <a:ln w="9525" algn="ctr">
              <a:no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grpSp>
        <p:nvGrpSpPr>
          <p:cNvPr id="1204345" name="Group 121"/>
          <p:cNvGrpSpPr>
            <a:grpSpLocks/>
          </p:cNvGrpSpPr>
          <p:nvPr/>
        </p:nvGrpSpPr>
        <p:grpSpPr bwMode="auto">
          <a:xfrm>
            <a:off x="2557907" y="3994138"/>
            <a:ext cx="1295400" cy="865188"/>
            <a:chOff x="613" y="300"/>
            <a:chExt cx="816" cy="545"/>
          </a:xfrm>
        </p:grpSpPr>
        <p:sp>
          <p:nvSpPr>
            <p:cNvPr id="1204346" name="Line 122"/>
            <p:cNvSpPr>
              <a:spLocks noChangeShapeType="1"/>
            </p:cNvSpPr>
            <p:nvPr/>
          </p:nvSpPr>
          <p:spPr bwMode="auto">
            <a:xfrm>
              <a:off x="884" y="527"/>
              <a:ext cx="0" cy="31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b="1" dirty="0">
                <a:solidFill>
                  <a:schemeClr val="accent2">
                    <a:lumMod val="50000"/>
                  </a:schemeClr>
                </a:solidFill>
              </a:endParaRPr>
            </a:p>
          </p:txBody>
        </p:sp>
        <p:sp>
          <p:nvSpPr>
            <p:cNvPr id="1204347" name="Text Box 123"/>
            <p:cNvSpPr txBox="1">
              <a:spLocks noChangeArrowheads="1"/>
            </p:cNvSpPr>
            <p:nvPr/>
          </p:nvSpPr>
          <p:spPr bwMode="auto">
            <a:xfrm>
              <a:off x="613" y="300"/>
              <a:ext cx="816"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err="1">
                  <a:solidFill>
                    <a:schemeClr val="accent2">
                      <a:lumMod val="50000"/>
                    </a:schemeClr>
                  </a:solidFill>
                </a:rPr>
                <a:t>str</a:t>
              </a:r>
              <a:r>
                <a:rPr lang="en-US" altLang="zh-CN" sz="2000" b="1" dirty="0">
                  <a:solidFill>
                    <a:schemeClr val="accent2">
                      <a:lumMod val="50000"/>
                    </a:schemeClr>
                  </a:solidFill>
                </a:rPr>
                <a:t>(</a:t>
              </a:r>
              <a:r>
                <a:rPr lang="zh-CN" altLang="en-US" sz="2000" b="1" dirty="0">
                  <a:solidFill>
                    <a:schemeClr val="accent2">
                      <a:lumMod val="50000"/>
                    </a:schemeClr>
                  </a:solidFill>
                  <a:latin typeface="楷体" pitchFamily="49" charset="-122"/>
                  <a:ea typeface="楷体" pitchFamily="49" charset="-122"/>
                </a:rPr>
                <a:t>实参</a:t>
              </a:r>
              <a:r>
                <a:rPr lang="en-US" altLang="zh-CN" sz="2000" b="1" dirty="0">
                  <a:solidFill>
                    <a:schemeClr val="accent2">
                      <a:lumMod val="50000"/>
                    </a:schemeClr>
                  </a:solidFill>
                </a:rPr>
                <a:t>)</a:t>
              </a:r>
            </a:p>
          </p:txBody>
        </p:sp>
      </p:grpSp>
      <p:grpSp>
        <p:nvGrpSpPr>
          <p:cNvPr id="1204354" name="Group 130"/>
          <p:cNvGrpSpPr>
            <a:grpSpLocks/>
          </p:cNvGrpSpPr>
          <p:nvPr/>
        </p:nvGrpSpPr>
        <p:grpSpPr bwMode="auto">
          <a:xfrm>
            <a:off x="2600771" y="5333991"/>
            <a:ext cx="936625" cy="1325563"/>
            <a:chOff x="675" y="3158"/>
            <a:chExt cx="590" cy="835"/>
          </a:xfrm>
        </p:grpSpPr>
        <p:sp>
          <p:nvSpPr>
            <p:cNvPr id="1204349" name="Line 125"/>
            <p:cNvSpPr>
              <a:spLocks noChangeShapeType="1"/>
            </p:cNvSpPr>
            <p:nvPr/>
          </p:nvSpPr>
          <p:spPr bwMode="auto">
            <a:xfrm flipV="1">
              <a:off x="911" y="3158"/>
              <a:ext cx="0" cy="318"/>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a:p>
          </p:txBody>
        </p:sp>
        <p:sp>
          <p:nvSpPr>
            <p:cNvPr id="1204350" name="Text Box 126"/>
            <p:cNvSpPr txBox="1">
              <a:spLocks noChangeArrowheads="1"/>
            </p:cNvSpPr>
            <p:nvPr/>
          </p:nvSpPr>
          <p:spPr bwMode="auto">
            <a:xfrm>
              <a:off x="675" y="3450"/>
              <a:ext cx="590" cy="543"/>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err="1">
                  <a:solidFill>
                    <a:schemeClr val="accent1">
                      <a:lumMod val="50000"/>
                    </a:schemeClr>
                  </a:solidFill>
                </a:rPr>
                <a:t>pdstr</a:t>
              </a:r>
              <a:endParaRPr lang="en-US" altLang="zh-CN" sz="2000" b="1" dirty="0">
                <a:solidFill>
                  <a:schemeClr val="accent1">
                    <a:lumMod val="50000"/>
                  </a:schemeClr>
                </a:solidFill>
              </a:endParaRPr>
            </a:p>
            <a:p>
              <a:pPr marL="342900" indent="-342900">
                <a:spcBef>
                  <a:spcPct val="50000"/>
                </a:spcBef>
              </a:pPr>
              <a:r>
                <a:rPr lang="en-US" altLang="zh-CN" sz="2000" b="1" dirty="0">
                  <a:solidFill>
                    <a:schemeClr val="accent1">
                      <a:lumMod val="50000"/>
                    </a:schemeClr>
                  </a:solidFill>
                </a:rPr>
                <a:t>(</a:t>
              </a:r>
              <a:r>
                <a:rPr lang="zh-CN" altLang="en-US" sz="2000" b="1" dirty="0">
                  <a:solidFill>
                    <a:schemeClr val="accent1">
                      <a:lumMod val="50000"/>
                    </a:schemeClr>
                  </a:solidFill>
                  <a:latin typeface="楷体" panose="02010609060101010101" pitchFamily="49" charset="-122"/>
                  <a:ea typeface="楷体" panose="02010609060101010101" pitchFamily="49" charset="-122"/>
                </a:rPr>
                <a:t>形参</a:t>
              </a:r>
              <a:r>
                <a:rPr lang="en-US" altLang="zh-CN" sz="2000" b="1" dirty="0">
                  <a:solidFill>
                    <a:schemeClr val="accent1">
                      <a:lumMod val="50000"/>
                    </a:schemeClr>
                  </a:solidFill>
                </a:rPr>
                <a:t>)</a:t>
              </a:r>
            </a:p>
          </p:txBody>
        </p:sp>
      </p:grpSp>
      <p:sp>
        <p:nvSpPr>
          <p:cNvPr id="1204353" name="Line 129"/>
          <p:cNvSpPr>
            <a:spLocks noChangeShapeType="1"/>
          </p:cNvSpPr>
          <p:nvPr/>
        </p:nvSpPr>
        <p:spPr bwMode="auto">
          <a:xfrm>
            <a:off x="3148458" y="5549888"/>
            <a:ext cx="4537075" cy="0"/>
          </a:xfrm>
          <a:prstGeom prst="line">
            <a:avLst/>
          </a:prstGeom>
          <a:noFill/>
          <a:ln w="28575">
            <a:solidFill>
              <a:srgbClr val="7030A0"/>
            </a:solidFill>
            <a:prstDash val="sysDot"/>
            <a:round/>
            <a:headEnd/>
            <a:tailEnd type="stealth" w="lg" len="lg"/>
          </a:ln>
          <a:effectLst/>
        </p:spPr>
        <p:txBody>
          <a:bodyPr/>
          <a:lstStyle/>
          <a:p>
            <a:endParaRPr lang="zh-CN" altLang="en-US"/>
          </a:p>
        </p:txBody>
      </p:sp>
      <p:sp useBgFill="1">
        <p:nvSpPr>
          <p:cNvPr id="1204355" name="Rectangle 131"/>
          <p:cNvSpPr>
            <a:spLocks noChangeArrowheads="1"/>
          </p:cNvSpPr>
          <p:nvPr/>
        </p:nvSpPr>
        <p:spPr bwMode="auto">
          <a:xfrm>
            <a:off x="2512794" y="5372943"/>
            <a:ext cx="865188" cy="1368425"/>
          </a:xfrm>
          <a:prstGeom prst="rect">
            <a:avLst/>
          </a:prstGeom>
          <a:ln w="9525" algn="ctr">
            <a:noFill/>
            <a:miter lim="800000"/>
            <a:headEnd/>
            <a:tailEnd/>
          </a:ln>
          <a:effectLst/>
        </p:spPr>
        <p:txBody>
          <a:bodyPr wrap="none" anchor="ctr"/>
          <a:lstStyle/>
          <a:p>
            <a:endParaRPr lang="zh-CN" altLang="en-US"/>
          </a:p>
        </p:txBody>
      </p:sp>
      <p:grpSp>
        <p:nvGrpSpPr>
          <p:cNvPr id="1204356" name="Group 132"/>
          <p:cNvGrpSpPr>
            <a:grpSpLocks/>
          </p:cNvGrpSpPr>
          <p:nvPr/>
        </p:nvGrpSpPr>
        <p:grpSpPr bwMode="auto">
          <a:xfrm>
            <a:off x="7526783" y="5348279"/>
            <a:ext cx="936625" cy="1325563"/>
            <a:chOff x="675" y="3158"/>
            <a:chExt cx="590" cy="835"/>
          </a:xfrm>
        </p:grpSpPr>
        <p:sp>
          <p:nvSpPr>
            <p:cNvPr id="1204357" name="Line 133"/>
            <p:cNvSpPr>
              <a:spLocks noChangeShapeType="1"/>
            </p:cNvSpPr>
            <p:nvPr/>
          </p:nvSpPr>
          <p:spPr bwMode="auto">
            <a:xfrm flipV="1">
              <a:off x="911" y="3158"/>
              <a:ext cx="0" cy="318"/>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a:lstStyle/>
            <a:p>
              <a:endParaRPr lang="zh-CN" altLang="en-US" b="1">
                <a:solidFill>
                  <a:schemeClr val="accent1">
                    <a:lumMod val="50000"/>
                  </a:schemeClr>
                </a:solidFill>
              </a:endParaRPr>
            </a:p>
          </p:txBody>
        </p:sp>
        <p:sp>
          <p:nvSpPr>
            <p:cNvPr id="1204358" name="Text Box 134"/>
            <p:cNvSpPr txBox="1">
              <a:spLocks noChangeArrowheads="1"/>
            </p:cNvSpPr>
            <p:nvPr/>
          </p:nvSpPr>
          <p:spPr bwMode="auto">
            <a:xfrm>
              <a:off x="675" y="3450"/>
              <a:ext cx="590" cy="543"/>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err="1">
                  <a:solidFill>
                    <a:schemeClr val="accent1">
                      <a:lumMod val="50000"/>
                    </a:schemeClr>
                  </a:solidFill>
                </a:rPr>
                <a:t>pdstr</a:t>
              </a:r>
              <a:endParaRPr lang="en-US" altLang="zh-CN" sz="2000" b="1" dirty="0">
                <a:solidFill>
                  <a:schemeClr val="accent1">
                    <a:lumMod val="50000"/>
                  </a:schemeClr>
                </a:solidFill>
              </a:endParaRPr>
            </a:p>
            <a:p>
              <a:pPr marL="342900" indent="-342900">
                <a:spcBef>
                  <a:spcPct val="50000"/>
                </a:spcBef>
              </a:pPr>
              <a:r>
                <a:rPr lang="en-US" altLang="zh-CN" sz="2000" b="1" dirty="0">
                  <a:solidFill>
                    <a:schemeClr val="accent1">
                      <a:lumMod val="50000"/>
                    </a:schemeClr>
                  </a:solidFill>
                </a:rPr>
                <a:t>(</a:t>
              </a:r>
              <a:r>
                <a:rPr lang="zh-CN" altLang="en-US" sz="2000" b="1" dirty="0">
                  <a:solidFill>
                    <a:schemeClr val="accent1">
                      <a:lumMod val="50000"/>
                    </a:schemeClr>
                  </a:solidFill>
                  <a:latin typeface="楷体" pitchFamily="49" charset="-122"/>
                  <a:ea typeface="楷体" pitchFamily="49" charset="-122"/>
                </a:rPr>
                <a:t>形参</a:t>
              </a:r>
              <a:r>
                <a:rPr lang="en-US" altLang="zh-CN" sz="2000" b="1" dirty="0">
                  <a:solidFill>
                    <a:schemeClr val="accent1">
                      <a:lumMod val="50000"/>
                    </a:schemeClr>
                  </a:solidFill>
                </a:rPr>
                <a:t>)</a:t>
              </a:r>
            </a:p>
          </p:txBody>
        </p:sp>
      </p:grpSp>
      <p:sp>
        <p:nvSpPr>
          <p:cNvPr id="1204359" name="Rectangle 135"/>
          <p:cNvSpPr>
            <a:spLocks noChangeArrowheads="1"/>
          </p:cNvSpPr>
          <p:nvPr/>
        </p:nvSpPr>
        <p:spPr bwMode="auto">
          <a:xfrm>
            <a:off x="5659883" y="3983211"/>
            <a:ext cx="4302125" cy="669925"/>
          </a:xfrm>
          <a:prstGeom prst="rect">
            <a:avLst/>
          </a:prstGeom>
          <a:gradFill rotWithShape="1">
            <a:gsLst>
              <a:gs pos="0">
                <a:srgbClr val="CFCFD1"/>
              </a:gs>
              <a:gs pos="100000">
                <a:schemeClr val="bg1"/>
              </a:gs>
            </a:gsLst>
            <a:lin ang="5400000" scaled="1"/>
          </a:gradFill>
          <a:ln w="28575" algn="ctr">
            <a:solidFill>
              <a:srgbClr val="C00000"/>
            </a:solidFill>
            <a:miter lim="800000"/>
            <a:headEnd/>
            <a:tailEnd/>
          </a:ln>
          <a:effectLst>
            <a:outerShdw blurRad="50800" dist="106680" dir="2700000" algn="tl" rotWithShape="0">
              <a:prstClr val="black">
                <a:alpha val="43000"/>
              </a:prstClr>
            </a:outerShdw>
          </a:effectLst>
        </p:spPr>
        <p:txBody>
          <a:bodyPr>
            <a:spAutoFit/>
          </a:bodyPr>
          <a:lstStyle/>
          <a:p>
            <a:pPr marL="342900" indent="-342900"/>
            <a:r>
              <a:rPr lang="en-US" altLang="zh-CN" sz="2000">
                <a:effectLst>
                  <a:outerShdw blurRad="38100" dist="38100" dir="2700000" algn="tl">
                    <a:srgbClr val="FFFFFF"/>
                  </a:outerShdw>
                </a:effectLst>
              </a:rPr>
              <a:t>while (pstart &lt;= pend)</a:t>
            </a:r>
          </a:p>
          <a:p>
            <a:pPr marL="342900" indent="-342900"/>
            <a:r>
              <a:rPr lang="en-US" altLang="zh-CN" sz="2000">
                <a:effectLst>
                  <a:outerShdw blurRad="38100" dist="38100" dir="2700000" algn="tl">
                    <a:srgbClr val="FFFFFF"/>
                  </a:outerShdw>
                </a:effectLst>
              </a:rPr>
              <a:t>      *pdstr++ = *pstart++;</a:t>
            </a:r>
          </a:p>
        </p:txBody>
      </p:sp>
      <p:sp>
        <p:nvSpPr>
          <p:cNvPr id="1204360" name="Rectangle 136"/>
          <p:cNvSpPr>
            <a:spLocks noChangeArrowheads="1"/>
          </p:cNvSpPr>
          <p:nvPr/>
        </p:nvSpPr>
        <p:spPr bwMode="auto">
          <a:xfrm>
            <a:off x="8045896" y="5478451"/>
            <a:ext cx="1728787" cy="338554"/>
          </a:xfrm>
          <a:prstGeom prst="rect">
            <a:avLst/>
          </a:prstGeom>
          <a:gradFill rotWithShape="1">
            <a:gsLst>
              <a:gs pos="0">
                <a:srgbClr val="CFCFD1"/>
              </a:gs>
              <a:gs pos="100000">
                <a:schemeClr val="bg1"/>
              </a:gs>
            </a:gsLst>
            <a:lin ang="5400000" scaled="1"/>
          </a:gradFill>
          <a:ln w="28575" algn="ctr">
            <a:solidFill>
              <a:srgbClr val="C00000"/>
            </a:solidFill>
            <a:miter lim="800000"/>
            <a:headEnd/>
            <a:tailEnd/>
          </a:ln>
          <a:effectLst>
            <a:outerShdw blurRad="50800" dist="106680" dir="2700000" algn="tl" rotWithShape="0">
              <a:prstClr val="black">
                <a:alpha val="43000"/>
              </a:prstClr>
            </a:outerShdw>
          </a:effectLst>
        </p:spPr>
        <p:txBody>
          <a:bodyPr>
            <a:spAutoFit/>
          </a:bodyPr>
          <a:lstStyle/>
          <a:p>
            <a:pPr marL="342900" indent="-342900"/>
            <a:r>
              <a:rPr lang="en-US" altLang="zh-CN" sz="2000">
                <a:effectLst>
                  <a:outerShdw blurRad="38100" dist="38100" dir="2700000" algn="tl">
                    <a:srgbClr val="FFFFFF"/>
                  </a:outerShdw>
                </a:effectLst>
              </a:rPr>
              <a:t>*pdstr = '\0';</a:t>
            </a:r>
          </a:p>
        </p:txBody>
      </p:sp>
      <p:sp>
        <p:nvSpPr>
          <p:cNvPr id="1204361" name="Text Box 137"/>
          <p:cNvSpPr txBox="1">
            <a:spLocks noChangeArrowheads="1"/>
          </p:cNvSpPr>
          <p:nvPr/>
        </p:nvSpPr>
        <p:spPr bwMode="auto">
          <a:xfrm>
            <a:off x="827532" y="885650"/>
            <a:ext cx="1917701" cy="523220"/>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spAutoFit/>
          </a:bodyPr>
          <a:lstStyle/>
          <a:p>
            <a:pPr marL="342900" indent="-342900">
              <a:spcBef>
                <a:spcPct val="50000"/>
              </a:spcBef>
            </a:pPr>
            <a:r>
              <a:rPr lang="zh-CN" altLang="en-US" sz="2800" b="1" dirty="0">
                <a:solidFill>
                  <a:srgbClr val="C00000"/>
                </a:solidFill>
                <a:latin typeface="楷体" panose="02010609060101010101" pitchFamily="49" charset="-122"/>
                <a:ea typeface="楷体" panose="02010609060101010101" pitchFamily="49" charset="-122"/>
              </a:rPr>
              <a:t>演示效果：</a:t>
            </a:r>
          </a:p>
        </p:txBody>
      </p:sp>
      <p:sp>
        <p:nvSpPr>
          <p:cNvPr id="58" name="Rectangle 4">
            <a:extLst>
              <a:ext uri="{FF2B5EF4-FFF2-40B4-BE49-F238E27FC236}">
                <a16:creationId xmlns:a16="http://schemas.microsoft.com/office/drawing/2014/main" id="{EF776A7D-538F-48BF-87E2-3C06548A3B5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204278"/>
                                        </p:tgtEl>
                                        <p:attrNameLst>
                                          <p:attrName>style.visibility</p:attrName>
                                        </p:attrNameLst>
                                      </p:cBhvr>
                                      <p:to>
                                        <p:strVal val="visible"/>
                                      </p:to>
                                    </p:set>
                                    <p:animEffect transition="in" filter="box(out)">
                                      <p:cBhvr>
                                        <p:cTn id="7" dur="500"/>
                                        <p:tgtEl>
                                          <p:spTgt spid="120427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204271"/>
                                        </p:tgtEl>
                                        <p:attrNameLst>
                                          <p:attrName>style.visibility</p:attrName>
                                        </p:attrNameLst>
                                      </p:cBhvr>
                                      <p:to>
                                        <p:strVal val="visible"/>
                                      </p:to>
                                    </p:set>
                                    <p:animEffect transition="in" filter="strips(downRight)">
                                      <p:cBhvr>
                                        <p:cTn id="11" dur="500"/>
                                        <p:tgtEl>
                                          <p:spTgt spid="1204271"/>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1204277"/>
                                        </p:tgtEl>
                                        <p:attrNameLst>
                                          <p:attrName>style.visibility</p:attrName>
                                        </p:attrNameLst>
                                      </p:cBhvr>
                                      <p:to>
                                        <p:strVal val="visible"/>
                                      </p:to>
                                    </p:set>
                                    <p:animEffect transition="in" filter="strips(downRight)">
                                      <p:cBhvr>
                                        <p:cTn id="15" dur="500"/>
                                        <p:tgtEl>
                                          <p:spTgt spid="1204277"/>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childTnLst>
                          </p:cTn>
                        </p:par>
                        <p:par>
                          <p:cTn id="16" fill="hold">
                            <p:stCondLst>
                              <p:cond delay="1500"/>
                            </p:stCondLst>
                            <p:childTnLst>
                              <p:par>
                                <p:cTn id="17" presetID="18" presetClass="entr" presetSubtype="3" fill="hold" nodeType="afterEffect">
                                  <p:stCondLst>
                                    <p:cond delay="0"/>
                                  </p:stCondLst>
                                  <p:childTnLst>
                                    <p:set>
                                      <p:cBhvr>
                                        <p:cTn id="18" dur="1" fill="hold">
                                          <p:stCondLst>
                                            <p:cond delay="0"/>
                                          </p:stCondLst>
                                        </p:cTn>
                                        <p:tgtEl>
                                          <p:spTgt spid="1204279"/>
                                        </p:tgtEl>
                                        <p:attrNameLst>
                                          <p:attrName>style.visibility</p:attrName>
                                        </p:attrNameLst>
                                      </p:cBhvr>
                                      <p:to>
                                        <p:strVal val="visible"/>
                                      </p:to>
                                    </p:set>
                                    <p:animEffect transition="in" filter="strips(upRight)">
                                      <p:cBhvr>
                                        <p:cTn id="19" dur="500"/>
                                        <p:tgtEl>
                                          <p:spTgt spid="1204279"/>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1204283"/>
                                        </p:tgtEl>
                                        <p:attrNameLst>
                                          <p:attrName>style.visibility</p:attrName>
                                        </p:attrNameLst>
                                      </p:cBhvr>
                                      <p:to>
                                        <p:strVal val="visible"/>
                                      </p:to>
                                    </p:set>
                                    <p:animEffect transition="in" filter="strips(downRight)">
                                      <p:cBhvr>
                                        <p:cTn id="24" dur="500"/>
                                        <p:tgtEl>
                                          <p:spTgt spid="1204283"/>
                                        </p:tgtEl>
                                      </p:cBhvr>
                                    </p:animEffect>
                                  </p:childTnLst>
                                  <p:subTnLst>
                                    <p:set>
                                      <p:cBhvr override="childStyle">
                                        <p:cTn dur="1" fill="hold" display="0" masterRel="sameClick" afterEffect="1">
                                          <p:stCondLst>
                                            <p:cond evt="end" delay="0">
                                              <p:tn val="22"/>
                                            </p:cond>
                                          </p:stCondLst>
                                        </p:cTn>
                                        <p:tgtEl>
                                          <p:spTgt spid="1204283"/>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par>
                          <p:cTn id="25" fill="hold">
                            <p:stCondLst>
                              <p:cond delay="500"/>
                            </p:stCondLst>
                            <p:childTnLst>
                              <p:par>
                                <p:cTn id="26" presetID="4" presetClass="entr" presetSubtype="16" fill="hold" grpId="0" nodeType="afterEffect">
                                  <p:stCondLst>
                                    <p:cond delay="0"/>
                                  </p:stCondLst>
                                  <p:childTnLst>
                                    <p:set>
                                      <p:cBhvr>
                                        <p:cTn id="27" dur="1" fill="hold">
                                          <p:stCondLst>
                                            <p:cond delay="0"/>
                                          </p:stCondLst>
                                        </p:cTn>
                                        <p:tgtEl>
                                          <p:spTgt spid="1204284"/>
                                        </p:tgtEl>
                                        <p:attrNameLst>
                                          <p:attrName>style.visibility</p:attrName>
                                        </p:attrNameLst>
                                      </p:cBhvr>
                                      <p:to>
                                        <p:strVal val="visible"/>
                                      </p:to>
                                    </p:set>
                                    <p:animEffect transition="in" filter="box(in)">
                                      <p:cBhvr>
                                        <p:cTn id="28" dur="500"/>
                                        <p:tgtEl>
                                          <p:spTgt spid="1204284"/>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1000"/>
                            </p:stCondLst>
                            <p:childTnLst>
                              <p:par>
                                <p:cTn id="30" presetID="18" presetClass="entr" presetSubtype="3" fill="hold" nodeType="afterEffect">
                                  <p:stCondLst>
                                    <p:cond delay="0"/>
                                  </p:stCondLst>
                                  <p:childTnLst>
                                    <p:set>
                                      <p:cBhvr>
                                        <p:cTn id="31" dur="1" fill="hold">
                                          <p:stCondLst>
                                            <p:cond delay="0"/>
                                          </p:stCondLst>
                                        </p:cTn>
                                        <p:tgtEl>
                                          <p:spTgt spid="1204280"/>
                                        </p:tgtEl>
                                        <p:attrNameLst>
                                          <p:attrName>style.visibility</p:attrName>
                                        </p:attrNameLst>
                                      </p:cBhvr>
                                      <p:to>
                                        <p:strVal val="visible"/>
                                      </p:to>
                                    </p:set>
                                    <p:animEffect transition="in" filter="strips(upRight)">
                                      <p:cBhvr>
                                        <p:cTn id="32" dur="500"/>
                                        <p:tgtEl>
                                          <p:spTgt spid="1204280"/>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1500"/>
                            </p:stCondLst>
                            <p:childTnLst>
                              <p:par>
                                <p:cTn id="34" presetID="4" presetClass="entr" presetSubtype="32" fill="hold" grpId="0" nodeType="afterEffect">
                                  <p:stCondLst>
                                    <p:cond delay="0"/>
                                  </p:stCondLst>
                                  <p:childTnLst>
                                    <p:set>
                                      <p:cBhvr>
                                        <p:cTn id="35" dur="1" fill="hold">
                                          <p:stCondLst>
                                            <p:cond delay="0"/>
                                          </p:stCondLst>
                                        </p:cTn>
                                        <p:tgtEl>
                                          <p:spTgt spid="1204285"/>
                                        </p:tgtEl>
                                        <p:attrNameLst>
                                          <p:attrName>style.visibility</p:attrName>
                                        </p:attrNameLst>
                                      </p:cBhvr>
                                      <p:to>
                                        <p:strVal val="visible"/>
                                      </p:to>
                                    </p:set>
                                    <p:animEffect transition="in" filter="box(out)">
                                      <p:cBhvr>
                                        <p:cTn id="36" dur="500"/>
                                        <p:tgtEl>
                                          <p:spTgt spid="1204285"/>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3" fill="hold" nodeType="clickEffect">
                                  <p:stCondLst>
                                    <p:cond delay="0"/>
                                  </p:stCondLst>
                                  <p:childTnLst>
                                    <p:set>
                                      <p:cBhvr>
                                        <p:cTn id="40" dur="1" fill="hold">
                                          <p:stCondLst>
                                            <p:cond delay="0"/>
                                          </p:stCondLst>
                                        </p:cTn>
                                        <p:tgtEl>
                                          <p:spTgt spid="1204286"/>
                                        </p:tgtEl>
                                        <p:attrNameLst>
                                          <p:attrName>style.visibility</p:attrName>
                                        </p:attrNameLst>
                                      </p:cBhvr>
                                      <p:to>
                                        <p:strVal val="visible"/>
                                      </p:to>
                                    </p:set>
                                    <p:animEffect transition="in" filter="strips(upRight)">
                                      <p:cBhvr>
                                        <p:cTn id="41" dur="500"/>
                                        <p:tgtEl>
                                          <p:spTgt spid="1204286"/>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12" fill="hold" grpId="0" nodeType="clickEffect">
                                  <p:stCondLst>
                                    <p:cond delay="0"/>
                                  </p:stCondLst>
                                  <p:childTnLst>
                                    <p:set>
                                      <p:cBhvr>
                                        <p:cTn id="45" dur="1" fill="hold">
                                          <p:stCondLst>
                                            <p:cond delay="0"/>
                                          </p:stCondLst>
                                        </p:cTn>
                                        <p:tgtEl>
                                          <p:spTgt spid="1204289"/>
                                        </p:tgtEl>
                                        <p:attrNameLst>
                                          <p:attrName>style.visibility</p:attrName>
                                        </p:attrNameLst>
                                      </p:cBhvr>
                                      <p:to>
                                        <p:strVal val="visible"/>
                                      </p:to>
                                    </p:set>
                                    <p:animEffect transition="in" filter="strips(downLeft)">
                                      <p:cBhvr>
                                        <p:cTn id="46" dur="500"/>
                                        <p:tgtEl>
                                          <p:spTgt spid="1204289"/>
                                        </p:tgtEl>
                                      </p:cBhvr>
                                    </p:animEffect>
                                  </p:childTnLst>
                                  <p:subTnLst>
                                    <p:set>
                                      <p:cBhvr override="childStyle">
                                        <p:cTn dur="1" fill="hold" display="0" masterRel="sameClick" afterEffect="1">
                                          <p:stCondLst>
                                            <p:cond evt="end" delay="0">
                                              <p:tn val="44"/>
                                            </p:cond>
                                          </p:stCondLst>
                                        </p:cTn>
                                        <p:tgtEl>
                                          <p:spTgt spid="1204289"/>
                                        </p:tgtEl>
                                        <p:attrNameLst>
                                          <p:attrName>style.visibility</p:attrName>
                                        </p:attrNameLst>
                                      </p:cBhvr>
                                      <p:to>
                                        <p:strVal val="hidden"/>
                                      </p:to>
                                    </p:se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par>
                          <p:cTn id="47" fill="hold">
                            <p:stCondLst>
                              <p:cond delay="500"/>
                            </p:stCondLst>
                            <p:childTnLst>
                              <p:par>
                                <p:cTn id="48" presetID="4" presetClass="entr" presetSubtype="16" fill="hold" grpId="0" nodeType="afterEffect">
                                  <p:stCondLst>
                                    <p:cond delay="0"/>
                                  </p:stCondLst>
                                  <p:childTnLst>
                                    <p:set>
                                      <p:cBhvr>
                                        <p:cTn id="49" dur="1" fill="hold">
                                          <p:stCondLst>
                                            <p:cond delay="0"/>
                                          </p:stCondLst>
                                        </p:cTn>
                                        <p:tgtEl>
                                          <p:spTgt spid="1204293"/>
                                        </p:tgtEl>
                                        <p:attrNameLst>
                                          <p:attrName>style.visibility</p:attrName>
                                        </p:attrNameLst>
                                      </p:cBhvr>
                                      <p:to>
                                        <p:strVal val="visible"/>
                                      </p:to>
                                    </p:set>
                                    <p:animEffect transition="in" filter="box(in)">
                                      <p:cBhvr>
                                        <p:cTn id="50" dur="500"/>
                                        <p:tgtEl>
                                          <p:spTgt spid="1204293"/>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par>
                          <p:cTn id="51" fill="hold">
                            <p:stCondLst>
                              <p:cond delay="1000"/>
                            </p:stCondLst>
                            <p:childTnLst>
                              <p:par>
                                <p:cTn id="52" presetID="18" presetClass="entr" presetSubtype="3" fill="hold" nodeType="afterEffect">
                                  <p:stCondLst>
                                    <p:cond delay="0"/>
                                  </p:stCondLst>
                                  <p:childTnLst>
                                    <p:set>
                                      <p:cBhvr>
                                        <p:cTn id="53" dur="1" fill="hold">
                                          <p:stCondLst>
                                            <p:cond delay="0"/>
                                          </p:stCondLst>
                                        </p:cTn>
                                        <p:tgtEl>
                                          <p:spTgt spid="1204290"/>
                                        </p:tgtEl>
                                        <p:attrNameLst>
                                          <p:attrName>style.visibility</p:attrName>
                                        </p:attrNameLst>
                                      </p:cBhvr>
                                      <p:to>
                                        <p:strVal val="visible"/>
                                      </p:to>
                                    </p:set>
                                    <p:animEffect transition="in" filter="strips(upRight)">
                                      <p:cBhvr>
                                        <p:cTn id="54" dur="500"/>
                                        <p:tgtEl>
                                          <p:spTgt spid="1204290"/>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par>
                          <p:cTn id="55" fill="hold">
                            <p:stCondLst>
                              <p:cond delay="1500"/>
                            </p:stCondLst>
                            <p:childTnLst>
                              <p:par>
                                <p:cTn id="56" presetID="4" presetClass="entr" presetSubtype="32" fill="hold" grpId="0" nodeType="afterEffect">
                                  <p:stCondLst>
                                    <p:cond delay="0"/>
                                  </p:stCondLst>
                                  <p:childTnLst>
                                    <p:set>
                                      <p:cBhvr>
                                        <p:cTn id="57" dur="1" fill="hold">
                                          <p:stCondLst>
                                            <p:cond delay="0"/>
                                          </p:stCondLst>
                                        </p:cTn>
                                        <p:tgtEl>
                                          <p:spTgt spid="1204294"/>
                                        </p:tgtEl>
                                        <p:attrNameLst>
                                          <p:attrName>style.visibility</p:attrName>
                                        </p:attrNameLst>
                                      </p:cBhvr>
                                      <p:to>
                                        <p:strVal val="visible"/>
                                      </p:to>
                                    </p:set>
                                    <p:animEffect transition="in" filter="box(out)">
                                      <p:cBhvr>
                                        <p:cTn id="58" dur="500"/>
                                        <p:tgtEl>
                                          <p:spTgt spid="1204294"/>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18" presetClass="entr" presetSubtype="12" fill="hold" nodeType="clickEffect">
                                  <p:stCondLst>
                                    <p:cond delay="0"/>
                                  </p:stCondLst>
                                  <p:childTnLst>
                                    <p:set>
                                      <p:cBhvr>
                                        <p:cTn id="62" dur="1" fill="hold">
                                          <p:stCondLst>
                                            <p:cond delay="0"/>
                                          </p:stCondLst>
                                        </p:cTn>
                                        <p:tgtEl>
                                          <p:spTgt spid="1204351"/>
                                        </p:tgtEl>
                                        <p:attrNameLst>
                                          <p:attrName>style.visibility</p:attrName>
                                        </p:attrNameLst>
                                      </p:cBhvr>
                                      <p:to>
                                        <p:strVal val="visible"/>
                                      </p:to>
                                    </p:set>
                                    <p:animEffect transition="in" filter="strips(downLeft)">
                                      <p:cBhvr>
                                        <p:cTn id="63" dur="500"/>
                                        <p:tgtEl>
                                          <p:spTgt spid="1204351"/>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4" fill="hold">
                            <p:stCondLst>
                              <p:cond delay="500"/>
                            </p:stCondLst>
                            <p:childTnLst>
                              <p:par>
                                <p:cTn id="65" presetID="4" presetClass="entr" presetSubtype="32" fill="hold" nodeType="afterEffect">
                                  <p:stCondLst>
                                    <p:cond delay="0"/>
                                  </p:stCondLst>
                                  <p:childTnLst>
                                    <p:set>
                                      <p:cBhvr>
                                        <p:cTn id="66" dur="1" fill="hold">
                                          <p:stCondLst>
                                            <p:cond delay="0"/>
                                          </p:stCondLst>
                                        </p:cTn>
                                        <p:tgtEl>
                                          <p:spTgt spid="1204352"/>
                                        </p:tgtEl>
                                        <p:attrNameLst>
                                          <p:attrName>style.visibility</p:attrName>
                                        </p:attrNameLst>
                                      </p:cBhvr>
                                      <p:to>
                                        <p:strVal val="visible"/>
                                      </p:to>
                                    </p:set>
                                    <p:animEffect transition="in" filter="box(out)">
                                      <p:cBhvr>
                                        <p:cTn id="67" dur="500"/>
                                        <p:tgtEl>
                                          <p:spTgt spid="1204352"/>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par>
                          <p:cTn id="68" fill="hold">
                            <p:stCondLst>
                              <p:cond delay="1000"/>
                            </p:stCondLst>
                            <p:childTnLst>
                              <p:par>
                                <p:cTn id="69" presetID="18" presetClass="entr" presetSubtype="6" fill="hold" nodeType="afterEffect">
                                  <p:stCondLst>
                                    <p:cond delay="0"/>
                                  </p:stCondLst>
                                  <p:childTnLst>
                                    <p:set>
                                      <p:cBhvr>
                                        <p:cTn id="70" dur="1" fill="hold">
                                          <p:stCondLst>
                                            <p:cond delay="0"/>
                                          </p:stCondLst>
                                        </p:cTn>
                                        <p:tgtEl>
                                          <p:spTgt spid="1204345"/>
                                        </p:tgtEl>
                                        <p:attrNameLst>
                                          <p:attrName>style.visibility</p:attrName>
                                        </p:attrNameLst>
                                      </p:cBhvr>
                                      <p:to>
                                        <p:strVal val="visible"/>
                                      </p:to>
                                    </p:set>
                                    <p:animEffect transition="in" filter="strips(downRight)">
                                      <p:cBhvr>
                                        <p:cTn id="71" dur="500"/>
                                        <p:tgtEl>
                                          <p:spTgt spid="1204345"/>
                                        </p:tgtEl>
                                      </p:cBhvr>
                                    </p:animEffect>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par>
                          <p:cTn id="72" fill="hold">
                            <p:stCondLst>
                              <p:cond delay="1500"/>
                            </p:stCondLst>
                            <p:childTnLst>
                              <p:par>
                                <p:cTn id="73" presetID="18" presetClass="entr" presetSubtype="3" fill="hold" nodeType="afterEffect">
                                  <p:stCondLst>
                                    <p:cond delay="0"/>
                                  </p:stCondLst>
                                  <p:childTnLst>
                                    <p:set>
                                      <p:cBhvr>
                                        <p:cTn id="74" dur="1" fill="hold">
                                          <p:stCondLst>
                                            <p:cond delay="0"/>
                                          </p:stCondLst>
                                        </p:cTn>
                                        <p:tgtEl>
                                          <p:spTgt spid="1204354"/>
                                        </p:tgtEl>
                                        <p:attrNameLst>
                                          <p:attrName>style.visibility</p:attrName>
                                        </p:attrNameLst>
                                      </p:cBhvr>
                                      <p:to>
                                        <p:strVal val="visible"/>
                                      </p:to>
                                    </p:set>
                                    <p:animEffect transition="in" filter="strips(upRight)">
                                      <p:cBhvr>
                                        <p:cTn id="75" dur="500"/>
                                        <p:tgtEl>
                                          <p:spTgt spid="1204354"/>
                                        </p:tgtEl>
                                      </p:cBhvr>
                                    </p:animEffect>
                                  </p:childTnLst>
                                  <p:subTnLst>
                                    <p:audio>
                                      <p:cMediaNode>
                                        <p:cTn display="0" masterRel="sameClick">
                                          <p:stCondLst>
                                            <p:cond evt="begin" delay="0">
                                              <p:tn val="73"/>
                                            </p:cond>
                                          </p:stCondLst>
                                          <p:endCondLst>
                                            <p:cond evt="onStopAudio" delay="0">
                                              <p:tgtEl>
                                                <p:sldTgt/>
                                              </p:tgtEl>
                                            </p:cond>
                                          </p:endCondLst>
                                        </p:cTn>
                                        <p:tgtEl>
                                          <p:sndTgt r:embed="rId2" name="camera.wav"/>
                                        </p:tgtEl>
                                      </p:cMediaNode>
                                    </p:audio>
                                  </p:subTnLst>
                                </p:cTn>
                              </p:par>
                            </p:childTnLst>
                          </p:cTn>
                        </p:par>
                        <p:par>
                          <p:cTn id="76" fill="hold">
                            <p:stCondLst>
                              <p:cond delay="2000"/>
                            </p:stCondLst>
                            <p:childTnLst>
                              <p:par>
                                <p:cTn id="77" presetID="18" presetClass="entr" presetSubtype="6" fill="hold" grpId="0" nodeType="afterEffect">
                                  <p:stCondLst>
                                    <p:cond delay="0"/>
                                  </p:stCondLst>
                                  <p:childTnLst>
                                    <p:set>
                                      <p:cBhvr>
                                        <p:cTn id="78" dur="1" fill="hold">
                                          <p:stCondLst>
                                            <p:cond delay="0"/>
                                          </p:stCondLst>
                                        </p:cTn>
                                        <p:tgtEl>
                                          <p:spTgt spid="1204353"/>
                                        </p:tgtEl>
                                        <p:attrNameLst>
                                          <p:attrName>style.visibility</p:attrName>
                                        </p:attrNameLst>
                                      </p:cBhvr>
                                      <p:to>
                                        <p:strVal val="visible"/>
                                      </p:to>
                                    </p:set>
                                    <p:animEffect transition="in" filter="strips(downRight)">
                                      <p:cBhvr>
                                        <p:cTn id="79" dur="2000"/>
                                        <p:tgtEl>
                                          <p:spTgt spid="1204353"/>
                                        </p:tgtEl>
                                      </p:cBhvr>
                                    </p:animEffect>
                                  </p:childTnLst>
                                  <p:subTnLst>
                                    <p:set>
                                      <p:cBhvr override="childStyle">
                                        <p:cTn dur="1" fill="hold" display="0" masterRel="sameClick" afterEffect="1">
                                          <p:stCondLst>
                                            <p:cond evt="end" delay="0">
                                              <p:tn val="77"/>
                                            </p:cond>
                                          </p:stCondLst>
                                        </p:cTn>
                                        <p:tgtEl>
                                          <p:spTgt spid="1204353"/>
                                        </p:tgtEl>
                                        <p:attrNameLst>
                                          <p:attrName>style.visibility</p:attrName>
                                        </p:attrNameLst>
                                      </p:cBhvr>
                                      <p:to>
                                        <p:strVal val="hidden"/>
                                      </p:to>
                                    </p:set>
                                    <p:audio>
                                      <p:cMediaNode>
                                        <p:cTn display="0" masterRel="sameClick">
                                          <p:stCondLst>
                                            <p:cond evt="begin" delay="0">
                                              <p:tn val="77"/>
                                            </p:cond>
                                          </p:stCondLst>
                                          <p:endCondLst>
                                            <p:cond evt="onStopAudio" delay="0">
                                              <p:tgtEl>
                                                <p:sldTgt/>
                                              </p:tgtEl>
                                            </p:cond>
                                          </p:endCondLst>
                                        </p:cTn>
                                        <p:tgtEl>
                                          <p:sndTgt r:embed="rId2" name="camera.wav"/>
                                        </p:tgtEl>
                                      </p:cMediaNode>
                                    </p:audio>
                                  </p:subTnLst>
                                </p:cTn>
                              </p:par>
                            </p:childTnLst>
                          </p:cTn>
                        </p:par>
                        <p:par>
                          <p:cTn id="80" fill="hold">
                            <p:stCondLst>
                              <p:cond delay="4000"/>
                            </p:stCondLst>
                            <p:childTnLst>
                              <p:par>
                                <p:cTn id="81" presetID="4" presetClass="entr" presetSubtype="16" fill="hold" grpId="0" nodeType="afterEffect">
                                  <p:stCondLst>
                                    <p:cond delay="0"/>
                                  </p:stCondLst>
                                  <p:childTnLst>
                                    <p:set>
                                      <p:cBhvr>
                                        <p:cTn id="82" dur="1" fill="hold">
                                          <p:stCondLst>
                                            <p:cond delay="0"/>
                                          </p:stCondLst>
                                        </p:cTn>
                                        <p:tgtEl>
                                          <p:spTgt spid="1204327"/>
                                        </p:tgtEl>
                                        <p:attrNameLst>
                                          <p:attrName>style.visibility</p:attrName>
                                        </p:attrNameLst>
                                      </p:cBhvr>
                                      <p:to>
                                        <p:strVal val="visible"/>
                                      </p:to>
                                    </p:set>
                                    <p:animEffect transition="in" filter="box(in)">
                                      <p:cBhvr>
                                        <p:cTn id="83" dur="500"/>
                                        <p:tgtEl>
                                          <p:spTgt spid="1204327"/>
                                        </p:tgtEl>
                                      </p:cBhvr>
                                    </p:animEffect>
                                  </p:childTnLst>
                                  <p:subTnLst>
                                    <p:audio>
                                      <p:cMediaNode>
                                        <p:cTn display="0" masterRel="sameClick">
                                          <p:stCondLst>
                                            <p:cond evt="begin" delay="0">
                                              <p:tn val="81"/>
                                            </p:cond>
                                          </p:stCondLst>
                                          <p:endCondLst>
                                            <p:cond evt="onStopAudio" delay="0">
                                              <p:tgtEl>
                                                <p:sldTgt/>
                                              </p:tgtEl>
                                            </p:cond>
                                          </p:endCondLst>
                                        </p:cTn>
                                        <p:tgtEl>
                                          <p:sndTgt r:embed="rId2" name="camera.wav"/>
                                        </p:tgtEl>
                                      </p:cMediaNode>
                                    </p:audio>
                                  </p:subTnLst>
                                </p:cTn>
                              </p:par>
                            </p:childTnLst>
                          </p:cTn>
                        </p:par>
                        <p:par>
                          <p:cTn id="84" fill="hold">
                            <p:stCondLst>
                              <p:cond delay="4500"/>
                            </p:stCondLst>
                            <p:childTnLst>
                              <p:par>
                                <p:cTn id="85" presetID="4" presetClass="entr" presetSubtype="16" fill="hold" grpId="0" nodeType="afterEffect">
                                  <p:stCondLst>
                                    <p:cond delay="0"/>
                                  </p:stCondLst>
                                  <p:childTnLst>
                                    <p:set>
                                      <p:cBhvr>
                                        <p:cTn id="86" dur="1" fill="hold">
                                          <p:stCondLst>
                                            <p:cond delay="0"/>
                                          </p:stCondLst>
                                        </p:cTn>
                                        <p:tgtEl>
                                          <p:spTgt spid="1204330"/>
                                        </p:tgtEl>
                                        <p:attrNameLst>
                                          <p:attrName>style.visibility</p:attrName>
                                        </p:attrNameLst>
                                      </p:cBhvr>
                                      <p:to>
                                        <p:strVal val="visible"/>
                                      </p:to>
                                    </p:set>
                                    <p:animEffect transition="in" filter="box(in)">
                                      <p:cBhvr>
                                        <p:cTn id="87" dur="500"/>
                                        <p:tgtEl>
                                          <p:spTgt spid="1204330"/>
                                        </p:tgtEl>
                                      </p:cBhvr>
                                    </p:animEffect>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par>
                          <p:cTn id="88" fill="hold">
                            <p:stCondLst>
                              <p:cond delay="5000"/>
                            </p:stCondLst>
                            <p:childTnLst>
                              <p:par>
                                <p:cTn id="89" presetID="4" presetClass="entr" presetSubtype="16" fill="hold" grpId="0" nodeType="afterEffect">
                                  <p:stCondLst>
                                    <p:cond delay="0"/>
                                  </p:stCondLst>
                                  <p:childTnLst>
                                    <p:set>
                                      <p:cBhvr>
                                        <p:cTn id="90" dur="1" fill="hold">
                                          <p:stCondLst>
                                            <p:cond delay="0"/>
                                          </p:stCondLst>
                                        </p:cTn>
                                        <p:tgtEl>
                                          <p:spTgt spid="1204331"/>
                                        </p:tgtEl>
                                        <p:attrNameLst>
                                          <p:attrName>style.visibility</p:attrName>
                                        </p:attrNameLst>
                                      </p:cBhvr>
                                      <p:to>
                                        <p:strVal val="visible"/>
                                      </p:to>
                                    </p:set>
                                    <p:animEffect transition="in" filter="box(in)">
                                      <p:cBhvr>
                                        <p:cTn id="91" dur="500"/>
                                        <p:tgtEl>
                                          <p:spTgt spid="1204331"/>
                                        </p:tgtEl>
                                      </p:cBhvr>
                                    </p:animEffect>
                                  </p:childTnLst>
                                  <p:subTnLst>
                                    <p:audio>
                                      <p:cMediaNode>
                                        <p:cTn display="0" masterRel="sameClick">
                                          <p:stCondLst>
                                            <p:cond evt="begin" delay="0">
                                              <p:tn val="89"/>
                                            </p:cond>
                                          </p:stCondLst>
                                          <p:endCondLst>
                                            <p:cond evt="onStopAudio" delay="0">
                                              <p:tgtEl>
                                                <p:sldTgt/>
                                              </p:tgtEl>
                                            </p:cond>
                                          </p:endCondLst>
                                        </p:cTn>
                                        <p:tgtEl>
                                          <p:sndTgt r:embed="rId2" name="camera.wav"/>
                                        </p:tgtEl>
                                      </p:cMediaNode>
                                    </p:audio>
                                  </p:subTnLst>
                                </p:cTn>
                              </p:par>
                            </p:childTnLst>
                          </p:cTn>
                        </p:par>
                        <p:par>
                          <p:cTn id="92" fill="hold">
                            <p:stCondLst>
                              <p:cond delay="5500"/>
                            </p:stCondLst>
                            <p:childTnLst>
                              <p:par>
                                <p:cTn id="93" presetID="4" presetClass="entr" presetSubtype="16" fill="hold" grpId="0" nodeType="afterEffect">
                                  <p:stCondLst>
                                    <p:cond delay="0"/>
                                  </p:stCondLst>
                                  <p:childTnLst>
                                    <p:set>
                                      <p:cBhvr>
                                        <p:cTn id="94" dur="1" fill="hold">
                                          <p:stCondLst>
                                            <p:cond delay="0"/>
                                          </p:stCondLst>
                                        </p:cTn>
                                        <p:tgtEl>
                                          <p:spTgt spid="1204332"/>
                                        </p:tgtEl>
                                        <p:attrNameLst>
                                          <p:attrName>style.visibility</p:attrName>
                                        </p:attrNameLst>
                                      </p:cBhvr>
                                      <p:to>
                                        <p:strVal val="visible"/>
                                      </p:to>
                                    </p:set>
                                    <p:animEffect transition="in" filter="box(in)">
                                      <p:cBhvr>
                                        <p:cTn id="95" dur="500"/>
                                        <p:tgtEl>
                                          <p:spTgt spid="1204332"/>
                                        </p:tgtEl>
                                      </p:cBhvr>
                                    </p:animEffect>
                                  </p:childTnLst>
                                  <p:subTnLst>
                                    <p:audio>
                                      <p:cMediaNode>
                                        <p:cTn display="0" masterRel="sameClick">
                                          <p:stCondLst>
                                            <p:cond evt="begin" delay="0">
                                              <p:tn val="93"/>
                                            </p:cond>
                                          </p:stCondLst>
                                          <p:endCondLst>
                                            <p:cond evt="onStopAudio" delay="0">
                                              <p:tgtEl>
                                                <p:sldTgt/>
                                              </p:tgtEl>
                                            </p:cond>
                                          </p:endCondLst>
                                        </p:cTn>
                                        <p:tgtEl>
                                          <p:sndTgt r:embed="rId2" name="camera.wav"/>
                                        </p:tgtEl>
                                      </p:cMediaNode>
                                    </p:audio>
                                  </p:subTnLst>
                                </p:cTn>
                              </p:par>
                            </p:childTnLst>
                          </p:cTn>
                        </p:par>
                        <p:par>
                          <p:cTn id="96" fill="hold">
                            <p:stCondLst>
                              <p:cond delay="6000"/>
                            </p:stCondLst>
                            <p:childTnLst>
                              <p:par>
                                <p:cTn id="97" presetID="4" presetClass="entr" presetSubtype="16" fill="hold" grpId="0" nodeType="afterEffect">
                                  <p:stCondLst>
                                    <p:cond delay="0"/>
                                  </p:stCondLst>
                                  <p:childTnLst>
                                    <p:set>
                                      <p:cBhvr>
                                        <p:cTn id="98" dur="1" fill="hold">
                                          <p:stCondLst>
                                            <p:cond delay="0"/>
                                          </p:stCondLst>
                                        </p:cTn>
                                        <p:tgtEl>
                                          <p:spTgt spid="1204333"/>
                                        </p:tgtEl>
                                        <p:attrNameLst>
                                          <p:attrName>style.visibility</p:attrName>
                                        </p:attrNameLst>
                                      </p:cBhvr>
                                      <p:to>
                                        <p:strVal val="visible"/>
                                      </p:to>
                                    </p:set>
                                    <p:animEffect transition="in" filter="box(in)">
                                      <p:cBhvr>
                                        <p:cTn id="99" dur="500"/>
                                        <p:tgtEl>
                                          <p:spTgt spid="1204333"/>
                                        </p:tgtEl>
                                      </p:cBhvr>
                                    </p:animEffect>
                                  </p:childTnLst>
                                  <p:subTnLst>
                                    <p:audio>
                                      <p:cMediaNode>
                                        <p:cTn display="0" masterRel="sameClick">
                                          <p:stCondLst>
                                            <p:cond evt="begin" delay="0">
                                              <p:tn val="97"/>
                                            </p:cond>
                                          </p:stCondLst>
                                          <p:endCondLst>
                                            <p:cond evt="onStopAudio" delay="0">
                                              <p:tgtEl>
                                                <p:sldTgt/>
                                              </p:tgtEl>
                                            </p:cond>
                                          </p:endCondLst>
                                        </p:cTn>
                                        <p:tgtEl>
                                          <p:sndTgt r:embed="rId2" name="camera.wav"/>
                                        </p:tgtEl>
                                      </p:cMediaNode>
                                    </p:audio>
                                  </p:subTnLst>
                                </p:cTn>
                              </p:par>
                            </p:childTnLst>
                          </p:cTn>
                        </p:par>
                        <p:par>
                          <p:cTn id="100" fill="hold">
                            <p:stCondLst>
                              <p:cond delay="6500"/>
                            </p:stCondLst>
                            <p:childTnLst>
                              <p:par>
                                <p:cTn id="101" presetID="4" presetClass="entr" presetSubtype="16" fill="hold" grpId="0" nodeType="afterEffect">
                                  <p:stCondLst>
                                    <p:cond delay="0"/>
                                  </p:stCondLst>
                                  <p:childTnLst>
                                    <p:set>
                                      <p:cBhvr>
                                        <p:cTn id="102" dur="1" fill="hold">
                                          <p:stCondLst>
                                            <p:cond delay="0"/>
                                          </p:stCondLst>
                                        </p:cTn>
                                        <p:tgtEl>
                                          <p:spTgt spid="1204334"/>
                                        </p:tgtEl>
                                        <p:attrNameLst>
                                          <p:attrName>style.visibility</p:attrName>
                                        </p:attrNameLst>
                                      </p:cBhvr>
                                      <p:to>
                                        <p:strVal val="visible"/>
                                      </p:to>
                                    </p:set>
                                    <p:animEffect transition="in" filter="box(in)">
                                      <p:cBhvr>
                                        <p:cTn id="103" dur="500"/>
                                        <p:tgtEl>
                                          <p:spTgt spid="1204334"/>
                                        </p:tgtEl>
                                      </p:cBhvr>
                                    </p:animEffect>
                                  </p:childTnLst>
                                  <p:subTnLst>
                                    <p:audio>
                                      <p:cMediaNode>
                                        <p:cTn display="0" masterRel="sameClick">
                                          <p:stCondLst>
                                            <p:cond evt="begin" delay="0">
                                              <p:tn val="101"/>
                                            </p:cond>
                                          </p:stCondLst>
                                          <p:endCondLst>
                                            <p:cond evt="onStopAudio" delay="0">
                                              <p:tgtEl>
                                                <p:sldTgt/>
                                              </p:tgtEl>
                                            </p:cond>
                                          </p:endCondLst>
                                        </p:cTn>
                                        <p:tgtEl>
                                          <p:sndTgt r:embed="rId2" name="camera.wav"/>
                                        </p:tgtEl>
                                      </p:cMediaNode>
                                    </p:audio>
                                  </p:subTnLst>
                                </p:cTn>
                              </p:par>
                            </p:childTnLst>
                          </p:cTn>
                        </p:par>
                        <p:par>
                          <p:cTn id="104" fill="hold">
                            <p:stCondLst>
                              <p:cond delay="7000"/>
                            </p:stCondLst>
                            <p:childTnLst>
                              <p:par>
                                <p:cTn id="105" presetID="4" presetClass="entr" presetSubtype="16" fill="hold" grpId="0" nodeType="afterEffect">
                                  <p:stCondLst>
                                    <p:cond delay="0"/>
                                  </p:stCondLst>
                                  <p:childTnLst>
                                    <p:set>
                                      <p:cBhvr>
                                        <p:cTn id="106" dur="1" fill="hold">
                                          <p:stCondLst>
                                            <p:cond delay="0"/>
                                          </p:stCondLst>
                                        </p:cTn>
                                        <p:tgtEl>
                                          <p:spTgt spid="1204335"/>
                                        </p:tgtEl>
                                        <p:attrNameLst>
                                          <p:attrName>style.visibility</p:attrName>
                                        </p:attrNameLst>
                                      </p:cBhvr>
                                      <p:to>
                                        <p:strVal val="visible"/>
                                      </p:to>
                                    </p:set>
                                    <p:animEffect transition="in" filter="box(in)">
                                      <p:cBhvr>
                                        <p:cTn id="107" dur="500"/>
                                        <p:tgtEl>
                                          <p:spTgt spid="1204335"/>
                                        </p:tgtEl>
                                      </p:cBhvr>
                                    </p:animEffect>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childTnLst>
                          </p:cTn>
                        </p:par>
                        <p:par>
                          <p:cTn id="108" fill="hold">
                            <p:stCondLst>
                              <p:cond delay="7500"/>
                            </p:stCondLst>
                            <p:childTnLst>
                              <p:par>
                                <p:cTn id="109" presetID="4" presetClass="entr" presetSubtype="16" fill="hold" grpId="0" nodeType="afterEffect">
                                  <p:stCondLst>
                                    <p:cond delay="0"/>
                                  </p:stCondLst>
                                  <p:childTnLst>
                                    <p:set>
                                      <p:cBhvr>
                                        <p:cTn id="110" dur="1" fill="hold">
                                          <p:stCondLst>
                                            <p:cond delay="0"/>
                                          </p:stCondLst>
                                        </p:cTn>
                                        <p:tgtEl>
                                          <p:spTgt spid="1204336"/>
                                        </p:tgtEl>
                                        <p:attrNameLst>
                                          <p:attrName>style.visibility</p:attrName>
                                        </p:attrNameLst>
                                      </p:cBhvr>
                                      <p:to>
                                        <p:strVal val="visible"/>
                                      </p:to>
                                    </p:set>
                                    <p:animEffect transition="in" filter="box(in)">
                                      <p:cBhvr>
                                        <p:cTn id="111" dur="500"/>
                                        <p:tgtEl>
                                          <p:spTgt spid="1204336"/>
                                        </p:tgtEl>
                                      </p:cBhvr>
                                    </p:animEffect>
                                  </p:childTnLst>
                                  <p:subTnLst>
                                    <p:audio>
                                      <p:cMediaNode>
                                        <p:cTn display="0" masterRel="sameClick">
                                          <p:stCondLst>
                                            <p:cond evt="begin" delay="0">
                                              <p:tn val="109"/>
                                            </p:cond>
                                          </p:stCondLst>
                                          <p:endCondLst>
                                            <p:cond evt="onStopAudio" delay="0">
                                              <p:tgtEl>
                                                <p:sldTgt/>
                                              </p:tgtEl>
                                            </p:cond>
                                          </p:endCondLst>
                                        </p:cTn>
                                        <p:tgtEl>
                                          <p:sndTgt r:embed="rId2" name="camera.wav"/>
                                        </p:tgtEl>
                                      </p:cMediaNode>
                                    </p:audio>
                                  </p:subTnLst>
                                </p:cTn>
                              </p:par>
                            </p:childTnLst>
                          </p:cTn>
                        </p:par>
                        <p:par>
                          <p:cTn id="112" fill="hold">
                            <p:stCondLst>
                              <p:cond delay="8000"/>
                            </p:stCondLst>
                            <p:childTnLst>
                              <p:par>
                                <p:cTn id="113" presetID="4" presetClass="entr" presetSubtype="16" fill="hold" grpId="0" nodeType="afterEffect">
                                  <p:stCondLst>
                                    <p:cond delay="0"/>
                                  </p:stCondLst>
                                  <p:childTnLst>
                                    <p:set>
                                      <p:cBhvr>
                                        <p:cTn id="114" dur="1" fill="hold">
                                          <p:stCondLst>
                                            <p:cond delay="0"/>
                                          </p:stCondLst>
                                        </p:cTn>
                                        <p:tgtEl>
                                          <p:spTgt spid="1204337"/>
                                        </p:tgtEl>
                                        <p:attrNameLst>
                                          <p:attrName>style.visibility</p:attrName>
                                        </p:attrNameLst>
                                      </p:cBhvr>
                                      <p:to>
                                        <p:strVal val="visible"/>
                                      </p:to>
                                    </p:set>
                                    <p:animEffect transition="in" filter="box(in)">
                                      <p:cBhvr>
                                        <p:cTn id="115" dur="500"/>
                                        <p:tgtEl>
                                          <p:spTgt spid="1204337"/>
                                        </p:tgtEl>
                                      </p:cBhvr>
                                    </p:animEffect>
                                  </p:childTnLst>
                                  <p:subTnLst>
                                    <p:audio>
                                      <p:cMediaNode>
                                        <p:cTn display="0" masterRel="sameClick">
                                          <p:stCondLst>
                                            <p:cond evt="begin" delay="0">
                                              <p:tn val="113"/>
                                            </p:cond>
                                          </p:stCondLst>
                                          <p:endCondLst>
                                            <p:cond evt="onStopAudio" delay="0">
                                              <p:tgtEl>
                                                <p:sldTgt/>
                                              </p:tgtEl>
                                            </p:cond>
                                          </p:endCondLst>
                                        </p:cTn>
                                        <p:tgtEl>
                                          <p:sndTgt r:embed="rId2" name="camera.wav"/>
                                        </p:tgtEl>
                                      </p:cMediaNode>
                                    </p:audio>
                                  </p:subTnLst>
                                </p:cTn>
                              </p:par>
                            </p:childTnLst>
                          </p:cTn>
                        </p:par>
                        <p:par>
                          <p:cTn id="116" fill="hold">
                            <p:stCondLst>
                              <p:cond delay="8500"/>
                            </p:stCondLst>
                            <p:childTnLst>
                              <p:par>
                                <p:cTn id="117" presetID="4" presetClass="entr" presetSubtype="16" fill="hold" grpId="0" nodeType="afterEffect">
                                  <p:stCondLst>
                                    <p:cond delay="0"/>
                                  </p:stCondLst>
                                  <p:childTnLst>
                                    <p:set>
                                      <p:cBhvr>
                                        <p:cTn id="118" dur="1" fill="hold">
                                          <p:stCondLst>
                                            <p:cond delay="0"/>
                                          </p:stCondLst>
                                        </p:cTn>
                                        <p:tgtEl>
                                          <p:spTgt spid="1204355"/>
                                        </p:tgtEl>
                                        <p:attrNameLst>
                                          <p:attrName>style.visibility</p:attrName>
                                        </p:attrNameLst>
                                      </p:cBhvr>
                                      <p:to>
                                        <p:strVal val="visible"/>
                                      </p:to>
                                    </p:set>
                                    <p:animEffect transition="in" filter="box(in)">
                                      <p:cBhvr>
                                        <p:cTn id="119" dur="500"/>
                                        <p:tgtEl>
                                          <p:spTgt spid="1204355"/>
                                        </p:tgtEl>
                                      </p:cBhvr>
                                    </p:animEffect>
                                  </p:childTnLst>
                                  <p:subTnLst>
                                    <p:audio>
                                      <p:cMediaNode>
                                        <p:cTn display="0" masterRel="sameClick">
                                          <p:stCondLst>
                                            <p:cond evt="begin" delay="0">
                                              <p:tn val="117"/>
                                            </p:cond>
                                          </p:stCondLst>
                                          <p:endCondLst>
                                            <p:cond evt="onStopAudio" delay="0">
                                              <p:tgtEl>
                                                <p:sldTgt/>
                                              </p:tgtEl>
                                            </p:cond>
                                          </p:endCondLst>
                                        </p:cTn>
                                        <p:tgtEl>
                                          <p:sndTgt r:embed="rId2" name="camera.wav"/>
                                        </p:tgtEl>
                                      </p:cMediaNode>
                                    </p:audio>
                                  </p:subTnLst>
                                </p:cTn>
                              </p:par>
                            </p:childTnLst>
                          </p:cTn>
                        </p:par>
                        <p:par>
                          <p:cTn id="120" fill="hold">
                            <p:stCondLst>
                              <p:cond delay="9000"/>
                            </p:stCondLst>
                            <p:childTnLst>
                              <p:par>
                                <p:cTn id="121" presetID="18" presetClass="entr" presetSubtype="3" fill="hold" nodeType="afterEffect">
                                  <p:stCondLst>
                                    <p:cond delay="0"/>
                                  </p:stCondLst>
                                  <p:childTnLst>
                                    <p:set>
                                      <p:cBhvr>
                                        <p:cTn id="122" dur="1" fill="hold">
                                          <p:stCondLst>
                                            <p:cond delay="0"/>
                                          </p:stCondLst>
                                        </p:cTn>
                                        <p:tgtEl>
                                          <p:spTgt spid="1204356"/>
                                        </p:tgtEl>
                                        <p:attrNameLst>
                                          <p:attrName>style.visibility</p:attrName>
                                        </p:attrNameLst>
                                      </p:cBhvr>
                                      <p:to>
                                        <p:strVal val="visible"/>
                                      </p:to>
                                    </p:set>
                                    <p:animEffect transition="in" filter="strips(upRight)">
                                      <p:cBhvr>
                                        <p:cTn id="123" dur="500"/>
                                        <p:tgtEl>
                                          <p:spTgt spid="1204356"/>
                                        </p:tgtEl>
                                      </p:cBhvr>
                                    </p:animEffect>
                                  </p:childTnLst>
                                  <p:subTnLst>
                                    <p:audio>
                                      <p:cMediaNode>
                                        <p:cTn display="0" masterRel="sameClick">
                                          <p:stCondLst>
                                            <p:cond evt="begin" delay="0">
                                              <p:tn val="121"/>
                                            </p:cond>
                                          </p:stCondLst>
                                          <p:endCondLst>
                                            <p:cond evt="onStopAudio" delay="0">
                                              <p:tgtEl>
                                                <p:sldTgt/>
                                              </p:tgtEl>
                                            </p:cond>
                                          </p:endCondLst>
                                        </p:cTn>
                                        <p:tgtEl>
                                          <p:sndTgt r:embed="rId2" name="camera.wav"/>
                                        </p:tgtEl>
                                      </p:cMediaNode>
                                    </p:audio>
                                  </p:subTnLst>
                                </p:cTn>
                              </p:par>
                            </p:childTnLst>
                          </p:cTn>
                        </p:par>
                        <p:par>
                          <p:cTn id="124" fill="hold">
                            <p:stCondLst>
                              <p:cond delay="9500"/>
                            </p:stCondLst>
                            <p:childTnLst>
                              <p:par>
                                <p:cTn id="125" presetID="4" presetClass="entr" presetSubtype="32" fill="hold" grpId="0" nodeType="afterEffect">
                                  <p:stCondLst>
                                    <p:cond delay="0"/>
                                  </p:stCondLst>
                                  <p:childTnLst>
                                    <p:set>
                                      <p:cBhvr>
                                        <p:cTn id="126" dur="1" fill="hold">
                                          <p:stCondLst>
                                            <p:cond delay="0"/>
                                          </p:stCondLst>
                                        </p:cTn>
                                        <p:tgtEl>
                                          <p:spTgt spid="1204359"/>
                                        </p:tgtEl>
                                        <p:attrNameLst>
                                          <p:attrName>style.visibility</p:attrName>
                                        </p:attrNameLst>
                                      </p:cBhvr>
                                      <p:to>
                                        <p:strVal val="visible"/>
                                      </p:to>
                                    </p:set>
                                    <p:animEffect transition="in" filter="box(out)">
                                      <p:cBhvr>
                                        <p:cTn id="127" dur="500"/>
                                        <p:tgtEl>
                                          <p:spTgt spid="1204359"/>
                                        </p:tgtEl>
                                      </p:cBhvr>
                                    </p:animEffect>
                                  </p:childTnLst>
                                  <p:subTnLst>
                                    <p:audio>
                                      <p:cMediaNode>
                                        <p:cTn display="0" masterRel="sameClick">
                                          <p:stCondLst>
                                            <p:cond evt="begin" delay="0">
                                              <p:tn val="125"/>
                                            </p:cond>
                                          </p:stCondLst>
                                          <p:endCondLst>
                                            <p:cond evt="onStopAudio" delay="0">
                                              <p:tgtEl>
                                                <p:sldTgt/>
                                              </p:tgtEl>
                                            </p:cond>
                                          </p:endCondLst>
                                        </p:cTn>
                                        <p:tgtEl>
                                          <p:sndTgt r:embed="rId2" name="camera.wav"/>
                                        </p:tgtEl>
                                      </p:cMediaNode>
                                    </p:audio>
                                  </p:subTnLst>
                                </p:cTn>
                              </p:par>
                            </p:childTnLst>
                          </p:cTn>
                        </p:par>
                      </p:childTnLst>
                    </p:cTn>
                  </p:par>
                  <p:par>
                    <p:cTn id="128" fill="hold">
                      <p:stCondLst>
                        <p:cond delay="indefinite"/>
                      </p:stCondLst>
                      <p:childTnLst>
                        <p:par>
                          <p:cTn id="129" fill="hold">
                            <p:stCondLst>
                              <p:cond delay="0"/>
                            </p:stCondLst>
                            <p:childTnLst>
                              <p:par>
                                <p:cTn id="130" presetID="4" presetClass="entr" presetSubtype="16" fill="hold" grpId="0" nodeType="clickEffect">
                                  <p:stCondLst>
                                    <p:cond delay="0"/>
                                  </p:stCondLst>
                                  <p:childTnLst>
                                    <p:set>
                                      <p:cBhvr>
                                        <p:cTn id="131" dur="1" fill="hold">
                                          <p:stCondLst>
                                            <p:cond delay="0"/>
                                          </p:stCondLst>
                                        </p:cTn>
                                        <p:tgtEl>
                                          <p:spTgt spid="1204338"/>
                                        </p:tgtEl>
                                        <p:attrNameLst>
                                          <p:attrName>style.visibility</p:attrName>
                                        </p:attrNameLst>
                                      </p:cBhvr>
                                      <p:to>
                                        <p:strVal val="visible"/>
                                      </p:to>
                                    </p:set>
                                    <p:animEffect transition="in" filter="box(in)">
                                      <p:cBhvr>
                                        <p:cTn id="132" dur="500"/>
                                        <p:tgtEl>
                                          <p:spTgt spid="1204338"/>
                                        </p:tgtEl>
                                      </p:cBhvr>
                                    </p:animEffect>
                                  </p:childTnLst>
                                  <p:subTnLst>
                                    <p:audio>
                                      <p:cMediaNode>
                                        <p:cTn display="0" masterRel="sameClick">
                                          <p:stCondLst>
                                            <p:cond evt="begin" delay="0">
                                              <p:tn val="130"/>
                                            </p:cond>
                                          </p:stCondLst>
                                          <p:endCondLst>
                                            <p:cond evt="onStopAudio" delay="0">
                                              <p:tgtEl>
                                                <p:sldTgt/>
                                              </p:tgtEl>
                                            </p:cond>
                                          </p:endCondLst>
                                        </p:cTn>
                                        <p:tgtEl>
                                          <p:sndTgt r:embed="rId2" name="camera.wav"/>
                                        </p:tgtEl>
                                      </p:cMediaNode>
                                    </p:audio>
                                  </p:subTnLst>
                                </p:cTn>
                              </p:par>
                            </p:childTnLst>
                          </p:cTn>
                        </p:par>
                        <p:par>
                          <p:cTn id="133" fill="hold">
                            <p:stCondLst>
                              <p:cond delay="500"/>
                            </p:stCondLst>
                            <p:childTnLst>
                              <p:par>
                                <p:cTn id="134" presetID="4" presetClass="entr" presetSubtype="32" fill="hold" grpId="0" nodeType="afterEffect">
                                  <p:stCondLst>
                                    <p:cond delay="0"/>
                                  </p:stCondLst>
                                  <p:childTnLst>
                                    <p:set>
                                      <p:cBhvr>
                                        <p:cTn id="135" dur="1" fill="hold">
                                          <p:stCondLst>
                                            <p:cond delay="0"/>
                                          </p:stCondLst>
                                        </p:cTn>
                                        <p:tgtEl>
                                          <p:spTgt spid="1204360"/>
                                        </p:tgtEl>
                                        <p:attrNameLst>
                                          <p:attrName>style.visibility</p:attrName>
                                        </p:attrNameLst>
                                      </p:cBhvr>
                                      <p:to>
                                        <p:strVal val="visible"/>
                                      </p:to>
                                    </p:set>
                                    <p:animEffect transition="in" filter="box(out)">
                                      <p:cBhvr>
                                        <p:cTn id="136" dur="500"/>
                                        <p:tgtEl>
                                          <p:spTgt spid="1204360"/>
                                        </p:tgtEl>
                                      </p:cBhvr>
                                    </p:animEffect>
                                  </p:childTnLst>
                                  <p:subTnLst>
                                    <p:audio>
                                      <p:cMediaNode>
                                        <p:cTn display="0" masterRel="sameClick">
                                          <p:stCondLst>
                                            <p:cond evt="begin" delay="0">
                                              <p:tn val="13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4283" grpId="0" animBg="1"/>
      <p:bldP spid="1204284" grpId="0" animBg="1"/>
      <p:bldP spid="1204285" grpId="0" animBg="1"/>
      <p:bldP spid="1204289" grpId="0" animBg="1"/>
      <p:bldP spid="1204293" grpId="0" animBg="1"/>
      <p:bldP spid="1204294" grpId="0" animBg="1"/>
      <p:bldP spid="1204327" grpId="0" animBg="1"/>
      <p:bldP spid="1204330" grpId="0" animBg="1"/>
      <p:bldP spid="1204331" grpId="0" animBg="1"/>
      <p:bldP spid="1204332" grpId="0" animBg="1"/>
      <p:bldP spid="1204333" grpId="0" animBg="1"/>
      <p:bldP spid="1204334" grpId="0" animBg="1"/>
      <p:bldP spid="1204335" grpId="0" animBg="1"/>
      <p:bldP spid="1204336" grpId="0" animBg="1"/>
      <p:bldP spid="1204337" grpId="0" animBg="1"/>
      <p:bldP spid="1204338" grpId="0"/>
      <p:bldP spid="1204353" grpId="0" animBg="1"/>
      <p:bldP spid="1204355" grpId="0" animBg="1"/>
      <p:bldP spid="1204359" grpId="0" animBg="1"/>
      <p:bldP spid="1204360"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1776" name="Rectangle 16"/>
          <p:cNvSpPr>
            <a:spLocks noChangeArrowheads="1"/>
          </p:cNvSpPr>
          <p:nvPr/>
        </p:nvSpPr>
        <p:spPr bwMode="auto">
          <a:xfrm>
            <a:off x="856430" y="1308894"/>
            <a:ext cx="10873208" cy="5223802"/>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hangingPunct="0">
              <a:lnSpc>
                <a:spcPts val="2950"/>
              </a:lnSpc>
              <a:spcBef>
                <a:spcPct val="0"/>
              </a:spcBef>
            </a:pPr>
            <a:r>
              <a:rPr kumimoji="0" lang="en-US" altLang="zh-CN" b="1" dirty="0">
                <a:ln w="1905"/>
                <a:solidFill>
                  <a:srgbClr val="C00000"/>
                </a:solidFill>
                <a:effectLst/>
                <a:latin typeface="楷体" panose="02010609060101010101" pitchFamily="49" charset="-122"/>
                <a:ea typeface="楷体" panose="02010609060101010101" pitchFamily="49" charset="-122"/>
                <a:cs typeface="Times New Roman" pitchFamily="18" charset="0"/>
              </a:rPr>
              <a:t>【</a:t>
            </a:r>
            <a:r>
              <a:rPr kumimoji="0" lang="zh-CN" altLang="zh-CN" b="1" dirty="0">
                <a:ln w="1905"/>
                <a:solidFill>
                  <a:srgbClr val="C00000"/>
                </a:solidFill>
                <a:effectLst/>
                <a:latin typeface="楷体" panose="02010609060101010101" pitchFamily="49" charset="-122"/>
                <a:ea typeface="楷体" panose="02010609060101010101" pitchFamily="49" charset="-122"/>
                <a:cs typeface="Times New Roman" pitchFamily="18" charset="0"/>
              </a:rPr>
              <a:t>设计思路</a:t>
            </a:r>
            <a:r>
              <a:rPr kumimoji="0" lang="en-US" altLang="zh-CN" b="1" dirty="0">
                <a:ln w="1905"/>
                <a:solidFill>
                  <a:srgbClr val="C00000"/>
                </a:solidFill>
                <a:effectLst/>
                <a:latin typeface="楷体" panose="02010609060101010101" pitchFamily="49" charset="-122"/>
                <a:ea typeface="楷体" panose="02010609060101010101" pitchFamily="49" charset="-122"/>
                <a:cs typeface="Times New Roman" pitchFamily="18" charset="0"/>
              </a:rPr>
              <a:t>】</a:t>
            </a:r>
            <a:r>
              <a:rPr kumimoji="0" lang="zh-CN" altLang="en-US" b="1" dirty="0">
                <a:ln w="1905"/>
                <a:solidFill>
                  <a:srgbClr val="C00000"/>
                </a:solidFill>
                <a:effectLst/>
                <a:latin typeface="楷体" panose="02010609060101010101" pitchFamily="49" charset="-122"/>
                <a:ea typeface="楷体" panose="02010609060101010101" pitchFamily="49" charset="-122"/>
                <a:cs typeface="Times New Roman" pitchFamily="18" charset="0"/>
              </a:rPr>
              <a:t>主要解决两个问题：</a:t>
            </a:r>
            <a:endParaRPr kumimoji="0" lang="en-US" altLang="zh-CN" b="1" dirty="0">
              <a:ln w="1905"/>
              <a:solidFill>
                <a:srgbClr val="C00000"/>
              </a:solidFill>
              <a:effectLst/>
              <a:latin typeface="楷体" panose="02010609060101010101" pitchFamily="49" charset="-122"/>
              <a:ea typeface="楷体" panose="02010609060101010101" pitchFamily="49" charset="-122"/>
              <a:cs typeface="Times New Roman" pitchFamily="18" charset="0"/>
            </a:endParaRPr>
          </a:p>
          <a:p>
            <a:pPr lvl="0" eaLnBrk="0" hangingPunct="0">
              <a:spcBef>
                <a:spcPct val="0"/>
              </a:spcBef>
            </a:pPr>
            <a:endParaRPr kumimoji="0" lang="en-US" altLang="zh-CN" sz="1100" b="1" dirty="0">
              <a:ln w="1905"/>
              <a:solidFill>
                <a:srgbClr val="C00000"/>
              </a:solidFill>
              <a:effectLst/>
              <a:latin typeface="楷体" panose="02010609060101010101" pitchFamily="49" charset="-122"/>
              <a:ea typeface="楷体" panose="02010609060101010101" pitchFamily="49" charset="-122"/>
              <a:cs typeface="Times New Roman" pitchFamily="18" charset="0"/>
            </a:endParaRPr>
          </a:p>
          <a:p>
            <a:pPr indent="266700" eaLnBrk="0" hangingPunct="0">
              <a:lnSpc>
                <a:spcPts val="2950"/>
              </a:lnSpc>
              <a:spcBef>
                <a:spcPct val="0"/>
              </a:spcBef>
            </a:pPr>
            <a:r>
              <a:rPr kumimoji="0" lang="en-US" altLang="zh-CN" sz="2000" dirty="0">
                <a:ln w="1905"/>
                <a:solidFill>
                  <a:srgbClr val="FF0000"/>
                </a:solidFill>
                <a:effectLst/>
                <a:latin typeface="隶书" pitchFamily="49" charset="-122"/>
                <a:ea typeface="隶书" pitchFamily="49" charset="-122"/>
                <a:cs typeface="Times New Roman" pitchFamily="18" charset="0"/>
              </a:rPr>
              <a:t> </a:t>
            </a:r>
            <a:r>
              <a:rPr kumimoji="0" lang="zh-CN" altLang="en-US" sz="2000" b="1" dirty="0">
                <a:ln w="1905"/>
                <a:solidFill>
                  <a:srgbClr val="002060"/>
                </a:solidFill>
                <a:effectLst/>
                <a:latin typeface="楷体" panose="02010609060101010101" pitchFamily="49" charset="-122"/>
                <a:ea typeface="楷体" panose="02010609060101010101" pitchFamily="49" charset="-122"/>
                <a:cs typeface="Times New Roman" pitchFamily="18" charset="0"/>
              </a:rPr>
              <a:t>（</a:t>
            </a:r>
            <a:r>
              <a:rPr kumimoji="0" lang="en-US" altLang="zh-CN" sz="2000" b="1" dirty="0">
                <a:ln w="1905"/>
                <a:solidFill>
                  <a:srgbClr val="002060"/>
                </a:solidFill>
                <a:effectLst/>
                <a:latin typeface="楷体" panose="02010609060101010101" pitchFamily="49" charset="-122"/>
                <a:ea typeface="楷体" panose="02010609060101010101" pitchFamily="49" charset="-122"/>
                <a:cs typeface="Times New Roman" pitchFamily="18" charset="0"/>
              </a:rPr>
              <a:t>1</a:t>
            </a:r>
            <a:r>
              <a:rPr kumimoji="0" lang="zh-CN" altLang="en-US" sz="2000" b="1" dirty="0">
                <a:ln w="1905"/>
                <a:solidFill>
                  <a:srgbClr val="002060"/>
                </a:solidFill>
                <a:effectLst/>
                <a:latin typeface="楷体" panose="02010609060101010101" pitchFamily="49" charset="-122"/>
                <a:ea typeface="楷体" panose="02010609060101010101" pitchFamily="49" charset="-122"/>
                <a:cs typeface="Times New Roman" pitchFamily="18" charset="0"/>
              </a:rPr>
              <a:t>）矩阵用什么存储</a:t>
            </a:r>
            <a:r>
              <a:rPr kumimoji="0" lang="en-US" altLang="zh-CN" sz="2000" b="1" dirty="0">
                <a:ln w="1905"/>
                <a:solidFill>
                  <a:srgbClr val="002060"/>
                </a:solidFill>
                <a:effectLst/>
                <a:latin typeface="楷体" panose="02010609060101010101" pitchFamily="49" charset="-122"/>
                <a:ea typeface="楷体" panose="02010609060101010101" pitchFamily="49" charset="-122"/>
                <a:cs typeface="Times New Roman" pitchFamily="18" charset="0"/>
              </a:rPr>
              <a:t>?</a:t>
            </a:r>
          </a:p>
          <a:p>
            <a:pPr indent="266700" eaLnBrk="0" hangingPunct="0">
              <a:lnSpc>
                <a:spcPts val="2950"/>
              </a:lnSpc>
              <a:spcBef>
                <a:spcPct val="0"/>
              </a:spcBef>
            </a:pPr>
            <a:r>
              <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rPr>
              <a:t>    </a:t>
            </a:r>
            <a:r>
              <a:rPr kumimoji="0" lang="zh-CN" altLang="en-US" sz="2000" dirty="0">
                <a:ln w="1905"/>
                <a:solidFill>
                  <a:schemeClr val="tx1"/>
                </a:solidFill>
                <a:effectLst/>
                <a:ea typeface="楷体" pitchFamily="49" charset="-122"/>
                <a:cs typeface="Times New Roman" pitchFamily="18" charset="0"/>
              </a:rPr>
              <a:t>因矩阵的行、列数不确定，因此静态二维数组无法存储。应根据输入的行、列数利用动态内存分配来</a:t>
            </a:r>
            <a:r>
              <a:rPr kumimoji="0" lang="zh-CN" altLang="en-US" sz="2000" dirty="0">
                <a:ln w="1905"/>
                <a:solidFill>
                  <a:srgbClr val="002060"/>
                </a:solidFill>
                <a:effectLst/>
                <a:ea typeface="楷体" pitchFamily="49" charset="-122"/>
                <a:cs typeface="Times New Roman" pitchFamily="18" charset="0"/>
              </a:rPr>
              <a:t>动态建立一个二维数组</a:t>
            </a:r>
            <a:r>
              <a:rPr kumimoji="0" lang="zh-CN" altLang="en-US"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rPr>
              <a:t>。</a:t>
            </a:r>
            <a:endPar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endParaRPr>
          </a:p>
          <a:p>
            <a:pPr indent="266700" eaLnBrk="0" hangingPunct="0">
              <a:lnSpc>
                <a:spcPts val="2950"/>
              </a:lnSpc>
              <a:spcBef>
                <a:spcPct val="0"/>
              </a:spcBef>
            </a:pPr>
            <a:r>
              <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rPr>
              <a:t>    </a:t>
            </a:r>
            <a:r>
              <a:rPr kumimoji="0" lang="zh-CN" altLang="en-US" sz="2000" dirty="0">
                <a:ln w="1905"/>
                <a:solidFill>
                  <a:srgbClr val="C00000"/>
                </a:solidFill>
                <a:effectLst/>
                <a:ea typeface="楷体" pitchFamily="49" charset="-122"/>
                <a:cs typeface="Times New Roman" pitchFamily="18" charset="0"/>
              </a:rPr>
              <a:t>具体方法：</a:t>
            </a:r>
            <a:r>
              <a:rPr kumimoji="0" lang="zh-CN" altLang="en-US" sz="2000" dirty="0">
                <a:ln w="1905"/>
                <a:solidFill>
                  <a:schemeClr val="tx1"/>
                </a:solidFill>
                <a:effectLst/>
                <a:ea typeface="楷体" pitchFamily="49" charset="-122"/>
                <a:cs typeface="Times New Roman" pitchFamily="18" charset="0"/>
              </a:rPr>
              <a:t>先根据行数动态生成一个指针数组，然后再根据列数为指针数组中的每个元素（指针）动态生成一个一维数组（即二维数组的一行），这样动态二维数组就生成了。假设输入一个</a:t>
            </a:r>
            <a:r>
              <a:rPr kumimoji="0" lang="en-US" altLang="zh-CN" sz="2000" dirty="0">
                <a:ln w="1905"/>
                <a:solidFill>
                  <a:schemeClr val="tx1"/>
                </a:solidFill>
                <a:effectLst/>
                <a:ea typeface="楷体" pitchFamily="49" charset="-122"/>
                <a:cs typeface="Times New Roman" pitchFamily="18" charset="0"/>
              </a:rPr>
              <a:t>3</a:t>
            </a:r>
            <a:r>
              <a:rPr kumimoji="0" lang="en-US" altLang="zh-CN" sz="2000" dirty="0">
                <a:ln w="1905"/>
                <a:solidFill>
                  <a:schemeClr val="tx1"/>
                </a:solidFill>
                <a:effectLst/>
                <a:ea typeface="楷体" pitchFamily="49" charset="-122"/>
                <a:cs typeface="Times New Roman" pitchFamily="18" charset="0"/>
                <a:sym typeface="Wingdings 2" pitchFamily="18" charset="2"/>
              </a:rPr>
              <a:t></a:t>
            </a:r>
            <a:r>
              <a:rPr kumimoji="0" lang="en-US" altLang="zh-CN" sz="2000" dirty="0">
                <a:ln w="1905"/>
                <a:solidFill>
                  <a:schemeClr val="tx1"/>
                </a:solidFill>
                <a:effectLst/>
                <a:ea typeface="楷体" pitchFamily="49" charset="-122"/>
                <a:cs typeface="Times New Roman" pitchFamily="18" charset="0"/>
              </a:rPr>
              <a:t>4</a:t>
            </a:r>
            <a:r>
              <a:rPr kumimoji="0" lang="zh-CN" altLang="en-US" sz="2000" dirty="0">
                <a:ln w="1905"/>
                <a:solidFill>
                  <a:schemeClr val="tx1"/>
                </a:solidFill>
                <a:effectLst/>
                <a:ea typeface="楷体" pitchFamily="49" charset="-122"/>
                <a:cs typeface="Times New Roman" pitchFamily="18" charset="0"/>
                <a:sym typeface="Wingdings 2" pitchFamily="18" charset="2"/>
              </a:rPr>
              <a:t>的矩阵，其内存映像如下图所示。</a:t>
            </a:r>
            <a:endParaRPr kumimoji="0" lang="en-US" altLang="zh-CN" sz="2000" dirty="0">
              <a:ln w="1905"/>
              <a:solidFill>
                <a:schemeClr val="tx1"/>
              </a:solidFill>
              <a:effectLst/>
              <a:ea typeface="楷体" pitchFamily="49" charset="-122"/>
              <a:cs typeface="Times New Roman" pitchFamily="18" charset="0"/>
              <a:sym typeface="Wingdings 2" pitchFamily="18" charset="2"/>
            </a:endParaRPr>
          </a:p>
          <a:p>
            <a:pPr indent="266700" eaLnBrk="0" hangingPunct="0">
              <a:lnSpc>
                <a:spcPts val="2950"/>
              </a:lnSpc>
              <a:spcBef>
                <a:spcPct val="0"/>
              </a:spcBef>
            </a:pPr>
            <a:endPar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sym typeface="Wingdings 2" pitchFamily="18" charset="2"/>
            </a:endParaRPr>
          </a:p>
          <a:p>
            <a:pPr indent="266700" eaLnBrk="0" hangingPunct="0">
              <a:lnSpc>
                <a:spcPts val="2950"/>
              </a:lnSpc>
              <a:spcBef>
                <a:spcPct val="0"/>
              </a:spcBef>
            </a:pPr>
            <a:endPar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sym typeface="Wingdings 2" pitchFamily="18" charset="2"/>
            </a:endParaRPr>
          </a:p>
          <a:p>
            <a:pPr indent="266700" eaLnBrk="0" hangingPunct="0">
              <a:lnSpc>
                <a:spcPts val="2950"/>
              </a:lnSpc>
            </a:pPr>
            <a:r>
              <a:rPr kumimoji="0" lang="zh-CN" altLang="en-US" sz="2000" b="1" dirty="0">
                <a:ln w="1905"/>
                <a:solidFill>
                  <a:srgbClr val="002060"/>
                </a:solidFill>
                <a:latin typeface="楷体" panose="02010609060101010101" pitchFamily="49" charset="-122"/>
                <a:ea typeface="楷体" panose="02010609060101010101" pitchFamily="49" charset="-122"/>
                <a:cs typeface="Times New Roman" pitchFamily="18" charset="0"/>
                <a:sym typeface="Wingdings 2" pitchFamily="18" charset="2"/>
              </a:rPr>
              <a:t> （</a:t>
            </a:r>
            <a:r>
              <a:rPr kumimoji="0" lang="en-US" altLang="zh-CN" sz="2000" b="1" dirty="0">
                <a:ln w="1905"/>
                <a:solidFill>
                  <a:srgbClr val="002060"/>
                </a:solidFill>
                <a:latin typeface="楷体" panose="02010609060101010101" pitchFamily="49" charset="-122"/>
                <a:ea typeface="楷体" panose="02010609060101010101" pitchFamily="49" charset="-122"/>
                <a:cs typeface="Times New Roman" pitchFamily="18" charset="0"/>
                <a:sym typeface="Wingdings 2" pitchFamily="18" charset="2"/>
              </a:rPr>
              <a:t>2</a:t>
            </a:r>
            <a:r>
              <a:rPr kumimoji="0" lang="zh-CN" altLang="en-US" sz="2000" b="1" dirty="0">
                <a:ln w="1905"/>
                <a:solidFill>
                  <a:srgbClr val="002060"/>
                </a:solidFill>
                <a:latin typeface="楷体" panose="02010609060101010101" pitchFamily="49" charset="-122"/>
                <a:ea typeface="楷体" panose="02010609060101010101" pitchFamily="49" charset="-122"/>
                <a:cs typeface="Times New Roman" pitchFamily="18" charset="0"/>
                <a:sym typeface="Wingdings 2" pitchFamily="18" charset="2"/>
              </a:rPr>
              <a:t>）如何求矩阵中各行元素之和的最大值？</a:t>
            </a:r>
            <a:endParaRPr kumimoji="0" lang="en-US" altLang="zh-CN" sz="2000" b="1" dirty="0">
              <a:ln w="1905"/>
              <a:solidFill>
                <a:srgbClr val="002060"/>
              </a:solidFill>
              <a:latin typeface="楷体" panose="02010609060101010101" pitchFamily="49" charset="-122"/>
              <a:ea typeface="楷体" panose="02010609060101010101" pitchFamily="49" charset="-122"/>
              <a:cs typeface="Times New Roman" pitchFamily="18" charset="0"/>
              <a:sym typeface="Wingdings 2" pitchFamily="18" charset="2"/>
            </a:endParaRPr>
          </a:p>
          <a:p>
            <a:pPr indent="266700" eaLnBrk="0" hangingPunct="0">
              <a:lnSpc>
                <a:spcPts val="2950"/>
              </a:lnSpc>
              <a:spcBef>
                <a:spcPct val="0"/>
              </a:spcBef>
            </a:pPr>
            <a:r>
              <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sym typeface="Wingdings 2" pitchFamily="18" charset="2"/>
              </a:rPr>
              <a:t>     </a:t>
            </a:r>
            <a:r>
              <a:rPr kumimoji="0" lang="zh-CN" altLang="en-US" sz="2000" dirty="0">
                <a:ln w="1905"/>
                <a:solidFill>
                  <a:schemeClr val="tx1"/>
                </a:solidFill>
                <a:effectLst/>
                <a:ea typeface="楷体" pitchFamily="49" charset="-122"/>
                <a:cs typeface="Times New Roman" pitchFamily="18" charset="0"/>
                <a:sym typeface="Wingdings 2" pitchFamily="18" charset="2"/>
              </a:rPr>
              <a:t>可以通过</a:t>
            </a:r>
            <a:r>
              <a:rPr kumimoji="0" lang="zh-CN" altLang="en-US" sz="2000" dirty="0">
                <a:ln w="1905"/>
                <a:solidFill>
                  <a:srgbClr val="002060"/>
                </a:solidFill>
                <a:effectLst/>
                <a:ea typeface="楷体" pitchFamily="49" charset="-122"/>
                <a:cs typeface="Times New Roman" pitchFamily="18" charset="0"/>
                <a:sym typeface="Wingdings 2" pitchFamily="18" charset="2"/>
              </a:rPr>
              <a:t>自定义函数</a:t>
            </a:r>
            <a:r>
              <a:rPr kumimoji="0" lang="en-US" altLang="zh-CN" sz="2000" dirty="0" err="1">
                <a:ln w="1905"/>
                <a:solidFill>
                  <a:srgbClr val="002060"/>
                </a:solidFill>
                <a:effectLst/>
                <a:ea typeface="楷体" pitchFamily="49" charset="-122"/>
                <a:cs typeface="Times New Roman" pitchFamily="18" charset="0"/>
                <a:sym typeface="Wingdings 2" pitchFamily="18" charset="2"/>
              </a:rPr>
              <a:t>GetMaxRow</a:t>
            </a:r>
            <a:r>
              <a:rPr kumimoji="0" lang="zh-CN" altLang="en-US" sz="2000" dirty="0">
                <a:ln w="1905"/>
                <a:solidFill>
                  <a:schemeClr val="tx1"/>
                </a:solidFill>
                <a:effectLst/>
                <a:ea typeface="楷体" pitchFamily="49" charset="-122"/>
                <a:cs typeface="Times New Roman" pitchFamily="18" charset="0"/>
                <a:sym typeface="Wingdings 2" pitchFamily="18" charset="2"/>
              </a:rPr>
              <a:t>来完成，其思想是设定一变量</a:t>
            </a:r>
            <a:r>
              <a:rPr kumimoji="0" lang="en-US" altLang="zh-CN" sz="2000" dirty="0">
                <a:ln w="1905"/>
                <a:solidFill>
                  <a:schemeClr val="tx1"/>
                </a:solidFill>
                <a:effectLst/>
                <a:ea typeface="楷体" pitchFamily="49" charset="-122"/>
                <a:cs typeface="Times New Roman" pitchFamily="18" charset="0"/>
                <a:sym typeface="Wingdings 2" pitchFamily="18" charset="2"/>
              </a:rPr>
              <a:t>max</a:t>
            </a:r>
            <a:r>
              <a:rPr kumimoji="0" lang="zh-CN" altLang="en-US" sz="2000" dirty="0">
                <a:ln w="1905"/>
                <a:solidFill>
                  <a:schemeClr val="tx1"/>
                </a:solidFill>
                <a:effectLst/>
                <a:ea typeface="楷体" pitchFamily="49" charset="-122"/>
                <a:cs typeface="Times New Roman" pitchFamily="18" charset="0"/>
                <a:sym typeface="Wingdings 2" pitchFamily="18" charset="2"/>
              </a:rPr>
              <a:t>用于存储当前求得的行元素之和的最大值（初始值为数组的第</a:t>
            </a:r>
            <a:r>
              <a:rPr kumimoji="0" lang="en-US" altLang="zh-CN" sz="2000" dirty="0">
                <a:ln w="1905"/>
                <a:solidFill>
                  <a:schemeClr val="tx1"/>
                </a:solidFill>
                <a:effectLst/>
                <a:ea typeface="楷体" pitchFamily="49" charset="-122"/>
                <a:cs typeface="Times New Roman" pitchFamily="18" charset="0"/>
                <a:sym typeface="Wingdings 2" pitchFamily="18" charset="2"/>
              </a:rPr>
              <a:t>0</a:t>
            </a:r>
            <a:r>
              <a:rPr kumimoji="0" lang="zh-CN" altLang="en-US" sz="2000" dirty="0">
                <a:ln w="1905"/>
                <a:solidFill>
                  <a:schemeClr val="tx1"/>
                </a:solidFill>
                <a:effectLst/>
                <a:ea typeface="楷体" pitchFamily="49" charset="-122"/>
                <a:cs typeface="Times New Roman" pitchFamily="18" charset="0"/>
                <a:sym typeface="Wingdings 2" pitchFamily="18" charset="2"/>
              </a:rPr>
              <a:t>行元素之和），然后再逐一计算其它行元素之和，假设为</a:t>
            </a:r>
            <a:r>
              <a:rPr kumimoji="0" lang="en-US" altLang="zh-CN" sz="2000" dirty="0">
                <a:ln w="1905"/>
                <a:solidFill>
                  <a:schemeClr val="tx1"/>
                </a:solidFill>
                <a:effectLst/>
                <a:ea typeface="楷体" pitchFamily="49" charset="-122"/>
                <a:cs typeface="Times New Roman" pitchFamily="18" charset="0"/>
                <a:sym typeface="Wingdings 2" pitchFamily="18" charset="2"/>
              </a:rPr>
              <a:t>t</a:t>
            </a:r>
            <a:r>
              <a:rPr kumimoji="0" lang="zh-CN" altLang="en-US" sz="2000" dirty="0">
                <a:ln w="1905"/>
                <a:solidFill>
                  <a:schemeClr val="tx1"/>
                </a:solidFill>
                <a:effectLst/>
                <a:ea typeface="楷体" pitchFamily="49" charset="-122"/>
                <a:cs typeface="Times New Roman" pitchFamily="18" charset="0"/>
                <a:sym typeface="Wingdings 2" pitchFamily="18" charset="2"/>
              </a:rPr>
              <a:t>，如果</a:t>
            </a:r>
            <a:r>
              <a:rPr kumimoji="0" lang="en-US" altLang="zh-CN" sz="2000" dirty="0">
                <a:ln w="1905"/>
                <a:solidFill>
                  <a:schemeClr val="tx1"/>
                </a:solidFill>
                <a:effectLst/>
                <a:ea typeface="楷体" pitchFamily="49" charset="-122"/>
                <a:cs typeface="Times New Roman" pitchFamily="18" charset="0"/>
                <a:sym typeface="Wingdings 2" pitchFamily="18" charset="2"/>
              </a:rPr>
              <a:t>t</a:t>
            </a:r>
            <a:r>
              <a:rPr kumimoji="0" lang="zh-CN" altLang="en-US" sz="2000" dirty="0">
                <a:ln w="1905"/>
                <a:solidFill>
                  <a:schemeClr val="tx1"/>
                </a:solidFill>
                <a:effectLst/>
                <a:ea typeface="楷体" pitchFamily="49" charset="-122"/>
                <a:cs typeface="Times New Roman" pitchFamily="18" charset="0"/>
                <a:sym typeface="Wingdings 2" pitchFamily="18" charset="2"/>
              </a:rPr>
              <a:t>大于</a:t>
            </a:r>
            <a:r>
              <a:rPr kumimoji="0" lang="en-US" altLang="zh-CN" sz="2000" dirty="0">
                <a:ln w="1905"/>
                <a:solidFill>
                  <a:schemeClr val="tx1"/>
                </a:solidFill>
                <a:effectLst/>
                <a:ea typeface="楷体" pitchFamily="49" charset="-122"/>
                <a:cs typeface="Times New Roman" pitchFamily="18" charset="0"/>
                <a:sym typeface="Wingdings 2" pitchFamily="18" charset="2"/>
              </a:rPr>
              <a:t>max</a:t>
            </a:r>
            <a:r>
              <a:rPr kumimoji="0" lang="zh-CN" altLang="en-US" sz="2000" dirty="0">
                <a:ln w="1905"/>
                <a:solidFill>
                  <a:schemeClr val="tx1"/>
                </a:solidFill>
                <a:effectLst/>
                <a:ea typeface="楷体" pitchFamily="49" charset="-122"/>
                <a:cs typeface="Times New Roman" pitchFamily="18" charset="0"/>
                <a:sym typeface="Wingdings 2" pitchFamily="18" charset="2"/>
              </a:rPr>
              <a:t>，则将</a:t>
            </a:r>
            <a:r>
              <a:rPr kumimoji="0" lang="en-US" altLang="zh-CN" sz="2000" dirty="0">
                <a:ln w="1905"/>
                <a:solidFill>
                  <a:schemeClr val="tx1"/>
                </a:solidFill>
                <a:effectLst/>
                <a:ea typeface="楷体" pitchFamily="49" charset="-122"/>
                <a:cs typeface="Times New Roman" pitchFamily="18" charset="0"/>
                <a:sym typeface="Wingdings 2" pitchFamily="18" charset="2"/>
              </a:rPr>
              <a:t>t</a:t>
            </a:r>
            <a:r>
              <a:rPr kumimoji="0" lang="zh-CN" altLang="en-US" sz="2000" dirty="0">
                <a:ln w="1905"/>
                <a:solidFill>
                  <a:schemeClr val="tx1"/>
                </a:solidFill>
                <a:effectLst/>
                <a:ea typeface="楷体" pitchFamily="49" charset="-122"/>
                <a:cs typeface="Times New Roman" pitchFamily="18" charset="0"/>
                <a:sym typeface="Wingdings 2" pitchFamily="18" charset="2"/>
              </a:rPr>
              <a:t>赋值给</a:t>
            </a:r>
            <a:r>
              <a:rPr kumimoji="0" lang="en-US" altLang="zh-CN" sz="2000" dirty="0">
                <a:ln w="1905"/>
                <a:solidFill>
                  <a:schemeClr val="tx1"/>
                </a:solidFill>
                <a:effectLst/>
                <a:ea typeface="楷体" pitchFamily="49" charset="-122"/>
                <a:cs typeface="Times New Roman" pitchFamily="18" charset="0"/>
                <a:sym typeface="Wingdings 2" pitchFamily="18" charset="2"/>
              </a:rPr>
              <a:t>max</a:t>
            </a:r>
            <a:r>
              <a:rPr kumimoji="0" lang="zh-CN" altLang="en-US" sz="2000" dirty="0">
                <a:ln w="1905"/>
                <a:solidFill>
                  <a:schemeClr val="tx1"/>
                </a:solidFill>
                <a:effectLst/>
                <a:ea typeface="楷体" pitchFamily="49" charset="-122"/>
                <a:cs typeface="Times New Roman" pitchFamily="18" charset="0"/>
                <a:sym typeface="Wingdings 2" pitchFamily="18" charset="2"/>
              </a:rPr>
              <a:t>，如此就可以求得各行元素之和的最大值</a:t>
            </a:r>
            <a:r>
              <a:rPr kumimoji="0" lang="en-US" altLang="zh-CN" sz="2000" dirty="0">
                <a:ln w="1905"/>
                <a:solidFill>
                  <a:schemeClr val="tx1"/>
                </a:solidFill>
                <a:effectLst/>
                <a:ea typeface="楷体" pitchFamily="49" charset="-122"/>
                <a:cs typeface="Times New Roman" pitchFamily="18" charset="0"/>
                <a:sym typeface="Wingdings 2" pitchFamily="18" charset="2"/>
              </a:rPr>
              <a:t>max</a:t>
            </a:r>
            <a:r>
              <a:rPr kumimoji="0" lang="zh-CN" altLang="en-US" sz="2000" dirty="0">
                <a:ln w="1905"/>
                <a:solidFill>
                  <a:schemeClr val="tx1"/>
                </a:solidFill>
                <a:effectLst/>
                <a:ea typeface="楷体" pitchFamily="49" charset="-122"/>
                <a:cs typeface="Times New Roman" pitchFamily="18" charset="0"/>
                <a:sym typeface="Wingdings 2" pitchFamily="18" charset="2"/>
              </a:rPr>
              <a:t>。</a:t>
            </a:r>
            <a:r>
              <a:rPr kumimoji="0" lang="zh-CN" altLang="en-US" sz="2000" dirty="0">
                <a:ln w="1905"/>
                <a:solidFill>
                  <a:schemeClr val="tx1"/>
                </a:solidFill>
                <a:effectLst/>
                <a:ea typeface="楷体" pitchFamily="49" charset="-122"/>
                <a:cs typeface="宋体" pitchFamily="2" charset="-122"/>
                <a:sym typeface="Wingdings 2" pitchFamily="18" charset="2"/>
              </a:rPr>
              <a:t> </a:t>
            </a:r>
            <a:endParaRPr kumimoji="0" lang="zh-CN" altLang="en-US" sz="2000" dirty="0">
              <a:ln w="1905"/>
              <a:solidFill>
                <a:schemeClr val="tx1"/>
              </a:solidFill>
              <a:effectLst/>
              <a:ea typeface="楷体" pitchFamily="49" charset="-122"/>
              <a:cs typeface="Times New Roman" pitchFamily="18" charset="0"/>
              <a:sym typeface="Wingdings 2" pitchFamily="18" charset="2"/>
            </a:endParaRPr>
          </a:p>
        </p:txBody>
      </p:sp>
      <p:sp>
        <p:nvSpPr>
          <p:cNvPr id="1205341" name="Text Box 93"/>
          <p:cNvSpPr txBox="1">
            <a:spLocks noChangeArrowheads="1"/>
          </p:cNvSpPr>
          <p:nvPr/>
        </p:nvSpPr>
        <p:spPr bwMode="auto">
          <a:xfrm>
            <a:off x="856430" y="798737"/>
            <a:ext cx="5599610" cy="461665"/>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a:t>【</a:t>
            </a:r>
            <a:r>
              <a:rPr lang="zh-CN" altLang="en-US"/>
              <a:t>例</a:t>
            </a:r>
            <a:r>
              <a:rPr lang="en-US" altLang="zh-CN"/>
              <a:t>】</a:t>
            </a:r>
            <a:r>
              <a:rPr lang="zh-CN" altLang="en-US"/>
              <a:t>求某矩阵中行元素之和的最大值 </a:t>
            </a:r>
          </a:p>
        </p:txBody>
      </p:sp>
      <p:sp>
        <p:nvSpPr>
          <p:cNvPr id="1141771" name="Rectangle 11"/>
          <p:cNvSpPr>
            <a:spLocks noChangeArrowheads="1"/>
          </p:cNvSpPr>
          <p:nvPr/>
        </p:nvSpPr>
        <p:spPr bwMode="auto">
          <a:xfrm>
            <a:off x="-8805" y="34701"/>
            <a:ext cx="184731" cy="38779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1" name="Group 110"/>
          <p:cNvGraphicFramePr>
            <a:graphicFrameLocks noGrp="1"/>
          </p:cNvGraphicFramePr>
          <p:nvPr>
            <p:extLst>
              <p:ext uri="{D42A27DB-BD31-4B8C-83A1-F6EECF244321}">
                <p14:modId xmlns:p14="http://schemas.microsoft.com/office/powerpoint/2010/main" val="3596066357"/>
              </p:ext>
            </p:extLst>
          </p:nvPr>
        </p:nvGraphicFramePr>
        <p:xfrm>
          <a:off x="6917381" y="3905491"/>
          <a:ext cx="865188" cy="1368426"/>
        </p:xfrm>
        <a:graphic>
          <a:graphicData uri="http://schemas.openxmlformats.org/drawingml/2006/table">
            <a:tbl>
              <a:tblPr/>
              <a:tblGrid>
                <a:gridCol w="865188">
                  <a:extLst>
                    <a:ext uri="{9D8B030D-6E8A-4147-A177-3AD203B41FA5}">
                      <a16:colId xmlns:a16="http://schemas.microsoft.com/office/drawing/2014/main" val="20000"/>
                    </a:ext>
                  </a:extLst>
                </a:gridCol>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p[0]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p[1]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p[2]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32" name="Group 137"/>
          <p:cNvGraphicFramePr>
            <a:graphicFrameLocks noGrp="1"/>
          </p:cNvGraphicFramePr>
          <p:nvPr>
            <p:extLst>
              <p:ext uri="{D42A27DB-BD31-4B8C-83A1-F6EECF244321}">
                <p14:modId xmlns:p14="http://schemas.microsoft.com/office/powerpoint/2010/main" val="3250972712"/>
              </p:ext>
            </p:extLst>
          </p:nvPr>
        </p:nvGraphicFramePr>
        <p:xfrm>
          <a:off x="8400107" y="3876916"/>
          <a:ext cx="1584325" cy="1368426"/>
        </p:xfrm>
        <a:graphic>
          <a:graphicData uri="http://schemas.openxmlformats.org/drawingml/2006/table">
            <a:tbl>
              <a:tblPr/>
              <a:tblGrid>
                <a:gridCol w="396875">
                  <a:extLst>
                    <a:ext uri="{9D8B030D-6E8A-4147-A177-3AD203B41FA5}">
                      <a16:colId xmlns:a16="http://schemas.microsoft.com/office/drawing/2014/main" val="20000"/>
                    </a:ext>
                  </a:extLst>
                </a:gridCol>
                <a:gridCol w="395288">
                  <a:extLst>
                    <a:ext uri="{9D8B030D-6E8A-4147-A177-3AD203B41FA5}">
                      <a16:colId xmlns:a16="http://schemas.microsoft.com/office/drawing/2014/main" val="20001"/>
                    </a:ext>
                  </a:extLst>
                </a:gridCol>
                <a:gridCol w="396875">
                  <a:extLst>
                    <a:ext uri="{9D8B030D-6E8A-4147-A177-3AD203B41FA5}">
                      <a16:colId xmlns:a16="http://schemas.microsoft.com/office/drawing/2014/main" val="20002"/>
                    </a:ext>
                  </a:extLst>
                </a:gridCol>
                <a:gridCol w="395287">
                  <a:extLst>
                    <a:ext uri="{9D8B030D-6E8A-4147-A177-3AD203B41FA5}">
                      <a16:colId xmlns:a16="http://schemas.microsoft.com/office/drawing/2014/main" val="20003"/>
                    </a:ext>
                  </a:extLst>
                </a:gridCol>
              </a:tblGrid>
              <a:tr h="427038">
                <a:tc>
                  <a:txBody>
                    <a:bodyPr/>
                    <a:lstStyle/>
                    <a:p>
                      <a:pPr algn="ctr">
                        <a:spcAft>
                          <a:spcPts val="0"/>
                        </a:spcAft>
                      </a:pPr>
                      <a:r>
                        <a:rPr lang="en-US" sz="2000" kern="100">
                          <a:latin typeface="Times New Roman"/>
                          <a:ea typeface="宋体"/>
                        </a:rPr>
                        <a:t>3</a:t>
                      </a:r>
                      <a:endParaRPr lang="zh-CN" sz="2000" kern="100">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-4</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6</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8</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algn="ctr">
                        <a:spcAft>
                          <a:spcPts val="0"/>
                        </a:spcAft>
                      </a:pPr>
                      <a:r>
                        <a:rPr lang="en-US" sz="2000" kern="100">
                          <a:latin typeface="Times New Roman"/>
                          <a:ea typeface="宋体"/>
                        </a:rPr>
                        <a:t>4</a:t>
                      </a:r>
                      <a:endParaRPr lang="zh-CN" sz="2000" kern="100">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6</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-2</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dirty="0">
                          <a:latin typeface="Times New Roman"/>
                          <a:ea typeface="宋体"/>
                        </a:rPr>
                        <a:t>7</a:t>
                      </a:r>
                      <a:endParaRPr lang="zh-CN" sz="2000" kern="100" dirty="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488">
                <a:tc>
                  <a:txBody>
                    <a:bodyPr/>
                    <a:lstStyle/>
                    <a:p>
                      <a:pPr algn="ctr">
                        <a:spcAft>
                          <a:spcPts val="0"/>
                        </a:spcAft>
                      </a:pPr>
                      <a:r>
                        <a:rPr lang="en-US" sz="2000" kern="100">
                          <a:latin typeface="Times New Roman"/>
                          <a:ea typeface="宋体"/>
                        </a:rPr>
                        <a:t>0</a:t>
                      </a:r>
                      <a:endParaRPr lang="zh-CN" sz="2000" kern="100">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9</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8</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dirty="0">
                          <a:latin typeface="Times New Roman"/>
                          <a:ea typeface="宋体"/>
                        </a:rPr>
                        <a:t>6</a:t>
                      </a:r>
                      <a:endParaRPr lang="zh-CN" sz="2000" kern="100" dirty="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33" name="Group 140"/>
          <p:cNvGrpSpPr>
            <a:grpSpLocks/>
          </p:cNvGrpSpPr>
          <p:nvPr/>
        </p:nvGrpSpPr>
        <p:grpSpPr bwMode="auto">
          <a:xfrm>
            <a:off x="6145849" y="3861051"/>
            <a:ext cx="742948" cy="400051"/>
            <a:chOff x="3210" y="2014"/>
            <a:chExt cx="468" cy="252"/>
          </a:xfrm>
        </p:grpSpPr>
        <p:sp>
          <p:nvSpPr>
            <p:cNvPr id="34" name="Line 138"/>
            <p:cNvSpPr>
              <a:spLocks noChangeShapeType="1"/>
            </p:cNvSpPr>
            <p:nvPr/>
          </p:nvSpPr>
          <p:spPr bwMode="auto">
            <a:xfrm>
              <a:off x="3406" y="2124"/>
              <a:ext cx="272"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b="1">
                <a:solidFill>
                  <a:srgbClr val="C00000"/>
                </a:solidFill>
              </a:endParaRPr>
            </a:p>
          </p:txBody>
        </p:sp>
        <p:sp>
          <p:nvSpPr>
            <p:cNvPr id="35" name="Text Box 139"/>
            <p:cNvSpPr txBox="1">
              <a:spLocks noChangeArrowheads="1"/>
            </p:cNvSpPr>
            <p:nvPr/>
          </p:nvSpPr>
          <p:spPr bwMode="auto">
            <a:xfrm flipH="1">
              <a:off x="3210" y="2014"/>
              <a:ext cx="173" cy="252"/>
            </a:xfrm>
            <a:prstGeom prst="rect">
              <a:avLst/>
            </a:prstGeom>
            <a:noFill/>
            <a:ln w="9525" algn="ctr">
              <a:noFill/>
              <a:miter lim="800000"/>
              <a:headEnd/>
              <a:tailEnd/>
            </a:ln>
            <a:effectLst/>
          </p:spPr>
          <p:txBody>
            <a:bodyPr wrap="square">
              <a:spAutoFit/>
            </a:bodyPr>
            <a:lstStyle/>
            <a:p>
              <a:pPr marL="342900" indent="-342900">
                <a:spcBef>
                  <a:spcPct val="50000"/>
                </a:spcBef>
              </a:pPr>
              <a:r>
                <a:rPr lang="en-US" altLang="zh-CN" sz="2000" b="1" dirty="0">
                  <a:solidFill>
                    <a:srgbClr val="C00000"/>
                  </a:solidFill>
                </a:rPr>
                <a:t>p</a:t>
              </a:r>
            </a:p>
          </p:txBody>
        </p:sp>
      </p:grpSp>
      <p:sp>
        <p:nvSpPr>
          <p:cNvPr id="36" name="Line 143"/>
          <p:cNvSpPr>
            <a:spLocks noChangeShapeType="1"/>
          </p:cNvSpPr>
          <p:nvPr/>
        </p:nvSpPr>
        <p:spPr bwMode="auto">
          <a:xfrm>
            <a:off x="7638107" y="4092816"/>
            <a:ext cx="720725"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37" name="Line 144"/>
          <p:cNvSpPr>
            <a:spLocks noChangeShapeType="1"/>
          </p:cNvSpPr>
          <p:nvPr/>
        </p:nvSpPr>
        <p:spPr bwMode="auto">
          <a:xfrm>
            <a:off x="7653982" y="4551604"/>
            <a:ext cx="720725"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38" name="Line 145"/>
          <p:cNvSpPr>
            <a:spLocks noChangeShapeType="1"/>
          </p:cNvSpPr>
          <p:nvPr/>
        </p:nvSpPr>
        <p:spPr bwMode="auto">
          <a:xfrm>
            <a:off x="7655570" y="5038966"/>
            <a:ext cx="720725"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16" name="Rectangle 4">
            <a:extLst>
              <a:ext uri="{FF2B5EF4-FFF2-40B4-BE49-F238E27FC236}">
                <a16:creationId xmlns:a16="http://schemas.microsoft.com/office/drawing/2014/main" id="{A9D6B81A-7560-44AE-B826-03868BA5617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41776">
                                            <p:txEl>
                                              <p:pRg st="0" end="0"/>
                                            </p:txEl>
                                          </p:spTgt>
                                        </p:tgtEl>
                                        <p:attrNameLst>
                                          <p:attrName>style.visibility</p:attrName>
                                        </p:attrNameLst>
                                      </p:cBhvr>
                                      <p:to>
                                        <p:strVal val="visible"/>
                                      </p:to>
                                    </p:set>
                                    <p:anim calcmode="lin" valueType="num">
                                      <p:cBhvr additive="base">
                                        <p:cTn id="7" dur="500" fill="hold"/>
                                        <p:tgtEl>
                                          <p:spTgt spid="11417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1776">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41776">
                                            <p:txEl>
                                              <p:pRg st="2" end="2"/>
                                            </p:txEl>
                                          </p:spTgt>
                                        </p:tgtEl>
                                        <p:attrNameLst>
                                          <p:attrName>style.visibility</p:attrName>
                                        </p:attrNameLst>
                                      </p:cBhvr>
                                      <p:to>
                                        <p:strVal val="visible"/>
                                      </p:to>
                                    </p:set>
                                    <p:anim calcmode="lin" valueType="num">
                                      <p:cBhvr additive="base">
                                        <p:cTn id="13" dur="500" fill="hold"/>
                                        <p:tgtEl>
                                          <p:spTgt spid="114177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41776">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41776">
                                            <p:txEl>
                                              <p:pRg st="3" end="3"/>
                                            </p:txEl>
                                          </p:spTgt>
                                        </p:tgtEl>
                                        <p:attrNameLst>
                                          <p:attrName>style.visibility</p:attrName>
                                        </p:attrNameLst>
                                      </p:cBhvr>
                                      <p:to>
                                        <p:strVal val="visible"/>
                                      </p:to>
                                    </p:set>
                                    <p:anim calcmode="lin" valueType="num">
                                      <p:cBhvr additive="base">
                                        <p:cTn id="19" dur="500" fill="hold"/>
                                        <p:tgtEl>
                                          <p:spTgt spid="114177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41776">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41776">
                                            <p:txEl>
                                              <p:pRg st="4" end="4"/>
                                            </p:txEl>
                                          </p:spTgt>
                                        </p:tgtEl>
                                        <p:attrNameLst>
                                          <p:attrName>style.visibility</p:attrName>
                                        </p:attrNameLst>
                                      </p:cBhvr>
                                      <p:to>
                                        <p:strVal val="visible"/>
                                      </p:to>
                                    </p:set>
                                    <p:anim calcmode="lin" valueType="num">
                                      <p:cBhvr additive="base">
                                        <p:cTn id="25" dur="500" fill="hold"/>
                                        <p:tgtEl>
                                          <p:spTgt spid="114177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41776">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strips(downRight)">
                                      <p:cBhvr>
                                        <p:cTn id="31" dur="500"/>
                                        <p:tgtEl>
                                          <p:spTgt spid="33"/>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par>
                          <p:cTn id="32" fill="hold">
                            <p:stCondLst>
                              <p:cond delay="500"/>
                            </p:stCondLst>
                            <p:childTnLst>
                              <p:par>
                                <p:cTn id="33" presetID="4" presetClass="entr" presetSubtype="32" fill="hold"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box(out)">
                                      <p:cBhvr>
                                        <p:cTn id="35" dur="500"/>
                                        <p:tgtEl>
                                          <p:spTgt spid="31"/>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par>
                          <p:cTn id="36" fill="hold">
                            <p:stCondLst>
                              <p:cond delay="1000"/>
                            </p:stCondLst>
                            <p:childTnLst>
                              <p:par>
                                <p:cTn id="37" presetID="4" presetClass="entr" presetSubtype="32" fill="hold" nodeType="after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box(out)">
                                      <p:cBhvr>
                                        <p:cTn id="39" dur="500"/>
                                        <p:tgtEl>
                                          <p:spTgt spid="32"/>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par>
                          <p:cTn id="40" fill="hold">
                            <p:stCondLst>
                              <p:cond delay="1500"/>
                            </p:stCondLst>
                            <p:childTnLst>
                              <p:par>
                                <p:cTn id="41" presetID="18" presetClass="entr" presetSubtype="6" fill="hold" grpId="0" nodeType="after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strips(downRight)">
                                      <p:cBhvr>
                                        <p:cTn id="43" dur="500"/>
                                        <p:tgtEl>
                                          <p:spTgt spid="36"/>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par>
                          <p:cTn id="44" fill="hold">
                            <p:stCondLst>
                              <p:cond delay="2000"/>
                            </p:stCondLst>
                            <p:childTnLst>
                              <p:par>
                                <p:cTn id="45" presetID="18" presetClass="entr" presetSubtype="6" fill="hold" grpId="0" nodeType="after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strips(downRight)">
                                      <p:cBhvr>
                                        <p:cTn id="47" dur="500"/>
                                        <p:tgtEl>
                                          <p:spTgt spid="37"/>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2500"/>
                            </p:stCondLst>
                            <p:childTnLst>
                              <p:par>
                                <p:cTn id="49" presetID="18" presetClass="entr" presetSubtype="6" fill="hold" grpId="0" nodeType="after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strips(downRight)">
                                      <p:cBhvr>
                                        <p:cTn id="51" dur="500"/>
                                        <p:tgtEl>
                                          <p:spTgt spid="38"/>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141776">
                                            <p:txEl>
                                              <p:pRg st="7" end="7"/>
                                            </p:txEl>
                                          </p:spTgt>
                                        </p:tgtEl>
                                        <p:attrNameLst>
                                          <p:attrName>style.visibility</p:attrName>
                                        </p:attrNameLst>
                                      </p:cBhvr>
                                      <p:to>
                                        <p:strVal val="visible"/>
                                      </p:to>
                                    </p:set>
                                    <p:anim calcmode="lin" valueType="num">
                                      <p:cBhvr additive="base">
                                        <p:cTn id="56" dur="500" fill="hold"/>
                                        <p:tgtEl>
                                          <p:spTgt spid="1141776">
                                            <p:txEl>
                                              <p:pRg st="7" end="7"/>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1141776">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1141776">
                                            <p:txEl>
                                              <p:pRg st="8" end="8"/>
                                            </p:txEl>
                                          </p:spTgt>
                                        </p:tgtEl>
                                        <p:attrNameLst>
                                          <p:attrName>style.visibility</p:attrName>
                                        </p:attrNameLst>
                                      </p:cBhvr>
                                      <p:to>
                                        <p:strVal val="visible"/>
                                      </p:to>
                                    </p:set>
                                    <p:anim calcmode="lin" valueType="num">
                                      <p:cBhvr additive="base">
                                        <p:cTn id="62" dur="500" fill="hold"/>
                                        <p:tgtEl>
                                          <p:spTgt spid="1141776">
                                            <p:txEl>
                                              <p:pRg st="8" end="8"/>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1141776">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4">
            <a:extLst>
              <a:ext uri="{FF2B5EF4-FFF2-40B4-BE49-F238E27FC236}">
                <a16:creationId xmlns:a16="http://schemas.microsoft.com/office/drawing/2014/main" id="{5F025499-C4F9-4D38-88A0-54F71CF15149}"/>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
        <p:nvSpPr>
          <p:cNvPr id="1205250" name="Text Box 2" descr="信纸"/>
          <p:cNvSpPr txBox="1">
            <a:spLocks noChangeArrowheads="1"/>
          </p:cNvSpPr>
          <p:nvPr/>
        </p:nvSpPr>
        <p:spPr bwMode="auto">
          <a:xfrm>
            <a:off x="6188846" y="603920"/>
            <a:ext cx="5702850" cy="5878532"/>
          </a:xfrm>
          <a:prstGeom prst="rect">
            <a:avLst/>
          </a:prstGeom>
          <a:gradFill>
            <a:gsLst>
              <a:gs pos="0">
                <a:srgbClr val="CFCFD1"/>
              </a:gs>
              <a:gs pos="100000">
                <a:schemeClr val="bg1">
                  <a:lumMod val="95000"/>
                </a:schemeClr>
              </a:gs>
            </a:gsLst>
            <a:lin ang="16200000" scaled="1"/>
          </a:gra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dirty="0"/>
              <a:t>#include &lt;</a:t>
            </a:r>
            <a:r>
              <a:rPr lang="en-US" altLang="zh-CN" sz="2000" dirty="0" err="1"/>
              <a:t>stdio.h</a:t>
            </a:r>
            <a:r>
              <a:rPr lang="en-US" altLang="zh-CN" sz="2000" dirty="0"/>
              <a:t>&gt;</a:t>
            </a:r>
          </a:p>
          <a:p>
            <a:pPr marL="457200" indent="-457200"/>
            <a:r>
              <a:rPr lang="en-US" altLang="zh-CN" sz="2000" dirty="0"/>
              <a:t>#include &lt;</a:t>
            </a:r>
            <a:r>
              <a:rPr lang="en-US" altLang="zh-CN" sz="2000" dirty="0" err="1"/>
              <a:t>stdlib.h</a:t>
            </a:r>
            <a:r>
              <a:rPr lang="en-US" altLang="zh-CN" sz="2000" dirty="0"/>
              <a:t>&gt;</a:t>
            </a:r>
          </a:p>
          <a:p>
            <a:pPr marL="457200" indent="-457200"/>
            <a:r>
              <a:rPr lang="en-US" altLang="zh-CN" sz="2000" dirty="0"/>
              <a:t>#include &lt;</a:t>
            </a:r>
            <a:r>
              <a:rPr lang="en-US" altLang="zh-CN" sz="2000" dirty="0" err="1"/>
              <a:t>malloc.h</a:t>
            </a:r>
            <a:r>
              <a:rPr lang="en-US" altLang="zh-CN" sz="2000" dirty="0"/>
              <a:t>&gt;</a:t>
            </a:r>
          </a:p>
          <a:p>
            <a:pPr marL="457200" indent="-457200"/>
            <a:endParaRPr lang="en-US" altLang="zh-CN" sz="2000" dirty="0"/>
          </a:p>
          <a:p>
            <a:pPr marL="457200" indent="-457200"/>
            <a:r>
              <a:rPr lang="en-US" altLang="zh-CN" sz="2000" dirty="0" err="1"/>
              <a:t>int</a:t>
            </a:r>
            <a:r>
              <a:rPr lang="en-US" altLang="zh-CN" sz="2000" dirty="0"/>
              <a:t> </a:t>
            </a:r>
            <a:r>
              <a:rPr lang="en-US" altLang="zh-CN" sz="2000" dirty="0" err="1"/>
              <a:t>GetSumRow</a:t>
            </a:r>
            <a:r>
              <a:rPr lang="en-US" altLang="zh-CN" sz="2000" dirty="0"/>
              <a:t> (</a:t>
            </a:r>
            <a:r>
              <a:rPr lang="en-US" altLang="zh-CN" sz="2000" dirty="0" err="1"/>
              <a:t>int</a:t>
            </a:r>
            <a:r>
              <a:rPr lang="en-US" altLang="zh-CN" sz="2000" dirty="0"/>
              <a:t> *p, </a:t>
            </a:r>
            <a:r>
              <a:rPr lang="en-US" altLang="zh-CN" sz="2000" dirty="0" err="1"/>
              <a:t>int</a:t>
            </a:r>
            <a:r>
              <a:rPr lang="en-US" altLang="zh-CN" sz="2000" dirty="0"/>
              <a:t> num);</a:t>
            </a:r>
          </a:p>
          <a:p>
            <a:pPr marL="457200" indent="-457200"/>
            <a:r>
              <a:rPr lang="en-US" altLang="zh-CN" sz="2000" dirty="0" err="1"/>
              <a:t>int</a:t>
            </a:r>
            <a:r>
              <a:rPr lang="en-US" altLang="zh-CN" sz="2000" dirty="0"/>
              <a:t> </a:t>
            </a:r>
            <a:r>
              <a:rPr lang="en-US" altLang="zh-CN" sz="2000" dirty="0" err="1"/>
              <a:t>GetMaxRow</a:t>
            </a:r>
            <a:r>
              <a:rPr lang="en-US" altLang="zh-CN" sz="2000" dirty="0"/>
              <a:t> (</a:t>
            </a:r>
            <a:r>
              <a:rPr lang="en-US" altLang="zh-CN" sz="2000" dirty="0" err="1"/>
              <a:t>int</a:t>
            </a:r>
            <a:r>
              <a:rPr lang="en-US" altLang="zh-CN" sz="2000" dirty="0"/>
              <a:t> **p, </a:t>
            </a:r>
            <a:r>
              <a:rPr lang="en-US" altLang="zh-CN" sz="2000" dirty="0" err="1"/>
              <a:t>int</a:t>
            </a:r>
            <a:r>
              <a:rPr lang="en-US" altLang="zh-CN" sz="2000" dirty="0"/>
              <a:t> row, </a:t>
            </a:r>
            <a:r>
              <a:rPr lang="en-US" altLang="zh-CN" sz="2000" dirty="0" err="1"/>
              <a:t>int</a:t>
            </a:r>
            <a:r>
              <a:rPr lang="en-US" altLang="zh-CN" sz="2000" dirty="0"/>
              <a:t> </a:t>
            </a:r>
            <a:r>
              <a:rPr lang="en-US" altLang="zh-CN" sz="2000" dirty="0" err="1"/>
              <a:t>col</a:t>
            </a:r>
            <a:r>
              <a:rPr lang="en-US" altLang="zh-CN" sz="2000" dirty="0"/>
              <a:t>);</a:t>
            </a:r>
          </a:p>
          <a:p>
            <a:pPr marL="457200" indent="-457200"/>
            <a:endParaRPr lang="en-US" altLang="zh-CN" sz="2000" dirty="0"/>
          </a:p>
          <a:p>
            <a:pPr marL="457200" indent="-457200"/>
            <a:r>
              <a:rPr lang="en-US" altLang="zh-CN" sz="2000" dirty="0" err="1">
                <a:solidFill>
                  <a:srgbClr val="CC0099"/>
                </a:solidFill>
              </a:rPr>
              <a:t>int</a:t>
            </a:r>
            <a:r>
              <a:rPr lang="en-US" altLang="zh-CN" sz="2000" dirty="0">
                <a:solidFill>
                  <a:srgbClr val="CC0099"/>
                </a:solidFill>
              </a:rPr>
              <a:t> main ( )</a:t>
            </a:r>
          </a:p>
          <a:p>
            <a:pPr marL="457200" indent="-457200"/>
            <a:r>
              <a:rPr lang="en-US" altLang="zh-CN" sz="2000" dirty="0"/>
              <a:t>{</a:t>
            </a:r>
          </a:p>
          <a:p>
            <a:pPr marL="457200" indent="-457200"/>
            <a:r>
              <a:rPr lang="en-US" altLang="zh-CN" sz="2000" dirty="0"/>
              <a:t>  </a:t>
            </a:r>
            <a:r>
              <a:rPr lang="en-US" altLang="zh-CN" sz="2000" dirty="0" err="1"/>
              <a:t>int</a:t>
            </a:r>
            <a:r>
              <a:rPr lang="en-US" altLang="zh-CN" sz="2000" dirty="0"/>
              <a:t> row, </a:t>
            </a:r>
            <a:r>
              <a:rPr lang="en-US" altLang="zh-CN" sz="2000" dirty="0" err="1"/>
              <a:t>col</a:t>
            </a:r>
            <a:r>
              <a:rPr lang="en-US" altLang="zh-CN" sz="2000" dirty="0"/>
              <a:t>;</a:t>
            </a:r>
          </a:p>
          <a:p>
            <a:pPr marL="457200" indent="-457200"/>
            <a:r>
              <a:rPr lang="en-US" altLang="zh-CN" sz="2000" dirty="0"/>
              <a:t>  </a:t>
            </a:r>
            <a:r>
              <a:rPr lang="en-US" altLang="zh-CN" sz="2000" dirty="0" err="1"/>
              <a:t>int</a:t>
            </a:r>
            <a:r>
              <a:rPr lang="en-US" altLang="zh-CN" sz="2000" dirty="0"/>
              <a:t> </a:t>
            </a:r>
            <a:r>
              <a:rPr lang="en-US" altLang="zh-CN" sz="2000" dirty="0" err="1"/>
              <a:t>i</a:t>
            </a:r>
            <a:r>
              <a:rPr lang="en-US" altLang="zh-CN" sz="2000" dirty="0"/>
              <a:t>, j, **p, </a:t>
            </a:r>
            <a:r>
              <a:rPr lang="en-US" altLang="zh-CN" sz="2000" dirty="0" err="1"/>
              <a:t>maxrow</a:t>
            </a:r>
            <a:r>
              <a:rPr lang="en-US" altLang="zh-CN" sz="2000" dirty="0"/>
              <a:t>;</a:t>
            </a:r>
          </a:p>
          <a:p>
            <a:pPr marL="457200" indent="-457200"/>
            <a:r>
              <a:rPr lang="en-US" altLang="zh-CN" sz="2000" dirty="0"/>
              <a:t>  </a:t>
            </a:r>
            <a:r>
              <a:rPr lang="en-US" altLang="zh-CN" sz="2000" dirty="0" err="1">
                <a:solidFill>
                  <a:srgbClr val="339933"/>
                </a:solidFill>
              </a:rPr>
              <a:t>printf</a:t>
            </a:r>
            <a:r>
              <a:rPr lang="en-US" altLang="zh-CN" sz="2000" dirty="0">
                <a:solidFill>
                  <a:srgbClr val="339933"/>
                </a:solidFill>
              </a:rPr>
              <a:t> ("input row = ");</a:t>
            </a:r>
          </a:p>
          <a:p>
            <a:pPr marL="457200" indent="-457200"/>
            <a:r>
              <a:rPr lang="en-US" altLang="zh-CN" sz="2000" dirty="0">
                <a:solidFill>
                  <a:srgbClr val="339933"/>
                </a:solidFill>
              </a:rPr>
              <a:t>  </a:t>
            </a:r>
            <a:r>
              <a:rPr lang="en-US" altLang="zh-CN" sz="2000" dirty="0" err="1">
                <a:solidFill>
                  <a:srgbClr val="339933"/>
                </a:solidFill>
              </a:rPr>
              <a:t>scanf</a:t>
            </a:r>
            <a:r>
              <a:rPr lang="en-US" altLang="zh-CN" sz="2000" dirty="0">
                <a:solidFill>
                  <a:srgbClr val="339933"/>
                </a:solidFill>
              </a:rPr>
              <a:t> ("%</a:t>
            </a:r>
            <a:r>
              <a:rPr lang="en-US" altLang="zh-CN" sz="2000" dirty="0" err="1">
                <a:solidFill>
                  <a:srgbClr val="339933"/>
                </a:solidFill>
              </a:rPr>
              <a:t>d",&amp;row</a:t>
            </a:r>
            <a:r>
              <a:rPr lang="en-US" altLang="zh-CN" sz="2000" dirty="0">
                <a:solidFill>
                  <a:srgbClr val="339933"/>
                </a:solidFill>
              </a:rPr>
              <a:t>);</a:t>
            </a:r>
          </a:p>
          <a:p>
            <a:pPr marL="457200" indent="-457200"/>
            <a:r>
              <a:rPr lang="en-US" altLang="zh-CN" sz="2000" dirty="0"/>
              <a:t>  </a:t>
            </a:r>
            <a:r>
              <a:rPr lang="en-US" altLang="zh-CN" sz="2000" dirty="0" err="1">
                <a:solidFill>
                  <a:schemeClr val="accent1">
                    <a:lumMod val="50000"/>
                  </a:schemeClr>
                </a:solidFill>
              </a:rPr>
              <a:t>printf</a:t>
            </a:r>
            <a:r>
              <a:rPr lang="en-US" altLang="zh-CN" sz="2000" dirty="0">
                <a:solidFill>
                  <a:schemeClr val="accent1">
                    <a:lumMod val="50000"/>
                  </a:schemeClr>
                </a:solidFill>
              </a:rPr>
              <a:t> ("input </a:t>
            </a:r>
            <a:r>
              <a:rPr lang="en-US" altLang="zh-CN" sz="2000" dirty="0" err="1">
                <a:solidFill>
                  <a:schemeClr val="accent1">
                    <a:lumMod val="50000"/>
                  </a:schemeClr>
                </a:solidFill>
              </a:rPr>
              <a:t>col</a:t>
            </a:r>
            <a:r>
              <a:rPr lang="en-US" altLang="zh-CN" sz="2000" dirty="0">
                <a:solidFill>
                  <a:schemeClr val="accent1">
                    <a:lumMod val="50000"/>
                  </a:schemeClr>
                </a:solidFill>
              </a:rPr>
              <a:t> = ");</a:t>
            </a:r>
          </a:p>
          <a:p>
            <a:pPr marL="457200" indent="-457200"/>
            <a:r>
              <a:rPr lang="en-US" altLang="zh-CN" sz="2000" dirty="0">
                <a:solidFill>
                  <a:schemeClr val="accent1">
                    <a:lumMod val="50000"/>
                  </a:schemeClr>
                </a:solidFill>
              </a:rPr>
              <a:t>  </a:t>
            </a:r>
            <a:r>
              <a:rPr lang="en-US" altLang="zh-CN" sz="2000" dirty="0" err="1">
                <a:solidFill>
                  <a:schemeClr val="accent1">
                    <a:lumMod val="50000"/>
                  </a:schemeClr>
                </a:solidFill>
              </a:rPr>
              <a:t>scanf</a:t>
            </a:r>
            <a:r>
              <a:rPr lang="en-US" altLang="zh-CN" sz="2000" dirty="0">
                <a:solidFill>
                  <a:schemeClr val="accent1">
                    <a:lumMod val="50000"/>
                  </a:schemeClr>
                </a:solidFill>
              </a:rPr>
              <a:t> ("%</a:t>
            </a:r>
            <a:r>
              <a:rPr lang="en-US" altLang="zh-CN" sz="2000" dirty="0" err="1">
                <a:solidFill>
                  <a:schemeClr val="accent1">
                    <a:lumMod val="50000"/>
                  </a:schemeClr>
                </a:solidFill>
              </a:rPr>
              <a:t>d",&amp;col</a:t>
            </a:r>
            <a:r>
              <a:rPr lang="en-US" altLang="zh-CN" sz="2000" dirty="0">
                <a:solidFill>
                  <a:schemeClr val="accent1">
                    <a:lumMod val="50000"/>
                  </a:schemeClr>
                </a:solidFill>
              </a:rPr>
              <a:t>);</a:t>
            </a:r>
          </a:p>
          <a:p>
            <a:pPr marL="457200" indent="-457200"/>
            <a:r>
              <a:rPr lang="en-US" altLang="zh-CN" sz="1600" dirty="0">
                <a:solidFill>
                  <a:schemeClr val="accent2">
                    <a:lumMod val="50000"/>
                  </a:schemeClr>
                </a:solidFill>
                <a:latin typeface="+mn-lt"/>
                <a:ea typeface="楷体" pitchFamily="49" charset="-122"/>
              </a:rPr>
              <a:t>  //</a:t>
            </a:r>
            <a:r>
              <a:rPr lang="zh-CN" altLang="en-US" sz="1600" dirty="0">
                <a:solidFill>
                  <a:schemeClr val="accent2">
                    <a:lumMod val="50000"/>
                  </a:schemeClr>
                </a:solidFill>
                <a:latin typeface="+mn-lt"/>
                <a:ea typeface="楷体" pitchFamily="49" charset="-122"/>
              </a:rPr>
              <a:t>根据行数和列数来动态建立一个二维数组</a:t>
            </a:r>
            <a:r>
              <a:rPr lang="en-US" altLang="zh-CN" sz="1600" dirty="0">
                <a:solidFill>
                  <a:schemeClr val="accent2">
                    <a:lumMod val="50000"/>
                  </a:schemeClr>
                </a:solidFill>
                <a:latin typeface="+mn-lt"/>
                <a:ea typeface="楷体" pitchFamily="49" charset="-122"/>
              </a:rPr>
              <a:t>p</a:t>
            </a:r>
          </a:p>
          <a:p>
            <a:pPr marL="457200" indent="-457200"/>
            <a:r>
              <a:rPr lang="en-US" altLang="zh-CN" sz="2000" dirty="0">
                <a:solidFill>
                  <a:srgbClr val="C00000"/>
                </a:solidFill>
              </a:rPr>
              <a:t>  p = (</a:t>
            </a:r>
            <a:r>
              <a:rPr lang="en-US" altLang="zh-CN" sz="2000" dirty="0" err="1">
                <a:solidFill>
                  <a:srgbClr val="C00000"/>
                </a:solidFill>
              </a:rPr>
              <a:t>int</a:t>
            </a:r>
            <a:r>
              <a:rPr lang="en-US" altLang="zh-CN" sz="2000" dirty="0">
                <a:solidFill>
                  <a:srgbClr val="C00000"/>
                </a:solidFill>
              </a:rPr>
              <a:t> **) </a:t>
            </a:r>
            <a:r>
              <a:rPr lang="en-US" altLang="zh-CN" sz="2000" dirty="0" err="1">
                <a:solidFill>
                  <a:srgbClr val="C00000"/>
                </a:solidFill>
              </a:rPr>
              <a:t>malloc</a:t>
            </a:r>
            <a:r>
              <a:rPr lang="en-US" altLang="zh-CN" sz="2000" dirty="0">
                <a:solidFill>
                  <a:srgbClr val="C00000"/>
                </a:solidFill>
              </a:rPr>
              <a:t>(row * </a:t>
            </a:r>
            <a:r>
              <a:rPr lang="en-US" altLang="zh-CN" sz="2000" dirty="0" err="1">
                <a:solidFill>
                  <a:srgbClr val="C00000"/>
                </a:solidFill>
              </a:rPr>
              <a:t>sizeof</a:t>
            </a:r>
            <a:r>
              <a:rPr lang="en-US" altLang="zh-CN" sz="2000" dirty="0">
                <a:solidFill>
                  <a:srgbClr val="C00000"/>
                </a:solidFill>
              </a:rPr>
              <a:t>(</a:t>
            </a:r>
            <a:r>
              <a:rPr lang="en-US" altLang="zh-CN" sz="2000" dirty="0" err="1">
                <a:solidFill>
                  <a:srgbClr val="C00000"/>
                </a:solidFill>
              </a:rPr>
              <a:t>int</a:t>
            </a:r>
            <a:r>
              <a:rPr lang="en-US" altLang="zh-CN" sz="2000" dirty="0">
                <a:solidFill>
                  <a:srgbClr val="C00000"/>
                </a:solidFill>
              </a:rPr>
              <a:t> *));</a:t>
            </a:r>
          </a:p>
          <a:p>
            <a:pPr marL="457200" indent="-457200"/>
            <a:r>
              <a:rPr lang="en-US" altLang="zh-CN" sz="2000" dirty="0"/>
              <a:t>  for (</a:t>
            </a:r>
            <a:r>
              <a:rPr lang="en-US" altLang="zh-CN" sz="2000" dirty="0" err="1"/>
              <a:t>i</a:t>
            </a:r>
            <a:r>
              <a:rPr lang="en-US" altLang="zh-CN" sz="2000" dirty="0"/>
              <a:t> = 0 ; </a:t>
            </a:r>
            <a:r>
              <a:rPr lang="en-US" altLang="zh-CN" sz="2000" dirty="0" err="1"/>
              <a:t>i</a:t>
            </a:r>
            <a:r>
              <a:rPr lang="en-US" altLang="zh-CN" sz="2000" dirty="0"/>
              <a:t> &lt; row; </a:t>
            </a:r>
            <a:r>
              <a:rPr lang="en-US" altLang="zh-CN" sz="2000" dirty="0" err="1"/>
              <a:t>i</a:t>
            </a:r>
            <a:r>
              <a:rPr lang="en-US" altLang="zh-CN" sz="2000" dirty="0"/>
              <a:t>++)</a:t>
            </a:r>
          </a:p>
          <a:p>
            <a:pPr marL="457200" indent="-457200"/>
            <a:r>
              <a:rPr lang="en-US" altLang="zh-CN" sz="2000" dirty="0"/>
              <a:t>      p[</a:t>
            </a:r>
            <a:r>
              <a:rPr lang="en-US" altLang="zh-CN" sz="2000" dirty="0" err="1"/>
              <a:t>i</a:t>
            </a:r>
            <a:r>
              <a:rPr lang="en-US" altLang="zh-CN" sz="2000" dirty="0"/>
              <a:t>] = (</a:t>
            </a:r>
            <a:r>
              <a:rPr lang="en-US" altLang="zh-CN" sz="2000" dirty="0" err="1"/>
              <a:t>int</a:t>
            </a:r>
            <a:r>
              <a:rPr lang="en-US" altLang="zh-CN" sz="2000" dirty="0"/>
              <a:t> *)</a:t>
            </a:r>
            <a:r>
              <a:rPr lang="en-US" altLang="zh-CN" sz="2000" dirty="0" err="1"/>
              <a:t>malloc</a:t>
            </a:r>
            <a:r>
              <a:rPr lang="en-US" altLang="zh-CN" sz="2000" dirty="0"/>
              <a:t>(</a:t>
            </a:r>
            <a:r>
              <a:rPr lang="en-US" altLang="zh-CN" sz="2000" dirty="0" err="1"/>
              <a:t>col</a:t>
            </a:r>
            <a:r>
              <a:rPr lang="en-US" altLang="zh-CN" sz="2000" dirty="0"/>
              <a:t> * </a:t>
            </a:r>
            <a:r>
              <a:rPr lang="en-US" altLang="zh-CN" sz="2000" dirty="0" err="1"/>
              <a:t>sizeof</a:t>
            </a:r>
            <a:r>
              <a:rPr lang="en-US" altLang="zh-CN" sz="2000" dirty="0"/>
              <a:t>(</a:t>
            </a:r>
            <a:r>
              <a:rPr lang="en-US" altLang="zh-CN" sz="2000" dirty="0" err="1"/>
              <a:t>int</a:t>
            </a:r>
            <a:r>
              <a:rPr lang="en-US" altLang="zh-CN" sz="2000" dirty="0"/>
              <a:t>));</a:t>
            </a:r>
          </a:p>
        </p:txBody>
      </p:sp>
      <p:sp>
        <p:nvSpPr>
          <p:cNvPr id="1205341" name="Text Box 93"/>
          <p:cNvSpPr txBox="1">
            <a:spLocks noChangeArrowheads="1"/>
          </p:cNvSpPr>
          <p:nvPr/>
        </p:nvSpPr>
        <p:spPr bwMode="auto">
          <a:xfrm>
            <a:off x="839416" y="896958"/>
            <a:ext cx="5599610" cy="461665"/>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a:t>
            </a:r>
            <a:r>
              <a:rPr lang="zh-CN" altLang="en-US" dirty="0"/>
              <a:t>求某矩阵中行元素之和的最大值 </a:t>
            </a:r>
          </a:p>
        </p:txBody>
      </p:sp>
      <p:graphicFrame>
        <p:nvGraphicFramePr>
          <p:cNvPr id="1205358" name="Group 110"/>
          <p:cNvGraphicFramePr>
            <a:graphicFrameLocks noGrp="1"/>
          </p:cNvGraphicFramePr>
          <p:nvPr>
            <p:extLst>
              <p:ext uri="{D42A27DB-BD31-4B8C-83A1-F6EECF244321}">
                <p14:modId xmlns:p14="http://schemas.microsoft.com/office/powerpoint/2010/main" val="346773309"/>
              </p:ext>
            </p:extLst>
          </p:nvPr>
        </p:nvGraphicFramePr>
        <p:xfrm>
          <a:off x="1633215" y="4253881"/>
          <a:ext cx="865188" cy="1368426"/>
        </p:xfrm>
        <a:graphic>
          <a:graphicData uri="http://schemas.openxmlformats.org/drawingml/2006/table">
            <a:tbl>
              <a:tblPr/>
              <a:tblGrid>
                <a:gridCol w="865188">
                  <a:extLst>
                    <a:ext uri="{9D8B030D-6E8A-4147-A177-3AD203B41FA5}">
                      <a16:colId xmlns:a16="http://schemas.microsoft.com/office/drawing/2014/main" val="20000"/>
                    </a:ext>
                  </a:extLst>
                </a:gridCol>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p[0]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p[1]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p[2]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205385" name="Group 137"/>
          <p:cNvGraphicFramePr>
            <a:graphicFrameLocks noGrp="1"/>
          </p:cNvGraphicFramePr>
          <p:nvPr>
            <p:extLst>
              <p:ext uri="{D42A27DB-BD31-4B8C-83A1-F6EECF244321}">
                <p14:modId xmlns:p14="http://schemas.microsoft.com/office/powerpoint/2010/main" val="2134182373"/>
              </p:ext>
            </p:extLst>
          </p:nvPr>
        </p:nvGraphicFramePr>
        <p:xfrm>
          <a:off x="3115941" y="4225306"/>
          <a:ext cx="1584325" cy="1368426"/>
        </p:xfrm>
        <a:graphic>
          <a:graphicData uri="http://schemas.openxmlformats.org/drawingml/2006/table">
            <a:tbl>
              <a:tblPr/>
              <a:tblGrid>
                <a:gridCol w="396875">
                  <a:extLst>
                    <a:ext uri="{9D8B030D-6E8A-4147-A177-3AD203B41FA5}">
                      <a16:colId xmlns:a16="http://schemas.microsoft.com/office/drawing/2014/main" val="20000"/>
                    </a:ext>
                  </a:extLst>
                </a:gridCol>
                <a:gridCol w="395288">
                  <a:extLst>
                    <a:ext uri="{9D8B030D-6E8A-4147-A177-3AD203B41FA5}">
                      <a16:colId xmlns:a16="http://schemas.microsoft.com/office/drawing/2014/main" val="20001"/>
                    </a:ext>
                  </a:extLst>
                </a:gridCol>
                <a:gridCol w="396875">
                  <a:extLst>
                    <a:ext uri="{9D8B030D-6E8A-4147-A177-3AD203B41FA5}">
                      <a16:colId xmlns:a16="http://schemas.microsoft.com/office/drawing/2014/main" val="20002"/>
                    </a:ext>
                  </a:extLst>
                </a:gridCol>
                <a:gridCol w="395287">
                  <a:extLst>
                    <a:ext uri="{9D8B030D-6E8A-4147-A177-3AD203B41FA5}">
                      <a16:colId xmlns:a16="http://schemas.microsoft.com/office/drawing/2014/main" val="20003"/>
                    </a:ext>
                  </a:extLst>
                </a:gridCol>
              </a:tblGrid>
              <a:tr h="427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205388" name="Group 140"/>
          <p:cNvGrpSpPr>
            <a:grpSpLocks/>
          </p:cNvGrpSpPr>
          <p:nvPr/>
        </p:nvGrpSpPr>
        <p:grpSpPr bwMode="auto">
          <a:xfrm>
            <a:off x="1158554" y="3979244"/>
            <a:ext cx="446087" cy="404812"/>
            <a:chOff x="3397" y="1869"/>
            <a:chExt cx="281" cy="255"/>
          </a:xfrm>
        </p:grpSpPr>
        <p:sp>
          <p:nvSpPr>
            <p:cNvPr id="1205386" name="Line 138"/>
            <p:cNvSpPr>
              <a:spLocks noChangeShapeType="1"/>
            </p:cNvSpPr>
            <p:nvPr/>
          </p:nvSpPr>
          <p:spPr bwMode="auto">
            <a:xfrm>
              <a:off x="3406" y="2124"/>
              <a:ext cx="272"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b="1">
                <a:solidFill>
                  <a:srgbClr val="C00000"/>
                </a:solidFill>
              </a:endParaRPr>
            </a:p>
          </p:txBody>
        </p:sp>
        <p:sp>
          <p:nvSpPr>
            <p:cNvPr id="1205387" name="Text Box 139"/>
            <p:cNvSpPr txBox="1">
              <a:spLocks noChangeArrowheads="1"/>
            </p:cNvSpPr>
            <p:nvPr/>
          </p:nvSpPr>
          <p:spPr bwMode="auto">
            <a:xfrm>
              <a:off x="3397" y="1869"/>
              <a:ext cx="181"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a:solidFill>
                    <a:srgbClr val="C00000"/>
                  </a:solidFill>
                </a:rPr>
                <a:t>p</a:t>
              </a:r>
            </a:p>
          </p:txBody>
        </p:sp>
      </p:grpSp>
      <p:sp>
        <p:nvSpPr>
          <p:cNvPr id="1205389" name="Text Box 141"/>
          <p:cNvSpPr txBox="1">
            <a:spLocks noChangeArrowheads="1"/>
          </p:cNvSpPr>
          <p:nvPr/>
        </p:nvSpPr>
        <p:spPr bwMode="auto">
          <a:xfrm>
            <a:off x="1847528" y="2206006"/>
            <a:ext cx="2303462" cy="400110"/>
          </a:xfrm>
          <a:prstGeom prst="rect">
            <a:avLst/>
          </a:prstGeom>
          <a:gradFill>
            <a:gsLst>
              <a:gs pos="0">
                <a:srgbClr val="CFCFD1"/>
              </a:gs>
              <a:gs pos="100000">
                <a:schemeClr val="bg1">
                  <a:lumMod val="95000"/>
                </a:schemeClr>
              </a:gs>
            </a:gsLst>
            <a:lin ang="16200000" scaled="1"/>
          </a:gra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spcBef>
                <a:spcPct val="50000"/>
              </a:spcBef>
            </a:pPr>
            <a:r>
              <a:rPr lang="en-US" altLang="zh-CN" sz="2000" dirty="0"/>
              <a:t>input row = </a:t>
            </a:r>
            <a:r>
              <a:rPr lang="en-US" altLang="zh-CN" sz="2000" dirty="0">
                <a:solidFill>
                  <a:srgbClr val="C00000"/>
                </a:solidFill>
              </a:rPr>
              <a:t>3</a:t>
            </a:r>
            <a:r>
              <a:rPr lang="en-US" altLang="zh-CN" sz="2000" dirty="0">
                <a:latin typeface="宋体" panose="02010600030101010101" pitchFamily="2" charset="-122"/>
                <a:ea typeface="宋体" panose="02010600030101010101" pitchFamily="2" charset="-122"/>
              </a:rPr>
              <a:t>↙</a:t>
            </a:r>
          </a:p>
        </p:txBody>
      </p:sp>
      <p:sp>
        <p:nvSpPr>
          <p:cNvPr id="1205390" name="Text Box 142"/>
          <p:cNvSpPr txBox="1">
            <a:spLocks noChangeArrowheads="1"/>
          </p:cNvSpPr>
          <p:nvPr/>
        </p:nvSpPr>
        <p:spPr bwMode="auto">
          <a:xfrm>
            <a:off x="1849116" y="2879106"/>
            <a:ext cx="2303463" cy="400110"/>
          </a:xfrm>
          <a:prstGeom prst="rect">
            <a:avLst/>
          </a:prstGeom>
          <a:gradFill>
            <a:gsLst>
              <a:gs pos="0">
                <a:srgbClr val="CFCFD1"/>
              </a:gs>
              <a:gs pos="100000">
                <a:schemeClr val="bg1">
                  <a:lumMod val="95000"/>
                </a:schemeClr>
              </a:gs>
            </a:gsLst>
            <a:lin ang="16200000" scaled="1"/>
          </a:gra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spcBef>
                <a:spcPct val="50000"/>
              </a:spcBef>
            </a:pPr>
            <a:r>
              <a:rPr lang="en-US" altLang="zh-CN" sz="2000" dirty="0"/>
              <a:t>input col = </a:t>
            </a:r>
            <a:r>
              <a:rPr lang="en-US" altLang="zh-CN" sz="2000" dirty="0">
                <a:solidFill>
                  <a:srgbClr val="C00000"/>
                </a:solidFill>
              </a:rPr>
              <a:t>4</a:t>
            </a:r>
            <a:r>
              <a:rPr lang="en-US" altLang="zh-CN" sz="2000" dirty="0">
                <a:latin typeface="+mn-ea"/>
                <a:ea typeface="+mn-ea"/>
              </a:rPr>
              <a:t>↙</a:t>
            </a:r>
          </a:p>
        </p:txBody>
      </p:sp>
      <p:sp>
        <p:nvSpPr>
          <p:cNvPr id="1205391" name="Line 143"/>
          <p:cNvSpPr>
            <a:spLocks noChangeShapeType="1"/>
          </p:cNvSpPr>
          <p:nvPr/>
        </p:nvSpPr>
        <p:spPr bwMode="auto">
          <a:xfrm>
            <a:off x="2353941" y="4441206"/>
            <a:ext cx="720725"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1205392" name="Line 144"/>
          <p:cNvSpPr>
            <a:spLocks noChangeShapeType="1"/>
          </p:cNvSpPr>
          <p:nvPr/>
        </p:nvSpPr>
        <p:spPr bwMode="auto">
          <a:xfrm>
            <a:off x="2369816" y="4899994"/>
            <a:ext cx="720725"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1205393" name="Line 145"/>
          <p:cNvSpPr>
            <a:spLocks noChangeShapeType="1"/>
          </p:cNvSpPr>
          <p:nvPr/>
        </p:nvSpPr>
        <p:spPr bwMode="auto">
          <a:xfrm>
            <a:off x="2371404" y="5387356"/>
            <a:ext cx="720725"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05250">
                                            <p:txEl>
                                              <p:pRg st="0" end="0"/>
                                            </p:txEl>
                                          </p:spTgt>
                                        </p:tgtEl>
                                        <p:attrNameLst>
                                          <p:attrName>style.visibility</p:attrName>
                                        </p:attrNameLst>
                                      </p:cBhvr>
                                      <p:to>
                                        <p:strVal val="visible"/>
                                      </p:to>
                                    </p:set>
                                    <p:anim calcmode="lin" valueType="num">
                                      <p:cBhvr additive="base">
                                        <p:cTn id="7" dur="500" fill="hold"/>
                                        <p:tgtEl>
                                          <p:spTgt spid="120525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0525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205250">
                                            <p:txEl>
                                              <p:pRg st="1" end="1"/>
                                            </p:txEl>
                                          </p:spTgt>
                                        </p:tgtEl>
                                        <p:attrNameLst>
                                          <p:attrName>style.visibility</p:attrName>
                                        </p:attrNameLst>
                                      </p:cBhvr>
                                      <p:to>
                                        <p:strVal val="visible"/>
                                      </p:to>
                                    </p:set>
                                    <p:anim calcmode="lin" valueType="num">
                                      <p:cBhvr additive="base">
                                        <p:cTn id="11" dur="500" fill="hold"/>
                                        <p:tgtEl>
                                          <p:spTgt spid="120525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0525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205250">
                                            <p:txEl>
                                              <p:pRg st="2" end="2"/>
                                            </p:txEl>
                                          </p:spTgt>
                                        </p:tgtEl>
                                        <p:attrNameLst>
                                          <p:attrName>style.visibility</p:attrName>
                                        </p:attrNameLst>
                                      </p:cBhvr>
                                      <p:to>
                                        <p:strVal val="visible"/>
                                      </p:to>
                                    </p:set>
                                    <p:anim calcmode="lin" valueType="num">
                                      <p:cBhvr additive="base">
                                        <p:cTn id="15" dur="500" fill="hold"/>
                                        <p:tgtEl>
                                          <p:spTgt spid="120525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0525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205250">
                                            <p:txEl>
                                              <p:pRg st="4" end="4"/>
                                            </p:txEl>
                                          </p:spTgt>
                                        </p:tgtEl>
                                        <p:attrNameLst>
                                          <p:attrName>style.visibility</p:attrName>
                                        </p:attrNameLst>
                                      </p:cBhvr>
                                      <p:to>
                                        <p:strVal val="visible"/>
                                      </p:to>
                                    </p:set>
                                    <p:anim calcmode="lin" valueType="num">
                                      <p:cBhvr additive="base">
                                        <p:cTn id="19" dur="500" fill="hold"/>
                                        <p:tgtEl>
                                          <p:spTgt spid="120525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0525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1205250">
                                            <p:txEl>
                                              <p:pRg st="5" end="5"/>
                                            </p:txEl>
                                          </p:spTgt>
                                        </p:tgtEl>
                                        <p:attrNameLst>
                                          <p:attrName>style.visibility</p:attrName>
                                        </p:attrNameLst>
                                      </p:cBhvr>
                                      <p:to>
                                        <p:strVal val="visible"/>
                                      </p:to>
                                    </p:set>
                                    <p:anim calcmode="lin" valueType="num">
                                      <p:cBhvr additive="base">
                                        <p:cTn id="23" dur="500" fill="hold"/>
                                        <p:tgtEl>
                                          <p:spTgt spid="1205250">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0525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par>
                                <p:cTn id="25" presetID="2" presetClass="entr" presetSubtype="4" fill="hold" nodeType="withEffect">
                                  <p:stCondLst>
                                    <p:cond delay="0"/>
                                  </p:stCondLst>
                                  <p:childTnLst>
                                    <p:set>
                                      <p:cBhvr>
                                        <p:cTn id="26" dur="1" fill="hold">
                                          <p:stCondLst>
                                            <p:cond delay="0"/>
                                          </p:stCondLst>
                                        </p:cTn>
                                        <p:tgtEl>
                                          <p:spTgt spid="1205250">
                                            <p:txEl>
                                              <p:pRg st="7" end="7"/>
                                            </p:txEl>
                                          </p:spTgt>
                                        </p:tgtEl>
                                        <p:attrNameLst>
                                          <p:attrName>style.visibility</p:attrName>
                                        </p:attrNameLst>
                                      </p:cBhvr>
                                      <p:to>
                                        <p:strVal val="visible"/>
                                      </p:to>
                                    </p:set>
                                    <p:anim calcmode="lin" valueType="num">
                                      <p:cBhvr additive="base">
                                        <p:cTn id="27" dur="500" fill="hold"/>
                                        <p:tgtEl>
                                          <p:spTgt spid="1205250">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0525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par>
                                <p:cTn id="29" presetID="2" presetClass="entr" presetSubtype="4" fill="hold" nodeType="withEffect">
                                  <p:stCondLst>
                                    <p:cond delay="0"/>
                                  </p:stCondLst>
                                  <p:childTnLst>
                                    <p:set>
                                      <p:cBhvr>
                                        <p:cTn id="30" dur="1" fill="hold">
                                          <p:stCondLst>
                                            <p:cond delay="0"/>
                                          </p:stCondLst>
                                        </p:cTn>
                                        <p:tgtEl>
                                          <p:spTgt spid="1205250">
                                            <p:txEl>
                                              <p:pRg st="8" end="8"/>
                                            </p:txEl>
                                          </p:spTgt>
                                        </p:tgtEl>
                                        <p:attrNameLst>
                                          <p:attrName>style.visibility</p:attrName>
                                        </p:attrNameLst>
                                      </p:cBhvr>
                                      <p:to>
                                        <p:strVal val="visible"/>
                                      </p:to>
                                    </p:set>
                                    <p:anim calcmode="lin" valueType="num">
                                      <p:cBhvr additive="base">
                                        <p:cTn id="31" dur="500" fill="hold"/>
                                        <p:tgtEl>
                                          <p:spTgt spid="1205250">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05250">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par>
                                <p:cTn id="33" presetID="2" presetClass="entr" presetSubtype="4" fill="hold" nodeType="withEffect">
                                  <p:stCondLst>
                                    <p:cond delay="0"/>
                                  </p:stCondLst>
                                  <p:childTnLst>
                                    <p:set>
                                      <p:cBhvr>
                                        <p:cTn id="34" dur="1" fill="hold">
                                          <p:stCondLst>
                                            <p:cond delay="0"/>
                                          </p:stCondLst>
                                        </p:cTn>
                                        <p:tgtEl>
                                          <p:spTgt spid="1205250">
                                            <p:txEl>
                                              <p:pRg st="9" end="9"/>
                                            </p:txEl>
                                          </p:spTgt>
                                        </p:tgtEl>
                                        <p:attrNameLst>
                                          <p:attrName>style.visibility</p:attrName>
                                        </p:attrNameLst>
                                      </p:cBhvr>
                                      <p:to>
                                        <p:strVal val="visible"/>
                                      </p:to>
                                    </p:set>
                                    <p:anim calcmode="lin" valueType="num">
                                      <p:cBhvr additive="base">
                                        <p:cTn id="35" dur="500" fill="hold"/>
                                        <p:tgtEl>
                                          <p:spTgt spid="1205250">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20525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par>
                                <p:cTn id="37" presetID="2" presetClass="entr" presetSubtype="4" fill="hold" nodeType="withEffect">
                                  <p:stCondLst>
                                    <p:cond delay="0"/>
                                  </p:stCondLst>
                                  <p:childTnLst>
                                    <p:set>
                                      <p:cBhvr>
                                        <p:cTn id="38" dur="1" fill="hold">
                                          <p:stCondLst>
                                            <p:cond delay="0"/>
                                          </p:stCondLst>
                                        </p:cTn>
                                        <p:tgtEl>
                                          <p:spTgt spid="1205250">
                                            <p:txEl>
                                              <p:pRg st="10" end="10"/>
                                            </p:txEl>
                                          </p:spTgt>
                                        </p:tgtEl>
                                        <p:attrNameLst>
                                          <p:attrName>style.visibility</p:attrName>
                                        </p:attrNameLst>
                                      </p:cBhvr>
                                      <p:to>
                                        <p:strVal val="visible"/>
                                      </p:to>
                                    </p:set>
                                    <p:anim calcmode="lin" valueType="num">
                                      <p:cBhvr additive="base">
                                        <p:cTn id="39" dur="500" fill="hold"/>
                                        <p:tgtEl>
                                          <p:spTgt spid="1205250">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205250">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205250">
                                            <p:txEl>
                                              <p:pRg st="11" end="11"/>
                                            </p:txEl>
                                          </p:spTgt>
                                        </p:tgtEl>
                                        <p:attrNameLst>
                                          <p:attrName>style.visibility</p:attrName>
                                        </p:attrNameLst>
                                      </p:cBhvr>
                                      <p:to>
                                        <p:strVal val="visible"/>
                                      </p:to>
                                    </p:set>
                                    <p:anim calcmode="lin" valueType="num">
                                      <p:cBhvr additive="base">
                                        <p:cTn id="45" dur="500" fill="hold"/>
                                        <p:tgtEl>
                                          <p:spTgt spid="1205250">
                                            <p:txEl>
                                              <p:pRg st="11" end="1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205250">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par>
                                <p:cTn id="47" presetID="2" presetClass="entr" presetSubtype="4" fill="hold" nodeType="withEffect">
                                  <p:stCondLst>
                                    <p:cond delay="0"/>
                                  </p:stCondLst>
                                  <p:childTnLst>
                                    <p:set>
                                      <p:cBhvr>
                                        <p:cTn id="48" dur="1" fill="hold">
                                          <p:stCondLst>
                                            <p:cond delay="0"/>
                                          </p:stCondLst>
                                        </p:cTn>
                                        <p:tgtEl>
                                          <p:spTgt spid="1205250">
                                            <p:txEl>
                                              <p:pRg st="12" end="12"/>
                                            </p:txEl>
                                          </p:spTgt>
                                        </p:tgtEl>
                                        <p:attrNameLst>
                                          <p:attrName>style.visibility</p:attrName>
                                        </p:attrNameLst>
                                      </p:cBhvr>
                                      <p:to>
                                        <p:strVal val="visible"/>
                                      </p:to>
                                    </p:set>
                                    <p:anim calcmode="lin" valueType="num">
                                      <p:cBhvr additive="base">
                                        <p:cTn id="49" dur="500" fill="hold"/>
                                        <p:tgtEl>
                                          <p:spTgt spid="1205250">
                                            <p:txEl>
                                              <p:pRg st="12" end="1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205250">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par>
                          <p:cTn id="51" fill="hold">
                            <p:stCondLst>
                              <p:cond delay="500"/>
                            </p:stCondLst>
                            <p:childTnLst>
                              <p:par>
                                <p:cTn id="52" presetID="4" presetClass="entr" presetSubtype="32" fill="hold" grpId="0" nodeType="afterEffect">
                                  <p:stCondLst>
                                    <p:cond delay="0"/>
                                  </p:stCondLst>
                                  <p:childTnLst>
                                    <p:set>
                                      <p:cBhvr>
                                        <p:cTn id="53" dur="1" fill="hold">
                                          <p:stCondLst>
                                            <p:cond delay="0"/>
                                          </p:stCondLst>
                                        </p:cTn>
                                        <p:tgtEl>
                                          <p:spTgt spid="1205389"/>
                                        </p:tgtEl>
                                        <p:attrNameLst>
                                          <p:attrName>style.visibility</p:attrName>
                                        </p:attrNameLst>
                                      </p:cBhvr>
                                      <p:to>
                                        <p:strVal val="visible"/>
                                      </p:to>
                                    </p:set>
                                    <p:animEffect transition="in" filter="box(out)">
                                      <p:cBhvr>
                                        <p:cTn id="54" dur="500"/>
                                        <p:tgtEl>
                                          <p:spTgt spid="1205389"/>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205250">
                                            <p:txEl>
                                              <p:pRg st="13" end="13"/>
                                            </p:txEl>
                                          </p:spTgt>
                                        </p:tgtEl>
                                        <p:attrNameLst>
                                          <p:attrName>style.visibility</p:attrName>
                                        </p:attrNameLst>
                                      </p:cBhvr>
                                      <p:to>
                                        <p:strVal val="visible"/>
                                      </p:to>
                                    </p:set>
                                    <p:anim calcmode="lin" valueType="num">
                                      <p:cBhvr additive="base">
                                        <p:cTn id="59" dur="500" fill="hold"/>
                                        <p:tgtEl>
                                          <p:spTgt spid="1205250">
                                            <p:txEl>
                                              <p:pRg st="13" end="1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205250">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par>
                                <p:cTn id="61" presetID="2" presetClass="entr" presetSubtype="4" fill="hold" nodeType="withEffect">
                                  <p:stCondLst>
                                    <p:cond delay="0"/>
                                  </p:stCondLst>
                                  <p:childTnLst>
                                    <p:set>
                                      <p:cBhvr>
                                        <p:cTn id="62" dur="1" fill="hold">
                                          <p:stCondLst>
                                            <p:cond delay="0"/>
                                          </p:stCondLst>
                                        </p:cTn>
                                        <p:tgtEl>
                                          <p:spTgt spid="1205250">
                                            <p:txEl>
                                              <p:pRg st="14" end="14"/>
                                            </p:txEl>
                                          </p:spTgt>
                                        </p:tgtEl>
                                        <p:attrNameLst>
                                          <p:attrName>style.visibility</p:attrName>
                                        </p:attrNameLst>
                                      </p:cBhvr>
                                      <p:to>
                                        <p:strVal val="visible"/>
                                      </p:to>
                                    </p:set>
                                    <p:anim calcmode="lin" valueType="num">
                                      <p:cBhvr additive="base">
                                        <p:cTn id="63" dur="500" fill="hold"/>
                                        <p:tgtEl>
                                          <p:spTgt spid="1205250">
                                            <p:txEl>
                                              <p:pRg st="14" end="14"/>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205250">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5" fill="hold">
                            <p:stCondLst>
                              <p:cond delay="500"/>
                            </p:stCondLst>
                            <p:childTnLst>
                              <p:par>
                                <p:cTn id="66" presetID="4" presetClass="entr" presetSubtype="32" fill="hold" grpId="0" nodeType="afterEffect">
                                  <p:stCondLst>
                                    <p:cond delay="0"/>
                                  </p:stCondLst>
                                  <p:childTnLst>
                                    <p:set>
                                      <p:cBhvr>
                                        <p:cTn id="67" dur="1" fill="hold">
                                          <p:stCondLst>
                                            <p:cond delay="0"/>
                                          </p:stCondLst>
                                        </p:cTn>
                                        <p:tgtEl>
                                          <p:spTgt spid="1205390"/>
                                        </p:tgtEl>
                                        <p:attrNameLst>
                                          <p:attrName>style.visibility</p:attrName>
                                        </p:attrNameLst>
                                      </p:cBhvr>
                                      <p:to>
                                        <p:strVal val="visible"/>
                                      </p:to>
                                    </p:set>
                                    <p:animEffect transition="in" filter="box(out)">
                                      <p:cBhvr>
                                        <p:cTn id="68" dur="500"/>
                                        <p:tgtEl>
                                          <p:spTgt spid="1205390"/>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205250">
                                            <p:txEl>
                                              <p:pRg st="15" end="15"/>
                                            </p:txEl>
                                          </p:spTgt>
                                        </p:tgtEl>
                                        <p:attrNameLst>
                                          <p:attrName>style.visibility</p:attrName>
                                        </p:attrNameLst>
                                      </p:cBhvr>
                                      <p:to>
                                        <p:strVal val="visible"/>
                                      </p:to>
                                    </p:set>
                                    <p:anim calcmode="lin" valueType="num">
                                      <p:cBhvr additive="base">
                                        <p:cTn id="73" dur="500" fill="hold"/>
                                        <p:tgtEl>
                                          <p:spTgt spid="1205250">
                                            <p:txEl>
                                              <p:pRg st="15" end="1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205250">
                                            <p:txEl>
                                              <p:pRg st="15" end="1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2" name="camera.wav"/>
                                        </p:tgtEl>
                                      </p:cMediaNode>
                                    </p:audio>
                                  </p:subTnLst>
                                </p:cTn>
                              </p:par>
                              <p:par>
                                <p:cTn id="75" presetID="2" presetClass="entr" presetSubtype="4" fill="hold" nodeType="withEffect">
                                  <p:stCondLst>
                                    <p:cond delay="0"/>
                                  </p:stCondLst>
                                  <p:childTnLst>
                                    <p:set>
                                      <p:cBhvr>
                                        <p:cTn id="76" dur="1" fill="hold">
                                          <p:stCondLst>
                                            <p:cond delay="0"/>
                                          </p:stCondLst>
                                        </p:cTn>
                                        <p:tgtEl>
                                          <p:spTgt spid="1205250">
                                            <p:txEl>
                                              <p:pRg st="16" end="16"/>
                                            </p:txEl>
                                          </p:spTgt>
                                        </p:tgtEl>
                                        <p:attrNameLst>
                                          <p:attrName>style.visibility</p:attrName>
                                        </p:attrNameLst>
                                      </p:cBhvr>
                                      <p:to>
                                        <p:strVal val="visible"/>
                                      </p:to>
                                    </p:set>
                                    <p:anim calcmode="lin" valueType="num">
                                      <p:cBhvr additive="base">
                                        <p:cTn id="77" dur="500" fill="hold"/>
                                        <p:tgtEl>
                                          <p:spTgt spid="1205250">
                                            <p:txEl>
                                              <p:pRg st="16" end="1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205250">
                                            <p:txEl>
                                              <p:pRg st="16" end="1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par>
                          <p:cTn id="79" fill="hold">
                            <p:stCondLst>
                              <p:cond delay="500"/>
                            </p:stCondLst>
                            <p:childTnLst>
                              <p:par>
                                <p:cTn id="80" presetID="18" presetClass="entr" presetSubtype="6" fill="hold" nodeType="afterEffect">
                                  <p:stCondLst>
                                    <p:cond delay="0"/>
                                  </p:stCondLst>
                                  <p:childTnLst>
                                    <p:set>
                                      <p:cBhvr>
                                        <p:cTn id="81" dur="1" fill="hold">
                                          <p:stCondLst>
                                            <p:cond delay="0"/>
                                          </p:stCondLst>
                                        </p:cTn>
                                        <p:tgtEl>
                                          <p:spTgt spid="1205388"/>
                                        </p:tgtEl>
                                        <p:attrNameLst>
                                          <p:attrName>style.visibility</p:attrName>
                                        </p:attrNameLst>
                                      </p:cBhvr>
                                      <p:to>
                                        <p:strVal val="visible"/>
                                      </p:to>
                                    </p:set>
                                    <p:animEffect transition="in" filter="strips(downRight)">
                                      <p:cBhvr>
                                        <p:cTn id="82" dur="500"/>
                                        <p:tgtEl>
                                          <p:spTgt spid="1205388"/>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par>
                          <p:cTn id="83" fill="hold">
                            <p:stCondLst>
                              <p:cond delay="1000"/>
                            </p:stCondLst>
                            <p:childTnLst>
                              <p:par>
                                <p:cTn id="84" presetID="4" presetClass="entr" presetSubtype="32" fill="hold" nodeType="afterEffect">
                                  <p:stCondLst>
                                    <p:cond delay="0"/>
                                  </p:stCondLst>
                                  <p:childTnLst>
                                    <p:set>
                                      <p:cBhvr>
                                        <p:cTn id="85" dur="1" fill="hold">
                                          <p:stCondLst>
                                            <p:cond delay="0"/>
                                          </p:stCondLst>
                                        </p:cTn>
                                        <p:tgtEl>
                                          <p:spTgt spid="1205358"/>
                                        </p:tgtEl>
                                        <p:attrNameLst>
                                          <p:attrName>style.visibility</p:attrName>
                                        </p:attrNameLst>
                                      </p:cBhvr>
                                      <p:to>
                                        <p:strVal val="visible"/>
                                      </p:to>
                                    </p:set>
                                    <p:animEffect transition="in" filter="box(out)">
                                      <p:cBhvr>
                                        <p:cTn id="86" dur="500"/>
                                        <p:tgtEl>
                                          <p:spTgt spid="1205358"/>
                                        </p:tgtEl>
                                      </p:cBhvr>
                                    </p:animEffect>
                                  </p:childTnLst>
                                  <p:subTnLst>
                                    <p:audio>
                                      <p:cMediaNode>
                                        <p:cTn display="0" masterRel="sameClick">
                                          <p:stCondLst>
                                            <p:cond evt="begin" delay="0">
                                              <p:tn val="84"/>
                                            </p:cond>
                                          </p:stCondLst>
                                          <p:endCondLst>
                                            <p:cond evt="onStopAudio" delay="0">
                                              <p:tgtEl>
                                                <p:sldTgt/>
                                              </p:tgtEl>
                                            </p:cond>
                                          </p:endCondLst>
                                        </p:cTn>
                                        <p:tgtEl>
                                          <p:sndTgt r:embed="rId2" name="camera.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205250">
                                            <p:txEl>
                                              <p:pRg st="17" end="17"/>
                                            </p:txEl>
                                          </p:spTgt>
                                        </p:tgtEl>
                                        <p:attrNameLst>
                                          <p:attrName>style.visibility</p:attrName>
                                        </p:attrNameLst>
                                      </p:cBhvr>
                                      <p:to>
                                        <p:strVal val="visible"/>
                                      </p:to>
                                    </p:set>
                                    <p:anim calcmode="lin" valueType="num">
                                      <p:cBhvr additive="base">
                                        <p:cTn id="91" dur="500" fill="hold"/>
                                        <p:tgtEl>
                                          <p:spTgt spid="1205250">
                                            <p:txEl>
                                              <p:pRg st="17" end="17"/>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205250">
                                            <p:txEl>
                                              <p:pRg st="17" end="1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2" name="camera.wav"/>
                                        </p:tgtEl>
                                      </p:cMediaNode>
                                    </p:audio>
                                  </p:subTnLst>
                                </p:cTn>
                              </p:par>
                              <p:par>
                                <p:cTn id="93" presetID="2" presetClass="entr" presetSubtype="4" fill="hold" nodeType="withEffect">
                                  <p:stCondLst>
                                    <p:cond delay="0"/>
                                  </p:stCondLst>
                                  <p:childTnLst>
                                    <p:set>
                                      <p:cBhvr>
                                        <p:cTn id="94" dur="1" fill="hold">
                                          <p:stCondLst>
                                            <p:cond delay="0"/>
                                          </p:stCondLst>
                                        </p:cTn>
                                        <p:tgtEl>
                                          <p:spTgt spid="1205250">
                                            <p:txEl>
                                              <p:pRg st="18" end="18"/>
                                            </p:txEl>
                                          </p:spTgt>
                                        </p:tgtEl>
                                        <p:attrNameLst>
                                          <p:attrName>style.visibility</p:attrName>
                                        </p:attrNameLst>
                                      </p:cBhvr>
                                      <p:to>
                                        <p:strVal val="visible"/>
                                      </p:to>
                                    </p:set>
                                    <p:anim calcmode="lin" valueType="num">
                                      <p:cBhvr additive="base">
                                        <p:cTn id="95" dur="500" fill="hold"/>
                                        <p:tgtEl>
                                          <p:spTgt spid="1205250">
                                            <p:txEl>
                                              <p:pRg st="18" end="18"/>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1205250">
                                            <p:txEl>
                                              <p:pRg st="18" end="1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3"/>
                                            </p:cond>
                                          </p:stCondLst>
                                          <p:endCondLst>
                                            <p:cond evt="onStopAudio" delay="0">
                                              <p:tgtEl>
                                                <p:sldTgt/>
                                              </p:tgtEl>
                                            </p:cond>
                                          </p:endCondLst>
                                        </p:cTn>
                                        <p:tgtEl>
                                          <p:sndTgt r:embed="rId2" name="camera.wav"/>
                                        </p:tgtEl>
                                      </p:cMediaNode>
                                    </p:audio>
                                  </p:subTnLst>
                                </p:cTn>
                              </p:par>
                            </p:childTnLst>
                          </p:cTn>
                        </p:par>
                        <p:par>
                          <p:cTn id="97" fill="hold">
                            <p:stCondLst>
                              <p:cond delay="500"/>
                            </p:stCondLst>
                            <p:childTnLst>
                              <p:par>
                                <p:cTn id="98" presetID="4" presetClass="entr" presetSubtype="32" fill="hold" nodeType="afterEffect">
                                  <p:stCondLst>
                                    <p:cond delay="0"/>
                                  </p:stCondLst>
                                  <p:childTnLst>
                                    <p:set>
                                      <p:cBhvr>
                                        <p:cTn id="99" dur="1" fill="hold">
                                          <p:stCondLst>
                                            <p:cond delay="0"/>
                                          </p:stCondLst>
                                        </p:cTn>
                                        <p:tgtEl>
                                          <p:spTgt spid="1205385"/>
                                        </p:tgtEl>
                                        <p:attrNameLst>
                                          <p:attrName>style.visibility</p:attrName>
                                        </p:attrNameLst>
                                      </p:cBhvr>
                                      <p:to>
                                        <p:strVal val="visible"/>
                                      </p:to>
                                    </p:set>
                                    <p:animEffect transition="in" filter="box(out)">
                                      <p:cBhvr>
                                        <p:cTn id="100" dur="500"/>
                                        <p:tgtEl>
                                          <p:spTgt spid="1205385"/>
                                        </p:tgtEl>
                                      </p:cBhvr>
                                    </p:animEffect>
                                  </p:childTnLst>
                                  <p:subTnLst>
                                    <p:audio>
                                      <p:cMediaNode>
                                        <p:cTn display="0" masterRel="sameClick">
                                          <p:stCondLst>
                                            <p:cond evt="begin" delay="0">
                                              <p:tn val="98"/>
                                            </p:cond>
                                          </p:stCondLst>
                                          <p:endCondLst>
                                            <p:cond evt="onStopAudio" delay="0">
                                              <p:tgtEl>
                                                <p:sldTgt/>
                                              </p:tgtEl>
                                            </p:cond>
                                          </p:endCondLst>
                                        </p:cTn>
                                        <p:tgtEl>
                                          <p:sndTgt r:embed="rId2" name="camera.wav"/>
                                        </p:tgtEl>
                                      </p:cMediaNode>
                                    </p:audio>
                                  </p:subTnLst>
                                </p:cTn>
                              </p:par>
                            </p:childTnLst>
                          </p:cTn>
                        </p:par>
                        <p:par>
                          <p:cTn id="101" fill="hold">
                            <p:stCondLst>
                              <p:cond delay="1000"/>
                            </p:stCondLst>
                            <p:childTnLst>
                              <p:par>
                                <p:cTn id="102" presetID="18" presetClass="entr" presetSubtype="6" fill="hold" grpId="0" nodeType="afterEffect">
                                  <p:stCondLst>
                                    <p:cond delay="0"/>
                                  </p:stCondLst>
                                  <p:childTnLst>
                                    <p:set>
                                      <p:cBhvr>
                                        <p:cTn id="103" dur="1" fill="hold">
                                          <p:stCondLst>
                                            <p:cond delay="0"/>
                                          </p:stCondLst>
                                        </p:cTn>
                                        <p:tgtEl>
                                          <p:spTgt spid="1205391"/>
                                        </p:tgtEl>
                                        <p:attrNameLst>
                                          <p:attrName>style.visibility</p:attrName>
                                        </p:attrNameLst>
                                      </p:cBhvr>
                                      <p:to>
                                        <p:strVal val="visible"/>
                                      </p:to>
                                    </p:set>
                                    <p:animEffect transition="in" filter="strips(downRight)">
                                      <p:cBhvr>
                                        <p:cTn id="104" dur="500"/>
                                        <p:tgtEl>
                                          <p:spTgt spid="1205391"/>
                                        </p:tgtEl>
                                      </p:cBhvr>
                                    </p:animEffect>
                                  </p:childTnLst>
                                  <p:subTnLst>
                                    <p:audio>
                                      <p:cMediaNode>
                                        <p:cTn display="0" masterRel="sameClick">
                                          <p:stCondLst>
                                            <p:cond evt="begin" delay="0">
                                              <p:tn val="102"/>
                                            </p:cond>
                                          </p:stCondLst>
                                          <p:endCondLst>
                                            <p:cond evt="onStopAudio" delay="0">
                                              <p:tgtEl>
                                                <p:sldTgt/>
                                              </p:tgtEl>
                                            </p:cond>
                                          </p:endCondLst>
                                        </p:cTn>
                                        <p:tgtEl>
                                          <p:sndTgt r:embed="rId2" name="camera.wav"/>
                                        </p:tgtEl>
                                      </p:cMediaNode>
                                    </p:audio>
                                  </p:subTnLst>
                                </p:cTn>
                              </p:par>
                            </p:childTnLst>
                          </p:cTn>
                        </p:par>
                        <p:par>
                          <p:cTn id="105" fill="hold">
                            <p:stCondLst>
                              <p:cond delay="1500"/>
                            </p:stCondLst>
                            <p:childTnLst>
                              <p:par>
                                <p:cTn id="106" presetID="18" presetClass="entr" presetSubtype="6" fill="hold" grpId="0" nodeType="afterEffect">
                                  <p:stCondLst>
                                    <p:cond delay="0"/>
                                  </p:stCondLst>
                                  <p:childTnLst>
                                    <p:set>
                                      <p:cBhvr>
                                        <p:cTn id="107" dur="1" fill="hold">
                                          <p:stCondLst>
                                            <p:cond delay="0"/>
                                          </p:stCondLst>
                                        </p:cTn>
                                        <p:tgtEl>
                                          <p:spTgt spid="1205392"/>
                                        </p:tgtEl>
                                        <p:attrNameLst>
                                          <p:attrName>style.visibility</p:attrName>
                                        </p:attrNameLst>
                                      </p:cBhvr>
                                      <p:to>
                                        <p:strVal val="visible"/>
                                      </p:to>
                                    </p:set>
                                    <p:animEffect transition="in" filter="strips(downRight)">
                                      <p:cBhvr>
                                        <p:cTn id="108" dur="500"/>
                                        <p:tgtEl>
                                          <p:spTgt spid="1205392"/>
                                        </p:tgtEl>
                                      </p:cBhvr>
                                    </p:animEffect>
                                  </p:childTnLst>
                                  <p:subTnLst>
                                    <p:audio>
                                      <p:cMediaNode>
                                        <p:cTn display="0" masterRel="sameClick">
                                          <p:stCondLst>
                                            <p:cond evt="begin" delay="0">
                                              <p:tn val="106"/>
                                            </p:cond>
                                          </p:stCondLst>
                                          <p:endCondLst>
                                            <p:cond evt="onStopAudio" delay="0">
                                              <p:tgtEl>
                                                <p:sldTgt/>
                                              </p:tgtEl>
                                            </p:cond>
                                          </p:endCondLst>
                                        </p:cTn>
                                        <p:tgtEl>
                                          <p:sndTgt r:embed="rId2" name="camera.wav"/>
                                        </p:tgtEl>
                                      </p:cMediaNode>
                                    </p:audio>
                                  </p:subTnLst>
                                </p:cTn>
                              </p:par>
                            </p:childTnLst>
                          </p:cTn>
                        </p:par>
                        <p:par>
                          <p:cTn id="109" fill="hold">
                            <p:stCondLst>
                              <p:cond delay="2000"/>
                            </p:stCondLst>
                            <p:childTnLst>
                              <p:par>
                                <p:cTn id="110" presetID="18" presetClass="entr" presetSubtype="6" fill="hold" grpId="0" nodeType="afterEffect">
                                  <p:stCondLst>
                                    <p:cond delay="0"/>
                                  </p:stCondLst>
                                  <p:childTnLst>
                                    <p:set>
                                      <p:cBhvr>
                                        <p:cTn id="111" dur="1" fill="hold">
                                          <p:stCondLst>
                                            <p:cond delay="0"/>
                                          </p:stCondLst>
                                        </p:cTn>
                                        <p:tgtEl>
                                          <p:spTgt spid="1205393"/>
                                        </p:tgtEl>
                                        <p:attrNameLst>
                                          <p:attrName>style.visibility</p:attrName>
                                        </p:attrNameLst>
                                      </p:cBhvr>
                                      <p:to>
                                        <p:strVal val="visible"/>
                                      </p:to>
                                    </p:set>
                                    <p:animEffect transition="in" filter="strips(downRight)">
                                      <p:cBhvr>
                                        <p:cTn id="112" dur="500"/>
                                        <p:tgtEl>
                                          <p:spTgt spid="1205393"/>
                                        </p:tgtEl>
                                      </p:cBhvr>
                                    </p:animEffect>
                                  </p:childTnLst>
                                  <p:subTnLs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5389" grpId="0" animBg="1"/>
      <p:bldP spid="1205390" grpId="0" animBg="1"/>
      <p:bldP spid="1205391" grpId="0" animBg="1"/>
      <p:bldP spid="1205392" grpId="0" animBg="1"/>
      <p:bldP spid="1205393"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7298" name="Text Box 2" descr="信纸"/>
          <p:cNvSpPr txBox="1">
            <a:spLocks noChangeArrowheads="1"/>
          </p:cNvSpPr>
          <p:nvPr/>
        </p:nvSpPr>
        <p:spPr bwMode="auto">
          <a:xfrm>
            <a:off x="1055688" y="1638558"/>
            <a:ext cx="5272012" cy="4739759"/>
          </a:xfrm>
          <a:prstGeom prst="rect">
            <a:avLst/>
          </a:prstGeom>
          <a:gradFill>
            <a:gsLst>
              <a:gs pos="0">
                <a:srgbClr val="CFCFD1"/>
              </a:gs>
              <a:gs pos="100000">
                <a:schemeClr val="bg1">
                  <a:lumMod val="95000"/>
                </a:schemeClr>
              </a:gs>
            </a:gsLst>
            <a:lin ang="0" scaled="1"/>
          </a:gra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dirty="0">
                <a:solidFill>
                  <a:schemeClr val="accent2">
                    <a:lumMod val="50000"/>
                  </a:schemeClr>
                </a:solidFill>
              </a:rPr>
              <a:t> </a:t>
            </a:r>
            <a:r>
              <a:rPr lang="en-US" altLang="zh-CN" sz="1600" dirty="0">
                <a:solidFill>
                  <a:schemeClr val="accent2">
                    <a:lumMod val="50000"/>
                  </a:schemeClr>
                </a:solidFill>
                <a:latin typeface="+mn-lt"/>
                <a:ea typeface="楷体" pitchFamily="49" charset="-122"/>
              </a:rPr>
              <a:t>//</a:t>
            </a:r>
            <a:r>
              <a:rPr lang="zh-CN" altLang="en-US" sz="1600" dirty="0">
                <a:solidFill>
                  <a:schemeClr val="accent2">
                    <a:lumMod val="50000"/>
                  </a:schemeClr>
                </a:solidFill>
                <a:latin typeface="+mn-lt"/>
                <a:ea typeface="楷体" pitchFamily="49" charset="-122"/>
              </a:rPr>
              <a:t>通过键入值对二维数组的元素赋值</a:t>
            </a:r>
          </a:p>
          <a:p>
            <a:pPr marL="457200" indent="-457200"/>
            <a:r>
              <a:rPr lang="zh-CN" altLang="en-US" sz="2000" dirty="0"/>
              <a:t>  </a:t>
            </a:r>
            <a:r>
              <a:rPr lang="en-US" altLang="zh-CN" sz="2000" dirty="0" err="1">
                <a:solidFill>
                  <a:schemeClr val="accent1">
                    <a:lumMod val="50000"/>
                  </a:schemeClr>
                </a:solidFill>
              </a:rPr>
              <a:t>printf</a:t>
            </a:r>
            <a:r>
              <a:rPr lang="en-US" altLang="zh-CN" sz="2000" dirty="0">
                <a:solidFill>
                  <a:schemeClr val="accent1">
                    <a:lumMod val="50000"/>
                  </a:schemeClr>
                </a:solidFill>
              </a:rPr>
              <a:t> ("input the number:\n");</a:t>
            </a:r>
          </a:p>
          <a:p>
            <a:pPr marL="457200" indent="-457200"/>
            <a:r>
              <a:rPr lang="en-US" altLang="zh-CN" sz="2000" dirty="0">
                <a:solidFill>
                  <a:schemeClr val="accent1">
                    <a:lumMod val="50000"/>
                  </a:schemeClr>
                </a:solidFill>
              </a:rPr>
              <a:t>  for (</a:t>
            </a:r>
            <a:r>
              <a:rPr lang="en-US" altLang="zh-CN" sz="2000" dirty="0" err="1">
                <a:solidFill>
                  <a:schemeClr val="accent1">
                    <a:lumMod val="50000"/>
                  </a:schemeClr>
                </a:solidFill>
              </a:rPr>
              <a:t>i</a:t>
            </a:r>
            <a:r>
              <a:rPr lang="en-US" altLang="zh-CN" sz="2000" dirty="0">
                <a:solidFill>
                  <a:schemeClr val="accent1">
                    <a:lumMod val="50000"/>
                  </a:schemeClr>
                </a:solidFill>
              </a:rPr>
              <a:t> = 0 ; </a:t>
            </a:r>
            <a:r>
              <a:rPr lang="en-US" altLang="zh-CN" sz="2000" dirty="0" err="1">
                <a:solidFill>
                  <a:schemeClr val="accent1">
                    <a:lumMod val="50000"/>
                  </a:schemeClr>
                </a:solidFill>
              </a:rPr>
              <a:t>i</a:t>
            </a:r>
            <a:r>
              <a:rPr lang="en-US" altLang="zh-CN" sz="2000" dirty="0">
                <a:solidFill>
                  <a:schemeClr val="accent1">
                    <a:lumMod val="50000"/>
                  </a:schemeClr>
                </a:solidFill>
              </a:rPr>
              <a:t> &lt; row; </a:t>
            </a:r>
            <a:r>
              <a:rPr lang="en-US" altLang="zh-CN" sz="2000" dirty="0" err="1">
                <a:solidFill>
                  <a:schemeClr val="accent1">
                    <a:lumMod val="50000"/>
                  </a:schemeClr>
                </a:solidFill>
              </a:rPr>
              <a:t>i</a:t>
            </a:r>
            <a:r>
              <a:rPr lang="en-US" altLang="zh-CN" sz="2000" dirty="0">
                <a:solidFill>
                  <a:schemeClr val="accent1">
                    <a:lumMod val="50000"/>
                  </a:schemeClr>
                </a:solidFill>
              </a:rPr>
              <a:t>++)</a:t>
            </a:r>
          </a:p>
          <a:p>
            <a:pPr marL="457200" indent="-457200"/>
            <a:r>
              <a:rPr lang="en-US" altLang="zh-CN" sz="2000" dirty="0">
                <a:solidFill>
                  <a:schemeClr val="accent1">
                    <a:lumMod val="50000"/>
                  </a:schemeClr>
                </a:solidFill>
              </a:rPr>
              <a:t>     for (j = 0; j &lt; </a:t>
            </a:r>
            <a:r>
              <a:rPr lang="en-US" altLang="zh-CN" sz="2000" dirty="0" err="1">
                <a:solidFill>
                  <a:schemeClr val="accent1">
                    <a:lumMod val="50000"/>
                  </a:schemeClr>
                </a:solidFill>
              </a:rPr>
              <a:t>col</a:t>
            </a:r>
            <a:r>
              <a:rPr lang="en-US" altLang="zh-CN" sz="2000" dirty="0">
                <a:solidFill>
                  <a:schemeClr val="accent1">
                    <a:lumMod val="50000"/>
                  </a:schemeClr>
                </a:solidFill>
              </a:rPr>
              <a:t>; j++)</a:t>
            </a:r>
          </a:p>
          <a:p>
            <a:pPr marL="457200" indent="-457200"/>
            <a:r>
              <a:rPr lang="en-US" altLang="zh-CN" sz="2000" dirty="0">
                <a:solidFill>
                  <a:schemeClr val="accent1">
                    <a:lumMod val="50000"/>
                  </a:schemeClr>
                </a:solidFill>
              </a:rPr>
              <a:t>        </a:t>
            </a:r>
            <a:r>
              <a:rPr lang="en-US" altLang="zh-CN" sz="2000" dirty="0" err="1">
                <a:solidFill>
                  <a:schemeClr val="accent1">
                    <a:lumMod val="50000"/>
                  </a:schemeClr>
                </a:solidFill>
              </a:rPr>
              <a:t>scanf</a:t>
            </a:r>
            <a:r>
              <a:rPr lang="en-US" altLang="zh-CN" sz="2000" dirty="0">
                <a:solidFill>
                  <a:schemeClr val="accent1">
                    <a:lumMod val="50000"/>
                  </a:schemeClr>
                </a:solidFill>
              </a:rPr>
              <a:t> ("%d", p[</a:t>
            </a:r>
            <a:r>
              <a:rPr lang="en-US" altLang="zh-CN" sz="2000" dirty="0" err="1">
                <a:solidFill>
                  <a:schemeClr val="accent1">
                    <a:lumMod val="50000"/>
                  </a:schemeClr>
                </a:solidFill>
              </a:rPr>
              <a:t>i</a:t>
            </a:r>
            <a:r>
              <a:rPr lang="en-US" altLang="zh-CN" sz="2000" dirty="0">
                <a:solidFill>
                  <a:schemeClr val="accent1">
                    <a:lumMod val="50000"/>
                  </a:schemeClr>
                </a:solidFill>
              </a:rPr>
              <a:t>]+j);</a:t>
            </a:r>
          </a:p>
          <a:p>
            <a:pPr marL="457200" indent="-457200"/>
            <a:r>
              <a:rPr lang="en-US" altLang="zh-CN" sz="2000" dirty="0">
                <a:solidFill>
                  <a:schemeClr val="accent2">
                    <a:lumMod val="50000"/>
                  </a:schemeClr>
                </a:solidFill>
              </a:rPr>
              <a:t>  </a:t>
            </a:r>
            <a:r>
              <a:rPr lang="en-US" altLang="zh-CN" sz="1600" dirty="0">
                <a:solidFill>
                  <a:schemeClr val="accent2">
                    <a:lumMod val="50000"/>
                  </a:schemeClr>
                </a:solidFill>
                <a:latin typeface="+mn-lt"/>
                <a:ea typeface="楷体" pitchFamily="49" charset="-122"/>
              </a:rPr>
              <a:t>//</a:t>
            </a:r>
            <a:r>
              <a:rPr lang="zh-CN" altLang="en-US" sz="1600" dirty="0">
                <a:solidFill>
                  <a:schemeClr val="accent2">
                    <a:lumMod val="50000"/>
                  </a:schemeClr>
                </a:solidFill>
                <a:latin typeface="+mn-lt"/>
                <a:ea typeface="楷体" pitchFamily="49" charset="-122"/>
              </a:rPr>
              <a:t>计算所有行元素之和的最大值</a:t>
            </a:r>
          </a:p>
          <a:p>
            <a:pPr marL="457200" indent="-457200"/>
            <a:r>
              <a:rPr lang="zh-CN" altLang="en-US" sz="2000" dirty="0"/>
              <a:t>  </a:t>
            </a:r>
            <a:r>
              <a:rPr lang="en-US" altLang="zh-CN" sz="2000" dirty="0" err="1">
                <a:solidFill>
                  <a:srgbClr val="CC0099"/>
                </a:solidFill>
              </a:rPr>
              <a:t>maxrow</a:t>
            </a:r>
            <a:r>
              <a:rPr lang="en-US" altLang="zh-CN" sz="2000" dirty="0">
                <a:solidFill>
                  <a:srgbClr val="CC0099"/>
                </a:solidFill>
              </a:rPr>
              <a:t> = </a:t>
            </a:r>
            <a:r>
              <a:rPr lang="en-US" altLang="zh-CN" sz="2000" dirty="0" err="1">
                <a:solidFill>
                  <a:srgbClr val="CC0099"/>
                </a:solidFill>
              </a:rPr>
              <a:t>GetMaxRow</a:t>
            </a:r>
            <a:r>
              <a:rPr lang="en-US" altLang="zh-CN" sz="2000" dirty="0">
                <a:solidFill>
                  <a:srgbClr val="CC0099"/>
                </a:solidFill>
              </a:rPr>
              <a:t> (p, row, </a:t>
            </a:r>
            <a:r>
              <a:rPr lang="en-US" altLang="zh-CN" sz="2000" dirty="0" err="1">
                <a:solidFill>
                  <a:srgbClr val="CC0099"/>
                </a:solidFill>
              </a:rPr>
              <a:t>col</a:t>
            </a:r>
            <a:r>
              <a:rPr lang="en-US" altLang="zh-CN" sz="2000" dirty="0">
                <a:solidFill>
                  <a:srgbClr val="CC0099"/>
                </a:solidFill>
              </a:rPr>
              <a:t>);</a:t>
            </a:r>
          </a:p>
          <a:p>
            <a:pPr marL="457200" indent="-457200"/>
            <a:r>
              <a:rPr lang="en-US" altLang="zh-CN" sz="2000" dirty="0"/>
              <a:t>  </a:t>
            </a:r>
            <a:r>
              <a:rPr lang="en-US" altLang="zh-CN" sz="2000" dirty="0" err="1">
                <a:solidFill>
                  <a:srgbClr val="339933"/>
                </a:solidFill>
              </a:rPr>
              <a:t>printf</a:t>
            </a:r>
            <a:r>
              <a:rPr lang="en-US" altLang="zh-CN" sz="2000" dirty="0">
                <a:solidFill>
                  <a:srgbClr val="339933"/>
                </a:solidFill>
              </a:rPr>
              <a:t> ("----------------------------------\n");</a:t>
            </a:r>
          </a:p>
          <a:p>
            <a:pPr marL="457200" indent="-457200"/>
            <a:r>
              <a:rPr lang="en-US" altLang="zh-CN" sz="2000" dirty="0">
                <a:solidFill>
                  <a:srgbClr val="339933"/>
                </a:solidFill>
              </a:rPr>
              <a:t>  </a:t>
            </a:r>
            <a:r>
              <a:rPr lang="en-US" altLang="zh-CN" sz="2000" dirty="0" err="1">
                <a:solidFill>
                  <a:srgbClr val="339933"/>
                </a:solidFill>
              </a:rPr>
              <a:t>printf</a:t>
            </a:r>
            <a:r>
              <a:rPr lang="en-US" altLang="zh-CN" sz="2000" dirty="0">
                <a:solidFill>
                  <a:srgbClr val="339933"/>
                </a:solidFill>
              </a:rPr>
              <a:t> ("</a:t>
            </a:r>
            <a:r>
              <a:rPr lang="en-US" altLang="zh-CN" sz="2000" dirty="0" err="1">
                <a:solidFill>
                  <a:srgbClr val="339933"/>
                </a:solidFill>
              </a:rPr>
              <a:t>maxrow</a:t>
            </a:r>
            <a:r>
              <a:rPr lang="en-US" altLang="zh-CN" sz="2000" dirty="0">
                <a:solidFill>
                  <a:srgbClr val="339933"/>
                </a:solidFill>
              </a:rPr>
              <a:t> = %d\n", </a:t>
            </a:r>
            <a:r>
              <a:rPr lang="en-US" altLang="zh-CN" sz="2000" dirty="0" err="1">
                <a:solidFill>
                  <a:srgbClr val="339933"/>
                </a:solidFill>
              </a:rPr>
              <a:t>maxrow</a:t>
            </a:r>
            <a:r>
              <a:rPr lang="en-US" altLang="zh-CN" sz="2000" dirty="0">
                <a:solidFill>
                  <a:srgbClr val="339933"/>
                </a:solidFill>
              </a:rPr>
              <a:t>);</a:t>
            </a:r>
          </a:p>
          <a:p>
            <a:pPr marL="457200" indent="-457200"/>
            <a:r>
              <a:rPr lang="en-US" altLang="zh-CN" sz="1800" dirty="0">
                <a:solidFill>
                  <a:schemeClr val="accent2">
                    <a:lumMod val="50000"/>
                  </a:schemeClr>
                </a:solidFill>
                <a:latin typeface="+mn-lt"/>
                <a:ea typeface="楷体" pitchFamily="49" charset="-122"/>
              </a:rPr>
              <a:t>  </a:t>
            </a:r>
            <a:r>
              <a:rPr lang="en-US" altLang="zh-CN" sz="1600" dirty="0">
                <a:solidFill>
                  <a:schemeClr val="accent2">
                    <a:lumMod val="50000"/>
                  </a:schemeClr>
                </a:solidFill>
                <a:latin typeface="+mn-lt"/>
                <a:ea typeface="楷体" pitchFamily="49" charset="-122"/>
              </a:rPr>
              <a:t>//</a:t>
            </a:r>
            <a:r>
              <a:rPr lang="zh-CN" altLang="en-US" sz="1600" dirty="0">
                <a:solidFill>
                  <a:schemeClr val="accent2">
                    <a:lumMod val="50000"/>
                  </a:schemeClr>
                </a:solidFill>
                <a:latin typeface="+mn-lt"/>
                <a:ea typeface="楷体" pitchFamily="49" charset="-122"/>
              </a:rPr>
              <a:t>释放动态分配的内存空间</a:t>
            </a:r>
          </a:p>
          <a:p>
            <a:pPr marL="457200" indent="-457200"/>
            <a:r>
              <a:rPr lang="zh-CN" altLang="en-US" sz="2000" dirty="0"/>
              <a:t>  </a:t>
            </a:r>
            <a:r>
              <a:rPr lang="en-US" altLang="zh-CN" sz="2000" dirty="0">
                <a:solidFill>
                  <a:srgbClr val="CC0099"/>
                </a:solidFill>
              </a:rPr>
              <a:t>for (</a:t>
            </a:r>
            <a:r>
              <a:rPr lang="en-US" altLang="zh-CN" sz="2000" dirty="0" err="1">
                <a:solidFill>
                  <a:srgbClr val="CC0099"/>
                </a:solidFill>
              </a:rPr>
              <a:t>i</a:t>
            </a:r>
            <a:r>
              <a:rPr lang="en-US" altLang="zh-CN" sz="2000" dirty="0">
                <a:solidFill>
                  <a:srgbClr val="CC0099"/>
                </a:solidFill>
              </a:rPr>
              <a:t> = 0 ; </a:t>
            </a:r>
            <a:r>
              <a:rPr lang="en-US" altLang="zh-CN" sz="2000" dirty="0" err="1">
                <a:solidFill>
                  <a:srgbClr val="CC0099"/>
                </a:solidFill>
              </a:rPr>
              <a:t>i</a:t>
            </a:r>
            <a:r>
              <a:rPr lang="en-US" altLang="zh-CN" sz="2000" dirty="0">
                <a:solidFill>
                  <a:srgbClr val="CC0099"/>
                </a:solidFill>
              </a:rPr>
              <a:t> &lt; row; </a:t>
            </a:r>
            <a:r>
              <a:rPr lang="en-US" altLang="zh-CN" sz="2000" dirty="0" err="1">
                <a:solidFill>
                  <a:srgbClr val="CC0099"/>
                </a:solidFill>
              </a:rPr>
              <a:t>i</a:t>
            </a:r>
            <a:r>
              <a:rPr lang="en-US" altLang="zh-CN" sz="2000" dirty="0">
                <a:solidFill>
                  <a:srgbClr val="CC0099"/>
                </a:solidFill>
              </a:rPr>
              <a:t>++)</a:t>
            </a:r>
          </a:p>
          <a:p>
            <a:pPr marL="457200" indent="-457200"/>
            <a:r>
              <a:rPr lang="en-US" altLang="zh-CN" sz="2000" dirty="0">
                <a:solidFill>
                  <a:srgbClr val="CC0099"/>
                </a:solidFill>
              </a:rPr>
              <a:t>       free (p[</a:t>
            </a:r>
            <a:r>
              <a:rPr lang="en-US" altLang="zh-CN" sz="2000" dirty="0" err="1">
                <a:solidFill>
                  <a:srgbClr val="CC0099"/>
                </a:solidFill>
              </a:rPr>
              <a:t>i</a:t>
            </a:r>
            <a:r>
              <a:rPr lang="en-US" altLang="zh-CN" sz="2000" dirty="0">
                <a:solidFill>
                  <a:srgbClr val="CC0099"/>
                </a:solidFill>
              </a:rPr>
              <a:t>]);</a:t>
            </a:r>
          </a:p>
          <a:p>
            <a:pPr marL="457200" indent="-457200"/>
            <a:r>
              <a:rPr lang="en-US" altLang="zh-CN" sz="2000" dirty="0">
                <a:solidFill>
                  <a:srgbClr val="C00000"/>
                </a:solidFill>
              </a:rPr>
              <a:t>  free (p);</a:t>
            </a:r>
          </a:p>
          <a:p>
            <a:pPr marL="457200" indent="-457200"/>
            <a:r>
              <a:rPr lang="en-US" altLang="zh-CN" sz="2000" dirty="0"/>
              <a:t>  return 0;</a:t>
            </a:r>
          </a:p>
          <a:p>
            <a:pPr marL="457200" indent="-457200"/>
            <a:r>
              <a:rPr lang="en-US" altLang="zh-CN" sz="2000" dirty="0"/>
              <a:t>}</a:t>
            </a:r>
          </a:p>
        </p:txBody>
      </p:sp>
      <p:sp>
        <p:nvSpPr>
          <p:cNvPr id="1207302" name="Text Box 6"/>
          <p:cNvSpPr txBox="1">
            <a:spLocks noChangeArrowheads="1"/>
          </p:cNvSpPr>
          <p:nvPr/>
        </p:nvSpPr>
        <p:spPr bwMode="auto">
          <a:xfrm>
            <a:off x="871791" y="899572"/>
            <a:ext cx="5599610" cy="461665"/>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a:t>
            </a:r>
            <a:r>
              <a:rPr lang="zh-CN" altLang="en-US" dirty="0"/>
              <a:t>求某矩阵中行元素之和的最大值 </a:t>
            </a:r>
          </a:p>
        </p:txBody>
      </p:sp>
      <p:graphicFrame>
        <p:nvGraphicFramePr>
          <p:cNvPr id="1207303" name="Group 7"/>
          <p:cNvGraphicFramePr>
            <a:graphicFrameLocks noGrp="1"/>
          </p:cNvGraphicFramePr>
          <p:nvPr/>
        </p:nvGraphicFramePr>
        <p:xfrm>
          <a:off x="7949877" y="3241675"/>
          <a:ext cx="865188" cy="1368426"/>
        </p:xfrm>
        <a:graphic>
          <a:graphicData uri="http://schemas.openxmlformats.org/drawingml/2006/table">
            <a:tbl>
              <a:tblPr/>
              <a:tblGrid>
                <a:gridCol w="865188">
                  <a:extLst>
                    <a:ext uri="{9D8B030D-6E8A-4147-A177-3AD203B41FA5}">
                      <a16:colId xmlns:a16="http://schemas.microsoft.com/office/drawing/2014/main" val="20000"/>
                    </a:ext>
                  </a:extLst>
                </a:gridCol>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p[0]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p[1]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p[2]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207313" name="Group 17"/>
          <p:cNvGraphicFramePr>
            <a:graphicFrameLocks noGrp="1"/>
          </p:cNvGraphicFramePr>
          <p:nvPr>
            <p:extLst>
              <p:ext uri="{D42A27DB-BD31-4B8C-83A1-F6EECF244321}">
                <p14:modId xmlns:p14="http://schemas.microsoft.com/office/powerpoint/2010/main" val="579813277"/>
              </p:ext>
            </p:extLst>
          </p:nvPr>
        </p:nvGraphicFramePr>
        <p:xfrm>
          <a:off x="9432603" y="3213100"/>
          <a:ext cx="1584325" cy="1368426"/>
        </p:xfrm>
        <a:graphic>
          <a:graphicData uri="http://schemas.openxmlformats.org/drawingml/2006/table">
            <a:tbl>
              <a:tblPr/>
              <a:tblGrid>
                <a:gridCol w="396875">
                  <a:extLst>
                    <a:ext uri="{9D8B030D-6E8A-4147-A177-3AD203B41FA5}">
                      <a16:colId xmlns:a16="http://schemas.microsoft.com/office/drawing/2014/main" val="20000"/>
                    </a:ext>
                  </a:extLst>
                </a:gridCol>
                <a:gridCol w="395288">
                  <a:extLst>
                    <a:ext uri="{9D8B030D-6E8A-4147-A177-3AD203B41FA5}">
                      <a16:colId xmlns:a16="http://schemas.microsoft.com/office/drawing/2014/main" val="20001"/>
                    </a:ext>
                  </a:extLst>
                </a:gridCol>
                <a:gridCol w="396875">
                  <a:extLst>
                    <a:ext uri="{9D8B030D-6E8A-4147-A177-3AD203B41FA5}">
                      <a16:colId xmlns:a16="http://schemas.microsoft.com/office/drawing/2014/main" val="20002"/>
                    </a:ext>
                  </a:extLst>
                </a:gridCol>
                <a:gridCol w="395287">
                  <a:extLst>
                    <a:ext uri="{9D8B030D-6E8A-4147-A177-3AD203B41FA5}">
                      <a16:colId xmlns:a16="http://schemas.microsoft.com/office/drawing/2014/main" val="20003"/>
                    </a:ext>
                  </a:extLst>
                </a:gridCol>
              </a:tblGrid>
              <a:tr h="427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207335" name="Group 39"/>
          <p:cNvGrpSpPr>
            <a:grpSpLocks/>
          </p:cNvGrpSpPr>
          <p:nvPr/>
        </p:nvGrpSpPr>
        <p:grpSpPr bwMode="auto">
          <a:xfrm>
            <a:off x="7475216" y="2967038"/>
            <a:ext cx="446087" cy="404812"/>
            <a:chOff x="3397" y="1869"/>
            <a:chExt cx="281" cy="255"/>
          </a:xfrm>
        </p:grpSpPr>
        <p:sp>
          <p:nvSpPr>
            <p:cNvPr id="1207336" name="Line 40"/>
            <p:cNvSpPr>
              <a:spLocks noChangeShapeType="1"/>
            </p:cNvSpPr>
            <p:nvPr/>
          </p:nvSpPr>
          <p:spPr bwMode="auto">
            <a:xfrm>
              <a:off x="3406" y="2124"/>
              <a:ext cx="272"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207337" name="Text Box 41"/>
            <p:cNvSpPr txBox="1">
              <a:spLocks noChangeArrowheads="1"/>
            </p:cNvSpPr>
            <p:nvPr/>
          </p:nvSpPr>
          <p:spPr bwMode="auto">
            <a:xfrm>
              <a:off x="3397" y="1869"/>
              <a:ext cx="181"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rgbClr val="C00000"/>
                  </a:solidFill>
                </a:rPr>
                <a:t>p</a:t>
              </a:r>
            </a:p>
          </p:txBody>
        </p:sp>
      </p:grpSp>
      <p:sp>
        <p:nvSpPr>
          <p:cNvPr id="1207338" name="Text Box 42"/>
          <p:cNvSpPr txBox="1">
            <a:spLocks noChangeArrowheads="1"/>
          </p:cNvSpPr>
          <p:nvPr/>
        </p:nvSpPr>
        <p:spPr bwMode="auto">
          <a:xfrm>
            <a:off x="7733978" y="1193800"/>
            <a:ext cx="2733675" cy="1323439"/>
          </a:xfrm>
          <a:prstGeom prst="rect">
            <a:avLst/>
          </a:prstGeom>
          <a:gradFill>
            <a:gsLst>
              <a:gs pos="0">
                <a:srgbClr val="CFCFD1"/>
              </a:gs>
              <a:gs pos="100000">
                <a:schemeClr val="bg1">
                  <a:lumMod val="95000"/>
                </a:schemeClr>
              </a:gs>
            </a:gsLst>
            <a:lin ang="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en-US" altLang="zh-CN" sz="2000" dirty="0"/>
              <a:t>input the number:</a:t>
            </a:r>
          </a:p>
          <a:p>
            <a:pPr marL="342900" indent="-342900"/>
            <a:r>
              <a:rPr lang="en-US" altLang="zh-CN" sz="2000" b="1" dirty="0">
                <a:solidFill>
                  <a:schemeClr val="accent2">
                    <a:lumMod val="50000"/>
                  </a:schemeClr>
                </a:solidFill>
              </a:rPr>
              <a:t>3  –4   6   8</a:t>
            </a:r>
            <a:r>
              <a:rPr lang="en-US" altLang="zh-CN" sz="2000" b="1" dirty="0">
                <a:solidFill>
                  <a:schemeClr val="accent2">
                    <a:lumMod val="50000"/>
                  </a:schemeClr>
                </a:solidFill>
                <a:latin typeface="+mn-ea"/>
                <a:ea typeface="+mn-ea"/>
              </a:rPr>
              <a:t>↙</a:t>
            </a:r>
          </a:p>
          <a:p>
            <a:pPr marL="342900" indent="-342900"/>
            <a:r>
              <a:rPr lang="en-US" altLang="zh-CN" sz="2000" b="1" dirty="0">
                <a:solidFill>
                  <a:schemeClr val="accent2">
                    <a:lumMod val="50000"/>
                  </a:schemeClr>
                </a:solidFill>
              </a:rPr>
              <a:t>4   6  –2   7</a:t>
            </a:r>
            <a:r>
              <a:rPr lang="en-US" altLang="zh-CN" sz="2000" b="1" dirty="0">
                <a:solidFill>
                  <a:schemeClr val="accent2">
                    <a:lumMod val="50000"/>
                  </a:schemeClr>
                </a:solidFill>
                <a:latin typeface="+mn-ea"/>
                <a:ea typeface="+mn-ea"/>
              </a:rPr>
              <a:t>↙</a:t>
            </a:r>
          </a:p>
          <a:p>
            <a:pPr marL="342900" indent="-342900"/>
            <a:r>
              <a:rPr lang="en-US" altLang="zh-CN" sz="2000" b="1" dirty="0">
                <a:solidFill>
                  <a:schemeClr val="accent2">
                    <a:lumMod val="50000"/>
                  </a:schemeClr>
                </a:solidFill>
              </a:rPr>
              <a:t>0   9   8    6</a:t>
            </a:r>
            <a:r>
              <a:rPr lang="en-US" altLang="zh-CN" sz="2000" b="1" dirty="0">
                <a:solidFill>
                  <a:schemeClr val="accent2">
                    <a:lumMod val="50000"/>
                  </a:schemeClr>
                </a:solidFill>
                <a:latin typeface="+mn-ea"/>
                <a:ea typeface="+mn-ea"/>
              </a:rPr>
              <a:t>↙</a:t>
            </a:r>
          </a:p>
        </p:txBody>
      </p:sp>
      <p:sp>
        <p:nvSpPr>
          <p:cNvPr id="1207340" name="Line 44"/>
          <p:cNvSpPr>
            <a:spLocks noChangeShapeType="1"/>
          </p:cNvSpPr>
          <p:nvPr/>
        </p:nvSpPr>
        <p:spPr bwMode="auto">
          <a:xfrm>
            <a:off x="8670603" y="3429000"/>
            <a:ext cx="720725"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1207341" name="Line 45"/>
          <p:cNvSpPr>
            <a:spLocks noChangeShapeType="1"/>
          </p:cNvSpPr>
          <p:nvPr/>
        </p:nvSpPr>
        <p:spPr bwMode="auto">
          <a:xfrm>
            <a:off x="8686478" y="3887788"/>
            <a:ext cx="720725"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1207342" name="Line 46"/>
          <p:cNvSpPr>
            <a:spLocks noChangeShapeType="1"/>
          </p:cNvSpPr>
          <p:nvPr/>
        </p:nvSpPr>
        <p:spPr bwMode="auto">
          <a:xfrm>
            <a:off x="8688066" y="4375150"/>
            <a:ext cx="720725" cy="0"/>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1207343" name="Text Box 47"/>
          <p:cNvSpPr txBox="1">
            <a:spLocks noChangeArrowheads="1"/>
          </p:cNvSpPr>
          <p:nvPr/>
        </p:nvSpPr>
        <p:spPr bwMode="auto">
          <a:xfrm>
            <a:off x="9477052" y="3255963"/>
            <a:ext cx="287338"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chemeClr val="accent2">
                    <a:lumMod val="50000"/>
                  </a:schemeClr>
                </a:solidFill>
              </a:rPr>
              <a:t>3</a:t>
            </a:r>
          </a:p>
        </p:txBody>
      </p:sp>
      <p:sp>
        <p:nvSpPr>
          <p:cNvPr id="1207344" name="Text Box 48"/>
          <p:cNvSpPr txBox="1">
            <a:spLocks noChangeArrowheads="1"/>
          </p:cNvSpPr>
          <p:nvPr/>
        </p:nvSpPr>
        <p:spPr bwMode="auto">
          <a:xfrm>
            <a:off x="9794552" y="3255963"/>
            <a:ext cx="431800"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chemeClr val="accent2">
                    <a:lumMod val="50000"/>
                  </a:schemeClr>
                </a:solidFill>
              </a:rPr>
              <a:t>-4</a:t>
            </a:r>
          </a:p>
        </p:txBody>
      </p:sp>
      <p:sp>
        <p:nvSpPr>
          <p:cNvPr id="1207345" name="Text Box 49"/>
          <p:cNvSpPr txBox="1">
            <a:spLocks noChangeArrowheads="1"/>
          </p:cNvSpPr>
          <p:nvPr/>
        </p:nvSpPr>
        <p:spPr bwMode="auto">
          <a:xfrm>
            <a:off x="10254927" y="3241675"/>
            <a:ext cx="287338"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chemeClr val="accent2">
                    <a:lumMod val="50000"/>
                  </a:schemeClr>
                </a:solidFill>
              </a:rPr>
              <a:t>6</a:t>
            </a:r>
          </a:p>
        </p:txBody>
      </p:sp>
      <p:sp>
        <p:nvSpPr>
          <p:cNvPr id="1207346" name="Text Box 50"/>
          <p:cNvSpPr txBox="1">
            <a:spLocks noChangeArrowheads="1"/>
          </p:cNvSpPr>
          <p:nvPr/>
        </p:nvSpPr>
        <p:spPr bwMode="auto">
          <a:xfrm>
            <a:off x="10670852" y="3257550"/>
            <a:ext cx="287338"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chemeClr val="accent2">
                    <a:lumMod val="50000"/>
                  </a:schemeClr>
                </a:solidFill>
              </a:rPr>
              <a:t>8</a:t>
            </a:r>
          </a:p>
        </p:txBody>
      </p:sp>
      <p:sp>
        <p:nvSpPr>
          <p:cNvPr id="1207347" name="Text Box 51"/>
          <p:cNvSpPr txBox="1">
            <a:spLocks noChangeArrowheads="1"/>
          </p:cNvSpPr>
          <p:nvPr/>
        </p:nvSpPr>
        <p:spPr bwMode="auto">
          <a:xfrm>
            <a:off x="9492927" y="3686175"/>
            <a:ext cx="287338"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chemeClr val="accent2">
                    <a:lumMod val="50000"/>
                  </a:schemeClr>
                </a:solidFill>
              </a:rPr>
              <a:t>4</a:t>
            </a:r>
          </a:p>
        </p:txBody>
      </p:sp>
      <p:sp>
        <p:nvSpPr>
          <p:cNvPr id="1207348" name="Text Box 52"/>
          <p:cNvSpPr txBox="1">
            <a:spLocks noChangeArrowheads="1"/>
          </p:cNvSpPr>
          <p:nvPr/>
        </p:nvSpPr>
        <p:spPr bwMode="auto">
          <a:xfrm>
            <a:off x="9865991" y="3687763"/>
            <a:ext cx="287337"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chemeClr val="accent2">
                    <a:lumMod val="50000"/>
                  </a:schemeClr>
                </a:solidFill>
              </a:rPr>
              <a:t>6</a:t>
            </a:r>
          </a:p>
        </p:txBody>
      </p:sp>
      <p:sp>
        <p:nvSpPr>
          <p:cNvPr id="1207349" name="Text Box 53"/>
          <p:cNvSpPr txBox="1">
            <a:spLocks noChangeArrowheads="1"/>
          </p:cNvSpPr>
          <p:nvPr/>
        </p:nvSpPr>
        <p:spPr bwMode="auto">
          <a:xfrm>
            <a:off x="10210477" y="3671888"/>
            <a:ext cx="431800"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chemeClr val="accent2">
                    <a:lumMod val="50000"/>
                  </a:schemeClr>
                </a:solidFill>
              </a:rPr>
              <a:t>-2</a:t>
            </a:r>
          </a:p>
        </p:txBody>
      </p:sp>
      <p:sp>
        <p:nvSpPr>
          <p:cNvPr id="1207350" name="Text Box 54"/>
          <p:cNvSpPr txBox="1">
            <a:spLocks noChangeArrowheads="1"/>
          </p:cNvSpPr>
          <p:nvPr/>
        </p:nvSpPr>
        <p:spPr bwMode="auto">
          <a:xfrm>
            <a:off x="10658152" y="3687763"/>
            <a:ext cx="287338"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chemeClr val="accent2">
                    <a:lumMod val="50000"/>
                  </a:schemeClr>
                </a:solidFill>
              </a:rPr>
              <a:t>7</a:t>
            </a:r>
          </a:p>
        </p:txBody>
      </p:sp>
      <p:sp>
        <p:nvSpPr>
          <p:cNvPr id="1207351" name="Text Box 55"/>
          <p:cNvSpPr txBox="1">
            <a:spLocks noChangeArrowheads="1"/>
          </p:cNvSpPr>
          <p:nvPr/>
        </p:nvSpPr>
        <p:spPr bwMode="auto">
          <a:xfrm>
            <a:off x="9480227" y="4187825"/>
            <a:ext cx="287338"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chemeClr val="accent2">
                    <a:lumMod val="50000"/>
                  </a:schemeClr>
                </a:solidFill>
              </a:rPr>
              <a:t>0</a:t>
            </a:r>
          </a:p>
        </p:txBody>
      </p:sp>
      <p:sp>
        <p:nvSpPr>
          <p:cNvPr id="1207352" name="Text Box 56"/>
          <p:cNvSpPr txBox="1">
            <a:spLocks noChangeArrowheads="1"/>
          </p:cNvSpPr>
          <p:nvPr/>
        </p:nvSpPr>
        <p:spPr bwMode="auto">
          <a:xfrm>
            <a:off x="9867577" y="4189413"/>
            <a:ext cx="287338"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chemeClr val="accent2">
                    <a:lumMod val="50000"/>
                  </a:schemeClr>
                </a:solidFill>
              </a:rPr>
              <a:t>9</a:t>
            </a:r>
          </a:p>
        </p:txBody>
      </p:sp>
      <p:sp>
        <p:nvSpPr>
          <p:cNvPr id="1207353" name="Text Box 57"/>
          <p:cNvSpPr txBox="1">
            <a:spLocks noChangeArrowheads="1"/>
          </p:cNvSpPr>
          <p:nvPr/>
        </p:nvSpPr>
        <p:spPr bwMode="auto">
          <a:xfrm>
            <a:off x="10254927" y="4176713"/>
            <a:ext cx="287338"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chemeClr val="accent2">
                    <a:lumMod val="50000"/>
                  </a:schemeClr>
                </a:solidFill>
              </a:rPr>
              <a:t>8</a:t>
            </a:r>
          </a:p>
        </p:txBody>
      </p:sp>
      <p:sp>
        <p:nvSpPr>
          <p:cNvPr id="1207354" name="Text Box 58"/>
          <p:cNvSpPr txBox="1">
            <a:spLocks noChangeArrowheads="1"/>
          </p:cNvSpPr>
          <p:nvPr/>
        </p:nvSpPr>
        <p:spPr bwMode="auto">
          <a:xfrm>
            <a:off x="10656566" y="4178300"/>
            <a:ext cx="287337"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chemeClr val="accent2">
                    <a:lumMod val="50000"/>
                  </a:schemeClr>
                </a:solidFill>
              </a:rPr>
              <a:t>6</a:t>
            </a:r>
          </a:p>
        </p:txBody>
      </p:sp>
      <p:sp>
        <p:nvSpPr>
          <p:cNvPr id="1207355" name="Text Box 59"/>
          <p:cNvSpPr txBox="1">
            <a:spLocks noChangeArrowheads="1"/>
          </p:cNvSpPr>
          <p:nvPr/>
        </p:nvSpPr>
        <p:spPr bwMode="auto">
          <a:xfrm>
            <a:off x="3052020" y="5262447"/>
            <a:ext cx="3023964" cy="707886"/>
          </a:xfrm>
          <a:prstGeom prst="rect">
            <a:avLst/>
          </a:prstGeom>
          <a:solidFill>
            <a:srgbClr val="FFFFFF"/>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zh-CN" altLang="en-US" sz="2000" dirty="0">
                <a:solidFill>
                  <a:srgbClr val="C00000"/>
                </a:solidFill>
                <a:latin typeface="隶书" pitchFamily="49" charset="-122"/>
                <a:ea typeface="隶书" pitchFamily="49" charset="-122"/>
              </a:rPr>
              <a:t>运行结果：</a:t>
            </a:r>
          </a:p>
          <a:p>
            <a:pPr algn="just"/>
            <a:r>
              <a:rPr lang="en-US" altLang="zh-CN" sz="2000" dirty="0" err="1">
                <a:solidFill>
                  <a:srgbClr val="002060"/>
                </a:solidFill>
              </a:rPr>
              <a:t>maxrow</a:t>
            </a:r>
            <a:r>
              <a:rPr lang="en-US" altLang="zh-CN" sz="2000" dirty="0">
                <a:solidFill>
                  <a:srgbClr val="002060"/>
                </a:solidFill>
              </a:rPr>
              <a:t> = 23</a:t>
            </a:r>
          </a:p>
        </p:txBody>
      </p:sp>
      <p:sp useBgFill="1">
        <p:nvSpPr>
          <p:cNvPr id="1207356" name="Rectangle 60"/>
          <p:cNvSpPr>
            <a:spLocks noChangeArrowheads="1"/>
          </p:cNvSpPr>
          <p:nvPr/>
        </p:nvSpPr>
        <p:spPr bwMode="auto">
          <a:xfrm>
            <a:off x="9391328" y="3068837"/>
            <a:ext cx="1655763" cy="576263"/>
          </a:xfrm>
          <a:prstGeom prst="rect">
            <a:avLst/>
          </a:prstGeom>
          <a:ln w="9525" algn="ctr">
            <a:noFill/>
            <a:miter lim="800000"/>
            <a:headEnd/>
            <a:tailEnd/>
          </a:ln>
          <a:effectLst/>
        </p:spPr>
        <p:txBody>
          <a:bodyPr wrap="none" anchor="ctr"/>
          <a:lstStyle/>
          <a:p>
            <a:endParaRPr lang="zh-CN" altLang="en-US"/>
          </a:p>
        </p:txBody>
      </p:sp>
      <p:sp useBgFill="1">
        <p:nvSpPr>
          <p:cNvPr id="1207357" name="Rectangle 61"/>
          <p:cNvSpPr>
            <a:spLocks noChangeArrowheads="1"/>
          </p:cNvSpPr>
          <p:nvPr/>
        </p:nvSpPr>
        <p:spPr bwMode="auto">
          <a:xfrm>
            <a:off x="9407203" y="3541912"/>
            <a:ext cx="1655763" cy="576263"/>
          </a:xfrm>
          <a:prstGeom prst="rect">
            <a:avLst/>
          </a:prstGeom>
          <a:ln w="9525" algn="ctr">
            <a:noFill/>
            <a:miter lim="800000"/>
            <a:headEnd/>
            <a:tailEnd/>
          </a:ln>
          <a:effectLst/>
        </p:spPr>
        <p:txBody>
          <a:bodyPr wrap="none" anchor="ctr"/>
          <a:lstStyle/>
          <a:p>
            <a:endParaRPr lang="zh-CN" altLang="en-US"/>
          </a:p>
        </p:txBody>
      </p:sp>
      <p:sp useBgFill="1">
        <p:nvSpPr>
          <p:cNvPr id="1207358" name="Rectangle 62"/>
          <p:cNvSpPr>
            <a:spLocks noChangeArrowheads="1"/>
          </p:cNvSpPr>
          <p:nvPr/>
        </p:nvSpPr>
        <p:spPr bwMode="auto">
          <a:xfrm>
            <a:off x="9408790" y="4043562"/>
            <a:ext cx="1655762" cy="576263"/>
          </a:xfrm>
          <a:prstGeom prst="rect">
            <a:avLst/>
          </a:prstGeom>
          <a:ln w="9525" algn="ctr">
            <a:noFill/>
            <a:miter lim="800000"/>
            <a:headEnd/>
            <a:tailEnd/>
          </a:ln>
          <a:effectLst/>
        </p:spPr>
        <p:txBody>
          <a:bodyPr wrap="none" anchor="ctr"/>
          <a:lstStyle/>
          <a:p>
            <a:endParaRPr lang="zh-CN" altLang="en-US"/>
          </a:p>
        </p:txBody>
      </p:sp>
      <p:sp useBgFill="1">
        <p:nvSpPr>
          <p:cNvPr id="1207359" name="Rectangle 63"/>
          <p:cNvSpPr>
            <a:spLocks noChangeArrowheads="1"/>
          </p:cNvSpPr>
          <p:nvPr/>
        </p:nvSpPr>
        <p:spPr bwMode="auto">
          <a:xfrm>
            <a:off x="7341865" y="2852936"/>
            <a:ext cx="2444750" cy="1798638"/>
          </a:xfrm>
          <a:prstGeom prst="rect">
            <a:avLst/>
          </a:prstGeom>
          <a:ln w="9525" algn="ctr">
            <a:noFill/>
            <a:miter lim="800000"/>
            <a:headEnd/>
            <a:tailEnd/>
          </a:ln>
          <a:effectLst/>
        </p:spPr>
        <p:txBody>
          <a:bodyPr wrap="none" anchor="ctr"/>
          <a:lstStyle/>
          <a:p>
            <a:endParaRPr lang="zh-CN" altLang="en-US"/>
          </a:p>
        </p:txBody>
      </p:sp>
      <p:sp>
        <p:nvSpPr>
          <p:cNvPr id="1207360" name="Text Box 64" descr="信纸"/>
          <p:cNvSpPr txBox="1">
            <a:spLocks noChangeArrowheads="1"/>
          </p:cNvSpPr>
          <p:nvPr/>
        </p:nvSpPr>
        <p:spPr bwMode="auto">
          <a:xfrm>
            <a:off x="6571841" y="165325"/>
            <a:ext cx="4949997" cy="6383286"/>
          </a:xfrm>
          <a:prstGeom prst="rect">
            <a:avLst/>
          </a:prstGeom>
          <a:gradFill>
            <a:gsLst>
              <a:gs pos="0">
                <a:srgbClr val="CFCFD1"/>
              </a:gs>
              <a:gs pos="100000">
                <a:schemeClr val="bg1">
                  <a:lumMod val="95000"/>
                </a:schemeClr>
              </a:gs>
            </a:gsLst>
            <a:lin ang="0" scaled="1"/>
          </a:gradFill>
          <a:ln w="38100">
            <a:solidFill>
              <a:srgbClr val="00206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1600" dirty="0">
                <a:solidFill>
                  <a:schemeClr val="accent2">
                    <a:lumMod val="50000"/>
                  </a:schemeClr>
                </a:solidFill>
                <a:latin typeface="+mn-lt"/>
                <a:ea typeface="楷体" pitchFamily="49" charset="-122"/>
              </a:rPr>
              <a:t>//</a:t>
            </a:r>
            <a:r>
              <a:rPr lang="zh-CN" altLang="en-US" sz="1600" dirty="0">
                <a:solidFill>
                  <a:schemeClr val="accent2">
                    <a:lumMod val="50000"/>
                  </a:schemeClr>
                </a:solidFill>
                <a:latin typeface="+mn-lt"/>
                <a:ea typeface="楷体" pitchFamily="49" charset="-122"/>
              </a:rPr>
              <a:t>计算矩阵中所有行元素之和的最大值</a:t>
            </a:r>
          </a:p>
          <a:p>
            <a:pPr marL="457200" indent="-457200"/>
            <a:r>
              <a:rPr lang="en-US" altLang="zh-CN" sz="2000" dirty="0" err="1">
                <a:solidFill>
                  <a:srgbClr val="CC0099"/>
                </a:solidFill>
              </a:rPr>
              <a:t>int</a:t>
            </a:r>
            <a:r>
              <a:rPr lang="en-US" altLang="zh-CN" sz="2000" dirty="0">
                <a:solidFill>
                  <a:srgbClr val="CC0099"/>
                </a:solidFill>
              </a:rPr>
              <a:t> </a:t>
            </a:r>
            <a:r>
              <a:rPr lang="en-US" altLang="zh-CN" sz="2000" dirty="0" err="1">
                <a:solidFill>
                  <a:srgbClr val="CC0099"/>
                </a:solidFill>
              </a:rPr>
              <a:t>GetMaxRow</a:t>
            </a:r>
            <a:r>
              <a:rPr lang="en-US" altLang="zh-CN" sz="2000" dirty="0">
                <a:solidFill>
                  <a:srgbClr val="CC0099"/>
                </a:solidFill>
              </a:rPr>
              <a:t> (</a:t>
            </a:r>
            <a:r>
              <a:rPr lang="en-US" altLang="zh-CN" sz="2000" dirty="0" err="1">
                <a:solidFill>
                  <a:srgbClr val="CC0099"/>
                </a:solidFill>
              </a:rPr>
              <a:t>int</a:t>
            </a:r>
            <a:r>
              <a:rPr lang="en-US" altLang="zh-CN" sz="2000" dirty="0">
                <a:solidFill>
                  <a:srgbClr val="CC0099"/>
                </a:solidFill>
              </a:rPr>
              <a:t> **p, </a:t>
            </a:r>
            <a:r>
              <a:rPr lang="en-US" altLang="zh-CN" sz="2000" dirty="0" err="1">
                <a:solidFill>
                  <a:srgbClr val="CC0099"/>
                </a:solidFill>
              </a:rPr>
              <a:t>int</a:t>
            </a:r>
            <a:r>
              <a:rPr lang="en-US" altLang="zh-CN" sz="2000" dirty="0">
                <a:solidFill>
                  <a:srgbClr val="CC0099"/>
                </a:solidFill>
              </a:rPr>
              <a:t> row, </a:t>
            </a:r>
            <a:r>
              <a:rPr lang="en-US" altLang="zh-CN" sz="2000" dirty="0" err="1">
                <a:solidFill>
                  <a:srgbClr val="CC0099"/>
                </a:solidFill>
              </a:rPr>
              <a:t>int</a:t>
            </a:r>
            <a:r>
              <a:rPr lang="en-US" altLang="zh-CN" sz="2000" dirty="0">
                <a:solidFill>
                  <a:srgbClr val="CC0099"/>
                </a:solidFill>
              </a:rPr>
              <a:t> </a:t>
            </a:r>
            <a:r>
              <a:rPr lang="en-US" altLang="zh-CN" sz="2000" dirty="0" err="1">
                <a:solidFill>
                  <a:srgbClr val="CC0099"/>
                </a:solidFill>
              </a:rPr>
              <a:t>col</a:t>
            </a:r>
            <a:r>
              <a:rPr lang="en-US" altLang="zh-CN" sz="2000" dirty="0">
                <a:solidFill>
                  <a:srgbClr val="CC0099"/>
                </a:solidFill>
              </a:rPr>
              <a:t>)</a:t>
            </a:r>
          </a:p>
          <a:p>
            <a:pPr marL="457200" indent="-457200"/>
            <a:r>
              <a:rPr lang="en-US" altLang="zh-CN" sz="2000" dirty="0"/>
              <a:t>{</a:t>
            </a:r>
          </a:p>
          <a:p>
            <a:pPr marL="457200" indent="-457200"/>
            <a:r>
              <a:rPr lang="en-US" altLang="zh-CN" sz="2000" dirty="0"/>
              <a:t>  </a:t>
            </a:r>
            <a:r>
              <a:rPr lang="en-US" altLang="zh-CN" sz="2000" dirty="0" err="1"/>
              <a:t>int</a:t>
            </a:r>
            <a:r>
              <a:rPr lang="en-US" altLang="zh-CN" sz="2000" dirty="0"/>
              <a:t> </a:t>
            </a:r>
            <a:r>
              <a:rPr lang="en-US" altLang="zh-CN" sz="2000" dirty="0" err="1"/>
              <a:t>i</a:t>
            </a:r>
            <a:r>
              <a:rPr lang="en-US" altLang="zh-CN" sz="2000" dirty="0"/>
              <a:t>, max, t;</a:t>
            </a:r>
          </a:p>
          <a:p>
            <a:pPr marL="457200" indent="-457200"/>
            <a:r>
              <a:rPr lang="en-US" altLang="zh-CN" sz="2000" dirty="0"/>
              <a:t>  max = </a:t>
            </a:r>
            <a:r>
              <a:rPr lang="en-US" altLang="zh-CN" sz="2000" dirty="0" err="1"/>
              <a:t>GetSumRow</a:t>
            </a:r>
            <a:r>
              <a:rPr lang="en-US" altLang="zh-CN" sz="2000" dirty="0"/>
              <a:t> (p[0], </a:t>
            </a:r>
            <a:r>
              <a:rPr lang="en-US" altLang="zh-CN" sz="2000" dirty="0" err="1"/>
              <a:t>col</a:t>
            </a:r>
            <a:r>
              <a:rPr lang="en-US" altLang="zh-CN" sz="2000" dirty="0"/>
              <a:t>);</a:t>
            </a:r>
          </a:p>
          <a:p>
            <a:pPr marL="457200" indent="-457200"/>
            <a:r>
              <a:rPr lang="en-US" altLang="zh-CN" sz="2000" dirty="0"/>
              <a:t>  for (</a:t>
            </a:r>
            <a:r>
              <a:rPr lang="en-US" altLang="zh-CN" sz="2000" dirty="0" err="1"/>
              <a:t>i</a:t>
            </a:r>
            <a:r>
              <a:rPr lang="en-US" altLang="zh-CN" sz="2000" dirty="0"/>
              <a:t> = 1 ; </a:t>
            </a:r>
            <a:r>
              <a:rPr lang="en-US" altLang="zh-CN" sz="2000" dirty="0" err="1"/>
              <a:t>i</a:t>
            </a:r>
            <a:r>
              <a:rPr lang="en-US" altLang="zh-CN" sz="2000" dirty="0"/>
              <a:t> &lt; row; </a:t>
            </a:r>
            <a:r>
              <a:rPr lang="en-US" altLang="zh-CN" sz="2000" dirty="0" err="1"/>
              <a:t>i</a:t>
            </a:r>
            <a:r>
              <a:rPr lang="en-US" altLang="zh-CN" sz="2000" dirty="0"/>
              <a:t>++)</a:t>
            </a:r>
          </a:p>
          <a:p>
            <a:pPr marL="457200" indent="-457200"/>
            <a:r>
              <a:rPr lang="en-US" altLang="zh-CN" sz="2000" dirty="0"/>
              <a:t>  {</a:t>
            </a:r>
          </a:p>
          <a:p>
            <a:pPr marL="457200" indent="-457200"/>
            <a:r>
              <a:rPr lang="en-US" altLang="zh-CN" sz="2000" dirty="0"/>
              <a:t>     t = </a:t>
            </a:r>
            <a:r>
              <a:rPr lang="en-US" altLang="zh-CN" sz="2000" dirty="0" err="1"/>
              <a:t>GetSumRow</a:t>
            </a:r>
            <a:r>
              <a:rPr lang="en-US" altLang="zh-CN" sz="2000" dirty="0"/>
              <a:t> (p[</a:t>
            </a:r>
            <a:r>
              <a:rPr lang="en-US" altLang="zh-CN" sz="2000" dirty="0" err="1"/>
              <a:t>i</a:t>
            </a:r>
            <a:r>
              <a:rPr lang="en-US" altLang="zh-CN" sz="2000" dirty="0"/>
              <a:t>], </a:t>
            </a:r>
            <a:r>
              <a:rPr lang="en-US" altLang="zh-CN" sz="2000" dirty="0" err="1"/>
              <a:t>col</a:t>
            </a:r>
            <a:r>
              <a:rPr lang="en-US" altLang="zh-CN" sz="2000" dirty="0"/>
              <a:t>);</a:t>
            </a:r>
          </a:p>
          <a:p>
            <a:pPr marL="457200" indent="-457200"/>
            <a:r>
              <a:rPr lang="en-US" altLang="zh-CN" sz="2000" dirty="0"/>
              <a:t>     if (t &gt; max)  max = t;</a:t>
            </a:r>
          </a:p>
          <a:p>
            <a:pPr marL="457200" indent="-457200"/>
            <a:r>
              <a:rPr lang="en-US" altLang="zh-CN" sz="2000" dirty="0"/>
              <a:t>  }</a:t>
            </a:r>
          </a:p>
          <a:p>
            <a:pPr marL="457200" indent="-457200"/>
            <a:r>
              <a:rPr lang="en-US" altLang="zh-CN" sz="2000" dirty="0"/>
              <a:t>  return (max);</a:t>
            </a:r>
          </a:p>
          <a:p>
            <a:pPr marL="457200" indent="-457200"/>
            <a:r>
              <a:rPr lang="en-US" altLang="zh-CN" sz="2000" dirty="0"/>
              <a:t>}</a:t>
            </a:r>
          </a:p>
          <a:p>
            <a:pPr marL="457200" indent="-457200"/>
            <a:endParaRPr lang="en-US" altLang="zh-CN" sz="2000" dirty="0"/>
          </a:p>
          <a:p>
            <a:pPr marL="457200" indent="-457200"/>
            <a:r>
              <a:rPr lang="en-US" altLang="zh-CN" sz="1600" dirty="0">
                <a:solidFill>
                  <a:schemeClr val="accent2">
                    <a:lumMod val="50000"/>
                  </a:schemeClr>
                </a:solidFill>
                <a:latin typeface="+mn-lt"/>
                <a:ea typeface="楷体" pitchFamily="49" charset="-122"/>
              </a:rPr>
              <a:t>//</a:t>
            </a:r>
            <a:r>
              <a:rPr lang="zh-CN" altLang="en-US" sz="1600" dirty="0">
                <a:solidFill>
                  <a:schemeClr val="accent2">
                    <a:lumMod val="50000"/>
                  </a:schemeClr>
                </a:solidFill>
                <a:latin typeface="+mn-lt"/>
                <a:ea typeface="楷体" pitchFamily="49" charset="-122"/>
              </a:rPr>
              <a:t>计算矩阵中某行元素之和</a:t>
            </a:r>
          </a:p>
          <a:p>
            <a:pPr marL="457200" indent="-457200"/>
            <a:r>
              <a:rPr lang="en-US" altLang="zh-CN" sz="2000" dirty="0" err="1">
                <a:solidFill>
                  <a:srgbClr val="CC0099"/>
                </a:solidFill>
              </a:rPr>
              <a:t>int</a:t>
            </a:r>
            <a:r>
              <a:rPr lang="en-US" altLang="zh-CN" sz="2000" dirty="0">
                <a:solidFill>
                  <a:srgbClr val="CC0099"/>
                </a:solidFill>
              </a:rPr>
              <a:t> </a:t>
            </a:r>
            <a:r>
              <a:rPr lang="en-US" altLang="zh-CN" sz="2000" dirty="0" err="1">
                <a:solidFill>
                  <a:srgbClr val="CC0099"/>
                </a:solidFill>
              </a:rPr>
              <a:t>GetSumRow</a:t>
            </a:r>
            <a:r>
              <a:rPr lang="en-US" altLang="zh-CN" sz="2000" dirty="0">
                <a:solidFill>
                  <a:srgbClr val="CC0099"/>
                </a:solidFill>
              </a:rPr>
              <a:t> (</a:t>
            </a:r>
            <a:r>
              <a:rPr lang="en-US" altLang="zh-CN" sz="2000" dirty="0" err="1">
                <a:solidFill>
                  <a:srgbClr val="CC0099"/>
                </a:solidFill>
              </a:rPr>
              <a:t>int</a:t>
            </a:r>
            <a:r>
              <a:rPr lang="en-US" altLang="zh-CN" sz="2000" dirty="0">
                <a:solidFill>
                  <a:srgbClr val="CC0099"/>
                </a:solidFill>
              </a:rPr>
              <a:t> *p, </a:t>
            </a:r>
            <a:r>
              <a:rPr lang="en-US" altLang="zh-CN" sz="2000" dirty="0" err="1">
                <a:solidFill>
                  <a:srgbClr val="CC0099"/>
                </a:solidFill>
              </a:rPr>
              <a:t>int</a:t>
            </a:r>
            <a:r>
              <a:rPr lang="en-US" altLang="zh-CN" sz="2000" dirty="0">
                <a:solidFill>
                  <a:srgbClr val="CC0099"/>
                </a:solidFill>
              </a:rPr>
              <a:t> num)</a:t>
            </a:r>
          </a:p>
          <a:p>
            <a:pPr marL="457200" indent="-457200"/>
            <a:r>
              <a:rPr lang="en-US" altLang="zh-CN" sz="2000" dirty="0"/>
              <a:t>{</a:t>
            </a:r>
          </a:p>
          <a:p>
            <a:pPr marL="457200" indent="-457200"/>
            <a:r>
              <a:rPr lang="en-US" altLang="zh-CN" sz="2000" dirty="0"/>
              <a:t>  </a:t>
            </a:r>
            <a:r>
              <a:rPr lang="en-US" altLang="zh-CN" sz="2000" dirty="0" err="1"/>
              <a:t>int</a:t>
            </a:r>
            <a:r>
              <a:rPr lang="en-US" altLang="zh-CN" sz="2000" dirty="0"/>
              <a:t> </a:t>
            </a:r>
            <a:r>
              <a:rPr lang="en-US" altLang="zh-CN" sz="2000" dirty="0" err="1"/>
              <a:t>i</a:t>
            </a:r>
            <a:r>
              <a:rPr lang="en-US" altLang="zh-CN" sz="2000" dirty="0"/>
              <a:t>, sum = 0;</a:t>
            </a:r>
          </a:p>
          <a:p>
            <a:pPr marL="457200" indent="-457200"/>
            <a:r>
              <a:rPr lang="en-US" altLang="zh-CN" sz="2000" dirty="0"/>
              <a:t>  for (</a:t>
            </a:r>
            <a:r>
              <a:rPr lang="en-US" altLang="zh-CN" sz="2000" dirty="0" err="1"/>
              <a:t>i</a:t>
            </a:r>
            <a:r>
              <a:rPr lang="en-US" altLang="zh-CN" sz="2000" dirty="0"/>
              <a:t> = 0; </a:t>
            </a:r>
            <a:r>
              <a:rPr lang="en-US" altLang="zh-CN" sz="2000" dirty="0" err="1"/>
              <a:t>i</a:t>
            </a:r>
            <a:r>
              <a:rPr lang="en-US" altLang="zh-CN" sz="2000" dirty="0"/>
              <a:t> &lt; num; </a:t>
            </a:r>
            <a:r>
              <a:rPr lang="en-US" altLang="zh-CN" sz="2000" dirty="0" err="1"/>
              <a:t>i</a:t>
            </a:r>
            <a:r>
              <a:rPr lang="en-US" altLang="zh-CN" sz="2000" dirty="0"/>
              <a:t>++)</a:t>
            </a:r>
          </a:p>
          <a:p>
            <a:pPr marL="457200" indent="-457200"/>
            <a:r>
              <a:rPr lang="en-US" altLang="zh-CN" sz="2000" dirty="0"/>
              <a:t>      sum += p[</a:t>
            </a:r>
            <a:r>
              <a:rPr lang="en-US" altLang="zh-CN" sz="2000" dirty="0" err="1"/>
              <a:t>i</a:t>
            </a:r>
            <a:r>
              <a:rPr lang="en-US" altLang="zh-CN" sz="2000" dirty="0"/>
              <a:t>];</a:t>
            </a:r>
          </a:p>
          <a:p>
            <a:pPr marL="457200" indent="-457200"/>
            <a:r>
              <a:rPr lang="en-US" altLang="zh-CN" sz="2000" dirty="0"/>
              <a:t>  return (sum);</a:t>
            </a:r>
          </a:p>
          <a:p>
            <a:pPr marL="457200" indent="-457200"/>
            <a:r>
              <a:rPr lang="en-US" altLang="zh-CN" sz="2000" dirty="0"/>
              <a:t>}</a:t>
            </a:r>
          </a:p>
        </p:txBody>
      </p:sp>
      <p:sp>
        <p:nvSpPr>
          <p:cNvPr id="34" name="Rectangle 4">
            <a:extLst>
              <a:ext uri="{FF2B5EF4-FFF2-40B4-BE49-F238E27FC236}">
                <a16:creationId xmlns:a16="http://schemas.microsoft.com/office/drawing/2014/main" id="{92027B7F-D4EE-4569-96A9-2484737D746E}"/>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07298">
                                            <p:txEl>
                                              <p:pRg st="0" end="0"/>
                                            </p:txEl>
                                          </p:spTgt>
                                        </p:tgtEl>
                                        <p:attrNameLst>
                                          <p:attrName>style.visibility</p:attrName>
                                        </p:attrNameLst>
                                      </p:cBhvr>
                                      <p:to>
                                        <p:strVal val="visible"/>
                                      </p:to>
                                    </p:set>
                                    <p:anim calcmode="lin" valueType="num">
                                      <p:cBhvr additive="base">
                                        <p:cTn id="7" dur="500" fill="hold"/>
                                        <p:tgtEl>
                                          <p:spTgt spid="12072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07298">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207298">
                                            <p:txEl>
                                              <p:pRg st="1" end="1"/>
                                            </p:txEl>
                                          </p:spTgt>
                                        </p:tgtEl>
                                        <p:attrNameLst>
                                          <p:attrName>style.visibility</p:attrName>
                                        </p:attrNameLst>
                                      </p:cBhvr>
                                      <p:to>
                                        <p:strVal val="visible"/>
                                      </p:to>
                                    </p:set>
                                    <p:anim calcmode="lin" valueType="num">
                                      <p:cBhvr additive="base">
                                        <p:cTn id="11" dur="500" fill="hold"/>
                                        <p:tgtEl>
                                          <p:spTgt spid="120729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07298">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207298">
                                            <p:txEl>
                                              <p:pRg st="2" end="2"/>
                                            </p:txEl>
                                          </p:spTgt>
                                        </p:tgtEl>
                                        <p:attrNameLst>
                                          <p:attrName>style.visibility</p:attrName>
                                        </p:attrNameLst>
                                      </p:cBhvr>
                                      <p:to>
                                        <p:strVal val="visible"/>
                                      </p:to>
                                    </p:set>
                                    <p:anim calcmode="lin" valueType="num">
                                      <p:cBhvr additive="base">
                                        <p:cTn id="15" dur="500" fill="hold"/>
                                        <p:tgtEl>
                                          <p:spTgt spid="120729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07298">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207298">
                                            <p:txEl>
                                              <p:pRg st="3" end="3"/>
                                            </p:txEl>
                                          </p:spTgt>
                                        </p:tgtEl>
                                        <p:attrNameLst>
                                          <p:attrName>style.visibility</p:attrName>
                                        </p:attrNameLst>
                                      </p:cBhvr>
                                      <p:to>
                                        <p:strVal val="visible"/>
                                      </p:to>
                                    </p:set>
                                    <p:anim calcmode="lin" valueType="num">
                                      <p:cBhvr additive="base">
                                        <p:cTn id="19" dur="500" fill="hold"/>
                                        <p:tgtEl>
                                          <p:spTgt spid="120729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07298">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1207298">
                                            <p:txEl>
                                              <p:pRg st="4" end="4"/>
                                            </p:txEl>
                                          </p:spTgt>
                                        </p:tgtEl>
                                        <p:attrNameLst>
                                          <p:attrName>style.visibility</p:attrName>
                                        </p:attrNameLst>
                                      </p:cBhvr>
                                      <p:to>
                                        <p:strVal val="visible"/>
                                      </p:to>
                                    </p:set>
                                    <p:anim calcmode="lin" valueType="num">
                                      <p:cBhvr additive="base">
                                        <p:cTn id="23" dur="500" fill="hold"/>
                                        <p:tgtEl>
                                          <p:spTgt spid="1207298">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07298">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par>
                          <p:cTn id="25" fill="hold">
                            <p:stCondLst>
                              <p:cond delay="500"/>
                            </p:stCondLst>
                            <p:childTnLst>
                              <p:par>
                                <p:cTn id="26" presetID="4" presetClass="entr" presetSubtype="32" fill="hold" grpId="0" nodeType="afterEffect">
                                  <p:stCondLst>
                                    <p:cond delay="0"/>
                                  </p:stCondLst>
                                  <p:childTnLst>
                                    <p:set>
                                      <p:cBhvr>
                                        <p:cTn id="27" dur="1" fill="hold">
                                          <p:stCondLst>
                                            <p:cond delay="0"/>
                                          </p:stCondLst>
                                        </p:cTn>
                                        <p:tgtEl>
                                          <p:spTgt spid="1207338"/>
                                        </p:tgtEl>
                                        <p:attrNameLst>
                                          <p:attrName>style.visibility</p:attrName>
                                        </p:attrNameLst>
                                      </p:cBhvr>
                                      <p:to>
                                        <p:strVal val="visible"/>
                                      </p:to>
                                    </p:set>
                                    <p:animEffect transition="in" filter="box(out)">
                                      <p:cBhvr>
                                        <p:cTn id="28" dur="500"/>
                                        <p:tgtEl>
                                          <p:spTgt spid="1207338"/>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1000"/>
                            </p:stCondLst>
                            <p:childTnLst>
                              <p:par>
                                <p:cTn id="30" presetID="4" presetClass="entr" presetSubtype="32" fill="hold" grpId="0" nodeType="afterEffect">
                                  <p:stCondLst>
                                    <p:cond delay="0"/>
                                  </p:stCondLst>
                                  <p:childTnLst>
                                    <p:set>
                                      <p:cBhvr>
                                        <p:cTn id="31" dur="1" fill="hold">
                                          <p:stCondLst>
                                            <p:cond delay="0"/>
                                          </p:stCondLst>
                                        </p:cTn>
                                        <p:tgtEl>
                                          <p:spTgt spid="1207343"/>
                                        </p:tgtEl>
                                        <p:attrNameLst>
                                          <p:attrName>style.visibility</p:attrName>
                                        </p:attrNameLst>
                                      </p:cBhvr>
                                      <p:to>
                                        <p:strVal val="visible"/>
                                      </p:to>
                                    </p:set>
                                    <p:animEffect transition="in" filter="box(out)">
                                      <p:cBhvr>
                                        <p:cTn id="32" dur="500"/>
                                        <p:tgtEl>
                                          <p:spTgt spid="1207343"/>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1500"/>
                            </p:stCondLst>
                            <p:childTnLst>
                              <p:par>
                                <p:cTn id="34" presetID="4" presetClass="entr" presetSubtype="32" fill="hold" grpId="0" nodeType="afterEffect">
                                  <p:stCondLst>
                                    <p:cond delay="0"/>
                                  </p:stCondLst>
                                  <p:childTnLst>
                                    <p:set>
                                      <p:cBhvr>
                                        <p:cTn id="35" dur="1" fill="hold">
                                          <p:stCondLst>
                                            <p:cond delay="0"/>
                                          </p:stCondLst>
                                        </p:cTn>
                                        <p:tgtEl>
                                          <p:spTgt spid="1207344"/>
                                        </p:tgtEl>
                                        <p:attrNameLst>
                                          <p:attrName>style.visibility</p:attrName>
                                        </p:attrNameLst>
                                      </p:cBhvr>
                                      <p:to>
                                        <p:strVal val="visible"/>
                                      </p:to>
                                    </p:set>
                                    <p:animEffect transition="in" filter="box(out)">
                                      <p:cBhvr>
                                        <p:cTn id="36" dur="500"/>
                                        <p:tgtEl>
                                          <p:spTgt spid="1207344"/>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par>
                          <p:cTn id="37" fill="hold">
                            <p:stCondLst>
                              <p:cond delay="2000"/>
                            </p:stCondLst>
                            <p:childTnLst>
                              <p:par>
                                <p:cTn id="38" presetID="4" presetClass="entr" presetSubtype="32" fill="hold" grpId="0" nodeType="afterEffect">
                                  <p:stCondLst>
                                    <p:cond delay="0"/>
                                  </p:stCondLst>
                                  <p:childTnLst>
                                    <p:set>
                                      <p:cBhvr>
                                        <p:cTn id="39" dur="1" fill="hold">
                                          <p:stCondLst>
                                            <p:cond delay="0"/>
                                          </p:stCondLst>
                                        </p:cTn>
                                        <p:tgtEl>
                                          <p:spTgt spid="1207345"/>
                                        </p:tgtEl>
                                        <p:attrNameLst>
                                          <p:attrName>style.visibility</p:attrName>
                                        </p:attrNameLst>
                                      </p:cBhvr>
                                      <p:to>
                                        <p:strVal val="visible"/>
                                      </p:to>
                                    </p:set>
                                    <p:animEffect transition="in" filter="box(out)">
                                      <p:cBhvr>
                                        <p:cTn id="40" dur="500"/>
                                        <p:tgtEl>
                                          <p:spTgt spid="1207345"/>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par>
                          <p:cTn id="41" fill="hold">
                            <p:stCondLst>
                              <p:cond delay="2500"/>
                            </p:stCondLst>
                            <p:childTnLst>
                              <p:par>
                                <p:cTn id="42" presetID="4" presetClass="entr" presetSubtype="32" fill="hold" grpId="0" nodeType="afterEffect">
                                  <p:stCondLst>
                                    <p:cond delay="0"/>
                                  </p:stCondLst>
                                  <p:childTnLst>
                                    <p:set>
                                      <p:cBhvr>
                                        <p:cTn id="43" dur="1" fill="hold">
                                          <p:stCondLst>
                                            <p:cond delay="0"/>
                                          </p:stCondLst>
                                        </p:cTn>
                                        <p:tgtEl>
                                          <p:spTgt spid="1207346"/>
                                        </p:tgtEl>
                                        <p:attrNameLst>
                                          <p:attrName>style.visibility</p:attrName>
                                        </p:attrNameLst>
                                      </p:cBhvr>
                                      <p:to>
                                        <p:strVal val="visible"/>
                                      </p:to>
                                    </p:set>
                                    <p:animEffect transition="in" filter="box(out)">
                                      <p:cBhvr>
                                        <p:cTn id="44" dur="500"/>
                                        <p:tgtEl>
                                          <p:spTgt spid="1207346"/>
                                        </p:tgtEl>
                                      </p:cBhvr>
                                    </p:animEffect>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par>
                          <p:cTn id="45" fill="hold">
                            <p:stCondLst>
                              <p:cond delay="3000"/>
                            </p:stCondLst>
                            <p:childTnLst>
                              <p:par>
                                <p:cTn id="46" presetID="4" presetClass="entr" presetSubtype="32" fill="hold" grpId="0" nodeType="afterEffect">
                                  <p:stCondLst>
                                    <p:cond delay="0"/>
                                  </p:stCondLst>
                                  <p:childTnLst>
                                    <p:set>
                                      <p:cBhvr>
                                        <p:cTn id="47" dur="1" fill="hold">
                                          <p:stCondLst>
                                            <p:cond delay="0"/>
                                          </p:stCondLst>
                                        </p:cTn>
                                        <p:tgtEl>
                                          <p:spTgt spid="1207347"/>
                                        </p:tgtEl>
                                        <p:attrNameLst>
                                          <p:attrName>style.visibility</p:attrName>
                                        </p:attrNameLst>
                                      </p:cBhvr>
                                      <p:to>
                                        <p:strVal val="visible"/>
                                      </p:to>
                                    </p:set>
                                    <p:animEffect transition="in" filter="box(out)">
                                      <p:cBhvr>
                                        <p:cTn id="48" dur="500"/>
                                        <p:tgtEl>
                                          <p:spTgt spid="1207347"/>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par>
                          <p:cTn id="49" fill="hold">
                            <p:stCondLst>
                              <p:cond delay="3500"/>
                            </p:stCondLst>
                            <p:childTnLst>
                              <p:par>
                                <p:cTn id="50" presetID="4" presetClass="entr" presetSubtype="32" fill="hold" grpId="0" nodeType="afterEffect">
                                  <p:stCondLst>
                                    <p:cond delay="0"/>
                                  </p:stCondLst>
                                  <p:childTnLst>
                                    <p:set>
                                      <p:cBhvr>
                                        <p:cTn id="51" dur="1" fill="hold">
                                          <p:stCondLst>
                                            <p:cond delay="0"/>
                                          </p:stCondLst>
                                        </p:cTn>
                                        <p:tgtEl>
                                          <p:spTgt spid="1207348"/>
                                        </p:tgtEl>
                                        <p:attrNameLst>
                                          <p:attrName>style.visibility</p:attrName>
                                        </p:attrNameLst>
                                      </p:cBhvr>
                                      <p:to>
                                        <p:strVal val="visible"/>
                                      </p:to>
                                    </p:set>
                                    <p:animEffect transition="in" filter="box(out)">
                                      <p:cBhvr>
                                        <p:cTn id="52" dur="500"/>
                                        <p:tgtEl>
                                          <p:spTgt spid="1207348"/>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par>
                          <p:cTn id="53" fill="hold">
                            <p:stCondLst>
                              <p:cond delay="4000"/>
                            </p:stCondLst>
                            <p:childTnLst>
                              <p:par>
                                <p:cTn id="54" presetID="4" presetClass="entr" presetSubtype="32" fill="hold" grpId="0" nodeType="afterEffect">
                                  <p:stCondLst>
                                    <p:cond delay="0"/>
                                  </p:stCondLst>
                                  <p:childTnLst>
                                    <p:set>
                                      <p:cBhvr>
                                        <p:cTn id="55" dur="1" fill="hold">
                                          <p:stCondLst>
                                            <p:cond delay="0"/>
                                          </p:stCondLst>
                                        </p:cTn>
                                        <p:tgtEl>
                                          <p:spTgt spid="1207349"/>
                                        </p:tgtEl>
                                        <p:attrNameLst>
                                          <p:attrName>style.visibility</p:attrName>
                                        </p:attrNameLst>
                                      </p:cBhvr>
                                      <p:to>
                                        <p:strVal val="visible"/>
                                      </p:to>
                                    </p:set>
                                    <p:animEffect transition="in" filter="box(out)">
                                      <p:cBhvr>
                                        <p:cTn id="56" dur="500"/>
                                        <p:tgtEl>
                                          <p:spTgt spid="1207349"/>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par>
                          <p:cTn id="57" fill="hold">
                            <p:stCondLst>
                              <p:cond delay="4500"/>
                            </p:stCondLst>
                            <p:childTnLst>
                              <p:par>
                                <p:cTn id="58" presetID="4" presetClass="entr" presetSubtype="32" fill="hold" grpId="0" nodeType="afterEffect">
                                  <p:stCondLst>
                                    <p:cond delay="0"/>
                                  </p:stCondLst>
                                  <p:childTnLst>
                                    <p:set>
                                      <p:cBhvr>
                                        <p:cTn id="59" dur="1" fill="hold">
                                          <p:stCondLst>
                                            <p:cond delay="0"/>
                                          </p:stCondLst>
                                        </p:cTn>
                                        <p:tgtEl>
                                          <p:spTgt spid="1207350"/>
                                        </p:tgtEl>
                                        <p:attrNameLst>
                                          <p:attrName>style.visibility</p:attrName>
                                        </p:attrNameLst>
                                      </p:cBhvr>
                                      <p:to>
                                        <p:strVal val="visible"/>
                                      </p:to>
                                    </p:set>
                                    <p:animEffect transition="in" filter="box(out)">
                                      <p:cBhvr>
                                        <p:cTn id="60" dur="500"/>
                                        <p:tgtEl>
                                          <p:spTgt spid="1207350"/>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par>
                          <p:cTn id="61" fill="hold">
                            <p:stCondLst>
                              <p:cond delay="5000"/>
                            </p:stCondLst>
                            <p:childTnLst>
                              <p:par>
                                <p:cTn id="62" presetID="4" presetClass="entr" presetSubtype="32" fill="hold" grpId="0" nodeType="afterEffect">
                                  <p:stCondLst>
                                    <p:cond delay="0"/>
                                  </p:stCondLst>
                                  <p:childTnLst>
                                    <p:set>
                                      <p:cBhvr>
                                        <p:cTn id="63" dur="1" fill="hold">
                                          <p:stCondLst>
                                            <p:cond delay="0"/>
                                          </p:stCondLst>
                                        </p:cTn>
                                        <p:tgtEl>
                                          <p:spTgt spid="1207351"/>
                                        </p:tgtEl>
                                        <p:attrNameLst>
                                          <p:attrName>style.visibility</p:attrName>
                                        </p:attrNameLst>
                                      </p:cBhvr>
                                      <p:to>
                                        <p:strVal val="visible"/>
                                      </p:to>
                                    </p:set>
                                    <p:animEffect transition="in" filter="box(out)">
                                      <p:cBhvr>
                                        <p:cTn id="64" dur="500"/>
                                        <p:tgtEl>
                                          <p:spTgt spid="1207351"/>
                                        </p:tgtEl>
                                      </p:cBhvr>
                                    </p:animEffect>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par>
                          <p:cTn id="65" fill="hold">
                            <p:stCondLst>
                              <p:cond delay="5500"/>
                            </p:stCondLst>
                            <p:childTnLst>
                              <p:par>
                                <p:cTn id="66" presetID="4" presetClass="entr" presetSubtype="32" fill="hold" grpId="0" nodeType="afterEffect">
                                  <p:stCondLst>
                                    <p:cond delay="0"/>
                                  </p:stCondLst>
                                  <p:childTnLst>
                                    <p:set>
                                      <p:cBhvr>
                                        <p:cTn id="67" dur="1" fill="hold">
                                          <p:stCondLst>
                                            <p:cond delay="0"/>
                                          </p:stCondLst>
                                        </p:cTn>
                                        <p:tgtEl>
                                          <p:spTgt spid="1207352"/>
                                        </p:tgtEl>
                                        <p:attrNameLst>
                                          <p:attrName>style.visibility</p:attrName>
                                        </p:attrNameLst>
                                      </p:cBhvr>
                                      <p:to>
                                        <p:strVal val="visible"/>
                                      </p:to>
                                    </p:set>
                                    <p:animEffect transition="in" filter="box(out)">
                                      <p:cBhvr>
                                        <p:cTn id="68" dur="500"/>
                                        <p:tgtEl>
                                          <p:spTgt spid="1207352"/>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par>
                          <p:cTn id="69" fill="hold">
                            <p:stCondLst>
                              <p:cond delay="6000"/>
                            </p:stCondLst>
                            <p:childTnLst>
                              <p:par>
                                <p:cTn id="70" presetID="4" presetClass="entr" presetSubtype="32" fill="hold" grpId="0" nodeType="afterEffect">
                                  <p:stCondLst>
                                    <p:cond delay="0"/>
                                  </p:stCondLst>
                                  <p:childTnLst>
                                    <p:set>
                                      <p:cBhvr>
                                        <p:cTn id="71" dur="1" fill="hold">
                                          <p:stCondLst>
                                            <p:cond delay="0"/>
                                          </p:stCondLst>
                                        </p:cTn>
                                        <p:tgtEl>
                                          <p:spTgt spid="1207353"/>
                                        </p:tgtEl>
                                        <p:attrNameLst>
                                          <p:attrName>style.visibility</p:attrName>
                                        </p:attrNameLst>
                                      </p:cBhvr>
                                      <p:to>
                                        <p:strVal val="visible"/>
                                      </p:to>
                                    </p:set>
                                    <p:animEffect transition="in" filter="box(out)">
                                      <p:cBhvr>
                                        <p:cTn id="72" dur="500"/>
                                        <p:tgtEl>
                                          <p:spTgt spid="1207353"/>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par>
                          <p:cTn id="73" fill="hold">
                            <p:stCondLst>
                              <p:cond delay="6500"/>
                            </p:stCondLst>
                            <p:childTnLst>
                              <p:par>
                                <p:cTn id="74" presetID="4" presetClass="entr" presetSubtype="32" fill="hold" grpId="0" nodeType="afterEffect">
                                  <p:stCondLst>
                                    <p:cond delay="0"/>
                                  </p:stCondLst>
                                  <p:childTnLst>
                                    <p:set>
                                      <p:cBhvr>
                                        <p:cTn id="75" dur="1" fill="hold">
                                          <p:stCondLst>
                                            <p:cond delay="0"/>
                                          </p:stCondLst>
                                        </p:cTn>
                                        <p:tgtEl>
                                          <p:spTgt spid="1207354"/>
                                        </p:tgtEl>
                                        <p:attrNameLst>
                                          <p:attrName>style.visibility</p:attrName>
                                        </p:attrNameLst>
                                      </p:cBhvr>
                                      <p:to>
                                        <p:strVal val="visible"/>
                                      </p:to>
                                    </p:set>
                                    <p:animEffect transition="in" filter="box(out)">
                                      <p:cBhvr>
                                        <p:cTn id="76" dur="500"/>
                                        <p:tgtEl>
                                          <p:spTgt spid="1207354"/>
                                        </p:tgtEl>
                                      </p:cBhvr>
                                    </p:animEffect>
                                  </p:childTnLst>
                                  <p:subTnLst>
                                    <p:audio>
                                      <p:cMediaNode>
                                        <p:cTn display="0" masterRel="sameClick">
                                          <p:stCondLst>
                                            <p:cond evt="begin" delay="0">
                                              <p:tn val="74"/>
                                            </p:cond>
                                          </p:stCondLst>
                                          <p:endCondLst>
                                            <p:cond evt="onStopAudio" delay="0">
                                              <p:tgtEl>
                                                <p:sldTgt/>
                                              </p:tgtEl>
                                            </p:cond>
                                          </p:endCondLst>
                                        </p:cTn>
                                        <p:tgtEl>
                                          <p:sndTgt r:embed="rId2" name="camera.wav"/>
                                        </p:tgtEl>
                                      </p:cMediaNode>
                                    </p:audio>
                                  </p:sub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1207298">
                                            <p:txEl>
                                              <p:pRg st="5" end="5"/>
                                            </p:txEl>
                                          </p:spTgt>
                                        </p:tgtEl>
                                        <p:attrNameLst>
                                          <p:attrName>style.visibility</p:attrName>
                                        </p:attrNameLst>
                                      </p:cBhvr>
                                      <p:to>
                                        <p:strVal val="visible"/>
                                      </p:to>
                                    </p:set>
                                    <p:anim calcmode="lin" valueType="num">
                                      <p:cBhvr additive="base">
                                        <p:cTn id="81" dur="500" fill="hold"/>
                                        <p:tgtEl>
                                          <p:spTgt spid="1207298">
                                            <p:txEl>
                                              <p:pRg st="5" end="5"/>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207298">
                                            <p:txEl>
                                              <p:pRg st="5" end="5"/>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207298">
                                            <p:txEl>
                                              <p:pRg st="6" end="6"/>
                                            </p:txEl>
                                          </p:spTgt>
                                        </p:tgtEl>
                                        <p:attrNameLst>
                                          <p:attrName>style.visibility</p:attrName>
                                        </p:attrNameLst>
                                      </p:cBhvr>
                                      <p:to>
                                        <p:strVal val="visible"/>
                                      </p:to>
                                    </p:set>
                                    <p:anim calcmode="lin" valueType="num">
                                      <p:cBhvr additive="base">
                                        <p:cTn id="85" dur="500" fill="hold"/>
                                        <p:tgtEl>
                                          <p:spTgt spid="1207298">
                                            <p:txEl>
                                              <p:pRg st="6" end="6"/>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207298">
                                            <p:txEl>
                                              <p:pRg st="6" end="6"/>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207298">
                                            <p:txEl>
                                              <p:pRg st="7" end="7"/>
                                            </p:txEl>
                                          </p:spTgt>
                                        </p:tgtEl>
                                        <p:attrNameLst>
                                          <p:attrName>style.visibility</p:attrName>
                                        </p:attrNameLst>
                                      </p:cBhvr>
                                      <p:to>
                                        <p:strVal val="visible"/>
                                      </p:to>
                                    </p:set>
                                    <p:anim calcmode="lin" valueType="num">
                                      <p:cBhvr additive="base">
                                        <p:cTn id="89" dur="500" fill="hold"/>
                                        <p:tgtEl>
                                          <p:spTgt spid="1207298">
                                            <p:txEl>
                                              <p:pRg st="7" end="7"/>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207298">
                                            <p:txEl>
                                              <p:pRg st="7" end="7"/>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207298">
                                            <p:txEl>
                                              <p:pRg st="8" end="8"/>
                                            </p:txEl>
                                          </p:spTgt>
                                        </p:tgtEl>
                                        <p:attrNameLst>
                                          <p:attrName>style.visibility</p:attrName>
                                        </p:attrNameLst>
                                      </p:cBhvr>
                                      <p:to>
                                        <p:strVal val="visible"/>
                                      </p:to>
                                    </p:set>
                                    <p:anim calcmode="lin" valueType="num">
                                      <p:cBhvr additive="base">
                                        <p:cTn id="93" dur="500" fill="hold"/>
                                        <p:tgtEl>
                                          <p:spTgt spid="1207298">
                                            <p:txEl>
                                              <p:pRg st="8" end="8"/>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207298">
                                            <p:txEl>
                                              <p:pRg st="8" end="8"/>
                                            </p:txEl>
                                          </p:spTgt>
                                        </p:tgtEl>
                                        <p:attrNameLst>
                                          <p:attrName>ppt_y</p:attrName>
                                        </p:attrNameLst>
                                      </p:cBhvr>
                                      <p:tavLst>
                                        <p:tav tm="0">
                                          <p:val>
                                            <p:strVal val="1+#ppt_h/2"/>
                                          </p:val>
                                        </p:tav>
                                        <p:tav tm="100000">
                                          <p:val>
                                            <p:strVal val="#ppt_y"/>
                                          </p:val>
                                        </p:tav>
                                      </p:tavLst>
                                    </p:anim>
                                  </p:childTnLst>
                                </p:cTn>
                              </p:par>
                            </p:childTnLst>
                          </p:cTn>
                        </p:par>
                        <p:par>
                          <p:cTn id="95" fill="hold">
                            <p:stCondLst>
                              <p:cond delay="500"/>
                            </p:stCondLst>
                            <p:childTnLst>
                              <p:par>
                                <p:cTn id="96" presetID="4" presetClass="entr" presetSubtype="32" fill="hold" grpId="0" nodeType="afterEffect">
                                  <p:stCondLst>
                                    <p:cond delay="0"/>
                                  </p:stCondLst>
                                  <p:childTnLst>
                                    <p:set>
                                      <p:cBhvr>
                                        <p:cTn id="97" dur="1" fill="hold">
                                          <p:stCondLst>
                                            <p:cond delay="0"/>
                                          </p:stCondLst>
                                        </p:cTn>
                                        <p:tgtEl>
                                          <p:spTgt spid="1207355"/>
                                        </p:tgtEl>
                                        <p:attrNameLst>
                                          <p:attrName>style.visibility</p:attrName>
                                        </p:attrNameLst>
                                      </p:cBhvr>
                                      <p:to>
                                        <p:strVal val="visible"/>
                                      </p:to>
                                    </p:set>
                                    <p:animEffect transition="in" filter="box(out)">
                                      <p:cBhvr>
                                        <p:cTn id="98" dur="500"/>
                                        <p:tgtEl>
                                          <p:spTgt spid="1207355"/>
                                        </p:tgtEl>
                                      </p:cBhvr>
                                    </p:animEffect>
                                  </p:childTnLst>
                                  <p:subTnLst>
                                    <p:audio>
                                      <p:cMediaNode>
                                        <p:cTn display="0" masterRel="sameClick">
                                          <p:stCondLst>
                                            <p:cond evt="begin" delay="0">
                                              <p:tn val="96"/>
                                            </p:cond>
                                          </p:stCondLst>
                                          <p:endCondLst>
                                            <p:cond evt="onStopAudio" delay="0">
                                              <p:tgtEl>
                                                <p:sldTgt/>
                                              </p:tgtEl>
                                            </p:cond>
                                          </p:endCondLst>
                                        </p:cTn>
                                        <p:tgtEl>
                                          <p:sndTgt r:embed="rId3" name="chimes.wav"/>
                                        </p:tgtEl>
                                      </p:cMediaNode>
                                    </p:audio>
                                  </p:sub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207298">
                                            <p:txEl>
                                              <p:pRg st="9" end="9"/>
                                            </p:txEl>
                                          </p:spTgt>
                                        </p:tgtEl>
                                        <p:attrNameLst>
                                          <p:attrName>style.visibility</p:attrName>
                                        </p:attrNameLst>
                                      </p:cBhvr>
                                      <p:to>
                                        <p:strVal val="visible"/>
                                      </p:to>
                                    </p:set>
                                    <p:anim calcmode="lin" valueType="num">
                                      <p:cBhvr additive="base">
                                        <p:cTn id="103" dur="500" fill="hold"/>
                                        <p:tgtEl>
                                          <p:spTgt spid="1207298">
                                            <p:txEl>
                                              <p:pRg st="9" end="9"/>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207298">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1"/>
                                            </p:cond>
                                          </p:stCondLst>
                                          <p:endCondLst>
                                            <p:cond evt="onStopAudio" delay="0">
                                              <p:tgtEl>
                                                <p:sldTgt/>
                                              </p:tgtEl>
                                            </p:cond>
                                          </p:endCondLst>
                                        </p:cTn>
                                        <p:tgtEl>
                                          <p:sndTgt r:embed="rId2" name="camera.wav"/>
                                        </p:tgtEl>
                                      </p:cMediaNode>
                                    </p:audio>
                                  </p:subTnLst>
                                </p:cTn>
                              </p:par>
                              <p:par>
                                <p:cTn id="105" presetID="2" presetClass="entr" presetSubtype="4" fill="hold" nodeType="withEffect">
                                  <p:stCondLst>
                                    <p:cond delay="0"/>
                                  </p:stCondLst>
                                  <p:childTnLst>
                                    <p:set>
                                      <p:cBhvr>
                                        <p:cTn id="106" dur="1" fill="hold">
                                          <p:stCondLst>
                                            <p:cond delay="0"/>
                                          </p:stCondLst>
                                        </p:cTn>
                                        <p:tgtEl>
                                          <p:spTgt spid="1207298">
                                            <p:txEl>
                                              <p:pRg st="10" end="10"/>
                                            </p:txEl>
                                          </p:spTgt>
                                        </p:tgtEl>
                                        <p:attrNameLst>
                                          <p:attrName>style.visibility</p:attrName>
                                        </p:attrNameLst>
                                      </p:cBhvr>
                                      <p:to>
                                        <p:strVal val="visible"/>
                                      </p:to>
                                    </p:set>
                                    <p:anim calcmode="lin" valueType="num">
                                      <p:cBhvr additive="base">
                                        <p:cTn id="107" dur="500" fill="hold"/>
                                        <p:tgtEl>
                                          <p:spTgt spid="1207298">
                                            <p:txEl>
                                              <p:pRg st="10" end="10"/>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1207298">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par>
                                <p:cTn id="109" presetID="2" presetClass="entr" presetSubtype="4" fill="hold" nodeType="withEffect">
                                  <p:stCondLst>
                                    <p:cond delay="0"/>
                                  </p:stCondLst>
                                  <p:childTnLst>
                                    <p:set>
                                      <p:cBhvr>
                                        <p:cTn id="110" dur="1" fill="hold">
                                          <p:stCondLst>
                                            <p:cond delay="0"/>
                                          </p:stCondLst>
                                        </p:cTn>
                                        <p:tgtEl>
                                          <p:spTgt spid="1207298">
                                            <p:txEl>
                                              <p:pRg st="11" end="11"/>
                                            </p:txEl>
                                          </p:spTgt>
                                        </p:tgtEl>
                                        <p:attrNameLst>
                                          <p:attrName>style.visibility</p:attrName>
                                        </p:attrNameLst>
                                      </p:cBhvr>
                                      <p:to>
                                        <p:strVal val="visible"/>
                                      </p:to>
                                    </p:set>
                                    <p:anim calcmode="lin" valueType="num">
                                      <p:cBhvr additive="base">
                                        <p:cTn id="111" dur="500" fill="hold"/>
                                        <p:tgtEl>
                                          <p:spTgt spid="1207298">
                                            <p:txEl>
                                              <p:pRg st="11" end="11"/>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1207298">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9"/>
                                            </p:cond>
                                          </p:stCondLst>
                                          <p:endCondLst>
                                            <p:cond evt="onStopAudio" delay="0">
                                              <p:tgtEl>
                                                <p:sldTgt/>
                                              </p:tgtEl>
                                            </p:cond>
                                          </p:endCondLst>
                                        </p:cTn>
                                        <p:tgtEl>
                                          <p:sndTgt r:embed="rId2" name="camera.wav"/>
                                        </p:tgtEl>
                                      </p:cMediaNode>
                                    </p:audio>
                                  </p:subTnLst>
                                </p:cTn>
                              </p:par>
                            </p:childTnLst>
                          </p:cTn>
                        </p:par>
                        <p:par>
                          <p:cTn id="113" fill="hold">
                            <p:stCondLst>
                              <p:cond delay="500"/>
                            </p:stCondLst>
                            <p:childTnLst>
                              <p:par>
                                <p:cTn id="114" presetID="4" presetClass="entr" presetSubtype="16" fill="hold" grpId="0" nodeType="afterEffect">
                                  <p:stCondLst>
                                    <p:cond delay="0"/>
                                  </p:stCondLst>
                                  <p:childTnLst>
                                    <p:set>
                                      <p:cBhvr>
                                        <p:cTn id="115" dur="1" fill="hold">
                                          <p:stCondLst>
                                            <p:cond delay="0"/>
                                          </p:stCondLst>
                                        </p:cTn>
                                        <p:tgtEl>
                                          <p:spTgt spid="1207356"/>
                                        </p:tgtEl>
                                        <p:attrNameLst>
                                          <p:attrName>style.visibility</p:attrName>
                                        </p:attrNameLst>
                                      </p:cBhvr>
                                      <p:to>
                                        <p:strVal val="visible"/>
                                      </p:to>
                                    </p:set>
                                    <p:animEffect transition="in" filter="box(in)">
                                      <p:cBhvr>
                                        <p:cTn id="116" dur="500"/>
                                        <p:tgtEl>
                                          <p:spTgt spid="1207356"/>
                                        </p:tgtEl>
                                      </p:cBhvr>
                                    </p:animEffect>
                                  </p:childTnLst>
                                  <p:subTnLst>
                                    <p:audio>
                                      <p:cMediaNode>
                                        <p:cTn display="0" masterRel="sameClick">
                                          <p:stCondLst>
                                            <p:cond evt="begin" delay="0">
                                              <p:tn val="114"/>
                                            </p:cond>
                                          </p:stCondLst>
                                          <p:endCondLst>
                                            <p:cond evt="onStopAudio" delay="0">
                                              <p:tgtEl>
                                                <p:sldTgt/>
                                              </p:tgtEl>
                                            </p:cond>
                                          </p:endCondLst>
                                        </p:cTn>
                                        <p:tgtEl>
                                          <p:sndTgt r:embed="rId2" name="camera.wav"/>
                                        </p:tgtEl>
                                      </p:cMediaNode>
                                    </p:audio>
                                  </p:subTnLst>
                                </p:cTn>
                              </p:par>
                            </p:childTnLst>
                          </p:cTn>
                        </p:par>
                        <p:par>
                          <p:cTn id="117" fill="hold">
                            <p:stCondLst>
                              <p:cond delay="1000"/>
                            </p:stCondLst>
                            <p:childTnLst>
                              <p:par>
                                <p:cTn id="118" presetID="4" presetClass="entr" presetSubtype="16" fill="hold" grpId="0" nodeType="afterEffect">
                                  <p:stCondLst>
                                    <p:cond delay="0"/>
                                  </p:stCondLst>
                                  <p:childTnLst>
                                    <p:set>
                                      <p:cBhvr>
                                        <p:cTn id="119" dur="1" fill="hold">
                                          <p:stCondLst>
                                            <p:cond delay="0"/>
                                          </p:stCondLst>
                                        </p:cTn>
                                        <p:tgtEl>
                                          <p:spTgt spid="1207357"/>
                                        </p:tgtEl>
                                        <p:attrNameLst>
                                          <p:attrName>style.visibility</p:attrName>
                                        </p:attrNameLst>
                                      </p:cBhvr>
                                      <p:to>
                                        <p:strVal val="visible"/>
                                      </p:to>
                                    </p:set>
                                    <p:animEffect transition="in" filter="box(in)">
                                      <p:cBhvr>
                                        <p:cTn id="120" dur="500"/>
                                        <p:tgtEl>
                                          <p:spTgt spid="1207357"/>
                                        </p:tgtEl>
                                      </p:cBhvr>
                                    </p:animEffect>
                                  </p:childTnLst>
                                  <p:subTnLst>
                                    <p:audio>
                                      <p:cMediaNode>
                                        <p:cTn display="0" masterRel="sameClick">
                                          <p:stCondLst>
                                            <p:cond evt="begin" delay="0">
                                              <p:tn val="118"/>
                                            </p:cond>
                                          </p:stCondLst>
                                          <p:endCondLst>
                                            <p:cond evt="onStopAudio" delay="0">
                                              <p:tgtEl>
                                                <p:sldTgt/>
                                              </p:tgtEl>
                                            </p:cond>
                                          </p:endCondLst>
                                        </p:cTn>
                                        <p:tgtEl>
                                          <p:sndTgt r:embed="rId2" name="camera.wav"/>
                                        </p:tgtEl>
                                      </p:cMediaNode>
                                    </p:audio>
                                  </p:subTnLst>
                                </p:cTn>
                              </p:par>
                            </p:childTnLst>
                          </p:cTn>
                        </p:par>
                        <p:par>
                          <p:cTn id="121" fill="hold">
                            <p:stCondLst>
                              <p:cond delay="1500"/>
                            </p:stCondLst>
                            <p:childTnLst>
                              <p:par>
                                <p:cTn id="122" presetID="4" presetClass="entr" presetSubtype="16" fill="hold" grpId="0" nodeType="afterEffect">
                                  <p:stCondLst>
                                    <p:cond delay="0"/>
                                  </p:stCondLst>
                                  <p:childTnLst>
                                    <p:set>
                                      <p:cBhvr>
                                        <p:cTn id="123" dur="1" fill="hold">
                                          <p:stCondLst>
                                            <p:cond delay="0"/>
                                          </p:stCondLst>
                                        </p:cTn>
                                        <p:tgtEl>
                                          <p:spTgt spid="1207358"/>
                                        </p:tgtEl>
                                        <p:attrNameLst>
                                          <p:attrName>style.visibility</p:attrName>
                                        </p:attrNameLst>
                                      </p:cBhvr>
                                      <p:to>
                                        <p:strVal val="visible"/>
                                      </p:to>
                                    </p:set>
                                    <p:animEffect transition="in" filter="box(in)">
                                      <p:cBhvr>
                                        <p:cTn id="124" dur="500"/>
                                        <p:tgtEl>
                                          <p:spTgt spid="1207358"/>
                                        </p:tgtEl>
                                      </p:cBhvr>
                                    </p:animEffect>
                                  </p:childTnLst>
                                  <p:subTnLst>
                                    <p:audio>
                                      <p:cMediaNode>
                                        <p:cTn display="0" masterRel="sameClick">
                                          <p:stCondLst>
                                            <p:cond evt="begin" delay="0">
                                              <p:tn val="122"/>
                                            </p:cond>
                                          </p:stCondLst>
                                          <p:endCondLst>
                                            <p:cond evt="onStopAudio" delay="0">
                                              <p:tgtEl>
                                                <p:sldTgt/>
                                              </p:tgtEl>
                                            </p:cond>
                                          </p:endCondLst>
                                        </p:cTn>
                                        <p:tgtEl>
                                          <p:sndTgt r:embed="rId2" name="camera.wav"/>
                                        </p:tgtEl>
                                      </p:cMediaNode>
                                    </p:audio>
                                  </p:subTnLst>
                                </p:cTn>
                              </p:par>
                            </p:childTnLst>
                          </p:cTn>
                        </p:par>
                      </p:childTnLst>
                    </p:cTn>
                  </p:par>
                  <p:par>
                    <p:cTn id="125" fill="hold">
                      <p:stCondLst>
                        <p:cond delay="indefinite"/>
                      </p:stCondLst>
                      <p:childTnLst>
                        <p:par>
                          <p:cTn id="126" fill="hold">
                            <p:stCondLst>
                              <p:cond delay="0"/>
                            </p:stCondLst>
                            <p:childTnLst>
                              <p:par>
                                <p:cTn id="127" presetID="2" presetClass="entr" presetSubtype="4" fill="hold" nodeType="clickEffect">
                                  <p:stCondLst>
                                    <p:cond delay="0"/>
                                  </p:stCondLst>
                                  <p:childTnLst>
                                    <p:set>
                                      <p:cBhvr>
                                        <p:cTn id="128" dur="1" fill="hold">
                                          <p:stCondLst>
                                            <p:cond delay="0"/>
                                          </p:stCondLst>
                                        </p:cTn>
                                        <p:tgtEl>
                                          <p:spTgt spid="1207298">
                                            <p:txEl>
                                              <p:pRg st="12" end="12"/>
                                            </p:txEl>
                                          </p:spTgt>
                                        </p:tgtEl>
                                        <p:attrNameLst>
                                          <p:attrName>style.visibility</p:attrName>
                                        </p:attrNameLst>
                                      </p:cBhvr>
                                      <p:to>
                                        <p:strVal val="visible"/>
                                      </p:to>
                                    </p:set>
                                    <p:anim calcmode="lin" valueType="num">
                                      <p:cBhvr additive="base">
                                        <p:cTn id="129" dur="500" fill="hold"/>
                                        <p:tgtEl>
                                          <p:spTgt spid="1207298">
                                            <p:txEl>
                                              <p:pRg st="12" end="12"/>
                                            </p:txEl>
                                          </p:spTgt>
                                        </p:tgtEl>
                                        <p:attrNameLst>
                                          <p:attrName>ppt_x</p:attrName>
                                        </p:attrNameLst>
                                      </p:cBhvr>
                                      <p:tavLst>
                                        <p:tav tm="0">
                                          <p:val>
                                            <p:strVal val="#ppt_x"/>
                                          </p:val>
                                        </p:tav>
                                        <p:tav tm="100000">
                                          <p:val>
                                            <p:strVal val="#ppt_x"/>
                                          </p:val>
                                        </p:tav>
                                      </p:tavLst>
                                    </p:anim>
                                    <p:anim calcmode="lin" valueType="num">
                                      <p:cBhvr additive="base">
                                        <p:cTn id="130" dur="500" fill="hold"/>
                                        <p:tgtEl>
                                          <p:spTgt spid="1207298">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7"/>
                                            </p:cond>
                                          </p:stCondLst>
                                          <p:endCondLst>
                                            <p:cond evt="onStopAudio" delay="0">
                                              <p:tgtEl>
                                                <p:sldTgt/>
                                              </p:tgtEl>
                                            </p:cond>
                                          </p:endCondLst>
                                        </p:cTn>
                                        <p:tgtEl>
                                          <p:sndTgt r:embed="rId2" name="camera.wav"/>
                                        </p:tgtEl>
                                      </p:cMediaNode>
                                    </p:audio>
                                  </p:subTnLst>
                                </p:cTn>
                              </p:par>
                            </p:childTnLst>
                          </p:cTn>
                        </p:par>
                        <p:par>
                          <p:cTn id="131" fill="hold">
                            <p:stCondLst>
                              <p:cond delay="500"/>
                            </p:stCondLst>
                            <p:childTnLst>
                              <p:par>
                                <p:cTn id="132" presetID="4" presetClass="entr" presetSubtype="16" fill="hold" grpId="0" nodeType="afterEffect">
                                  <p:stCondLst>
                                    <p:cond delay="0"/>
                                  </p:stCondLst>
                                  <p:childTnLst>
                                    <p:set>
                                      <p:cBhvr>
                                        <p:cTn id="133" dur="1" fill="hold">
                                          <p:stCondLst>
                                            <p:cond delay="0"/>
                                          </p:stCondLst>
                                        </p:cTn>
                                        <p:tgtEl>
                                          <p:spTgt spid="1207359"/>
                                        </p:tgtEl>
                                        <p:attrNameLst>
                                          <p:attrName>style.visibility</p:attrName>
                                        </p:attrNameLst>
                                      </p:cBhvr>
                                      <p:to>
                                        <p:strVal val="visible"/>
                                      </p:to>
                                    </p:set>
                                    <p:animEffect transition="in" filter="box(in)">
                                      <p:cBhvr>
                                        <p:cTn id="134" dur="500"/>
                                        <p:tgtEl>
                                          <p:spTgt spid="1207359"/>
                                        </p:tgtEl>
                                      </p:cBhvr>
                                    </p:animEffect>
                                  </p:childTnLst>
                                  <p:subTnLst>
                                    <p:audio>
                                      <p:cMediaNode>
                                        <p:cTn display="0" masterRel="sameClick">
                                          <p:stCondLst>
                                            <p:cond evt="begin" delay="0">
                                              <p:tn val="132"/>
                                            </p:cond>
                                          </p:stCondLst>
                                          <p:endCondLst>
                                            <p:cond evt="onStopAudio" delay="0">
                                              <p:tgtEl>
                                                <p:sldTgt/>
                                              </p:tgtEl>
                                            </p:cond>
                                          </p:endCondLst>
                                        </p:cTn>
                                        <p:tgtEl>
                                          <p:sndTgt r:embed="rId2" name="camera.wav"/>
                                        </p:tgtEl>
                                      </p:cMediaNode>
                                    </p:audio>
                                  </p:sub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1207298">
                                            <p:txEl>
                                              <p:pRg st="13" end="13"/>
                                            </p:txEl>
                                          </p:spTgt>
                                        </p:tgtEl>
                                        <p:attrNameLst>
                                          <p:attrName>style.visibility</p:attrName>
                                        </p:attrNameLst>
                                      </p:cBhvr>
                                      <p:to>
                                        <p:strVal val="visible"/>
                                      </p:to>
                                    </p:set>
                                    <p:anim calcmode="lin" valueType="num">
                                      <p:cBhvr additive="base">
                                        <p:cTn id="139" dur="500" fill="hold"/>
                                        <p:tgtEl>
                                          <p:spTgt spid="1207298">
                                            <p:txEl>
                                              <p:pRg st="13" end="13"/>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1207298">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7"/>
                                            </p:cond>
                                          </p:stCondLst>
                                          <p:endCondLst>
                                            <p:cond evt="onStopAudio" delay="0">
                                              <p:tgtEl>
                                                <p:sldTgt/>
                                              </p:tgtEl>
                                            </p:cond>
                                          </p:endCondLst>
                                        </p:cTn>
                                        <p:tgtEl>
                                          <p:sndTgt r:embed="rId2" name="camera.wav"/>
                                        </p:tgtEl>
                                      </p:cMediaNode>
                                    </p:audio>
                                  </p:subTnLst>
                                </p:cTn>
                              </p:par>
                              <p:par>
                                <p:cTn id="141" presetID="2" presetClass="entr" presetSubtype="4" fill="hold" nodeType="withEffect">
                                  <p:stCondLst>
                                    <p:cond delay="0"/>
                                  </p:stCondLst>
                                  <p:childTnLst>
                                    <p:set>
                                      <p:cBhvr>
                                        <p:cTn id="142" dur="1" fill="hold">
                                          <p:stCondLst>
                                            <p:cond delay="0"/>
                                          </p:stCondLst>
                                        </p:cTn>
                                        <p:tgtEl>
                                          <p:spTgt spid="1207298">
                                            <p:txEl>
                                              <p:pRg st="14" end="14"/>
                                            </p:txEl>
                                          </p:spTgt>
                                        </p:tgtEl>
                                        <p:attrNameLst>
                                          <p:attrName>style.visibility</p:attrName>
                                        </p:attrNameLst>
                                      </p:cBhvr>
                                      <p:to>
                                        <p:strVal val="visible"/>
                                      </p:to>
                                    </p:set>
                                    <p:anim calcmode="lin" valueType="num">
                                      <p:cBhvr additive="base">
                                        <p:cTn id="143" dur="500" fill="hold"/>
                                        <p:tgtEl>
                                          <p:spTgt spid="1207298">
                                            <p:txEl>
                                              <p:pRg st="14" end="14"/>
                                            </p:txEl>
                                          </p:spTgt>
                                        </p:tgtEl>
                                        <p:attrNameLst>
                                          <p:attrName>ppt_x</p:attrName>
                                        </p:attrNameLst>
                                      </p:cBhvr>
                                      <p:tavLst>
                                        <p:tav tm="0">
                                          <p:val>
                                            <p:strVal val="#ppt_x"/>
                                          </p:val>
                                        </p:tav>
                                        <p:tav tm="100000">
                                          <p:val>
                                            <p:strVal val="#ppt_x"/>
                                          </p:val>
                                        </p:tav>
                                      </p:tavLst>
                                    </p:anim>
                                    <p:anim calcmode="lin" valueType="num">
                                      <p:cBhvr additive="base">
                                        <p:cTn id="144" dur="500" fill="hold"/>
                                        <p:tgtEl>
                                          <p:spTgt spid="1207298">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1"/>
                                            </p:cond>
                                          </p:stCondLst>
                                          <p:endCondLst>
                                            <p:cond evt="onStopAudio" delay="0">
                                              <p:tgtEl>
                                                <p:sldTgt/>
                                              </p:tgtEl>
                                            </p:cond>
                                          </p:endCondLst>
                                        </p:cTn>
                                        <p:tgtEl>
                                          <p:sndTgt r:embed="rId2" name="camera.wav"/>
                                        </p:tgtEl>
                                      </p:cMediaNode>
                                    </p:audio>
                                  </p:subTnLst>
                                </p:cTn>
                              </p:par>
                            </p:childTnLst>
                          </p:cTn>
                        </p:par>
                      </p:childTnLst>
                    </p:cTn>
                  </p:par>
                  <p:par>
                    <p:cTn id="145" fill="hold">
                      <p:stCondLst>
                        <p:cond delay="indefinite"/>
                      </p:stCondLst>
                      <p:childTnLst>
                        <p:par>
                          <p:cTn id="146" fill="hold">
                            <p:stCondLst>
                              <p:cond delay="0"/>
                            </p:stCondLst>
                            <p:childTnLst>
                              <p:par>
                                <p:cTn id="147" presetID="4" presetClass="entr" presetSubtype="32" fill="hold" grpId="0" nodeType="clickEffect">
                                  <p:stCondLst>
                                    <p:cond delay="0"/>
                                  </p:stCondLst>
                                  <p:childTnLst>
                                    <p:set>
                                      <p:cBhvr>
                                        <p:cTn id="148" dur="1" fill="hold">
                                          <p:stCondLst>
                                            <p:cond delay="0"/>
                                          </p:stCondLst>
                                        </p:cTn>
                                        <p:tgtEl>
                                          <p:spTgt spid="1207360"/>
                                        </p:tgtEl>
                                        <p:attrNameLst>
                                          <p:attrName>style.visibility</p:attrName>
                                        </p:attrNameLst>
                                      </p:cBhvr>
                                      <p:to>
                                        <p:strVal val="visible"/>
                                      </p:to>
                                    </p:set>
                                    <p:animEffect transition="in" filter="box(out)">
                                      <p:cBhvr>
                                        <p:cTn id="149" dur="500"/>
                                        <p:tgtEl>
                                          <p:spTgt spid="1207360"/>
                                        </p:tgtEl>
                                      </p:cBhvr>
                                    </p:animEffect>
                                  </p:childTnLst>
                                  <p:subTnLst>
                                    <p:audio>
                                      <p:cMediaNode>
                                        <p:cTn display="0" masterRel="sameClick">
                                          <p:stCondLst>
                                            <p:cond evt="begin" delay="0">
                                              <p:tn val="14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7338" grpId="0" animBg="1"/>
      <p:bldP spid="1207343" grpId="0"/>
      <p:bldP spid="1207344" grpId="0"/>
      <p:bldP spid="1207345" grpId="0"/>
      <p:bldP spid="1207346" grpId="0"/>
      <p:bldP spid="1207347" grpId="0"/>
      <p:bldP spid="1207348" grpId="0"/>
      <p:bldP spid="1207349" grpId="0"/>
      <p:bldP spid="1207350" grpId="0"/>
      <p:bldP spid="1207351" grpId="0"/>
      <p:bldP spid="1207352" grpId="0"/>
      <p:bldP spid="1207353" grpId="0"/>
      <p:bldP spid="1207354" grpId="0"/>
      <p:bldP spid="1207355" grpId="0" animBg="1" autoUpdateAnimBg="0"/>
      <p:bldP spid="1207356" grpId="0" animBg="1"/>
      <p:bldP spid="1207357" grpId="0" animBg="1"/>
      <p:bldP spid="1207358" grpId="0" animBg="1"/>
      <p:bldP spid="1207359" grpId="0" animBg="1"/>
      <p:bldP spid="1207360" grpId="0" animBg="1"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413" name="Text Box 93"/>
          <p:cNvSpPr txBox="1">
            <a:spLocks noChangeArrowheads="1"/>
          </p:cNvSpPr>
          <p:nvPr/>
        </p:nvSpPr>
        <p:spPr bwMode="auto">
          <a:xfrm>
            <a:off x="983953" y="878781"/>
            <a:ext cx="3671887" cy="457200"/>
          </a:xfrm>
          <a:prstGeom prst="rect">
            <a:avLst/>
          </a:prstGeom>
          <a:noFill/>
          <a:ln w="9525">
            <a:noFill/>
            <a:miter lim="800000"/>
            <a:headEnd/>
            <a:tailEnd/>
          </a:ln>
          <a:effectLst/>
        </p:spPr>
        <p:txBody>
          <a:bodyPr>
            <a:spAutoFit/>
          </a:bodyPr>
          <a:lstStyle/>
          <a:p>
            <a:pPr>
              <a:lnSpc>
                <a:spcPct val="100000"/>
              </a:lnSpc>
              <a:spcBef>
                <a:spcPct val="0"/>
              </a:spcBef>
              <a:buFont typeface="Wingdings" pitchFamily="2" charset="2"/>
              <a:buChar char="Ø"/>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指针型参数常态的使用 </a:t>
            </a:r>
          </a:p>
        </p:txBody>
      </p:sp>
      <p:sp>
        <p:nvSpPr>
          <p:cNvPr id="1208414" name="Rectangle 94"/>
          <p:cNvSpPr>
            <a:spLocks noChangeArrowheads="1"/>
          </p:cNvSpPr>
          <p:nvPr/>
        </p:nvSpPr>
        <p:spPr bwMode="auto">
          <a:xfrm>
            <a:off x="652887" y="1373867"/>
            <a:ext cx="10518750"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b="0" dirty="0">
                <a:latin typeface="+mn-lt"/>
                <a:ea typeface="楷体" pitchFamily="49" charset="-122"/>
              </a:rPr>
              <a:t>         </a:t>
            </a:r>
            <a:r>
              <a:rPr lang="zh-CN" altLang="en-US" dirty="0">
                <a:solidFill>
                  <a:srgbClr val="C00000"/>
                </a:solidFill>
                <a:latin typeface="+mn-lt"/>
                <a:ea typeface="楷体" pitchFamily="49" charset="-122"/>
              </a:rPr>
              <a:t>两种含义：</a:t>
            </a:r>
            <a:r>
              <a:rPr lang="zh-CN" altLang="en-US" dirty="0">
                <a:latin typeface="+mn-lt"/>
                <a:ea typeface="楷体" pitchFamily="49" charset="-122"/>
              </a:rPr>
              <a:t>一是指形参指针本身是常态，一是指形参指针所指向的内存单元是常态。这两种含义在定义时的格式是有差别的。 </a:t>
            </a:r>
          </a:p>
        </p:txBody>
      </p:sp>
      <p:sp>
        <p:nvSpPr>
          <p:cNvPr id="1208415" name="Rectangle 95" descr="信纸"/>
          <p:cNvSpPr>
            <a:spLocks noChangeArrowheads="1"/>
          </p:cNvSpPr>
          <p:nvPr/>
        </p:nvSpPr>
        <p:spPr bwMode="auto">
          <a:xfrm>
            <a:off x="1199456" y="2345159"/>
            <a:ext cx="3816350" cy="2308324"/>
          </a:xfrm>
          <a:prstGeom prst="rect">
            <a:avLst/>
          </a:prstGeom>
          <a:gradFill>
            <a:gsLst>
              <a:gs pos="0">
                <a:srgbClr val="CFCFD1"/>
              </a:gs>
              <a:gs pos="100000">
                <a:schemeClr val="bg1"/>
              </a:gs>
            </a:gsLst>
            <a:lin ang="108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en-US" altLang="zh-CN" dirty="0"/>
              <a:t>void </a:t>
            </a:r>
            <a:r>
              <a:rPr lang="en-US" altLang="zh-CN" dirty="0" err="1"/>
              <a:t>func</a:t>
            </a:r>
            <a:r>
              <a:rPr lang="en-US" altLang="zh-CN" dirty="0"/>
              <a:t> (</a:t>
            </a:r>
            <a:r>
              <a:rPr lang="en-US" altLang="zh-CN" dirty="0">
                <a:solidFill>
                  <a:srgbClr val="C00000"/>
                </a:solidFill>
              </a:rPr>
              <a:t>const</a:t>
            </a:r>
            <a:r>
              <a:rPr lang="en-US" altLang="zh-CN" dirty="0"/>
              <a:t>  </a:t>
            </a:r>
            <a:r>
              <a:rPr lang="en-US" altLang="zh-CN" dirty="0" err="1"/>
              <a:t>int</a:t>
            </a:r>
            <a:r>
              <a:rPr lang="en-US" altLang="zh-CN" dirty="0"/>
              <a:t> *p)</a:t>
            </a:r>
          </a:p>
          <a:p>
            <a:pPr indent="266700"/>
            <a:r>
              <a:rPr lang="en-US" altLang="zh-CN" dirty="0"/>
              <a:t>{</a:t>
            </a:r>
          </a:p>
          <a:p>
            <a:pPr indent="266700"/>
            <a:r>
              <a:rPr lang="en-US" altLang="zh-CN" dirty="0"/>
              <a:t>  </a:t>
            </a:r>
            <a:r>
              <a:rPr lang="en-US" altLang="zh-CN" dirty="0" err="1"/>
              <a:t>int</a:t>
            </a:r>
            <a:r>
              <a:rPr lang="en-US" altLang="zh-CN" dirty="0"/>
              <a:t> a[10];</a:t>
            </a:r>
          </a:p>
          <a:p>
            <a:pPr indent="266700"/>
            <a:r>
              <a:rPr lang="en-US" altLang="zh-CN" dirty="0"/>
              <a:t>  *p = 5;    </a:t>
            </a:r>
            <a:r>
              <a:rPr lang="en-US" altLang="zh-CN" sz="2000" dirty="0">
                <a:solidFill>
                  <a:srgbClr val="C00000"/>
                </a:solidFill>
                <a:latin typeface="+mn-lt"/>
                <a:ea typeface="楷体" pitchFamily="49" charset="-122"/>
              </a:rPr>
              <a:t>//</a:t>
            </a:r>
            <a:r>
              <a:rPr lang="zh-CN" altLang="en-US" sz="2000" dirty="0">
                <a:solidFill>
                  <a:srgbClr val="C00000"/>
                </a:solidFill>
                <a:latin typeface="+mn-lt"/>
                <a:ea typeface="楷体" pitchFamily="49" charset="-122"/>
              </a:rPr>
              <a:t>将引起编译错</a:t>
            </a:r>
          </a:p>
          <a:p>
            <a:pPr indent="266700"/>
            <a:r>
              <a:rPr lang="zh-CN" altLang="en-US" dirty="0"/>
              <a:t>   </a:t>
            </a:r>
            <a:r>
              <a:rPr lang="en-US" altLang="zh-CN" dirty="0"/>
              <a:t>p = a;     </a:t>
            </a:r>
            <a:r>
              <a:rPr lang="en-US" altLang="zh-CN" sz="2000" dirty="0">
                <a:solidFill>
                  <a:schemeClr val="accent2">
                    <a:lumMod val="50000"/>
                  </a:schemeClr>
                </a:solidFill>
                <a:latin typeface="+mn-lt"/>
                <a:ea typeface="楷体" pitchFamily="49" charset="-122"/>
              </a:rPr>
              <a:t>//</a:t>
            </a:r>
            <a:r>
              <a:rPr lang="zh-CN" altLang="en-US" sz="2000" dirty="0">
                <a:solidFill>
                  <a:schemeClr val="accent2">
                    <a:lumMod val="50000"/>
                  </a:schemeClr>
                </a:solidFill>
                <a:latin typeface="+mn-lt"/>
                <a:ea typeface="楷体" pitchFamily="49" charset="-122"/>
              </a:rPr>
              <a:t>正确</a:t>
            </a:r>
          </a:p>
          <a:p>
            <a:pPr indent="266700"/>
            <a:r>
              <a:rPr lang="en-US" altLang="zh-CN" dirty="0"/>
              <a:t>}</a:t>
            </a:r>
          </a:p>
        </p:txBody>
      </p:sp>
      <p:sp>
        <p:nvSpPr>
          <p:cNvPr id="1208416" name="AutoShape 96"/>
          <p:cNvSpPr>
            <a:spLocks noChangeArrowheads="1"/>
          </p:cNvSpPr>
          <p:nvPr/>
        </p:nvSpPr>
        <p:spPr bwMode="auto">
          <a:xfrm>
            <a:off x="5581666" y="2966740"/>
            <a:ext cx="2394224" cy="720725"/>
          </a:xfrm>
          <a:prstGeom prst="wedgeRoundRectCallout">
            <a:avLst>
              <a:gd name="adj1" fmla="val -141941"/>
              <a:gd name="adj2" fmla="val -85112"/>
              <a:gd name="adj3" fmla="val 16667"/>
            </a:avLst>
          </a:prstGeom>
          <a:gradFill flip="none" rotWithShape="1">
            <a:gsLst>
              <a:gs pos="0">
                <a:srgbClr val="CFCFD1"/>
              </a:gs>
              <a:gs pos="100000">
                <a:schemeClr val="bg1"/>
              </a:gs>
            </a:gsLst>
            <a:lin ang="10800000" scaled="1"/>
            <a:tileRect/>
          </a:gradFill>
          <a:ln w="1905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a:spcBef>
                <a:spcPts val="0"/>
              </a:spcBef>
            </a:pPr>
            <a:r>
              <a:rPr lang="zh-CN" altLang="en-US" sz="2000" dirty="0">
                <a:solidFill>
                  <a:srgbClr val="C00000"/>
                </a:solidFill>
                <a:latin typeface="+mn-lt"/>
                <a:ea typeface="楷体" pitchFamily="49" charset="-122"/>
              </a:rPr>
              <a:t>参数指针所指向的内存单元是常态的</a:t>
            </a:r>
            <a:r>
              <a:rPr lang="zh-CN" altLang="en-US" dirty="0">
                <a:solidFill>
                  <a:srgbClr val="C00000"/>
                </a:solidFill>
                <a:latin typeface="+mn-lt"/>
                <a:ea typeface="楷体" pitchFamily="49" charset="-122"/>
              </a:rPr>
              <a:t> </a:t>
            </a:r>
          </a:p>
        </p:txBody>
      </p:sp>
      <p:sp>
        <p:nvSpPr>
          <p:cNvPr id="1208417" name="Rectangle 97" descr="信纸"/>
          <p:cNvSpPr>
            <a:spLocks noChangeArrowheads="1"/>
          </p:cNvSpPr>
          <p:nvPr/>
        </p:nvSpPr>
        <p:spPr bwMode="auto">
          <a:xfrm>
            <a:off x="5297129" y="4070117"/>
            <a:ext cx="3695700" cy="2308324"/>
          </a:xfrm>
          <a:prstGeom prst="rect">
            <a:avLst/>
          </a:prstGeom>
          <a:gradFill>
            <a:gsLst>
              <a:gs pos="0">
                <a:srgbClr val="CFCFD1"/>
              </a:gs>
              <a:gs pos="100000">
                <a:schemeClr val="bg1"/>
              </a:gs>
            </a:gsLst>
            <a:lin ang="108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en-US" altLang="zh-CN" dirty="0"/>
              <a:t>void </a:t>
            </a:r>
            <a:r>
              <a:rPr lang="en-US" altLang="zh-CN" dirty="0" err="1"/>
              <a:t>func</a:t>
            </a:r>
            <a:r>
              <a:rPr lang="en-US" altLang="zh-CN" dirty="0"/>
              <a:t> (</a:t>
            </a:r>
            <a:r>
              <a:rPr lang="en-US" altLang="zh-CN" dirty="0" err="1"/>
              <a:t>int</a:t>
            </a:r>
            <a:r>
              <a:rPr lang="en-US" altLang="zh-CN" dirty="0"/>
              <a:t> * </a:t>
            </a:r>
            <a:r>
              <a:rPr lang="en-US" altLang="zh-CN" dirty="0">
                <a:solidFill>
                  <a:srgbClr val="C00000"/>
                </a:solidFill>
              </a:rPr>
              <a:t>const</a:t>
            </a:r>
            <a:r>
              <a:rPr lang="en-US" altLang="zh-CN" dirty="0"/>
              <a:t>  p)</a:t>
            </a:r>
          </a:p>
          <a:p>
            <a:pPr indent="266700"/>
            <a:r>
              <a:rPr lang="en-US" altLang="zh-CN" dirty="0"/>
              <a:t>{</a:t>
            </a:r>
          </a:p>
          <a:p>
            <a:pPr indent="266700"/>
            <a:r>
              <a:rPr lang="en-US" altLang="zh-CN" dirty="0"/>
              <a:t>  </a:t>
            </a:r>
            <a:r>
              <a:rPr lang="en-US" altLang="zh-CN" dirty="0" err="1"/>
              <a:t>int</a:t>
            </a:r>
            <a:r>
              <a:rPr lang="en-US" altLang="zh-CN" dirty="0"/>
              <a:t> a[10];</a:t>
            </a:r>
          </a:p>
          <a:p>
            <a:pPr indent="266700"/>
            <a:r>
              <a:rPr lang="en-US" altLang="zh-CN" dirty="0"/>
              <a:t>  *p = 5;   </a:t>
            </a:r>
            <a:r>
              <a:rPr lang="en-US" altLang="zh-CN" sz="2000" dirty="0">
                <a:solidFill>
                  <a:schemeClr val="accent2">
                    <a:lumMod val="50000"/>
                  </a:schemeClr>
                </a:solidFill>
                <a:latin typeface="+mn-lt"/>
                <a:ea typeface="楷体" pitchFamily="49" charset="-122"/>
              </a:rPr>
              <a:t>//</a:t>
            </a:r>
            <a:r>
              <a:rPr lang="zh-CN" altLang="en-US" sz="2000" dirty="0">
                <a:solidFill>
                  <a:schemeClr val="accent2">
                    <a:lumMod val="50000"/>
                  </a:schemeClr>
                </a:solidFill>
                <a:latin typeface="+mn-lt"/>
                <a:ea typeface="楷体" pitchFamily="49" charset="-122"/>
              </a:rPr>
              <a:t>正确</a:t>
            </a:r>
          </a:p>
          <a:p>
            <a:pPr indent="266700"/>
            <a:r>
              <a:rPr lang="zh-CN" altLang="en-US" dirty="0"/>
              <a:t>   </a:t>
            </a:r>
            <a:r>
              <a:rPr lang="en-US" altLang="zh-CN" dirty="0"/>
              <a:t>p = a;    </a:t>
            </a:r>
            <a:r>
              <a:rPr lang="en-US" altLang="zh-CN" sz="2000" dirty="0">
                <a:solidFill>
                  <a:srgbClr val="C00000"/>
                </a:solidFill>
                <a:latin typeface="+mn-lt"/>
                <a:ea typeface="楷体" pitchFamily="49" charset="-122"/>
              </a:rPr>
              <a:t>//</a:t>
            </a:r>
            <a:r>
              <a:rPr lang="zh-CN" altLang="en-US" sz="2000" dirty="0">
                <a:solidFill>
                  <a:srgbClr val="C00000"/>
                </a:solidFill>
                <a:latin typeface="+mn-lt"/>
                <a:ea typeface="楷体" pitchFamily="49" charset="-122"/>
              </a:rPr>
              <a:t>将引起编译错</a:t>
            </a:r>
          </a:p>
          <a:p>
            <a:pPr indent="266700"/>
            <a:r>
              <a:rPr lang="en-US" altLang="zh-CN" dirty="0"/>
              <a:t>}</a:t>
            </a:r>
          </a:p>
        </p:txBody>
      </p:sp>
      <p:sp>
        <p:nvSpPr>
          <p:cNvPr id="1208418" name="AutoShape 98"/>
          <p:cNvSpPr>
            <a:spLocks noChangeArrowheads="1"/>
          </p:cNvSpPr>
          <p:nvPr/>
        </p:nvSpPr>
        <p:spPr bwMode="auto">
          <a:xfrm>
            <a:off x="9731141" y="4763408"/>
            <a:ext cx="1727969" cy="720725"/>
          </a:xfrm>
          <a:prstGeom prst="wedgeRoundRectCallout">
            <a:avLst>
              <a:gd name="adj1" fmla="val -129231"/>
              <a:gd name="adj2" fmla="val -91630"/>
              <a:gd name="adj3" fmla="val 16667"/>
            </a:avLst>
          </a:prstGeom>
          <a:gradFill flip="none" rotWithShape="1">
            <a:gsLst>
              <a:gs pos="0">
                <a:srgbClr val="CFCFD1"/>
              </a:gs>
              <a:gs pos="100000">
                <a:schemeClr val="bg1"/>
              </a:gs>
            </a:gsLst>
            <a:lin ang="10800000" scaled="1"/>
            <a:tileRect/>
          </a:gradFill>
          <a:ln w="1905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a:spcBef>
                <a:spcPts val="0"/>
              </a:spcBef>
            </a:pPr>
            <a:r>
              <a:rPr lang="zh-CN" altLang="en-US" sz="2000" dirty="0">
                <a:solidFill>
                  <a:srgbClr val="C00000"/>
                </a:solidFill>
                <a:latin typeface="+mn-lt"/>
                <a:ea typeface="楷体" pitchFamily="49" charset="-122"/>
              </a:rPr>
              <a:t>参数指针本身是常态的 </a:t>
            </a:r>
          </a:p>
        </p:txBody>
      </p:sp>
      <p:sp>
        <p:nvSpPr>
          <p:cNvPr id="11" name="Rectangle 4">
            <a:extLst>
              <a:ext uri="{FF2B5EF4-FFF2-40B4-BE49-F238E27FC236}">
                <a16:creationId xmlns:a16="http://schemas.microsoft.com/office/drawing/2014/main" id="{CAC48D4F-A4D5-4E42-976A-38492347ECF4}"/>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8414"/>
                                        </p:tgtEl>
                                        <p:attrNameLst>
                                          <p:attrName>style.visibility</p:attrName>
                                        </p:attrNameLst>
                                      </p:cBhvr>
                                      <p:to>
                                        <p:strVal val="visible"/>
                                      </p:to>
                                    </p:set>
                                    <p:animEffect transition="in" filter="box(out)">
                                      <p:cBhvr>
                                        <p:cTn id="7" dur="500"/>
                                        <p:tgtEl>
                                          <p:spTgt spid="120841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08415"/>
                                        </p:tgtEl>
                                        <p:attrNameLst>
                                          <p:attrName>style.visibility</p:attrName>
                                        </p:attrNameLst>
                                      </p:cBhvr>
                                      <p:to>
                                        <p:strVal val="visible"/>
                                      </p:to>
                                    </p:set>
                                    <p:animEffect transition="in" filter="box(out)">
                                      <p:cBhvr>
                                        <p:cTn id="12" dur="500"/>
                                        <p:tgtEl>
                                          <p:spTgt spid="1208415"/>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par>
                          <p:cTn id="13" fill="hold">
                            <p:stCondLst>
                              <p:cond delay="500"/>
                            </p:stCondLst>
                            <p:childTnLst>
                              <p:par>
                                <p:cTn id="14" presetID="18" presetClass="entr" presetSubtype="6" fill="hold" grpId="0" nodeType="afterEffect">
                                  <p:stCondLst>
                                    <p:cond delay="0"/>
                                  </p:stCondLst>
                                  <p:childTnLst>
                                    <p:set>
                                      <p:cBhvr>
                                        <p:cTn id="15" dur="1" fill="hold">
                                          <p:stCondLst>
                                            <p:cond delay="0"/>
                                          </p:stCondLst>
                                        </p:cTn>
                                        <p:tgtEl>
                                          <p:spTgt spid="1208416"/>
                                        </p:tgtEl>
                                        <p:attrNameLst>
                                          <p:attrName>style.visibility</p:attrName>
                                        </p:attrNameLst>
                                      </p:cBhvr>
                                      <p:to>
                                        <p:strVal val="visible"/>
                                      </p:to>
                                    </p:set>
                                    <p:animEffect transition="in" filter="strips(downRight)">
                                      <p:cBhvr>
                                        <p:cTn id="16" dur="500"/>
                                        <p:tgtEl>
                                          <p:spTgt spid="1208416"/>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1208417"/>
                                        </p:tgtEl>
                                        <p:attrNameLst>
                                          <p:attrName>style.visibility</p:attrName>
                                        </p:attrNameLst>
                                      </p:cBhvr>
                                      <p:to>
                                        <p:strVal val="visible"/>
                                      </p:to>
                                    </p:set>
                                    <p:animEffect transition="in" filter="box(out)">
                                      <p:cBhvr>
                                        <p:cTn id="21" dur="500"/>
                                        <p:tgtEl>
                                          <p:spTgt spid="1208417"/>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par>
                          <p:cTn id="22" fill="hold">
                            <p:stCondLst>
                              <p:cond delay="500"/>
                            </p:stCondLst>
                            <p:childTnLst>
                              <p:par>
                                <p:cTn id="23" presetID="18" presetClass="entr" presetSubtype="6" fill="hold" grpId="0" nodeType="afterEffect">
                                  <p:stCondLst>
                                    <p:cond delay="0"/>
                                  </p:stCondLst>
                                  <p:childTnLst>
                                    <p:set>
                                      <p:cBhvr>
                                        <p:cTn id="24" dur="1" fill="hold">
                                          <p:stCondLst>
                                            <p:cond delay="0"/>
                                          </p:stCondLst>
                                        </p:cTn>
                                        <p:tgtEl>
                                          <p:spTgt spid="1208418"/>
                                        </p:tgtEl>
                                        <p:attrNameLst>
                                          <p:attrName>style.visibility</p:attrName>
                                        </p:attrNameLst>
                                      </p:cBhvr>
                                      <p:to>
                                        <p:strVal val="visible"/>
                                      </p:to>
                                    </p:set>
                                    <p:animEffect transition="in" filter="strips(downRight)">
                                      <p:cBhvr>
                                        <p:cTn id="25" dur="500"/>
                                        <p:tgtEl>
                                          <p:spTgt spid="1208418"/>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414" grpId="0"/>
      <p:bldP spid="1208415" grpId="0" animBg="1"/>
      <p:bldP spid="1208416" grpId="0" animBg="1"/>
      <p:bldP spid="1208417" grpId="0" animBg="1"/>
      <p:bldP spid="120841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9349" name="Text Box 5"/>
          <p:cNvSpPr txBox="1">
            <a:spLocks noChangeArrowheads="1"/>
          </p:cNvSpPr>
          <p:nvPr/>
        </p:nvSpPr>
        <p:spPr bwMode="auto">
          <a:xfrm>
            <a:off x="987388" y="836712"/>
            <a:ext cx="5061444" cy="457200"/>
          </a:xfrm>
          <a:prstGeom prst="rect">
            <a:avLst/>
          </a:prstGeom>
          <a:noFill/>
          <a:ln w="9525">
            <a:noFill/>
            <a:miter lim="800000"/>
            <a:headEnd/>
            <a:tailEnd/>
          </a:ln>
          <a:effectLst/>
        </p:spPr>
        <p:txBody>
          <a:bodyPr>
            <a:spAutoFit/>
          </a:bodyPr>
          <a:lstStyle>
            <a:defPPr>
              <a:defRPr lang="zh-CN"/>
            </a:defPPr>
            <a:lvl1pPr>
              <a:lnSpc>
                <a:spcPct val="100000"/>
              </a:lnSpc>
              <a:buFont typeface="Wingdings" pitchFamily="2" charset="2"/>
              <a:buChar char="Ø"/>
              <a:defRPr b="1">
                <a:solidFill>
                  <a:srgbClr val="C00000"/>
                </a:solidFill>
                <a:latin typeface="+mn-lt"/>
                <a:ea typeface="楷体" pitchFamily="49" charset="-122"/>
              </a:defRPr>
            </a:lvl1pPr>
          </a:lstStyle>
          <a:p>
            <a:r>
              <a:rPr lang="en-US" altLang="zh-CN" dirty="0"/>
              <a:t> </a:t>
            </a:r>
            <a:r>
              <a:rPr lang="zh-CN" altLang="en-US" dirty="0"/>
              <a:t>通过函数为指针变量分配内存 </a:t>
            </a:r>
          </a:p>
        </p:txBody>
      </p:sp>
      <p:sp>
        <p:nvSpPr>
          <p:cNvPr id="1209350" name="Rectangle 6"/>
          <p:cNvSpPr>
            <a:spLocks noChangeArrowheads="1"/>
          </p:cNvSpPr>
          <p:nvPr/>
        </p:nvSpPr>
        <p:spPr bwMode="auto">
          <a:xfrm>
            <a:off x="733771" y="1291164"/>
            <a:ext cx="6531323"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latin typeface="+mn-lt"/>
                <a:ea typeface="楷体" pitchFamily="49" charset="-122"/>
              </a:rPr>
              <a:t>        </a:t>
            </a:r>
            <a:r>
              <a:rPr lang="zh-CN" altLang="en-US" dirty="0">
                <a:latin typeface="+mn-lt"/>
                <a:ea typeface="楷体" pitchFamily="49" charset="-122"/>
              </a:rPr>
              <a:t>如果程序想通过函数为指针变量分配内存，则形参必须是一个指针的指针（即</a:t>
            </a:r>
            <a:r>
              <a:rPr lang="zh-CN" altLang="en-US" dirty="0">
                <a:solidFill>
                  <a:srgbClr val="C00000"/>
                </a:solidFill>
                <a:latin typeface="+mn-lt"/>
                <a:ea typeface="楷体" pitchFamily="49" charset="-122"/>
              </a:rPr>
              <a:t>二级指针</a:t>
            </a:r>
            <a:r>
              <a:rPr lang="zh-CN" altLang="en-US" dirty="0">
                <a:latin typeface="+mn-lt"/>
                <a:ea typeface="楷体" pitchFamily="49" charset="-122"/>
              </a:rPr>
              <a:t>）。 </a:t>
            </a:r>
          </a:p>
        </p:txBody>
      </p:sp>
      <p:sp>
        <p:nvSpPr>
          <p:cNvPr id="1209351" name="Rectangle 7" descr="信纸"/>
          <p:cNvSpPr>
            <a:spLocks noChangeArrowheads="1"/>
          </p:cNvSpPr>
          <p:nvPr/>
        </p:nvSpPr>
        <p:spPr bwMode="auto">
          <a:xfrm>
            <a:off x="1246548" y="2244111"/>
            <a:ext cx="5112565" cy="4401205"/>
          </a:xfrm>
          <a:prstGeom prst="rect">
            <a:avLst/>
          </a:prstGeom>
          <a:gradFill>
            <a:gsLst>
              <a:gs pos="0">
                <a:srgbClr val="CFCFD1"/>
              </a:gs>
              <a:gs pos="100000">
                <a:schemeClr val="bg1"/>
              </a:gs>
            </a:gsLst>
            <a:lin ang="108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solidFill>
                  <a:schemeClr val="accent1">
                    <a:lumMod val="50000"/>
                  </a:schemeClr>
                </a:solidFill>
              </a:rPr>
              <a:t>void </a:t>
            </a:r>
            <a:r>
              <a:rPr lang="en-US" altLang="zh-CN" sz="2000" dirty="0" err="1">
                <a:solidFill>
                  <a:schemeClr val="accent1">
                    <a:lumMod val="50000"/>
                  </a:schemeClr>
                </a:solidFill>
              </a:rPr>
              <a:t>getmen</a:t>
            </a:r>
            <a:r>
              <a:rPr lang="en-US" altLang="zh-CN" sz="2000" dirty="0">
                <a:solidFill>
                  <a:schemeClr val="accent1">
                    <a:lumMod val="50000"/>
                  </a:schemeClr>
                </a:solidFill>
              </a:rPr>
              <a:t> (</a:t>
            </a:r>
            <a:r>
              <a:rPr lang="en-US" altLang="zh-CN" sz="2000" dirty="0" err="1">
                <a:solidFill>
                  <a:schemeClr val="accent1">
                    <a:lumMod val="50000"/>
                  </a:schemeClr>
                </a:solidFill>
              </a:rPr>
              <a:t>int</a:t>
            </a:r>
            <a:r>
              <a:rPr lang="en-US" altLang="zh-CN" sz="2000" dirty="0">
                <a:solidFill>
                  <a:schemeClr val="accent1">
                    <a:lumMod val="50000"/>
                  </a:schemeClr>
                </a:solidFill>
              </a:rPr>
              <a:t> *p, </a:t>
            </a:r>
            <a:r>
              <a:rPr lang="en-US" altLang="zh-CN" sz="2000" dirty="0" err="1">
                <a:solidFill>
                  <a:schemeClr val="accent1">
                    <a:lumMod val="50000"/>
                  </a:schemeClr>
                </a:solidFill>
              </a:rPr>
              <a:t>int</a:t>
            </a:r>
            <a:r>
              <a:rPr lang="en-US" altLang="zh-CN" sz="2000" dirty="0">
                <a:solidFill>
                  <a:schemeClr val="accent1">
                    <a:lumMod val="50000"/>
                  </a:schemeClr>
                </a:solidFill>
              </a:rPr>
              <a:t> num)</a:t>
            </a:r>
          </a:p>
          <a:p>
            <a:r>
              <a:rPr lang="en-US" altLang="zh-CN" sz="2000" dirty="0"/>
              <a:t>{</a:t>
            </a:r>
          </a:p>
          <a:p>
            <a:r>
              <a:rPr lang="en-US" altLang="zh-CN" sz="2000" dirty="0"/>
              <a:t>  p = (</a:t>
            </a:r>
            <a:r>
              <a:rPr lang="en-US" altLang="zh-CN" sz="2000" dirty="0" err="1"/>
              <a:t>int</a:t>
            </a:r>
            <a:r>
              <a:rPr lang="en-US" altLang="zh-CN" sz="2000" dirty="0"/>
              <a:t> *)</a:t>
            </a:r>
            <a:r>
              <a:rPr lang="en-US" altLang="zh-CN" sz="2000" dirty="0" err="1"/>
              <a:t>malloc</a:t>
            </a:r>
            <a:r>
              <a:rPr lang="en-US" altLang="zh-CN" sz="2000" dirty="0"/>
              <a:t>(num * </a:t>
            </a:r>
            <a:r>
              <a:rPr lang="en-US" altLang="zh-CN" sz="2000" dirty="0" err="1"/>
              <a:t>sizeof</a:t>
            </a:r>
            <a:r>
              <a:rPr lang="en-US" altLang="zh-CN" sz="2000" dirty="0"/>
              <a:t>(</a:t>
            </a:r>
            <a:r>
              <a:rPr lang="en-US" altLang="zh-CN" sz="2000" dirty="0" err="1"/>
              <a:t>int</a:t>
            </a:r>
            <a:r>
              <a:rPr lang="en-US" altLang="zh-CN" sz="2000" dirty="0"/>
              <a:t>));</a:t>
            </a:r>
          </a:p>
          <a:p>
            <a:r>
              <a:rPr lang="en-US" altLang="zh-CN" sz="2000" dirty="0"/>
              <a:t>  return;</a:t>
            </a:r>
          </a:p>
          <a:p>
            <a:r>
              <a:rPr lang="en-US" altLang="zh-CN" sz="2000" dirty="0"/>
              <a:t>}</a:t>
            </a:r>
          </a:p>
          <a:p>
            <a:endParaRPr lang="en-US" altLang="zh-CN" sz="2000" dirty="0"/>
          </a:p>
          <a:p>
            <a:r>
              <a:rPr lang="en-US" altLang="zh-CN" sz="2000" dirty="0" err="1">
                <a:solidFill>
                  <a:srgbClr val="CC0099"/>
                </a:solidFill>
              </a:rPr>
              <a:t>int</a:t>
            </a:r>
            <a:r>
              <a:rPr lang="en-US" altLang="zh-CN" sz="2000" dirty="0">
                <a:solidFill>
                  <a:srgbClr val="CC0099"/>
                </a:solidFill>
              </a:rPr>
              <a:t> main ( )</a:t>
            </a:r>
          </a:p>
          <a:p>
            <a:r>
              <a:rPr lang="en-US" altLang="zh-CN" sz="2000" dirty="0"/>
              <a:t>{</a:t>
            </a:r>
          </a:p>
          <a:p>
            <a:r>
              <a:rPr lang="en-US" altLang="zh-CN" sz="2000" dirty="0"/>
              <a:t>  </a:t>
            </a:r>
            <a:r>
              <a:rPr lang="en-US" altLang="zh-CN" sz="2000" dirty="0" err="1"/>
              <a:t>int</a:t>
            </a:r>
            <a:r>
              <a:rPr lang="en-US" altLang="zh-CN" sz="2000" dirty="0"/>
              <a:t> *pint, k;</a:t>
            </a:r>
          </a:p>
          <a:p>
            <a:r>
              <a:rPr lang="en-US" altLang="zh-CN" sz="2000" dirty="0"/>
              <a:t>  </a:t>
            </a:r>
            <a:r>
              <a:rPr lang="en-US" altLang="zh-CN" sz="2000" dirty="0" err="1"/>
              <a:t>getmen</a:t>
            </a:r>
            <a:r>
              <a:rPr lang="en-US" altLang="zh-CN" sz="2000" dirty="0"/>
              <a:t> (pint, 10);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执行后，</a:t>
            </a:r>
            <a:r>
              <a:rPr lang="en-US" altLang="zh-CN" sz="1800" dirty="0">
                <a:solidFill>
                  <a:schemeClr val="accent2">
                    <a:lumMod val="50000"/>
                  </a:schemeClr>
                </a:solidFill>
                <a:latin typeface="+mn-lt"/>
                <a:ea typeface="楷体" pitchFamily="49" charset="-122"/>
              </a:rPr>
              <a:t>pint</a:t>
            </a:r>
            <a:r>
              <a:rPr lang="zh-CN" altLang="en-US" sz="1800" dirty="0">
                <a:solidFill>
                  <a:schemeClr val="accent2">
                    <a:lumMod val="50000"/>
                  </a:schemeClr>
                </a:solidFill>
                <a:latin typeface="+mn-lt"/>
                <a:ea typeface="楷体" pitchFamily="49" charset="-122"/>
              </a:rPr>
              <a:t>的值不变</a:t>
            </a:r>
          </a:p>
          <a:p>
            <a:r>
              <a:rPr lang="zh-CN" altLang="en-US" sz="2000" dirty="0"/>
              <a:t>  </a:t>
            </a:r>
            <a:r>
              <a:rPr lang="en-US" altLang="zh-CN" sz="2000" dirty="0"/>
              <a:t>for (k = 0; k &lt; 10; k++)</a:t>
            </a:r>
          </a:p>
          <a:p>
            <a:r>
              <a:rPr lang="en-US" altLang="zh-CN" sz="2000" dirty="0"/>
              <a:t>     pint[k] = k;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野指针操作</a:t>
            </a:r>
          </a:p>
          <a:p>
            <a:r>
              <a:rPr lang="zh-CN" altLang="en-US" sz="2000" dirty="0"/>
              <a:t>  </a:t>
            </a:r>
            <a:r>
              <a:rPr lang="en-US" altLang="zh-CN" sz="2000" dirty="0"/>
              <a:t>…… </a:t>
            </a:r>
          </a:p>
          <a:p>
            <a:r>
              <a:rPr lang="en-US" altLang="zh-CN" sz="2000" dirty="0"/>
              <a:t>} </a:t>
            </a:r>
          </a:p>
        </p:txBody>
      </p:sp>
      <p:grpSp>
        <p:nvGrpSpPr>
          <p:cNvPr id="1209356" name="Group 12"/>
          <p:cNvGrpSpPr>
            <a:grpSpLocks/>
          </p:cNvGrpSpPr>
          <p:nvPr/>
        </p:nvGrpSpPr>
        <p:grpSpPr bwMode="auto">
          <a:xfrm>
            <a:off x="7280970" y="1628776"/>
            <a:ext cx="2636837" cy="4625975"/>
            <a:chOff x="2879" y="554"/>
            <a:chExt cx="1661" cy="2914"/>
          </a:xfrm>
        </p:grpSpPr>
        <p:grpSp>
          <p:nvGrpSpPr>
            <p:cNvPr id="1209357" name="Group 13"/>
            <p:cNvGrpSpPr>
              <a:grpSpLocks/>
            </p:cNvGrpSpPr>
            <p:nvPr/>
          </p:nvGrpSpPr>
          <p:grpSpPr bwMode="auto">
            <a:xfrm>
              <a:off x="2879" y="554"/>
              <a:ext cx="1661" cy="2914"/>
              <a:chOff x="3144" y="806"/>
              <a:chExt cx="1661" cy="2914"/>
            </a:xfrm>
          </p:grpSpPr>
          <p:sp>
            <p:nvSpPr>
              <p:cNvPr id="1209358" name="Freeform 14"/>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09360" name="Rectangle 16"/>
              <p:cNvSpPr>
                <a:spLocks noChangeArrowheads="1"/>
              </p:cNvSpPr>
              <p:nvPr/>
            </p:nvSpPr>
            <p:spPr bwMode="auto">
              <a:xfrm>
                <a:off x="3582" y="806"/>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09361" name="Line 17"/>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9362" name="Line 18"/>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09363" name="Line 19"/>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9364" name="Line 20"/>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9365" name="Line 21"/>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9366" name="Line 22"/>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9367" name="Line 23"/>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09368" name="Line 24"/>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09369" name="Text Box 25"/>
              <p:cNvSpPr txBox="1">
                <a:spLocks noChangeArrowheads="1"/>
              </p:cNvSpPr>
              <p:nvPr/>
            </p:nvSpPr>
            <p:spPr bwMode="auto">
              <a:xfrm>
                <a:off x="4053" y="834"/>
                <a:ext cx="349" cy="397"/>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dirty="0">
                    <a:effectLst/>
                    <a:ea typeface="宋体" pitchFamily="2" charset="-122"/>
                  </a:rPr>
                  <a:t>…...</a:t>
                </a:r>
              </a:p>
            </p:txBody>
          </p:sp>
          <p:sp>
            <p:nvSpPr>
              <p:cNvPr id="1209370" name="Line 26"/>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9371" name="Text Box 27"/>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09372" name="Text Box 28"/>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09373" name="Text Box 29"/>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09374" name="Text Box 30"/>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09375" name="Text Box 31"/>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09376" name="Text Box 32"/>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209377" name="Group 33"/>
              <p:cNvGrpSpPr>
                <a:grpSpLocks/>
              </p:cNvGrpSpPr>
              <p:nvPr/>
            </p:nvGrpSpPr>
            <p:grpSpPr bwMode="auto">
              <a:xfrm>
                <a:off x="3597" y="1380"/>
                <a:ext cx="60" cy="1548"/>
                <a:chOff x="3960" y="1560"/>
                <a:chExt cx="60" cy="1548"/>
              </a:xfrm>
            </p:grpSpPr>
            <p:sp>
              <p:nvSpPr>
                <p:cNvPr id="1209378" name="Line 34"/>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79" name="Line 35"/>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0" name="Line 36"/>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1" name="Line 37"/>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2" name="Line 38"/>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3" name="Line 39"/>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4" name="Line 40"/>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09385" name="Group 41"/>
              <p:cNvGrpSpPr>
                <a:grpSpLocks/>
              </p:cNvGrpSpPr>
              <p:nvPr/>
            </p:nvGrpSpPr>
            <p:grpSpPr bwMode="auto">
              <a:xfrm>
                <a:off x="4725" y="1368"/>
                <a:ext cx="60" cy="1548"/>
                <a:chOff x="3960" y="1560"/>
                <a:chExt cx="60" cy="1548"/>
              </a:xfrm>
            </p:grpSpPr>
            <p:sp>
              <p:nvSpPr>
                <p:cNvPr id="1209386" name="Line 42"/>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7" name="Line 43"/>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8" name="Line 44"/>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9" name="Line 45"/>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90" name="Line 46"/>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91" name="Line 47"/>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92" name="Line 48"/>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09393" name="Line 49"/>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94" name="Line 50"/>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09395" name="Line 51"/>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96" name="Text Box 52"/>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09397" name="Text Box 53"/>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09398" name="Text Box 54"/>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09359" name="Freeform 15"/>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209399" name="Text Box 55"/>
            <p:cNvSpPr txBox="1">
              <a:spLocks noChangeArrowheads="1"/>
            </p:cNvSpPr>
            <p:nvPr/>
          </p:nvSpPr>
          <p:spPr bwMode="auto">
            <a:xfrm>
              <a:off x="3799" y="2836"/>
              <a:ext cx="349" cy="258"/>
            </a:xfrm>
            <a:prstGeom prst="rect">
              <a:avLst/>
            </a:prstGeom>
            <a:noFill/>
            <a:ln w="9525">
              <a:noFill/>
              <a:miter lim="800000"/>
              <a:headEnd/>
              <a:tailEnd/>
            </a:ln>
            <a:effectLst/>
          </p:spPr>
          <p:txBody>
            <a:bodyPr vert="eaVert" wrap="square" anchor="ctr">
              <a:spAutoFit/>
            </a:bodyPr>
            <a:lstStyle/>
            <a:p>
              <a:pPr algn="ctr" eaLnBrk="0" hangingPunct="0">
                <a:lnSpc>
                  <a:spcPct val="100000"/>
                </a:lnSpc>
                <a:spcBef>
                  <a:spcPct val="0"/>
                </a:spcBef>
              </a:pPr>
              <a:r>
                <a:rPr lang="en-US" altLang="zh-CN" dirty="0">
                  <a:effectLst/>
                  <a:ea typeface="宋体" pitchFamily="2" charset="-122"/>
                </a:rPr>
                <a:t>...</a:t>
              </a:r>
            </a:p>
          </p:txBody>
        </p:sp>
      </p:grpSp>
      <p:grpSp>
        <p:nvGrpSpPr>
          <p:cNvPr id="1209418" name="Group 74"/>
          <p:cNvGrpSpPr>
            <a:grpSpLocks/>
          </p:cNvGrpSpPr>
          <p:nvPr/>
        </p:nvGrpSpPr>
        <p:grpSpPr bwMode="auto">
          <a:xfrm>
            <a:off x="8501759" y="1912939"/>
            <a:ext cx="2332038" cy="1041401"/>
            <a:chOff x="4158" y="1205"/>
            <a:chExt cx="1469" cy="656"/>
          </a:xfrm>
        </p:grpSpPr>
        <p:grpSp>
          <p:nvGrpSpPr>
            <p:cNvPr id="1209417" name="Group 73"/>
            <p:cNvGrpSpPr>
              <a:grpSpLocks/>
            </p:cNvGrpSpPr>
            <p:nvPr/>
          </p:nvGrpSpPr>
          <p:grpSpPr bwMode="auto">
            <a:xfrm>
              <a:off x="5054" y="1308"/>
              <a:ext cx="573" cy="250"/>
              <a:chOff x="5054" y="1308"/>
              <a:chExt cx="573" cy="250"/>
            </a:xfrm>
          </p:grpSpPr>
          <p:sp>
            <p:nvSpPr>
              <p:cNvPr id="1209402" name="Line 58"/>
              <p:cNvSpPr>
                <a:spLocks noChangeShapeType="1"/>
              </p:cNvSpPr>
              <p:nvPr/>
            </p:nvSpPr>
            <p:spPr bwMode="auto">
              <a:xfrm flipH="1">
                <a:off x="5054" y="1476"/>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09403" name="Text Box 59"/>
              <p:cNvSpPr txBox="1">
                <a:spLocks noChangeArrowheads="1"/>
              </p:cNvSpPr>
              <p:nvPr/>
            </p:nvSpPr>
            <p:spPr bwMode="auto">
              <a:xfrm>
                <a:off x="5236" y="1308"/>
                <a:ext cx="391"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pint</a:t>
                </a:r>
              </a:p>
            </p:txBody>
          </p:sp>
        </p:grpSp>
        <p:grpSp>
          <p:nvGrpSpPr>
            <p:cNvPr id="1209404" name="Group 60"/>
            <p:cNvGrpSpPr>
              <a:grpSpLocks/>
            </p:cNvGrpSpPr>
            <p:nvPr/>
          </p:nvGrpSpPr>
          <p:grpSpPr bwMode="auto">
            <a:xfrm>
              <a:off x="5054" y="1611"/>
              <a:ext cx="382" cy="250"/>
              <a:chOff x="4426" y="1917"/>
              <a:chExt cx="382" cy="250"/>
            </a:xfrm>
          </p:grpSpPr>
          <p:sp>
            <p:nvSpPr>
              <p:cNvPr id="1209405" name="Line 61"/>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09406" name="Text Box 62"/>
              <p:cNvSpPr txBox="1">
                <a:spLocks noChangeArrowheads="1"/>
              </p:cNvSpPr>
              <p:nvPr/>
            </p:nvSpPr>
            <p:spPr bwMode="auto">
              <a:xfrm>
                <a:off x="4523" y="1917"/>
                <a:ext cx="28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  k</a:t>
                </a:r>
              </a:p>
            </p:txBody>
          </p:sp>
        </p:grpSp>
        <p:sp>
          <p:nvSpPr>
            <p:cNvPr id="1209407" name="Text Box 63"/>
            <p:cNvSpPr txBox="1">
              <a:spLocks noChangeArrowheads="1"/>
            </p:cNvSpPr>
            <p:nvPr/>
          </p:nvSpPr>
          <p:spPr bwMode="auto">
            <a:xfrm>
              <a:off x="4158" y="1205"/>
              <a:ext cx="57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dirty="0">
                  <a:solidFill>
                    <a:srgbClr val="CF0D9E"/>
                  </a:solidFill>
                </a:rPr>
                <a:t>(main)</a:t>
              </a:r>
            </a:p>
          </p:txBody>
        </p:sp>
      </p:grpSp>
      <p:grpSp>
        <p:nvGrpSpPr>
          <p:cNvPr id="1209421" name="Group 77"/>
          <p:cNvGrpSpPr>
            <a:grpSpLocks/>
          </p:cNvGrpSpPr>
          <p:nvPr/>
        </p:nvGrpSpPr>
        <p:grpSpPr bwMode="auto">
          <a:xfrm>
            <a:off x="8322369" y="3073400"/>
            <a:ext cx="2603500" cy="1011238"/>
            <a:chOff x="4045" y="1936"/>
            <a:chExt cx="1640" cy="637"/>
          </a:xfrm>
        </p:grpSpPr>
        <p:grpSp>
          <p:nvGrpSpPr>
            <p:cNvPr id="1209419" name="Group 75"/>
            <p:cNvGrpSpPr>
              <a:grpSpLocks/>
            </p:cNvGrpSpPr>
            <p:nvPr/>
          </p:nvGrpSpPr>
          <p:grpSpPr bwMode="auto">
            <a:xfrm>
              <a:off x="5066" y="2052"/>
              <a:ext cx="387" cy="250"/>
              <a:chOff x="5066" y="2052"/>
              <a:chExt cx="387" cy="250"/>
            </a:xfrm>
          </p:grpSpPr>
          <p:sp>
            <p:nvSpPr>
              <p:cNvPr id="1209412" name="Line 68"/>
              <p:cNvSpPr>
                <a:spLocks noChangeShapeType="1"/>
              </p:cNvSpPr>
              <p:nvPr/>
            </p:nvSpPr>
            <p:spPr bwMode="auto">
              <a:xfrm flipH="1">
                <a:off x="5066" y="222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09413" name="Text Box 69"/>
              <p:cNvSpPr txBox="1">
                <a:spLocks noChangeArrowheads="1"/>
              </p:cNvSpPr>
              <p:nvPr/>
            </p:nvSpPr>
            <p:spPr bwMode="auto">
              <a:xfrm>
                <a:off x="5248" y="2052"/>
                <a:ext cx="20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p</a:t>
                </a:r>
              </a:p>
            </p:txBody>
          </p:sp>
        </p:grpSp>
        <p:sp>
          <p:nvSpPr>
            <p:cNvPr id="1209414" name="Text Box 70"/>
            <p:cNvSpPr txBox="1">
              <a:spLocks noChangeArrowheads="1"/>
            </p:cNvSpPr>
            <p:nvPr/>
          </p:nvSpPr>
          <p:spPr bwMode="auto">
            <a:xfrm>
              <a:off x="4045" y="1936"/>
              <a:ext cx="7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dirty="0">
                  <a:solidFill>
                    <a:schemeClr val="accent1">
                      <a:lumMod val="50000"/>
                    </a:schemeClr>
                  </a:solidFill>
                </a:rPr>
                <a:t>(</a:t>
              </a:r>
              <a:r>
                <a:rPr lang="en-US" altLang="zh-CN" sz="2000" b="1" dirty="0" err="1">
                  <a:solidFill>
                    <a:schemeClr val="accent1">
                      <a:lumMod val="50000"/>
                    </a:schemeClr>
                  </a:solidFill>
                </a:rPr>
                <a:t>getmem</a:t>
              </a:r>
              <a:r>
                <a:rPr lang="en-US" altLang="zh-CN" sz="2000" b="1" dirty="0">
                  <a:solidFill>
                    <a:schemeClr val="accent1">
                      <a:lumMod val="50000"/>
                    </a:schemeClr>
                  </a:solidFill>
                </a:rPr>
                <a:t>)</a:t>
              </a:r>
            </a:p>
          </p:txBody>
        </p:sp>
        <p:grpSp>
          <p:nvGrpSpPr>
            <p:cNvPr id="1209420" name="Group 76"/>
            <p:cNvGrpSpPr>
              <a:grpSpLocks/>
            </p:cNvGrpSpPr>
            <p:nvPr/>
          </p:nvGrpSpPr>
          <p:grpSpPr bwMode="auto">
            <a:xfrm>
              <a:off x="5058" y="2323"/>
              <a:ext cx="627" cy="250"/>
              <a:chOff x="5058" y="2323"/>
              <a:chExt cx="627" cy="250"/>
            </a:xfrm>
          </p:grpSpPr>
          <p:sp>
            <p:nvSpPr>
              <p:cNvPr id="1209415" name="Line 71"/>
              <p:cNvSpPr>
                <a:spLocks noChangeShapeType="1"/>
              </p:cNvSpPr>
              <p:nvPr/>
            </p:nvSpPr>
            <p:spPr bwMode="auto">
              <a:xfrm flipH="1">
                <a:off x="5058" y="2473"/>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09416" name="Text Box 72"/>
              <p:cNvSpPr txBox="1">
                <a:spLocks noChangeArrowheads="1"/>
              </p:cNvSpPr>
              <p:nvPr/>
            </p:nvSpPr>
            <p:spPr bwMode="auto">
              <a:xfrm>
                <a:off x="5258" y="2323"/>
                <a:ext cx="42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num</a:t>
                </a:r>
              </a:p>
            </p:txBody>
          </p:sp>
        </p:grpSp>
      </p:grpSp>
      <p:sp>
        <p:nvSpPr>
          <p:cNvPr id="1209422" name="Text Box 78"/>
          <p:cNvSpPr txBox="1">
            <a:spLocks noChangeArrowheads="1"/>
          </p:cNvSpPr>
          <p:nvPr/>
        </p:nvSpPr>
        <p:spPr bwMode="auto">
          <a:xfrm>
            <a:off x="8601769" y="2351088"/>
            <a:ext cx="792162"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rgbClr val="C00000"/>
                </a:solidFill>
              </a:rPr>
              <a:t>2010</a:t>
            </a:r>
          </a:p>
        </p:txBody>
      </p:sp>
      <p:sp>
        <p:nvSpPr>
          <p:cNvPr id="1209423" name="Text Box 79"/>
          <p:cNvSpPr txBox="1">
            <a:spLocks noChangeArrowheads="1"/>
          </p:cNvSpPr>
          <p:nvPr/>
        </p:nvSpPr>
        <p:spPr bwMode="auto">
          <a:xfrm>
            <a:off x="8574782" y="3552825"/>
            <a:ext cx="792163"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rgbClr val="C00000"/>
                </a:solidFill>
              </a:rPr>
              <a:t>2010</a:t>
            </a:r>
          </a:p>
        </p:txBody>
      </p:sp>
      <p:grpSp>
        <p:nvGrpSpPr>
          <p:cNvPr id="1209428" name="Group 84"/>
          <p:cNvGrpSpPr>
            <a:grpSpLocks/>
          </p:cNvGrpSpPr>
          <p:nvPr/>
        </p:nvGrpSpPr>
        <p:grpSpPr bwMode="auto">
          <a:xfrm>
            <a:off x="7265094" y="3687764"/>
            <a:ext cx="1295400" cy="865187"/>
            <a:chOff x="3379" y="2323"/>
            <a:chExt cx="816" cy="545"/>
          </a:xfrm>
        </p:grpSpPr>
        <p:sp>
          <p:nvSpPr>
            <p:cNvPr id="1209425" name="Line 81"/>
            <p:cNvSpPr>
              <a:spLocks noChangeShapeType="1"/>
            </p:cNvSpPr>
            <p:nvPr/>
          </p:nvSpPr>
          <p:spPr bwMode="auto">
            <a:xfrm flipH="1">
              <a:off x="3379" y="2332"/>
              <a:ext cx="816" cy="0"/>
            </a:xfrm>
            <a:prstGeom prst="line">
              <a:avLst/>
            </a:prstGeom>
            <a:noFill/>
            <a:ln w="28575">
              <a:solidFill>
                <a:srgbClr val="C00000"/>
              </a:solidFill>
              <a:round/>
              <a:headEnd/>
              <a:tailEnd/>
            </a:ln>
            <a:effectLst/>
          </p:spPr>
          <p:txBody>
            <a:bodyPr/>
            <a:lstStyle/>
            <a:p>
              <a:endParaRPr lang="zh-CN" altLang="en-US"/>
            </a:p>
          </p:txBody>
        </p:sp>
        <p:sp>
          <p:nvSpPr>
            <p:cNvPr id="1209426" name="Line 82"/>
            <p:cNvSpPr>
              <a:spLocks noChangeShapeType="1"/>
            </p:cNvSpPr>
            <p:nvPr/>
          </p:nvSpPr>
          <p:spPr bwMode="auto">
            <a:xfrm>
              <a:off x="3387" y="2858"/>
              <a:ext cx="408" cy="0"/>
            </a:xfrm>
            <a:prstGeom prst="line">
              <a:avLst/>
            </a:prstGeom>
            <a:noFill/>
            <a:ln w="28575">
              <a:solidFill>
                <a:srgbClr val="C00000"/>
              </a:solidFill>
              <a:round/>
              <a:headEnd/>
              <a:tailEnd type="stealth" w="lg" len="lg"/>
            </a:ln>
            <a:effectLst/>
          </p:spPr>
          <p:txBody>
            <a:bodyPr/>
            <a:lstStyle/>
            <a:p>
              <a:endParaRPr lang="zh-CN" altLang="en-US"/>
            </a:p>
          </p:txBody>
        </p:sp>
        <p:sp>
          <p:nvSpPr>
            <p:cNvPr id="1209427" name="Line 83"/>
            <p:cNvSpPr>
              <a:spLocks noChangeShapeType="1"/>
            </p:cNvSpPr>
            <p:nvPr/>
          </p:nvSpPr>
          <p:spPr bwMode="auto">
            <a:xfrm>
              <a:off x="3379" y="2323"/>
              <a:ext cx="0" cy="545"/>
            </a:xfrm>
            <a:prstGeom prst="line">
              <a:avLst/>
            </a:prstGeom>
            <a:noFill/>
            <a:ln w="28575">
              <a:solidFill>
                <a:srgbClr val="C00000"/>
              </a:solidFill>
              <a:round/>
              <a:headEnd/>
              <a:tailEnd/>
            </a:ln>
            <a:effectLst/>
          </p:spPr>
          <p:txBody>
            <a:bodyPr/>
            <a:lstStyle/>
            <a:p>
              <a:endParaRPr lang="zh-CN" altLang="en-US"/>
            </a:p>
          </p:txBody>
        </p:sp>
      </p:grpSp>
      <p:sp>
        <p:nvSpPr>
          <p:cNvPr id="1209429" name="Text Box 85"/>
          <p:cNvSpPr txBox="1">
            <a:spLocks noChangeArrowheads="1"/>
          </p:cNvSpPr>
          <p:nvPr/>
        </p:nvSpPr>
        <p:spPr bwMode="auto">
          <a:xfrm>
            <a:off x="8544272" y="3540125"/>
            <a:ext cx="792163" cy="400110"/>
          </a:xfrm>
          <a:prstGeom prst="rect">
            <a:avLst/>
          </a:prstGeom>
          <a:solidFill>
            <a:srgbClr val="DDFAED"/>
          </a:solidFill>
          <a:ln w="9525" algn="ctr">
            <a:noFill/>
            <a:miter lim="800000"/>
            <a:headEnd/>
            <a:tailEnd/>
          </a:ln>
          <a:effectLst/>
        </p:spPr>
        <p:txBody>
          <a:bodyPr>
            <a:spAutoFit/>
          </a:bodyPr>
          <a:lstStyle/>
          <a:p>
            <a:pPr marL="342900" indent="-342900">
              <a:spcBef>
                <a:spcPct val="50000"/>
              </a:spcBef>
            </a:pPr>
            <a:r>
              <a:rPr lang="en-US" altLang="zh-CN" sz="2000" b="1">
                <a:solidFill>
                  <a:srgbClr val="002060"/>
                </a:solidFill>
              </a:rPr>
              <a:t>200A</a:t>
            </a:r>
          </a:p>
        </p:txBody>
      </p:sp>
      <p:grpSp>
        <p:nvGrpSpPr>
          <p:cNvPr id="1209432" name="Group 88"/>
          <p:cNvGrpSpPr>
            <a:grpSpLocks/>
          </p:cNvGrpSpPr>
          <p:nvPr/>
        </p:nvGrpSpPr>
        <p:grpSpPr bwMode="auto">
          <a:xfrm>
            <a:off x="8590656" y="1127126"/>
            <a:ext cx="2401888" cy="1566863"/>
            <a:chOff x="4214" y="710"/>
            <a:chExt cx="1513" cy="987"/>
          </a:xfrm>
          <a:effectLst>
            <a:outerShdw blurRad="50800" dist="106680" dir="2700000" algn="tl" rotWithShape="0">
              <a:prstClr val="black">
                <a:alpha val="43000"/>
              </a:prstClr>
            </a:outerShdw>
          </a:effectLst>
        </p:grpSpPr>
        <p:sp>
          <p:nvSpPr>
            <p:cNvPr id="1209430" name="Oval 86"/>
            <p:cNvSpPr>
              <a:spLocks noChangeArrowheads="1"/>
            </p:cNvSpPr>
            <p:nvPr/>
          </p:nvSpPr>
          <p:spPr bwMode="auto">
            <a:xfrm>
              <a:off x="4214" y="1471"/>
              <a:ext cx="453" cy="226"/>
            </a:xfrm>
            <a:prstGeom prst="ellipse">
              <a:avLst/>
            </a:prstGeom>
            <a:noFill/>
            <a:ln w="28575" algn="ctr">
              <a:solidFill>
                <a:srgbClr val="002060"/>
              </a:solidFill>
              <a:round/>
              <a:headEnd/>
              <a:tailEnd/>
            </a:ln>
            <a:effectLst/>
          </p:spPr>
          <p:txBody>
            <a:bodyPr wrap="none" anchor="ctr" anchorCtr="0"/>
            <a:lstStyle/>
            <a:p>
              <a:endParaRPr lang="zh-CN" altLang="en-US" dirty="0">
                <a:latin typeface="+mn-lt"/>
                <a:ea typeface="楷体" pitchFamily="49" charset="-122"/>
              </a:endParaRPr>
            </a:p>
          </p:txBody>
        </p:sp>
        <p:sp>
          <p:nvSpPr>
            <p:cNvPr id="1209431" name="AutoShape 87"/>
            <p:cNvSpPr>
              <a:spLocks/>
            </p:cNvSpPr>
            <p:nvPr/>
          </p:nvSpPr>
          <p:spPr bwMode="auto">
            <a:xfrm>
              <a:off x="5057" y="710"/>
              <a:ext cx="670" cy="253"/>
            </a:xfrm>
            <a:prstGeom prst="borderCallout2">
              <a:avLst>
                <a:gd name="adj1" fmla="val 28458"/>
                <a:gd name="adj2" fmla="val -7162"/>
                <a:gd name="adj3" fmla="val 28458"/>
                <a:gd name="adj4" fmla="val -38509"/>
                <a:gd name="adj5" fmla="val 314625"/>
                <a:gd name="adj6" fmla="val -70894"/>
              </a:avLst>
            </a:prstGeom>
            <a:gradFill rotWithShape="1">
              <a:gsLst>
                <a:gs pos="0">
                  <a:srgbClr val="CFCFD1"/>
                </a:gs>
                <a:gs pos="100000">
                  <a:schemeClr val="bg1"/>
                </a:gs>
              </a:gsLst>
              <a:lin ang="5400000" scaled="1"/>
            </a:gradFill>
            <a:ln w="25400" algn="ctr">
              <a:solidFill>
                <a:srgbClr val="002060"/>
              </a:solidFill>
              <a:miter lim="800000"/>
              <a:headEnd/>
              <a:tailEnd/>
            </a:ln>
            <a:effectLst>
              <a:outerShdw dist="107763" dir="2700000" algn="ctr" rotWithShape="0">
                <a:schemeClr val="bg2">
                  <a:alpha val="50000"/>
                </a:schemeClr>
              </a:outerShdw>
            </a:effectLst>
          </p:spPr>
          <p:txBody>
            <a:bodyPr anchor="ctr" anchorCtr="0"/>
            <a:lstStyle/>
            <a:p>
              <a:pPr marL="342900" indent="-342900" algn="ctr"/>
              <a:r>
                <a:rPr lang="zh-CN" altLang="en-US" sz="2000">
                  <a:solidFill>
                    <a:srgbClr val="C00000"/>
                  </a:solidFill>
                  <a:latin typeface="+mn-lt"/>
                  <a:ea typeface="楷体" pitchFamily="49" charset="-122"/>
                </a:rPr>
                <a:t>随机值</a:t>
              </a:r>
            </a:p>
          </p:txBody>
        </p:sp>
      </p:grpSp>
      <p:sp>
        <p:nvSpPr>
          <p:cNvPr id="1209435" name="AutoShape 91"/>
          <p:cNvSpPr>
            <a:spLocks/>
          </p:cNvSpPr>
          <p:nvPr/>
        </p:nvSpPr>
        <p:spPr bwMode="auto">
          <a:xfrm>
            <a:off x="8776395" y="6284914"/>
            <a:ext cx="2016125" cy="401637"/>
          </a:xfrm>
          <a:prstGeom prst="borderCallout2">
            <a:avLst>
              <a:gd name="adj1" fmla="val 28458"/>
              <a:gd name="adj2" fmla="val -3778"/>
              <a:gd name="adj3" fmla="val 28458"/>
              <a:gd name="adj4" fmla="val -38898"/>
              <a:gd name="adj5" fmla="val -588144"/>
              <a:gd name="adj6" fmla="val -74958"/>
            </a:avLst>
          </a:prstGeom>
          <a:gradFill rotWithShape="1">
            <a:gsLst>
              <a:gs pos="0">
                <a:srgbClr val="CFCFD1"/>
              </a:gs>
              <a:gs pos="100000">
                <a:schemeClr val="bg1"/>
              </a:gs>
            </a:gsLst>
            <a:lin ang="5400000" scaled="1"/>
          </a:gradFill>
          <a:ln w="25400" algn="ctr">
            <a:solidFill>
              <a:srgbClr val="C00000"/>
            </a:solidFill>
            <a:miter lim="800000"/>
            <a:headEnd/>
            <a:tailEnd/>
          </a:ln>
          <a:effectLst>
            <a:outerShdw blurRad="50800" dist="106680" dir="2700000" algn="tl" rotWithShape="0">
              <a:prstClr val="black">
                <a:alpha val="43000"/>
              </a:prstClr>
            </a:outerShdw>
          </a:effectLst>
        </p:spPr>
        <p:txBody>
          <a:bodyPr anchor="ctr" anchorCtr="0"/>
          <a:lstStyle/>
          <a:p>
            <a:pPr marL="342900" indent="-342900" algn="ctr"/>
            <a:r>
              <a:rPr lang="zh-CN" altLang="en-US" sz="2000">
                <a:solidFill>
                  <a:srgbClr val="C00000"/>
                </a:solidFill>
                <a:latin typeface="+mn-lt"/>
                <a:ea typeface="楷体" pitchFamily="49" charset="-122"/>
              </a:rPr>
              <a:t>动态内存分配</a:t>
            </a:r>
          </a:p>
        </p:txBody>
      </p:sp>
      <p:sp>
        <p:nvSpPr>
          <p:cNvPr id="1209436" name="Text Box 92"/>
          <p:cNvSpPr txBox="1">
            <a:spLocks noChangeArrowheads="1"/>
          </p:cNvSpPr>
          <p:nvPr/>
        </p:nvSpPr>
        <p:spPr bwMode="auto">
          <a:xfrm>
            <a:off x="8544272" y="3956050"/>
            <a:ext cx="792162" cy="400110"/>
          </a:xfrm>
          <a:prstGeom prst="rect">
            <a:avLst/>
          </a:prstGeom>
          <a:solidFill>
            <a:srgbClr val="DDFAED"/>
          </a:solidFill>
          <a:ln w="9525" algn="ctr">
            <a:noFill/>
            <a:miter lim="800000"/>
            <a:headEnd/>
            <a:tailEnd/>
          </a:ln>
          <a:effectLst/>
        </p:spPr>
        <p:txBody>
          <a:bodyPr>
            <a:spAutoFit/>
          </a:bodyPr>
          <a:lstStyle/>
          <a:p>
            <a:pPr marL="342900" indent="-342900" algn="ctr">
              <a:spcBef>
                <a:spcPct val="50000"/>
              </a:spcBef>
            </a:pPr>
            <a:r>
              <a:rPr lang="en-US" altLang="zh-CN" sz="2000" b="1">
                <a:solidFill>
                  <a:srgbClr val="C00000"/>
                </a:solidFill>
              </a:rPr>
              <a:t>10</a:t>
            </a:r>
          </a:p>
        </p:txBody>
      </p:sp>
      <p:sp>
        <p:nvSpPr>
          <p:cNvPr id="80" name="Rectangle 4">
            <a:extLst>
              <a:ext uri="{FF2B5EF4-FFF2-40B4-BE49-F238E27FC236}">
                <a16:creationId xmlns:a16="http://schemas.microsoft.com/office/drawing/2014/main" id="{5C918C57-1D51-4DFC-8665-EA8BD57087F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9350"/>
                                        </p:tgtEl>
                                        <p:attrNameLst>
                                          <p:attrName>style.visibility</p:attrName>
                                        </p:attrNameLst>
                                      </p:cBhvr>
                                      <p:to>
                                        <p:strVal val="visible"/>
                                      </p:to>
                                    </p:set>
                                    <p:animEffect transition="in" filter="box(out)">
                                      <p:cBhvr>
                                        <p:cTn id="7" dur="500"/>
                                        <p:tgtEl>
                                          <p:spTgt spid="120935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09351"/>
                                        </p:tgtEl>
                                        <p:attrNameLst>
                                          <p:attrName>style.visibility</p:attrName>
                                        </p:attrNameLst>
                                      </p:cBhvr>
                                      <p:to>
                                        <p:strVal val="visible"/>
                                      </p:to>
                                    </p:set>
                                    <p:animEffect transition="in" filter="box(out)">
                                      <p:cBhvr>
                                        <p:cTn id="12" dur="500"/>
                                        <p:tgtEl>
                                          <p:spTgt spid="1209351"/>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209356"/>
                                        </p:tgtEl>
                                        <p:attrNameLst>
                                          <p:attrName>style.visibility</p:attrName>
                                        </p:attrNameLst>
                                      </p:cBhvr>
                                      <p:to>
                                        <p:strVal val="visible"/>
                                      </p:to>
                                    </p:set>
                                    <p:animEffect transition="in" filter="box(out)">
                                      <p:cBhvr>
                                        <p:cTn id="17" dur="500"/>
                                        <p:tgtEl>
                                          <p:spTgt spid="1209356"/>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209418"/>
                                        </p:tgtEl>
                                        <p:attrNameLst>
                                          <p:attrName>style.visibility</p:attrName>
                                        </p:attrNameLst>
                                      </p:cBhvr>
                                      <p:to>
                                        <p:strVal val="visible"/>
                                      </p:to>
                                    </p:set>
                                    <p:animEffect transition="in" filter="box(in)">
                                      <p:cBhvr>
                                        <p:cTn id="22" dur="500"/>
                                        <p:tgtEl>
                                          <p:spTgt spid="1209418"/>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09422"/>
                                        </p:tgtEl>
                                        <p:attrNameLst>
                                          <p:attrName>style.visibility</p:attrName>
                                        </p:attrNameLst>
                                      </p:cBhvr>
                                      <p:to>
                                        <p:strVal val="visible"/>
                                      </p:to>
                                    </p:set>
                                    <p:animEffect transition="in" filter="box(out)">
                                      <p:cBhvr>
                                        <p:cTn id="27" dur="500"/>
                                        <p:tgtEl>
                                          <p:spTgt spid="1209422"/>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par>
                          <p:cTn id="28" fill="hold">
                            <p:stCondLst>
                              <p:cond delay="500"/>
                            </p:stCondLst>
                            <p:childTnLst>
                              <p:par>
                                <p:cTn id="29" presetID="18" presetClass="entr" presetSubtype="3" fill="hold" nodeType="afterEffect">
                                  <p:stCondLst>
                                    <p:cond delay="0"/>
                                  </p:stCondLst>
                                  <p:childTnLst>
                                    <p:set>
                                      <p:cBhvr>
                                        <p:cTn id="30" dur="1" fill="hold">
                                          <p:stCondLst>
                                            <p:cond delay="0"/>
                                          </p:stCondLst>
                                        </p:cTn>
                                        <p:tgtEl>
                                          <p:spTgt spid="1209432"/>
                                        </p:tgtEl>
                                        <p:attrNameLst>
                                          <p:attrName>style.visibility</p:attrName>
                                        </p:attrNameLst>
                                      </p:cBhvr>
                                      <p:to>
                                        <p:strVal val="visible"/>
                                      </p:to>
                                    </p:set>
                                    <p:animEffect transition="in" filter="strips(upRight)">
                                      <p:cBhvr>
                                        <p:cTn id="31" dur="500"/>
                                        <p:tgtEl>
                                          <p:spTgt spid="1209432"/>
                                        </p:tgtEl>
                                      </p:cBhvr>
                                    </p:animEffect>
                                  </p:childTnLst>
                                  <p:subTnLst>
                                    <p:audio>
                                      <p:cMediaNode>
                                        <p:cTn display="0" masterRel="sameClick">
                                          <p:stCondLst>
                                            <p:cond evt="begin" delay="0">
                                              <p:tn val="29"/>
                                            </p:cond>
                                          </p:stCondLst>
                                          <p:endCondLst>
                                            <p:cond evt="onStopAudio" delay="0">
                                              <p:tgtEl>
                                                <p:sldTgt/>
                                              </p:tgtEl>
                                            </p:cond>
                                          </p:endCondLst>
                                        </p:cTn>
                                        <p:tgtEl>
                                          <p:sndTgt r:embed="rId3" name="laser.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1209421"/>
                                        </p:tgtEl>
                                        <p:attrNameLst>
                                          <p:attrName>style.visibility</p:attrName>
                                        </p:attrNameLst>
                                      </p:cBhvr>
                                      <p:to>
                                        <p:strVal val="visible"/>
                                      </p:to>
                                    </p:set>
                                    <p:animEffect transition="in" filter="box(in)">
                                      <p:cBhvr>
                                        <p:cTn id="36" dur="500"/>
                                        <p:tgtEl>
                                          <p:spTgt spid="1209421"/>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1209423"/>
                                        </p:tgtEl>
                                        <p:attrNameLst>
                                          <p:attrName>style.visibility</p:attrName>
                                        </p:attrNameLst>
                                      </p:cBhvr>
                                      <p:to>
                                        <p:strVal val="visible"/>
                                      </p:to>
                                    </p:set>
                                    <p:animEffect transition="in" filter="box(out)">
                                      <p:cBhvr>
                                        <p:cTn id="41" dur="500"/>
                                        <p:tgtEl>
                                          <p:spTgt spid="1209423"/>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209436"/>
                                        </p:tgtEl>
                                        <p:attrNameLst>
                                          <p:attrName>style.visibility</p:attrName>
                                        </p:attrNameLst>
                                      </p:cBhvr>
                                      <p:to>
                                        <p:strVal val="visible"/>
                                      </p:to>
                                    </p:set>
                                    <p:animEffect transition="in" filter="box(out)">
                                      <p:cBhvr>
                                        <p:cTn id="46" dur="500"/>
                                        <p:tgtEl>
                                          <p:spTgt spid="1209436"/>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1209428"/>
                                        </p:tgtEl>
                                        <p:attrNameLst>
                                          <p:attrName>style.visibility</p:attrName>
                                        </p:attrNameLst>
                                      </p:cBhvr>
                                      <p:to>
                                        <p:strVal val="visible"/>
                                      </p:to>
                                    </p:set>
                                    <p:animEffect transition="in" filter="strips(downLeft)">
                                      <p:cBhvr>
                                        <p:cTn id="51" dur="500"/>
                                        <p:tgtEl>
                                          <p:spTgt spid="1209428"/>
                                        </p:tgtEl>
                                      </p:cBhvr>
                                    </p:animEffect>
                                  </p:childTnLst>
                                </p:cTn>
                              </p:par>
                            </p:childTnLst>
                          </p:cTn>
                        </p:par>
                        <p:par>
                          <p:cTn id="52" fill="hold">
                            <p:stCondLst>
                              <p:cond delay="500"/>
                            </p:stCondLst>
                            <p:childTnLst>
                              <p:par>
                                <p:cTn id="53" presetID="4" presetClass="entr" presetSubtype="32" fill="hold" grpId="0" nodeType="afterEffect">
                                  <p:stCondLst>
                                    <p:cond delay="0"/>
                                  </p:stCondLst>
                                  <p:childTnLst>
                                    <p:set>
                                      <p:cBhvr>
                                        <p:cTn id="54" dur="1" fill="hold">
                                          <p:stCondLst>
                                            <p:cond delay="0"/>
                                          </p:stCondLst>
                                        </p:cTn>
                                        <p:tgtEl>
                                          <p:spTgt spid="1209429"/>
                                        </p:tgtEl>
                                        <p:attrNameLst>
                                          <p:attrName>style.visibility</p:attrName>
                                        </p:attrNameLst>
                                      </p:cBhvr>
                                      <p:to>
                                        <p:strVal val="visible"/>
                                      </p:to>
                                    </p:set>
                                    <p:animEffect transition="in" filter="box(out)">
                                      <p:cBhvr>
                                        <p:cTn id="55" dur="500"/>
                                        <p:tgtEl>
                                          <p:spTgt spid="1209429"/>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par>
                          <p:cTn id="56" fill="hold">
                            <p:stCondLst>
                              <p:cond delay="1000"/>
                            </p:stCondLst>
                            <p:childTnLst>
                              <p:par>
                                <p:cTn id="57" presetID="18" presetClass="entr" presetSubtype="6" fill="hold" grpId="0" nodeType="afterEffect">
                                  <p:stCondLst>
                                    <p:cond delay="0"/>
                                  </p:stCondLst>
                                  <p:childTnLst>
                                    <p:set>
                                      <p:cBhvr>
                                        <p:cTn id="58" dur="1" fill="hold">
                                          <p:stCondLst>
                                            <p:cond delay="0"/>
                                          </p:stCondLst>
                                        </p:cTn>
                                        <p:tgtEl>
                                          <p:spTgt spid="1209435"/>
                                        </p:tgtEl>
                                        <p:attrNameLst>
                                          <p:attrName>style.visibility</p:attrName>
                                        </p:attrNameLst>
                                      </p:cBhvr>
                                      <p:to>
                                        <p:strVal val="visible"/>
                                      </p:to>
                                    </p:set>
                                    <p:animEffect transition="in" filter="strips(downRight)">
                                      <p:cBhvr>
                                        <p:cTn id="59" dur="500"/>
                                        <p:tgtEl>
                                          <p:spTgt spid="1209435"/>
                                        </p:tgtEl>
                                      </p:cBhvr>
                                    </p:animEffect>
                                  </p:childTnLst>
                                  <p:subTnLst>
                                    <p:audio>
                                      <p:cMediaNode>
                                        <p:cTn display="0" masterRel="sameClick">
                                          <p:stCondLst>
                                            <p:cond evt="begin" delay="0">
                                              <p:tn val="57"/>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9350" grpId="0"/>
      <p:bldP spid="1209351" grpId="0" animBg="1"/>
      <p:bldP spid="1209422" grpId="0"/>
      <p:bldP spid="1209423" grpId="0"/>
      <p:bldP spid="1209429" grpId="0" animBg="1"/>
      <p:bldP spid="1209435" grpId="0" animBg="1"/>
      <p:bldP spid="120943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0373" name="Text Box 5"/>
          <p:cNvSpPr txBox="1">
            <a:spLocks noChangeArrowheads="1"/>
          </p:cNvSpPr>
          <p:nvPr/>
        </p:nvSpPr>
        <p:spPr bwMode="auto">
          <a:xfrm>
            <a:off x="984225" y="823398"/>
            <a:ext cx="6911975" cy="457200"/>
          </a:xfrm>
          <a:prstGeom prst="rect">
            <a:avLst/>
          </a:prstGeom>
          <a:noFill/>
          <a:ln w="9525">
            <a:noFill/>
            <a:miter lim="800000"/>
            <a:headEnd/>
            <a:tailEnd/>
          </a:ln>
          <a:effectLst/>
        </p:spPr>
        <p:txBody>
          <a:bodyPr>
            <a:spAutoFit/>
          </a:bodyPr>
          <a:lstStyle>
            <a:defPPr>
              <a:defRPr lang="zh-CN"/>
            </a:defPPr>
            <a:lvl1pPr>
              <a:lnSpc>
                <a:spcPct val="100000"/>
              </a:lnSpc>
              <a:buFont typeface="Wingdings" pitchFamily="2" charset="2"/>
              <a:buChar char="Ø"/>
              <a:defRPr b="1">
                <a:solidFill>
                  <a:srgbClr val="C00000"/>
                </a:solidFill>
                <a:latin typeface="+mn-lt"/>
                <a:ea typeface="楷体" pitchFamily="49" charset="-122"/>
              </a:defRPr>
            </a:lvl1pPr>
          </a:lstStyle>
          <a:p>
            <a:r>
              <a:rPr lang="en-US" altLang="zh-CN" dirty="0"/>
              <a:t> </a:t>
            </a:r>
            <a:r>
              <a:rPr lang="zh-CN" altLang="en-US" dirty="0"/>
              <a:t>通过函数为指针变量分配内存 </a:t>
            </a:r>
          </a:p>
        </p:txBody>
      </p:sp>
      <p:sp>
        <p:nvSpPr>
          <p:cNvPr id="1210374" name="Rectangle 6"/>
          <p:cNvSpPr>
            <a:spLocks noChangeArrowheads="1"/>
          </p:cNvSpPr>
          <p:nvPr/>
        </p:nvSpPr>
        <p:spPr bwMode="auto">
          <a:xfrm>
            <a:off x="676328" y="1277850"/>
            <a:ext cx="6427784"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latin typeface="+mn-lt"/>
                <a:ea typeface="楷体" pitchFamily="49" charset="-122"/>
              </a:rPr>
              <a:t>        </a:t>
            </a:r>
            <a:r>
              <a:rPr lang="zh-CN" altLang="en-US" dirty="0">
                <a:latin typeface="+mn-lt"/>
                <a:ea typeface="楷体" pitchFamily="49" charset="-122"/>
              </a:rPr>
              <a:t>如果程序想通过函数为指针变量分配内存，则形参必须是一个指针的指针（即</a:t>
            </a:r>
            <a:r>
              <a:rPr lang="zh-CN" altLang="en-US" dirty="0">
                <a:solidFill>
                  <a:srgbClr val="C00000"/>
                </a:solidFill>
                <a:latin typeface="+mn-lt"/>
                <a:ea typeface="楷体" pitchFamily="49" charset="-122"/>
              </a:rPr>
              <a:t>二级指针</a:t>
            </a:r>
            <a:r>
              <a:rPr lang="zh-CN" altLang="en-US" dirty="0">
                <a:latin typeface="+mn-lt"/>
                <a:ea typeface="楷体" pitchFamily="49" charset="-122"/>
              </a:rPr>
              <a:t>）。 </a:t>
            </a:r>
          </a:p>
        </p:txBody>
      </p:sp>
      <p:sp>
        <p:nvSpPr>
          <p:cNvPr id="1210375" name="Rectangle 7" descr="信纸"/>
          <p:cNvSpPr>
            <a:spLocks noChangeArrowheads="1"/>
          </p:cNvSpPr>
          <p:nvPr/>
        </p:nvSpPr>
        <p:spPr bwMode="auto">
          <a:xfrm>
            <a:off x="1097287" y="2219678"/>
            <a:ext cx="5112000" cy="4401205"/>
          </a:xfrm>
          <a:prstGeom prst="rect">
            <a:avLst/>
          </a:prstGeom>
          <a:gradFill>
            <a:gsLst>
              <a:gs pos="0">
                <a:srgbClr val="CFCFD1"/>
              </a:gs>
              <a:gs pos="100000">
                <a:schemeClr val="bg1"/>
              </a:gs>
            </a:gsLst>
            <a:lin ang="54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solidFill>
                  <a:schemeClr val="accent1">
                    <a:lumMod val="50000"/>
                  </a:schemeClr>
                </a:solidFill>
              </a:rPr>
              <a:t>void </a:t>
            </a:r>
            <a:r>
              <a:rPr lang="en-US" altLang="zh-CN" sz="2000" dirty="0" err="1">
                <a:solidFill>
                  <a:schemeClr val="accent1">
                    <a:lumMod val="50000"/>
                  </a:schemeClr>
                </a:solidFill>
              </a:rPr>
              <a:t>getmen</a:t>
            </a:r>
            <a:r>
              <a:rPr lang="en-US" altLang="zh-CN" sz="2000" dirty="0">
                <a:solidFill>
                  <a:schemeClr val="accent1">
                    <a:lumMod val="50000"/>
                  </a:schemeClr>
                </a:solidFill>
              </a:rPr>
              <a:t> (</a:t>
            </a:r>
            <a:r>
              <a:rPr lang="en-US" altLang="zh-CN" sz="2000" dirty="0" err="1">
                <a:solidFill>
                  <a:schemeClr val="accent1">
                    <a:lumMod val="50000"/>
                  </a:schemeClr>
                </a:solidFill>
              </a:rPr>
              <a:t>int</a:t>
            </a:r>
            <a:r>
              <a:rPr lang="en-US" altLang="zh-CN" sz="2000" dirty="0">
                <a:solidFill>
                  <a:schemeClr val="accent1">
                    <a:lumMod val="50000"/>
                  </a:schemeClr>
                </a:solidFill>
              </a:rPr>
              <a:t> *p, </a:t>
            </a:r>
            <a:r>
              <a:rPr lang="en-US" altLang="zh-CN" sz="2000" dirty="0" err="1">
                <a:solidFill>
                  <a:schemeClr val="accent1">
                    <a:lumMod val="50000"/>
                  </a:schemeClr>
                </a:solidFill>
              </a:rPr>
              <a:t>int</a:t>
            </a:r>
            <a:r>
              <a:rPr lang="en-US" altLang="zh-CN" sz="2000" dirty="0">
                <a:solidFill>
                  <a:schemeClr val="accent1">
                    <a:lumMod val="50000"/>
                  </a:schemeClr>
                </a:solidFill>
              </a:rPr>
              <a:t> num)</a:t>
            </a:r>
          </a:p>
          <a:p>
            <a:r>
              <a:rPr lang="en-US" altLang="zh-CN" sz="2000" dirty="0"/>
              <a:t>{</a:t>
            </a:r>
          </a:p>
          <a:p>
            <a:r>
              <a:rPr lang="en-US" altLang="zh-CN" sz="2000" dirty="0"/>
              <a:t>  p = (</a:t>
            </a:r>
            <a:r>
              <a:rPr lang="en-US" altLang="zh-CN" sz="2000" dirty="0" err="1"/>
              <a:t>int</a:t>
            </a:r>
            <a:r>
              <a:rPr lang="en-US" altLang="zh-CN" sz="2000" dirty="0"/>
              <a:t> *)</a:t>
            </a:r>
            <a:r>
              <a:rPr lang="en-US" altLang="zh-CN" sz="2000" dirty="0" err="1"/>
              <a:t>malloc</a:t>
            </a:r>
            <a:r>
              <a:rPr lang="en-US" altLang="zh-CN" sz="2000" dirty="0"/>
              <a:t>(num * </a:t>
            </a:r>
            <a:r>
              <a:rPr lang="en-US" altLang="zh-CN" sz="2000" dirty="0" err="1"/>
              <a:t>sizeof</a:t>
            </a:r>
            <a:r>
              <a:rPr lang="en-US" altLang="zh-CN" sz="2000" dirty="0"/>
              <a:t>(</a:t>
            </a:r>
            <a:r>
              <a:rPr lang="en-US" altLang="zh-CN" sz="2000" dirty="0" err="1"/>
              <a:t>int</a:t>
            </a:r>
            <a:r>
              <a:rPr lang="en-US" altLang="zh-CN" sz="2000" dirty="0"/>
              <a:t>));</a:t>
            </a:r>
          </a:p>
          <a:p>
            <a:r>
              <a:rPr lang="en-US" altLang="zh-CN" sz="2000" dirty="0"/>
              <a:t>  return;</a:t>
            </a:r>
          </a:p>
          <a:p>
            <a:r>
              <a:rPr lang="en-US" altLang="zh-CN" sz="2000" dirty="0"/>
              <a:t>}</a:t>
            </a:r>
          </a:p>
          <a:p>
            <a:endParaRPr lang="en-US" altLang="zh-CN" sz="2000" dirty="0"/>
          </a:p>
          <a:p>
            <a:r>
              <a:rPr lang="en-US" altLang="zh-CN" sz="2000" dirty="0" err="1">
                <a:solidFill>
                  <a:srgbClr val="CC0099"/>
                </a:solidFill>
              </a:rPr>
              <a:t>int</a:t>
            </a:r>
            <a:r>
              <a:rPr lang="en-US" altLang="zh-CN" sz="2000" dirty="0">
                <a:solidFill>
                  <a:srgbClr val="CC0099"/>
                </a:solidFill>
              </a:rPr>
              <a:t> main ( )</a:t>
            </a:r>
          </a:p>
          <a:p>
            <a:r>
              <a:rPr lang="en-US" altLang="zh-CN" sz="2000" dirty="0"/>
              <a:t>{</a:t>
            </a:r>
          </a:p>
          <a:p>
            <a:r>
              <a:rPr lang="en-US" altLang="zh-CN" sz="2000" dirty="0"/>
              <a:t>  </a:t>
            </a:r>
            <a:r>
              <a:rPr lang="en-US" altLang="zh-CN" sz="2000" dirty="0" err="1"/>
              <a:t>int</a:t>
            </a:r>
            <a:r>
              <a:rPr lang="en-US" altLang="zh-CN" sz="2000" dirty="0"/>
              <a:t> *pint, k;</a:t>
            </a:r>
          </a:p>
          <a:p>
            <a:r>
              <a:rPr lang="en-US" altLang="zh-CN" sz="2000" dirty="0"/>
              <a:t>  </a:t>
            </a:r>
            <a:r>
              <a:rPr lang="en-US" altLang="zh-CN" sz="2000" dirty="0" err="1"/>
              <a:t>getmen</a:t>
            </a:r>
            <a:r>
              <a:rPr lang="en-US" altLang="zh-CN" sz="2000" dirty="0"/>
              <a:t> (pint, 10);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执行后</a:t>
            </a:r>
            <a:r>
              <a:rPr lang="en-US" altLang="zh-CN" sz="1800" dirty="0">
                <a:solidFill>
                  <a:schemeClr val="accent2">
                    <a:lumMod val="50000"/>
                  </a:schemeClr>
                </a:solidFill>
                <a:latin typeface="+mn-lt"/>
                <a:ea typeface="楷体" pitchFamily="49" charset="-122"/>
              </a:rPr>
              <a:t>,pint</a:t>
            </a:r>
            <a:r>
              <a:rPr lang="zh-CN" altLang="en-US" sz="1800" dirty="0">
                <a:solidFill>
                  <a:schemeClr val="accent2">
                    <a:lumMod val="50000"/>
                  </a:schemeClr>
                </a:solidFill>
                <a:latin typeface="+mn-lt"/>
                <a:ea typeface="楷体" pitchFamily="49" charset="-122"/>
              </a:rPr>
              <a:t>的值不变</a:t>
            </a:r>
          </a:p>
          <a:p>
            <a:r>
              <a:rPr lang="zh-CN" altLang="en-US" sz="2000" dirty="0"/>
              <a:t>  </a:t>
            </a:r>
            <a:r>
              <a:rPr lang="en-US" altLang="zh-CN" sz="2000" dirty="0"/>
              <a:t>for (k = 0; k &lt; 10; k++)</a:t>
            </a:r>
          </a:p>
          <a:p>
            <a:r>
              <a:rPr lang="en-US" altLang="zh-CN" sz="2000" dirty="0"/>
              <a:t>     pint[k] = k;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野指针操作</a:t>
            </a:r>
          </a:p>
          <a:p>
            <a:r>
              <a:rPr lang="zh-CN" altLang="en-US" sz="2000" dirty="0"/>
              <a:t>  </a:t>
            </a:r>
            <a:r>
              <a:rPr lang="en-US" altLang="zh-CN" sz="2000" dirty="0"/>
              <a:t>…… </a:t>
            </a:r>
          </a:p>
          <a:p>
            <a:r>
              <a:rPr lang="en-US" altLang="zh-CN" sz="2000" dirty="0"/>
              <a:t>} </a:t>
            </a:r>
          </a:p>
        </p:txBody>
      </p:sp>
      <p:sp>
        <p:nvSpPr>
          <p:cNvPr id="1210376" name="AutoShape 8"/>
          <p:cNvSpPr>
            <a:spLocks noChangeArrowheads="1"/>
          </p:cNvSpPr>
          <p:nvPr/>
        </p:nvSpPr>
        <p:spPr bwMode="auto">
          <a:xfrm>
            <a:off x="4184045" y="3429000"/>
            <a:ext cx="1871662" cy="1081088"/>
          </a:xfrm>
          <a:prstGeom prst="irregularSeal1">
            <a:avLst/>
          </a:prstGeom>
          <a:gradFill rotWithShape="1">
            <a:gsLst>
              <a:gs pos="0">
                <a:srgbClr val="CFCFD1"/>
              </a:gs>
              <a:gs pos="100000">
                <a:schemeClr val="bg1"/>
              </a:gs>
            </a:gsLst>
            <a:lin ang="5400000" scaled="1"/>
          </a:gradFill>
          <a:ln w="38100" algn="ctr">
            <a:solidFill>
              <a:srgbClr val="C00000"/>
            </a:solidFill>
            <a:miter lim="800000"/>
            <a:headEnd/>
            <a:tailEnd/>
          </a:ln>
          <a:effectLst>
            <a:outerShdw dist="107763" dir="2700000" algn="ctr" rotWithShape="0">
              <a:schemeClr val="bg2">
                <a:alpha val="50000"/>
              </a:schemeClr>
            </a:outerShdw>
          </a:effectLst>
        </p:spPr>
        <p:txBody>
          <a:bodyPr wrap="none" anchor="ctr"/>
          <a:lstStyle/>
          <a:p>
            <a:pPr marL="342900" indent="-342900" algn="ctr"/>
            <a:r>
              <a:rPr lang="zh-CN" altLang="en-US" b="1">
                <a:solidFill>
                  <a:srgbClr val="C00000"/>
                </a:solidFill>
                <a:latin typeface="楷体" pitchFamily="49" charset="-122"/>
                <a:ea typeface="楷体" pitchFamily="49" charset="-122"/>
              </a:rPr>
              <a:t>错误！</a:t>
            </a:r>
          </a:p>
        </p:txBody>
      </p:sp>
      <p:grpSp>
        <p:nvGrpSpPr>
          <p:cNvPr id="1210377" name="Group 9"/>
          <p:cNvGrpSpPr>
            <a:grpSpLocks/>
          </p:cNvGrpSpPr>
          <p:nvPr/>
        </p:nvGrpSpPr>
        <p:grpSpPr bwMode="auto">
          <a:xfrm>
            <a:off x="7727751" y="1628776"/>
            <a:ext cx="2636837" cy="4625975"/>
            <a:chOff x="2879" y="554"/>
            <a:chExt cx="1661" cy="2914"/>
          </a:xfrm>
        </p:grpSpPr>
        <p:grpSp>
          <p:nvGrpSpPr>
            <p:cNvPr id="1210378" name="Group 10"/>
            <p:cNvGrpSpPr>
              <a:grpSpLocks/>
            </p:cNvGrpSpPr>
            <p:nvPr/>
          </p:nvGrpSpPr>
          <p:grpSpPr bwMode="auto">
            <a:xfrm>
              <a:off x="2879" y="554"/>
              <a:ext cx="1661" cy="2914"/>
              <a:chOff x="3144" y="806"/>
              <a:chExt cx="1661" cy="2914"/>
            </a:xfrm>
          </p:grpSpPr>
          <p:sp>
            <p:nvSpPr>
              <p:cNvPr id="1210379" name="Freeform 11"/>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10381" name="Rectangle 13"/>
              <p:cNvSpPr>
                <a:spLocks noChangeArrowheads="1"/>
              </p:cNvSpPr>
              <p:nvPr/>
            </p:nvSpPr>
            <p:spPr bwMode="auto">
              <a:xfrm>
                <a:off x="3582" y="806"/>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10382" name="Line 14"/>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0383" name="Line 15"/>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10384" name="Line 16"/>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0385" name="Line 17"/>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0386" name="Line 18"/>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0387" name="Line 19"/>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0388" name="Line 20"/>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10389" name="Line 21"/>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10390" name="Text Box 22"/>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210391" name="Line 23"/>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0392" name="Text Box 24"/>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10393" name="Text Box 25"/>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10394" name="Text Box 26"/>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10395" name="Text Box 27"/>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10396" name="Text Box 28"/>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10397" name="Text Box 29"/>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210398" name="Group 30"/>
              <p:cNvGrpSpPr>
                <a:grpSpLocks/>
              </p:cNvGrpSpPr>
              <p:nvPr/>
            </p:nvGrpSpPr>
            <p:grpSpPr bwMode="auto">
              <a:xfrm>
                <a:off x="3597" y="1380"/>
                <a:ext cx="60" cy="1548"/>
                <a:chOff x="3960" y="1560"/>
                <a:chExt cx="60" cy="1548"/>
              </a:xfrm>
            </p:grpSpPr>
            <p:sp>
              <p:nvSpPr>
                <p:cNvPr id="1210399" name="Line 31"/>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0" name="Line 32"/>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1" name="Line 33"/>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2" name="Line 34"/>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3" name="Line 35"/>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4" name="Line 36"/>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5" name="Line 37"/>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10406" name="Group 38"/>
              <p:cNvGrpSpPr>
                <a:grpSpLocks/>
              </p:cNvGrpSpPr>
              <p:nvPr/>
            </p:nvGrpSpPr>
            <p:grpSpPr bwMode="auto">
              <a:xfrm>
                <a:off x="4725" y="1368"/>
                <a:ext cx="60" cy="1548"/>
                <a:chOff x="3960" y="1560"/>
                <a:chExt cx="60" cy="1548"/>
              </a:xfrm>
            </p:grpSpPr>
            <p:sp>
              <p:nvSpPr>
                <p:cNvPr id="1210407" name="Line 39"/>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8" name="Line 40"/>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9" name="Line 41"/>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10" name="Line 42"/>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11" name="Line 43"/>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12" name="Line 44"/>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13" name="Line 45"/>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10414" name="Line 46"/>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15" name="Line 47"/>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0416" name="Line 48"/>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17" name="Text Box 49"/>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10418" name="Text Box 50"/>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10419" name="Text Box 51"/>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10380" name="Freeform 12"/>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210420" name="Text Box 52"/>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grpSp>
        <p:nvGrpSpPr>
          <p:cNvPr id="1210421" name="Group 53"/>
          <p:cNvGrpSpPr>
            <a:grpSpLocks/>
          </p:cNvGrpSpPr>
          <p:nvPr/>
        </p:nvGrpSpPr>
        <p:grpSpPr bwMode="auto">
          <a:xfrm>
            <a:off x="8948540" y="1912939"/>
            <a:ext cx="2332038" cy="1041401"/>
            <a:chOff x="4158" y="1205"/>
            <a:chExt cx="1469" cy="656"/>
          </a:xfrm>
        </p:grpSpPr>
        <p:grpSp>
          <p:nvGrpSpPr>
            <p:cNvPr id="1210422" name="Group 54"/>
            <p:cNvGrpSpPr>
              <a:grpSpLocks/>
            </p:cNvGrpSpPr>
            <p:nvPr/>
          </p:nvGrpSpPr>
          <p:grpSpPr bwMode="auto">
            <a:xfrm>
              <a:off x="5054" y="1308"/>
              <a:ext cx="573" cy="250"/>
              <a:chOff x="5054" y="1308"/>
              <a:chExt cx="573" cy="250"/>
            </a:xfrm>
          </p:grpSpPr>
          <p:sp>
            <p:nvSpPr>
              <p:cNvPr id="1210423" name="Line 55"/>
              <p:cNvSpPr>
                <a:spLocks noChangeShapeType="1"/>
              </p:cNvSpPr>
              <p:nvPr/>
            </p:nvSpPr>
            <p:spPr bwMode="auto">
              <a:xfrm flipH="1">
                <a:off x="5054" y="1476"/>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0424" name="Text Box 56"/>
              <p:cNvSpPr txBox="1">
                <a:spLocks noChangeArrowheads="1"/>
              </p:cNvSpPr>
              <p:nvPr/>
            </p:nvSpPr>
            <p:spPr bwMode="auto">
              <a:xfrm>
                <a:off x="5236" y="1308"/>
                <a:ext cx="391"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pint</a:t>
                </a:r>
              </a:p>
            </p:txBody>
          </p:sp>
        </p:grpSp>
        <p:grpSp>
          <p:nvGrpSpPr>
            <p:cNvPr id="1210425" name="Group 57"/>
            <p:cNvGrpSpPr>
              <a:grpSpLocks/>
            </p:cNvGrpSpPr>
            <p:nvPr/>
          </p:nvGrpSpPr>
          <p:grpSpPr bwMode="auto">
            <a:xfrm>
              <a:off x="5054" y="1611"/>
              <a:ext cx="382" cy="250"/>
              <a:chOff x="4426" y="1917"/>
              <a:chExt cx="382" cy="250"/>
            </a:xfrm>
          </p:grpSpPr>
          <p:sp>
            <p:nvSpPr>
              <p:cNvPr id="1210426" name="Line 58"/>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0427" name="Text Box 59"/>
              <p:cNvSpPr txBox="1">
                <a:spLocks noChangeArrowheads="1"/>
              </p:cNvSpPr>
              <p:nvPr/>
            </p:nvSpPr>
            <p:spPr bwMode="auto">
              <a:xfrm>
                <a:off x="4523" y="1917"/>
                <a:ext cx="28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  k</a:t>
                </a:r>
              </a:p>
            </p:txBody>
          </p:sp>
        </p:grpSp>
        <p:sp>
          <p:nvSpPr>
            <p:cNvPr id="1210428" name="Text Box 60"/>
            <p:cNvSpPr txBox="1">
              <a:spLocks noChangeArrowheads="1"/>
            </p:cNvSpPr>
            <p:nvPr/>
          </p:nvSpPr>
          <p:spPr bwMode="auto">
            <a:xfrm>
              <a:off x="4158" y="1205"/>
              <a:ext cx="57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dirty="0">
                  <a:solidFill>
                    <a:srgbClr val="CF0D9E"/>
                  </a:solidFill>
                </a:rPr>
                <a:t>(main)</a:t>
              </a:r>
            </a:p>
          </p:txBody>
        </p:sp>
      </p:grpSp>
      <p:sp>
        <p:nvSpPr>
          <p:cNvPr id="1210437" name="Text Box 69"/>
          <p:cNvSpPr txBox="1">
            <a:spLocks noChangeArrowheads="1"/>
          </p:cNvSpPr>
          <p:nvPr/>
        </p:nvSpPr>
        <p:spPr bwMode="auto">
          <a:xfrm>
            <a:off x="9048550" y="2351088"/>
            <a:ext cx="792162"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rgbClr val="C00000"/>
                </a:solidFill>
              </a:rPr>
              <a:t>2010</a:t>
            </a:r>
          </a:p>
        </p:txBody>
      </p:sp>
      <p:sp>
        <p:nvSpPr>
          <p:cNvPr id="62" name="Rectangle 4">
            <a:extLst>
              <a:ext uri="{FF2B5EF4-FFF2-40B4-BE49-F238E27FC236}">
                <a16:creationId xmlns:a16="http://schemas.microsoft.com/office/drawing/2014/main" id="{C925FE3B-FACA-404B-B27C-711BA253739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10376"/>
                                        </p:tgtEl>
                                        <p:attrNameLst>
                                          <p:attrName>style.visibility</p:attrName>
                                        </p:attrNameLst>
                                      </p:cBhvr>
                                      <p:to>
                                        <p:strVal val="visible"/>
                                      </p:to>
                                    </p:set>
                                    <p:animEffect transition="in" filter="box(out)">
                                      <p:cBhvr>
                                        <p:cTn id="7" dur="500"/>
                                        <p:tgtEl>
                                          <p:spTgt spid="1210376"/>
                                        </p:tgtEl>
                                      </p:cBhvr>
                                    </p:animEffect>
                                  </p:childTnLst>
                                  <p:subTnLst>
                                    <p:audio>
                                      <p:cMediaNode>
                                        <p:cTn display="0" masterRel="sameClick">
                                          <p:stCondLst>
                                            <p:cond evt="begin" delay="0">
                                              <p:tn val="5"/>
                                            </p:cond>
                                          </p:stCondLst>
                                          <p:endCondLst>
                                            <p:cond evt="onStopAudio" delay="0">
                                              <p:tgtEl>
                                                <p:sldTgt/>
                                              </p:tgtEl>
                                            </p:cond>
                                          </p:endCondLst>
                                        </p:cTn>
                                        <p:tgtEl>
                                          <p:sndTgt r:embed="rId2"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037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1397" name="Text Box 5"/>
          <p:cNvSpPr txBox="1">
            <a:spLocks noChangeArrowheads="1"/>
          </p:cNvSpPr>
          <p:nvPr/>
        </p:nvSpPr>
        <p:spPr bwMode="auto">
          <a:xfrm>
            <a:off x="983432" y="848945"/>
            <a:ext cx="6911975" cy="457200"/>
          </a:xfrm>
          <a:prstGeom prst="rect">
            <a:avLst/>
          </a:prstGeom>
          <a:noFill/>
          <a:ln w="9525">
            <a:noFill/>
            <a:miter lim="800000"/>
            <a:headEnd/>
            <a:tailEnd/>
          </a:ln>
          <a:effectLst/>
        </p:spPr>
        <p:txBody>
          <a:bodyPr>
            <a:spAutoFit/>
          </a:bodyPr>
          <a:lstStyle>
            <a:defPPr>
              <a:defRPr lang="zh-CN"/>
            </a:defPPr>
            <a:lvl1pPr>
              <a:lnSpc>
                <a:spcPct val="100000"/>
              </a:lnSpc>
              <a:buFont typeface="Wingdings" pitchFamily="2" charset="2"/>
              <a:buChar char="Ø"/>
              <a:defRPr b="1">
                <a:solidFill>
                  <a:srgbClr val="C00000"/>
                </a:solidFill>
                <a:latin typeface="+mn-lt"/>
                <a:ea typeface="楷体" pitchFamily="49" charset="-122"/>
              </a:defRPr>
            </a:lvl1pPr>
          </a:lstStyle>
          <a:p>
            <a:r>
              <a:rPr lang="en-US" altLang="zh-CN" dirty="0"/>
              <a:t> </a:t>
            </a:r>
            <a:r>
              <a:rPr lang="zh-CN" altLang="en-US" dirty="0"/>
              <a:t>通过函数为指针变量分配内存 </a:t>
            </a:r>
          </a:p>
        </p:txBody>
      </p:sp>
      <p:sp>
        <p:nvSpPr>
          <p:cNvPr id="1211398" name="Rectangle 6"/>
          <p:cNvSpPr>
            <a:spLocks noChangeArrowheads="1"/>
          </p:cNvSpPr>
          <p:nvPr/>
        </p:nvSpPr>
        <p:spPr bwMode="auto">
          <a:xfrm>
            <a:off x="769108" y="1213277"/>
            <a:ext cx="6472140"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latin typeface="+mn-lt"/>
                <a:ea typeface="楷体" pitchFamily="49" charset="-122"/>
              </a:rPr>
              <a:t>        </a:t>
            </a:r>
            <a:r>
              <a:rPr lang="zh-CN" altLang="en-US" dirty="0">
                <a:latin typeface="+mn-lt"/>
                <a:ea typeface="楷体" pitchFamily="49" charset="-122"/>
              </a:rPr>
              <a:t>如果程序想通过函数为指针变量分配内存，则形参必须是一个指针的指针（即</a:t>
            </a:r>
            <a:r>
              <a:rPr lang="zh-CN" altLang="en-US" dirty="0">
                <a:solidFill>
                  <a:srgbClr val="C00000"/>
                </a:solidFill>
                <a:latin typeface="+mn-lt"/>
                <a:ea typeface="楷体" pitchFamily="49" charset="-122"/>
              </a:rPr>
              <a:t>二级指针</a:t>
            </a:r>
            <a:r>
              <a:rPr lang="zh-CN" altLang="en-US" dirty="0">
                <a:latin typeface="+mn-lt"/>
                <a:ea typeface="楷体" pitchFamily="49" charset="-122"/>
              </a:rPr>
              <a:t>）。 </a:t>
            </a:r>
          </a:p>
        </p:txBody>
      </p:sp>
      <p:sp>
        <p:nvSpPr>
          <p:cNvPr id="1211399" name="Rectangle 7" descr="信纸"/>
          <p:cNvSpPr>
            <a:spLocks noChangeArrowheads="1"/>
          </p:cNvSpPr>
          <p:nvPr/>
        </p:nvSpPr>
        <p:spPr bwMode="auto">
          <a:xfrm>
            <a:off x="1288632" y="2109941"/>
            <a:ext cx="5433092" cy="4401205"/>
          </a:xfrm>
          <a:prstGeom prst="rect">
            <a:avLst/>
          </a:prstGeom>
          <a:gradFill>
            <a:gsLst>
              <a:gs pos="0">
                <a:srgbClr val="CFCFD1"/>
              </a:gs>
              <a:gs pos="100000">
                <a:schemeClr val="bg1"/>
              </a:gs>
            </a:gsLst>
            <a:lin ang="54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solidFill>
                  <a:schemeClr val="accent1">
                    <a:lumMod val="50000"/>
                  </a:schemeClr>
                </a:solidFill>
              </a:rPr>
              <a:t>void </a:t>
            </a:r>
            <a:r>
              <a:rPr lang="en-US" altLang="zh-CN" sz="2000" dirty="0" err="1">
                <a:solidFill>
                  <a:schemeClr val="accent1">
                    <a:lumMod val="50000"/>
                  </a:schemeClr>
                </a:solidFill>
              </a:rPr>
              <a:t>getmen</a:t>
            </a:r>
            <a:r>
              <a:rPr lang="en-US" altLang="zh-CN" sz="2000" dirty="0">
                <a:solidFill>
                  <a:schemeClr val="accent1">
                    <a:lumMod val="50000"/>
                  </a:schemeClr>
                </a:solidFill>
              </a:rPr>
              <a:t> (</a:t>
            </a:r>
            <a:r>
              <a:rPr lang="en-US" altLang="zh-CN" sz="2000" dirty="0" err="1">
                <a:solidFill>
                  <a:schemeClr val="accent1">
                    <a:lumMod val="50000"/>
                  </a:schemeClr>
                </a:solidFill>
              </a:rPr>
              <a:t>int</a:t>
            </a:r>
            <a:r>
              <a:rPr lang="en-US" altLang="zh-CN" sz="2000" dirty="0">
                <a:solidFill>
                  <a:schemeClr val="accent1">
                    <a:lumMod val="50000"/>
                  </a:schemeClr>
                </a:solidFill>
              </a:rPr>
              <a:t> **p, </a:t>
            </a:r>
            <a:r>
              <a:rPr lang="en-US" altLang="zh-CN" sz="2000" dirty="0" err="1">
                <a:solidFill>
                  <a:schemeClr val="accent1">
                    <a:lumMod val="50000"/>
                  </a:schemeClr>
                </a:solidFill>
              </a:rPr>
              <a:t>int</a:t>
            </a:r>
            <a:r>
              <a:rPr lang="en-US" altLang="zh-CN" sz="2000" dirty="0">
                <a:solidFill>
                  <a:schemeClr val="accent1">
                    <a:lumMod val="50000"/>
                  </a:schemeClr>
                </a:solidFill>
              </a:rPr>
              <a:t> num)</a:t>
            </a:r>
          </a:p>
          <a:p>
            <a:r>
              <a:rPr lang="en-US" altLang="zh-CN" sz="2000" dirty="0"/>
              <a:t>{</a:t>
            </a:r>
          </a:p>
          <a:p>
            <a:r>
              <a:rPr lang="en-US" altLang="zh-CN" sz="2000" dirty="0"/>
              <a:t>  *p = (</a:t>
            </a:r>
            <a:r>
              <a:rPr lang="en-US" altLang="zh-CN" sz="2000" dirty="0" err="1"/>
              <a:t>int</a:t>
            </a:r>
            <a:r>
              <a:rPr lang="en-US" altLang="zh-CN" sz="2000" dirty="0"/>
              <a:t> *)</a:t>
            </a:r>
            <a:r>
              <a:rPr lang="en-US" altLang="zh-CN" sz="2000" dirty="0" err="1"/>
              <a:t>malloc</a:t>
            </a:r>
            <a:r>
              <a:rPr lang="en-US" altLang="zh-CN" sz="2000" dirty="0"/>
              <a:t>(num * </a:t>
            </a:r>
            <a:r>
              <a:rPr lang="en-US" altLang="zh-CN" sz="2000" dirty="0" err="1"/>
              <a:t>sizeof</a:t>
            </a:r>
            <a:r>
              <a:rPr lang="en-US" altLang="zh-CN" sz="2000" dirty="0"/>
              <a:t>(</a:t>
            </a:r>
            <a:r>
              <a:rPr lang="en-US" altLang="zh-CN" sz="2000" dirty="0" err="1"/>
              <a:t>int</a:t>
            </a:r>
            <a:r>
              <a:rPr lang="en-US" altLang="zh-CN" sz="2000" dirty="0"/>
              <a:t>));</a:t>
            </a:r>
          </a:p>
          <a:p>
            <a:r>
              <a:rPr lang="en-US" altLang="zh-CN" sz="2000" dirty="0"/>
              <a:t>  return;</a:t>
            </a:r>
          </a:p>
          <a:p>
            <a:r>
              <a:rPr lang="en-US" altLang="zh-CN" sz="2000" dirty="0"/>
              <a:t>}</a:t>
            </a:r>
          </a:p>
          <a:p>
            <a:endParaRPr lang="en-US" altLang="zh-CN" sz="2000" dirty="0"/>
          </a:p>
          <a:p>
            <a:r>
              <a:rPr lang="en-US" altLang="zh-CN" sz="2000" dirty="0" err="1">
                <a:solidFill>
                  <a:srgbClr val="CC0099"/>
                </a:solidFill>
              </a:rPr>
              <a:t>int</a:t>
            </a:r>
            <a:r>
              <a:rPr lang="en-US" altLang="zh-CN" sz="2000" dirty="0">
                <a:solidFill>
                  <a:srgbClr val="CC0099"/>
                </a:solidFill>
              </a:rPr>
              <a:t> main ( )</a:t>
            </a:r>
          </a:p>
          <a:p>
            <a:r>
              <a:rPr lang="en-US" altLang="zh-CN" sz="2000" dirty="0"/>
              <a:t>{</a:t>
            </a:r>
          </a:p>
          <a:p>
            <a:r>
              <a:rPr lang="en-US" altLang="zh-CN" sz="2000" dirty="0"/>
              <a:t>  </a:t>
            </a:r>
            <a:r>
              <a:rPr lang="en-US" altLang="zh-CN" sz="2000" dirty="0" err="1"/>
              <a:t>int</a:t>
            </a:r>
            <a:r>
              <a:rPr lang="en-US" altLang="zh-CN" sz="2000" dirty="0"/>
              <a:t> *pint, k;</a:t>
            </a:r>
          </a:p>
          <a:p>
            <a:r>
              <a:rPr lang="en-US" altLang="zh-CN" sz="2000" dirty="0"/>
              <a:t>  </a:t>
            </a:r>
            <a:r>
              <a:rPr lang="en-US" altLang="zh-CN" sz="2000" dirty="0" err="1"/>
              <a:t>getmen</a:t>
            </a:r>
            <a:r>
              <a:rPr lang="en-US" altLang="zh-CN" sz="2000" dirty="0"/>
              <a:t> (&amp;pint, 10);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执行后</a:t>
            </a:r>
            <a:r>
              <a:rPr lang="en-US" altLang="zh-CN" sz="1800" dirty="0">
                <a:solidFill>
                  <a:schemeClr val="accent2">
                    <a:lumMod val="50000"/>
                  </a:schemeClr>
                </a:solidFill>
                <a:latin typeface="+mn-lt"/>
                <a:ea typeface="楷体" pitchFamily="49" charset="-122"/>
              </a:rPr>
              <a:t>,pint</a:t>
            </a:r>
            <a:r>
              <a:rPr lang="zh-CN" altLang="en-US" sz="1800" dirty="0">
                <a:solidFill>
                  <a:schemeClr val="accent2">
                    <a:lumMod val="50000"/>
                  </a:schemeClr>
                </a:solidFill>
                <a:latin typeface="+mn-lt"/>
                <a:ea typeface="楷体" pitchFamily="49" charset="-122"/>
              </a:rPr>
              <a:t>的值会变化</a:t>
            </a:r>
          </a:p>
          <a:p>
            <a:r>
              <a:rPr lang="zh-CN" altLang="en-US" sz="2000" dirty="0"/>
              <a:t>  </a:t>
            </a:r>
            <a:r>
              <a:rPr lang="en-US" altLang="zh-CN" sz="2000" dirty="0"/>
              <a:t>for (k = 0; k &lt; 10; k++)</a:t>
            </a:r>
          </a:p>
          <a:p>
            <a:r>
              <a:rPr lang="en-US" altLang="zh-CN" sz="2000" dirty="0"/>
              <a:t>      pint[k] = k;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操作正确</a:t>
            </a:r>
          </a:p>
          <a:p>
            <a:r>
              <a:rPr lang="zh-CN" altLang="en-US" sz="2000" dirty="0"/>
              <a:t>  </a:t>
            </a:r>
            <a:r>
              <a:rPr lang="en-US" altLang="zh-CN" sz="2000" dirty="0"/>
              <a:t>…… </a:t>
            </a:r>
          </a:p>
          <a:p>
            <a:r>
              <a:rPr lang="en-US" altLang="zh-CN" sz="2000" dirty="0"/>
              <a:t>} </a:t>
            </a:r>
          </a:p>
        </p:txBody>
      </p:sp>
      <p:grpSp>
        <p:nvGrpSpPr>
          <p:cNvPr id="1211400" name="Group 8"/>
          <p:cNvGrpSpPr>
            <a:grpSpLocks/>
          </p:cNvGrpSpPr>
          <p:nvPr/>
        </p:nvGrpSpPr>
        <p:grpSpPr bwMode="auto">
          <a:xfrm>
            <a:off x="7424986" y="1628776"/>
            <a:ext cx="2636837" cy="4625975"/>
            <a:chOff x="2879" y="554"/>
            <a:chExt cx="1661" cy="2914"/>
          </a:xfrm>
        </p:grpSpPr>
        <p:grpSp>
          <p:nvGrpSpPr>
            <p:cNvPr id="1211401" name="Group 9"/>
            <p:cNvGrpSpPr>
              <a:grpSpLocks/>
            </p:cNvGrpSpPr>
            <p:nvPr/>
          </p:nvGrpSpPr>
          <p:grpSpPr bwMode="auto">
            <a:xfrm>
              <a:off x="2879" y="554"/>
              <a:ext cx="1661" cy="2914"/>
              <a:chOff x="3144" y="806"/>
              <a:chExt cx="1661" cy="2914"/>
            </a:xfrm>
          </p:grpSpPr>
          <p:sp>
            <p:nvSpPr>
              <p:cNvPr id="1211402" name="Freeform 10"/>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11404" name="Rectangle 12"/>
              <p:cNvSpPr>
                <a:spLocks noChangeArrowheads="1"/>
              </p:cNvSpPr>
              <p:nvPr/>
            </p:nvSpPr>
            <p:spPr bwMode="auto">
              <a:xfrm>
                <a:off x="3582" y="806"/>
                <a:ext cx="1211" cy="2212"/>
              </a:xfrm>
              <a:prstGeom prst="rect">
                <a:avLst/>
              </a:prstGeom>
              <a:solidFill>
                <a:srgbClr val="DDFAED"/>
              </a:solidFill>
              <a:ln w="38100">
                <a:solidFill>
                  <a:schemeClr val="tx1"/>
                </a:solidFill>
                <a:miter lim="800000"/>
                <a:headEnd/>
                <a:tailEnd/>
              </a:ln>
              <a:effectLst>
                <a:outerShdw blurRad="50800" dist="10160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11405" name="Line 13"/>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1406" name="Line 14"/>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11407" name="Line 15"/>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1408" name="Line 16"/>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1409" name="Line 17"/>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1410" name="Line 18"/>
              <p:cNvSpPr>
                <a:spLocks noChangeShapeType="1"/>
              </p:cNvSpPr>
              <p:nvPr/>
            </p:nvSpPr>
            <p:spPr bwMode="auto">
              <a:xfrm>
                <a:off x="3594" y="2788"/>
                <a:ext cx="1211" cy="0"/>
              </a:xfrm>
              <a:prstGeom prst="line">
                <a:avLst/>
              </a:prstGeom>
              <a:solidFill>
                <a:srgbClr val="DDFAED"/>
              </a:solidFill>
              <a:ln w="9525">
                <a:solidFill>
                  <a:srgbClr val="000000"/>
                </a:solidFill>
                <a:round/>
                <a:headEnd/>
                <a:tailEnd/>
              </a:ln>
              <a:effectLst/>
            </p:spPr>
            <p:txBody>
              <a:bodyPr wrap="none" anchor="ctr"/>
              <a:lstStyle/>
              <a:p>
                <a:endParaRPr lang="zh-CN" altLang="en-US"/>
              </a:p>
            </p:txBody>
          </p:sp>
          <p:sp>
            <p:nvSpPr>
              <p:cNvPr id="1211411" name="Line 19"/>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11412" name="Line 20"/>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11413" name="Text Box 21"/>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211414" name="Line 22"/>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1415" name="Text Box 23"/>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11416" name="Text Box 24"/>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11417" name="Text Box 25"/>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11418" name="Text Box 26"/>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11419" name="Text Box 27"/>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11420" name="Text Box 28"/>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211421" name="Group 29"/>
              <p:cNvGrpSpPr>
                <a:grpSpLocks/>
              </p:cNvGrpSpPr>
              <p:nvPr/>
            </p:nvGrpSpPr>
            <p:grpSpPr bwMode="auto">
              <a:xfrm>
                <a:off x="3597" y="1380"/>
                <a:ext cx="60" cy="1548"/>
                <a:chOff x="3960" y="1560"/>
                <a:chExt cx="60" cy="1548"/>
              </a:xfrm>
            </p:grpSpPr>
            <p:sp>
              <p:nvSpPr>
                <p:cNvPr id="1211422" name="Line 30"/>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23" name="Line 31"/>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24" name="Line 32"/>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25" name="Line 33"/>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26" name="Line 34"/>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27" name="Line 35"/>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28" name="Line 36"/>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11429" name="Group 37"/>
              <p:cNvGrpSpPr>
                <a:grpSpLocks/>
              </p:cNvGrpSpPr>
              <p:nvPr/>
            </p:nvGrpSpPr>
            <p:grpSpPr bwMode="auto">
              <a:xfrm>
                <a:off x="4725" y="1368"/>
                <a:ext cx="60" cy="1548"/>
                <a:chOff x="3960" y="1560"/>
                <a:chExt cx="60" cy="1548"/>
              </a:xfrm>
            </p:grpSpPr>
            <p:sp>
              <p:nvSpPr>
                <p:cNvPr id="1211430" name="Line 38"/>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1" name="Line 39"/>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2" name="Line 40"/>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3" name="Line 41"/>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4" name="Line 42"/>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5" name="Line 43"/>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6" name="Line 44"/>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11437" name="Line 45"/>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8" name="Line 46"/>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1439" name="Line 47"/>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40" name="Text Box 48"/>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11441" name="Text Box 49"/>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11442" name="Text Box 50"/>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11403" name="Freeform 11"/>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1600" dir="2700000" algn="tl" rotWithShape="0">
                  <a:prstClr val="black">
                    <a:alpha val="43000"/>
                  </a:prstClr>
                </a:outerShdw>
              </a:effectLst>
            </p:spPr>
            <p:txBody>
              <a:bodyPr wrap="none" anchor="ctr"/>
              <a:lstStyle/>
              <a:p>
                <a:endParaRPr lang="zh-CN" altLang="en-US"/>
              </a:p>
            </p:txBody>
          </p:sp>
        </p:grpSp>
        <p:sp>
          <p:nvSpPr>
            <p:cNvPr id="1211443" name="Text Box 51"/>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grpSp>
        <p:nvGrpSpPr>
          <p:cNvPr id="1211444" name="Group 52"/>
          <p:cNvGrpSpPr>
            <a:grpSpLocks/>
          </p:cNvGrpSpPr>
          <p:nvPr/>
        </p:nvGrpSpPr>
        <p:grpSpPr bwMode="auto">
          <a:xfrm>
            <a:off x="8645775" y="1912939"/>
            <a:ext cx="2332038" cy="1041401"/>
            <a:chOff x="4158" y="1205"/>
            <a:chExt cx="1469" cy="656"/>
          </a:xfrm>
        </p:grpSpPr>
        <p:grpSp>
          <p:nvGrpSpPr>
            <p:cNvPr id="1211445" name="Group 53"/>
            <p:cNvGrpSpPr>
              <a:grpSpLocks/>
            </p:cNvGrpSpPr>
            <p:nvPr/>
          </p:nvGrpSpPr>
          <p:grpSpPr bwMode="auto">
            <a:xfrm>
              <a:off x="5054" y="1308"/>
              <a:ext cx="573" cy="250"/>
              <a:chOff x="5054" y="1308"/>
              <a:chExt cx="573" cy="250"/>
            </a:xfrm>
          </p:grpSpPr>
          <p:sp>
            <p:nvSpPr>
              <p:cNvPr id="1211446" name="Line 54"/>
              <p:cNvSpPr>
                <a:spLocks noChangeShapeType="1"/>
              </p:cNvSpPr>
              <p:nvPr/>
            </p:nvSpPr>
            <p:spPr bwMode="auto">
              <a:xfrm flipH="1">
                <a:off x="5054" y="1476"/>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1447" name="Text Box 55"/>
              <p:cNvSpPr txBox="1">
                <a:spLocks noChangeArrowheads="1"/>
              </p:cNvSpPr>
              <p:nvPr/>
            </p:nvSpPr>
            <p:spPr bwMode="auto">
              <a:xfrm>
                <a:off x="5236" y="1308"/>
                <a:ext cx="391"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pint</a:t>
                </a:r>
              </a:p>
            </p:txBody>
          </p:sp>
        </p:grpSp>
        <p:grpSp>
          <p:nvGrpSpPr>
            <p:cNvPr id="1211448" name="Group 56"/>
            <p:cNvGrpSpPr>
              <a:grpSpLocks/>
            </p:cNvGrpSpPr>
            <p:nvPr/>
          </p:nvGrpSpPr>
          <p:grpSpPr bwMode="auto">
            <a:xfrm>
              <a:off x="5054" y="1611"/>
              <a:ext cx="382" cy="250"/>
              <a:chOff x="4426" y="1917"/>
              <a:chExt cx="382" cy="250"/>
            </a:xfrm>
          </p:grpSpPr>
          <p:sp>
            <p:nvSpPr>
              <p:cNvPr id="1211449" name="Line 57"/>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1450" name="Text Box 58"/>
              <p:cNvSpPr txBox="1">
                <a:spLocks noChangeArrowheads="1"/>
              </p:cNvSpPr>
              <p:nvPr/>
            </p:nvSpPr>
            <p:spPr bwMode="auto">
              <a:xfrm>
                <a:off x="4523" y="1917"/>
                <a:ext cx="28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  k</a:t>
                </a:r>
              </a:p>
            </p:txBody>
          </p:sp>
        </p:grpSp>
        <p:sp>
          <p:nvSpPr>
            <p:cNvPr id="1211451" name="Text Box 59"/>
            <p:cNvSpPr txBox="1">
              <a:spLocks noChangeArrowheads="1"/>
            </p:cNvSpPr>
            <p:nvPr/>
          </p:nvSpPr>
          <p:spPr bwMode="auto">
            <a:xfrm>
              <a:off x="4158" y="1205"/>
              <a:ext cx="57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a:solidFill>
                    <a:srgbClr val="CF0D9E"/>
                  </a:solidFill>
                </a:rPr>
                <a:t>(main)</a:t>
              </a:r>
            </a:p>
          </p:txBody>
        </p:sp>
      </p:grpSp>
      <p:grpSp>
        <p:nvGrpSpPr>
          <p:cNvPr id="1211452" name="Group 60"/>
          <p:cNvGrpSpPr>
            <a:grpSpLocks/>
          </p:cNvGrpSpPr>
          <p:nvPr/>
        </p:nvGrpSpPr>
        <p:grpSpPr bwMode="auto">
          <a:xfrm>
            <a:off x="8466385" y="3073400"/>
            <a:ext cx="2603500" cy="1011238"/>
            <a:chOff x="4045" y="1936"/>
            <a:chExt cx="1640" cy="637"/>
          </a:xfrm>
        </p:grpSpPr>
        <p:grpSp>
          <p:nvGrpSpPr>
            <p:cNvPr id="1211453" name="Group 61"/>
            <p:cNvGrpSpPr>
              <a:grpSpLocks/>
            </p:cNvGrpSpPr>
            <p:nvPr/>
          </p:nvGrpSpPr>
          <p:grpSpPr bwMode="auto">
            <a:xfrm>
              <a:off x="5066" y="2052"/>
              <a:ext cx="387" cy="250"/>
              <a:chOff x="5066" y="2052"/>
              <a:chExt cx="387" cy="250"/>
            </a:xfrm>
          </p:grpSpPr>
          <p:sp>
            <p:nvSpPr>
              <p:cNvPr id="1211454" name="Line 62"/>
              <p:cNvSpPr>
                <a:spLocks noChangeShapeType="1"/>
              </p:cNvSpPr>
              <p:nvPr/>
            </p:nvSpPr>
            <p:spPr bwMode="auto">
              <a:xfrm flipH="1">
                <a:off x="5066" y="222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1455" name="Text Box 63"/>
              <p:cNvSpPr txBox="1">
                <a:spLocks noChangeArrowheads="1"/>
              </p:cNvSpPr>
              <p:nvPr/>
            </p:nvSpPr>
            <p:spPr bwMode="auto">
              <a:xfrm>
                <a:off x="5248" y="2052"/>
                <a:ext cx="20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p</a:t>
                </a:r>
              </a:p>
            </p:txBody>
          </p:sp>
        </p:grpSp>
        <p:sp>
          <p:nvSpPr>
            <p:cNvPr id="1211456" name="Text Box 64"/>
            <p:cNvSpPr txBox="1">
              <a:spLocks noChangeArrowheads="1"/>
            </p:cNvSpPr>
            <p:nvPr/>
          </p:nvSpPr>
          <p:spPr bwMode="auto">
            <a:xfrm>
              <a:off x="4045" y="1936"/>
              <a:ext cx="7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a:solidFill>
                    <a:schemeClr val="accent1">
                      <a:lumMod val="50000"/>
                    </a:schemeClr>
                  </a:solidFill>
                </a:rPr>
                <a:t>(getmem)</a:t>
              </a:r>
            </a:p>
          </p:txBody>
        </p:sp>
        <p:grpSp>
          <p:nvGrpSpPr>
            <p:cNvPr id="1211457" name="Group 65"/>
            <p:cNvGrpSpPr>
              <a:grpSpLocks/>
            </p:cNvGrpSpPr>
            <p:nvPr/>
          </p:nvGrpSpPr>
          <p:grpSpPr bwMode="auto">
            <a:xfrm>
              <a:off x="5058" y="2323"/>
              <a:ext cx="627" cy="250"/>
              <a:chOff x="5058" y="2323"/>
              <a:chExt cx="627" cy="250"/>
            </a:xfrm>
          </p:grpSpPr>
          <p:sp>
            <p:nvSpPr>
              <p:cNvPr id="1211458" name="Line 66"/>
              <p:cNvSpPr>
                <a:spLocks noChangeShapeType="1"/>
              </p:cNvSpPr>
              <p:nvPr/>
            </p:nvSpPr>
            <p:spPr bwMode="auto">
              <a:xfrm flipH="1">
                <a:off x="5058" y="2473"/>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1459" name="Text Box 67"/>
              <p:cNvSpPr txBox="1">
                <a:spLocks noChangeArrowheads="1"/>
              </p:cNvSpPr>
              <p:nvPr/>
            </p:nvSpPr>
            <p:spPr bwMode="auto">
              <a:xfrm>
                <a:off x="5258" y="2323"/>
                <a:ext cx="42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num</a:t>
                </a:r>
              </a:p>
            </p:txBody>
          </p:sp>
        </p:grpSp>
      </p:grpSp>
      <p:sp>
        <p:nvSpPr>
          <p:cNvPr id="1211460" name="Text Box 68"/>
          <p:cNvSpPr txBox="1">
            <a:spLocks noChangeArrowheads="1"/>
          </p:cNvSpPr>
          <p:nvPr/>
        </p:nvSpPr>
        <p:spPr bwMode="auto">
          <a:xfrm>
            <a:off x="8745785" y="2351088"/>
            <a:ext cx="792162"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a:solidFill>
                  <a:srgbClr val="C00000"/>
                </a:solidFill>
              </a:rPr>
              <a:t>2010</a:t>
            </a:r>
          </a:p>
        </p:txBody>
      </p:sp>
      <p:sp>
        <p:nvSpPr>
          <p:cNvPr id="1211461" name="Text Box 69"/>
          <p:cNvSpPr txBox="1">
            <a:spLocks noChangeArrowheads="1"/>
          </p:cNvSpPr>
          <p:nvPr/>
        </p:nvSpPr>
        <p:spPr bwMode="auto">
          <a:xfrm>
            <a:off x="8718798" y="3552825"/>
            <a:ext cx="792163"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a:solidFill>
                  <a:srgbClr val="C00000"/>
                </a:solidFill>
              </a:rPr>
              <a:t>2000</a:t>
            </a:r>
          </a:p>
        </p:txBody>
      </p:sp>
      <p:grpSp>
        <p:nvGrpSpPr>
          <p:cNvPr id="1211462" name="Group 70"/>
          <p:cNvGrpSpPr>
            <a:grpSpLocks/>
          </p:cNvGrpSpPr>
          <p:nvPr/>
        </p:nvGrpSpPr>
        <p:grpSpPr bwMode="auto">
          <a:xfrm>
            <a:off x="7409110" y="2516188"/>
            <a:ext cx="1295400" cy="1992312"/>
            <a:chOff x="3379" y="2323"/>
            <a:chExt cx="816" cy="545"/>
          </a:xfrm>
        </p:grpSpPr>
        <p:sp>
          <p:nvSpPr>
            <p:cNvPr id="1211463" name="Line 71"/>
            <p:cNvSpPr>
              <a:spLocks noChangeShapeType="1"/>
            </p:cNvSpPr>
            <p:nvPr/>
          </p:nvSpPr>
          <p:spPr bwMode="auto">
            <a:xfrm flipH="1">
              <a:off x="3379" y="2325"/>
              <a:ext cx="816" cy="0"/>
            </a:xfrm>
            <a:prstGeom prst="line">
              <a:avLst/>
            </a:prstGeom>
            <a:noFill/>
            <a:ln w="28575">
              <a:solidFill>
                <a:srgbClr val="C00000"/>
              </a:solidFill>
              <a:round/>
              <a:headEnd/>
              <a:tailEnd/>
            </a:ln>
            <a:effectLst/>
          </p:spPr>
          <p:txBody>
            <a:bodyPr/>
            <a:lstStyle/>
            <a:p>
              <a:endParaRPr lang="zh-CN" altLang="en-US"/>
            </a:p>
          </p:txBody>
        </p:sp>
        <p:sp>
          <p:nvSpPr>
            <p:cNvPr id="1211464" name="Line 72"/>
            <p:cNvSpPr>
              <a:spLocks noChangeShapeType="1"/>
            </p:cNvSpPr>
            <p:nvPr/>
          </p:nvSpPr>
          <p:spPr bwMode="auto">
            <a:xfrm>
              <a:off x="3387" y="2865"/>
              <a:ext cx="408" cy="0"/>
            </a:xfrm>
            <a:prstGeom prst="line">
              <a:avLst/>
            </a:prstGeom>
            <a:noFill/>
            <a:ln w="28575">
              <a:solidFill>
                <a:srgbClr val="C00000"/>
              </a:solidFill>
              <a:round/>
              <a:headEnd/>
              <a:tailEnd type="stealth" w="lg" len="lg"/>
            </a:ln>
            <a:effectLst/>
          </p:spPr>
          <p:txBody>
            <a:bodyPr/>
            <a:lstStyle/>
            <a:p>
              <a:endParaRPr lang="zh-CN" altLang="en-US"/>
            </a:p>
          </p:txBody>
        </p:sp>
        <p:sp>
          <p:nvSpPr>
            <p:cNvPr id="1211465" name="Line 73"/>
            <p:cNvSpPr>
              <a:spLocks noChangeShapeType="1"/>
            </p:cNvSpPr>
            <p:nvPr/>
          </p:nvSpPr>
          <p:spPr bwMode="auto">
            <a:xfrm>
              <a:off x="3379" y="2323"/>
              <a:ext cx="0" cy="545"/>
            </a:xfrm>
            <a:prstGeom prst="line">
              <a:avLst/>
            </a:prstGeom>
            <a:noFill/>
            <a:ln w="28575">
              <a:solidFill>
                <a:srgbClr val="C00000"/>
              </a:solidFill>
              <a:round/>
              <a:headEnd/>
              <a:tailEnd/>
            </a:ln>
            <a:effectLst/>
          </p:spPr>
          <p:txBody>
            <a:bodyPr/>
            <a:lstStyle/>
            <a:p>
              <a:endParaRPr lang="zh-CN" altLang="en-US"/>
            </a:p>
          </p:txBody>
        </p:sp>
      </p:grpSp>
      <p:grpSp>
        <p:nvGrpSpPr>
          <p:cNvPr id="1211467" name="Group 75"/>
          <p:cNvGrpSpPr>
            <a:grpSpLocks/>
          </p:cNvGrpSpPr>
          <p:nvPr/>
        </p:nvGrpSpPr>
        <p:grpSpPr bwMode="auto">
          <a:xfrm>
            <a:off x="8734672" y="1127126"/>
            <a:ext cx="2401888" cy="1566863"/>
            <a:chOff x="4214" y="710"/>
            <a:chExt cx="1513" cy="987"/>
          </a:xfrm>
        </p:grpSpPr>
        <p:sp>
          <p:nvSpPr>
            <p:cNvPr id="1211468" name="Oval 76"/>
            <p:cNvSpPr>
              <a:spLocks noChangeArrowheads="1"/>
            </p:cNvSpPr>
            <p:nvPr/>
          </p:nvSpPr>
          <p:spPr bwMode="auto">
            <a:xfrm>
              <a:off x="4214" y="1471"/>
              <a:ext cx="453" cy="226"/>
            </a:xfrm>
            <a:prstGeom prst="ellipse">
              <a:avLst/>
            </a:prstGeom>
            <a:noFill/>
            <a:ln w="28575" algn="ctr">
              <a:solidFill>
                <a:srgbClr val="002060"/>
              </a:solidFill>
              <a:round/>
              <a:headEnd/>
              <a:tailEnd/>
            </a:ln>
            <a:effectLst/>
          </p:spPr>
          <p:txBody>
            <a:bodyPr wrap="none" anchor="ctr" anchorCtr="0"/>
            <a:lstStyle/>
            <a:p>
              <a:endParaRPr lang="zh-CN" altLang="en-US">
                <a:latin typeface="+mn-lt"/>
                <a:ea typeface="楷体" pitchFamily="49" charset="-122"/>
              </a:endParaRPr>
            </a:p>
          </p:txBody>
        </p:sp>
        <p:sp>
          <p:nvSpPr>
            <p:cNvPr id="1211469" name="AutoShape 77"/>
            <p:cNvSpPr>
              <a:spLocks/>
            </p:cNvSpPr>
            <p:nvPr/>
          </p:nvSpPr>
          <p:spPr bwMode="auto">
            <a:xfrm>
              <a:off x="5057" y="710"/>
              <a:ext cx="670" cy="253"/>
            </a:xfrm>
            <a:prstGeom prst="borderCallout2">
              <a:avLst>
                <a:gd name="adj1" fmla="val 28458"/>
                <a:gd name="adj2" fmla="val -7162"/>
                <a:gd name="adj3" fmla="val 28458"/>
                <a:gd name="adj4" fmla="val -38509"/>
                <a:gd name="adj5" fmla="val 314625"/>
                <a:gd name="adj6" fmla="val -70894"/>
              </a:avLst>
            </a:prstGeom>
            <a:gradFill rotWithShape="1">
              <a:gsLst>
                <a:gs pos="0">
                  <a:srgbClr val="CFCFD1"/>
                </a:gs>
                <a:gs pos="100000">
                  <a:schemeClr val="bg1"/>
                </a:gs>
              </a:gsLst>
              <a:lin ang="5400000" scaled="1"/>
            </a:gradFill>
            <a:ln w="25400" algn="ctr">
              <a:solidFill>
                <a:srgbClr val="002060"/>
              </a:solidFill>
              <a:miter lim="800000"/>
              <a:headEnd/>
              <a:tailEnd/>
            </a:ln>
            <a:effectLst>
              <a:outerShdw dist="107763" dir="2700000" algn="ctr" rotWithShape="0">
                <a:schemeClr val="bg2">
                  <a:alpha val="50000"/>
                </a:schemeClr>
              </a:outerShdw>
            </a:effectLst>
          </p:spPr>
          <p:txBody>
            <a:bodyPr anchor="ctr" anchorCtr="0"/>
            <a:lstStyle/>
            <a:p>
              <a:pPr marL="342900" indent="-342900" algn="ctr"/>
              <a:r>
                <a:rPr lang="zh-CN" altLang="en-US" sz="2000">
                  <a:solidFill>
                    <a:srgbClr val="C00000"/>
                  </a:solidFill>
                  <a:latin typeface="+mn-lt"/>
                  <a:ea typeface="楷体" pitchFamily="49" charset="-122"/>
                </a:rPr>
                <a:t>随机值</a:t>
              </a:r>
            </a:p>
          </p:txBody>
        </p:sp>
      </p:grpSp>
      <p:sp>
        <p:nvSpPr>
          <p:cNvPr id="1211470" name="AutoShape 78"/>
          <p:cNvSpPr>
            <a:spLocks/>
          </p:cNvSpPr>
          <p:nvPr/>
        </p:nvSpPr>
        <p:spPr bwMode="auto">
          <a:xfrm>
            <a:off x="8920411" y="6284914"/>
            <a:ext cx="2016125" cy="401637"/>
          </a:xfrm>
          <a:prstGeom prst="borderCallout2">
            <a:avLst>
              <a:gd name="adj1" fmla="val 28458"/>
              <a:gd name="adj2" fmla="val -3778"/>
              <a:gd name="adj3" fmla="val 28458"/>
              <a:gd name="adj4" fmla="val -38898"/>
              <a:gd name="adj5" fmla="val -588144"/>
              <a:gd name="adj6" fmla="val -74958"/>
            </a:avLst>
          </a:prstGeom>
          <a:gradFill rotWithShape="1">
            <a:gsLst>
              <a:gs pos="0">
                <a:srgbClr val="CFCFD1"/>
              </a:gs>
              <a:gs pos="100000">
                <a:schemeClr val="bg1"/>
              </a:gs>
            </a:gsLst>
            <a:lin ang="5400000" scaled="1"/>
          </a:gradFill>
          <a:ln w="25400" algn="ctr">
            <a:solidFill>
              <a:srgbClr val="C00000"/>
            </a:solidFill>
            <a:miter lim="800000"/>
            <a:headEnd/>
            <a:tailEnd/>
          </a:ln>
          <a:effectLst>
            <a:outerShdw dist="107763" dir="2700000" algn="ctr" rotWithShape="0">
              <a:schemeClr val="bg2">
                <a:alpha val="50000"/>
              </a:schemeClr>
            </a:outerShdw>
          </a:effectLst>
        </p:spPr>
        <p:txBody>
          <a:bodyPr anchor="ctr" anchorCtr="0"/>
          <a:lstStyle/>
          <a:p>
            <a:pPr marL="342900" indent="-342900" algn="ctr"/>
            <a:r>
              <a:rPr lang="zh-CN" altLang="en-US" sz="2000">
                <a:solidFill>
                  <a:srgbClr val="C00000"/>
                </a:solidFill>
                <a:latin typeface="+mn-lt"/>
                <a:ea typeface="楷体" pitchFamily="49" charset="-122"/>
              </a:rPr>
              <a:t>动态内存分配</a:t>
            </a:r>
          </a:p>
        </p:txBody>
      </p:sp>
      <p:sp>
        <p:nvSpPr>
          <p:cNvPr id="1211471" name="Text Box 79"/>
          <p:cNvSpPr txBox="1">
            <a:spLocks noChangeArrowheads="1"/>
          </p:cNvSpPr>
          <p:nvPr/>
        </p:nvSpPr>
        <p:spPr bwMode="auto">
          <a:xfrm>
            <a:off x="8688288" y="3944940"/>
            <a:ext cx="792162" cy="400110"/>
          </a:xfrm>
          <a:prstGeom prst="rect">
            <a:avLst/>
          </a:prstGeom>
          <a:solidFill>
            <a:srgbClr val="DDFAED"/>
          </a:solidFill>
          <a:ln w="9525" algn="ctr">
            <a:noFill/>
            <a:miter lim="800000"/>
            <a:headEnd/>
            <a:tailEnd/>
          </a:ln>
          <a:effectLst/>
        </p:spPr>
        <p:txBody>
          <a:bodyPr>
            <a:spAutoFit/>
          </a:bodyPr>
          <a:lstStyle/>
          <a:p>
            <a:pPr marL="342900" indent="-342900" algn="ctr">
              <a:spcBef>
                <a:spcPct val="50000"/>
              </a:spcBef>
            </a:pPr>
            <a:r>
              <a:rPr lang="en-US" altLang="zh-CN" sz="2000" b="1">
                <a:solidFill>
                  <a:srgbClr val="C00000"/>
                </a:solidFill>
              </a:rPr>
              <a:t>10</a:t>
            </a:r>
          </a:p>
        </p:txBody>
      </p:sp>
      <p:sp>
        <p:nvSpPr>
          <p:cNvPr id="1211472" name="Text Box 80"/>
          <p:cNvSpPr txBox="1">
            <a:spLocks noChangeArrowheads="1"/>
          </p:cNvSpPr>
          <p:nvPr/>
        </p:nvSpPr>
        <p:spPr bwMode="auto">
          <a:xfrm>
            <a:off x="8704510" y="2349500"/>
            <a:ext cx="792162" cy="400110"/>
          </a:xfrm>
          <a:prstGeom prst="rect">
            <a:avLst/>
          </a:prstGeom>
          <a:solidFill>
            <a:srgbClr val="DDFAED"/>
          </a:solidFill>
          <a:ln w="9525" algn="ctr">
            <a:noFill/>
            <a:miter lim="800000"/>
            <a:headEnd/>
            <a:tailEnd/>
          </a:ln>
          <a:effectLst/>
        </p:spPr>
        <p:txBody>
          <a:bodyPr>
            <a:spAutoFit/>
          </a:bodyPr>
          <a:lstStyle/>
          <a:p>
            <a:pPr marL="342900" indent="-342900">
              <a:spcBef>
                <a:spcPct val="50000"/>
              </a:spcBef>
            </a:pPr>
            <a:r>
              <a:rPr lang="en-US" altLang="zh-CN" sz="2000" b="1" dirty="0">
                <a:solidFill>
                  <a:srgbClr val="002060"/>
                </a:solidFill>
              </a:rPr>
              <a:t>200A</a:t>
            </a:r>
          </a:p>
        </p:txBody>
      </p:sp>
      <p:sp>
        <p:nvSpPr>
          <p:cNvPr id="80" name="Rectangle 4">
            <a:extLst>
              <a:ext uri="{FF2B5EF4-FFF2-40B4-BE49-F238E27FC236}">
                <a16:creationId xmlns:a16="http://schemas.microsoft.com/office/drawing/2014/main" id="{0217BBF0-1AF6-4309-8899-01E77A8D72D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11399"/>
                                        </p:tgtEl>
                                        <p:attrNameLst>
                                          <p:attrName>style.visibility</p:attrName>
                                        </p:attrNameLst>
                                      </p:cBhvr>
                                      <p:to>
                                        <p:strVal val="visible"/>
                                      </p:to>
                                    </p:set>
                                    <p:animEffect transition="in" filter="box(out)">
                                      <p:cBhvr>
                                        <p:cTn id="7" dur="500"/>
                                        <p:tgtEl>
                                          <p:spTgt spid="1211399"/>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211400"/>
                                        </p:tgtEl>
                                        <p:attrNameLst>
                                          <p:attrName>style.visibility</p:attrName>
                                        </p:attrNameLst>
                                      </p:cBhvr>
                                      <p:to>
                                        <p:strVal val="visible"/>
                                      </p:to>
                                    </p:set>
                                    <p:animEffect transition="in" filter="box(out)">
                                      <p:cBhvr>
                                        <p:cTn id="12" dur="500"/>
                                        <p:tgtEl>
                                          <p:spTgt spid="121140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211444"/>
                                        </p:tgtEl>
                                        <p:attrNameLst>
                                          <p:attrName>style.visibility</p:attrName>
                                        </p:attrNameLst>
                                      </p:cBhvr>
                                      <p:to>
                                        <p:strVal val="visible"/>
                                      </p:to>
                                    </p:set>
                                    <p:animEffect transition="in" filter="box(in)">
                                      <p:cBhvr>
                                        <p:cTn id="17" dur="500"/>
                                        <p:tgtEl>
                                          <p:spTgt spid="1211444"/>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11460"/>
                                        </p:tgtEl>
                                        <p:attrNameLst>
                                          <p:attrName>style.visibility</p:attrName>
                                        </p:attrNameLst>
                                      </p:cBhvr>
                                      <p:to>
                                        <p:strVal val="visible"/>
                                      </p:to>
                                    </p:set>
                                    <p:animEffect transition="in" filter="box(out)">
                                      <p:cBhvr>
                                        <p:cTn id="22" dur="500"/>
                                        <p:tgtEl>
                                          <p:spTgt spid="1211460"/>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par>
                          <p:cTn id="23" fill="hold">
                            <p:stCondLst>
                              <p:cond delay="500"/>
                            </p:stCondLst>
                            <p:childTnLst>
                              <p:par>
                                <p:cTn id="24" presetID="18" presetClass="entr" presetSubtype="3" fill="hold" nodeType="afterEffect">
                                  <p:stCondLst>
                                    <p:cond delay="0"/>
                                  </p:stCondLst>
                                  <p:childTnLst>
                                    <p:set>
                                      <p:cBhvr>
                                        <p:cTn id="25" dur="1" fill="hold">
                                          <p:stCondLst>
                                            <p:cond delay="0"/>
                                          </p:stCondLst>
                                        </p:cTn>
                                        <p:tgtEl>
                                          <p:spTgt spid="1211467"/>
                                        </p:tgtEl>
                                        <p:attrNameLst>
                                          <p:attrName>style.visibility</p:attrName>
                                        </p:attrNameLst>
                                      </p:cBhvr>
                                      <p:to>
                                        <p:strVal val="visible"/>
                                      </p:to>
                                    </p:set>
                                    <p:animEffect transition="in" filter="strips(upRight)">
                                      <p:cBhvr>
                                        <p:cTn id="26" dur="500"/>
                                        <p:tgtEl>
                                          <p:spTgt spid="1211467"/>
                                        </p:tgtEl>
                                      </p:cBhvr>
                                    </p:animEffect>
                                  </p:childTnLst>
                                  <p:subTnLst>
                                    <p:set>
                                      <p:cBhvr override="childStyle">
                                        <p:cTn dur="1" fill="hold" display="0" masterRel="nextClick" afterEffect="1"/>
                                        <p:tgtEl>
                                          <p:spTgt spid="1211467"/>
                                        </p:tgtEl>
                                        <p:attrNameLst>
                                          <p:attrName>style.visibility</p:attrName>
                                        </p:attrNameLst>
                                      </p:cBhvr>
                                      <p:to>
                                        <p:strVal val="hidden"/>
                                      </p:to>
                                    </p:set>
                                    <p:audio>
                                      <p:cMediaNode>
                                        <p:cTn display="0" masterRel="sameClick">
                                          <p:stCondLst>
                                            <p:cond evt="begin" delay="0">
                                              <p:tn val="24"/>
                                            </p:cond>
                                          </p:stCondLst>
                                          <p:endCondLst>
                                            <p:cond evt="onStopAudio" delay="0">
                                              <p:tgtEl>
                                                <p:sldTgt/>
                                              </p:tgtEl>
                                            </p:cond>
                                          </p:endCondLst>
                                        </p:cTn>
                                        <p:tgtEl>
                                          <p:sndTgt r:embed="rId3" name="laser.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1211452"/>
                                        </p:tgtEl>
                                        <p:attrNameLst>
                                          <p:attrName>style.visibility</p:attrName>
                                        </p:attrNameLst>
                                      </p:cBhvr>
                                      <p:to>
                                        <p:strVal val="visible"/>
                                      </p:to>
                                    </p:set>
                                    <p:animEffect transition="in" filter="box(in)">
                                      <p:cBhvr>
                                        <p:cTn id="31" dur="500"/>
                                        <p:tgtEl>
                                          <p:spTgt spid="1211452"/>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211461"/>
                                        </p:tgtEl>
                                        <p:attrNameLst>
                                          <p:attrName>style.visibility</p:attrName>
                                        </p:attrNameLst>
                                      </p:cBhvr>
                                      <p:to>
                                        <p:strVal val="visible"/>
                                      </p:to>
                                    </p:set>
                                    <p:animEffect transition="in" filter="box(out)">
                                      <p:cBhvr>
                                        <p:cTn id="36" dur="500"/>
                                        <p:tgtEl>
                                          <p:spTgt spid="1211461"/>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1211471"/>
                                        </p:tgtEl>
                                        <p:attrNameLst>
                                          <p:attrName>style.visibility</p:attrName>
                                        </p:attrNameLst>
                                      </p:cBhvr>
                                      <p:to>
                                        <p:strVal val="visible"/>
                                      </p:to>
                                    </p:set>
                                    <p:animEffect transition="in" filter="box(out)">
                                      <p:cBhvr>
                                        <p:cTn id="41" dur="500"/>
                                        <p:tgtEl>
                                          <p:spTgt spid="1211471"/>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12" fill="hold" nodeType="clickEffect">
                                  <p:stCondLst>
                                    <p:cond delay="0"/>
                                  </p:stCondLst>
                                  <p:childTnLst>
                                    <p:set>
                                      <p:cBhvr>
                                        <p:cTn id="45" dur="1" fill="hold">
                                          <p:stCondLst>
                                            <p:cond delay="0"/>
                                          </p:stCondLst>
                                        </p:cTn>
                                        <p:tgtEl>
                                          <p:spTgt spid="1211462"/>
                                        </p:tgtEl>
                                        <p:attrNameLst>
                                          <p:attrName>style.visibility</p:attrName>
                                        </p:attrNameLst>
                                      </p:cBhvr>
                                      <p:to>
                                        <p:strVal val="visible"/>
                                      </p:to>
                                    </p:set>
                                    <p:animEffect transition="in" filter="strips(downLeft)">
                                      <p:cBhvr>
                                        <p:cTn id="46" dur="500"/>
                                        <p:tgtEl>
                                          <p:spTgt spid="1211462"/>
                                        </p:tgtEl>
                                      </p:cBhvr>
                                    </p:animEffect>
                                  </p:childTnLst>
                                </p:cTn>
                              </p:par>
                            </p:childTnLst>
                          </p:cTn>
                        </p:par>
                        <p:par>
                          <p:cTn id="47" fill="hold">
                            <p:stCondLst>
                              <p:cond delay="500"/>
                            </p:stCondLst>
                            <p:childTnLst>
                              <p:par>
                                <p:cTn id="48" presetID="18" presetClass="entr" presetSubtype="6" fill="hold" grpId="0" nodeType="afterEffect">
                                  <p:stCondLst>
                                    <p:cond delay="0"/>
                                  </p:stCondLst>
                                  <p:childTnLst>
                                    <p:set>
                                      <p:cBhvr>
                                        <p:cTn id="49" dur="1" fill="hold">
                                          <p:stCondLst>
                                            <p:cond delay="0"/>
                                          </p:stCondLst>
                                        </p:cTn>
                                        <p:tgtEl>
                                          <p:spTgt spid="1211470"/>
                                        </p:tgtEl>
                                        <p:attrNameLst>
                                          <p:attrName>style.visibility</p:attrName>
                                        </p:attrNameLst>
                                      </p:cBhvr>
                                      <p:to>
                                        <p:strVal val="visible"/>
                                      </p:to>
                                    </p:set>
                                    <p:animEffect transition="in" filter="strips(downRight)">
                                      <p:cBhvr>
                                        <p:cTn id="50" dur="500"/>
                                        <p:tgtEl>
                                          <p:spTgt spid="1211470"/>
                                        </p:tgtEl>
                                      </p:cBhvr>
                                    </p:animEffect>
                                  </p:childTnLst>
                                  <p:subTnLst>
                                    <p:audio>
                                      <p:cMediaNode>
                                        <p:cTn display="0" masterRel="sameClick">
                                          <p:stCondLst>
                                            <p:cond evt="begin" delay="0">
                                              <p:tn val="48"/>
                                            </p:cond>
                                          </p:stCondLst>
                                          <p:endCondLst>
                                            <p:cond evt="onStopAudio" delay="0">
                                              <p:tgtEl>
                                                <p:sldTgt/>
                                              </p:tgtEl>
                                            </p:cond>
                                          </p:endCondLst>
                                        </p:cTn>
                                        <p:tgtEl>
                                          <p:sndTgt r:embed="rId3" name="laser.wav"/>
                                        </p:tgtEl>
                                      </p:cMediaNode>
                                    </p:audio>
                                  </p:subTnLst>
                                </p:cTn>
                              </p:par>
                            </p:childTnLst>
                          </p:cTn>
                        </p:par>
                        <p:par>
                          <p:cTn id="51" fill="hold">
                            <p:stCondLst>
                              <p:cond delay="1000"/>
                            </p:stCondLst>
                            <p:childTnLst>
                              <p:par>
                                <p:cTn id="52" presetID="4" presetClass="entr" presetSubtype="32" fill="hold" grpId="0" nodeType="afterEffect">
                                  <p:stCondLst>
                                    <p:cond delay="0"/>
                                  </p:stCondLst>
                                  <p:childTnLst>
                                    <p:set>
                                      <p:cBhvr>
                                        <p:cTn id="53" dur="1" fill="hold">
                                          <p:stCondLst>
                                            <p:cond delay="0"/>
                                          </p:stCondLst>
                                        </p:cTn>
                                        <p:tgtEl>
                                          <p:spTgt spid="1211472"/>
                                        </p:tgtEl>
                                        <p:attrNameLst>
                                          <p:attrName>style.visibility</p:attrName>
                                        </p:attrNameLst>
                                      </p:cBhvr>
                                      <p:to>
                                        <p:strVal val="visible"/>
                                      </p:to>
                                    </p:set>
                                    <p:animEffect transition="in" filter="box(out)">
                                      <p:cBhvr>
                                        <p:cTn id="54" dur="500"/>
                                        <p:tgtEl>
                                          <p:spTgt spid="1211472"/>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1399" grpId="0" animBg="1"/>
      <p:bldP spid="1211460" grpId="0"/>
      <p:bldP spid="1211461" grpId="0"/>
      <p:bldP spid="1211470" grpId="0" animBg="1"/>
      <p:bldP spid="1211471" grpId="0" animBg="1"/>
      <p:bldP spid="121147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2421" name="Text Box 5"/>
          <p:cNvSpPr txBox="1">
            <a:spLocks noChangeArrowheads="1"/>
          </p:cNvSpPr>
          <p:nvPr/>
        </p:nvSpPr>
        <p:spPr bwMode="auto">
          <a:xfrm>
            <a:off x="1000247" y="883568"/>
            <a:ext cx="6911975" cy="457200"/>
          </a:xfrm>
          <a:prstGeom prst="rect">
            <a:avLst/>
          </a:prstGeom>
          <a:noFill/>
          <a:ln w="9525">
            <a:noFill/>
            <a:miter lim="800000"/>
            <a:headEnd/>
            <a:tailEnd/>
          </a:ln>
          <a:effectLst/>
        </p:spPr>
        <p:txBody>
          <a:bodyPr>
            <a:spAutoFit/>
          </a:bodyPr>
          <a:lstStyle>
            <a:defPPr>
              <a:defRPr lang="zh-CN"/>
            </a:defPPr>
            <a:lvl1pPr>
              <a:lnSpc>
                <a:spcPct val="100000"/>
              </a:lnSpc>
              <a:buFont typeface="Wingdings" pitchFamily="2" charset="2"/>
              <a:buChar char="Ø"/>
              <a:defRPr b="1">
                <a:solidFill>
                  <a:srgbClr val="C00000"/>
                </a:solidFill>
                <a:latin typeface="+mn-lt"/>
                <a:ea typeface="楷体" pitchFamily="49" charset="-122"/>
              </a:defRPr>
            </a:lvl1pPr>
          </a:lstStyle>
          <a:p>
            <a:r>
              <a:rPr lang="en-US" altLang="zh-CN" dirty="0"/>
              <a:t> </a:t>
            </a:r>
            <a:r>
              <a:rPr lang="zh-CN" altLang="en-US" dirty="0"/>
              <a:t>通过函数为指针变量分配内存 </a:t>
            </a:r>
          </a:p>
        </p:txBody>
      </p:sp>
      <p:sp>
        <p:nvSpPr>
          <p:cNvPr id="1212422" name="Rectangle 6"/>
          <p:cNvSpPr>
            <a:spLocks noChangeArrowheads="1"/>
          </p:cNvSpPr>
          <p:nvPr/>
        </p:nvSpPr>
        <p:spPr bwMode="auto">
          <a:xfrm>
            <a:off x="800885" y="1354563"/>
            <a:ext cx="6768827"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latin typeface="+mn-lt"/>
                <a:ea typeface="楷体" pitchFamily="49" charset="-122"/>
              </a:rPr>
              <a:t>        </a:t>
            </a:r>
            <a:r>
              <a:rPr lang="zh-CN" altLang="en-US" dirty="0">
                <a:latin typeface="+mn-lt"/>
                <a:ea typeface="楷体" pitchFamily="49" charset="-122"/>
              </a:rPr>
              <a:t>如果程序想通过函数为指针变量分配内存，则形参必须是一个指针的指针（即</a:t>
            </a:r>
            <a:r>
              <a:rPr lang="zh-CN" altLang="en-US" dirty="0">
                <a:solidFill>
                  <a:srgbClr val="C00000"/>
                </a:solidFill>
                <a:latin typeface="+mn-lt"/>
                <a:ea typeface="楷体" pitchFamily="49" charset="-122"/>
              </a:rPr>
              <a:t>二级指针</a:t>
            </a:r>
            <a:r>
              <a:rPr lang="zh-CN" altLang="en-US" dirty="0">
                <a:latin typeface="+mn-lt"/>
                <a:ea typeface="楷体" pitchFamily="49" charset="-122"/>
              </a:rPr>
              <a:t>）。 </a:t>
            </a:r>
          </a:p>
        </p:txBody>
      </p:sp>
      <p:sp>
        <p:nvSpPr>
          <p:cNvPr id="1212423" name="Rectangle 7" descr="信纸"/>
          <p:cNvSpPr>
            <a:spLocks noChangeArrowheads="1"/>
          </p:cNvSpPr>
          <p:nvPr/>
        </p:nvSpPr>
        <p:spPr bwMode="auto">
          <a:xfrm>
            <a:off x="1276126" y="2229825"/>
            <a:ext cx="5368214" cy="4401205"/>
          </a:xfrm>
          <a:prstGeom prst="rect">
            <a:avLst/>
          </a:prstGeom>
          <a:gradFill>
            <a:gsLst>
              <a:gs pos="0">
                <a:srgbClr val="CFCFD1"/>
              </a:gs>
              <a:gs pos="100000">
                <a:schemeClr val="bg1"/>
              </a:gs>
            </a:gsLst>
            <a:lin ang="54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solidFill>
                  <a:schemeClr val="accent1">
                    <a:lumMod val="50000"/>
                  </a:schemeClr>
                </a:solidFill>
              </a:rPr>
              <a:t>void </a:t>
            </a:r>
            <a:r>
              <a:rPr lang="en-US" altLang="zh-CN" sz="2000" dirty="0" err="1">
                <a:solidFill>
                  <a:schemeClr val="accent1">
                    <a:lumMod val="50000"/>
                  </a:schemeClr>
                </a:solidFill>
              </a:rPr>
              <a:t>getmen</a:t>
            </a:r>
            <a:r>
              <a:rPr lang="en-US" altLang="zh-CN" sz="2000" dirty="0">
                <a:solidFill>
                  <a:schemeClr val="accent1">
                    <a:lumMod val="50000"/>
                  </a:schemeClr>
                </a:solidFill>
              </a:rPr>
              <a:t> (</a:t>
            </a:r>
            <a:r>
              <a:rPr lang="en-US" altLang="zh-CN" sz="2000" dirty="0" err="1">
                <a:solidFill>
                  <a:schemeClr val="accent1">
                    <a:lumMod val="50000"/>
                  </a:schemeClr>
                </a:solidFill>
              </a:rPr>
              <a:t>int</a:t>
            </a:r>
            <a:r>
              <a:rPr lang="en-US" altLang="zh-CN" sz="2000" dirty="0">
                <a:solidFill>
                  <a:schemeClr val="accent1">
                    <a:lumMod val="50000"/>
                  </a:schemeClr>
                </a:solidFill>
              </a:rPr>
              <a:t> **p, </a:t>
            </a:r>
            <a:r>
              <a:rPr lang="en-US" altLang="zh-CN" sz="2000" dirty="0" err="1">
                <a:solidFill>
                  <a:schemeClr val="accent1">
                    <a:lumMod val="50000"/>
                  </a:schemeClr>
                </a:solidFill>
              </a:rPr>
              <a:t>int</a:t>
            </a:r>
            <a:r>
              <a:rPr lang="en-US" altLang="zh-CN" sz="2000" dirty="0">
                <a:solidFill>
                  <a:schemeClr val="accent1">
                    <a:lumMod val="50000"/>
                  </a:schemeClr>
                </a:solidFill>
              </a:rPr>
              <a:t> num)</a:t>
            </a:r>
          </a:p>
          <a:p>
            <a:r>
              <a:rPr lang="en-US" altLang="zh-CN" sz="2000" dirty="0"/>
              <a:t>{</a:t>
            </a:r>
          </a:p>
          <a:p>
            <a:r>
              <a:rPr lang="en-US" altLang="zh-CN" sz="2000" dirty="0"/>
              <a:t>  *p = (</a:t>
            </a:r>
            <a:r>
              <a:rPr lang="en-US" altLang="zh-CN" sz="2000" dirty="0" err="1"/>
              <a:t>int</a:t>
            </a:r>
            <a:r>
              <a:rPr lang="en-US" altLang="zh-CN" sz="2000" dirty="0"/>
              <a:t> *)</a:t>
            </a:r>
            <a:r>
              <a:rPr lang="en-US" altLang="zh-CN" sz="2000" dirty="0" err="1"/>
              <a:t>malloc</a:t>
            </a:r>
            <a:r>
              <a:rPr lang="en-US" altLang="zh-CN" sz="2000" dirty="0"/>
              <a:t>(num * </a:t>
            </a:r>
            <a:r>
              <a:rPr lang="en-US" altLang="zh-CN" sz="2000" dirty="0" err="1"/>
              <a:t>sizeof</a:t>
            </a:r>
            <a:r>
              <a:rPr lang="en-US" altLang="zh-CN" sz="2000" dirty="0"/>
              <a:t>(</a:t>
            </a:r>
            <a:r>
              <a:rPr lang="en-US" altLang="zh-CN" sz="2000" dirty="0" err="1"/>
              <a:t>int</a:t>
            </a:r>
            <a:r>
              <a:rPr lang="en-US" altLang="zh-CN" sz="2000" dirty="0"/>
              <a:t>));</a:t>
            </a:r>
          </a:p>
          <a:p>
            <a:r>
              <a:rPr lang="en-US" altLang="zh-CN" sz="2000" dirty="0"/>
              <a:t>  return;</a:t>
            </a:r>
          </a:p>
          <a:p>
            <a:r>
              <a:rPr lang="en-US" altLang="zh-CN" sz="2000" dirty="0"/>
              <a:t>}</a:t>
            </a:r>
          </a:p>
          <a:p>
            <a:endParaRPr lang="en-US" altLang="zh-CN" sz="2000" dirty="0"/>
          </a:p>
          <a:p>
            <a:r>
              <a:rPr lang="en-US" altLang="zh-CN" sz="2000" dirty="0">
                <a:solidFill>
                  <a:srgbClr val="CC0099"/>
                </a:solidFill>
              </a:rPr>
              <a:t>void main ( )</a:t>
            </a:r>
          </a:p>
          <a:p>
            <a:r>
              <a:rPr lang="en-US" altLang="zh-CN" sz="2000" dirty="0"/>
              <a:t>{</a:t>
            </a:r>
          </a:p>
          <a:p>
            <a:r>
              <a:rPr lang="en-US" altLang="zh-CN" sz="2000" dirty="0"/>
              <a:t>  </a:t>
            </a:r>
            <a:r>
              <a:rPr lang="en-US" altLang="zh-CN" sz="2000" dirty="0" err="1"/>
              <a:t>int</a:t>
            </a:r>
            <a:r>
              <a:rPr lang="en-US" altLang="zh-CN" sz="2000" dirty="0"/>
              <a:t> *pint, k;</a:t>
            </a:r>
          </a:p>
          <a:p>
            <a:r>
              <a:rPr lang="en-US" altLang="zh-CN" sz="2000" dirty="0"/>
              <a:t>  </a:t>
            </a:r>
            <a:r>
              <a:rPr lang="en-US" altLang="zh-CN" sz="2000" dirty="0" err="1"/>
              <a:t>getmen</a:t>
            </a:r>
            <a:r>
              <a:rPr lang="en-US" altLang="zh-CN" sz="2000" dirty="0"/>
              <a:t> (&amp;pint, 10);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执行后</a:t>
            </a:r>
            <a:r>
              <a:rPr lang="en-US" altLang="zh-CN" sz="1800" dirty="0">
                <a:solidFill>
                  <a:srgbClr val="002060"/>
                </a:solidFill>
                <a:latin typeface="+mn-lt"/>
                <a:ea typeface="楷体" pitchFamily="49" charset="-122"/>
              </a:rPr>
              <a:t>,pint</a:t>
            </a:r>
            <a:r>
              <a:rPr lang="zh-CN" altLang="en-US" sz="1800" dirty="0">
                <a:solidFill>
                  <a:srgbClr val="002060"/>
                </a:solidFill>
                <a:latin typeface="+mn-lt"/>
                <a:ea typeface="楷体" pitchFamily="49" charset="-122"/>
              </a:rPr>
              <a:t>的值会变化</a:t>
            </a:r>
          </a:p>
          <a:p>
            <a:r>
              <a:rPr lang="zh-CN" altLang="en-US" sz="2000" dirty="0"/>
              <a:t>  </a:t>
            </a:r>
            <a:r>
              <a:rPr lang="en-US" altLang="zh-CN" sz="2000" dirty="0"/>
              <a:t>for (k = 0; k &lt; 10; k++)</a:t>
            </a:r>
          </a:p>
          <a:p>
            <a:r>
              <a:rPr lang="en-US" altLang="zh-CN" sz="2000" dirty="0"/>
              <a:t>      pint[k] = k;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操作正确</a:t>
            </a:r>
          </a:p>
          <a:p>
            <a:r>
              <a:rPr lang="zh-CN" altLang="en-US" sz="2000" dirty="0"/>
              <a:t>  </a:t>
            </a:r>
            <a:r>
              <a:rPr lang="en-US" altLang="zh-CN" sz="2000" dirty="0"/>
              <a:t>…… </a:t>
            </a:r>
          </a:p>
          <a:p>
            <a:r>
              <a:rPr lang="en-US" altLang="zh-CN" sz="2000" dirty="0"/>
              <a:t>} </a:t>
            </a:r>
          </a:p>
        </p:txBody>
      </p:sp>
      <p:grpSp>
        <p:nvGrpSpPr>
          <p:cNvPr id="1212424" name="Group 8"/>
          <p:cNvGrpSpPr>
            <a:grpSpLocks/>
          </p:cNvGrpSpPr>
          <p:nvPr/>
        </p:nvGrpSpPr>
        <p:grpSpPr bwMode="auto">
          <a:xfrm>
            <a:off x="7799759" y="1628776"/>
            <a:ext cx="2636837" cy="4625975"/>
            <a:chOff x="2879" y="554"/>
            <a:chExt cx="1661" cy="2914"/>
          </a:xfrm>
        </p:grpSpPr>
        <p:grpSp>
          <p:nvGrpSpPr>
            <p:cNvPr id="1212425" name="Group 9"/>
            <p:cNvGrpSpPr>
              <a:grpSpLocks/>
            </p:cNvGrpSpPr>
            <p:nvPr/>
          </p:nvGrpSpPr>
          <p:grpSpPr bwMode="auto">
            <a:xfrm>
              <a:off x="2879" y="554"/>
              <a:ext cx="1661" cy="2914"/>
              <a:chOff x="3144" y="806"/>
              <a:chExt cx="1661" cy="2914"/>
            </a:xfrm>
          </p:grpSpPr>
          <p:sp>
            <p:nvSpPr>
              <p:cNvPr id="1212426" name="Freeform 10"/>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12428" name="Rectangle 12"/>
              <p:cNvSpPr>
                <a:spLocks noChangeArrowheads="1"/>
              </p:cNvSpPr>
              <p:nvPr/>
            </p:nvSpPr>
            <p:spPr bwMode="auto">
              <a:xfrm>
                <a:off x="3582" y="806"/>
                <a:ext cx="1211" cy="2212"/>
              </a:xfrm>
              <a:prstGeom prst="rect">
                <a:avLst/>
              </a:prstGeom>
              <a:solidFill>
                <a:srgbClr val="DDFAE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12429" name="Line 13"/>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2430" name="Line 14"/>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12431" name="Line 15"/>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2432" name="Line 16"/>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2433" name="Line 17"/>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2434" name="Line 18"/>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2435" name="Line 19"/>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12436" name="Line 20"/>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12437" name="Text Box 21"/>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212438" name="Line 22"/>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2439" name="Text Box 23"/>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12440" name="Text Box 24"/>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12441" name="Text Box 25"/>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12442" name="Text Box 26"/>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12443" name="Text Box 27"/>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12444" name="Text Box 28"/>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212445" name="Group 29"/>
              <p:cNvGrpSpPr>
                <a:grpSpLocks/>
              </p:cNvGrpSpPr>
              <p:nvPr/>
            </p:nvGrpSpPr>
            <p:grpSpPr bwMode="auto">
              <a:xfrm>
                <a:off x="3597" y="1380"/>
                <a:ext cx="60" cy="1548"/>
                <a:chOff x="3960" y="1560"/>
                <a:chExt cx="60" cy="1548"/>
              </a:xfrm>
            </p:grpSpPr>
            <p:sp>
              <p:nvSpPr>
                <p:cNvPr id="1212446" name="Line 30"/>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47" name="Line 31"/>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48" name="Line 32"/>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49" name="Line 33"/>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0" name="Line 34"/>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1" name="Line 35"/>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2" name="Line 36"/>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12453" name="Group 37"/>
              <p:cNvGrpSpPr>
                <a:grpSpLocks/>
              </p:cNvGrpSpPr>
              <p:nvPr/>
            </p:nvGrpSpPr>
            <p:grpSpPr bwMode="auto">
              <a:xfrm>
                <a:off x="4725" y="1368"/>
                <a:ext cx="60" cy="1548"/>
                <a:chOff x="3960" y="1560"/>
                <a:chExt cx="60" cy="1548"/>
              </a:xfrm>
            </p:grpSpPr>
            <p:sp>
              <p:nvSpPr>
                <p:cNvPr id="1212454" name="Line 38"/>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5" name="Line 39"/>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6" name="Line 40"/>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7" name="Line 41"/>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8" name="Line 42"/>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9" name="Line 43"/>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60" name="Line 44"/>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12461" name="Line 45"/>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62" name="Line 46"/>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2463" name="Line 47"/>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64" name="Text Box 48"/>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12465" name="Text Box 49"/>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12466" name="Text Box 50"/>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12427" name="Freeform 11"/>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FAE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212467" name="Text Box 51"/>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grpSp>
        <p:nvGrpSpPr>
          <p:cNvPr id="1212468" name="Group 52"/>
          <p:cNvGrpSpPr>
            <a:grpSpLocks/>
          </p:cNvGrpSpPr>
          <p:nvPr/>
        </p:nvGrpSpPr>
        <p:grpSpPr bwMode="auto">
          <a:xfrm>
            <a:off x="9020548" y="1912939"/>
            <a:ext cx="2332038" cy="1041401"/>
            <a:chOff x="4158" y="1205"/>
            <a:chExt cx="1469" cy="656"/>
          </a:xfrm>
        </p:grpSpPr>
        <p:grpSp>
          <p:nvGrpSpPr>
            <p:cNvPr id="1212469" name="Group 53"/>
            <p:cNvGrpSpPr>
              <a:grpSpLocks/>
            </p:cNvGrpSpPr>
            <p:nvPr/>
          </p:nvGrpSpPr>
          <p:grpSpPr bwMode="auto">
            <a:xfrm>
              <a:off x="5054" y="1308"/>
              <a:ext cx="573" cy="250"/>
              <a:chOff x="5054" y="1308"/>
              <a:chExt cx="573" cy="250"/>
            </a:xfrm>
          </p:grpSpPr>
          <p:sp>
            <p:nvSpPr>
              <p:cNvPr id="1212470" name="Line 54"/>
              <p:cNvSpPr>
                <a:spLocks noChangeShapeType="1"/>
              </p:cNvSpPr>
              <p:nvPr/>
            </p:nvSpPr>
            <p:spPr bwMode="auto">
              <a:xfrm flipH="1">
                <a:off x="5054" y="1476"/>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2471" name="Text Box 55"/>
              <p:cNvSpPr txBox="1">
                <a:spLocks noChangeArrowheads="1"/>
              </p:cNvSpPr>
              <p:nvPr/>
            </p:nvSpPr>
            <p:spPr bwMode="auto">
              <a:xfrm>
                <a:off x="5236" y="1308"/>
                <a:ext cx="391"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pint</a:t>
                </a:r>
              </a:p>
            </p:txBody>
          </p:sp>
        </p:grpSp>
        <p:grpSp>
          <p:nvGrpSpPr>
            <p:cNvPr id="1212472" name="Group 56"/>
            <p:cNvGrpSpPr>
              <a:grpSpLocks/>
            </p:cNvGrpSpPr>
            <p:nvPr/>
          </p:nvGrpSpPr>
          <p:grpSpPr bwMode="auto">
            <a:xfrm>
              <a:off x="5054" y="1611"/>
              <a:ext cx="382" cy="250"/>
              <a:chOff x="4426" y="1917"/>
              <a:chExt cx="382" cy="250"/>
            </a:xfrm>
          </p:grpSpPr>
          <p:sp>
            <p:nvSpPr>
              <p:cNvPr id="1212473" name="Line 57"/>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2474" name="Text Box 58"/>
              <p:cNvSpPr txBox="1">
                <a:spLocks noChangeArrowheads="1"/>
              </p:cNvSpPr>
              <p:nvPr/>
            </p:nvSpPr>
            <p:spPr bwMode="auto">
              <a:xfrm>
                <a:off x="4523" y="1917"/>
                <a:ext cx="28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  k</a:t>
                </a:r>
              </a:p>
            </p:txBody>
          </p:sp>
        </p:grpSp>
        <p:sp>
          <p:nvSpPr>
            <p:cNvPr id="1212475" name="Text Box 59"/>
            <p:cNvSpPr txBox="1">
              <a:spLocks noChangeArrowheads="1"/>
            </p:cNvSpPr>
            <p:nvPr/>
          </p:nvSpPr>
          <p:spPr bwMode="auto">
            <a:xfrm>
              <a:off x="4158" y="1205"/>
              <a:ext cx="57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1" dirty="0">
                  <a:solidFill>
                    <a:srgbClr val="CF0D9E"/>
                  </a:solidFill>
                </a:rPr>
                <a:t>(main)</a:t>
              </a:r>
            </a:p>
          </p:txBody>
        </p:sp>
      </p:grpSp>
      <p:sp>
        <p:nvSpPr>
          <p:cNvPr id="1212484" name="Text Box 68"/>
          <p:cNvSpPr txBox="1">
            <a:spLocks noChangeArrowheads="1"/>
          </p:cNvSpPr>
          <p:nvPr/>
        </p:nvSpPr>
        <p:spPr bwMode="auto">
          <a:xfrm>
            <a:off x="9120558" y="2351088"/>
            <a:ext cx="792162" cy="40011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a:solidFill>
                  <a:srgbClr val="C00000"/>
                </a:solidFill>
              </a:rPr>
              <a:t>2010</a:t>
            </a:r>
          </a:p>
        </p:txBody>
      </p:sp>
      <p:grpSp>
        <p:nvGrpSpPr>
          <p:cNvPr id="1212486" name="Group 70"/>
          <p:cNvGrpSpPr>
            <a:grpSpLocks/>
          </p:cNvGrpSpPr>
          <p:nvPr/>
        </p:nvGrpSpPr>
        <p:grpSpPr bwMode="auto">
          <a:xfrm>
            <a:off x="7783883" y="2516188"/>
            <a:ext cx="1295400" cy="1992312"/>
            <a:chOff x="3379" y="2323"/>
            <a:chExt cx="816" cy="545"/>
          </a:xfrm>
        </p:grpSpPr>
        <p:sp>
          <p:nvSpPr>
            <p:cNvPr id="1212487" name="Line 71"/>
            <p:cNvSpPr>
              <a:spLocks noChangeShapeType="1"/>
            </p:cNvSpPr>
            <p:nvPr/>
          </p:nvSpPr>
          <p:spPr bwMode="auto">
            <a:xfrm flipH="1">
              <a:off x="3379" y="2326"/>
              <a:ext cx="816" cy="0"/>
            </a:xfrm>
            <a:prstGeom prst="line">
              <a:avLst/>
            </a:prstGeom>
            <a:noFill/>
            <a:ln w="28575">
              <a:solidFill>
                <a:srgbClr val="C00000"/>
              </a:solidFill>
              <a:round/>
              <a:headEnd/>
              <a:tailEnd/>
            </a:ln>
            <a:effectLst/>
          </p:spPr>
          <p:txBody>
            <a:bodyPr/>
            <a:lstStyle/>
            <a:p>
              <a:endParaRPr lang="zh-CN" altLang="en-US"/>
            </a:p>
          </p:txBody>
        </p:sp>
        <p:sp>
          <p:nvSpPr>
            <p:cNvPr id="1212488" name="Line 72"/>
            <p:cNvSpPr>
              <a:spLocks noChangeShapeType="1"/>
            </p:cNvSpPr>
            <p:nvPr/>
          </p:nvSpPr>
          <p:spPr bwMode="auto">
            <a:xfrm>
              <a:off x="3387" y="2865"/>
              <a:ext cx="408" cy="0"/>
            </a:xfrm>
            <a:prstGeom prst="line">
              <a:avLst/>
            </a:prstGeom>
            <a:noFill/>
            <a:ln w="28575">
              <a:solidFill>
                <a:srgbClr val="C00000"/>
              </a:solidFill>
              <a:round/>
              <a:headEnd/>
              <a:tailEnd type="stealth" w="lg" len="lg"/>
            </a:ln>
            <a:effectLst/>
          </p:spPr>
          <p:txBody>
            <a:bodyPr/>
            <a:lstStyle/>
            <a:p>
              <a:endParaRPr lang="zh-CN" altLang="en-US"/>
            </a:p>
          </p:txBody>
        </p:sp>
        <p:sp>
          <p:nvSpPr>
            <p:cNvPr id="1212489" name="Line 73"/>
            <p:cNvSpPr>
              <a:spLocks noChangeShapeType="1"/>
            </p:cNvSpPr>
            <p:nvPr/>
          </p:nvSpPr>
          <p:spPr bwMode="auto">
            <a:xfrm>
              <a:off x="3379" y="2323"/>
              <a:ext cx="0" cy="545"/>
            </a:xfrm>
            <a:prstGeom prst="line">
              <a:avLst/>
            </a:prstGeom>
            <a:noFill/>
            <a:ln w="28575">
              <a:solidFill>
                <a:srgbClr val="C00000"/>
              </a:solidFill>
              <a:round/>
              <a:headEnd/>
              <a:tailEnd/>
            </a:ln>
            <a:effectLst/>
          </p:spPr>
          <p:txBody>
            <a:bodyPr/>
            <a:lstStyle/>
            <a:p>
              <a:endParaRPr lang="zh-CN" altLang="en-US"/>
            </a:p>
          </p:txBody>
        </p:sp>
      </p:grpSp>
      <p:sp>
        <p:nvSpPr>
          <p:cNvPr id="1212495" name="Text Box 79"/>
          <p:cNvSpPr txBox="1">
            <a:spLocks noChangeArrowheads="1"/>
          </p:cNvSpPr>
          <p:nvPr/>
        </p:nvSpPr>
        <p:spPr bwMode="auto">
          <a:xfrm>
            <a:off x="9120336" y="2349500"/>
            <a:ext cx="792162" cy="400110"/>
          </a:xfrm>
          <a:prstGeom prst="rect">
            <a:avLst/>
          </a:prstGeom>
          <a:solidFill>
            <a:srgbClr val="DDFAED"/>
          </a:solidFill>
          <a:ln w="9525" algn="ctr">
            <a:noFill/>
            <a:miter lim="800000"/>
            <a:headEnd/>
            <a:tailEnd/>
          </a:ln>
          <a:effectLst/>
        </p:spPr>
        <p:txBody>
          <a:bodyPr>
            <a:spAutoFit/>
          </a:bodyPr>
          <a:lstStyle/>
          <a:p>
            <a:pPr marL="342900" indent="-342900">
              <a:spcBef>
                <a:spcPct val="50000"/>
              </a:spcBef>
            </a:pPr>
            <a:r>
              <a:rPr lang="en-US" altLang="zh-CN" sz="2000" b="1">
                <a:solidFill>
                  <a:srgbClr val="002060"/>
                </a:solidFill>
              </a:rPr>
              <a:t>200A</a:t>
            </a:r>
          </a:p>
        </p:txBody>
      </p:sp>
      <p:sp>
        <p:nvSpPr>
          <p:cNvPr id="1212496" name="AutoShape 80"/>
          <p:cNvSpPr>
            <a:spLocks noChangeArrowheads="1"/>
          </p:cNvSpPr>
          <p:nvPr/>
        </p:nvSpPr>
        <p:spPr bwMode="auto">
          <a:xfrm>
            <a:off x="4701754" y="3384551"/>
            <a:ext cx="1871662" cy="1081088"/>
          </a:xfrm>
          <a:prstGeom prst="irregularSeal1">
            <a:avLst/>
          </a:prstGeom>
          <a:gradFill rotWithShape="1">
            <a:gsLst>
              <a:gs pos="0">
                <a:srgbClr val="CFCFD1"/>
              </a:gs>
              <a:gs pos="100000">
                <a:schemeClr val="bg1"/>
              </a:gs>
            </a:gsLst>
            <a:lin ang="5400000" scaled="1"/>
          </a:gradFill>
          <a:ln w="38100" algn="ctr">
            <a:solidFill>
              <a:srgbClr val="C00000"/>
            </a:solidFill>
            <a:miter lim="800000"/>
            <a:headEnd/>
            <a:tailEnd/>
          </a:ln>
          <a:effectLst>
            <a:outerShdw blurRad="50800" dist="106680" dir="2700000" algn="tl" rotWithShape="0">
              <a:prstClr val="black">
                <a:alpha val="43000"/>
              </a:prstClr>
            </a:outerShdw>
          </a:effectLst>
        </p:spPr>
        <p:txBody>
          <a:bodyPr wrap="none" anchor="ctr"/>
          <a:lstStyle/>
          <a:p>
            <a:pPr marL="342900" indent="-342900" algn="ctr"/>
            <a:r>
              <a:rPr lang="zh-CN" altLang="en-US" b="1" dirty="0">
                <a:solidFill>
                  <a:srgbClr val="C00000"/>
                </a:solidFill>
                <a:latin typeface="楷体" pitchFamily="49" charset="-122"/>
                <a:ea typeface="楷体" pitchFamily="49" charset="-122"/>
              </a:rPr>
              <a:t>正确！</a:t>
            </a:r>
          </a:p>
        </p:txBody>
      </p:sp>
      <p:sp>
        <p:nvSpPr>
          <p:cNvPr id="67" name="Rectangle 4">
            <a:extLst>
              <a:ext uri="{FF2B5EF4-FFF2-40B4-BE49-F238E27FC236}">
                <a16:creationId xmlns:a16="http://schemas.microsoft.com/office/drawing/2014/main" id="{64CAEFAC-B4D3-426D-A964-C62A5C79A2A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9.8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指针作为函数的参数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12496"/>
                                        </p:tgtEl>
                                        <p:attrNameLst>
                                          <p:attrName>style.visibility</p:attrName>
                                        </p:attrNameLst>
                                      </p:cBhvr>
                                      <p:to>
                                        <p:strVal val="visible"/>
                                      </p:to>
                                    </p:set>
                                    <p:animEffect transition="in" filter="box(out)">
                                      <p:cBhvr>
                                        <p:cTn id="7" dur="500"/>
                                        <p:tgtEl>
                                          <p:spTgt spid="1212496"/>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249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766886" y="2867973"/>
            <a:ext cx="5545137" cy="3727450"/>
            <a:chOff x="611188" y="2962275"/>
            <a:chExt cx="5545137" cy="3727450"/>
          </a:xfrm>
        </p:grpSpPr>
        <p:sp>
          <p:nvSpPr>
            <p:cNvPr id="1213512" name="Rectangle 72" descr="信纸"/>
            <p:cNvSpPr>
              <a:spLocks noChangeArrowheads="1"/>
            </p:cNvSpPr>
            <p:nvPr/>
          </p:nvSpPr>
          <p:spPr bwMode="auto">
            <a:xfrm>
              <a:off x="611188" y="2962275"/>
              <a:ext cx="5545137" cy="3727450"/>
            </a:xfrm>
            <a:prstGeom prst="rect">
              <a:avLst/>
            </a:prstGeom>
            <a:gradFill>
              <a:gsLst>
                <a:gs pos="0">
                  <a:srgbClr val="CFCFD1"/>
                </a:gs>
                <a:gs pos="100000">
                  <a:schemeClr val="bg1">
                    <a:lumMod val="95000"/>
                  </a:schemeClr>
                </a:gs>
              </a:gsLst>
              <a:lin ang="135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spAutoFit/>
            </a:bodyPr>
            <a:lstStyle/>
            <a:p>
              <a:pPr marL="342900" indent="-342900"/>
              <a:r>
                <a:rPr lang="en-US" altLang="zh-CN" sz="2000" dirty="0">
                  <a:solidFill>
                    <a:srgbClr val="CC0099"/>
                  </a:solidFill>
                </a:rPr>
                <a:t>char *</a:t>
              </a:r>
              <a:r>
                <a:rPr lang="en-US" altLang="zh-CN" sz="2000" dirty="0" err="1">
                  <a:solidFill>
                    <a:srgbClr val="CC0099"/>
                  </a:solidFill>
                </a:rPr>
                <a:t>alltrim</a:t>
              </a:r>
              <a:r>
                <a:rPr lang="en-US" altLang="zh-CN" sz="2000" dirty="0">
                  <a:solidFill>
                    <a:srgbClr val="CC0099"/>
                  </a:solidFill>
                </a:rPr>
                <a:t> (char *</a:t>
              </a:r>
              <a:r>
                <a:rPr lang="en-US" altLang="zh-CN" sz="2000" dirty="0" err="1">
                  <a:solidFill>
                    <a:srgbClr val="CC0099"/>
                  </a:solidFill>
                </a:rPr>
                <a:t>str</a:t>
              </a:r>
              <a:r>
                <a:rPr lang="en-US" altLang="zh-CN" sz="2000" dirty="0">
                  <a:solidFill>
                    <a:srgbClr val="CC0099"/>
                  </a:solidFill>
                </a:rPr>
                <a:t>)</a:t>
              </a:r>
            </a:p>
            <a:p>
              <a:pPr marL="342900" indent="-342900"/>
              <a:r>
                <a:rPr lang="en-US" altLang="zh-CN" sz="2000" dirty="0"/>
                <a:t>{</a:t>
              </a:r>
            </a:p>
            <a:p>
              <a:pPr marL="342900" indent="-342900"/>
              <a:r>
                <a:rPr lang="en-US" altLang="zh-CN" sz="2000" dirty="0"/>
                <a:t>   char *p, *</a:t>
              </a:r>
              <a:r>
                <a:rPr lang="en-US" altLang="zh-CN" sz="2000" dirty="0" err="1"/>
                <a:t>pstart</a:t>
              </a:r>
              <a:r>
                <a:rPr lang="en-US" altLang="zh-CN" sz="2000" dirty="0"/>
                <a:t>, *</a:t>
              </a:r>
              <a:r>
                <a:rPr lang="en-US" altLang="zh-CN" sz="2000" dirty="0" err="1"/>
                <a:t>pend</a:t>
              </a:r>
              <a:r>
                <a:rPr lang="en-US" altLang="zh-CN" sz="2000" dirty="0"/>
                <a:t>;</a:t>
              </a:r>
            </a:p>
            <a:p>
              <a:pPr marL="342900" indent="-342900"/>
              <a:r>
                <a:rPr lang="en-US" altLang="zh-CN" sz="2000" dirty="0"/>
                <a:t>    </a:t>
              </a:r>
              <a:r>
                <a:rPr lang="en-US" altLang="zh-CN" sz="2000" dirty="0" err="1"/>
                <a:t>int</a:t>
              </a:r>
              <a:r>
                <a:rPr lang="en-US" altLang="zh-CN" sz="2000" dirty="0"/>
                <a:t> </a:t>
              </a:r>
              <a:r>
                <a:rPr lang="en-US" altLang="zh-CN" sz="2000" dirty="0" err="1"/>
                <a:t>i</a:t>
              </a:r>
              <a:r>
                <a:rPr lang="en-US" altLang="zh-CN" sz="2000" dirty="0"/>
                <a:t>, size;</a:t>
              </a:r>
            </a:p>
            <a:p>
              <a:pPr marL="342900" indent="-342900"/>
              <a:r>
                <a:rPr lang="en-US" altLang="zh-CN" sz="1800" dirty="0">
                  <a:solidFill>
                    <a:schemeClr val="accent2"/>
                  </a:solidFill>
                  <a:latin typeface="+mn-lt"/>
                  <a:ea typeface="楷体" pitchFamily="49" charset="-122"/>
                </a:rPr>
                <a:t>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将</a:t>
              </a:r>
              <a:r>
                <a:rPr lang="en-US" altLang="zh-CN" sz="1800" dirty="0" err="1">
                  <a:solidFill>
                    <a:srgbClr val="002060"/>
                  </a:solidFill>
                  <a:latin typeface="+mn-lt"/>
                  <a:ea typeface="楷体" pitchFamily="49" charset="-122"/>
                </a:rPr>
                <a:t>pstart</a:t>
              </a:r>
              <a:r>
                <a:rPr lang="zh-CN" altLang="en-US" sz="1800" dirty="0">
                  <a:solidFill>
                    <a:srgbClr val="002060"/>
                  </a:solidFill>
                  <a:latin typeface="+mn-lt"/>
                  <a:ea typeface="楷体" pitchFamily="49" charset="-122"/>
                </a:rPr>
                <a:t>指向左边第一个非空格字符的位置</a:t>
              </a:r>
            </a:p>
            <a:p>
              <a:pPr marL="342900" indent="-342900"/>
              <a:r>
                <a:rPr lang="zh-CN" altLang="en-US" sz="2000" dirty="0"/>
                <a:t>    </a:t>
              </a:r>
              <a:r>
                <a:rPr lang="en-US" altLang="zh-CN" sz="2000" dirty="0" err="1"/>
                <a:t>pstart</a:t>
              </a:r>
              <a:r>
                <a:rPr lang="en-US" altLang="zh-CN" sz="2000" dirty="0"/>
                <a:t> = </a:t>
              </a:r>
              <a:r>
                <a:rPr lang="en-US" altLang="zh-CN" sz="2000" dirty="0" err="1"/>
                <a:t>str</a:t>
              </a:r>
              <a:r>
                <a:rPr lang="en-US" altLang="zh-CN" sz="2000" dirty="0"/>
                <a:t>;   </a:t>
              </a:r>
            </a:p>
            <a:p>
              <a:pPr marL="342900" indent="-342900"/>
              <a:r>
                <a:rPr lang="en-US" altLang="zh-CN" sz="2000" dirty="0"/>
                <a:t>    while (*</a:t>
              </a:r>
              <a:r>
                <a:rPr lang="en-US" altLang="zh-CN" sz="2000" dirty="0" err="1"/>
                <a:t>pstart</a:t>
              </a:r>
              <a:r>
                <a:rPr lang="en-US" altLang="zh-CN" sz="2000" dirty="0"/>
                <a:t> == ' ')</a:t>
              </a:r>
            </a:p>
            <a:p>
              <a:pPr marL="342900" indent="-342900"/>
              <a:r>
                <a:rPr lang="en-US" altLang="zh-CN" sz="2000" dirty="0"/>
                <a:t>         </a:t>
              </a:r>
              <a:r>
                <a:rPr lang="en-US" altLang="zh-CN" sz="2000" dirty="0" err="1"/>
                <a:t>pstart</a:t>
              </a:r>
              <a:r>
                <a:rPr lang="en-US" altLang="zh-CN" sz="2000" dirty="0"/>
                <a:t>++;</a:t>
              </a:r>
            </a:p>
            <a:p>
              <a:pPr marL="342900" indent="-342900"/>
              <a:r>
                <a:rPr lang="en-US" altLang="zh-CN" sz="2000" dirty="0"/>
                <a:t>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将</a:t>
              </a:r>
              <a:r>
                <a:rPr lang="en-US" altLang="zh-CN" sz="1800" dirty="0" err="1">
                  <a:solidFill>
                    <a:srgbClr val="002060"/>
                  </a:solidFill>
                  <a:latin typeface="+mn-lt"/>
                  <a:ea typeface="楷体" pitchFamily="49" charset="-122"/>
                </a:rPr>
                <a:t>pend</a:t>
              </a:r>
              <a:r>
                <a:rPr lang="zh-CN" altLang="en-US" sz="1800" dirty="0">
                  <a:solidFill>
                    <a:srgbClr val="002060"/>
                  </a:solidFill>
                  <a:latin typeface="+mn-lt"/>
                  <a:ea typeface="楷体" pitchFamily="49" charset="-122"/>
                </a:rPr>
                <a:t>指向右边第一个非空格字符的位置</a:t>
              </a:r>
            </a:p>
            <a:p>
              <a:pPr marL="342900" indent="-342900"/>
              <a:r>
                <a:rPr lang="zh-CN" altLang="en-US" sz="2000" dirty="0"/>
                <a:t>    </a:t>
              </a:r>
              <a:r>
                <a:rPr lang="en-US" altLang="zh-CN" sz="2000" dirty="0" err="1"/>
                <a:t>pend</a:t>
              </a:r>
              <a:r>
                <a:rPr lang="en-US" altLang="zh-CN" sz="2000" dirty="0"/>
                <a:t> = </a:t>
              </a:r>
              <a:r>
                <a:rPr lang="en-US" altLang="zh-CN" sz="2000" dirty="0" err="1"/>
                <a:t>pstart</a:t>
              </a:r>
              <a:r>
                <a:rPr lang="en-US" altLang="zh-CN" sz="2000" dirty="0"/>
                <a:t> + </a:t>
              </a:r>
              <a:r>
                <a:rPr lang="en-US" altLang="zh-CN" sz="2000" dirty="0" err="1"/>
                <a:t>strlen</a:t>
              </a:r>
              <a:r>
                <a:rPr lang="en-US" altLang="zh-CN" sz="2000" dirty="0"/>
                <a:t>(</a:t>
              </a:r>
              <a:r>
                <a:rPr lang="en-US" altLang="zh-CN" sz="2000" dirty="0" err="1"/>
                <a:t>pstart</a:t>
              </a:r>
              <a:r>
                <a:rPr lang="en-US" altLang="zh-CN" sz="2000" dirty="0"/>
                <a:t>) - 1;  </a:t>
              </a:r>
            </a:p>
            <a:p>
              <a:pPr marL="342900" indent="-342900"/>
              <a:r>
                <a:rPr lang="en-US" altLang="zh-CN" sz="2000" dirty="0"/>
                <a:t>    while (</a:t>
              </a:r>
              <a:r>
                <a:rPr lang="en-US" altLang="zh-CN" sz="2000" dirty="0" err="1"/>
                <a:t>pend</a:t>
              </a:r>
              <a:r>
                <a:rPr lang="en-US" altLang="zh-CN" sz="2000" dirty="0"/>
                <a:t> &gt; </a:t>
              </a:r>
              <a:r>
                <a:rPr lang="en-US" altLang="zh-CN" sz="2000" dirty="0" err="1"/>
                <a:t>pstart</a:t>
              </a:r>
              <a:r>
                <a:rPr lang="en-US" altLang="zh-CN" sz="2000" dirty="0"/>
                <a:t> &amp;&amp; *</a:t>
              </a:r>
              <a:r>
                <a:rPr lang="en-US" altLang="zh-CN" sz="2000" dirty="0" err="1"/>
                <a:t>pend</a:t>
              </a:r>
              <a:r>
                <a:rPr lang="en-US" altLang="zh-CN" sz="2000" dirty="0"/>
                <a:t> == ' ')</a:t>
              </a:r>
            </a:p>
            <a:p>
              <a:pPr marL="342900" indent="-342900"/>
              <a:r>
                <a:rPr lang="en-US" altLang="zh-CN" sz="2000" dirty="0"/>
                <a:t>         </a:t>
              </a:r>
              <a:r>
                <a:rPr lang="en-US" altLang="zh-CN" sz="2000" dirty="0" err="1"/>
                <a:t>pend</a:t>
              </a:r>
              <a:r>
                <a:rPr lang="en-US" altLang="zh-CN" sz="2000" dirty="0"/>
                <a:t>--;</a:t>
              </a:r>
            </a:p>
          </p:txBody>
        </p:sp>
        <p:sp>
          <p:nvSpPr>
            <p:cNvPr id="12" name="TextBox 11"/>
            <p:cNvSpPr txBox="1"/>
            <p:nvPr/>
          </p:nvSpPr>
          <p:spPr>
            <a:xfrm>
              <a:off x="4139952" y="3074697"/>
              <a:ext cx="1872208" cy="584775"/>
            </a:xfrm>
            <a:prstGeom prst="rect">
              <a:avLst/>
            </a:prstGeom>
            <a:gradFill flip="none" rotWithShape="1">
              <a:gsLst>
                <a:gs pos="0">
                  <a:srgbClr val="CFCFD1"/>
                </a:gs>
                <a:gs pos="100000">
                  <a:schemeClr val="bg1">
                    <a:lumMod val="95000"/>
                  </a:schemeClr>
                </a:gs>
              </a:gsLst>
              <a:lin ang="13500000" scaled="1"/>
              <a:tileRect/>
            </a:gradFill>
            <a:ln w="25400">
              <a:solidFill>
                <a:srgbClr val="C0192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hardEdge"/>
              <a:contourClr>
                <a:srgbClr val="FFFFFF"/>
              </a:contourClr>
            </a:sp3d>
          </p:spPr>
          <p:txBody>
            <a:bodyPr wrap="square" rtlCol="0">
              <a:spAutoFit/>
            </a:bodyPr>
            <a:lstStyle/>
            <a:p>
              <a:r>
                <a:rPr lang="zh-CN" altLang="en-US" sz="1600" dirty="0">
                  <a:solidFill>
                    <a:srgbClr val="C00000"/>
                  </a:solidFill>
                  <a:latin typeface="隶书" pitchFamily="49" charset="-122"/>
                  <a:ea typeface="隶书" pitchFamily="49" charset="-122"/>
                </a:rPr>
                <a:t>方法一：返回动态内存分配的首地址</a:t>
              </a:r>
            </a:p>
          </p:txBody>
        </p:sp>
      </p:grpSp>
      <p:sp>
        <p:nvSpPr>
          <p:cNvPr id="1213513" name="Rectangle 73" descr="信纸"/>
          <p:cNvSpPr>
            <a:spLocks noChangeArrowheads="1"/>
          </p:cNvSpPr>
          <p:nvPr/>
        </p:nvSpPr>
        <p:spPr bwMode="auto">
          <a:xfrm>
            <a:off x="6528048" y="3152259"/>
            <a:ext cx="5328592" cy="3108543"/>
          </a:xfrm>
          <a:prstGeom prst="rect">
            <a:avLst/>
          </a:prstGeom>
          <a:gradFill>
            <a:gsLst>
              <a:gs pos="0">
                <a:srgbClr val="CFCFD1"/>
              </a:gs>
              <a:gs pos="100000">
                <a:schemeClr val="bg1">
                  <a:lumMod val="95000"/>
                </a:schemeClr>
              </a:gs>
            </a:gsLst>
            <a:lin ang="135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pPr marL="342900" indent="-342900"/>
            <a:r>
              <a:rPr lang="en-US" altLang="zh-CN" sz="1800" dirty="0">
                <a:solidFill>
                  <a:schemeClr val="accent2"/>
                </a:solidFill>
              </a:rPr>
              <a:t>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根据字符个数动态分配内存单元</a:t>
            </a:r>
          </a:p>
          <a:p>
            <a:pPr marL="342900" indent="-342900"/>
            <a:r>
              <a:rPr lang="zh-CN" altLang="en-US" sz="2000" dirty="0"/>
              <a:t>  </a:t>
            </a:r>
            <a:r>
              <a:rPr lang="en-US" altLang="zh-CN" sz="2000" dirty="0"/>
              <a:t>size = </a:t>
            </a:r>
            <a:r>
              <a:rPr lang="en-US" altLang="zh-CN" sz="2000" dirty="0" err="1"/>
              <a:t>pend</a:t>
            </a:r>
            <a:r>
              <a:rPr lang="en-US" altLang="zh-CN" sz="2000" dirty="0"/>
              <a:t> &gt;= </a:t>
            </a:r>
            <a:r>
              <a:rPr lang="en-US" altLang="zh-CN" sz="2000" dirty="0" err="1"/>
              <a:t>pstart</a:t>
            </a:r>
            <a:r>
              <a:rPr lang="en-US" altLang="zh-CN" sz="2000" dirty="0"/>
              <a:t> ? </a:t>
            </a:r>
            <a:r>
              <a:rPr lang="en-US" altLang="zh-CN" sz="2000" dirty="0" err="1"/>
              <a:t>pend</a:t>
            </a:r>
            <a:r>
              <a:rPr lang="en-US" altLang="zh-CN" sz="2000" dirty="0"/>
              <a:t> – </a:t>
            </a:r>
            <a:r>
              <a:rPr lang="en-US" altLang="zh-CN" sz="2000" dirty="0" err="1"/>
              <a:t>pstart</a:t>
            </a:r>
            <a:r>
              <a:rPr lang="en-US" altLang="zh-CN" sz="2000" dirty="0"/>
              <a:t> + 2 : 1;</a:t>
            </a:r>
          </a:p>
          <a:p>
            <a:pPr marL="342900" indent="-342900"/>
            <a:r>
              <a:rPr lang="en-US" altLang="zh-CN" sz="2000" dirty="0">
                <a:solidFill>
                  <a:srgbClr val="C00000"/>
                </a:solidFill>
              </a:rPr>
              <a:t>  p = (char *) malloc(size * </a:t>
            </a:r>
            <a:r>
              <a:rPr lang="en-US" altLang="zh-CN" sz="2000" dirty="0" err="1">
                <a:solidFill>
                  <a:srgbClr val="C00000"/>
                </a:solidFill>
              </a:rPr>
              <a:t>sizeof</a:t>
            </a:r>
            <a:r>
              <a:rPr lang="en-US" altLang="zh-CN" sz="2000" dirty="0">
                <a:solidFill>
                  <a:srgbClr val="C00000"/>
                </a:solidFill>
              </a:rPr>
              <a:t>(char));</a:t>
            </a:r>
          </a:p>
          <a:p>
            <a:pPr marL="342900" indent="-342900"/>
            <a:r>
              <a:rPr lang="en-US" altLang="zh-CN" sz="2000" dirty="0"/>
              <a:t>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将</a:t>
            </a:r>
            <a:r>
              <a:rPr lang="en-US" altLang="zh-CN" sz="1800" dirty="0" err="1">
                <a:solidFill>
                  <a:srgbClr val="002060"/>
                </a:solidFill>
                <a:latin typeface="+mn-lt"/>
                <a:ea typeface="楷体" pitchFamily="49" charset="-122"/>
              </a:rPr>
              <a:t>pstart</a:t>
            </a:r>
            <a:r>
              <a:rPr lang="zh-CN" altLang="en-US" sz="1800" dirty="0">
                <a:solidFill>
                  <a:srgbClr val="002060"/>
                </a:solidFill>
                <a:latin typeface="+mn-lt"/>
                <a:ea typeface="楷体" pitchFamily="49" charset="-122"/>
              </a:rPr>
              <a:t>所指向的字符至</a:t>
            </a:r>
            <a:r>
              <a:rPr lang="en-US" altLang="zh-CN" sz="1800" dirty="0" err="1">
                <a:solidFill>
                  <a:srgbClr val="002060"/>
                </a:solidFill>
                <a:latin typeface="+mn-lt"/>
                <a:ea typeface="楷体" pitchFamily="49" charset="-122"/>
              </a:rPr>
              <a:t>pend</a:t>
            </a:r>
            <a:r>
              <a:rPr lang="zh-CN" altLang="en-US" sz="1800" dirty="0">
                <a:solidFill>
                  <a:srgbClr val="002060"/>
                </a:solidFill>
                <a:latin typeface="+mn-lt"/>
                <a:ea typeface="楷体" pitchFamily="49" charset="-122"/>
              </a:rPr>
              <a:t>所指向的字符拷贝到</a:t>
            </a:r>
            <a:r>
              <a:rPr lang="en-US" altLang="zh-CN" sz="1800" dirty="0">
                <a:solidFill>
                  <a:srgbClr val="002060"/>
                </a:solidFill>
                <a:latin typeface="+mn-lt"/>
                <a:ea typeface="楷体" pitchFamily="49" charset="-122"/>
              </a:rPr>
              <a:t>p</a:t>
            </a:r>
            <a:r>
              <a:rPr lang="zh-CN" altLang="en-US" sz="1800" dirty="0">
                <a:solidFill>
                  <a:srgbClr val="002060"/>
                </a:solidFill>
                <a:latin typeface="+mn-lt"/>
                <a:ea typeface="楷体" pitchFamily="49" charset="-122"/>
              </a:rPr>
              <a:t>中</a:t>
            </a:r>
          </a:p>
          <a:p>
            <a:pPr marL="342900" indent="-342900"/>
            <a:r>
              <a:rPr lang="zh-CN" altLang="en-US" sz="2000" dirty="0"/>
              <a:t>  </a:t>
            </a:r>
            <a:r>
              <a:rPr lang="en-US" altLang="zh-CN" sz="2000" dirty="0"/>
              <a:t>for (</a:t>
            </a:r>
            <a:r>
              <a:rPr lang="en-US" altLang="zh-CN" sz="2000" dirty="0" err="1"/>
              <a:t>i</a:t>
            </a:r>
            <a:r>
              <a:rPr lang="en-US" altLang="zh-CN" sz="2000" dirty="0"/>
              <a:t> = 0; </a:t>
            </a:r>
            <a:r>
              <a:rPr lang="en-US" altLang="zh-CN" sz="2000" dirty="0" err="1"/>
              <a:t>pstart</a:t>
            </a:r>
            <a:r>
              <a:rPr lang="en-US" altLang="zh-CN" sz="2000" dirty="0"/>
              <a:t> &lt;= </a:t>
            </a:r>
            <a:r>
              <a:rPr lang="en-US" altLang="zh-CN" sz="2000" dirty="0" err="1"/>
              <a:t>pend</a:t>
            </a:r>
            <a:r>
              <a:rPr lang="en-US" altLang="zh-CN" sz="2000" dirty="0"/>
              <a:t>; </a:t>
            </a:r>
            <a:r>
              <a:rPr lang="en-US" altLang="zh-CN" sz="2000" dirty="0" err="1"/>
              <a:t>i</a:t>
            </a:r>
            <a:r>
              <a:rPr lang="en-US" altLang="zh-CN" sz="2000" dirty="0"/>
              <a:t>++)</a:t>
            </a:r>
          </a:p>
          <a:p>
            <a:pPr marL="342900" indent="-342900"/>
            <a:r>
              <a:rPr lang="en-US" altLang="zh-CN" sz="2000" dirty="0"/>
              <a:t>       p[</a:t>
            </a:r>
            <a:r>
              <a:rPr lang="en-US" altLang="zh-CN" sz="2000" dirty="0" err="1"/>
              <a:t>i</a:t>
            </a:r>
            <a:r>
              <a:rPr lang="en-US" altLang="zh-CN" sz="2000" dirty="0"/>
              <a:t>] = *</a:t>
            </a:r>
            <a:r>
              <a:rPr lang="en-US" altLang="zh-CN" sz="2000" dirty="0" err="1"/>
              <a:t>pstart</a:t>
            </a:r>
            <a:r>
              <a:rPr lang="en-US" altLang="zh-CN" sz="2000" dirty="0"/>
              <a:t>++;</a:t>
            </a:r>
          </a:p>
          <a:p>
            <a:pPr marL="342900" indent="-342900"/>
            <a:r>
              <a:rPr lang="en-US" altLang="zh-CN" sz="2000" dirty="0"/>
              <a:t>  p[</a:t>
            </a:r>
            <a:r>
              <a:rPr lang="en-US" altLang="zh-CN" sz="2000" dirty="0" err="1"/>
              <a:t>i</a:t>
            </a:r>
            <a:r>
              <a:rPr lang="en-US" altLang="zh-CN" sz="2000" dirty="0"/>
              <a:t>] = '\0';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加字符串结束标志</a:t>
            </a:r>
            <a:r>
              <a:rPr lang="en-US" altLang="zh-CN" sz="1800" dirty="0">
                <a:solidFill>
                  <a:srgbClr val="002060"/>
                </a:solidFill>
                <a:latin typeface="+mn-lt"/>
                <a:ea typeface="楷体" pitchFamily="49" charset="-122"/>
              </a:rPr>
              <a:t>0</a:t>
            </a:r>
          </a:p>
          <a:p>
            <a:pPr marL="342900" indent="-342900"/>
            <a:r>
              <a:rPr lang="en-US" altLang="zh-CN" sz="2000" dirty="0">
                <a:solidFill>
                  <a:srgbClr val="C00000"/>
                </a:solidFill>
              </a:rPr>
              <a:t>  return (p);</a:t>
            </a:r>
          </a:p>
          <a:p>
            <a:pPr marL="342900" indent="-342900"/>
            <a:r>
              <a:rPr lang="en-US" altLang="zh-CN" sz="2000" dirty="0"/>
              <a:t>}</a:t>
            </a:r>
          </a:p>
        </p:txBody>
      </p:sp>
      <p:sp>
        <p:nvSpPr>
          <p:cNvPr id="1213511" name="Rectangle 71"/>
          <p:cNvSpPr>
            <a:spLocks noChangeArrowheads="1"/>
          </p:cNvSpPr>
          <p:nvPr/>
        </p:nvSpPr>
        <p:spPr bwMode="auto">
          <a:xfrm>
            <a:off x="0" y="4084263"/>
            <a:ext cx="9073029" cy="1200329"/>
          </a:xfrm>
          <a:prstGeom prst="rect">
            <a:avLst/>
          </a:prstGeom>
          <a:gradFill rotWithShape="1">
            <a:gsLst>
              <a:gs pos="0">
                <a:srgbClr val="DDFAED"/>
              </a:gs>
              <a:gs pos="100000">
                <a:schemeClr val="bg1">
                  <a:lumMod val="95000"/>
                </a:schemeClr>
              </a:gs>
            </a:gsLst>
            <a:lin ang="5400000" scaled="1"/>
          </a:gradFill>
          <a:ln w="38100" algn="ctr">
            <a:noFill/>
            <a:miter lim="800000"/>
            <a:headEnd/>
            <a:tailEnd/>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txBody>
          <a:bodyPr wrap="square" anchor="ctr">
            <a:spAutoFit/>
          </a:bodyPr>
          <a:lstStyle/>
          <a:p>
            <a:pPr indent="304800"/>
            <a:r>
              <a:rPr lang="zh-CN" altLang="en-US" dirty="0">
                <a:solidFill>
                  <a:srgbClr val="C00000"/>
                </a:solidFill>
                <a:ea typeface="隶书" pitchFamily="49" charset="-122"/>
              </a:rPr>
              <a:t>注意：</a:t>
            </a:r>
          </a:p>
          <a:p>
            <a:pPr indent="304800"/>
            <a:r>
              <a:rPr lang="zh-CN" altLang="en-US" dirty="0">
                <a:latin typeface="隶书" pitchFamily="49" charset="-122"/>
                <a:ea typeface="隶书" pitchFamily="49" charset="-122"/>
              </a:rPr>
              <a:t>  </a:t>
            </a:r>
            <a:r>
              <a:rPr lang="zh-CN" altLang="en-US" dirty="0">
                <a:latin typeface="+mn-lt"/>
                <a:ea typeface="隶书" pitchFamily="49" charset="-122"/>
              </a:rPr>
              <a:t>其它函数调用</a:t>
            </a:r>
            <a:r>
              <a:rPr lang="en-US" altLang="zh-CN" dirty="0" err="1">
                <a:latin typeface="+mn-lt"/>
                <a:ea typeface="隶书" pitchFamily="49" charset="-122"/>
              </a:rPr>
              <a:t>alltrim</a:t>
            </a:r>
            <a:r>
              <a:rPr lang="zh-CN" altLang="en-US" dirty="0">
                <a:latin typeface="+mn-lt"/>
                <a:ea typeface="隶书" pitchFamily="49" charset="-122"/>
              </a:rPr>
              <a:t>函数获取指针后，要在适当的时候，调用</a:t>
            </a:r>
            <a:r>
              <a:rPr lang="en-US" altLang="zh-CN" dirty="0">
                <a:solidFill>
                  <a:srgbClr val="CC0000"/>
                </a:solidFill>
                <a:latin typeface="+mn-lt"/>
                <a:ea typeface="隶书" pitchFamily="49" charset="-122"/>
              </a:rPr>
              <a:t>free</a:t>
            </a:r>
            <a:r>
              <a:rPr lang="zh-CN" altLang="en-US" dirty="0">
                <a:latin typeface="+mn-lt"/>
                <a:ea typeface="隶书" pitchFamily="49" charset="-122"/>
              </a:rPr>
              <a:t>函数释放这个指针所指向的内存块。 </a:t>
            </a:r>
          </a:p>
        </p:txBody>
      </p:sp>
      <p:sp>
        <p:nvSpPr>
          <p:cNvPr id="1213446" name="Rectangle 6"/>
          <p:cNvSpPr>
            <a:spLocks noChangeArrowheads="1"/>
          </p:cNvSpPr>
          <p:nvPr/>
        </p:nvSpPr>
        <p:spPr bwMode="auto">
          <a:xfrm>
            <a:off x="766886" y="974623"/>
            <a:ext cx="10903055"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latin typeface="+mn-lt"/>
                <a:ea typeface="楷体" pitchFamily="49" charset="-122"/>
              </a:rPr>
              <a:t>        </a:t>
            </a:r>
            <a:r>
              <a:rPr lang="zh-CN" altLang="en-US" dirty="0">
                <a:latin typeface="+mn-lt"/>
                <a:ea typeface="楷体" pitchFamily="49" charset="-122"/>
              </a:rPr>
              <a:t>一个函数可以返回一个</a:t>
            </a:r>
            <a:r>
              <a:rPr lang="en-US" altLang="zh-CN" dirty="0" err="1">
                <a:latin typeface="+mn-lt"/>
                <a:ea typeface="楷体" pitchFamily="49" charset="-122"/>
              </a:rPr>
              <a:t>int</a:t>
            </a:r>
            <a:r>
              <a:rPr lang="zh-CN" altLang="en-US" dirty="0">
                <a:latin typeface="+mn-lt"/>
                <a:ea typeface="楷体" pitchFamily="49" charset="-122"/>
              </a:rPr>
              <a:t>型、</a:t>
            </a:r>
            <a:r>
              <a:rPr lang="en-US" altLang="zh-CN" dirty="0">
                <a:latin typeface="+mn-lt"/>
                <a:ea typeface="楷体" pitchFamily="49" charset="-122"/>
              </a:rPr>
              <a:t>float</a:t>
            </a:r>
            <a:r>
              <a:rPr lang="zh-CN" altLang="en-US" dirty="0">
                <a:latin typeface="+mn-lt"/>
                <a:ea typeface="楷体" pitchFamily="49" charset="-122"/>
              </a:rPr>
              <a:t>型、</a:t>
            </a:r>
            <a:r>
              <a:rPr lang="en-US" altLang="zh-CN" dirty="0">
                <a:latin typeface="+mn-lt"/>
                <a:ea typeface="楷体" pitchFamily="49" charset="-122"/>
              </a:rPr>
              <a:t>char</a:t>
            </a:r>
            <a:r>
              <a:rPr lang="zh-CN" altLang="en-US" dirty="0">
                <a:latin typeface="+mn-lt"/>
                <a:ea typeface="楷体" pitchFamily="49" charset="-122"/>
              </a:rPr>
              <a:t>型的数据，也可以返回一个指针类型的数据。 返回指针值的函数（简称</a:t>
            </a:r>
            <a:r>
              <a:rPr lang="zh-CN" altLang="en-US" dirty="0">
                <a:solidFill>
                  <a:srgbClr val="C00000"/>
                </a:solidFill>
                <a:latin typeface="+mn-lt"/>
                <a:ea typeface="楷体" pitchFamily="49" charset="-122"/>
              </a:rPr>
              <a:t>指针函数</a:t>
            </a:r>
            <a:r>
              <a:rPr lang="zh-CN" altLang="en-US" dirty="0">
                <a:latin typeface="+mn-lt"/>
                <a:ea typeface="楷体" pitchFamily="49" charset="-122"/>
              </a:rPr>
              <a:t>）的定义格式如下：</a:t>
            </a:r>
          </a:p>
        </p:txBody>
      </p:sp>
      <p:sp>
        <p:nvSpPr>
          <p:cNvPr id="1213507" name="Text Box 67"/>
          <p:cNvSpPr txBox="1">
            <a:spLocks noChangeArrowheads="1"/>
          </p:cNvSpPr>
          <p:nvPr/>
        </p:nvSpPr>
        <p:spPr bwMode="auto">
          <a:xfrm>
            <a:off x="1343298" y="1890092"/>
            <a:ext cx="9841347" cy="458788"/>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dist="107763" dir="2700000" algn="ctr" rotWithShape="0">
              <a:srgbClr val="808080">
                <a:alpha val="50000"/>
              </a:srgbClr>
            </a:outerShdw>
          </a:effectLst>
          <a:scene3d>
            <a:camera prst="orthographicFront"/>
            <a:lightRig rig="threePt" dir="t"/>
          </a:scene3d>
          <a:sp3d>
            <a:bevelT w="114300" prst="hardEdge"/>
          </a:sp3d>
        </p:spPr>
        <p:txBody>
          <a:bodyPr anchor="ctr" anchorCtr="0"/>
          <a:lstStyle/>
          <a:p>
            <a:pPr marL="342900" indent="-342900" algn="ctr"/>
            <a:r>
              <a:rPr lang="zh-CN" altLang="en-US" dirty="0">
                <a:latin typeface="+mn-lt"/>
                <a:ea typeface="隶书" pitchFamily="49" charset="-122"/>
              </a:rPr>
              <a:t>函数类型   *函数名</a:t>
            </a:r>
            <a:r>
              <a:rPr lang="en-US" altLang="zh-CN" dirty="0">
                <a:latin typeface="+mn-lt"/>
                <a:ea typeface="隶书" pitchFamily="49" charset="-122"/>
              </a:rPr>
              <a:t>( [</a:t>
            </a:r>
            <a:r>
              <a:rPr lang="zh-CN" altLang="en-US" dirty="0">
                <a:latin typeface="+mn-lt"/>
                <a:ea typeface="隶书" pitchFamily="49" charset="-122"/>
              </a:rPr>
              <a:t>形参</a:t>
            </a:r>
            <a:r>
              <a:rPr lang="en-US" altLang="zh-CN" dirty="0">
                <a:latin typeface="+mn-lt"/>
                <a:ea typeface="隶书" pitchFamily="49" charset="-122"/>
              </a:rPr>
              <a:t>1, </a:t>
            </a:r>
            <a:r>
              <a:rPr lang="zh-CN" altLang="en-US" dirty="0">
                <a:latin typeface="+mn-lt"/>
                <a:ea typeface="隶书" pitchFamily="49" charset="-122"/>
              </a:rPr>
              <a:t>形参</a:t>
            </a:r>
            <a:r>
              <a:rPr lang="en-US" altLang="zh-CN" dirty="0">
                <a:latin typeface="+mn-lt"/>
                <a:ea typeface="隶书" pitchFamily="49" charset="-122"/>
              </a:rPr>
              <a:t>2,…, </a:t>
            </a:r>
            <a:r>
              <a:rPr lang="zh-CN" altLang="en-US" dirty="0">
                <a:latin typeface="+mn-lt"/>
                <a:ea typeface="隶书" pitchFamily="49" charset="-122"/>
              </a:rPr>
              <a:t>形参</a:t>
            </a:r>
            <a:r>
              <a:rPr lang="en-US" altLang="zh-CN" dirty="0">
                <a:latin typeface="+mn-lt"/>
                <a:ea typeface="隶书" pitchFamily="49" charset="-122"/>
              </a:rPr>
              <a:t>n] )</a:t>
            </a:r>
          </a:p>
        </p:txBody>
      </p:sp>
      <p:sp>
        <p:nvSpPr>
          <p:cNvPr id="1213510" name="Text Box 70"/>
          <p:cNvSpPr txBox="1">
            <a:spLocks noChangeArrowheads="1"/>
          </p:cNvSpPr>
          <p:nvPr/>
        </p:nvSpPr>
        <p:spPr bwMode="auto">
          <a:xfrm>
            <a:off x="695400" y="2348880"/>
            <a:ext cx="4032250" cy="461665"/>
          </a:xfrm>
          <a:prstGeom prst="rect">
            <a:avLst/>
          </a:prstGeom>
          <a:noFill/>
          <a:ln w="9525" algn="ctr">
            <a:noFill/>
            <a:miter lim="800000"/>
            <a:headEnd/>
            <a:tailEnd/>
          </a:ln>
          <a:effectLst/>
        </p:spPr>
        <p:txBody>
          <a:bodyPr>
            <a:spAutoFit/>
          </a:bodyPr>
          <a:lstStyle/>
          <a:p>
            <a:pPr marL="342900" indent="-342900">
              <a:spcBef>
                <a:spcPct val="50000"/>
              </a:spcBef>
            </a:pPr>
            <a:r>
              <a:rPr lang="zh-CN" altLang="en-US" b="1" dirty="0">
                <a:solidFill>
                  <a:srgbClr val="C00000"/>
                </a:solidFill>
                <a:latin typeface="楷体" panose="02010609060101010101" pitchFamily="49" charset="-122"/>
                <a:ea typeface="楷体" panose="02010609060101010101" pitchFamily="49" charset="-122"/>
              </a:rPr>
              <a:t>例：编写</a:t>
            </a:r>
            <a:r>
              <a:rPr lang="en-US" altLang="zh-CN" b="1" dirty="0" err="1">
                <a:solidFill>
                  <a:srgbClr val="C00000"/>
                </a:solidFill>
                <a:latin typeface="楷体" panose="02010609060101010101" pitchFamily="49" charset="-122"/>
                <a:ea typeface="楷体" panose="02010609060101010101" pitchFamily="49" charset="-122"/>
              </a:rPr>
              <a:t>alltrim</a:t>
            </a:r>
            <a:r>
              <a:rPr lang="zh-CN" altLang="en-US" b="1" dirty="0">
                <a:solidFill>
                  <a:srgbClr val="C00000"/>
                </a:solidFill>
                <a:latin typeface="楷体" panose="02010609060101010101" pitchFamily="49" charset="-122"/>
                <a:ea typeface="楷体" panose="02010609060101010101" pitchFamily="49" charset="-122"/>
              </a:rPr>
              <a:t>指针函数</a:t>
            </a:r>
          </a:p>
        </p:txBody>
      </p:sp>
      <p:grpSp>
        <p:nvGrpSpPr>
          <p:cNvPr id="14" name="组合 13"/>
          <p:cNvGrpSpPr/>
          <p:nvPr/>
        </p:nvGrpSpPr>
        <p:grpSpPr>
          <a:xfrm>
            <a:off x="774713" y="2846272"/>
            <a:ext cx="5545137" cy="3785652"/>
            <a:chOff x="-317088" y="2734968"/>
            <a:chExt cx="5545137" cy="3785652"/>
          </a:xfrm>
        </p:grpSpPr>
        <p:sp>
          <p:nvSpPr>
            <p:cNvPr id="15" name="Rectangle 72" descr="信纸"/>
            <p:cNvSpPr>
              <a:spLocks noChangeArrowheads="1"/>
            </p:cNvSpPr>
            <p:nvPr/>
          </p:nvSpPr>
          <p:spPr bwMode="auto">
            <a:xfrm>
              <a:off x="-317088" y="2734968"/>
              <a:ext cx="5545137" cy="3785652"/>
            </a:xfrm>
            <a:prstGeom prst="rect">
              <a:avLst/>
            </a:prstGeom>
            <a:gradFill>
              <a:gsLst>
                <a:gs pos="0">
                  <a:srgbClr val="CFCFD1"/>
                </a:gs>
                <a:gs pos="100000">
                  <a:schemeClr val="bg1">
                    <a:lumMod val="95000"/>
                  </a:schemeClr>
                </a:gs>
              </a:gsLst>
              <a:lin ang="5400000" scaled="1"/>
            </a:gradFill>
            <a:ln w="38100" algn="ctr">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spAutoFit/>
            </a:bodyPr>
            <a:lstStyle/>
            <a:p>
              <a:pPr marL="342900" indent="-342900"/>
              <a:r>
                <a:rPr lang="en-US" altLang="zh-CN" sz="2000" dirty="0">
                  <a:solidFill>
                    <a:srgbClr val="CC0099"/>
                  </a:solidFill>
                </a:rPr>
                <a:t>char *</a:t>
              </a:r>
              <a:r>
                <a:rPr lang="en-US" altLang="zh-CN" sz="2000" dirty="0" err="1">
                  <a:solidFill>
                    <a:srgbClr val="CC0099"/>
                  </a:solidFill>
                </a:rPr>
                <a:t>alltrim</a:t>
              </a:r>
              <a:r>
                <a:rPr lang="en-US" altLang="zh-CN" sz="2000" dirty="0">
                  <a:solidFill>
                    <a:srgbClr val="CC0099"/>
                  </a:solidFill>
                </a:rPr>
                <a:t> (char *</a:t>
              </a:r>
              <a:r>
                <a:rPr lang="en-US" altLang="zh-CN" sz="2000" dirty="0" err="1">
                  <a:solidFill>
                    <a:srgbClr val="CC0099"/>
                  </a:solidFill>
                </a:rPr>
                <a:t>str</a:t>
              </a:r>
              <a:r>
                <a:rPr lang="en-US" altLang="zh-CN" sz="2000" dirty="0">
                  <a:solidFill>
                    <a:srgbClr val="CC0099"/>
                  </a:solidFill>
                </a:rPr>
                <a:t>)</a:t>
              </a:r>
            </a:p>
            <a:p>
              <a:pPr marL="342900" indent="-342900"/>
              <a:r>
                <a:rPr lang="en-US" altLang="zh-CN" sz="2000" dirty="0"/>
                <a:t>{</a:t>
              </a:r>
            </a:p>
            <a:p>
              <a:pPr marL="342900" indent="-342900"/>
              <a:r>
                <a:rPr lang="en-US" altLang="zh-CN" sz="2000" dirty="0"/>
                <a:t>  char *</a:t>
              </a:r>
              <a:r>
                <a:rPr lang="en-US" altLang="zh-CN" sz="2000" dirty="0" err="1"/>
                <a:t>pstart</a:t>
              </a:r>
              <a:r>
                <a:rPr lang="en-US" altLang="zh-CN" sz="2000" dirty="0"/>
                <a:t>, *</a:t>
              </a:r>
              <a:r>
                <a:rPr lang="en-US" altLang="zh-CN" sz="2000" dirty="0" err="1"/>
                <a:t>pend</a:t>
              </a:r>
              <a:r>
                <a:rPr lang="en-US" altLang="zh-CN" sz="2000" dirty="0"/>
                <a:t>;</a:t>
              </a:r>
            </a:p>
            <a:p>
              <a:pPr marL="342900" indent="-342900"/>
              <a:r>
                <a:rPr lang="en-US" altLang="zh-CN" sz="2000" dirty="0"/>
                <a:t>  </a:t>
              </a:r>
              <a:r>
                <a:rPr lang="en-US" altLang="zh-CN" sz="2000" dirty="0" err="1"/>
                <a:t>int</a:t>
              </a:r>
              <a:r>
                <a:rPr lang="en-US" altLang="zh-CN" sz="2000" dirty="0"/>
                <a:t> </a:t>
              </a:r>
              <a:r>
                <a:rPr lang="en-US" altLang="zh-CN" sz="2000" dirty="0" err="1"/>
                <a:t>i</a:t>
              </a:r>
              <a:r>
                <a:rPr lang="en-US" altLang="zh-CN" sz="2000" dirty="0"/>
                <a:t>;</a:t>
              </a:r>
            </a:p>
            <a:p>
              <a:pPr marL="342900" indent="-342900"/>
              <a:r>
                <a:rPr lang="en-US" altLang="zh-CN" sz="2000" dirty="0"/>
                <a:t>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将</a:t>
              </a:r>
              <a:r>
                <a:rPr lang="en-US" altLang="zh-CN" sz="1800" dirty="0" err="1">
                  <a:solidFill>
                    <a:srgbClr val="002060"/>
                  </a:solidFill>
                  <a:latin typeface="+mn-lt"/>
                  <a:ea typeface="楷体" pitchFamily="49" charset="-122"/>
                </a:rPr>
                <a:t>pstart</a:t>
              </a:r>
              <a:r>
                <a:rPr lang="zh-CN" altLang="en-US" sz="1800" dirty="0">
                  <a:solidFill>
                    <a:srgbClr val="002060"/>
                  </a:solidFill>
                  <a:latin typeface="+mn-lt"/>
                  <a:ea typeface="楷体" pitchFamily="49" charset="-122"/>
                </a:rPr>
                <a:t>指向左边第一个非空格字符的位置</a:t>
              </a:r>
            </a:p>
            <a:p>
              <a:pPr marL="342900" indent="-342900"/>
              <a:r>
                <a:rPr lang="zh-CN" altLang="en-US" sz="2000" dirty="0"/>
                <a:t>  </a:t>
              </a:r>
              <a:r>
                <a:rPr lang="en-US" altLang="zh-CN" sz="2000" dirty="0" err="1"/>
                <a:t>pstart</a:t>
              </a:r>
              <a:r>
                <a:rPr lang="en-US" altLang="zh-CN" sz="2000" dirty="0"/>
                <a:t> = </a:t>
              </a:r>
              <a:r>
                <a:rPr lang="en-US" altLang="zh-CN" sz="2000" dirty="0" err="1"/>
                <a:t>str</a:t>
              </a:r>
              <a:r>
                <a:rPr lang="en-US" altLang="zh-CN" sz="2000" dirty="0"/>
                <a:t>;   </a:t>
              </a:r>
            </a:p>
            <a:p>
              <a:pPr marL="342900" indent="-342900"/>
              <a:r>
                <a:rPr lang="en-US" altLang="zh-CN" sz="2000" dirty="0"/>
                <a:t>  while (*</a:t>
              </a:r>
              <a:r>
                <a:rPr lang="en-US" altLang="zh-CN" sz="2000" dirty="0" err="1"/>
                <a:t>pstart</a:t>
              </a:r>
              <a:r>
                <a:rPr lang="en-US" altLang="zh-CN" sz="2000" dirty="0"/>
                <a:t> == ' ')</a:t>
              </a:r>
            </a:p>
            <a:p>
              <a:pPr marL="342900" indent="-342900"/>
              <a:r>
                <a:rPr lang="en-US" altLang="zh-CN" sz="2000" dirty="0"/>
                <a:t>      </a:t>
              </a:r>
              <a:r>
                <a:rPr lang="en-US" altLang="zh-CN" sz="2000" dirty="0" err="1"/>
                <a:t>pstart</a:t>
              </a:r>
              <a:r>
                <a:rPr lang="en-US" altLang="zh-CN" sz="2000" dirty="0"/>
                <a:t>++;</a:t>
              </a:r>
            </a:p>
            <a:p>
              <a:pPr marL="342900" indent="-342900"/>
              <a:r>
                <a:rPr lang="en-US" altLang="zh-CN" sz="2000" dirty="0"/>
                <a:t>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将</a:t>
              </a:r>
              <a:r>
                <a:rPr lang="en-US" altLang="zh-CN" sz="1800" dirty="0" err="1">
                  <a:solidFill>
                    <a:srgbClr val="002060"/>
                  </a:solidFill>
                  <a:latin typeface="+mn-lt"/>
                  <a:ea typeface="楷体" pitchFamily="49" charset="-122"/>
                </a:rPr>
                <a:t>pend</a:t>
              </a:r>
              <a:r>
                <a:rPr lang="zh-CN" altLang="en-US" sz="1800" dirty="0">
                  <a:solidFill>
                    <a:srgbClr val="002060"/>
                  </a:solidFill>
                  <a:latin typeface="+mn-lt"/>
                  <a:ea typeface="楷体" pitchFamily="49" charset="-122"/>
                </a:rPr>
                <a:t>指向右边第一个非空格字符的位置</a:t>
              </a:r>
            </a:p>
            <a:p>
              <a:pPr marL="342900" indent="-342900"/>
              <a:r>
                <a:rPr lang="zh-CN" altLang="en-US" sz="2000" dirty="0"/>
                <a:t>  </a:t>
              </a:r>
              <a:r>
                <a:rPr lang="en-US" altLang="zh-CN" sz="2000" dirty="0" err="1"/>
                <a:t>pend</a:t>
              </a:r>
              <a:r>
                <a:rPr lang="en-US" altLang="zh-CN" sz="2000" dirty="0"/>
                <a:t> = </a:t>
              </a:r>
              <a:r>
                <a:rPr lang="en-US" altLang="zh-CN" sz="2000" dirty="0" err="1"/>
                <a:t>pstart</a:t>
              </a:r>
              <a:r>
                <a:rPr lang="en-US" altLang="zh-CN" sz="2000" dirty="0"/>
                <a:t> + </a:t>
              </a:r>
              <a:r>
                <a:rPr lang="en-US" altLang="zh-CN" sz="2000" dirty="0" err="1"/>
                <a:t>strlen</a:t>
              </a:r>
              <a:r>
                <a:rPr lang="en-US" altLang="zh-CN" sz="2000" dirty="0"/>
                <a:t>(</a:t>
              </a:r>
              <a:r>
                <a:rPr lang="en-US" altLang="zh-CN" sz="2000" dirty="0" err="1"/>
                <a:t>pstart</a:t>
              </a:r>
              <a:r>
                <a:rPr lang="en-US" altLang="zh-CN" sz="2000" dirty="0"/>
                <a:t>) - 1;  </a:t>
              </a:r>
            </a:p>
            <a:p>
              <a:pPr marL="342900" indent="-342900"/>
              <a:r>
                <a:rPr lang="en-US" altLang="zh-CN" sz="2000" dirty="0"/>
                <a:t>  while (</a:t>
              </a:r>
              <a:r>
                <a:rPr lang="en-US" altLang="zh-CN" sz="2000" dirty="0" err="1"/>
                <a:t>pend</a:t>
              </a:r>
              <a:r>
                <a:rPr lang="en-US" altLang="zh-CN" sz="2000" dirty="0"/>
                <a:t> &gt; </a:t>
              </a:r>
              <a:r>
                <a:rPr lang="en-US" altLang="zh-CN" sz="2000" dirty="0" err="1"/>
                <a:t>pstart</a:t>
              </a:r>
              <a:r>
                <a:rPr lang="en-US" altLang="zh-CN" sz="2000" dirty="0"/>
                <a:t> &amp;&amp; *</a:t>
              </a:r>
              <a:r>
                <a:rPr lang="en-US" altLang="zh-CN" sz="2000" dirty="0" err="1"/>
                <a:t>pend</a:t>
              </a:r>
              <a:r>
                <a:rPr lang="en-US" altLang="zh-CN" sz="2000" dirty="0"/>
                <a:t> == ' ')</a:t>
              </a:r>
            </a:p>
            <a:p>
              <a:pPr marL="342900" indent="-342900"/>
              <a:r>
                <a:rPr lang="en-US" altLang="zh-CN" sz="2000" dirty="0"/>
                <a:t>      </a:t>
              </a:r>
              <a:r>
                <a:rPr lang="en-US" altLang="zh-CN" sz="2000" dirty="0" err="1"/>
                <a:t>pend</a:t>
              </a:r>
              <a:r>
                <a:rPr lang="en-US" altLang="zh-CN" sz="2000" dirty="0"/>
                <a:t>--;</a:t>
              </a:r>
            </a:p>
          </p:txBody>
        </p:sp>
        <p:sp>
          <p:nvSpPr>
            <p:cNvPr id="16" name="TextBox 15"/>
            <p:cNvSpPr txBox="1"/>
            <p:nvPr/>
          </p:nvSpPr>
          <p:spPr>
            <a:xfrm>
              <a:off x="3203476" y="2900685"/>
              <a:ext cx="1872208" cy="584775"/>
            </a:xfrm>
            <a:prstGeom prst="rect">
              <a:avLst/>
            </a:prstGeom>
            <a:gradFill flip="none" rotWithShape="1">
              <a:gsLst>
                <a:gs pos="0">
                  <a:srgbClr val="CFCFD1"/>
                </a:gs>
                <a:gs pos="100000">
                  <a:schemeClr val="bg1">
                    <a:lumMod val="95000"/>
                  </a:schemeClr>
                </a:gs>
              </a:gsLst>
              <a:lin ang="13500000" scaled="1"/>
              <a:tileRect/>
            </a:gradFill>
            <a:ln w="25400">
              <a:solidFill>
                <a:srgbClr val="C0192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hardEdge"/>
              <a:contourClr>
                <a:srgbClr val="FFFFFF"/>
              </a:contourClr>
            </a:sp3d>
          </p:spPr>
          <p:txBody>
            <a:bodyPr wrap="square" rtlCol="0">
              <a:spAutoFit/>
            </a:bodyPr>
            <a:lstStyle/>
            <a:p>
              <a:r>
                <a:rPr lang="zh-CN" altLang="en-US" sz="1600" dirty="0">
                  <a:solidFill>
                    <a:srgbClr val="C00000"/>
                  </a:solidFill>
                  <a:latin typeface="隶书" pitchFamily="49" charset="-122"/>
                  <a:ea typeface="隶书" pitchFamily="49" charset="-122"/>
                </a:rPr>
                <a:t>方法二：返回实参有效地址</a:t>
              </a:r>
            </a:p>
          </p:txBody>
        </p:sp>
      </p:grpSp>
      <p:sp>
        <p:nvSpPr>
          <p:cNvPr id="17" name="Rectangle 73" descr="信纸"/>
          <p:cNvSpPr>
            <a:spLocks noChangeArrowheads="1"/>
          </p:cNvSpPr>
          <p:nvPr/>
        </p:nvSpPr>
        <p:spPr bwMode="auto">
          <a:xfrm>
            <a:off x="6520221" y="4021339"/>
            <a:ext cx="5328592" cy="2185214"/>
          </a:xfrm>
          <a:prstGeom prst="rect">
            <a:avLst/>
          </a:prstGeom>
          <a:gradFill>
            <a:gsLst>
              <a:gs pos="0">
                <a:srgbClr val="CFCFD1"/>
              </a:gs>
              <a:gs pos="100000">
                <a:schemeClr val="bg1">
                  <a:lumMod val="95000"/>
                </a:schemeClr>
              </a:gs>
            </a:gsLst>
            <a:lin ang="5400000" scaled="1"/>
          </a:gradFill>
          <a:ln w="38100" algn="ctr">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pPr marL="342900" indent="-342900"/>
            <a:r>
              <a:rPr lang="en-US" altLang="zh-CN" sz="1800" dirty="0">
                <a:solidFill>
                  <a:srgbClr val="002060"/>
                </a:solidFill>
                <a:latin typeface="+mn-lt"/>
                <a:ea typeface="楷体" pitchFamily="49" charset="-122"/>
              </a:rPr>
              <a:t>  //</a:t>
            </a:r>
            <a:r>
              <a:rPr lang="zh-CN" altLang="en-US" sz="1800" dirty="0">
                <a:solidFill>
                  <a:srgbClr val="002060"/>
                </a:solidFill>
                <a:latin typeface="+mn-lt"/>
                <a:ea typeface="楷体" pitchFamily="49" charset="-122"/>
              </a:rPr>
              <a:t>将</a:t>
            </a:r>
            <a:r>
              <a:rPr lang="en-US" altLang="zh-CN" sz="1800" dirty="0" err="1">
                <a:solidFill>
                  <a:srgbClr val="002060"/>
                </a:solidFill>
                <a:latin typeface="+mn-lt"/>
                <a:ea typeface="楷体" pitchFamily="49" charset="-122"/>
              </a:rPr>
              <a:t>pstart</a:t>
            </a:r>
            <a:r>
              <a:rPr lang="zh-CN" altLang="en-US" sz="1800" dirty="0">
                <a:solidFill>
                  <a:srgbClr val="002060"/>
                </a:solidFill>
                <a:latin typeface="+mn-lt"/>
                <a:ea typeface="楷体" pitchFamily="49" charset="-122"/>
              </a:rPr>
              <a:t>所指向的字符至</a:t>
            </a:r>
            <a:r>
              <a:rPr lang="en-US" altLang="zh-CN" sz="1800" dirty="0" err="1">
                <a:solidFill>
                  <a:srgbClr val="002060"/>
                </a:solidFill>
                <a:latin typeface="+mn-lt"/>
                <a:ea typeface="楷体" pitchFamily="49" charset="-122"/>
              </a:rPr>
              <a:t>pend</a:t>
            </a:r>
            <a:r>
              <a:rPr lang="zh-CN" altLang="en-US" sz="1800" dirty="0">
                <a:solidFill>
                  <a:srgbClr val="002060"/>
                </a:solidFill>
                <a:latin typeface="+mn-lt"/>
                <a:ea typeface="楷体" pitchFamily="49" charset="-122"/>
              </a:rPr>
              <a:t>所指向的字符拷贝到</a:t>
            </a:r>
            <a:r>
              <a:rPr lang="en-US" altLang="zh-CN" sz="1800" dirty="0" err="1">
                <a:solidFill>
                  <a:srgbClr val="002060"/>
                </a:solidFill>
                <a:latin typeface="+mn-lt"/>
                <a:ea typeface="楷体" pitchFamily="49" charset="-122"/>
              </a:rPr>
              <a:t>str</a:t>
            </a:r>
            <a:r>
              <a:rPr lang="zh-CN" altLang="en-US" sz="1800" dirty="0">
                <a:solidFill>
                  <a:srgbClr val="002060"/>
                </a:solidFill>
                <a:latin typeface="+mn-lt"/>
                <a:ea typeface="楷体" pitchFamily="49" charset="-122"/>
              </a:rPr>
              <a:t>的最左端</a:t>
            </a:r>
          </a:p>
          <a:p>
            <a:pPr marL="342900" indent="-342900"/>
            <a:r>
              <a:rPr lang="zh-CN" altLang="en-US" sz="2000" dirty="0"/>
              <a:t>  </a:t>
            </a:r>
            <a:r>
              <a:rPr lang="en-US" altLang="zh-CN" sz="2000" dirty="0"/>
              <a:t>for (</a:t>
            </a:r>
            <a:r>
              <a:rPr lang="en-US" altLang="zh-CN" sz="2000" dirty="0" err="1"/>
              <a:t>i</a:t>
            </a:r>
            <a:r>
              <a:rPr lang="en-US" altLang="zh-CN" sz="2000" dirty="0"/>
              <a:t> = 0; </a:t>
            </a:r>
            <a:r>
              <a:rPr lang="en-US" altLang="zh-CN" sz="2000" dirty="0" err="1"/>
              <a:t>pstart</a:t>
            </a:r>
            <a:r>
              <a:rPr lang="en-US" altLang="zh-CN" sz="2000" dirty="0"/>
              <a:t> &lt;= </a:t>
            </a:r>
            <a:r>
              <a:rPr lang="en-US" altLang="zh-CN" sz="2000" dirty="0" err="1"/>
              <a:t>pend</a:t>
            </a:r>
            <a:r>
              <a:rPr lang="en-US" altLang="zh-CN" sz="2000" dirty="0"/>
              <a:t>; </a:t>
            </a:r>
            <a:r>
              <a:rPr lang="en-US" altLang="zh-CN" sz="2000" dirty="0" err="1"/>
              <a:t>i</a:t>
            </a:r>
            <a:r>
              <a:rPr lang="en-US" altLang="zh-CN" sz="2000" dirty="0"/>
              <a:t>++)</a:t>
            </a:r>
          </a:p>
          <a:p>
            <a:pPr marL="342900" indent="-342900"/>
            <a:r>
              <a:rPr lang="en-US" altLang="zh-CN" sz="2000" dirty="0"/>
              <a:t>      </a:t>
            </a:r>
            <a:r>
              <a:rPr lang="en-US" altLang="zh-CN" sz="2000" dirty="0" err="1"/>
              <a:t>str</a:t>
            </a:r>
            <a:r>
              <a:rPr lang="en-US" altLang="zh-CN" sz="2000" dirty="0"/>
              <a:t>[</a:t>
            </a:r>
            <a:r>
              <a:rPr lang="en-US" altLang="zh-CN" sz="2000" dirty="0" err="1"/>
              <a:t>i</a:t>
            </a:r>
            <a:r>
              <a:rPr lang="en-US" altLang="zh-CN" sz="2000" dirty="0"/>
              <a:t>] = *</a:t>
            </a:r>
            <a:r>
              <a:rPr lang="en-US" altLang="zh-CN" sz="2000" dirty="0" err="1"/>
              <a:t>pstart</a:t>
            </a:r>
            <a:r>
              <a:rPr lang="en-US" altLang="zh-CN" sz="2000" dirty="0"/>
              <a:t>++;</a:t>
            </a:r>
          </a:p>
          <a:p>
            <a:pPr marL="342900" indent="-342900"/>
            <a:r>
              <a:rPr lang="en-US" altLang="zh-CN" sz="2000" dirty="0"/>
              <a:t>  </a:t>
            </a:r>
            <a:r>
              <a:rPr lang="en-US" altLang="zh-CN" sz="2000" dirty="0" err="1"/>
              <a:t>str</a:t>
            </a:r>
            <a:r>
              <a:rPr lang="en-US" altLang="zh-CN" sz="2000" dirty="0"/>
              <a:t>[</a:t>
            </a:r>
            <a:r>
              <a:rPr lang="en-US" altLang="zh-CN" sz="2000" dirty="0" err="1"/>
              <a:t>i</a:t>
            </a:r>
            <a:r>
              <a:rPr lang="en-US" altLang="zh-CN" sz="2000" dirty="0"/>
              <a:t>] = '\0';    </a:t>
            </a:r>
            <a:r>
              <a:rPr lang="en-US" altLang="zh-CN" sz="1800" dirty="0">
                <a:solidFill>
                  <a:srgbClr val="002060"/>
                </a:solidFill>
                <a:latin typeface="+mn-lt"/>
                <a:ea typeface="楷体" pitchFamily="49" charset="-122"/>
              </a:rPr>
              <a:t>//</a:t>
            </a:r>
            <a:r>
              <a:rPr lang="zh-CN" altLang="en-US" sz="1800" dirty="0">
                <a:solidFill>
                  <a:srgbClr val="002060"/>
                </a:solidFill>
                <a:latin typeface="+mn-lt"/>
                <a:ea typeface="楷体" pitchFamily="49" charset="-122"/>
              </a:rPr>
              <a:t>加字符串结束标志</a:t>
            </a:r>
            <a:r>
              <a:rPr lang="en-US" altLang="zh-CN" sz="1800" dirty="0">
                <a:solidFill>
                  <a:srgbClr val="002060"/>
                </a:solidFill>
                <a:latin typeface="+mn-lt"/>
                <a:ea typeface="楷体" pitchFamily="49" charset="-122"/>
              </a:rPr>
              <a:t>0</a:t>
            </a:r>
          </a:p>
          <a:p>
            <a:pPr marL="342900" indent="-342900"/>
            <a:r>
              <a:rPr lang="en-US" altLang="zh-CN" sz="2000" dirty="0">
                <a:solidFill>
                  <a:srgbClr val="C00000"/>
                </a:solidFill>
              </a:rPr>
              <a:t>  return (</a:t>
            </a:r>
            <a:r>
              <a:rPr lang="en-US" altLang="zh-CN" sz="2000" dirty="0" err="1">
                <a:solidFill>
                  <a:srgbClr val="C00000"/>
                </a:solidFill>
              </a:rPr>
              <a:t>str</a:t>
            </a:r>
            <a:r>
              <a:rPr lang="en-US" altLang="zh-CN" sz="2000" dirty="0">
                <a:solidFill>
                  <a:srgbClr val="C00000"/>
                </a:solidFill>
              </a:rPr>
              <a:t>);</a:t>
            </a:r>
          </a:p>
          <a:p>
            <a:pPr marL="342900" indent="-342900"/>
            <a:r>
              <a:rPr lang="en-US" altLang="zh-CN" sz="2000" dirty="0"/>
              <a:t>}</a:t>
            </a:r>
          </a:p>
        </p:txBody>
      </p:sp>
      <p:sp>
        <p:nvSpPr>
          <p:cNvPr id="18" name="Rectangle 4">
            <a:extLst>
              <a:ext uri="{FF2B5EF4-FFF2-40B4-BE49-F238E27FC236}">
                <a16:creationId xmlns:a16="http://schemas.microsoft.com/office/drawing/2014/main" id="{748A0CDC-1C3A-4DD4-BEE6-7711E8F8F0D9}"/>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9.9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指针作为函数的返回值</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____</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指针函数</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13446"/>
                                        </p:tgtEl>
                                        <p:attrNameLst>
                                          <p:attrName>style.visibility</p:attrName>
                                        </p:attrNameLst>
                                      </p:cBhvr>
                                      <p:to>
                                        <p:strVal val="visible"/>
                                      </p:to>
                                    </p:set>
                                    <p:animEffect transition="in" filter="box(out)">
                                      <p:cBhvr>
                                        <p:cTn id="7" dur="500"/>
                                        <p:tgtEl>
                                          <p:spTgt spid="121344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13507"/>
                                        </p:tgtEl>
                                        <p:attrNameLst>
                                          <p:attrName>style.visibility</p:attrName>
                                        </p:attrNameLst>
                                      </p:cBhvr>
                                      <p:to>
                                        <p:strVal val="visible"/>
                                      </p:to>
                                    </p:set>
                                    <p:animEffect transition="in" filter="box(out)">
                                      <p:cBhvr>
                                        <p:cTn id="12" dur="500"/>
                                        <p:tgtEl>
                                          <p:spTgt spid="1213507"/>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213510"/>
                                        </p:tgtEl>
                                        <p:attrNameLst>
                                          <p:attrName>style.visibility</p:attrName>
                                        </p:attrNameLst>
                                      </p:cBhvr>
                                      <p:to>
                                        <p:strVal val="visible"/>
                                      </p:to>
                                    </p:set>
                                    <p:anim calcmode="lin" valueType="num">
                                      <p:cBhvr additive="base">
                                        <p:cTn id="17" dur="500" fill="hold"/>
                                        <p:tgtEl>
                                          <p:spTgt spid="1213510"/>
                                        </p:tgtEl>
                                        <p:attrNameLst>
                                          <p:attrName>ppt_x</p:attrName>
                                        </p:attrNameLst>
                                      </p:cBhvr>
                                      <p:tavLst>
                                        <p:tav tm="0">
                                          <p:val>
                                            <p:strVal val="0-#ppt_w/2"/>
                                          </p:val>
                                        </p:tav>
                                        <p:tav tm="100000">
                                          <p:val>
                                            <p:strVal val="#ppt_x"/>
                                          </p:val>
                                        </p:tav>
                                      </p:tavLst>
                                    </p:anim>
                                    <p:anim calcmode="lin" valueType="num">
                                      <p:cBhvr additive="base">
                                        <p:cTn id="18" dur="500" fill="hold"/>
                                        <p:tgtEl>
                                          <p:spTgt spid="12135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WHOOSH.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ox(in)">
                                      <p:cBhvr>
                                        <p:cTn id="23" dur="500"/>
                                        <p:tgtEl>
                                          <p:spTgt spid="13"/>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213513"/>
                                        </p:tgtEl>
                                        <p:attrNameLst>
                                          <p:attrName>style.visibility</p:attrName>
                                        </p:attrNameLst>
                                      </p:cBhvr>
                                      <p:to>
                                        <p:strVal val="visible"/>
                                      </p:to>
                                    </p:set>
                                    <p:animEffect transition="in" filter="box(out)">
                                      <p:cBhvr>
                                        <p:cTn id="28" dur="500"/>
                                        <p:tgtEl>
                                          <p:spTgt spid="1213513"/>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213511"/>
                                        </p:tgtEl>
                                        <p:attrNameLst>
                                          <p:attrName>style.visibility</p:attrName>
                                        </p:attrNameLst>
                                      </p:cBhvr>
                                      <p:to>
                                        <p:strVal val="visible"/>
                                      </p:to>
                                    </p:set>
                                    <p:animEffect transition="in" filter="box(out)">
                                      <p:cBhvr>
                                        <p:cTn id="33" dur="500"/>
                                        <p:tgtEl>
                                          <p:spTgt spid="1213511"/>
                                        </p:tgtEl>
                                      </p:cBhvr>
                                    </p:animEffect>
                                  </p:childTnLst>
                                  <p:subTnLs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16"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box(in)">
                                      <p:cBhvr>
                                        <p:cTn id="38" dur="500"/>
                                        <p:tgtEl>
                                          <p:spTgt spid="14"/>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box(out)">
                                      <p:cBhvr>
                                        <p:cTn id="43" dur="500"/>
                                        <p:tgtEl>
                                          <p:spTgt spid="17"/>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3513" grpId="0" animBg="1"/>
      <p:bldP spid="1213511" grpId="0" animBg="1"/>
      <p:bldP spid="1213446" grpId="0"/>
      <p:bldP spid="1213507" grpId="0" animBg="1"/>
      <p:bldP spid="1213510" grpId="0"/>
      <p:bldP spid="1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4476" name="Rectangle 12"/>
          <p:cNvSpPr>
            <a:spLocks noChangeArrowheads="1"/>
          </p:cNvSpPr>
          <p:nvPr/>
        </p:nvSpPr>
        <p:spPr bwMode="auto">
          <a:xfrm>
            <a:off x="941382" y="897206"/>
            <a:ext cx="10612660" cy="830997"/>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wrap="square" anchor="t" anchorCtr="0">
            <a:spAutoFit/>
          </a:bodyPr>
          <a:lstStyle/>
          <a:p>
            <a:pPr>
              <a:lnSpc>
                <a:spcPct val="100000"/>
              </a:lnSpc>
              <a:spcBef>
                <a:spcPct val="0"/>
              </a:spcBef>
            </a:pPr>
            <a:r>
              <a:rPr lang="en-US" altLang="zh-CN" b="0" dirty="0">
                <a:solidFill>
                  <a:srgbClr val="C00000"/>
                </a:solidFill>
                <a:latin typeface="隶书" pitchFamily="49" charset="-122"/>
                <a:ea typeface="隶书" pitchFamily="49" charset="-122"/>
              </a:rPr>
              <a:t>    </a:t>
            </a:r>
            <a:r>
              <a:rPr lang="zh-CN" altLang="en-US" dirty="0">
                <a:solidFill>
                  <a:srgbClr val="C00000"/>
                </a:solidFill>
                <a:latin typeface="隶书" pitchFamily="49" charset="-122"/>
                <a:ea typeface="隶书" pitchFamily="49" charset="-122"/>
              </a:rPr>
              <a:t>注意：</a:t>
            </a:r>
            <a:r>
              <a:rPr lang="zh-CN" altLang="en-US" dirty="0">
                <a:latin typeface="隶书" pitchFamily="49" charset="-122"/>
                <a:ea typeface="隶书" pitchFamily="49" charset="-122"/>
              </a:rPr>
              <a:t>如果一个函数返回一个指针，不能返回</a:t>
            </a:r>
            <a:r>
              <a:rPr lang="en-US" altLang="zh-CN" dirty="0">
                <a:solidFill>
                  <a:schemeClr val="accent2">
                    <a:lumMod val="50000"/>
                  </a:schemeClr>
                </a:solidFill>
                <a:ea typeface="隶书" pitchFamily="49" charset="-122"/>
              </a:rPr>
              <a:t>auto</a:t>
            </a:r>
            <a:r>
              <a:rPr lang="zh-CN" altLang="en-US" dirty="0">
                <a:latin typeface="隶书" pitchFamily="49" charset="-122"/>
                <a:ea typeface="隶书" pitchFamily="49" charset="-122"/>
              </a:rPr>
              <a:t>型局部变量的地址，但可以返回</a:t>
            </a:r>
            <a:r>
              <a:rPr lang="en-US" altLang="zh-CN" dirty="0">
                <a:solidFill>
                  <a:srgbClr val="C00000"/>
                </a:solidFill>
                <a:ea typeface="隶书" pitchFamily="49" charset="-122"/>
              </a:rPr>
              <a:t>static</a:t>
            </a:r>
            <a:r>
              <a:rPr lang="zh-CN" altLang="en-US" dirty="0">
                <a:latin typeface="隶书" pitchFamily="49" charset="-122"/>
                <a:ea typeface="隶书" pitchFamily="49" charset="-122"/>
              </a:rPr>
              <a:t>型变量的地址。 </a:t>
            </a:r>
          </a:p>
        </p:txBody>
      </p:sp>
      <p:sp>
        <p:nvSpPr>
          <p:cNvPr id="1214477" name="Rectangle 13" descr="信纸"/>
          <p:cNvSpPr>
            <a:spLocks noChangeArrowheads="1"/>
          </p:cNvSpPr>
          <p:nvPr/>
        </p:nvSpPr>
        <p:spPr bwMode="auto">
          <a:xfrm>
            <a:off x="943124" y="1706920"/>
            <a:ext cx="5152876" cy="3477875"/>
          </a:xfrm>
          <a:prstGeom prst="rect">
            <a:avLst/>
          </a:prstGeom>
          <a:gradFill>
            <a:gsLst>
              <a:gs pos="0">
                <a:srgbClr val="CFCFD1"/>
              </a:gs>
              <a:gs pos="100000">
                <a:schemeClr val="bg1"/>
              </a:gs>
            </a:gsLst>
            <a:lin ang="135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err="1">
                <a:solidFill>
                  <a:srgbClr val="CC0099"/>
                </a:solidFill>
              </a:rPr>
              <a:t>int</a:t>
            </a:r>
            <a:r>
              <a:rPr lang="en-US" altLang="zh-CN" sz="2000" dirty="0">
                <a:solidFill>
                  <a:srgbClr val="CC0099"/>
                </a:solidFill>
              </a:rPr>
              <a:t> *</a:t>
            </a:r>
            <a:r>
              <a:rPr lang="en-US" altLang="zh-CN" sz="2000" dirty="0" err="1">
                <a:solidFill>
                  <a:srgbClr val="CC0099"/>
                </a:solidFill>
              </a:rPr>
              <a:t>getdata</a:t>
            </a:r>
            <a:r>
              <a:rPr lang="en-US" altLang="zh-CN" sz="2000" dirty="0">
                <a:solidFill>
                  <a:srgbClr val="CC0099"/>
                </a:solidFill>
              </a:rPr>
              <a:t> (</a:t>
            </a:r>
            <a:r>
              <a:rPr lang="en-US" altLang="zh-CN" sz="2000" dirty="0" err="1">
                <a:solidFill>
                  <a:srgbClr val="CC0099"/>
                </a:solidFill>
              </a:rPr>
              <a:t>int</a:t>
            </a:r>
            <a:r>
              <a:rPr lang="en-US" altLang="zh-CN" sz="2000" dirty="0">
                <a:solidFill>
                  <a:srgbClr val="CC0099"/>
                </a:solidFill>
              </a:rPr>
              <a:t> num)</a:t>
            </a:r>
          </a:p>
          <a:p>
            <a:r>
              <a:rPr lang="en-US" altLang="zh-CN" sz="2000" dirty="0"/>
              <a:t>{</a:t>
            </a:r>
          </a:p>
          <a:p>
            <a:r>
              <a:rPr lang="en-US" altLang="zh-CN" sz="2000" dirty="0">
                <a:solidFill>
                  <a:schemeClr val="accent2">
                    <a:lumMod val="50000"/>
                  </a:schemeClr>
                </a:solidFill>
              </a:rPr>
              <a:t>  </a:t>
            </a:r>
            <a:r>
              <a:rPr lang="en-US" altLang="zh-CN" sz="2000" dirty="0" err="1">
                <a:solidFill>
                  <a:schemeClr val="accent2">
                    <a:lumMod val="50000"/>
                  </a:schemeClr>
                </a:solidFill>
              </a:rPr>
              <a:t>int</a:t>
            </a:r>
            <a:r>
              <a:rPr lang="en-US" altLang="zh-CN" sz="2000" dirty="0">
                <a:solidFill>
                  <a:schemeClr val="accent2">
                    <a:lumMod val="50000"/>
                  </a:schemeClr>
                </a:solidFill>
              </a:rPr>
              <a:t> a[100];</a:t>
            </a:r>
          </a:p>
          <a:p>
            <a:r>
              <a:rPr lang="en-US" altLang="zh-CN" sz="2000" dirty="0"/>
              <a:t>  </a:t>
            </a:r>
            <a:r>
              <a:rPr lang="en-US" altLang="zh-CN" sz="2000" dirty="0" err="1"/>
              <a:t>int</a:t>
            </a:r>
            <a:r>
              <a:rPr lang="en-US" altLang="zh-CN" sz="2000" dirty="0"/>
              <a:t> k;</a:t>
            </a:r>
          </a:p>
          <a:p>
            <a:r>
              <a:rPr lang="en-US" altLang="zh-CN" sz="2000" dirty="0"/>
              <a:t>  </a:t>
            </a:r>
          </a:p>
          <a:p>
            <a:r>
              <a:rPr lang="en-US" altLang="zh-CN" sz="2000" dirty="0"/>
              <a:t>  if (num &gt; 100)  </a:t>
            </a:r>
          </a:p>
          <a:p>
            <a:r>
              <a:rPr lang="en-US" altLang="zh-CN" sz="2000" dirty="0"/>
              <a:t>      return (NULL);</a:t>
            </a:r>
          </a:p>
          <a:p>
            <a:r>
              <a:rPr lang="en-US" altLang="zh-CN" sz="2000" dirty="0"/>
              <a:t>  for (k = 0; k &lt; num; k++)</a:t>
            </a:r>
          </a:p>
          <a:p>
            <a:r>
              <a:rPr lang="en-US" altLang="zh-CN" sz="2000" dirty="0"/>
              <a:t>      </a:t>
            </a:r>
            <a:r>
              <a:rPr lang="en-US" altLang="zh-CN" sz="2000" dirty="0" err="1"/>
              <a:t>scanf</a:t>
            </a:r>
            <a:r>
              <a:rPr lang="en-US" altLang="zh-CN" sz="2000" dirty="0"/>
              <a:t> ("%d", &amp;a[k]);</a:t>
            </a:r>
          </a:p>
          <a:p>
            <a:r>
              <a:rPr lang="en-US" altLang="zh-CN" sz="2000" dirty="0"/>
              <a:t>  return (a);</a:t>
            </a:r>
          </a:p>
          <a:p>
            <a:r>
              <a:rPr lang="en-US" altLang="zh-CN" sz="2000" dirty="0"/>
              <a:t>} </a:t>
            </a:r>
          </a:p>
        </p:txBody>
      </p:sp>
      <p:sp>
        <p:nvSpPr>
          <p:cNvPr id="1214478" name="Rectangle 14" descr="信纸"/>
          <p:cNvSpPr>
            <a:spLocks noChangeArrowheads="1"/>
          </p:cNvSpPr>
          <p:nvPr/>
        </p:nvSpPr>
        <p:spPr bwMode="auto">
          <a:xfrm>
            <a:off x="6399193" y="1710095"/>
            <a:ext cx="5151600" cy="3477875"/>
          </a:xfrm>
          <a:prstGeom prst="rect">
            <a:avLst/>
          </a:prstGeom>
          <a:gradFill>
            <a:gsLst>
              <a:gs pos="0">
                <a:srgbClr val="CFCFD1"/>
              </a:gs>
              <a:gs pos="100000">
                <a:schemeClr val="bg1"/>
              </a:gs>
            </a:gsLst>
            <a:lin ang="135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solidFill>
                  <a:srgbClr val="CC0099"/>
                </a:solidFill>
              </a:rPr>
              <a:t>int *</a:t>
            </a:r>
            <a:r>
              <a:rPr lang="en-US" altLang="zh-CN" sz="2000" dirty="0" err="1">
                <a:solidFill>
                  <a:srgbClr val="CC0099"/>
                </a:solidFill>
              </a:rPr>
              <a:t>getdata</a:t>
            </a:r>
            <a:r>
              <a:rPr lang="en-US" altLang="zh-CN" sz="2000" dirty="0">
                <a:solidFill>
                  <a:srgbClr val="CC0099"/>
                </a:solidFill>
              </a:rPr>
              <a:t> (int num)</a:t>
            </a:r>
          </a:p>
          <a:p>
            <a:r>
              <a:rPr lang="en-US" altLang="zh-CN" sz="2000" dirty="0"/>
              <a:t>{</a:t>
            </a:r>
          </a:p>
          <a:p>
            <a:r>
              <a:rPr lang="en-US" altLang="zh-CN" sz="2000" dirty="0">
                <a:solidFill>
                  <a:srgbClr val="FF3300"/>
                </a:solidFill>
              </a:rPr>
              <a:t>  </a:t>
            </a:r>
            <a:r>
              <a:rPr lang="en-US" altLang="zh-CN" sz="2000" dirty="0">
                <a:solidFill>
                  <a:srgbClr val="C00000"/>
                </a:solidFill>
              </a:rPr>
              <a:t>static</a:t>
            </a:r>
            <a:r>
              <a:rPr lang="en-US" altLang="zh-CN" sz="2000" dirty="0">
                <a:solidFill>
                  <a:schemeClr val="accent2"/>
                </a:solidFill>
              </a:rPr>
              <a:t> </a:t>
            </a:r>
            <a:r>
              <a:rPr lang="en-US" altLang="zh-CN" sz="2000" dirty="0">
                <a:solidFill>
                  <a:schemeClr val="accent2">
                    <a:lumMod val="50000"/>
                  </a:schemeClr>
                </a:solidFill>
              </a:rPr>
              <a:t>int a[100];</a:t>
            </a:r>
          </a:p>
          <a:p>
            <a:r>
              <a:rPr lang="en-US" altLang="zh-CN" sz="2000" dirty="0"/>
              <a:t>  int k;</a:t>
            </a:r>
          </a:p>
          <a:p>
            <a:r>
              <a:rPr lang="en-US" altLang="zh-CN" sz="2000" dirty="0"/>
              <a:t>  </a:t>
            </a:r>
          </a:p>
          <a:p>
            <a:r>
              <a:rPr lang="en-US" altLang="zh-CN" sz="2000" dirty="0"/>
              <a:t>  if (num &gt; 100)  </a:t>
            </a:r>
          </a:p>
          <a:p>
            <a:r>
              <a:rPr lang="en-US" altLang="zh-CN" sz="2000" dirty="0"/>
              <a:t>      return (NULL);</a:t>
            </a:r>
          </a:p>
          <a:p>
            <a:r>
              <a:rPr lang="en-US" altLang="zh-CN" sz="2000" dirty="0"/>
              <a:t>  for (k = 0; k &lt; num; k++)</a:t>
            </a:r>
          </a:p>
          <a:p>
            <a:r>
              <a:rPr lang="en-US" altLang="zh-CN" sz="2000" dirty="0"/>
              <a:t>      </a:t>
            </a:r>
            <a:r>
              <a:rPr lang="en-US" altLang="zh-CN" sz="2000" dirty="0" err="1"/>
              <a:t>scanf</a:t>
            </a:r>
            <a:r>
              <a:rPr lang="en-US" altLang="zh-CN" sz="2000" dirty="0"/>
              <a:t> ("%d", &amp;a[k]);</a:t>
            </a:r>
          </a:p>
          <a:p>
            <a:r>
              <a:rPr lang="en-US" altLang="zh-CN" sz="2000" dirty="0"/>
              <a:t>  return (a);</a:t>
            </a:r>
          </a:p>
          <a:p>
            <a:r>
              <a:rPr lang="en-US" altLang="zh-CN" sz="2000" dirty="0"/>
              <a:t>} </a:t>
            </a:r>
          </a:p>
        </p:txBody>
      </p:sp>
      <p:sp>
        <p:nvSpPr>
          <p:cNvPr id="1214479" name="AutoShape 15"/>
          <p:cNvSpPr>
            <a:spLocks noChangeArrowheads="1"/>
          </p:cNvSpPr>
          <p:nvPr/>
        </p:nvSpPr>
        <p:spPr bwMode="auto">
          <a:xfrm>
            <a:off x="3575720" y="2090157"/>
            <a:ext cx="2231703" cy="1080120"/>
          </a:xfrm>
          <a:prstGeom prst="irregularSeal1">
            <a:avLst/>
          </a:prstGeom>
          <a:gradFill rotWithShape="1">
            <a:gsLst>
              <a:gs pos="0">
                <a:srgbClr val="CFCFD1"/>
              </a:gs>
              <a:gs pos="100000">
                <a:schemeClr val="bg1"/>
              </a:gs>
            </a:gsLst>
            <a:lin ang="5400000" scaled="1"/>
          </a:gradFill>
          <a:ln w="38100" algn="ctr">
            <a:solidFill>
              <a:srgbClr val="C00000"/>
            </a:solidFill>
            <a:miter lim="800000"/>
            <a:headEnd/>
            <a:tailEnd/>
          </a:ln>
          <a:effectLst>
            <a:outerShdw blurRad="50800" dist="106680" dir="2700000" algn="tl" rotWithShape="0">
              <a:prstClr val="black">
                <a:alpha val="43000"/>
              </a:prstClr>
            </a:outerShdw>
          </a:effectLst>
        </p:spPr>
        <p:txBody>
          <a:bodyPr wrap="none" anchor="ctr"/>
          <a:lstStyle/>
          <a:p>
            <a:pPr marL="342900" indent="-342900" algn="ctr"/>
            <a:r>
              <a:rPr lang="zh-CN" altLang="en-US" b="1" dirty="0">
                <a:solidFill>
                  <a:srgbClr val="C00000"/>
                </a:solidFill>
                <a:latin typeface="隶书" pitchFamily="49" charset="-122"/>
                <a:ea typeface="隶书" pitchFamily="49" charset="-122"/>
              </a:rPr>
              <a:t>错误！</a:t>
            </a:r>
          </a:p>
        </p:txBody>
      </p:sp>
      <p:sp>
        <p:nvSpPr>
          <p:cNvPr id="1214480" name="AutoShape 16"/>
          <p:cNvSpPr>
            <a:spLocks noChangeArrowheads="1"/>
          </p:cNvSpPr>
          <p:nvPr/>
        </p:nvSpPr>
        <p:spPr bwMode="auto">
          <a:xfrm>
            <a:off x="9120336" y="2018149"/>
            <a:ext cx="2128540" cy="1152128"/>
          </a:xfrm>
          <a:prstGeom prst="irregularSeal1">
            <a:avLst/>
          </a:prstGeom>
          <a:gradFill rotWithShape="1">
            <a:gsLst>
              <a:gs pos="0">
                <a:srgbClr val="CFCFD1"/>
              </a:gs>
              <a:gs pos="100000">
                <a:schemeClr val="bg1"/>
              </a:gs>
            </a:gsLst>
            <a:lin ang="5400000" scaled="1"/>
          </a:gradFill>
          <a:ln w="38100" algn="ctr">
            <a:solidFill>
              <a:srgbClr val="C00000"/>
            </a:solidFill>
            <a:miter lim="800000"/>
            <a:headEnd/>
            <a:tailEnd/>
          </a:ln>
          <a:effectLst>
            <a:outerShdw blurRad="50800" dist="106680" dir="2700000" algn="tl" rotWithShape="0">
              <a:prstClr val="black">
                <a:alpha val="43000"/>
              </a:prstClr>
            </a:outerShdw>
          </a:effectLst>
        </p:spPr>
        <p:txBody>
          <a:bodyPr wrap="none" anchor="ctr"/>
          <a:lstStyle/>
          <a:p>
            <a:pPr marL="342900" indent="-342900" algn="ctr"/>
            <a:r>
              <a:rPr lang="zh-CN" altLang="en-US" b="1">
                <a:solidFill>
                  <a:srgbClr val="C00000"/>
                </a:solidFill>
                <a:latin typeface="隶书" pitchFamily="49" charset="-122"/>
                <a:ea typeface="隶书" pitchFamily="49" charset="-122"/>
              </a:rPr>
              <a:t>正确！</a:t>
            </a:r>
          </a:p>
        </p:txBody>
      </p:sp>
      <p:sp>
        <p:nvSpPr>
          <p:cNvPr id="1214481" name="AutoShape 17"/>
          <p:cNvSpPr>
            <a:spLocks noChangeArrowheads="1"/>
          </p:cNvSpPr>
          <p:nvPr/>
        </p:nvSpPr>
        <p:spPr bwMode="auto">
          <a:xfrm>
            <a:off x="3946629" y="3729478"/>
            <a:ext cx="2005355" cy="647700"/>
          </a:xfrm>
          <a:prstGeom prst="wedgeRoundRectCallout">
            <a:avLst>
              <a:gd name="adj1" fmla="val -151868"/>
              <a:gd name="adj2" fmla="val -205712"/>
              <a:gd name="adj3" fmla="val 16667"/>
            </a:avLst>
          </a:prstGeom>
          <a:gradFill flip="none" rotWithShape="1">
            <a:gsLst>
              <a:gs pos="0">
                <a:srgbClr val="CFCFD1"/>
              </a:gs>
              <a:gs pos="100000">
                <a:schemeClr val="bg1"/>
              </a:gs>
            </a:gsLst>
            <a:lin ang="13500000" scaled="1"/>
            <a:tileRect/>
          </a:gradFill>
          <a:ln w="1905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a:spcBef>
                <a:spcPts val="0"/>
              </a:spcBef>
            </a:pPr>
            <a:r>
              <a:rPr lang="zh-CN" altLang="en-US" sz="2000" b="1" dirty="0">
                <a:solidFill>
                  <a:srgbClr val="C00000"/>
                </a:solidFill>
                <a:latin typeface="+mn-lt"/>
                <a:ea typeface="楷体" pitchFamily="49" charset="-122"/>
              </a:rPr>
              <a:t>函数返回后数组</a:t>
            </a:r>
            <a:r>
              <a:rPr lang="en-US" altLang="zh-CN" sz="2000" b="1" dirty="0">
                <a:solidFill>
                  <a:srgbClr val="C00000"/>
                </a:solidFill>
                <a:latin typeface="+mn-lt"/>
                <a:ea typeface="楷体" pitchFamily="49" charset="-122"/>
              </a:rPr>
              <a:t>a</a:t>
            </a:r>
            <a:r>
              <a:rPr lang="zh-CN" altLang="en-US" sz="2000" b="1" dirty="0">
                <a:solidFill>
                  <a:srgbClr val="C00000"/>
                </a:solidFill>
                <a:latin typeface="+mn-lt"/>
                <a:ea typeface="楷体" pitchFamily="49" charset="-122"/>
              </a:rPr>
              <a:t>将自动释放</a:t>
            </a:r>
          </a:p>
        </p:txBody>
      </p:sp>
      <p:sp>
        <p:nvSpPr>
          <p:cNvPr id="1214482" name="AutoShape 18"/>
          <p:cNvSpPr>
            <a:spLocks noChangeArrowheads="1"/>
          </p:cNvSpPr>
          <p:nvPr/>
        </p:nvSpPr>
        <p:spPr bwMode="auto">
          <a:xfrm>
            <a:off x="9552384" y="3729478"/>
            <a:ext cx="1800200" cy="647700"/>
          </a:xfrm>
          <a:prstGeom prst="wedgeRoundRectCallout">
            <a:avLst>
              <a:gd name="adj1" fmla="val -147730"/>
              <a:gd name="adj2" fmla="val -207320"/>
              <a:gd name="adj3" fmla="val 16667"/>
            </a:avLst>
          </a:prstGeom>
          <a:gradFill flip="none" rotWithShape="1">
            <a:gsLst>
              <a:gs pos="0">
                <a:srgbClr val="CFCFD1"/>
              </a:gs>
              <a:gs pos="100000">
                <a:schemeClr val="bg1"/>
              </a:gs>
            </a:gsLst>
            <a:lin ang="13500000" scaled="1"/>
            <a:tileRect/>
          </a:gradFill>
          <a:ln w="1905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a:spcBef>
                <a:spcPts val="0"/>
              </a:spcBef>
            </a:pPr>
            <a:r>
              <a:rPr lang="zh-CN" altLang="en-US" sz="2000" b="1" dirty="0">
                <a:solidFill>
                  <a:srgbClr val="C00000"/>
                </a:solidFill>
                <a:latin typeface="+mn-lt"/>
                <a:ea typeface="楷体" pitchFamily="49" charset="-122"/>
              </a:rPr>
              <a:t>函数返回后数组</a:t>
            </a:r>
            <a:r>
              <a:rPr lang="en-US" altLang="zh-CN" sz="2000" b="1" dirty="0">
                <a:solidFill>
                  <a:srgbClr val="C00000"/>
                </a:solidFill>
                <a:latin typeface="+mn-lt"/>
                <a:ea typeface="楷体" pitchFamily="49" charset="-122"/>
              </a:rPr>
              <a:t>a</a:t>
            </a:r>
            <a:r>
              <a:rPr lang="zh-CN" altLang="en-US" sz="2000" b="1" dirty="0">
                <a:solidFill>
                  <a:srgbClr val="C00000"/>
                </a:solidFill>
                <a:latin typeface="+mn-lt"/>
                <a:ea typeface="楷体" pitchFamily="49" charset="-122"/>
              </a:rPr>
              <a:t>仍将存在</a:t>
            </a:r>
          </a:p>
        </p:txBody>
      </p:sp>
      <p:sp>
        <p:nvSpPr>
          <p:cNvPr id="1214483" name="Rectangle 19"/>
          <p:cNvSpPr>
            <a:spLocks noChangeArrowheads="1"/>
          </p:cNvSpPr>
          <p:nvPr/>
        </p:nvSpPr>
        <p:spPr bwMode="auto">
          <a:xfrm>
            <a:off x="840967" y="5250317"/>
            <a:ext cx="10634935" cy="1569660"/>
          </a:xfrm>
          <a:prstGeom prst="rect">
            <a:avLst/>
          </a:prstGeom>
          <a:gradFill flip="none" rotWithShape="1">
            <a:gsLst>
              <a:gs pos="0">
                <a:srgbClr val="CFCFD1">
                  <a:lumMod val="99000"/>
                </a:srgbClr>
              </a:gs>
              <a:gs pos="100000">
                <a:schemeClr val="bg1"/>
              </a:gs>
            </a:gsLst>
            <a:lin ang="13500000" scaled="1"/>
            <a:tileRect/>
          </a:gra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dirty="0">
                <a:solidFill>
                  <a:srgbClr val="C00000"/>
                </a:solidFill>
                <a:latin typeface="+mn-lt"/>
                <a:ea typeface="隶书" pitchFamily="49" charset="-122"/>
              </a:rPr>
              <a:t>    </a:t>
            </a:r>
            <a:r>
              <a:rPr lang="zh-CN" altLang="en-US" u="sng" dirty="0">
                <a:solidFill>
                  <a:srgbClr val="C00000"/>
                </a:solidFill>
                <a:latin typeface="+mn-lt"/>
                <a:ea typeface="隶书" pitchFamily="49" charset="-122"/>
              </a:rPr>
              <a:t>编写指针函数返回的指针通常有以下几种：</a:t>
            </a:r>
            <a:endParaRPr lang="en-US" altLang="zh-CN" u="sng" dirty="0">
              <a:solidFill>
                <a:srgbClr val="C00000"/>
              </a:solidFill>
              <a:latin typeface="+mn-lt"/>
              <a:ea typeface="隶书" pitchFamily="49" charset="-122"/>
            </a:endParaRPr>
          </a:p>
          <a:p>
            <a:pPr marL="265113" indent="-265113">
              <a:lnSpc>
                <a:spcPct val="100000"/>
              </a:lnSpc>
              <a:spcBef>
                <a:spcPct val="0"/>
              </a:spcBef>
              <a:buClr>
                <a:srgbClr val="C00000"/>
              </a:buClr>
              <a:buFont typeface="Wingdings" pitchFamily="2" charset="2"/>
              <a:buChar char="l"/>
            </a:pPr>
            <a:r>
              <a:rPr lang="zh-CN" altLang="en-US" dirty="0">
                <a:latin typeface="+mn-lt"/>
                <a:ea typeface="隶书" pitchFamily="49" charset="-122"/>
              </a:rPr>
              <a:t>函数中动态分配的内存（通过</a:t>
            </a:r>
            <a:r>
              <a:rPr lang="en-US" altLang="zh-CN" dirty="0" err="1">
                <a:solidFill>
                  <a:srgbClr val="C00000"/>
                </a:solidFill>
                <a:latin typeface="+mn-lt"/>
                <a:ea typeface="隶书" pitchFamily="49" charset="-122"/>
              </a:rPr>
              <a:t>malloc</a:t>
            </a:r>
            <a:r>
              <a:rPr lang="zh-CN" altLang="en-US" dirty="0">
                <a:latin typeface="+mn-lt"/>
                <a:ea typeface="隶书" pitchFamily="49" charset="-122"/>
              </a:rPr>
              <a:t>等实现）的首地址；</a:t>
            </a:r>
            <a:endParaRPr lang="en-US" altLang="zh-CN" dirty="0">
              <a:latin typeface="+mn-lt"/>
              <a:ea typeface="隶书" pitchFamily="49" charset="-122"/>
            </a:endParaRPr>
          </a:p>
          <a:p>
            <a:pPr marL="265113" indent="-265113">
              <a:lnSpc>
                <a:spcPct val="100000"/>
              </a:lnSpc>
              <a:spcBef>
                <a:spcPct val="0"/>
              </a:spcBef>
              <a:buClr>
                <a:srgbClr val="C00000"/>
              </a:buClr>
              <a:buFont typeface="Wingdings" pitchFamily="2" charset="2"/>
              <a:buChar char="l"/>
            </a:pPr>
            <a:r>
              <a:rPr lang="zh-CN" altLang="en-US" dirty="0">
                <a:latin typeface="+mn-lt"/>
                <a:ea typeface="隶书" pitchFamily="49" charset="-122"/>
              </a:rPr>
              <a:t>函数中的静态（</a:t>
            </a:r>
            <a:r>
              <a:rPr lang="en-US" altLang="zh-CN" dirty="0">
                <a:solidFill>
                  <a:srgbClr val="C00000"/>
                </a:solidFill>
                <a:latin typeface="+mn-lt"/>
                <a:ea typeface="隶书" pitchFamily="49" charset="-122"/>
              </a:rPr>
              <a:t>static</a:t>
            </a:r>
            <a:r>
              <a:rPr lang="zh-CN" altLang="en-US" dirty="0">
                <a:latin typeface="+mn-lt"/>
                <a:ea typeface="隶书" pitchFamily="49" charset="-122"/>
              </a:rPr>
              <a:t>）变量或全局变量所对应的内存单元的首地址；</a:t>
            </a:r>
            <a:endParaRPr lang="en-US" altLang="zh-CN" dirty="0">
              <a:latin typeface="+mn-lt"/>
              <a:ea typeface="隶书" pitchFamily="49" charset="-122"/>
            </a:endParaRPr>
          </a:p>
          <a:p>
            <a:pPr marL="265113" indent="-265113">
              <a:lnSpc>
                <a:spcPct val="100000"/>
              </a:lnSpc>
              <a:spcBef>
                <a:spcPct val="0"/>
              </a:spcBef>
              <a:buClr>
                <a:srgbClr val="C00000"/>
              </a:buClr>
              <a:buFont typeface="Wingdings" pitchFamily="2" charset="2"/>
              <a:buChar char="l"/>
            </a:pPr>
            <a:r>
              <a:rPr lang="zh-CN" altLang="en-US" dirty="0">
                <a:latin typeface="+mn-lt"/>
                <a:ea typeface="隶书" pitchFamily="49" charset="-122"/>
              </a:rPr>
              <a:t>通过指针形参所获得的</a:t>
            </a:r>
            <a:r>
              <a:rPr lang="zh-CN" altLang="en-US" dirty="0">
                <a:solidFill>
                  <a:srgbClr val="C00000"/>
                </a:solidFill>
                <a:latin typeface="+mn-lt"/>
                <a:ea typeface="隶书" pitchFamily="49" charset="-122"/>
              </a:rPr>
              <a:t>实参的有效地址</a:t>
            </a:r>
            <a:r>
              <a:rPr lang="zh-CN" altLang="en-US" dirty="0">
                <a:latin typeface="+mn-lt"/>
                <a:ea typeface="隶书" pitchFamily="49" charset="-122"/>
              </a:rPr>
              <a:t>。 </a:t>
            </a:r>
          </a:p>
        </p:txBody>
      </p:sp>
      <p:sp>
        <p:nvSpPr>
          <p:cNvPr id="13" name="Rectangle 4">
            <a:extLst>
              <a:ext uri="{FF2B5EF4-FFF2-40B4-BE49-F238E27FC236}">
                <a16:creationId xmlns:a16="http://schemas.microsoft.com/office/drawing/2014/main" id="{DD468645-6F48-416F-B3FD-BDC6894DEF29}"/>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9.9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指针作为函数的返回值</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____</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指针函数</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14476"/>
                                        </p:tgtEl>
                                        <p:attrNameLst>
                                          <p:attrName>style.visibility</p:attrName>
                                        </p:attrNameLst>
                                      </p:cBhvr>
                                      <p:to>
                                        <p:strVal val="visible"/>
                                      </p:to>
                                    </p:set>
                                    <p:animEffect transition="in" filter="box(out)">
                                      <p:cBhvr>
                                        <p:cTn id="7" dur="500"/>
                                        <p:tgtEl>
                                          <p:spTgt spid="121447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14477"/>
                                        </p:tgtEl>
                                        <p:attrNameLst>
                                          <p:attrName>style.visibility</p:attrName>
                                        </p:attrNameLst>
                                      </p:cBhvr>
                                      <p:to>
                                        <p:strVal val="visible"/>
                                      </p:to>
                                    </p:set>
                                    <p:animEffect transition="in" filter="box(out)">
                                      <p:cBhvr>
                                        <p:cTn id="12" dur="500"/>
                                        <p:tgtEl>
                                          <p:spTgt spid="121447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214479"/>
                                        </p:tgtEl>
                                        <p:attrNameLst>
                                          <p:attrName>style.visibility</p:attrName>
                                        </p:attrNameLst>
                                      </p:cBhvr>
                                      <p:to>
                                        <p:strVal val="visible"/>
                                      </p:to>
                                    </p:set>
                                    <p:animEffect transition="in" filter="box(out)">
                                      <p:cBhvr>
                                        <p:cTn id="17" dur="500"/>
                                        <p:tgtEl>
                                          <p:spTgt spid="1214479"/>
                                        </p:tgtEl>
                                      </p:cBhvr>
                                    </p:animEffect>
                                  </p:childTnLst>
                                  <p:subTnLst>
                                    <p:audio>
                                      <p:cMediaNode>
                                        <p:cTn display="0" masterRel="sameClick">
                                          <p:stCondLst>
                                            <p:cond evt="begin" delay="0">
                                              <p:tn val="15"/>
                                            </p:cond>
                                          </p:stCondLst>
                                          <p:endCondLst>
                                            <p:cond evt="onStopAudio" delay="0">
                                              <p:tgtEl>
                                                <p:sldTgt/>
                                              </p:tgtEl>
                                            </p:cond>
                                          </p:endCondLst>
                                        </p:cTn>
                                        <p:tgtEl>
                                          <p:sndTgt r:embed="rId4" name="bomb.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14478"/>
                                        </p:tgtEl>
                                        <p:attrNameLst>
                                          <p:attrName>style.visibility</p:attrName>
                                        </p:attrNameLst>
                                      </p:cBhvr>
                                      <p:to>
                                        <p:strVal val="visible"/>
                                      </p:to>
                                    </p:set>
                                    <p:animEffect transition="in" filter="box(out)">
                                      <p:cBhvr>
                                        <p:cTn id="22" dur="500"/>
                                        <p:tgtEl>
                                          <p:spTgt spid="1214478"/>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14480"/>
                                        </p:tgtEl>
                                        <p:attrNameLst>
                                          <p:attrName>style.visibility</p:attrName>
                                        </p:attrNameLst>
                                      </p:cBhvr>
                                      <p:to>
                                        <p:strVal val="visible"/>
                                      </p:to>
                                    </p:set>
                                    <p:animEffect transition="in" filter="box(out)">
                                      <p:cBhvr>
                                        <p:cTn id="27" dur="500"/>
                                        <p:tgtEl>
                                          <p:spTgt spid="1214480"/>
                                        </p:tgtEl>
                                      </p:cBhvr>
                                    </p:animEffect>
                                  </p:childTnLst>
                                  <p:subTnLst>
                                    <p:audio>
                                      <p:cMediaNode>
                                        <p:cTn display="0" masterRel="sameClick">
                                          <p:stCondLst>
                                            <p:cond evt="begin" delay="0">
                                              <p:tn val="25"/>
                                            </p:cond>
                                          </p:stCondLst>
                                          <p:endCondLst>
                                            <p:cond evt="onStopAudio" delay="0">
                                              <p:tgtEl>
                                                <p:sldTgt/>
                                              </p:tgtEl>
                                            </p:cond>
                                          </p:endCondLst>
                                        </p:cTn>
                                        <p:tgtEl>
                                          <p:sndTgt r:embed="rId5" name="chimes.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214481"/>
                                        </p:tgtEl>
                                        <p:attrNameLst>
                                          <p:attrName>style.visibility</p:attrName>
                                        </p:attrNameLst>
                                      </p:cBhvr>
                                      <p:to>
                                        <p:strVal val="visible"/>
                                      </p:to>
                                    </p:set>
                                    <p:animEffect transition="in" filter="strips(downRight)">
                                      <p:cBhvr>
                                        <p:cTn id="32" dur="500"/>
                                        <p:tgtEl>
                                          <p:spTgt spid="1214481"/>
                                        </p:tgtEl>
                                      </p:cBhvr>
                                    </p:animEffect>
                                  </p:childTnLst>
                                  <p:subTnLst>
                                    <p:audio>
                                      <p:cMediaNode>
                                        <p:cTn display="0" masterRel="sameClick">
                                          <p:stCondLst>
                                            <p:cond evt="begin" delay="0">
                                              <p:tn val="30"/>
                                            </p:cond>
                                          </p:stCondLst>
                                          <p:endCondLst>
                                            <p:cond evt="onStopAudio" delay="0">
                                              <p:tgtEl>
                                                <p:sldTgt/>
                                              </p:tgtEl>
                                            </p:cond>
                                          </p:endCondLst>
                                        </p:cTn>
                                        <p:tgtEl>
                                          <p:sndTgt r:embed="rId6" name="laser.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214482"/>
                                        </p:tgtEl>
                                        <p:attrNameLst>
                                          <p:attrName>style.visibility</p:attrName>
                                        </p:attrNameLst>
                                      </p:cBhvr>
                                      <p:to>
                                        <p:strVal val="visible"/>
                                      </p:to>
                                    </p:set>
                                    <p:animEffect transition="in" filter="strips(downRight)">
                                      <p:cBhvr>
                                        <p:cTn id="37" dur="500"/>
                                        <p:tgtEl>
                                          <p:spTgt spid="1214482"/>
                                        </p:tgtEl>
                                      </p:cBhvr>
                                    </p:animEffect>
                                  </p:childTnLst>
                                  <p:subTnLst>
                                    <p:audio>
                                      <p:cMediaNode>
                                        <p:cTn display="0" masterRel="sameClick">
                                          <p:stCondLst>
                                            <p:cond evt="begin" delay="0">
                                              <p:tn val="35"/>
                                            </p:cond>
                                          </p:stCondLst>
                                          <p:endCondLst>
                                            <p:cond evt="onStopAudio" delay="0">
                                              <p:tgtEl>
                                                <p:sldTgt/>
                                              </p:tgtEl>
                                            </p:cond>
                                          </p:endCondLst>
                                        </p:cTn>
                                        <p:tgtEl>
                                          <p:sndTgt r:embed="rId6" name="laser.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214483"/>
                                        </p:tgtEl>
                                        <p:attrNameLst>
                                          <p:attrName>style.visibility</p:attrName>
                                        </p:attrNameLst>
                                      </p:cBhvr>
                                      <p:to>
                                        <p:strVal val="visible"/>
                                      </p:to>
                                    </p:set>
                                    <p:animEffect transition="in" filter="box(out)">
                                      <p:cBhvr>
                                        <p:cTn id="42" dur="500"/>
                                        <p:tgtEl>
                                          <p:spTgt spid="1214483"/>
                                        </p:tgtEl>
                                      </p:cBhvr>
                                    </p:animEffect>
                                  </p:childTnLst>
                                  <p:subTnLst>
                                    <p:audio>
                                      <p:cMediaNode>
                                        <p:cTn display="0" masterRel="sameClick">
                                          <p:stCondLst>
                                            <p:cond evt="begin" delay="0">
                                              <p:tn val="40"/>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4476" grpId="0" animBg="1"/>
      <p:bldP spid="1214477" grpId="0" animBg="1"/>
      <p:bldP spid="1214478" grpId="0" animBg="1"/>
      <p:bldP spid="1214479" grpId="0" animBg="1"/>
      <p:bldP spid="1214480" grpId="0" animBg="1"/>
      <p:bldP spid="1214481" grpId="0" animBg="1"/>
      <p:bldP spid="1214482" grpId="0" animBg="1"/>
      <p:bldP spid="1214483"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5551" name="Group 63"/>
          <p:cNvGrpSpPr>
            <a:grpSpLocks/>
          </p:cNvGrpSpPr>
          <p:nvPr/>
        </p:nvGrpSpPr>
        <p:grpSpPr bwMode="auto">
          <a:xfrm>
            <a:off x="2567608" y="1989603"/>
            <a:ext cx="6192837" cy="3168650"/>
            <a:chOff x="703" y="1298"/>
            <a:chExt cx="3901" cy="1996"/>
          </a:xfrm>
        </p:grpSpPr>
        <p:grpSp>
          <p:nvGrpSpPr>
            <p:cNvPr id="1215539" name="Group 51"/>
            <p:cNvGrpSpPr>
              <a:grpSpLocks/>
            </p:cNvGrpSpPr>
            <p:nvPr/>
          </p:nvGrpSpPr>
          <p:grpSpPr bwMode="auto">
            <a:xfrm>
              <a:off x="2336" y="1298"/>
              <a:ext cx="936" cy="1996"/>
              <a:chOff x="2406" y="1162"/>
              <a:chExt cx="936" cy="1996"/>
            </a:xfrm>
          </p:grpSpPr>
          <p:sp>
            <p:nvSpPr>
              <p:cNvPr id="1215505" name="AutoShape 17"/>
              <p:cNvSpPr>
                <a:spLocks noChangeArrowheads="1"/>
              </p:cNvSpPr>
              <p:nvPr/>
            </p:nvSpPr>
            <p:spPr bwMode="auto">
              <a:xfrm>
                <a:off x="2406" y="1162"/>
                <a:ext cx="936" cy="1996"/>
              </a:xfrm>
              <a:prstGeom prst="foldedCorner">
                <a:avLst>
                  <a:gd name="adj" fmla="val 13745"/>
                </a:avLst>
              </a:prstGeom>
              <a:solidFill>
                <a:srgbClr val="DDFAED"/>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a typeface="隶书" pitchFamily="49" charset="-122"/>
                </a:endParaRPr>
              </a:p>
            </p:txBody>
          </p:sp>
          <p:sp>
            <p:nvSpPr>
              <p:cNvPr id="1215506" name="Line 18"/>
              <p:cNvSpPr>
                <a:spLocks noChangeShapeType="1"/>
              </p:cNvSpPr>
              <p:nvPr/>
            </p:nvSpPr>
            <p:spPr bwMode="auto">
              <a:xfrm>
                <a:off x="2406" y="147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5507" name="Line 19"/>
              <p:cNvSpPr>
                <a:spLocks noChangeShapeType="1"/>
              </p:cNvSpPr>
              <p:nvPr/>
            </p:nvSpPr>
            <p:spPr bwMode="auto">
              <a:xfrm>
                <a:off x="2406" y="170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5508" name="Line 20"/>
              <p:cNvSpPr>
                <a:spLocks noChangeShapeType="1"/>
              </p:cNvSpPr>
              <p:nvPr/>
            </p:nvSpPr>
            <p:spPr bwMode="auto">
              <a:xfrm>
                <a:off x="2406" y="193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5510" name="Line 22"/>
              <p:cNvSpPr>
                <a:spLocks noChangeShapeType="1"/>
              </p:cNvSpPr>
              <p:nvPr/>
            </p:nvSpPr>
            <p:spPr bwMode="auto">
              <a:xfrm>
                <a:off x="2406" y="238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5511" name="Line 23"/>
              <p:cNvSpPr>
                <a:spLocks noChangeShapeType="1"/>
              </p:cNvSpPr>
              <p:nvPr/>
            </p:nvSpPr>
            <p:spPr bwMode="auto">
              <a:xfrm>
                <a:off x="2406" y="261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grpSp>
        <p:grpSp>
          <p:nvGrpSpPr>
            <p:cNvPr id="1215543" name="Group 55"/>
            <p:cNvGrpSpPr>
              <a:grpSpLocks/>
            </p:cNvGrpSpPr>
            <p:nvPr/>
          </p:nvGrpSpPr>
          <p:grpSpPr bwMode="auto">
            <a:xfrm>
              <a:off x="2517" y="1623"/>
              <a:ext cx="546" cy="1179"/>
              <a:chOff x="2517" y="1623"/>
              <a:chExt cx="546" cy="1179"/>
            </a:xfrm>
          </p:grpSpPr>
          <p:sp>
            <p:nvSpPr>
              <p:cNvPr id="1215540" name="Text Box 52"/>
              <p:cNvSpPr txBox="1">
                <a:spLocks noChangeArrowheads="1"/>
              </p:cNvSpPr>
              <p:nvPr/>
            </p:nvSpPr>
            <p:spPr bwMode="auto">
              <a:xfrm>
                <a:off x="2517" y="1623"/>
                <a:ext cx="545" cy="252"/>
              </a:xfrm>
              <a:prstGeom prst="rect">
                <a:avLst/>
              </a:prstGeom>
              <a:noFill/>
              <a:ln w="9525" algn="ctr">
                <a:noFill/>
                <a:miter lim="800000"/>
                <a:headEnd/>
                <a:tailEnd/>
              </a:ln>
              <a:effectLst/>
            </p:spPr>
            <p:txBody>
              <a:bodyPr>
                <a:spAutoFit/>
              </a:bodyPr>
              <a:lstStyle/>
              <a:p>
                <a:pPr marL="342900" indent="-342900">
                  <a:spcBef>
                    <a:spcPct val="50000"/>
                  </a:spcBef>
                </a:pPr>
                <a:r>
                  <a:rPr lang="zh-CN" altLang="en-US" sz="2000" dirty="0">
                    <a:latin typeface="+mn-lt"/>
                    <a:ea typeface="楷体" pitchFamily="49" charset="-122"/>
                  </a:rPr>
                  <a:t>指令</a:t>
                </a:r>
                <a:r>
                  <a:rPr lang="en-US" altLang="zh-CN" sz="2000" dirty="0">
                    <a:latin typeface="+mn-lt"/>
                    <a:ea typeface="楷体" pitchFamily="49" charset="-122"/>
                  </a:rPr>
                  <a:t>1</a:t>
                </a:r>
              </a:p>
            </p:txBody>
          </p:sp>
          <p:sp>
            <p:nvSpPr>
              <p:cNvPr id="1215541" name="Text Box 53"/>
              <p:cNvSpPr txBox="1">
                <a:spLocks noChangeArrowheads="1"/>
              </p:cNvSpPr>
              <p:nvPr/>
            </p:nvSpPr>
            <p:spPr bwMode="auto">
              <a:xfrm>
                <a:off x="2518" y="1867"/>
                <a:ext cx="545" cy="252"/>
              </a:xfrm>
              <a:prstGeom prst="rect">
                <a:avLst/>
              </a:prstGeom>
              <a:noFill/>
              <a:ln w="9525" algn="ctr">
                <a:noFill/>
                <a:miter lim="800000"/>
                <a:headEnd/>
                <a:tailEnd/>
              </a:ln>
              <a:effectLst/>
            </p:spPr>
            <p:txBody>
              <a:bodyPr>
                <a:spAutoFit/>
              </a:bodyPr>
              <a:lstStyle/>
              <a:p>
                <a:pPr marL="342900" indent="-342900">
                  <a:spcBef>
                    <a:spcPct val="50000"/>
                  </a:spcBef>
                </a:pPr>
                <a:r>
                  <a:rPr lang="zh-CN" altLang="en-US" sz="2000">
                    <a:latin typeface="+mn-lt"/>
                    <a:ea typeface="楷体" pitchFamily="49" charset="-122"/>
                  </a:rPr>
                  <a:t>指令</a:t>
                </a:r>
                <a:r>
                  <a:rPr lang="en-US" altLang="zh-CN" sz="2000">
                    <a:latin typeface="+mn-lt"/>
                    <a:ea typeface="楷体" pitchFamily="49" charset="-122"/>
                  </a:rPr>
                  <a:t>2</a:t>
                </a:r>
              </a:p>
            </p:txBody>
          </p:sp>
          <p:sp>
            <p:nvSpPr>
              <p:cNvPr id="1215542" name="Text Box 54"/>
              <p:cNvSpPr txBox="1">
                <a:spLocks noChangeArrowheads="1"/>
              </p:cNvSpPr>
              <p:nvPr/>
            </p:nvSpPr>
            <p:spPr bwMode="auto">
              <a:xfrm>
                <a:off x="2517" y="2550"/>
                <a:ext cx="545" cy="252"/>
              </a:xfrm>
              <a:prstGeom prst="rect">
                <a:avLst/>
              </a:prstGeom>
              <a:noFill/>
              <a:ln w="9525" algn="ctr">
                <a:noFill/>
                <a:miter lim="800000"/>
                <a:headEnd/>
                <a:tailEnd/>
              </a:ln>
              <a:effectLst/>
            </p:spPr>
            <p:txBody>
              <a:bodyPr>
                <a:spAutoFit/>
              </a:bodyPr>
              <a:lstStyle/>
              <a:p>
                <a:pPr marL="342900" indent="-342900">
                  <a:spcBef>
                    <a:spcPct val="50000"/>
                  </a:spcBef>
                </a:pPr>
                <a:r>
                  <a:rPr lang="zh-CN" altLang="en-US" sz="2000" dirty="0">
                    <a:latin typeface="+mn-lt"/>
                    <a:ea typeface="楷体" pitchFamily="49" charset="-122"/>
                  </a:rPr>
                  <a:t>指令</a:t>
                </a:r>
                <a:r>
                  <a:rPr lang="en-US" altLang="zh-CN" sz="2000" dirty="0">
                    <a:latin typeface="+mn-lt"/>
                    <a:ea typeface="楷体" pitchFamily="49" charset="-122"/>
                  </a:rPr>
                  <a:t>n</a:t>
                </a:r>
              </a:p>
            </p:txBody>
          </p:sp>
        </p:grpSp>
        <p:grpSp>
          <p:nvGrpSpPr>
            <p:cNvPr id="1215546" name="Group 58"/>
            <p:cNvGrpSpPr>
              <a:grpSpLocks/>
            </p:cNvGrpSpPr>
            <p:nvPr/>
          </p:nvGrpSpPr>
          <p:grpSpPr bwMode="auto">
            <a:xfrm>
              <a:off x="1428" y="1534"/>
              <a:ext cx="889" cy="252"/>
              <a:chOff x="1428" y="1534"/>
              <a:chExt cx="889" cy="252"/>
            </a:xfrm>
          </p:grpSpPr>
          <p:sp>
            <p:nvSpPr>
              <p:cNvPr id="1215544" name="Line 56"/>
              <p:cNvSpPr>
                <a:spLocks noChangeShapeType="1"/>
              </p:cNvSpPr>
              <p:nvPr/>
            </p:nvSpPr>
            <p:spPr bwMode="auto">
              <a:xfrm>
                <a:off x="1818" y="1661"/>
                <a:ext cx="499" cy="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a:lstStyle/>
              <a:p>
                <a:endParaRPr lang="zh-CN" altLang="en-US"/>
              </a:p>
            </p:txBody>
          </p:sp>
          <p:sp>
            <p:nvSpPr>
              <p:cNvPr id="1215545" name="Text Box 57"/>
              <p:cNvSpPr txBox="1">
                <a:spLocks noChangeArrowheads="1"/>
              </p:cNvSpPr>
              <p:nvPr/>
            </p:nvSpPr>
            <p:spPr bwMode="auto">
              <a:xfrm>
                <a:off x="1428" y="1534"/>
                <a:ext cx="499"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err="1">
                    <a:solidFill>
                      <a:srgbClr val="C00000"/>
                    </a:solidFill>
                  </a:rPr>
                  <a:t>func</a:t>
                </a:r>
                <a:endParaRPr lang="en-US" altLang="zh-CN" sz="2000" dirty="0">
                  <a:solidFill>
                    <a:srgbClr val="C00000"/>
                  </a:solidFill>
                </a:endParaRPr>
              </a:p>
            </p:txBody>
          </p:sp>
        </p:grpSp>
        <p:grpSp>
          <p:nvGrpSpPr>
            <p:cNvPr id="1215549" name="Group 61"/>
            <p:cNvGrpSpPr>
              <a:grpSpLocks/>
            </p:cNvGrpSpPr>
            <p:nvPr/>
          </p:nvGrpSpPr>
          <p:grpSpPr bwMode="auto">
            <a:xfrm>
              <a:off x="3243" y="1616"/>
              <a:ext cx="1361" cy="1134"/>
              <a:chOff x="3243" y="1616"/>
              <a:chExt cx="1361" cy="1134"/>
            </a:xfrm>
          </p:grpSpPr>
          <p:sp>
            <p:nvSpPr>
              <p:cNvPr id="1215547" name="AutoShape 59"/>
              <p:cNvSpPr>
                <a:spLocks/>
              </p:cNvSpPr>
              <p:nvPr/>
            </p:nvSpPr>
            <p:spPr bwMode="auto">
              <a:xfrm>
                <a:off x="3243" y="1616"/>
                <a:ext cx="272" cy="1134"/>
              </a:xfrm>
              <a:prstGeom prst="rightBrace">
                <a:avLst>
                  <a:gd name="adj1" fmla="val 34743"/>
                  <a:gd name="adj2" fmla="val 50000"/>
                </a:avLst>
              </a:prstGeom>
              <a:noFill/>
              <a:ln w="25400">
                <a:solidFill>
                  <a:schemeClr val="accent2">
                    <a:lumMod val="50000"/>
                  </a:schemeClr>
                </a:solidFill>
                <a:round/>
                <a:headEnd/>
                <a:tailEnd/>
              </a:ln>
              <a:effectLst>
                <a:outerShdw dist="35921" dir="2700000" algn="ctr" rotWithShape="0">
                  <a:schemeClr val="bg2"/>
                </a:outerShdw>
              </a:effectLst>
            </p:spPr>
            <p:txBody>
              <a:bodyPr wrap="none" anchor="ctr"/>
              <a:lstStyle/>
              <a:p>
                <a:endParaRPr lang="zh-CN" altLang="en-US"/>
              </a:p>
            </p:txBody>
          </p:sp>
          <p:sp>
            <p:nvSpPr>
              <p:cNvPr id="1215548" name="Rectangle 60"/>
              <p:cNvSpPr>
                <a:spLocks noChangeArrowheads="1"/>
              </p:cNvSpPr>
              <p:nvPr/>
            </p:nvSpPr>
            <p:spPr bwMode="auto">
              <a:xfrm>
                <a:off x="3516" y="1979"/>
                <a:ext cx="1088" cy="442"/>
              </a:xfrm>
              <a:prstGeom prst="rect">
                <a:avLst/>
              </a:prstGeom>
              <a:noFill/>
              <a:ln w="9525" algn="ctr">
                <a:noFill/>
                <a:miter lim="800000"/>
                <a:headEnd/>
                <a:tailEnd/>
              </a:ln>
              <a:effectLst/>
            </p:spPr>
            <p:txBody>
              <a:bodyPr anchor="ctr">
                <a:spAutoFit/>
              </a:bodyPr>
              <a:lstStyle/>
              <a:p>
                <a:pPr>
                  <a:lnSpc>
                    <a:spcPct val="100000"/>
                  </a:lnSpc>
                  <a:spcBef>
                    <a:spcPct val="0"/>
                  </a:spcBef>
                </a:pPr>
                <a:r>
                  <a:rPr lang="zh-CN" altLang="en-US" sz="2000" dirty="0">
                    <a:solidFill>
                      <a:schemeClr val="accent2">
                        <a:lumMod val="50000"/>
                      </a:schemeClr>
                    </a:solidFill>
                    <a:latin typeface="+mn-lt"/>
                    <a:ea typeface="楷体" pitchFamily="49" charset="-122"/>
                  </a:rPr>
                  <a:t>函数</a:t>
                </a:r>
                <a:r>
                  <a:rPr lang="en-US" altLang="zh-CN" sz="2000" dirty="0" err="1">
                    <a:solidFill>
                      <a:schemeClr val="accent2">
                        <a:lumMod val="50000"/>
                      </a:schemeClr>
                    </a:solidFill>
                    <a:latin typeface="+mn-lt"/>
                    <a:ea typeface="楷体" pitchFamily="49" charset="-122"/>
                  </a:rPr>
                  <a:t>func</a:t>
                </a:r>
                <a:r>
                  <a:rPr lang="zh-CN" altLang="en-US" sz="2000" dirty="0">
                    <a:solidFill>
                      <a:schemeClr val="accent2">
                        <a:lumMod val="50000"/>
                      </a:schemeClr>
                    </a:solidFill>
                    <a:latin typeface="+mn-lt"/>
                    <a:ea typeface="楷体" pitchFamily="49" charset="-122"/>
                  </a:rPr>
                  <a:t>所占内存单元</a:t>
                </a:r>
              </a:p>
            </p:txBody>
          </p:sp>
        </p:grpSp>
        <p:sp>
          <p:nvSpPr>
            <p:cNvPr id="1215550" name="AutoShape 62"/>
            <p:cNvSpPr>
              <a:spLocks noChangeArrowheads="1"/>
            </p:cNvSpPr>
            <p:nvPr/>
          </p:nvSpPr>
          <p:spPr bwMode="auto">
            <a:xfrm>
              <a:off x="703" y="2024"/>
              <a:ext cx="952" cy="272"/>
            </a:xfrm>
            <a:prstGeom prst="wedgeRoundRectCallout">
              <a:avLst>
                <a:gd name="adj1" fmla="val 53255"/>
                <a:gd name="adj2" fmla="val -162134"/>
                <a:gd name="adj3" fmla="val 16667"/>
              </a:avLst>
            </a:prstGeom>
            <a:gradFill rotWithShape="1">
              <a:gsLst>
                <a:gs pos="0">
                  <a:srgbClr val="CFCFD1"/>
                </a:gs>
                <a:gs pos="100000">
                  <a:schemeClr val="bg1"/>
                </a:gs>
              </a:gsLst>
              <a:lin ang="5400000" scaled="1"/>
            </a:gradFill>
            <a:ln w="19050" algn="ctr">
              <a:solidFill>
                <a:srgbClr val="C00000"/>
              </a:solidFill>
              <a:miter lim="800000"/>
              <a:headEnd/>
              <a:tailEnd/>
            </a:ln>
            <a:effectLst>
              <a:outerShdw blurRad="50800" dist="106680" dir="2700000" algn="tl" rotWithShape="0">
                <a:prstClr val="black">
                  <a:alpha val="43000"/>
                </a:prstClr>
              </a:outerShdw>
            </a:effectLst>
          </p:spPr>
          <p:txBody>
            <a:bodyPr/>
            <a:lstStyle/>
            <a:p>
              <a:pPr marL="342900" indent="-342900"/>
              <a:r>
                <a:rPr lang="zh-CN" altLang="en-US" sz="2000">
                  <a:solidFill>
                    <a:srgbClr val="C00000"/>
                  </a:solidFill>
                  <a:latin typeface="+mn-lt"/>
                  <a:ea typeface="楷体" pitchFamily="49" charset="-122"/>
                </a:rPr>
                <a:t>函数指针</a:t>
              </a:r>
            </a:p>
          </p:txBody>
        </p:sp>
      </p:grpSp>
      <p:sp>
        <p:nvSpPr>
          <p:cNvPr id="1215554" name="Text Box 66"/>
          <p:cNvSpPr txBox="1">
            <a:spLocks noChangeArrowheads="1"/>
          </p:cNvSpPr>
          <p:nvPr/>
        </p:nvSpPr>
        <p:spPr bwMode="auto">
          <a:xfrm>
            <a:off x="1655973" y="2890842"/>
            <a:ext cx="9084737" cy="458788"/>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lstStyle/>
          <a:p>
            <a:pPr marL="342900" indent="-342900" algn="ctr"/>
            <a:r>
              <a:rPr lang="zh-CN" altLang="zh-CN" sz="2000" dirty="0">
                <a:latin typeface="+mn-lt"/>
                <a:ea typeface="隶书" pitchFamily="49" charset="-122"/>
              </a:rPr>
              <a:t>函数类型</a:t>
            </a:r>
            <a:r>
              <a:rPr lang="zh-CN" altLang="en-US" sz="2000" dirty="0">
                <a:latin typeface="+mn-lt"/>
                <a:ea typeface="隶书" pitchFamily="49" charset="-122"/>
              </a:rPr>
              <a:t>  </a:t>
            </a:r>
            <a:r>
              <a:rPr lang="en-US" altLang="zh-CN" sz="2000" dirty="0">
                <a:latin typeface="+mn-lt"/>
                <a:ea typeface="隶书" pitchFamily="49" charset="-122"/>
              </a:rPr>
              <a:t>(*</a:t>
            </a:r>
            <a:r>
              <a:rPr lang="zh-CN" altLang="en-US" sz="2000" dirty="0">
                <a:latin typeface="+mn-lt"/>
                <a:ea typeface="隶书" pitchFamily="49" charset="-122"/>
              </a:rPr>
              <a:t>指针变量</a:t>
            </a:r>
            <a:r>
              <a:rPr lang="en-US" altLang="zh-CN" sz="2000" dirty="0">
                <a:latin typeface="+mn-lt"/>
                <a:ea typeface="隶书" pitchFamily="49" charset="-122"/>
              </a:rPr>
              <a:t>)( [</a:t>
            </a:r>
            <a:r>
              <a:rPr lang="zh-CN" altLang="en-US" sz="2000" dirty="0">
                <a:latin typeface="+mn-lt"/>
                <a:ea typeface="隶书" pitchFamily="49" charset="-122"/>
              </a:rPr>
              <a:t>形参类型</a:t>
            </a:r>
            <a:r>
              <a:rPr lang="en-US" altLang="zh-CN" sz="2000" dirty="0">
                <a:latin typeface="+mn-lt"/>
                <a:ea typeface="隶书" pitchFamily="49" charset="-122"/>
              </a:rPr>
              <a:t>1, </a:t>
            </a:r>
            <a:r>
              <a:rPr lang="zh-CN" altLang="en-US" sz="2000" dirty="0">
                <a:latin typeface="+mn-lt"/>
                <a:ea typeface="隶书" pitchFamily="49" charset="-122"/>
              </a:rPr>
              <a:t>形参类型</a:t>
            </a:r>
            <a:r>
              <a:rPr lang="en-US" altLang="zh-CN" sz="2000" dirty="0">
                <a:latin typeface="+mn-lt"/>
                <a:ea typeface="隶书" pitchFamily="49" charset="-122"/>
              </a:rPr>
              <a:t>2,…, </a:t>
            </a:r>
            <a:r>
              <a:rPr lang="zh-CN" altLang="en-US" sz="2000" dirty="0">
                <a:latin typeface="+mn-lt"/>
                <a:ea typeface="隶书" pitchFamily="49" charset="-122"/>
              </a:rPr>
              <a:t>形参类型</a:t>
            </a:r>
            <a:r>
              <a:rPr lang="en-US" altLang="zh-CN" sz="2000" dirty="0">
                <a:latin typeface="+mn-lt"/>
                <a:ea typeface="隶书" pitchFamily="49" charset="-122"/>
              </a:rPr>
              <a:t>n] )</a:t>
            </a:r>
          </a:p>
        </p:txBody>
      </p:sp>
      <p:sp>
        <p:nvSpPr>
          <p:cNvPr id="1215500" name="Rectangle 12"/>
          <p:cNvSpPr>
            <a:spLocks noChangeArrowheads="1"/>
          </p:cNvSpPr>
          <p:nvPr/>
        </p:nvSpPr>
        <p:spPr bwMode="auto">
          <a:xfrm>
            <a:off x="665041" y="802482"/>
            <a:ext cx="3236784" cy="523220"/>
          </a:xfrm>
          <a:prstGeom prst="rect">
            <a:avLst/>
          </a:prstGeom>
          <a:noFill/>
          <a:ln w="9525" algn="ctr">
            <a:noFill/>
            <a:miter lim="800000"/>
            <a:headEnd/>
            <a:tailEnd/>
          </a:ln>
          <a:effectLst/>
        </p:spPr>
        <p:txBody>
          <a:bodyPr wrap="none" anchor="ctr">
            <a:spAutoFit/>
          </a:bodyPr>
          <a:lstStyle/>
          <a:p>
            <a:pPr>
              <a:lnSpc>
                <a:spcPct val="100000"/>
              </a:lnSpc>
              <a:spcBef>
                <a:spcPct val="0"/>
              </a:spcBef>
              <a:tabLst>
                <a:tab pos="495300" algn="l"/>
              </a:tabLst>
            </a:pPr>
            <a:r>
              <a:rPr lang="en-US" altLang="zh-CN" sz="2800" b="1" dirty="0">
                <a:solidFill>
                  <a:srgbClr val="C00000"/>
                </a:solidFill>
                <a:latin typeface="+mn-lt"/>
                <a:ea typeface="楷体" pitchFamily="49" charset="-122"/>
              </a:rPr>
              <a:t>1</a:t>
            </a:r>
            <a:r>
              <a:rPr lang="zh-CN" altLang="en-US" sz="2800" b="1" dirty="0">
                <a:solidFill>
                  <a:srgbClr val="C00000"/>
                </a:solidFill>
                <a:latin typeface="+mn-lt"/>
                <a:ea typeface="楷体" pitchFamily="49" charset="-122"/>
              </a:rPr>
              <a:t>、函数指针的概念</a:t>
            </a:r>
          </a:p>
        </p:txBody>
      </p:sp>
      <p:sp>
        <p:nvSpPr>
          <p:cNvPr id="1215501" name="Rectangle 13"/>
          <p:cNvSpPr>
            <a:spLocks noChangeArrowheads="1"/>
          </p:cNvSpPr>
          <p:nvPr/>
        </p:nvSpPr>
        <p:spPr bwMode="auto">
          <a:xfrm>
            <a:off x="1630338" y="1291515"/>
            <a:ext cx="6647974" cy="461665"/>
          </a:xfrm>
          <a:prstGeom prst="rect">
            <a:avLst/>
          </a:prstGeom>
          <a:noFill/>
          <a:ln w="9525" algn="ctr">
            <a:noFill/>
            <a:miter lim="800000"/>
            <a:headEnd/>
            <a:tailEnd/>
          </a:ln>
          <a:effectLst/>
        </p:spPr>
        <p:txBody>
          <a:bodyPr wrap="none">
            <a:spAutoFit/>
          </a:bodyPr>
          <a:lstStyle/>
          <a:p>
            <a:pPr marL="342900" indent="-342900"/>
            <a:r>
              <a:rPr lang="zh-CN" altLang="en-US" dirty="0">
                <a:latin typeface="+mn-lt"/>
                <a:ea typeface="楷体" pitchFamily="49" charset="-122"/>
              </a:rPr>
              <a:t>函数在编译时被分配的入口地址，用函数名表示</a:t>
            </a:r>
          </a:p>
        </p:txBody>
      </p:sp>
      <p:sp>
        <p:nvSpPr>
          <p:cNvPr id="1215552" name="Rectangle 64"/>
          <p:cNvSpPr>
            <a:spLocks noChangeArrowheads="1"/>
          </p:cNvSpPr>
          <p:nvPr/>
        </p:nvSpPr>
        <p:spPr bwMode="auto">
          <a:xfrm>
            <a:off x="666628" y="1761330"/>
            <a:ext cx="2877711" cy="523220"/>
          </a:xfrm>
          <a:prstGeom prst="rect">
            <a:avLst/>
          </a:prstGeom>
          <a:noFill/>
          <a:ln w="9525" algn="ctr">
            <a:noFill/>
            <a:miter lim="800000"/>
            <a:headEnd/>
            <a:tailEnd/>
          </a:ln>
          <a:effectLst/>
        </p:spPr>
        <p:txBody>
          <a:bodyPr wrap="none" anchor="ctr">
            <a:spAutoFit/>
          </a:bodyPr>
          <a:lstStyle/>
          <a:p>
            <a:pPr>
              <a:lnSpc>
                <a:spcPct val="100000"/>
              </a:lnSpc>
              <a:spcBef>
                <a:spcPct val="0"/>
              </a:spcBef>
              <a:tabLst>
                <a:tab pos="495300" algn="l"/>
              </a:tabLst>
            </a:pPr>
            <a:r>
              <a:rPr lang="en-US" altLang="zh-CN" sz="2800" b="1">
                <a:solidFill>
                  <a:srgbClr val="C00000"/>
                </a:solidFill>
                <a:latin typeface="+mn-lt"/>
                <a:ea typeface="楷体" pitchFamily="49" charset="-122"/>
              </a:rPr>
              <a:t>2</a:t>
            </a:r>
            <a:r>
              <a:rPr lang="zh-CN" altLang="en-US" sz="2800" b="1">
                <a:solidFill>
                  <a:srgbClr val="C00000"/>
                </a:solidFill>
                <a:latin typeface="+mn-lt"/>
                <a:ea typeface="楷体" pitchFamily="49" charset="-122"/>
              </a:rPr>
              <a:t>、函数指针变量</a:t>
            </a:r>
          </a:p>
        </p:txBody>
      </p:sp>
      <p:sp>
        <p:nvSpPr>
          <p:cNvPr id="1215553" name="Rectangle 65"/>
          <p:cNvSpPr>
            <a:spLocks noChangeArrowheads="1"/>
          </p:cNvSpPr>
          <p:nvPr/>
        </p:nvSpPr>
        <p:spPr bwMode="auto">
          <a:xfrm>
            <a:off x="1100016" y="2326154"/>
            <a:ext cx="1762021" cy="461665"/>
          </a:xfrm>
          <a:prstGeom prst="rect">
            <a:avLst/>
          </a:prstGeom>
          <a:noFill/>
          <a:ln w="9525" algn="ctr">
            <a:noFill/>
            <a:miter lim="800000"/>
            <a:headEnd/>
            <a:tailEnd/>
          </a:ln>
          <a:effectLst/>
        </p:spPr>
        <p:txBody>
          <a:bodyPr wrap="none">
            <a:spAutoFit/>
          </a:bodyPr>
          <a:lstStyle/>
          <a:p>
            <a:pPr marL="342900" indent="-342900">
              <a:buFont typeface="Wingdings" pitchFamily="2" charset="2"/>
              <a:buChar char="Ø"/>
            </a:pPr>
            <a:r>
              <a:rPr lang="zh-CN" altLang="en-US" b="1" dirty="0">
                <a:solidFill>
                  <a:srgbClr val="C00000"/>
                </a:solidFill>
                <a:latin typeface="+mn-lt"/>
                <a:ea typeface="楷体" pitchFamily="49" charset="-122"/>
              </a:rPr>
              <a:t>定义格式</a:t>
            </a:r>
          </a:p>
        </p:txBody>
      </p:sp>
      <p:sp>
        <p:nvSpPr>
          <p:cNvPr id="1215555" name="AutoShape 67"/>
          <p:cNvSpPr>
            <a:spLocks noChangeArrowheads="1"/>
          </p:cNvSpPr>
          <p:nvPr/>
        </p:nvSpPr>
        <p:spPr bwMode="auto">
          <a:xfrm>
            <a:off x="2145469" y="3896197"/>
            <a:ext cx="2762593" cy="402291"/>
          </a:xfrm>
          <a:prstGeom prst="wedgeRectCallout">
            <a:avLst>
              <a:gd name="adj1" fmla="val -14866"/>
              <a:gd name="adj2" fmla="val -198509"/>
            </a:avLst>
          </a:prstGeom>
          <a:gradFill rotWithShape="1">
            <a:gsLst>
              <a:gs pos="0">
                <a:srgbClr val="CFCFD1"/>
              </a:gs>
              <a:gs pos="100000">
                <a:srgbClr val="FFFFFF"/>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00000"/>
                </a:solidFill>
                <a:ea typeface="隶书" pitchFamily="49" charset="-122"/>
              </a:rPr>
              <a:t>函数返回值的数据类型</a:t>
            </a:r>
          </a:p>
        </p:txBody>
      </p:sp>
      <p:sp>
        <p:nvSpPr>
          <p:cNvPr id="1215556" name="AutoShape 68"/>
          <p:cNvSpPr>
            <a:spLocks noChangeArrowheads="1"/>
          </p:cNvSpPr>
          <p:nvPr/>
        </p:nvSpPr>
        <p:spPr bwMode="auto">
          <a:xfrm>
            <a:off x="4753132" y="3779842"/>
            <a:ext cx="4043362" cy="730250"/>
          </a:xfrm>
          <a:prstGeom prst="wedgeRectCallout">
            <a:avLst>
              <a:gd name="adj1" fmla="val -56792"/>
              <a:gd name="adj2" fmla="val -123912"/>
            </a:avLst>
          </a:prstGeom>
          <a:gradFill rotWithShape="1">
            <a:gsLst>
              <a:gs pos="0">
                <a:srgbClr val="CFCFD1"/>
              </a:gs>
              <a:gs pos="100000">
                <a:srgbClr val="FFFFFF"/>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zh-CN" altLang="en-US" sz="2000">
                <a:solidFill>
                  <a:srgbClr val="C00000"/>
                </a:solidFill>
                <a:ea typeface="隶书" pitchFamily="49" charset="-122"/>
              </a:rPr>
              <a:t>专门存放函数入口地址</a:t>
            </a:r>
          </a:p>
          <a:p>
            <a:pPr>
              <a:lnSpc>
                <a:spcPct val="100000"/>
              </a:lnSpc>
              <a:spcBef>
                <a:spcPct val="0"/>
              </a:spcBef>
            </a:pPr>
            <a:r>
              <a:rPr lang="zh-CN" altLang="en-US" sz="2000">
                <a:solidFill>
                  <a:srgbClr val="C00000"/>
                </a:solidFill>
                <a:ea typeface="隶书" pitchFamily="49" charset="-122"/>
              </a:rPr>
              <a:t>可指向返回值类型相同的不同函数</a:t>
            </a:r>
          </a:p>
        </p:txBody>
      </p:sp>
      <p:sp>
        <p:nvSpPr>
          <p:cNvPr id="1215557" name="AutoShape 69"/>
          <p:cNvSpPr>
            <a:spLocks noChangeArrowheads="1"/>
          </p:cNvSpPr>
          <p:nvPr/>
        </p:nvSpPr>
        <p:spPr bwMode="auto">
          <a:xfrm>
            <a:off x="3007427" y="3849692"/>
            <a:ext cx="3052763" cy="730250"/>
          </a:xfrm>
          <a:prstGeom prst="wedgeRectCallout">
            <a:avLst>
              <a:gd name="adj1" fmla="val -19269"/>
              <a:gd name="adj2" fmla="val -134144"/>
            </a:avLst>
          </a:prstGeom>
          <a:gradFill rotWithShape="1">
            <a:gsLst>
              <a:gs pos="0">
                <a:srgbClr val="CFCFD1"/>
              </a:gs>
              <a:gs pos="100000">
                <a:srgbClr val="FFFFFF"/>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en-US" altLang="zh-CN" sz="2000">
                <a:solidFill>
                  <a:srgbClr val="C00000"/>
                </a:solidFill>
                <a:ea typeface="隶书" pitchFamily="49" charset="-122"/>
              </a:rPr>
              <a:t>( )</a:t>
            </a:r>
            <a:r>
              <a:rPr lang="zh-CN" altLang="en-US" sz="2000">
                <a:solidFill>
                  <a:srgbClr val="C00000"/>
                </a:solidFill>
                <a:ea typeface="隶书" pitchFamily="49" charset="-122"/>
              </a:rPr>
              <a:t>不能省</a:t>
            </a:r>
          </a:p>
          <a:p>
            <a:pPr>
              <a:lnSpc>
                <a:spcPct val="100000"/>
              </a:lnSpc>
              <a:spcBef>
                <a:spcPct val="0"/>
              </a:spcBef>
            </a:pPr>
            <a:r>
              <a:rPr lang="en-US" altLang="zh-CN" sz="2000">
                <a:solidFill>
                  <a:srgbClr val="C00000"/>
                </a:solidFill>
                <a:ea typeface="隶书" pitchFamily="49" charset="-122"/>
              </a:rPr>
              <a:t>int (*p)()  </a:t>
            </a:r>
            <a:r>
              <a:rPr lang="zh-CN" altLang="zh-CN" sz="2000">
                <a:solidFill>
                  <a:srgbClr val="C00000"/>
                </a:solidFill>
                <a:ea typeface="隶书" pitchFamily="49" charset="-122"/>
              </a:rPr>
              <a:t>与  </a:t>
            </a:r>
            <a:r>
              <a:rPr lang="en-US" altLang="zh-CN" sz="2000">
                <a:solidFill>
                  <a:srgbClr val="C00000"/>
                </a:solidFill>
                <a:ea typeface="隶书" pitchFamily="49" charset="-122"/>
              </a:rPr>
              <a:t>int  *p()</a:t>
            </a:r>
            <a:r>
              <a:rPr lang="zh-CN" altLang="zh-CN" sz="2000">
                <a:solidFill>
                  <a:srgbClr val="C00000"/>
                </a:solidFill>
                <a:ea typeface="隶书" pitchFamily="49" charset="-122"/>
              </a:rPr>
              <a:t>不同</a:t>
            </a:r>
            <a:endParaRPr lang="zh-CN" altLang="en-US" sz="2000">
              <a:solidFill>
                <a:srgbClr val="C00000"/>
              </a:solidFill>
              <a:ea typeface="隶书" pitchFamily="49" charset="-122"/>
            </a:endParaRPr>
          </a:p>
        </p:txBody>
      </p:sp>
      <p:sp>
        <p:nvSpPr>
          <p:cNvPr id="1215559" name="Rectangle 71"/>
          <p:cNvSpPr>
            <a:spLocks noChangeArrowheads="1"/>
          </p:cNvSpPr>
          <p:nvPr/>
        </p:nvSpPr>
        <p:spPr bwMode="auto">
          <a:xfrm>
            <a:off x="724084" y="4293096"/>
            <a:ext cx="10601474" cy="1200329"/>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b="0" dirty="0">
                <a:latin typeface="+mn-lt"/>
                <a:ea typeface="楷体" pitchFamily="49" charset="-122"/>
              </a:rPr>
              <a:t>        </a:t>
            </a:r>
            <a:r>
              <a:rPr lang="zh-CN" altLang="en-US" dirty="0">
                <a:latin typeface="+mn-lt"/>
                <a:ea typeface="楷体" pitchFamily="49" charset="-122"/>
              </a:rPr>
              <a:t>例如：</a:t>
            </a:r>
            <a:r>
              <a:rPr lang="en-US" altLang="zh-CN" dirty="0" err="1">
                <a:solidFill>
                  <a:srgbClr val="C00000"/>
                </a:solidFill>
                <a:latin typeface="+mn-lt"/>
                <a:ea typeface="楷体" pitchFamily="49" charset="-122"/>
              </a:rPr>
              <a:t>int</a:t>
            </a:r>
            <a:r>
              <a:rPr lang="en-US" altLang="zh-CN" dirty="0">
                <a:solidFill>
                  <a:srgbClr val="C00000"/>
                </a:solidFill>
                <a:latin typeface="+mn-lt"/>
                <a:ea typeface="楷体" pitchFamily="49" charset="-122"/>
              </a:rPr>
              <a:t> (*p)(</a:t>
            </a:r>
            <a:r>
              <a:rPr lang="en-US" altLang="zh-CN" dirty="0" err="1">
                <a:solidFill>
                  <a:srgbClr val="C00000"/>
                </a:solidFill>
                <a:latin typeface="+mn-lt"/>
                <a:ea typeface="楷体" pitchFamily="49" charset="-122"/>
              </a:rPr>
              <a:t>int</a:t>
            </a:r>
            <a:r>
              <a:rPr lang="en-US" altLang="zh-CN" dirty="0">
                <a:solidFill>
                  <a:srgbClr val="C00000"/>
                </a:solidFill>
                <a:latin typeface="+mn-lt"/>
                <a:ea typeface="楷体" pitchFamily="49" charset="-122"/>
              </a:rPr>
              <a:t>, </a:t>
            </a:r>
            <a:r>
              <a:rPr lang="en-US" altLang="zh-CN" dirty="0" err="1">
                <a:solidFill>
                  <a:srgbClr val="C00000"/>
                </a:solidFill>
                <a:latin typeface="+mn-lt"/>
                <a:ea typeface="楷体" pitchFamily="49" charset="-122"/>
              </a:rPr>
              <a:t>int</a:t>
            </a:r>
            <a:r>
              <a:rPr lang="en-US" altLang="zh-CN" dirty="0">
                <a:solidFill>
                  <a:srgbClr val="C00000"/>
                </a:solidFill>
                <a:latin typeface="+mn-lt"/>
                <a:ea typeface="楷体" pitchFamily="49" charset="-122"/>
              </a:rPr>
              <a:t>); </a:t>
            </a:r>
            <a:r>
              <a:rPr lang="zh-CN" altLang="en-US" dirty="0">
                <a:latin typeface="+mn-lt"/>
                <a:ea typeface="楷体" pitchFamily="49" charset="-122"/>
              </a:rPr>
              <a:t>则定义了一个可指向带两个</a:t>
            </a:r>
            <a:r>
              <a:rPr lang="en-US" altLang="zh-CN" dirty="0" err="1">
                <a:latin typeface="+mn-lt"/>
                <a:ea typeface="楷体" pitchFamily="49" charset="-122"/>
              </a:rPr>
              <a:t>int</a:t>
            </a:r>
            <a:r>
              <a:rPr lang="zh-CN" altLang="en-US" dirty="0">
                <a:latin typeface="+mn-lt"/>
                <a:ea typeface="楷体" pitchFamily="49" charset="-122"/>
              </a:rPr>
              <a:t>型的形参，其返回值</a:t>
            </a:r>
            <a:r>
              <a:rPr lang="en-US" altLang="zh-CN" dirty="0" err="1">
                <a:latin typeface="+mn-lt"/>
                <a:ea typeface="楷体" pitchFamily="49" charset="-122"/>
              </a:rPr>
              <a:t>int</a:t>
            </a:r>
            <a:r>
              <a:rPr lang="zh-CN" altLang="en-US" dirty="0">
                <a:latin typeface="+mn-lt"/>
                <a:ea typeface="楷体" pitchFamily="49" charset="-122"/>
              </a:rPr>
              <a:t>型的</a:t>
            </a:r>
            <a:r>
              <a:rPr lang="zh-CN" altLang="en-US" dirty="0">
                <a:solidFill>
                  <a:srgbClr val="C00000"/>
                </a:solidFill>
                <a:latin typeface="+mn-lt"/>
                <a:ea typeface="楷体" pitchFamily="49" charset="-122"/>
              </a:rPr>
              <a:t>函数指针</a:t>
            </a:r>
            <a:r>
              <a:rPr lang="zh-CN" altLang="en-US" dirty="0">
                <a:latin typeface="+mn-lt"/>
                <a:ea typeface="楷体" pitchFamily="49" charset="-122"/>
              </a:rPr>
              <a:t>。</a:t>
            </a:r>
          </a:p>
          <a:p>
            <a:pPr>
              <a:lnSpc>
                <a:spcPct val="100000"/>
              </a:lnSpc>
              <a:spcBef>
                <a:spcPct val="0"/>
              </a:spcBef>
            </a:pPr>
            <a:r>
              <a:rPr lang="zh-CN" altLang="en-US" dirty="0">
                <a:latin typeface="+mn-lt"/>
                <a:ea typeface="楷体" pitchFamily="49" charset="-122"/>
              </a:rPr>
              <a:t>        而</a:t>
            </a:r>
            <a:r>
              <a:rPr lang="en-US" altLang="zh-CN" dirty="0" err="1">
                <a:solidFill>
                  <a:srgbClr val="C00000"/>
                </a:solidFill>
                <a:latin typeface="+mn-lt"/>
                <a:ea typeface="楷体" pitchFamily="49" charset="-122"/>
              </a:rPr>
              <a:t>int</a:t>
            </a:r>
            <a:r>
              <a:rPr lang="en-US" altLang="zh-CN" dirty="0">
                <a:solidFill>
                  <a:srgbClr val="C00000"/>
                </a:solidFill>
                <a:latin typeface="+mn-lt"/>
                <a:ea typeface="楷体" pitchFamily="49" charset="-122"/>
              </a:rPr>
              <a:t> *p(</a:t>
            </a:r>
            <a:r>
              <a:rPr lang="en-US" altLang="zh-CN" dirty="0" err="1">
                <a:solidFill>
                  <a:srgbClr val="C00000"/>
                </a:solidFill>
                <a:latin typeface="+mn-lt"/>
                <a:ea typeface="楷体" pitchFamily="49" charset="-122"/>
              </a:rPr>
              <a:t>int</a:t>
            </a:r>
            <a:r>
              <a:rPr lang="en-US" altLang="zh-CN" dirty="0">
                <a:solidFill>
                  <a:srgbClr val="C00000"/>
                </a:solidFill>
                <a:latin typeface="+mn-lt"/>
                <a:ea typeface="楷体" pitchFamily="49" charset="-122"/>
              </a:rPr>
              <a:t>, </a:t>
            </a:r>
            <a:r>
              <a:rPr lang="en-US" altLang="zh-CN" dirty="0" err="1">
                <a:solidFill>
                  <a:srgbClr val="C00000"/>
                </a:solidFill>
                <a:latin typeface="+mn-lt"/>
                <a:ea typeface="楷体" pitchFamily="49" charset="-122"/>
              </a:rPr>
              <a:t>int</a:t>
            </a:r>
            <a:r>
              <a:rPr lang="en-US" altLang="zh-CN" dirty="0">
                <a:solidFill>
                  <a:srgbClr val="C00000"/>
                </a:solidFill>
                <a:latin typeface="+mn-lt"/>
                <a:ea typeface="楷体" pitchFamily="49" charset="-122"/>
              </a:rPr>
              <a:t>); </a:t>
            </a:r>
            <a:r>
              <a:rPr lang="zh-CN" altLang="en-US" dirty="0">
                <a:latin typeface="+mn-lt"/>
                <a:ea typeface="楷体" pitchFamily="49" charset="-122"/>
              </a:rPr>
              <a:t>则表示是一个返回值为</a:t>
            </a:r>
            <a:r>
              <a:rPr lang="en-US" altLang="zh-CN" dirty="0" err="1">
                <a:latin typeface="+mn-lt"/>
                <a:ea typeface="楷体" pitchFamily="49" charset="-122"/>
              </a:rPr>
              <a:t>int</a:t>
            </a:r>
            <a:r>
              <a:rPr lang="zh-CN" altLang="en-US" dirty="0">
                <a:latin typeface="+mn-lt"/>
                <a:ea typeface="楷体" pitchFamily="49" charset="-122"/>
              </a:rPr>
              <a:t>型</a:t>
            </a:r>
            <a:r>
              <a:rPr lang="zh-CN" altLang="en-US" dirty="0">
                <a:solidFill>
                  <a:srgbClr val="C00000"/>
                </a:solidFill>
                <a:latin typeface="+mn-lt"/>
                <a:ea typeface="楷体" pitchFamily="49" charset="-122"/>
              </a:rPr>
              <a:t>指针函数</a:t>
            </a:r>
            <a:r>
              <a:rPr lang="zh-CN" altLang="en-US" dirty="0">
                <a:latin typeface="+mn-lt"/>
                <a:ea typeface="楷体" pitchFamily="49" charset="-122"/>
              </a:rPr>
              <a:t>。   </a:t>
            </a:r>
          </a:p>
        </p:txBody>
      </p:sp>
      <p:sp>
        <p:nvSpPr>
          <p:cNvPr id="38" name="Rectangle 4">
            <a:extLst>
              <a:ext uri="{FF2B5EF4-FFF2-40B4-BE49-F238E27FC236}">
                <a16:creationId xmlns:a16="http://schemas.microsoft.com/office/drawing/2014/main" id="{790D7FD1-D916-4566-AD2B-FBE3439ECB9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9.10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指向函数的指针</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____</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函数指针</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5500"/>
                                        </p:tgtEl>
                                        <p:attrNameLst>
                                          <p:attrName>style.visibility</p:attrName>
                                        </p:attrNameLst>
                                      </p:cBhvr>
                                      <p:to>
                                        <p:strVal val="visible"/>
                                      </p:to>
                                    </p:set>
                                    <p:anim calcmode="lin" valueType="num">
                                      <p:cBhvr additive="base">
                                        <p:cTn id="7" dur="500" fill="hold"/>
                                        <p:tgtEl>
                                          <p:spTgt spid="1215500"/>
                                        </p:tgtEl>
                                        <p:attrNameLst>
                                          <p:attrName>ppt_x</p:attrName>
                                        </p:attrNameLst>
                                      </p:cBhvr>
                                      <p:tavLst>
                                        <p:tav tm="0">
                                          <p:val>
                                            <p:strVal val="0-#ppt_w/2"/>
                                          </p:val>
                                        </p:tav>
                                        <p:tav tm="100000">
                                          <p:val>
                                            <p:strVal val="#ppt_x"/>
                                          </p:val>
                                        </p:tav>
                                      </p:tavLst>
                                    </p:anim>
                                    <p:anim calcmode="lin" valueType="num">
                                      <p:cBhvr additive="base">
                                        <p:cTn id="8" dur="500" fill="hold"/>
                                        <p:tgtEl>
                                          <p:spTgt spid="121550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215501"/>
                                        </p:tgtEl>
                                        <p:attrNameLst>
                                          <p:attrName>style.visibility</p:attrName>
                                        </p:attrNameLst>
                                      </p:cBhvr>
                                      <p:to>
                                        <p:strVal val="visible"/>
                                      </p:to>
                                    </p:set>
                                    <p:animEffect transition="in" filter="box(out)">
                                      <p:cBhvr>
                                        <p:cTn id="13" dur="500"/>
                                        <p:tgtEl>
                                          <p:spTgt spid="1215501"/>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215551"/>
                                        </p:tgtEl>
                                        <p:attrNameLst>
                                          <p:attrName>style.visibility</p:attrName>
                                        </p:attrNameLst>
                                      </p:cBhvr>
                                      <p:to>
                                        <p:strVal val="visible"/>
                                      </p:to>
                                    </p:set>
                                    <p:animEffect transition="in" filter="box(out)">
                                      <p:cBhvr>
                                        <p:cTn id="18" dur="500"/>
                                        <p:tgtEl>
                                          <p:spTgt spid="1215551"/>
                                        </p:tgtEl>
                                      </p:cBhvr>
                                    </p:animEffect>
                                  </p:childTnLst>
                                  <p:subTnLst>
                                    <p:set>
                                      <p:cBhvr override="childStyle">
                                        <p:cTn dur="1" fill="hold" display="0" masterRel="nextClick" afterEffect="1"/>
                                        <p:tgtEl>
                                          <p:spTgt spid="1215551"/>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215552"/>
                                        </p:tgtEl>
                                        <p:attrNameLst>
                                          <p:attrName>style.visibility</p:attrName>
                                        </p:attrNameLst>
                                      </p:cBhvr>
                                      <p:to>
                                        <p:strVal val="visible"/>
                                      </p:to>
                                    </p:set>
                                    <p:anim calcmode="lin" valueType="num">
                                      <p:cBhvr additive="base">
                                        <p:cTn id="23" dur="500" fill="hold"/>
                                        <p:tgtEl>
                                          <p:spTgt spid="1215552"/>
                                        </p:tgtEl>
                                        <p:attrNameLst>
                                          <p:attrName>ppt_x</p:attrName>
                                        </p:attrNameLst>
                                      </p:cBhvr>
                                      <p:tavLst>
                                        <p:tav tm="0">
                                          <p:val>
                                            <p:strVal val="0-#ppt_w/2"/>
                                          </p:val>
                                        </p:tav>
                                        <p:tav tm="100000">
                                          <p:val>
                                            <p:strVal val="#ppt_x"/>
                                          </p:val>
                                        </p:tav>
                                      </p:tavLst>
                                    </p:anim>
                                    <p:anim calcmode="lin" valueType="num">
                                      <p:cBhvr additive="base">
                                        <p:cTn id="24" dur="500" fill="hold"/>
                                        <p:tgtEl>
                                          <p:spTgt spid="121555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215553"/>
                                        </p:tgtEl>
                                        <p:attrNameLst>
                                          <p:attrName>style.visibility</p:attrName>
                                        </p:attrNameLst>
                                      </p:cBhvr>
                                      <p:to>
                                        <p:strVal val="visible"/>
                                      </p:to>
                                    </p:set>
                                    <p:animEffect transition="in" filter="box(out)">
                                      <p:cBhvr>
                                        <p:cTn id="29" dur="500"/>
                                        <p:tgtEl>
                                          <p:spTgt spid="1215553"/>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215554"/>
                                        </p:tgtEl>
                                        <p:attrNameLst>
                                          <p:attrName>style.visibility</p:attrName>
                                        </p:attrNameLst>
                                      </p:cBhvr>
                                      <p:to>
                                        <p:strVal val="visible"/>
                                      </p:to>
                                    </p:set>
                                    <p:animEffect transition="in" filter="box(out)">
                                      <p:cBhvr>
                                        <p:cTn id="34" dur="500"/>
                                        <p:tgtEl>
                                          <p:spTgt spid="1215554"/>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1215555"/>
                                        </p:tgtEl>
                                        <p:attrNameLst>
                                          <p:attrName>style.visibility</p:attrName>
                                        </p:attrNameLst>
                                      </p:cBhvr>
                                      <p:to>
                                        <p:strVal val="visible"/>
                                      </p:to>
                                    </p:set>
                                    <p:animEffect transition="in" filter="box(out)">
                                      <p:cBhvr>
                                        <p:cTn id="39" dur="500"/>
                                        <p:tgtEl>
                                          <p:spTgt spid="1215555"/>
                                        </p:tgtEl>
                                      </p:cBhvr>
                                    </p:animEffect>
                                  </p:childTnLst>
                                  <p:subTnLst>
                                    <p:set>
                                      <p:cBhvr override="childStyle">
                                        <p:cTn dur="1" fill="hold" display="0" masterRel="nextClick" afterEffect="1"/>
                                        <p:tgtEl>
                                          <p:spTgt spid="1215555"/>
                                        </p:tgtEl>
                                        <p:attrNameLst>
                                          <p:attrName>style.visibility</p:attrName>
                                        </p:attrNameLst>
                                      </p:cBhvr>
                                      <p:to>
                                        <p:strVal val="hidden"/>
                                      </p:to>
                                    </p:se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1215556"/>
                                        </p:tgtEl>
                                        <p:attrNameLst>
                                          <p:attrName>style.visibility</p:attrName>
                                        </p:attrNameLst>
                                      </p:cBhvr>
                                      <p:to>
                                        <p:strVal val="visible"/>
                                      </p:to>
                                    </p:set>
                                    <p:animEffect transition="in" filter="box(out)">
                                      <p:cBhvr>
                                        <p:cTn id="44" dur="500"/>
                                        <p:tgtEl>
                                          <p:spTgt spid="1215556"/>
                                        </p:tgtEl>
                                      </p:cBhvr>
                                    </p:animEffect>
                                  </p:childTnLst>
                                  <p:subTnLst>
                                    <p:set>
                                      <p:cBhvr override="childStyle">
                                        <p:cTn dur="1" fill="hold" display="0" masterRel="nextClick" afterEffect="1"/>
                                        <p:tgtEl>
                                          <p:spTgt spid="1215556"/>
                                        </p:tgtEl>
                                        <p:attrNameLst>
                                          <p:attrName>style.visibility</p:attrName>
                                        </p:attrNameLst>
                                      </p:cBhvr>
                                      <p:to>
                                        <p:strVal val="hidden"/>
                                      </p:to>
                                    </p:se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1215557"/>
                                        </p:tgtEl>
                                        <p:attrNameLst>
                                          <p:attrName>style.visibility</p:attrName>
                                        </p:attrNameLst>
                                      </p:cBhvr>
                                      <p:to>
                                        <p:strVal val="visible"/>
                                      </p:to>
                                    </p:set>
                                    <p:animEffect transition="in" filter="box(out)">
                                      <p:cBhvr>
                                        <p:cTn id="49" dur="500"/>
                                        <p:tgtEl>
                                          <p:spTgt spid="1215557"/>
                                        </p:tgtEl>
                                      </p:cBhvr>
                                    </p:animEffect>
                                  </p:childTnLst>
                                  <p:subTnLst>
                                    <p:set>
                                      <p:cBhvr override="childStyle">
                                        <p:cTn dur="1" fill="hold" display="0" masterRel="nextClick" afterEffect="1"/>
                                        <p:tgtEl>
                                          <p:spTgt spid="1215557"/>
                                        </p:tgtEl>
                                        <p:attrNameLst>
                                          <p:attrName>style.visibility</p:attrName>
                                        </p:attrNameLst>
                                      </p:cBhvr>
                                      <p:to>
                                        <p:strVal val="hidden"/>
                                      </p:to>
                                    </p:se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50" fill="hold">
                      <p:stCondLst>
                        <p:cond delay="indefinite"/>
                      </p:stCondLst>
                      <p:childTnLst>
                        <p:par>
                          <p:cTn id="51" fill="hold">
                            <p:stCondLst>
                              <p:cond delay="0"/>
                            </p:stCondLst>
                            <p:childTnLst>
                              <p:par>
                                <p:cTn id="52" presetID="4" presetClass="entr" presetSubtype="32" fill="hold" nodeType="clickEffect">
                                  <p:stCondLst>
                                    <p:cond delay="0"/>
                                  </p:stCondLst>
                                  <p:childTnLst>
                                    <p:set>
                                      <p:cBhvr>
                                        <p:cTn id="53" dur="1" fill="hold">
                                          <p:stCondLst>
                                            <p:cond delay="0"/>
                                          </p:stCondLst>
                                        </p:cTn>
                                        <p:tgtEl>
                                          <p:spTgt spid="1215559">
                                            <p:txEl>
                                              <p:pRg st="0" end="0"/>
                                            </p:txEl>
                                          </p:spTgt>
                                        </p:tgtEl>
                                        <p:attrNameLst>
                                          <p:attrName>style.visibility</p:attrName>
                                        </p:attrNameLst>
                                      </p:cBhvr>
                                      <p:to>
                                        <p:strVal val="visible"/>
                                      </p:to>
                                    </p:set>
                                    <p:animEffect transition="in" filter="box(out)">
                                      <p:cBhvr>
                                        <p:cTn id="54" dur="500"/>
                                        <p:tgtEl>
                                          <p:spTgt spid="1215559">
                                            <p:txEl>
                                              <p:pRg st="0" end="0"/>
                                            </p:txEl>
                                          </p:spTgt>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childTnLst>
                    </p:cTn>
                  </p:par>
                  <p:par>
                    <p:cTn id="55" fill="hold">
                      <p:stCondLst>
                        <p:cond delay="indefinite"/>
                      </p:stCondLst>
                      <p:childTnLst>
                        <p:par>
                          <p:cTn id="56" fill="hold">
                            <p:stCondLst>
                              <p:cond delay="0"/>
                            </p:stCondLst>
                            <p:childTnLst>
                              <p:par>
                                <p:cTn id="57" presetID="4" presetClass="entr" presetSubtype="32" fill="hold" nodeType="clickEffect">
                                  <p:stCondLst>
                                    <p:cond delay="0"/>
                                  </p:stCondLst>
                                  <p:childTnLst>
                                    <p:set>
                                      <p:cBhvr>
                                        <p:cTn id="58" dur="1" fill="hold">
                                          <p:stCondLst>
                                            <p:cond delay="0"/>
                                          </p:stCondLst>
                                        </p:cTn>
                                        <p:tgtEl>
                                          <p:spTgt spid="1215559">
                                            <p:txEl>
                                              <p:pRg st="1" end="1"/>
                                            </p:txEl>
                                          </p:spTgt>
                                        </p:tgtEl>
                                        <p:attrNameLst>
                                          <p:attrName>style.visibility</p:attrName>
                                        </p:attrNameLst>
                                      </p:cBhvr>
                                      <p:to>
                                        <p:strVal val="visible"/>
                                      </p:to>
                                    </p:set>
                                    <p:animEffect transition="in" filter="box(out)">
                                      <p:cBhvr>
                                        <p:cTn id="59" dur="500"/>
                                        <p:tgtEl>
                                          <p:spTgt spid="1215559">
                                            <p:txEl>
                                              <p:pRg st="1" end="1"/>
                                            </p:txEl>
                                          </p:spTgt>
                                        </p:tgtEl>
                                      </p:cBhvr>
                                    </p:animEffect>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5554" grpId="0" animBg="1"/>
      <p:bldP spid="1215500" grpId="0"/>
      <p:bldP spid="1215501" grpId="0"/>
      <p:bldP spid="1215552" grpId="0"/>
      <p:bldP spid="1215553" grpId="0"/>
      <p:bldP spid="1215555" grpId="0" animBg="1" autoUpdateAnimBg="0"/>
      <p:bldP spid="1215556" grpId="0" animBg="1" autoUpdateAnimBg="0"/>
      <p:bldP spid="1215557" grpId="0" animBg="1"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6540" name="Rectangle 28"/>
          <p:cNvSpPr>
            <a:spLocks noChangeArrowheads="1"/>
          </p:cNvSpPr>
          <p:nvPr/>
        </p:nvSpPr>
        <p:spPr bwMode="auto">
          <a:xfrm>
            <a:off x="959024" y="3572572"/>
            <a:ext cx="1762021" cy="461665"/>
          </a:xfrm>
          <a:prstGeom prst="rect">
            <a:avLst/>
          </a:prstGeom>
          <a:noFill/>
          <a:ln w="9525" algn="ctr">
            <a:noFill/>
            <a:miter lim="800000"/>
            <a:headEnd/>
            <a:tailEnd/>
          </a:ln>
          <a:effectLst/>
        </p:spPr>
        <p:txBody>
          <a:bodyPr wrap="none">
            <a:spAutoFit/>
          </a:bodyPr>
          <a:lstStyle/>
          <a:p>
            <a:pPr marL="342900" indent="-342900">
              <a:buFont typeface="Wingdings" pitchFamily="2" charset="2"/>
              <a:buChar char="Ø"/>
            </a:pPr>
            <a:r>
              <a:rPr lang="zh-CN" altLang="en-US" b="1" dirty="0">
                <a:solidFill>
                  <a:srgbClr val="C00000"/>
                </a:solidFill>
                <a:latin typeface="+mn-lt"/>
                <a:ea typeface="楷体" pitchFamily="49" charset="-122"/>
              </a:rPr>
              <a:t>调用格式</a:t>
            </a:r>
          </a:p>
        </p:txBody>
      </p:sp>
      <p:sp>
        <p:nvSpPr>
          <p:cNvPr id="15" name="Text Box 74">
            <a:extLst>
              <a:ext uri="{FF2B5EF4-FFF2-40B4-BE49-F238E27FC236}">
                <a16:creationId xmlns:a16="http://schemas.microsoft.com/office/drawing/2014/main" id="{640D3B2F-955F-472D-B937-1CBBBEFDC1A5}"/>
              </a:ext>
            </a:extLst>
          </p:cNvPr>
          <p:cNvSpPr txBox="1">
            <a:spLocks noChangeArrowheads="1"/>
          </p:cNvSpPr>
          <p:nvPr/>
        </p:nvSpPr>
        <p:spPr bwMode="auto">
          <a:xfrm>
            <a:off x="1474524" y="2729335"/>
            <a:ext cx="9074174" cy="458787"/>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lstStyle/>
          <a:p>
            <a:pPr marL="342900" indent="-342900" algn="ctr"/>
            <a:r>
              <a:rPr lang="zh-CN" altLang="zh-CN" dirty="0">
                <a:latin typeface="+mn-lt"/>
                <a:ea typeface="隶书" pitchFamily="49" charset="-122"/>
              </a:rPr>
              <a:t>函数指针</a:t>
            </a:r>
            <a:r>
              <a:rPr lang="zh-CN" altLang="en-US" dirty="0">
                <a:latin typeface="+mn-lt"/>
                <a:ea typeface="隶书" pitchFamily="49" charset="-122"/>
              </a:rPr>
              <a:t> </a:t>
            </a:r>
            <a:r>
              <a:rPr lang="en-US" altLang="zh-CN" dirty="0">
                <a:latin typeface="+mn-lt"/>
                <a:ea typeface="隶书" pitchFamily="49" charset="-122"/>
              </a:rPr>
              <a:t>= [ &amp; ]</a:t>
            </a:r>
            <a:r>
              <a:rPr lang="zh-CN" altLang="en-US" dirty="0">
                <a:latin typeface="+mn-lt"/>
                <a:ea typeface="隶书" pitchFamily="49" charset="-122"/>
              </a:rPr>
              <a:t>函数名；</a:t>
            </a:r>
          </a:p>
        </p:txBody>
      </p:sp>
      <p:sp>
        <p:nvSpPr>
          <p:cNvPr id="16" name="Rectangle 75" descr="信纸">
            <a:extLst>
              <a:ext uri="{FF2B5EF4-FFF2-40B4-BE49-F238E27FC236}">
                <a16:creationId xmlns:a16="http://schemas.microsoft.com/office/drawing/2014/main" id="{26E82BD0-BD51-4861-8EA8-A990D780CBD6}"/>
              </a:ext>
            </a:extLst>
          </p:cNvPr>
          <p:cNvSpPr>
            <a:spLocks noChangeArrowheads="1"/>
          </p:cNvSpPr>
          <p:nvPr/>
        </p:nvSpPr>
        <p:spPr bwMode="auto">
          <a:xfrm>
            <a:off x="3287688" y="2683801"/>
            <a:ext cx="6510583" cy="2677656"/>
          </a:xfrm>
          <a:prstGeom prst="rect">
            <a:avLst/>
          </a:prstGeom>
          <a:gradFill>
            <a:gsLst>
              <a:gs pos="0">
                <a:srgbClr val="CFCFD1"/>
              </a:gs>
              <a:gs pos="100000">
                <a:schemeClr val="bg1">
                  <a:lumMod val="95000"/>
                </a:schemeClr>
              </a:gs>
            </a:gsLst>
            <a:lin ang="54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dirty="0">
                <a:solidFill>
                  <a:srgbClr val="C00000"/>
                </a:solidFill>
                <a:ea typeface="隶书" pitchFamily="49" charset="-122"/>
              </a:rPr>
              <a:t>例：</a:t>
            </a:r>
          </a:p>
          <a:p>
            <a:r>
              <a:rPr lang="zh-CN" altLang="en-US" dirty="0">
                <a:solidFill>
                  <a:srgbClr val="CC0099"/>
                </a:solidFill>
              </a:rPr>
              <a:t>    </a:t>
            </a:r>
            <a:r>
              <a:rPr lang="en-US" altLang="zh-CN" dirty="0" err="1">
                <a:solidFill>
                  <a:srgbClr val="CC0099"/>
                </a:solidFill>
              </a:rPr>
              <a:t>int</a:t>
            </a:r>
            <a:r>
              <a:rPr lang="en-US" altLang="zh-CN" dirty="0">
                <a:solidFill>
                  <a:srgbClr val="CC0099"/>
                </a:solidFill>
              </a:rPr>
              <a:t> max (</a:t>
            </a:r>
            <a:r>
              <a:rPr lang="en-US" altLang="zh-CN" dirty="0" err="1">
                <a:solidFill>
                  <a:srgbClr val="CC0099"/>
                </a:solidFill>
              </a:rPr>
              <a:t>int</a:t>
            </a:r>
            <a:r>
              <a:rPr lang="en-US" altLang="zh-CN" dirty="0">
                <a:solidFill>
                  <a:srgbClr val="CC0099"/>
                </a:solidFill>
              </a:rPr>
              <a:t> a, </a:t>
            </a:r>
            <a:r>
              <a:rPr lang="en-US" altLang="zh-CN" dirty="0" err="1">
                <a:solidFill>
                  <a:srgbClr val="CC0099"/>
                </a:solidFill>
              </a:rPr>
              <a:t>int</a:t>
            </a:r>
            <a:r>
              <a:rPr lang="en-US" altLang="zh-CN" dirty="0">
                <a:solidFill>
                  <a:srgbClr val="CC0099"/>
                </a:solidFill>
              </a:rPr>
              <a:t> b)</a:t>
            </a:r>
          </a:p>
          <a:p>
            <a:r>
              <a:rPr lang="en-US" altLang="zh-CN" dirty="0"/>
              <a:t>    {</a:t>
            </a:r>
          </a:p>
          <a:p>
            <a:r>
              <a:rPr lang="en-US" altLang="zh-CN" dirty="0"/>
              <a:t>       return (a &gt; b? a : b);</a:t>
            </a:r>
          </a:p>
          <a:p>
            <a:r>
              <a:rPr lang="en-US" altLang="zh-CN" dirty="0"/>
              <a:t>    }</a:t>
            </a:r>
          </a:p>
          <a:p>
            <a:r>
              <a:rPr lang="en-US" altLang="zh-CN" dirty="0">
                <a:solidFill>
                  <a:srgbClr val="C00000"/>
                </a:solidFill>
              </a:rPr>
              <a:t>    int (*p)(int, int);      </a:t>
            </a:r>
            <a:r>
              <a:rPr lang="en-US" altLang="zh-CN" sz="2000" dirty="0">
                <a:solidFill>
                  <a:schemeClr val="accent2">
                    <a:lumMod val="50000"/>
                  </a:schemeClr>
                </a:solidFill>
                <a:latin typeface="+mn-lt"/>
                <a:ea typeface="楷体" pitchFamily="49" charset="-122"/>
              </a:rPr>
              <a:t>//</a:t>
            </a:r>
            <a:r>
              <a:rPr lang="zh-CN" altLang="en-US" sz="2000" dirty="0">
                <a:solidFill>
                  <a:schemeClr val="accent2">
                    <a:lumMod val="50000"/>
                  </a:schemeClr>
                </a:solidFill>
                <a:latin typeface="+mn-lt"/>
                <a:ea typeface="楷体" pitchFamily="49" charset="-122"/>
              </a:rPr>
              <a:t>定义函数指针</a:t>
            </a:r>
            <a:r>
              <a:rPr lang="en-US" altLang="zh-CN" sz="2000" dirty="0">
                <a:solidFill>
                  <a:schemeClr val="accent2">
                    <a:lumMod val="50000"/>
                  </a:schemeClr>
                </a:solidFill>
                <a:latin typeface="+mn-lt"/>
                <a:ea typeface="楷体" pitchFamily="49" charset="-122"/>
              </a:rPr>
              <a:t>p</a:t>
            </a:r>
          </a:p>
          <a:p>
            <a:r>
              <a:rPr lang="en-US" altLang="zh-CN" dirty="0">
                <a:solidFill>
                  <a:srgbClr val="FF3300"/>
                </a:solidFill>
              </a:rPr>
              <a:t>   </a:t>
            </a:r>
            <a:r>
              <a:rPr lang="en-US" altLang="zh-CN" dirty="0">
                <a:solidFill>
                  <a:srgbClr val="C00000"/>
                </a:solidFill>
              </a:rPr>
              <a:t> p = max; </a:t>
            </a:r>
          </a:p>
        </p:txBody>
      </p:sp>
      <p:sp>
        <p:nvSpPr>
          <p:cNvPr id="1216550" name="Text Box 38"/>
          <p:cNvSpPr txBox="1">
            <a:spLocks noChangeArrowheads="1"/>
          </p:cNvSpPr>
          <p:nvPr/>
        </p:nvSpPr>
        <p:spPr bwMode="auto">
          <a:xfrm>
            <a:off x="1487314" y="4148834"/>
            <a:ext cx="9721254" cy="1225550"/>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lstStyle/>
          <a:p>
            <a:pPr marL="342900" indent="-342900" algn="ctr"/>
            <a:r>
              <a:rPr lang="zh-CN" altLang="zh-CN">
                <a:latin typeface="+mn-lt"/>
                <a:ea typeface="隶书" pitchFamily="49" charset="-122"/>
              </a:rPr>
              <a:t>函数指针变量</a:t>
            </a:r>
            <a:r>
              <a:rPr lang="en-US" altLang="zh-CN">
                <a:latin typeface="+mn-lt"/>
                <a:ea typeface="隶书" pitchFamily="49" charset="-122"/>
              </a:rPr>
              <a:t>([</a:t>
            </a:r>
            <a:r>
              <a:rPr lang="zh-CN" altLang="en-US">
                <a:latin typeface="+mn-lt"/>
                <a:ea typeface="隶书" pitchFamily="49" charset="-122"/>
              </a:rPr>
              <a:t>实参</a:t>
            </a:r>
            <a:r>
              <a:rPr lang="en-US" altLang="zh-CN">
                <a:latin typeface="+mn-lt"/>
                <a:ea typeface="隶书" pitchFamily="49" charset="-122"/>
              </a:rPr>
              <a:t>1, </a:t>
            </a:r>
            <a:r>
              <a:rPr lang="zh-CN" altLang="en-US">
                <a:latin typeface="+mn-lt"/>
                <a:ea typeface="隶书" pitchFamily="49" charset="-122"/>
              </a:rPr>
              <a:t>实参</a:t>
            </a:r>
            <a:r>
              <a:rPr lang="en-US" altLang="zh-CN">
                <a:latin typeface="+mn-lt"/>
                <a:ea typeface="隶书" pitchFamily="49" charset="-122"/>
              </a:rPr>
              <a:t>2,…</a:t>
            </a:r>
            <a:r>
              <a:rPr lang="zh-CN" altLang="en-US">
                <a:latin typeface="+mn-lt"/>
                <a:ea typeface="隶书" pitchFamily="49" charset="-122"/>
              </a:rPr>
              <a:t>，实参</a:t>
            </a:r>
            <a:r>
              <a:rPr lang="en-US" altLang="zh-CN">
                <a:latin typeface="+mn-lt"/>
                <a:ea typeface="隶书" pitchFamily="49" charset="-122"/>
              </a:rPr>
              <a:t>n])</a:t>
            </a:r>
            <a:r>
              <a:rPr lang="zh-CN" altLang="en-US">
                <a:latin typeface="+mn-lt"/>
                <a:ea typeface="隶书" pitchFamily="49" charset="-122"/>
              </a:rPr>
              <a:t>；</a:t>
            </a:r>
          </a:p>
          <a:p>
            <a:pPr marL="342900" indent="-342900" algn="ctr"/>
            <a:r>
              <a:rPr lang="zh-CN" altLang="en-US">
                <a:latin typeface="+mn-lt"/>
                <a:ea typeface="隶书" pitchFamily="49" charset="-122"/>
              </a:rPr>
              <a:t>或</a:t>
            </a:r>
          </a:p>
          <a:p>
            <a:pPr marL="342900" indent="-342900" algn="ctr"/>
            <a:r>
              <a:rPr lang="zh-CN" altLang="en-US">
                <a:latin typeface="+mn-lt"/>
                <a:ea typeface="隶书" pitchFamily="49" charset="-122"/>
              </a:rPr>
              <a:t>（*函数指针变量）</a:t>
            </a:r>
            <a:r>
              <a:rPr lang="en-US" altLang="zh-CN">
                <a:latin typeface="+mn-lt"/>
                <a:ea typeface="隶书" pitchFamily="49" charset="-122"/>
              </a:rPr>
              <a:t>([</a:t>
            </a:r>
            <a:r>
              <a:rPr lang="zh-CN" altLang="en-US">
                <a:latin typeface="+mn-lt"/>
                <a:ea typeface="隶书" pitchFamily="49" charset="-122"/>
              </a:rPr>
              <a:t>实参</a:t>
            </a:r>
            <a:r>
              <a:rPr lang="en-US" altLang="zh-CN">
                <a:latin typeface="+mn-lt"/>
                <a:ea typeface="隶书" pitchFamily="49" charset="-122"/>
              </a:rPr>
              <a:t>1, </a:t>
            </a:r>
            <a:r>
              <a:rPr lang="zh-CN" altLang="en-US">
                <a:latin typeface="+mn-lt"/>
                <a:ea typeface="隶书" pitchFamily="49" charset="-122"/>
              </a:rPr>
              <a:t>实参</a:t>
            </a:r>
            <a:r>
              <a:rPr lang="en-US" altLang="zh-CN">
                <a:latin typeface="+mn-lt"/>
                <a:ea typeface="隶书" pitchFamily="49" charset="-122"/>
              </a:rPr>
              <a:t>2,…</a:t>
            </a:r>
            <a:r>
              <a:rPr lang="zh-CN" altLang="en-US">
                <a:latin typeface="+mn-lt"/>
                <a:ea typeface="隶书" pitchFamily="49" charset="-122"/>
              </a:rPr>
              <a:t>，实参</a:t>
            </a:r>
            <a:r>
              <a:rPr lang="en-US" altLang="zh-CN">
                <a:latin typeface="+mn-lt"/>
                <a:ea typeface="隶书" pitchFamily="49" charset="-122"/>
              </a:rPr>
              <a:t>n])</a:t>
            </a:r>
            <a:r>
              <a:rPr lang="zh-CN" altLang="en-US">
                <a:latin typeface="+mn-lt"/>
                <a:ea typeface="隶书" pitchFamily="49" charset="-122"/>
              </a:rPr>
              <a:t>；</a:t>
            </a:r>
          </a:p>
        </p:txBody>
      </p:sp>
      <p:sp>
        <p:nvSpPr>
          <p:cNvPr id="1216551" name="Rectangle 39" descr="信纸"/>
          <p:cNvSpPr>
            <a:spLocks noChangeArrowheads="1"/>
          </p:cNvSpPr>
          <p:nvPr/>
        </p:nvSpPr>
        <p:spPr bwMode="auto">
          <a:xfrm>
            <a:off x="2721045" y="3669879"/>
            <a:ext cx="8064896" cy="3046988"/>
          </a:xfrm>
          <a:prstGeom prst="rect">
            <a:avLst/>
          </a:prstGeom>
          <a:gradFill>
            <a:gsLst>
              <a:gs pos="0">
                <a:srgbClr val="CFCFD1"/>
              </a:gs>
              <a:gs pos="100000">
                <a:schemeClr val="bg1">
                  <a:lumMod val="95000"/>
                </a:schemeClr>
              </a:gs>
            </a:gsLst>
            <a:lin ang="54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dirty="0">
                <a:solidFill>
                  <a:srgbClr val="C00000"/>
                </a:solidFill>
                <a:ea typeface="隶书" pitchFamily="49" charset="-122"/>
              </a:rPr>
              <a:t>例：</a:t>
            </a:r>
          </a:p>
          <a:p>
            <a:r>
              <a:rPr lang="zh-CN" altLang="en-US" dirty="0">
                <a:solidFill>
                  <a:srgbClr val="CC0099"/>
                </a:solidFill>
              </a:rPr>
              <a:t>    </a:t>
            </a:r>
            <a:r>
              <a:rPr lang="en-US" altLang="zh-CN" dirty="0" err="1">
                <a:solidFill>
                  <a:srgbClr val="CC0099"/>
                </a:solidFill>
              </a:rPr>
              <a:t>int</a:t>
            </a:r>
            <a:r>
              <a:rPr lang="en-US" altLang="zh-CN" dirty="0">
                <a:solidFill>
                  <a:srgbClr val="CC0099"/>
                </a:solidFill>
              </a:rPr>
              <a:t> max (</a:t>
            </a:r>
            <a:r>
              <a:rPr lang="en-US" altLang="zh-CN" dirty="0" err="1">
                <a:solidFill>
                  <a:srgbClr val="CC0099"/>
                </a:solidFill>
              </a:rPr>
              <a:t>int</a:t>
            </a:r>
            <a:r>
              <a:rPr lang="en-US" altLang="zh-CN" dirty="0">
                <a:solidFill>
                  <a:srgbClr val="CC0099"/>
                </a:solidFill>
              </a:rPr>
              <a:t> a, </a:t>
            </a:r>
            <a:r>
              <a:rPr lang="en-US" altLang="zh-CN" dirty="0" err="1">
                <a:solidFill>
                  <a:srgbClr val="CC0099"/>
                </a:solidFill>
              </a:rPr>
              <a:t>int</a:t>
            </a:r>
            <a:r>
              <a:rPr lang="en-US" altLang="zh-CN" dirty="0">
                <a:solidFill>
                  <a:srgbClr val="CC0099"/>
                </a:solidFill>
              </a:rPr>
              <a:t> b)</a:t>
            </a:r>
          </a:p>
          <a:p>
            <a:r>
              <a:rPr lang="en-US" altLang="zh-CN" dirty="0"/>
              <a:t>    {</a:t>
            </a:r>
          </a:p>
          <a:p>
            <a:r>
              <a:rPr lang="en-US" altLang="zh-CN" dirty="0"/>
              <a:t>       return (a &gt; b? a : b);</a:t>
            </a:r>
          </a:p>
          <a:p>
            <a:r>
              <a:rPr lang="en-US" altLang="zh-CN" dirty="0"/>
              <a:t>    }</a:t>
            </a:r>
          </a:p>
          <a:p>
            <a:r>
              <a:rPr lang="en-US" altLang="zh-CN" dirty="0">
                <a:solidFill>
                  <a:srgbClr val="FF3300"/>
                </a:solidFill>
              </a:rPr>
              <a:t>    </a:t>
            </a:r>
            <a:r>
              <a:rPr lang="en-US" altLang="zh-CN" dirty="0" err="1"/>
              <a:t>int</a:t>
            </a:r>
            <a:r>
              <a:rPr lang="en-US" altLang="zh-CN" dirty="0"/>
              <a:t> (*p)(</a:t>
            </a:r>
            <a:r>
              <a:rPr lang="en-US" altLang="zh-CN" dirty="0" err="1"/>
              <a:t>int</a:t>
            </a:r>
            <a:r>
              <a:rPr lang="en-US" altLang="zh-CN" dirty="0"/>
              <a:t>, </a:t>
            </a:r>
            <a:r>
              <a:rPr lang="en-US" altLang="zh-CN" dirty="0" err="1"/>
              <a:t>int</a:t>
            </a:r>
            <a:r>
              <a:rPr lang="en-US" altLang="zh-CN" dirty="0"/>
              <a:t>);  </a:t>
            </a:r>
            <a:r>
              <a:rPr lang="en-US" altLang="zh-CN" sz="2000" dirty="0">
                <a:solidFill>
                  <a:schemeClr val="accent2">
                    <a:lumMod val="50000"/>
                  </a:schemeClr>
                </a:solidFill>
                <a:latin typeface="+mn-lt"/>
                <a:ea typeface="楷体" pitchFamily="49" charset="-122"/>
              </a:rPr>
              <a:t>//</a:t>
            </a:r>
            <a:r>
              <a:rPr lang="zh-CN" altLang="en-US" sz="2000" dirty="0">
                <a:solidFill>
                  <a:schemeClr val="accent2">
                    <a:lumMod val="50000"/>
                  </a:schemeClr>
                </a:solidFill>
                <a:latin typeface="+mn-lt"/>
                <a:ea typeface="楷体" pitchFamily="49" charset="-122"/>
              </a:rPr>
              <a:t>定义函数指针</a:t>
            </a:r>
            <a:r>
              <a:rPr lang="en-US" altLang="zh-CN" sz="2000" dirty="0">
                <a:solidFill>
                  <a:schemeClr val="accent2">
                    <a:lumMod val="50000"/>
                  </a:schemeClr>
                </a:solidFill>
                <a:latin typeface="+mn-lt"/>
                <a:ea typeface="楷体" pitchFamily="49" charset="-122"/>
              </a:rPr>
              <a:t>p</a:t>
            </a:r>
          </a:p>
          <a:p>
            <a:r>
              <a:rPr lang="en-US" altLang="zh-CN" dirty="0">
                <a:solidFill>
                  <a:srgbClr val="FF3300"/>
                </a:solidFill>
              </a:rPr>
              <a:t>    </a:t>
            </a:r>
            <a:r>
              <a:rPr lang="en-US" altLang="zh-CN" dirty="0"/>
              <a:t>p = max; </a:t>
            </a:r>
          </a:p>
          <a:p>
            <a:r>
              <a:rPr lang="en-US" altLang="zh-CN" dirty="0">
                <a:solidFill>
                  <a:srgbClr val="C00000"/>
                </a:solidFill>
              </a:rPr>
              <a:t>    p(2, 3); </a:t>
            </a:r>
            <a:r>
              <a:rPr lang="zh-CN" altLang="en-US" dirty="0">
                <a:solidFill>
                  <a:srgbClr val="C00000"/>
                </a:solidFill>
                <a:latin typeface="楷体" panose="02010609060101010101" pitchFamily="49" charset="-122"/>
                <a:ea typeface="楷体" panose="02010609060101010101" pitchFamily="49" charset="-122"/>
              </a:rPr>
              <a:t>或 </a:t>
            </a:r>
            <a:r>
              <a:rPr lang="en-US" altLang="zh-CN" dirty="0">
                <a:solidFill>
                  <a:srgbClr val="C00000"/>
                </a:solidFill>
              </a:rPr>
              <a:t>(*p) (2, 3);   </a:t>
            </a:r>
            <a:r>
              <a:rPr lang="en-US" altLang="zh-CN" sz="2000" dirty="0">
                <a:solidFill>
                  <a:schemeClr val="accent2">
                    <a:lumMod val="50000"/>
                  </a:schemeClr>
                </a:solidFill>
                <a:latin typeface="+mn-lt"/>
                <a:ea typeface="楷体" pitchFamily="49" charset="-122"/>
              </a:rPr>
              <a:t>//</a:t>
            </a:r>
            <a:r>
              <a:rPr lang="zh-CN" altLang="en-US" sz="2000" dirty="0">
                <a:solidFill>
                  <a:schemeClr val="accent2">
                    <a:lumMod val="50000"/>
                  </a:schemeClr>
                </a:solidFill>
                <a:latin typeface="+mn-lt"/>
                <a:ea typeface="楷体" pitchFamily="49" charset="-122"/>
              </a:rPr>
              <a:t>等价于</a:t>
            </a:r>
            <a:r>
              <a:rPr lang="en-US" altLang="zh-CN" sz="2000" dirty="0">
                <a:solidFill>
                  <a:schemeClr val="accent2">
                    <a:lumMod val="50000"/>
                  </a:schemeClr>
                </a:solidFill>
                <a:latin typeface="+mn-lt"/>
                <a:ea typeface="楷体" pitchFamily="49" charset="-122"/>
              </a:rPr>
              <a:t>max (2, 3)</a:t>
            </a:r>
          </a:p>
        </p:txBody>
      </p:sp>
      <p:sp>
        <p:nvSpPr>
          <p:cNvPr id="8" name="Rectangle 4">
            <a:extLst>
              <a:ext uri="{FF2B5EF4-FFF2-40B4-BE49-F238E27FC236}">
                <a16:creationId xmlns:a16="http://schemas.microsoft.com/office/drawing/2014/main" id="{24D0743E-E350-4209-BCDF-B8945011AE6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9.10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指向函数的指针</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____</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函数指针</a:t>
            </a:r>
          </a:p>
        </p:txBody>
      </p:sp>
      <p:sp>
        <p:nvSpPr>
          <p:cNvPr id="13" name="Rectangle 72">
            <a:extLst>
              <a:ext uri="{FF2B5EF4-FFF2-40B4-BE49-F238E27FC236}">
                <a16:creationId xmlns:a16="http://schemas.microsoft.com/office/drawing/2014/main" id="{24174451-F86D-40CF-803E-EF0CB8F95873}"/>
              </a:ext>
            </a:extLst>
          </p:cNvPr>
          <p:cNvSpPr>
            <a:spLocks noChangeArrowheads="1"/>
          </p:cNvSpPr>
          <p:nvPr/>
        </p:nvSpPr>
        <p:spPr bwMode="auto">
          <a:xfrm>
            <a:off x="941028" y="1329326"/>
            <a:ext cx="1146468" cy="461665"/>
          </a:xfrm>
          <a:prstGeom prst="rect">
            <a:avLst/>
          </a:prstGeom>
          <a:noFill/>
          <a:ln w="9525" algn="ctr">
            <a:noFill/>
            <a:miter lim="800000"/>
            <a:headEnd/>
            <a:tailEnd/>
          </a:ln>
          <a:effectLst/>
        </p:spPr>
        <p:txBody>
          <a:bodyPr wrap="none">
            <a:spAutoFit/>
          </a:bodyPr>
          <a:lstStyle/>
          <a:p>
            <a:pPr marL="342900" indent="-342900">
              <a:buFont typeface="Wingdings" pitchFamily="2" charset="2"/>
              <a:buChar char="Ø"/>
            </a:pPr>
            <a:r>
              <a:rPr lang="zh-CN" altLang="en-US" b="1" dirty="0">
                <a:solidFill>
                  <a:srgbClr val="C00000"/>
                </a:solidFill>
                <a:latin typeface="+mn-lt"/>
                <a:ea typeface="楷体" pitchFamily="49" charset="-122"/>
              </a:rPr>
              <a:t>赋值</a:t>
            </a:r>
          </a:p>
        </p:txBody>
      </p:sp>
      <p:sp>
        <p:nvSpPr>
          <p:cNvPr id="14" name="Rectangle 73">
            <a:extLst>
              <a:ext uri="{FF2B5EF4-FFF2-40B4-BE49-F238E27FC236}">
                <a16:creationId xmlns:a16="http://schemas.microsoft.com/office/drawing/2014/main" id="{54B48C71-D25C-4741-BCE2-2C82550BB79A}"/>
              </a:ext>
            </a:extLst>
          </p:cNvPr>
          <p:cNvSpPr>
            <a:spLocks noChangeArrowheads="1"/>
          </p:cNvSpPr>
          <p:nvPr/>
        </p:nvSpPr>
        <p:spPr bwMode="auto">
          <a:xfrm>
            <a:off x="636669" y="1772816"/>
            <a:ext cx="10776125"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b="0" dirty="0">
                <a:latin typeface="+mn-lt"/>
                <a:ea typeface="楷体" pitchFamily="49" charset="-122"/>
              </a:rPr>
              <a:t>        </a:t>
            </a:r>
            <a:r>
              <a:rPr lang="zh-CN" altLang="en-US" dirty="0">
                <a:latin typeface="+mn-lt"/>
                <a:ea typeface="楷体" pitchFamily="49" charset="-122"/>
              </a:rPr>
              <a:t>函数名代表该函数的入口地址。因此，可用函数名给指向函数的指针变量赋值。其赋值的一般格式为： </a:t>
            </a:r>
          </a:p>
        </p:txBody>
      </p:sp>
      <p:sp>
        <p:nvSpPr>
          <p:cNvPr id="17" name="Rectangle 64">
            <a:extLst>
              <a:ext uri="{FF2B5EF4-FFF2-40B4-BE49-F238E27FC236}">
                <a16:creationId xmlns:a16="http://schemas.microsoft.com/office/drawing/2014/main" id="{6AA84E67-5456-4C48-823B-1CD74183E921}"/>
              </a:ext>
            </a:extLst>
          </p:cNvPr>
          <p:cNvSpPr>
            <a:spLocks noChangeArrowheads="1"/>
          </p:cNvSpPr>
          <p:nvPr/>
        </p:nvSpPr>
        <p:spPr bwMode="auto">
          <a:xfrm>
            <a:off x="666628" y="817548"/>
            <a:ext cx="2877711" cy="523220"/>
          </a:xfrm>
          <a:prstGeom prst="rect">
            <a:avLst/>
          </a:prstGeom>
          <a:noFill/>
          <a:ln w="9525" algn="ctr">
            <a:noFill/>
            <a:miter lim="800000"/>
            <a:headEnd/>
            <a:tailEnd/>
          </a:ln>
          <a:effectLst/>
        </p:spPr>
        <p:txBody>
          <a:bodyPr wrap="none" anchor="ctr">
            <a:spAutoFit/>
          </a:bodyPr>
          <a:lstStyle/>
          <a:p>
            <a:pPr>
              <a:lnSpc>
                <a:spcPct val="100000"/>
              </a:lnSpc>
              <a:spcBef>
                <a:spcPct val="0"/>
              </a:spcBef>
              <a:tabLst>
                <a:tab pos="495300" algn="l"/>
              </a:tabLst>
            </a:pPr>
            <a:r>
              <a:rPr lang="en-US" altLang="zh-CN" sz="2800" b="1">
                <a:solidFill>
                  <a:srgbClr val="C00000"/>
                </a:solidFill>
                <a:latin typeface="+mn-lt"/>
                <a:ea typeface="楷体" pitchFamily="49" charset="-122"/>
              </a:rPr>
              <a:t>2</a:t>
            </a:r>
            <a:r>
              <a:rPr lang="zh-CN" altLang="en-US" sz="2800" b="1">
                <a:solidFill>
                  <a:srgbClr val="C00000"/>
                </a:solidFill>
                <a:latin typeface="+mn-lt"/>
                <a:ea typeface="楷体" pitchFamily="49" charset="-122"/>
              </a:rPr>
              <a:t>、函数指针变量</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out)">
                                      <p:cBhvr>
                                        <p:cTn id="7" dur="500"/>
                                        <p:tgtEl>
                                          <p:spTgt spid="1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ox(out)">
                                      <p:cBhvr>
                                        <p:cTn id="12" dur="500"/>
                                        <p:tgtEl>
                                          <p:spTgt spid="14"/>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ox(out)">
                                      <p:cBhvr>
                                        <p:cTn id="17" dur="500"/>
                                        <p:tgtEl>
                                          <p:spTgt spid="15"/>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ox(out)">
                                      <p:cBhvr>
                                        <p:cTn id="22" dur="500"/>
                                        <p:tgtEl>
                                          <p:spTgt spid="16"/>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16540"/>
                                        </p:tgtEl>
                                        <p:attrNameLst>
                                          <p:attrName>style.visibility</p:attrName>
                                        </p:attrNameLst>
                                      </p:cBhvr>
                                      <p:to>
                                        <p:strVal val="visible"/>
                                      </p:to>
                                    </p:set>
                                    <p:animEffect transition="in" filter="box(out)">
                                      <p:cBhvr>
                                        <p:cTn id="27" dur="500"/>
                                        <p:tgtEl>
                                          <p:spTgt spid="1216540"/>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216550"/>
                                        </p:tgtEl>
                                        <p:attrNameLst>
                                          <p:attrName>style.visibility</p:attrName>
                                        </p:attrNameLst>
                                      </p:cBhvr>
                                      <p:to>
                                        <p:strVal val="visible"/>
                                      </p:to>
                                    </p:set>
                                    <p:animEffect transition="in" filter="box(out)">
                                      <p:cBhvr>
                                        <p:cTn id="32" dur="500"/>
                                        <p:tgtEl>
                                          <p:spTgt spid="1216550"/>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216551"/>
                                        </p:tgtEl>
                                        <p:attrNameLst>
                                          <p:attrName>style.visibility</p:attrName>
                                        </p:attrNameLst>
                                      </p:cBhvr>
                                      <p:to>
                                        <p:strVal val="visible"/>
                                      </p:to>
                                    </p:set>
                                    <p:animEffect transition="in" filter="box(out)">
                                      <p:cBhvr>
                                        <p:cTn id="37" dur="500"/>
                                        <p:tgtEl>
                                          <p:spTgt spid="1216551"/>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6540" grpId="0"/>
      <p:bldP spid="15" grpId="0" animBg="1"/>
      <p:bldP spid="16" grpId="0" animBg="1"/>
      <p:bldP spid="1216550" grpId="0" animBg="1"/>
      <p:bldP spid="1216551" grpId="0" animBg="1"/>
      <p:bldP spid="13" grpId="0"/>
      <p:bldP spid="1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7540" name="Text Box 4"/>
          <p:cNvSpPr txBox="1">
            <a:spLocks noChangeArrowheads="1"/>
          </p:cNvSpPr>
          <p:nvPr/>
        </p:nvSpPr>
        <p:spPr bwMode="auto">
          <a:xfrm>
            <a:off x="839416" y="1023119"/>
            <a:ext cx="7146508" cy="461665"/>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1】</a:t>
            </a:r>
            <a:r>
              <a:rPr lang="zh-CN" altLang="en-US" b="1" dirty="0">
                <a:solidFill>
                  <a:srgbClr val="C00000"/>
                </a:solidFill>
                <a:latin typeface="楷体" panose="02010609060101010101" pitchFamily="49" charset="-122"/>
                <a:ea typeface="楷体" panose="02010609060101010101" pitchFamily="49" charset="-122"/>
              </a:rPr>
              <a:t>用函数指针变量调用函数，比较两个数大小</a:t>
            </a:r>
          </a:p>
        </p:txBody>
      </p:sp>
      <p:sp>
        <p:nvSpPr>
          <p:cNvPr id="1217542" name="Rectangle 6" descr="信纸"/>
          <p:cNvSpPr>
            <a:spLocks noChangeArrowheads="1"/>
          </p:cNvSpPr>
          <p:nvPr/>
        </p:nvSpPr>
        <p:spPr bwMode="auto">
          <a:xfrm>
            <a:off x="988474" y="1967059"/>
            <a:ext cx="5863064" cy="4093428"/>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sz="2000" dirty="0">
                <a:ea typeface="宋体" pitchFamily="2" charset="-122"/>
              </a:rPr>
              <a:t>#include &lt;</a:t>
            </a:r>
            <a:r>
              <a:rPr lang="en-US" altLang="zh-CN" sz="2000" dirty="0" err="1">
                <a:ea typeface="宋体" pitchFamily="2" charset="-122"/>
              </a:rPr>
              <a:t>stdio.h</a:t>
            </a:r>
            <a:r>
              <a:rPr lang="en-US" altLang="zh-CN" sz="2000" dirty="0">
                <a:ea typeface="宋体" pitchFamily="2" charset="-122"/>
              </a:rPr>
              <a:t>&gt;</a:t>
            </a:r>
          </a:p>
          <a:p>
            <a:pPr eaLnBrk="0" hangingPunct="0">
              <a:lnSpc>
                <a:spcPct val="100000"/>
              </a:lnSpc>
              <a:spcBef>
                <a:spcPct val="0"/>
              </a:spcBef>
            </a:pPr>
            <a:r>
              <a:rPr lang="en-US" altLang="zh-CN" sz="2000" dirty="0" err="1">
                <a:ea typeface="宋体" pitchFamily="2" charset="-122"/>
              </a:rPr>
              <a:t>int</a:t>
            </a:r>
            <a:r>
              <a:rPr lang="en-US" altLang="zh-CN" sz="2000" dirty="0">
                <a:ea typeface="宋体" pitchFamily="2" charset="-122"/>
              </a:rPr>
              <a:t> max (</a:t>
            </a:r>
            <a:r>
              <a:rPr lang="en-US" altLang="zh-CN" sz="2000" dirty="0" err="1">
                <a:ea typeface="宋体" pitchFamily="2" charset="-122"/>
              </a:rPr>
              <a:t>int</a:t>
            </a:r>
            <a:r>
              <a:rPr lang="en-US" altLang="zh-CN" sz="2000" dirty="0">
                <a:ea typeface="宋体" pitchFamily="2" charset="-122"/>
              </a:rPr>
              <a:t> x, </a:t>
            </a:r>
            <a:r>
              <a:rPr lang="en-US" altLang="zh-CN" sz="2000" dirty="0" err="1">
                <a:ea typeface="宋体" pitchFamily="2" charset="-122"/>
              </a:rPr>
              <a:t>int</a:t>
            </a:r>
            <a:r>
              <a:rPr lang="en-US" altLang="zh-CN" sz="2000" dirty="0">
                <a:ea typeface="宋体" pitchFamily="2" charset="-122"/>
              </a:rPr>
              <a:t> y);</a:t>
            </a:r>
          </a:p>
          <a:p>
            <a:pPr eaLnBrk="0" hangingPunct="0">
              <a:lnSpc>
                <a:spcPct val="100000"/>
              </a:lnSpc>
              <a:spcBef>
                <a:spcPct val="0"/>
              </a:spcBef>
            </a:pPr>
            <a:endParaRPr lang="en-US" altLang="zh-CN" sz="2000" dirty="0">
              <a:ea typeface="宋体" pitchFamily="2" charset="-122"/>
            </a:endParaRPr>
          </a:p>
          <a:p>
            <a:pPr eaLnBrk="0" hangingPunct="0">
              <a:lnSpc>
                <a:spcPct val="100000"/>
              </a:lnSpc>
              <a:spcBef>
                <a:spcPct val="0"/>
              </a:spcBef>
            </a:pPr>
            <a:r>
              <a:rPr lang="en-US" altLang="zh-CN" sz="2000" dirty="0" err="1">
                <a:solidFill>
                  <a:srgbClr val="CC0099"/>
                </a:solidFill>
                <a:ea typeface="宋体" pitchFamily="2" charset="-122"/>
              </a:rPr>
              <a:t>int</a:t>
            </a:r>
            <a:r>
              <a:rPr lang="en-US" altLang="zh-CN" sz="2000" dirty="0">
                <a:solidFill>
                  <a:srgbClr val="CC0099"/>
                </a:solidFill>
                <a:ea typeface="宋体" pitchFamily="2" charset="-122"/>
              </a:rPr>
              <a:t> main ( )</a:t>
            </a:r>
          </a:p>
          <a:p>
            <a:pPr eaLnBrk="0" hangingPunct="0">
              <a:lnSpc>
                <a:spcPct val="100000"/>
              </a:lnSpc>
              <a:spcBef>
                <a:spcPct val="0"/>
              </a:spcBef>
            </a:pPr>
            <a:r>
              <a:rPr lang="en-US" altLang="zh-CN" sz="2000" dirty="0">
                <a:ea typeface="宋体" pitchFamily="2" charset="-122"/>
              </a:rPr>
              <a:t>{  </a:t>
            </a:r>
          </a:p>
          <a:p>
            <a:pPr eaLnBrk="0" hangingPunct="0">
              <a:lnSpc>
                <a:spcPct val="100000"/>
              </a:lnSpc>
              <a:spcBef>
                <a:spcPct val="0"/>
              </a:spcBef>
            </a:pPr>
            <a:r>
              <a:rPr lang="en-US" altLang="zh-CN" sz="2000" dirty="0">
                <a:ea typeface="宋体" pitchFamily="2" charset="-122"/>
              </a:rPr>
              <a:t>   </a:t>
            </a:r>
            <a:r>
              <a:rPr lang="en-US" altLang="zh-CN" sz="2000" dirty="0" err="1">
                <a:ea typeface="宋体" pitchFamily="2" charset="-122"/>
              </a:rPr>
              <a:t>int</a:t>
            </a:r>
            <a:r>
              <a:rPr lang="en-US" altLang="zh-CN" sz="2000" dirty="0">
                <a:ea typeface="宋体" pitchFamily="2" charset="-122"/>
              </a:rPr>
              <a:t> (*p)(</a:t>
            </a:r>
            <a:r>
              <a:rPr lang="en-US" altLang="zh-CN" sz="2000" dirty="0" err="1">
                <a:ea typeface="宋体" pitchFamily="2" charset="-122"/>
              </a:rPr>
              <a:t>int</a:t>
            </a:r>
            <a:r>
              <a:rPr lang="en-US" altLang="zh-CN" sz="2000" dirty="0">
                <a:ea typeface="宋体" pitchFamily="2" charset="-122"/>
              </a:rPr>
              <a:t>, </a:t>
            </a:r>
            <a:r>
              <a:rPr lang="en-US" altLang="zh-CN" sz="2000" dirty="0" err="1">
                <a:ea typeface="宋体" pitchFamily="2" charset="-122"/>
              </a:rPr>
              <a:t>int</a:t>
            </a:r>
            <a:r>
              <a:rPr lang="en-US" altLang="zh-CN" sz="2000" dirty="0">
                <a:ea typeface="宋体" pitchFamily="2" charset="-122"/>
              </a:rPr>
              <a:t>);</a:t>
            </a:r>
          </a:p>
          <a:p>
            <a:pPr eaLnBrk="0" hangingPunct="0">
              <a:lnSpc>
                <a:spcPct val="100000"/>
              </a:lnSpc>
              <a:spcBef>
                <a:spcPct val="0"/>
              </a:spcBef>
            </a:pPr>
            <a:r>
              <a:rPr lang="en-US" altLang="zh-CN" sz="2000" dirty="0">
                <a:ea typeface="宋体" pitchFamily="2" charset="-122"/>
              </a:rPr>
              <a:t>   </a:t>
            </a:r>
            <a:r>
              <a:rPr lang="en-US" altLang="zh-CN" sz="2000" dirty="0" err="1">
                <a:ea typeface="宋体" pitchFamily="2" charset="-122"/>
              </a:rPr>
              <a:t>int</a:t>
            </a:r>
            <a:r>
              <a:rPr lang="en-US" altLang="zh-CN" sz="2000" dirty="0">
                <a:ea typeface="宋体" pitchFamily="2" charset="-122"/>
              </a:rPr>
              <a:t> a, b, c;</a:t>
            </a:r>
          </a:p>
          <a:p>
            <a:pPr eaLnBrk="0" hangingPunct="0">
              <a:lnSpc>
                <a:spcPct val="100000"/>
              </a:lnSpc>
              <a:spcBef>
                <a:spcPct val="0"/>
              </a:spcBef>
            </a:pPr>
            <a:r>
              <a:rPr lang="en-US" altLang="zh-CN" sz="2000" dirty="0">
                <a:solidFill>
                  <a:srgbClr val="C00000"/>
                </a:solidFill>
                <a:ea typeface="宋体" pitchFamily="2" charset="-122"/>
              </a:rPr>
              <a:t>   p = max;</a:t>
            </a:r>
          </a:p>
          <a:p>
            <a:pPr eaLnBrk="0" hangingPunct="0">
              <a:lnSpc>
                <a:spcPct val="100000"/>
              </a:lnSpc>
              <a:spcBef>
                <a:spcPct val="0"/>
              </a:spcBef>
            </a:pPr>
            <a:r>
              <a:rPr lang="en-US" altLang="zh-CN" sz="2000" dirty="0">
                <a:ea typeface="宋体" pitchFamily="2" charset="-122"/>
              </a:rPr>
              <a:t>   </a:t>
            </a:r>
            <a:r>
              <a:rPr lang="en-US" altLang="zh-CN" sz="2000" dirty="0" err="1">
                <a:ea typeface="宋体" pitchFamily="2" charset="-122"/>
              </a:rPr>
              <a:t>scanf</a:t>
            </a:r>
            <a:r>
              <a:rPr lang="en-US" altLang="zh-CN" sz="2000" dirty="0">
                <a:ea typeface="宋体" pitchFamily="2" charset="-122"/>
              </a:rPr>
              <a:t> ("%</a:t>
            </a:r>
            <a:r>
              <a:rPr lang="en-US" altLang="zh-CN" sz="2000" dirty="0" err="1">
                <a:ea typeface="宋体" pitchFamily="2" charset="-122"/>
              </a:rPr>
              <a:t>d,%d</a:t>
            </a:r>
            <a:r>
              <a:rPr lang="en-US" altLang="zh-CN" sz="2000" dirty="0">
                <a:ea typeface="宋体" pitchFamily="2" charset="-122"/>
              </a:rPr>
              <a:t>", &amp;a, &amp;b);</a:t>
            </a:r>
          </a:p>
          <a:p>
            <a:pPr eaLnBrk="0" hangingPunct="0">
              <a:lnSpc>
                <a:spcPct val="100000"/>
              </a:lnSpc>
              <a:spcBef>
                <a:spcPct val="0"/>
              </a:spcBef>
            </a:pPr>
            <a:r>
              <a:rPr lang="en-US" altLang="zh-CN" sz="2000" dirty="0">
                <a:ea typeface="宋体" pitchFamily="2" charset="-122"/>
              </a:rPr>
              <a:t>   c = </a:t>
            </a:r>
            <a:r>
              <a:rPr lang="en-US" altLang="zh-CN" sz="2000" dirty="0">
                <a:solidFill>
                  <a:srgbClr val="C00000"/>
                </a:solidFill>
                <a:ea typeface="宋体" pitchFamily="2" charset="-122"/>
              </a:rPr>
              <a:t>(*p) </a:t>
            </a:r>
            <a:r>
              <a:rPr lang="en-US" altLang="zh-CN" sz="2000" dirty="0">
                <a:ea typeface="宋体" pitchFamily="2" charset="-122"/>
              </a:rPr>
              <a:t>(a, b);</a:t>
            </a:r>
          </a:p>
          <a:p>
            <a:pPr eaLnBrk="0" hangingPunct="0">
              <a:lnSpc>
                <a:spcPct val="100000"/>
              </a:lnSpc>
              <a:spcBef>
                <a:spcPct val="0"/>
              </a:spcBef>
            </a:pPr>
            <a:r>
              <a:rPr lang="en-US" altLang="zh-CN" sz="2000" dirty="0">
                <a:ea typeface="宋体" pitchFamily="2" charset="-122"/>
              </a:rPr>
              <a:t>   </a:t>
            </a:r>
            <a:r>
              <a:rPr lang="en-US" altLang="zh-CN" sz="2000" dirty="0" err="1">
                <a:ea typeface="宋体" pitchFamily="2" charset="-122"/>
              </a:rPr>
              <a:t>printf</a:t>
            </a:r>
            <a:r>
              <a:rPr lang="en-US" altLang="zh-CN" sz="2000" dirty="0">
                <a:ea typeface="宋体" pitchFamily="2" charset="-122"/>
              </a:rPr>
              <a:t> ("a = %d, b = %d, max = %d\n", a, b, c);</a:t>
            </a:r>
          </a:p>
          <a:p>
            <a:pPr eaLnBrk="0" hangingPunct="0">
              <a:lnSpc>
                <a:spcPct val="100000"/>
              </a:lnSpc>
              <a:spcBef>
                <a:spcPct val="0"/>
              </a:spcBef>
            </a:pPr>
            <a:r>
              <a:rPr lang="en-US" altLang="zh-CN" sz="2000" dirty="0">
                <a:ea typeface="宋体" pitchFamily="2" charset="-122"/>
              </a:rPr>
              <a:t>   return 0;</a:t>
            </a:r>
          </a:p>
          <a:p>
            <a:pPr eaLnBrk="0" hangingPunct="0">
              <a:lnSpc>
                <a:spcPct val="100000"/>
              </a:lnSpc>
              <a:spcBef>
                <a:spcPct val="0"/>
              </a:spcBef>
            </a:pPr>
            <a:r>
              <a:rPr lang="en-US" altLang="zh-CN" sz="2000" dirty="0">
                <a:ea typeface="宋体" pitchFamily="2" charset="-122"/>
              </a:rPr>
              <a:t>}</a:t>
            </a:r>
          </a:p>
        </p:txBody>
      </p:sp>
      <p:sp>
        <p:nvSpPr>
          <p:cNvPr id="1217546" name="Rectangle 10" descr="信纸"/>
          <p:cNvSpPr>
            <a:spLocks noChangeArrowheads="1"/>
          </p:cNvSpPr>
          <p:nvPr/>
        </p:nvSpPr>
        <p:spPr bwMode="auto">
          <a:xfrm>
            <a:off x="7320136" y="1979985"/>
            <a:ext cx="3528392" cy="2246769"/>
          </a:xfrm>
          <a:prstGeom prst="rect">
            <a:avLst/>
          </a:prstGeom>
          <a:gradFill>
            <a:gsLst>
              <a:gs pos="0">
                <a:srgbClr val="CFCFD1"/>
              </a:gs>
              <a:gs pos="100000">
                <a:schemeClr val="bg1">
                  <a:lumMod val="95000"/>
                </a:schemeClr>
              </a:gs>
            </a:gsLst>
            <a:lin ang="54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r>
              <a:rPr lang="en-US" altLang="zh-CN" sz="2000">
                <a:solidFill>
                  <a:srgbClr val="CC0099"/>
                </a:solidFill>
              </a:rPr>
              <a:t>int  max (int x, int y)</a:t>
            </a:r>
          </a:p>
          <a:p>
            <a:pPr marL="342900" indent="-342900"/>
            <a:r>
              <a:rPr lang="en-US" altLang="zh-CN" sz="2000"/>
              <a:t>{  </a:t>
            </a:r>
          </a:p>
          <a:p>
            <a:pPr marL="342900" indent="-342900"/>
            <a:r>
              <a:rPr lang="en-US" altLang="zh-CN" sz="2000"/>
              <a:t>   int z;</a:t>
            </a:r>
          </a:p>
          <a:p>
            <a:pPr marL="342900" indent="-342900"/>
            <a:r>
              <a:rPr lang="en-US" altLang="zh-CN" sz="2000"/>
              <a:t>   if (x &gt; y)  z = x;</a:t>
            </a:r>
          </a:p>
          <a:p>
            <a:pPr marL="342900" indent="-342900"/>
            <a:r>
              <a:rPr lang="en-US" altLang="zh-CN" sz="2000"/>
              <a:t>   else     z = y;</a:t>
            </a:r>
          </a:p>
          <a:p>
            <a:pPr marL="342900" indent="-342900"/>
            <a:r>
              <a:rPr lang="en-US" altLang="zh-CN" sz="2000"/>
              <a:t>   return (z);</a:t>
            </a:r>
          </a:p>
          <a:p>
            <a:pPr marL="342900" indent="-342900"/>
            <a:r>
              <a:rPr lang="en-US" altLang="zh-CN" sz="2000"/>
              <a:t>}</a:t>
            </a:r>
          </a:p>
        </p:txBody>
      </p:sp>
      <p:sp>
        <p:nvSpPr>
          <p:cNvPr id="1217547" name="Text Box 11"/>
          <p:cNvSpPr txBox="1">
            <a:spLocks noChangeArrowheads="1"/>
          </p:cNvSpPr>
          <p:nvPr/>
        </p:nvSpPr>
        <p:spPr bwMode="auto">
          <a:xfrm>
            <a:off x="7390904" y="4836354"/>
            <a:ext cx="2736850" cy="104457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zh-CN" altLang="en-US" sz="2000" dirty="0">
                <a:solidFill>
                  <a:srgbClr val="C00000"/>
                </a:solidFill>
                <a:latin typeface="+mn-lt"/>
                <a:ea typeface="隶书" pitchFamily="49" charset="-122"/>
              </a:rPr>
              <a:t>运行结果：</a:t>
            </a:r>
          </a:p>
          <a:p>
            <a:pPr>
              <a:lnSpc>
                <a:spcPct val="100000"/>
              </a:lnSpc>
              <a:spcBef>
                <a:spcPct val="0"/>
              </a:spcBef>
            </a:pPr>
            <a:r>
              <a:rPr lang="en-US" altLang="zh-CN" sz="2000" dirty="0"/>
              <a:t>2</a:t>
            </a:r>
            <a:r>
              <a:rPr lang="zh-CN" altLang="en-US" sz="2000" dirty="0"/>
              <a:t>，</a:t>
            </a:r>
            <a:r>
              <a:rPr lang="en-US" altLang="zh-CN" sz="2000" dirty="0"/>
              <a:t>3</a:t>
            </a:r>
            <a:r>
              <a:rPr lang="en-US" altLang="zh-CN" sz="2000" dirty="0">
                <a:latin typeface="+mn-ea"/>
                <a:ea typeface="+mn-ea"/>
              </a:rPr>
              <a:t>↙</a:t>
            </a:r>
          </a:p>
          <a:p>
            <a:pPr algn="just"/>
            <a:r>
              <a:rPr kumimoji="0" lang="en-US" altLang="zh-CN" sz="2000" dirty="0">
                <a:solidFill>
                  <a:srgbClr val="002060"/>
                </a:solidFill>
              </a:rPr>
              <a:t>a = 2</a:t>
            </a:r>
            <a:r>
              <a:rPr kumimoji="0" lang="zh-CN" altLang="en-US" sz="2000" dirty="0">
                <a:solidFill>
                  <a:srgbClr val="002060"/>
                </a:solidFill>
              </a:rPr>
              <a:t>，</a:t>
            </a:r>
            <a:r>
              <a:rPr kumimoji="0" lang="en-US" altLang="zh-CN" sz="2000" dirty="0">
                <a:solidFill>
                  <a:srgbClr val="002060"/>
                </a:solidFill>
              </a:rPr>
              <a:t>b = 3</a:t>
            </a:r>
            <a:r>
              <a:rPr kumimoji="0" lang="zh-CN" altLang="en-US" sz="2000" dirty="0">
                <a:solidFill>
                  <a:srgbClr val="002060"/>
                </a:solidFill>
              </a:rPr>
              <a:t>，</a:t>
            </a:r>
            <a:r>
              <a:rPr kumimoji="0" lang="en-US" altLang="zh-CN" sz="2000" dirty="0">
                <a:solidFill>
                  <a:srgbClr val="002060"/>
                </a:solidFill>
              </a:rPr>
              <a:t>max = 3</a:t>
            </a:r>
          </a:p>
        </p:txBody>
      </p:sp>
      <p:sp>
        <p:nvSpPr>
          <p:cNvPr id="9" name="Rectangle 4">
            <a:extLst>
              <a:ext uri="{FF2B5EF4-FFF2-40B4-BE49-F238E27FC236}">
                <a16:creationId xmlns:a16="http://schemas.microsoft.com/office/drawing/2014/main" id="{537D64F3-7D7C-44C7-97D2-F86C893EE425}"/>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9.10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指向函数的指针</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____</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函数指针</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7540">
                                            <p:txEl>
                                              <p:pRg st="0" end="0"/>
                                            </p:txEl>
                                          </p:spTgt>
                                        </p:tgtEl>
                                        <p:attrNameLst>
                                          <p:attrName>style.visibility</p:attrName>
                                        </p:attrNameLst>
                                      </p:cBhvr>
                                      <p:to>
                                        <p:strVal val="visible"/>
                                      </p:to>
                                    </p:set>
                                    <p:anim calcmode="lin" valueType="num">
                                      <p:cBhvr additive="base">
                                        <p:cTn id="7" dur="500" fill="hold"/>
                                        <p:tgtEl>
                                          <p:spTgt spid="121754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1754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217542"/>
                                        </p:tgtEl>
                                        <p:attrNameLst>
                                          <p:attrName>style.visibility</p:attrName>
                                        </p:attrNameLst>
                                      </p:cBhvr>
                                      <p:to>
                                        <p:strVal val="visible"/>
                                      </p:to>
                                    </p:set>
                                    <p:animEffect transition="in" filter="blinds(vertical)">
                                      <p:cBhvr>
                                        <p:cTn id="13" dur="500"/>
                                        <p:tgtEl>
                                          <p:spTgt spid="1217542"/>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217546"/>
                                        </p:tgtEl>
                                        <p:attrNameLst>
                                          <p:attrName>style.visibility</p:attrName>
                                        </p:attrNameLst>
                                      </p:cBhvr>
                                      <p:to>
                                        <p:strVal val="visible"/>
                                      </p:to>
                                    </p:set>
                                    <p:animEffect transition="in" filter="box(out)">
                                      <p:cBhvr>
                                        <p:cTn id="18" dur="500"/>
                                        <p:tgtEl>
                                          <p:spTgt spid="121754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217547"/>
                                        </p:tgtEl>
                                        <p:attrNameLst>
                                          <p:attrName>style.visibility</p:attrName>
                                        </p:attrNameLst>
                                      </p:cBhvr>
                                      <p:to>
                                        <p:strVal val="visible"/>
                                      </p:to>
                                    </p:set>
                                    <p:animEffect transition="in" filter="box(out)">
                                      <p:cBhvr>
                                        <p:cTn id="23" dur="500"/>
                                        <p:tgtEl>
                                          <p:spTgt spid="1217547"/>
                                        </p:tgtEl>
                                      </p:cBhvr>
                                    </p:animEffect>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7540" grpId="0" build="p" autoUpdateAnimBg="0"/>
      <p:bldP spid="1217542" grpId="0" animBg="1" autoUpdateAnimBg="0"/>
      <p:bldP spid="1217546" grpId="0" animBg="1"/>
      <p:bldP spid="1217547" grpId="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4">
            <a:extLst>
              <a:ext uri="{FF2B5EF4-FFF2-40B4-BE49-F238E27FC236}">
                <a16:creationId xmlns:a16="http://schemas.microsoft.com/office/drawing/2014/main" id="{FDADD82A-74F3-4793-9EA3-1835329B01F5}"/>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9.10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指向函数的指针</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____</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函数指针</a:t>
            </a:r>
          </a:p>
        </p:txBody>
      </p:sp>
      <p:sp>
        <p:nvSpPr>
          <p:cNvPr id="1218562" name="Text Box 2"/>
          <p:cNvSpPr txBox="1">
            <a:spLocks noChangeArrowheads="1"/>
          </p:cNvSpPr>
          <p:nvPr/>
        </p:nvSpPr>
        <p:spPr bwMode="auto">
          <a:xfrm>
            <a:off x="825128" y="836712"/>
            <a:ext cx="9231312" cy="461665"/>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2】</a:t>
            </a:r>
            <a:r>
              <a:rPr lang="zh-CN" altLang="en-US" dirty="0"/>
              <a:t>用函数指针变量作参数，求最大值、最小值和两数之和。 </a:t>
            </a:r>
          </a:p>
        </p:txBody>
      </p:sp>
      <p:sp>
        <p:nvSpPr>
          <p:cNvPr id="1218563" name="Rectangle 3" descr="信纸"/>
          <p:cNvSpPr>
            <a:spLocks noChangeArrowheads="1"/>
          </p:cNvSpPr>
          <p:nvPr/>
        </p:nvSpPr>
        <p:spPr bwMode="auto">
          <a:xfrm>
            <a:off x="999349" y="332656"/>
            <a:ext cx="5845176" cy="6247864"/>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dirty="0"/>
              <a:t>#include &lt;</a:t>
            </a:r>
            <a:r>
              <a:rPr lang="en-US" altLang="zh-CN" sz="2000" dirty="0" err="1"/>
              <a:t>stdio.h</a:t>
            </a:r>
            <a:r>
              <a:rPr lang="en-US" altLang="zh-CN" sz="2000" dirty="0"/>
              <a:t>&gt;</a:t>
            </a:r>
          </a:p>
          <a:p>
            <a:pPr marL="457200" indent="-457200"/>
            <a:r>
              <a:rPr lang="en-US" altLang="zh-CN" sz="2000" dirty="0" err="1"/>
              <a:t>int</a:t>
            </a:r>
            <a:r>
              <a:rPr lang="en-US" altLang="zh-CN" sz="2000" dirty="0"/>
              <a:t> max (</a:t>
            </a:r>
            <a:r>
              <a:rPr lang="en-US" altLang="zh-CN" sz="2000" dirty="0" err="1"/>
              <a:t>int</a:t>
            </a:r>
            <a:r>
              <a:rPr lang="en-US" altLang="zh-CN" sz="2000" dirty="0"/>
              <a:t>, </a:t>
            </a:r>
            <a:r>
              <a:rPr lang="en-US" altLang="zh-CN" sz="2000" dirty="0" err="1"/>
              <a:t>int</a:t>
            </a:r>
            <a:r>
              <a:rPr lang="en-US" altLang="zh-CN" sz="2000" dirty="0"/>
              <a:t>);</a:t>
            </a:r>
          </a:p>
          <a:p>
            <a:pPr marL="457200" indent="-457200"/>
            <a:r>
              <a:rPr lang="en-US" altLang="zh-CN" sz="2000" dirty="0" err="1"/>
              <a:t>int</a:t>
            </a:r>
            <a:r>
              <a:rPr lang="en-US" altLang="zh-CN" sz="2000" dirty="0"/>
              <a:t> min (</a:t>
            </a:r>
            <a:r>
              <a:rPr lang="en-US" altLang="zh-CN" sz="2000" dirty="0" err="1"/>
              <a:t>int</a:t>
            </a:r>
            <a:r>
              <a:rPr lang="en-US" altLang="zh-CN" sz="2000" dirty="0"/>
              <a:t>, </a:t>
            </a:r>
            <a:r>
              <a:rPr lang="en-US" altLang="zh-CN" sz="2000" dirty="0" err="1"/>
              <a:t>int</a:t>
            </a:r>
            <a:r>
              <a:rPr lang="en-US" altLang="zh-CN" sz="2000" dirty="0"/>
              <a:t>);</a:t>
            </a:r>
          </a:p>
          <a:p>
            <a:pPr marL="457200" indent="-457200"/>
            <a:r>
              <a:rPr lang="en-US" altLang="zh-CN" sz="2000" dirty="0" err="1"/>
              <a:t>int</a:t>
            </a:r>
            <a:r>
              <a:rPr lang="en-US" altLang="zh-CN" sz="2000" dirty="0"/>
              <a:t> add (</a:t>
            </a:r>
            <a:r>
              <a:rPr lang="en-US" altLang="zh-CN" sz="2000" dirty="0" err="1"/>
              <a:t>int</a:t>
            </a:r>
            <a:r>
              <a:rPr lang="en-US" altLang="zh-CN" sz="2000" dirty="0"/>
              <a:t>, </a:t>
            </a:r>
            <a:r>
              <a:rPr lang="en-US" altLang="zh-CN" sz="2000" dirty="0" err="1"/>
              <a:t>int</a:t>
            </a:r>
            <a:r>
              <a:rPr lang="en-US" altLang="zh-CN" sz="2000" dirty="0"/>
              <a:t>);</a:t>
            </a:r>
          </a:p>
          <a:p>
            <a:pPr marL="457200" indent="-457200"/>
            <a:r>
              <a:rPr lang="en-US" altLang="zh-CN" sz="2000" dirty="0"/>
              <a:t>void process (</a:t>
            </a:r>
            <a:r>
              <a:rPr lang="en-US" altLang="zh-CN" sz="2000" dirty="0" err="1"/>
              <a:t>int</a:t>
            </a:r>
            <a:r>
              <a:rPr lang="en-US" altLang="zh-CN" sz="2000" dirty="0"/>
              <a:t>, </a:t>
            </a:r>
            <a:r>
              <a:rPr lang="en-US" altLang="zh-CN" sz="2000" dirty="0" err="1"/>
              <a:t>int</a:t>
            </a:r>
            <a:r>
              <a:rPr lang="en-US" altLang="zh-CN" sz="2000" dirty="0"/>
              <a:t>, </a:t>
            </a:r>
            <a:r>
              <a:rPr lang="en-US" altLang="zh-CN" sz="2000" dirty="0" err="1"/>
              <a:t>int</a:t>
            </a:r>
            <a:r>
              <a:rPr lang="en-US" altLang="zh-CN" sz="2000" dirty="0"/>
              <a:t> (*fun)(</a:t>
            </a:r>
            <a:r>
              <a:rPr lang="en-US" altLang="zh-CN" sz="2000" dirty="0" err="1"/>
              <a:t>int</a:t>
            </a:r>
            <a:r>
              <a:rPr lang="en-US" altLang="zh-CN" sz="2000" dirty="0"/>
              <a:t>, </a:t>
            </a:r>
            <a:r>
              <a:rPr lang="en-US" altLang="zh-CN" sz="2000" dirty="0" err="1"/>
              <a:t>int</a:t>
            </a:r>
            <a:r>
              <a:rPr lang="en-US" altLang="zh-CN" sz="2000" dirty="0"/>
              <a:t>));</a:t>
            </a:r>
          </a:p>
          <a:p>
            <a:pPr marL="457200" indent="-457200"/>
            <a:r>
              <a:rPr lang="en-US" altLang="zh-CN" sz="2000" dirty="0" err="1">
                <a:solidFill>
                  <a:srgbClr val="CC0099"/>
                </a:solidFill>
              </a:rPr>
              <a:t>int</a:t>
            </a:r>
            <a:r>
              <a:rPr lang="en-US" altLang="zh-CN" sz="2000" dirty="0">
                <a:solidFill>
                  <a:srgbClr val="CC0099"/>
                </a:solidFill>
              </a:rPr>
              <a:t> main ( )</a:t>
            </a:r>
          </a:p>
          <a:p>
            <a:pPr marL="457200" indent="-457200"/>
            <a:r>
              <a:rPr lang="en-US" altLang="zh-CN" sz="2000" dirty="0"/>
              <a:t>{ </a:t>
            </a:r>
          </a:p>
          <a:p>
            <a:pPr marL="457200" indent="-457200"/>
            <a:r>
              <a:rPr lang="en-US" altLang="zh-CN" sz="2000" dirty="0"/>
              <a:t>  </a:t>
            </a:r>
            <a:r>
              <a:rPr lang="en-US" altLang="zh-CN" sz="2000" dirty="0" err="1"/>
              <a:t>int</a:t>
            </a:r>
            <a:r>
              <a:rPr lang="en-US" altLang="zh-CN" sz="2000" dirty="0"/>
              <a:t> a, b;</a:t>
            </a:r>
          </a:p>
          <a:p>
            <a:pPr marL="457200" indent="-457200"/>
            <a:r>
              <a:rPr lang="en-US" altLang="zh-CN" sz="2000" dirty="0"/>
              <a:t>  </a:t>
            </a:r>
            <a:r>
              <a:rPr lang="en-US" altLang="zh-CN" sz="2000" dirty="0" err="1"/>
              <a:t>scanf</a:t>
            </a:r>
            <a:r>
              <a:rPr lang="en-US" altLang="zh-CN" sz="2000" dirty="0"/>
              <a:t> ("%</a:t>
            </a:r>
            <a:r>
              <a:rPr lang="en-US" altLang="zh-CN" sz="2000" dirty="0" err="1"/>
              <a:t>d%d</a:t>
            </a:r>
            <a:r>
              <a:rPr lang="en-US" altLang="zh-CN" sz="2000" dirty="0"/>
              <a:t>", &amp;a, &amp;b);</a:t>
            </a:r>
          </a:p>
          <a:p>
            <a:pPr marL="457200" indent="-457200"/>
            <a:r>
              <a:rPr lang="en-US" altLang="zh-CN" sz="2000" dirty="0"/>
              <a:t>  process (a, b, max);</a:t>
            </a:r>
          </a:p>
          <a:p>
            <a:pPr marL="457200" indent="-457200"/>
            <a:r>
              <a:rPr lang="en-US" altLang="zh-CN" sz="2000" dirty="0"/>
              <a:t>  process (a, b, min);</a:t>
            </a:r>
          </a:p>
          <a:p>
            <a:pPr marL="457200" indent="-457200"/>
            <a:r>
              <a:rPr lang="en-US" altLang="zh-CN" sz="2000" dirty="0"/>
              <a:t>  process (a, b, add);</a:t>
            </a:r>
          </a:p>
          <a:p>
            <a:pPr marL="457200" indent="-457200"/>
            <a:r>
              <a:rPr lang="en-US" altLang="zh-CN" sz="2000" dirty="0"/>
              <a:t>  return 0;</a:t>
            </a:r>
          </a:p>
          <a:p>
            <a:pPr marL="457200" indent="-457200"/>
            <a:r>
              <a:rPr lang="en-US" altLang="zh-CN" sz="2000" dirty="0"/>
              <a:t>}</a:t>
            </a:r>
          </a:p>
          <a:p>
            <a:pPr marL="457200" indent="-457200"/>
            <a:r>
              <a:rPr lang="en-US" altLang="zh-CN" sz="2000" dirty="0">
                <a:solidFill>
                  <a:srgbClr val="FF3399"/>
                </a:solidFill>
              </a:rPr>
              <a:t>void process (</a:t>
            </a:r>
            <a:r>
              <a:rPr lang="en-US" altLang="zh-CN" sz="2000" dirty="0" err="1">
                <a:solidFill>
                  <a:srgbClr val="FF3399"/>
                </a:solidFill>
              </a:rPr>
              <a:t>int</a:t>
            </a:r>
            <a:r>
              <a:rPr lang="en-US" altLang="zh-CN" sz="2000" dirty="0">
                <a:solidFill>
                  <a:srgbClr val="FF3399"/>
                </a:solidFill>
              </a:rPr>
              <a:t> x, </a:t>
            </a:r>
            <a:r>
              <a:rPr lang="en-US" altLang="zh-CN" sz="2000" dirty="0" err="1">
                <a:solidFill>
                  <a:srgbClr val="FF3399"/>
                </a:solidFill>
              </a:rPr>
              <a:t>int</a:t>
            </a:r>
            <a:r>
              <a:rPr lang="en-US" altLang="zh-CN" sz="2000" dirty="0">
                <a:solidFill>
                  <a:srgbClr val="FF3399"/>
                </a:solidFill>
              </a:rPr>
              <a:t> y, </a:t>
            </a:r>
            <a:r>
              <a:rPr lang="en-US" altLang="zh-CN" sz="2000" dirty="0" err="1">
                <a:solidFill>
                  <a:srgbClr val="FF3399"/>
                </a:solidFill>
              </a:rPr>
              <a:t>int</a:t>
            </a:r>
            <a:r>
              <a:rPr lang="en-US" altLang="zh-CN" sz="2000" dirty="0">
                <a:solidFill>
                  <a:srgbClr val="FF3399"/>
                </a:solidFill>
              </a:rPr>
              <a:t> (*fun) (</a:t>
            </a:r>
            <a:r>
              <a:rPr lang="en-US" altLang="zh-CN" sz="2000" dirty="0" err="1">
                <a:solidFill>
                  <a:srgbClr val="FF3399"/>
                </a:solidFill>
              </a:rPr>
              <a:t>int</a:t>
            </a:r>
            <a:r>
              <a:rPr lang="en-US" altLang="zh-CN" sz="2000" dirty="0">
                <a:solidFill>
                  <a:srgbClr val="FF3399"/>
                </a:solidFill>
              </a:rPr>
              <a:t>, </a:t>
            </a:r>
            <a:r>
              <a:rPr lang="en-US" altLang="zh-CN" sz="2000" dirty="0" err="1">
                <a:solidFill>
                  <a:srgbClr val="FF3399"/>
                </a:solidFill>
              </a:rPr>
              <a:t>int</a:t>
            </a:r>
            <a:r>
              <a:rPr lang="en-US" altLang="zh-CN" sz="2000" dirty="0">
                <a:solidFill>
                  <a:srgbClr val="FF3399"/>
                </a:solidFill>
              </a:rPr>
              <a:t>))</a:t>
            </a:r>
          </a:p>
          <a:p>
            <a:pPr marL="457200" indent="-457200"/>
            <a:r>
              <a:rPr lang="en-US" altLang="zh-CN" sz="2000" dirty="0"/>
              <a:t>{  </a:t>
            </a:r>
          </a:p>
          <a:p>
            <a:pPr marL="457200" indent="-457200"/>
            <a:r>
              <a:rPr lang="en-US" altLang="zh-CN" sz="2000" dirty="0"/>
              <a:t>  </a:t>
            </a:r>
            <a:r>
              <a:rPr lang="en-US" altLang="zh-CN" sz="2000" dirty="0" err="1"/>
              <a:t>int</a:t>
            </a:r>
            <a:r>
              <a:rPr lang="en-US" altLang="zh-CN" sz="2000" dirty="0"/>
              <a:t> result;</a:t>
            </a:r>
          </a:p>
          <a:p>
            <a:pPr marL="457200" indent="-457200"/>
            <a:r>
              <a:rPr lang="en-US" altLang="zh-CN" sz="2000" dirty="0"/>
              <a:t>  result = </a:t>
            </a:r>
            <a:r>
              <a:rPr lang="en-US" altLang="zh-CN" sz="2000" dirty="0">
                <a:solidFill>
                  <a:srgbClr val="C00000"/>
                </a:solidFill>
              </a:rPr>
              <a:t>(*fun) (x, y);</a:t>
            </a:r>
          </a:p>
          <a:p>
            <a:pPr marL="457200" indent="-457200"/>
            <a:r>
              <a:rPr lang="en-US" altLang="zh-CN" sz="2000" dirty="0"/>
              <a:t>  </a:t>
            </a:r>
            <a:r>
              <a:rPr lang="en-US" altLang="zh-CN" sz="2000" dirty="0" err="1"/>
              <a:t>printf</a:t>
            </a:r>
            <a:r>
              <a:rPr lang="en-US" altLang="zh-CN" sz="2000" dirty="0"/>
              <a:t> ("%d\n", result);</a:t>
            </a:r>
          </a:p>
          <a:p>
            <a:pPr marL="457200" indent="-457200"/>
            <a:r>
              <a:rPr lang="en-US" altLang="zh-CN" sz="2000" dirty="0"/>
              <a:t>}</a:t>
            </a:r>
          </a:p>
        </p:txBody>
      </p:sp>
      <p:sp>
        <p:nvSpPr>
          <p:cNvPr id="1218567" name="Rectangle 7" descr="信纸"/>
          <p:cNvSpPr>
            <a:spLocks noChangeArrowheads="1"/>
          </p:cNvSpPr>
          <p:nvPr/>
        </p:nvSpPr>
        <p:spPr bwMode="auto">
          <a:xfrm>
            <a:off x="7637231" y="484614"/>
            <a:ext cx="3931147" cy="5324535"/>
          </a:xfrm>
          <a:prstGeom prst="rect">
            <a:avLst/>
          </a:prstGeom>
          <a:gradFill>
            <a:gsLst>
              <a:gs pos="0">
                <a:srgbClr val="CFCFD1"/>
              </a:gs>
              <a:gs pos="100000">
                <a:schemeClr val="bg1">
                  <a:lumMod val="95000"/>
                </a:schemeClr>
              </a:gs>
            </a:gsLst>
            <a:lin ang="54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dirty="0">
                <a:solidFill>
                  <a:schemeClr val="accent1">
                    <a:lumMod val="50000"/>
                  </a:schemeClr>
                </a:solidFill>
              </a:rPr>
              <a:t>int max (int x, int y)</a:t>
            </a:r>
          </a:p>
          <a:p>
            <a:pPr marL="457200" indent="-457200"/>
            <a:r>
              <a:rPr lang="en-US" altLang="zh-CN" sz="2000" dirty="0"/>
              <a:t>{   </a:t>
            </a:r>
          </a:p>
          <a:p>
            <a:pPr marL="457200" indent="-457200"/>
            <a:r>
              <a:rPr lang="en-US" altLang="zh-CN" sz="2000" dirty="0"/>
              <a:t>  </a:t>
            </a:r>
            <a:r>
              <a:rPr lang="en-US" altLang="zh-CN" sz="2000" dirty="0" err="1"/>
              <a:t>printf</a:t>
            </a:r>
            <a:r>
              <a:rPr lang="en-US" altLang="zh-CN" sz="2000" dirty="0"/>
              <a:t> ("max = ");</a:t>
            </a:r>
          </a:p>
          <a:p>
            <a:pPr marL="457200" indent="-457200"/>
            <a:r>
              <a:rPr lang="en-US" altLang="zh-CN" sz="2000" dirty="0"/>
              <a:t>  return (x &gt; y ? x : y);</a:t>
            </a:r>
          </a:p>
          <a:p>
            <a:pPr marL="457200" indent="-457200"/>
            <a:r>
              <a:rPr lang="en-US" altLang="zh-CN" sz="2000" dirty="0"/>
              <a:t>}</a:t>
            </a:r>
          </a:p>
          <a:p>
            <a:pPr marL="457200" indent="-457200"/>
            <a:endParaRPr lang="en-US" altLang="zh-CN" sz="2000" dirty="0"/>
          </a:p>
          <a:p>
            <a:pPr marL="457200" indent="-457200"/>
            <a:r>
              <a:rPr lang="en-US" altLang="zh-CN" sz="2000" dirty="0">
                <a:solidFill>
                  <a:schemeClr val="accent1">
                    <a:lumMod val="50000"/>
                  </a:schemeClr>
                </a:solidFill>
              </a:rPr>
              <a:t>int min (int x, int y)</a:t>
            </a:r>
          </a:p>
          <a:p>
            <a:pPr marL="457200" indent="-457200"/>
            <a:r>
              <a:rPr lang="en-US" altLang="zh-CN" sz="2000" dirty="0"/>
              <a:t>{  </a:t>
            </a:r>
          </a:p>
          <a:p>
            <a:pPr marL="457200" indent="-457200"/>
            <a:r>
              <a:rPr lang="en-US" altLang="zh-CN" sz="2000" dirty="0"/>
              <a:t>  </a:t>
            </a:r>
            <a:r>
              <a:rPr lang="en-US" altLang="zh-CN" sz="2000" dirty="0" err="1"/>
              <a:t>printf</a:t>
            </a:r>
            <a:r>
              <a:rPr lang="en-US" altLang="zh-CN" sz="2000" dirty="0"/>
              <a:t> ("min = ");</a:t>
            </a:r>
          </a:p>
          <a:p>
            <a:pPr marL="457200" indent="-457200"/>
            <a:r>
              <a:rPr lang="en-US" altLang="zh-CN" sz="2000" dirty="0"/>
              <a:t>  return (x &lt; y ? x : y);</a:t>
            </a:r>
          </a:p>
          <a:p>
            <a:pPr marL="457200" indent="-457200"/>
            <a:r>
              <a:rPr lang="en-US" altLang="zh-CN" sz="2000" dirty="0"/>
              <a:t>}</a:t>
            </a:r>
          </a:p>
          <a:p>
            <a:pPr marL="457200" indent="-457200"/>
            <a:endParaRPr lang="en-US" altLang="zh-CN" sz="2000" dirty="0"/>
          </a:p>
          <a:p>
            <a:pPr marL="457200" indent="-457200"/>
            <a:r>
              <a:rPr lang="en-US" altLang="zh-CN" sz="2000" dirty="0">
                <a:solidFill>
                  <a:schemeClr val="accent1">
                    <a:lumMod val="50000"/>
                  </a:schemeClr>
                </a:solidFill>
              </a:rPr>
              <a:t>int add (int x, int y)</a:t>
            </a:r>
          </a:p>
          <a:p>
            <a:pPr marL="457200" indent="-457200"/>
            <a:r>
              <a:rPr lang="en-US" altLang="zh-CN" sz="2000" dirty="0"/>
              <a:t>{   </a:t>
            </a:r>
          </a:p>
          <a:p>
            <a:pPr marL="457200" indent="-457200"/>
            <a:r>
              <a:rPr lang="en-US" altLang="zh-CN" sz="2000" dirty="0"/>
              <a:t>  </a:t>
            </a:r>
            <a:r>
              <a:rPr lang="en-US" altLang="zh-CN" sz="2000" dirty="0" err="1"/>
              <a:t>printf</a:t>
            </a:r>
            <a:r>
              <a:rPr lang="en-US" altLang="zh-CN" sz="2000" dirty="0"/>
              <a:t> ("sum = ");  </a:t>
            </a:r>
          </a:p>
          <a:p>
            <a:pPr marL="457200" indent="-457200"/>
            <a:r>
              <a:rPr lang="en-US" altLang="zh-CN" sz="2000" dirty="0"/>
              <a:t>  return (x + y);</a:t>
            </a:r>
          </a:p>
          <a:p>
            <a:pPr marL="457200" indent="-457200"/>
            <a:r>
              <a:rPr lang="en-US" altLang="zh-CN" sz="2000" dirty="0"/>
              <a:t>}</a:t>
            </a:r>
          </a:p>
        </p:txBody>
      </p:sp>
      <p:sp>
        <p:nvSpPr>
          <p:cNvPr id="1218568" name="Text Box 8"/>
          <p:cNvSpPr txBox="1">
            <a:spLocks noChangeArrowheads="1"/>
          </p:cNvSpPr>
          <p:nvPr/>
        </p:nvSpPr>
        <p:spPr bwMode="auto">
          <a:xfrm>
            <a:off x="4612500" y="5250288"/>
            <a:ext cx="3095625" cy="134937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zh-CN" altLang="en-US" sz="2000" dirty="0">
                <a:solidFill>
                  <a:srgbClr val="C00000"/>
                </a:solidFill>
                <a:latin typeface="+mn-lt"/>
                <a:ea typeface="隶书" pitchFamily="49" charset="-122"/>
              </a:rPr>
              <a:t>运行结果</a:t>
            </a:r>
            <a:r>
              <a:rPr lang="en-US" altLang="zh-CN" sz="2000" dirty="0">
                <a:solidFill>
                  <a:srgbClr val="C00000"/>
                </a:solidFill>
                <a:latin typeface="+mn-lt"/>
                <a:ea typeface="隶书" pitchFamily="49" charset="-122"/>
              </a:rPr>
              <a:t>(</a:t>
            </a:r>
            <a:r>
              <a:rPr lang="zh-CN" altLang="en-US" sz="2000" dirty="0">
                <a:solidFill>
                  <a:schemeClr val="tx2">
                    <a:lumMod val="95000"/>
                    <a:lumOff val="5000"/>
                  </a:schemeClr>
                </a:solidFill>
                <a:latin typeface="+mn-lt"/>
                <a:ea typeface="隶书" pitchFamily="49" charset="-122"/>
              </a:rPr>
              <a:t>输入：</a:t>
            </a:r>
            <a:r>
              <a:rPr lang="en-US" altLang="zh-CN" sz="2000" dirty="0">
                <a:solidFill>
                  <a:schemeClr val="tx2">
                    <a:lumMod val="95000"/>
                    <a:lumOff val="5000"/>
                  </a:schemeClr>
                </a:solidFill>
                <a:latin typeface="+mn-lt"/>
                <a:ea typeface="隶书" pitchFamily="49" charset="-122"/>
              </a:rPr>
              <a:t>3, 4</a:t>
            </a:r>
            <a:r>
              <a:rPr lang="en-US" altLang="en-US" sz="2000" dirty="0">
                <a:solidFill>
                  <a:schemeClr val="tx2">
                    <a:lumMod val="95000"/>
                    <a:lumOff val="5000"/>
                  </a:schemeClr>
                </a:solidFill>
                <a:latin typeface="+mn-ea"/>
                <a:ea typeface="+mn-ea"/>
              </a:rPr>
              <a:t>↙</a:t>
            </a:r>
            <a:r>
              <a:rPr lang="en-US" altLang="zh-CN" sz="2000" dirty="0">
                <a:solidFill>
                  <a:srgbClr val="C00000"/>
                </a:solidFill>
                <a:latin typeface="+mn-lt"/>
                <a:ea typeface="隶书" pitchFamily="49" charset="-122"/>
              </a:rPr>
              <a:t>)</a:t>
            </a:r>
            <a:r>
              <a:rPr lang="zh-CN" altLang="en-US" sz="2000" dirty="0">
                <a:solidFill>
                  <a:srgbClr val="C00000"/>
                </a:solidFill>
              </a:rPr>
              <a:t>：</a:t>
            </a:r>
          </a:p>
          <a:p>
            <a:r>
              <a:rPr lang="en-US" altLang="zh-CN" sz="2000" dirty="0">
                <a:solidFill>
                  <a:schemeClr val="tx2">
                    <a:lumMod val="95000"/>
                    <a:lumOff val="5000"/>
                  </a:schemeClr>
                </a:solidFill>
              </a:rPr>
              <a:t>max = 4</a:t>
            </a:r>
          </a:p>
          <a:p>
            <a:r>
              <a:rPr lang="en-US" altLang="zh-CN" sz="2000" dirty="0">
                <a:solidFill>
                  <a:schemeClr val="tx2">
                    <a:lumMod val="95000"/>
                    <a:lumOff val="5000"/>
                  </a:schemeClr>
                </a:solidFill>
              </a:rPr>
              <a:t>min = 3</a:t>
            </a:r>
          </a:p>
          <a:p>
            <a:r>
              <a:rPr lang="en-US" altLang="zh-CN" sz="2000" dirty="0">
                <a:solidFill>
                  <a:schemeClr val="tx2">
                    <a:lumMod val="95000"/>
                    <a:lumOff val="5000"/>
                  </a:schemeClr>
                </a:solidFill>
              </a:rPr>
              <a:t>sum = 7</a:t>
            </a:r>
          </a:p>
        </p:txBody>
      </p:sp>
      <p:grpSp>
        <p:nvGrpSpPr>
          <p:cNvPr id="1218571" name="Group 11"/>
          <p:cNvGrpSpPr>
            <a:grpSpLocks/>
          </p:cNvGrpSpPr>
          <p:nvPr/>
        </p:nvGrpSpPr>
        <p:grpSpPr bwMode="auto">
          <a:xfrm>
            <a:off x="2524937" y="741793"/>
            <a:ext cx="5256213" cy="5040313"/>
            <a:chOff x="1338" y="436"/>
            <a:chExt cx="3311" cy="3175"/>
          </a:xfrm>
        </p:grpSpPr>
        <p:sp>
          <p:nvSpPr>
            <p:cNvPr id="1218569" name="Line 9"/>
            <p:cNvSpPr>
              <a:spLocks noChangeShapeType="1"/>
            </p:cNvSpPr>
            <p:nvPr/>
          </p:nvSpPr>
          <p:spPr bwMode="auto">
            <a:xfrm>
              <a:off x="1655" y="2114"/>
              <a:ext cx="998" cy="908"/>
            </a:xfrm>
            <a:prstGeom prst="line">
              <a:avLst/>
            </a:prstGeom>
            <a:noFill/>
            <a:ln w="38100">
              <a:solidFill>
                <a:srgbClr val="C00000"/>
              </a:solidFill>
              <a:prstDash val="dash"/>
              <a:round/>
              <a:headEnd/>
              <a:tailEnd type="stealth" w="lg" len="lg"/>
            </a:ln>
            <a:effectLst>
              <a:outerShdw dist="35921" dir="2700000" algn="ctr" rotWithShape="0">
                <a:schemeClr val="bg2"/>
              </a:outerShdw>
            </a:effectLst>
          </p:spPr>
          <p:txBody>
            <a:bodyPr/>
            <a:lstStyle/>
            <a:p>
              <a:endParaRPr lang="zh-CN" altLang="en-US" dirty="0"/>
            </a:p>
          </p:txBody>
        </p:sp>
        <p:sp>
          <p:nvSpPr>
            <p:cNvPr id="1218570" name="Line 10"/>
            <p:cNvSpPr>
              <a:spLocks noChangeShapeType="1"/>
            </p:cNvSpPr>
            <p:nvPr/>
          </p:nvSpPr>
          <p:spPr bwMode="auto">
            <a:xfrm flipV="1">
              <a:off x="1338" y="436"/>
              <a:ext cx="3311" cy="3175"/>
            </a:xfrm>
            <a:prstGeom prst="line">
              <a:avLst/>
            </a:prstGeom>
            <a:noFill/>
            <a:ln w="38100">
              <a:solidFill>
                <a:srgbClr val="C00000"/>
              </a:solidFill>
              <a:prstDash val="dash"/>
              <a:round/>
              <a:headEnd/>
              <a:tailEnd type="stealth" w="lg" len="lg"/>
            </a:ln>
            <a:effectLst>
              <a:outerShdw dist="35921" dir="2700000" algn="ctr" rotWithShape="0">
                <a:schemeClr val="bg2"/>
              </a:outerShdw>
            </a:effectLst>
          </p:spPr>
          <p:txBody>
            <a:bodyPr/>
            <a:lstStyle/>
            <a:p>
              <a:endParaRPr lang="zh-CN" altLang="en-US"/>
            </a:p>
          </p:txBody>
        </p:sp>
      </p:grpSp>
      <p:grpSp>
        <p:nvGrpSpPr>
          <p:cNvPr id="1218574" name="Group 14"/>
          <p:cNvGrpSpPr>
            <a:grpSpLocks/>
          </p:cNvGrpSpPr>
          <p:nvPr/>
        </p:nvGrpSpPr>
        <p:grpSpPr bwMode="auto">
          <a:xfrm>
            <a:off x="2596374" y="2542019"/>
            <a:ext cx="5184776" cy="3168650"/>
            <a:chOff x="1383" y="1570"/>
            <a:chExt cx="3266" cy="1996"/>
          </a:xfrm>
        </p:grpSpPr>
        <p:sp>
          <p:nvSpPr>
            <p:cNvPr id="1218572" name="Line 12"/>
            <p:cNvSpPr>
              <a:spLocks noChangeShapeType="1"/>
            </p:cNvSpPr>
            <p:nvPr/>
          </p:nvSpPr>
          <p:spPr bwMode="auto">
            <a:xfrm>
              <a:off x="1565" y="2296"/>
              <a:ext cx="998" cy="726"/>
            </a:xfrm>
            <a:prstGeom prst="line">
              <a:avLst/>
            </a:prstGeom>
            <a:noFill/>
            <a:ln w="38100">
              <a:solidFill>
                <a:schemeClr val="accent2">
                  <a:lumMod val="50000"/>
                </a:schemeClr>
              </a:solidFill>
              <a:prstDash val="dash"/>
              <a:round/>
              <a:headEnd/>
              <a:tailEnd type="stealth" w="lg" len="lg"/>
            </a:ln>
            <a:effectLst>
              <a:outerShdw dist="35921" dir="2700000" algn="ctr" rotWithShape="0">
                <a:schemeClr val="bg2"/>
              </a:outerShdw>
            </a:effectLst>
          </p:spPr>
          <p:txBody>
            <a:bodyPr/>
            <a:lstStyle/>
            <a:p>
              <a:endParaRPr lang="zh-CN" altLang="en-US"/>
            </a:p>
          </p:txBody>
        </p:sp>
        <p:sp>
          <p:nvSpPr>
            <p:cNvPr id="1218573" name="Line 13"/>
            <p:cNvSpPr>
              <a:spLocks noChangeShapeType="1"/>
            </p:cNvSpPr>
            <p:nvPr/>
          </p:nvSpPr>
          <p:spPr bwMode="auto">
            <a:xfrm flipV="1">
              <a:off x="1383" y="1570"/>
              <a:ext cx="3266" cy="1996"/>
            </a:xfrm>
            <a:prstGeom prst="line">
              <a:avLst/>
            </a:prstGeom>
            <a:noFill/>
            <a:ln w="38100">
              <a:solidFill>
                <a:schemeClr val="accent2">
                  <a:lumMod val="50000"/>
                </a:schemeClr>
              </a:solidFill>
              <a:prstDash val="dash"/>
              <a:round/>
              <a:headEnd/>
              <a:tailEnd type="stealth" w="lg" len="lg"/>
            </a:ln>
            <a:effectLst>
              <a:outerShdw dist="35921" dir="2700000" algn="ctr" rotWithShape="0">
                <a:schemeClr val="bg2"/>
              </a:outerShdw>
            </a:effectLst>
          </p:spPr>
          <p:txBody>
            <a:bodyPr/>
            <a:lstStyle/>
            <a:p>
              <a:endParaRPr lang="zh-CN" altLang="en-US"/>
            </a:p>
          </p:txBody>
        </p:sp>
      </p:grpSp>
      <p:grpSp>
        <p:nvGrpSpPr>
          <p:cNvPr id="1218577" name="Group 17"/>
          <p:cNvGrpSpPr>
            <a:grpSpLocks/>
          </p:cNvGrpSpPr>
          <p:nvPr/>
        </p:nvGrpSpPr>
        <p:grpSpPr bwMode="auto">
          <a:xfrm>
            <a:off x="2524936" y="3983464"/>
            <a:ext cx="5230814" cy="1727199"/>
            <a:chOff x="1338" y="2478"/>
            <a:chExt cx="3295" cy="1088"/>
          </a:xfrm>
        </p:grpSpPr>
        <p:sp>
          <p:nvSpPr>
            <p:cNvPr id="1218575" name="Line 15"/>
            <p:cNvSpPr>
              <a:spLocks noChangeShapeType="1"/>
            </p:cNvSpPr>
            <p:nvPr/>
          </p:nvSpPr>
          <p:spPr bwMode="auto">
            <a:xfrm>
              <a:off x="1519" y="2478"/>
              <a:ext cx="998" cy="499"/>
            </a:xfrm>
            <a:prstGeom prst="line">
              <a:avLst/>
            </a:prstGeom>
            <a:noFill/>
            <a:ln w="38100">
              <a:solidFill>
                <a:schemeClr val="accent1">
                  <a:lumMod val="50000"/>
                </a:schemeClr>
              </a:solidFill>
              <a:prstDash val="dash"/>
              <a:round/>
              <a:headEnd/>
              <a:tailEnd type="stealth" w="lg" len="lg"/>
            </a:ln>
            <a:effectLst>
              <a:outerShdw dist="35921" dir="2700000" algn="ctr" rotWithShape="0">
                <a:schemeClr val="bg2"/>
              </a:outerShdw>
            </a:effectLst>
          </p:spPr>
          <p:txBody>
            <a:bodyPr/>
            <a:lstStyle/>
            <a:p>
              <a:endParaRPr lang="zh-CN" altLang="en-US"/>
            </a:p>
          </p:txBody>
        </p:sp>
        <p:sp>
          <p:nvSpPr>
            <p:cNvPr id="1218576" name="Line 16"/>
            <p:cNvSpPr>
              <a:spLocks noChangeShapeType="1"/>
            </p:cNvSpPr>
            <p:nvPr/>
          </p:nvSpPr>
          <p:spPr bwMode="auto">
            <a:xfrm flipV="1">
              <a:off x="1338" y="2750"/>
              <a:ext cx="3295" cy="816"/>
            </a:xfrm>
            <a:prstGeom prst="line">
              <a:avLst/>
            </a:prstGeom>
            <a:noFill/>
            <a:ln w="38100">
              <a:solidFill>
                <a:schemeClr val="accent1">
                  <a:lumMod val="50000"/>
                </a:schemeClr>
              </a:solidFill>
              <a:prstDash val="dash"/>
              <a:round/>
              <a:headEnd/>
              <a:tailEnd type="stealth" w="lg" len="lg"/>
            </a:ln>
            <a:effectLst>
              <a:outerShdw dist="35921" dir="2700000" algn="ctr" rotWithShape="0">
                <a:schemeClr val="bg2"/>
              </a:outerShdw>
            </a:effectLst>
          </p:spPr>
          <p:txBody>
            <a:bodyPr/>
            <a:lstStyle/>
            <a:p>
              <a:endParaRPr lang="zh-CN" altLang="en-US"/>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8562">
                                            <p:txEl>
                                              <p:pRg st="0" end="0"/>
                                            </p:txEl>
                                          </p:spTgt>
                                        </p:tgtEl>
                                        <p:attrNameLst>
                                          <p:attrName>style.visibility</p:attrName>
                                        </p:attrNameLst>
                                      </p:cBhvr>
                                      <p:to>
                                        <p:strVal val="visible"/>
                                      </p:to>
                                    </p:set>
                                    <p:anim calcmode="lin" valueType="num">
                                      <p:cBhvr additive="base">
                                        <p:cTn id="7" dur="500" fill="hold"/>
                                        <p:tgtEl>
                                          <p:spTgt spid="121856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1856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218563"/>
                                        </p:tgtEl>
                                        <p:attrNameLst>
                                          <p:attrName>style.visibility</p:attrName>
                                        </p:attrNameLst>
                                      </p:cBhvr>
                                      <p:to>
                                        <p:strVal val="visible"/>
                                      </p:to>
                                    </p:set>
                                    <p:animEffect transition="in" filter="blinds(vertical)">
                                      <p:cBhvr>
                                        <p:cTn id="13" dur="500"/>
                                        <p:tgtEl>
                                          <p:spTgt spid="1218563"/>
                                        </p:tgtEl>
                                      </p:cBhvr>
                                    </p:animEffect>
                                  </p:childTnLst>
                                  <p:subTnLst>
                                    <p:audio>
                                      <p:cMediaNode>
                                        <p:cTn display="0" masterRel="sameClick">
                                          <p:stCondLst>
                                            <p:cond evt="begin" delay="0">
                                              <p:tn val="11"/>
                                            </p:cond>
                                          </p:stCondLst>
                                          <p:endCondLst>
                                            <p:cond evt="onStopAudio" delay="0">
                                              <p:tgtEl>
                                                <p:sldTgt/>
                                              </p:tgtEl>
                                            </p:cond>
                                          </p:endCondLst>
                                        </p:cTn>
                                        <p:tgtEl>
                                          <p:sndTgt r:embed="rId4"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218567"/>
                                        </p:tgtEl>
                                        <p:attrNameLst>
                                          <p:attrName>style.visibility</p:attrName>
                                        </p:attrNameLst>
                                      </p:cBhvr>
                                      <p:to>
                                        <p:strVal val="visible"/>
                                      </p:to>
                                    </p:set>
                                    <p:animEffect transition="in" filter="box(out)">
                                      <p:cBhvr>
                                        <p:cTn id="18" dur="500"/>
                                        <p:tgtEl>
                                          <p:spTgt spid="1218567"/>
                                        </p:tgtEl>
                                      </p:cBhvr>
                                    </p:animEffect>
                                  </p:childTnLst>
                                  <p:subTnLst>
                                    <p:audio>
                                      <p:cMediaNode>
                                        <p:cTn display="0" masterRel="sameClick">
                                          <p:stCondLst>
                                            <p:cond evt="begin" delay="0">
                                              <p:tn val="16"/>
                                            </p:cond>
                                          </p:stCondLst>
                                          <p:endCondLst>
                                            <p:cond evt="onStopAudio" delay="0">
                                              <p:tgtEl>
                                                <p:sldTgt/>
                                              </p:tgtEl>
                                            </p:cond>
                                          </p:endCondLst>
                                        </p:cTn>
                                        <p:tgtEl>
                                          <p:sndTgt r:embed="rId4"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1218571"/>
                                        </p:tgtEl>
                                        <p:attrNameLst>
                                          <p:attrName>style.visibility</p:attrName>
                                        </p:attrNameLst>
                                      </p:cBhvr>
                                      <p:to>
                                        <p:strVal val="visible"/>
                                      </p:to>
                                    </p:set>
                                    <p:animEffect transition="in" filter="strips(upRight)">
                                      <p:cBhvr>
                                        <p:cTn id="23" dur="1000"/>
                                        <p:tgtEl>
                                          <p:spTgt spid="1218571"/>
                                        </p:tgtEl>
                                      </p:cBhvr>
                                    </p:animEffect>
                                  </p:childTnLst>
                                  <p:subTnLst>
                                    <p:set>
                                      <p:cBhvr override="childStyle">
                                        <p:cTn dur="1" fill="hold" display="0" masterRel="nextClick" afterEffect="1"/>
                                        <p:tgtEl>
                                          <p:spTgt spid="1218571"/>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4"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3" fill="hold" nodeType="clickEffect">
                                  <p:stCondLst>
                                    <p:cond delay="0"/>
                                  </p:stCondLst>
                                  <p:childTnLst>
                                    <p:set>
                                      <p:cBhvr>
                                        <p:cTn id="27" dur="1" fill="hold">
                                          <p:stCondLst>
                                            <p:cond delay="0"/>
                                          </p:stCondLst>
                                        </p:cTn>
                                        <p:tgtEl>
                                          <p:spTgt spid="1218574"/>
                                        </p:tgtEl>
                                        <p:attrNameLst>
                                          <p:attrName>style.visibility</p:attrName>
                                        </p:attrNameLst>
                                      </p:cBhvr>
                                      <p:to>
                                        <p:strVal val="visible"/>
                                      </p:to>
                                    </p:set>
                                    <p:animEffect transition="in" filter="strips(upRight)">
                                      <p:cBhvr>
                                        <p:cTn id="28" dur="1000"/>
                                        <p:tgtEl>
                                          <p:spTgt spid="1218574"/>
                                        </p:tgtEl>
                                      </p:cBhvr>
                                    </p:animEffect>
                                  </p:childTnLst>
                                  <p:subTnLst>
                                    <p:set>
                                      <p:cBhvr override="childStyle">
                                        <p:cTn dur="1" fill="hold" display="0" masterRel="nextClick" afterEffect="1"/>
                                        <p:tgtEl>
                                          <p:spTgt spid="1218574"/>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4"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3" fill="hold" nodeType="clickEffect">
                                  <p:stCondLst>
                                    <p:cond delay="0"/>
                                  </p:stCondLst>
                                  <p:childTnLst>
                                    <p:set>
                                      <p:cBhvr>
                                        <p:cTn id="32" dur="1" fill="hold">
                                          <p:stCondLst>
                                            <p:cond delay="0"/>
                                          </p:stCondLst>
                                        </p:cTn>
                                        <p:tgtEl>
                                          <p:spTgt spid="1218577"/>
                                        </p:tgtEl>
                                        <p:attrNameLst>
                                          <p:attrName>style.visibility</p:attrName>
                                        </p:attrNameLst>
                                      </p:cBhvr>
                                      <p:to>
                                        <p:strVal val="visible"/>
                                      </p:to>
                                    </p:set>
                                    <p:animEffect transition="in" filter="strips(upRight)">
                                      <p:cBhvr>
                                        <p:cTn id="33" dur="1000"/>
                                        <p:tgtEl>
                                          <p:spTgt spid="1218577"/>
                                        </p:tgtEl>
                                      </p:cBhvr>
                                    </p:animEffect>
                                  </p:childTnLst>
                                  <p:subTnLst>
                                    <p:set>
                                      <p:cBhvr override="childStyle">
                                        <p:cTn dur="1" fill="hold" display="0" masterRel="nextClick" afterEffect="1"/>
                                        <p:tgtEl>
                                          <p:spTgt spid="1218577"/>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4"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218568"/>
                                        </p:tgtEl>
                                        <p:attrNameLst>
                                          <p:attrName>style.visibility</p:attrName>
                                        </p:attrNameLst>
                                      </p:cBhvr>
                                      <p:to>
                                        <p:strVal val="visible"/>
                                      </p:to>
                                    </p:set>
                                    <p:animEffect transition="in" filter="box(out)">
                                      <p:cBhvr>
                                        <p:cTn id="38" dur="500"/>
                                        <p:tgtEl>
                                          <p:spTgt spid="1218568"/>
                                        </p:tgtEl>
                                      </p:cBhvr>
                                    </p:animEffect>
                                  </p:childTnLst>
                                  <p:subTnLst>
                                    <p:audio>
                                      <p:cMediaNode>
                                        <p:cTn display="0" masterRel="sameClick">
                                          <p:stCondLst>
                                            <p:cond evt="begin" delay="0">
                                              <p:tn val="36"/>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62" grpId="0" build="p" autoUpdateAnimBg="0"/>
      <p:bldP spid="1218563" grpId="0" animBg="1" autoUpdateAnimBg="0"/>
      <p:bldP spid="1218567" grpId="0" animBg="1"/>
      <p:bldP spid="1218568" grpId="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9586" name="Text Box 2"/>
          <p:cNvSpPr txBox="1">
            <a:spLocks noChangeArrowheads="1"/>
          </p:cNvSpPr>
          <p:nvPr/>
        </p:nvSpPr>
        <p:spPr bwMode="auto">
          <a:xfrm>
            <a:off x="860885" y="836712"/>
            <a:ext cx="7611379" cy="461665"/>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3】</a:t>
            </a:r>
            <a:r>
              <a:rPr lang="zh-CN" altLang="en-US" dirty="0"/>
              <a:t>用函数指针数组来实现对一系列函数的调用。 </a:t>
            </a:r>
          </a:p>
        </p:txBody>
      </p:sp>
      <p:sp>
        <p:nvSpPr>
          <p:cNvPr id="9" name="Rectangle 4">
            <a:extLst>
              <a:ext uri="{FF2B5EF4-FFF2-40B4-BE49-F238E27FC236}">
                <a16:creationId xmlns:a16="http://schemas.microsoft.com/office/drawing/2014/main" id="{CF6BE310-E36B-4758-983D-A8A870BFDFB3}"/>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9.10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指向函数的指针</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____</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函数指针</a:t>
            </a:r>
          </a:p>
        </p:txBody>
      </p:sp>
      <p:sp>
        <p:nvSpPr>
          <p:cNvPr id="1219587" name="Rectangle 3" descr="信纸"/>
          <p:cNvSpPr>
            <a:spLocks noChangeArrowheads="1"/>
          </p:cNvSpPr>
          <p:nvPr/>
        </p:nvSpPr>
        <p:spPr bwMode="auto">
          <a:xfrm>
            <a:off x="1181493" y="415504"/>
            <a:ext cx="6156607" cy="6186309"/>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dirty="0"/>
              <a:t>#include &lt;</a:t>
            </a:r>
            <a:r>
              <a:rPr lang="en-US" altLang="zh-CN" sz="2000" dirty="0" err="1"/>
              <a:t>stdio.h</a:t>
            </a:r>
            <a:r>
              <a:rPr lang="en-US" altLang="zh-CN" sz="2000" dirty="0"/>
              <a:t>&gt;</a:t>
            </a:r>
          </a:p>
          <a:p>
            <a:pPr marL="457200" indent="-457200"/>
            <a:r>
              <a:rPr lang="en-US" altLang="zh-CN" sz="2000" dirty="0" err="1"/>
              <a:t>int</a:t>
            </a:r>
            <a:r>
              <a:rPr lang="en-US" altLang="zh-CN" sz="2000" dirty="0"/>
              <a:t> add (</a:t>
            </a:r>
            <a:r>
              <a:rPr lang="en-US" altLang="zh-CN" sz="2000" dirty="0" err="1"/>
              <a:t>int</a:t>
            </a:r>
            <a:r>
              <a:rPr lang="en-US" altLang="zh-CN" sz="2000" dirty="0"/>
              <a:t> a, </a:t>
            </a:r>
            <a:r>
              <a:rPr lang="en-US" altLang="zh-CN" sz="2000" dirty="0" err="1"/>
              <a:t>int</a:t>
            </a:r>
            <a:r>
              <a:rPr lang="en-US" altLang="zh-CN" sz="2000" dirty="0"/>
              <a:t> b);</a:t>
            </a:r>
          </a:p>
          <a:p>
            <a:pPr marL="457200" indent="-457200"/>
            <a:r>
              <a:rPr lang="en-US" altLang="zh-CN" sz="2000" dirty="0" err="1"/>
              <a:t>int</a:t>
            </a:r>
            <a:r>
              <a:rPr lang="en-US" altLang="zh-CN" sz="2000" dirty="0"/>
              <a:t> sub (</a:t>
            </a:r>
            <a:r>
              <a:rPr lang="en-US" altLang="zh-CN" sz="2000" dirty="0" err="1"/>
              <a:t>int</a:t>
            </a:r>
            <a:r>
              <a:rPr lang="en-US" altLang="zh-CN" sz="2000" dirty="0"/>
              <a:t> a, </a:t>
            </a:r>
            <a:r>
              <a:rPr lang="en-US" altLang="zh-CN" sz="2000" dirty="0" err="1"/>
              <a:t>int</a:t>
            </a:r>
            <a:r>
              <a:rPr lang="en-US" altLang="zh-CN" sz="2000" dirty="0"/>
              <a:t> b);</a:t>
            </a:r>
          </a:p>
          <a:p>
            <a:pPr marL="457200" indent="-457200"/>
            <a:r>
              <a:rPr lang="en-US" altLang="zh-CN" sz="2000" dirty="0" err="1"/>
              <a:t>int</a:t>
            </a:r>
            <a:r>
              <a:rPr lang="en-US" altLang="zh-CN" sz="2000" dirty="0"/>
              <a:t> max (</a:t>
            </a:r>
            <a:r>
              <a:rPr lang="en-US" altLang="zh-CN" sz="2000" dirty="0" err="1"/>
              <a:t>int</a:t>
            </a:r>
            <a:r>
              <a:rPr lang="en-US" altLang="zh-CN" sz="2000" dirty="0"/>
              <a:t> a, </a:t>
            </a:r>
            <a:r>
              <a:rPr lang="en-US" altLang="zh-CN" sz="2000" dirty="0" err="1"/>
              <a:t>int</a:t>
            </a:r>
            <a:r>
              <a:rPr lang="en-US" altLang="zh-CN" sz="2000" dirty="0"/>
              <a:t> b);</a:t>
            </a:r>
          </a:p>
          <a:p>
            <a:pPr marL="457200" indent="-457200"/>
            <a:r>
              <a:rPr lang="en-US" altLang="zh-CN" sz="2000" dirty="0" err="1"/>
              <a:t>int</a:t>
            </a:r>
            <a:r>
              <a:rPr lang="en-US" altLang="zh-CN" sz="2000" dirty="0"/>
              <a:t> min (</a:t>
            </a:r>
            <a:r>
              <a:rPr lang="en-US" altLang="zh-CN" sz="2000" dirty="0" err="1"/>
              <a:t>int</a:t>
            </a:r>
            <a:r>
              <a:rPr lang="en-US" altLang="zh-CN" sz="2000" dirty="0"/>
              <a:t> a, </a:t>
            </a:r>
            <a:r>
              <a:rPr lang="en-US" altLang="zh-CN" sz="2000" dirty="0" err="1"/>
              <a:t>int</a:t>
            </a:r>
            <a:r>
              <a:rPr lang="en-US" altLang="zh-CN" sz="2000" dirty="0"/>
              <a:t> b);</a:t>
            </a:r>
          </a:p>
          <a:p>
            <a:pPr marL="457200" indent="-457200"/>
            <a:r>
              <a:rPr lang="en-US" altLang="zh-CN" sz="2000" dirty="0" err="1">
                <a:solidFill>
                  <a:srgbClr val="CC0099"/>
                </a:solidFill>
              </a:rPr>
              <a:t>int</a:t>
            </a:r>
            <a:r>
              <a:rPr lang="en-US" altLang="zh-CN" sz="2000" dirty="0">
                <a:solidFill>
                  <a:srgbClr val="CC0099"/>
                </a:solidFill>
              </a:rPr>
              <a:t> main ( )</a:t>
            </a:r>
          </a:p>
          <a:p>
            <a:pPr marL="457200" indent="-457200"/>
            <a:r>
              <a:rPr lang="en-US" altLang="zh-CN" sz="2000" dirty="0"/>
              <a:t>{</a:t>
            </a:r>
          </a:p>
          <a:p>
            <a:pPr marL="457200" indent="-457200"/>
            <a:r>
              <a:rPr lang="en-US" altLang="zh-CN" sz="2000" dirty="0"/>
              <a:t>  </a:t>
            </a:r>
            <a:r>
              <a:rPr lang="en-US" altLang="zh-CN" sz="2000" dirty="0" err="1"/>
              <a:t>int</a:t>
            </a:r>
            <a:r>
              <a:rPr lang="en-US" altLang="zh-CN" sz="2000" dirty="0"/>
              <a:t> a, b, </a:t>
            </a:r>
            <a:r>
              <a:rPr lang="en-US" altLang="zh-CN" sz="2000" dirty="0" err="1"/>
              <a:t>i</a:t>
            </a:r>
            <a:r>
              <a:rPr lang="en-US" altLang="zh-CN" sz="2000" dirty="0"/>
              <a:t>, k;</a:t>
            </a:r>
          </a:p>
          <a:p>
            <a:pPr marL="457200" indent="-457200"/>
            <a:r>
              <a:rPr lang="en-US" altLang="zh-CN" sz="1800" dirty="0">
                <a:solidFill>
                  <a:schemeClr val="accent2">
                    <a:lumMod val="50000"/>
                  </a:schemeClr>
                </a:solidFill>
              </a:rPr>
              <a:t>  </a:t>
            </a:r>
            <a:r>
              <a:rPr lang="en-US" altLang="zh-CN" sz="1800" dirty="0">
                <a:solidFill>
                  <a:schemeClr val="accent2">
                    <a:lumMod val="50000"/>
                  </a:schemeClr>
                </a:solidFill>
                <a:latin typeface="+mn-lt"/>
                <a:ea typeface="楷体" pitchFamily="49" charset="-122"/>
              </a:rPr>
              <a:t> //</a:t>
            </a:r>
            <a:r>
              <a:rPr lang="zh-CN" altLang="en-US" sz="1800" dirty="0">
                <a:solidFill>
                  <a:schemeClr val="accent2">
                    <a:lumMod val="50000"/>
                  </a:schemeClr>
                </a:solidFill>
                <a:latin typeface="+mn-lt"/>
                <a:ea typeface="楷体" pitchFamily="49" charset="-122"/>
              </a:rPr>
              <a:t>定义指针数组，并对其赋初始值</a:t>
            </a:r>
          </a:p>
          <a:p>
            <a:pPr marL="457200" indent="-457200"/>
            <a:r>
              <a:rPr lang="zh-CN" altLang="en-US" sz="2000" dirty="0"/>
              <a:t>  </a:t>
            </a:r>
            <a:r>
              <a:rPr lang="en-US" altLang="zh-CN" sz="2000" dirty="0" err="1"/>
              <a:t>int</a:t>
            </a:r>
            <a:r>
              <a:rPr lang="en-US" altLang="zh-CN" sz="2000" dirty="0"/>
              <a:t> </a:t>
            </a:r>
            <a:r>
              <a:rPr lang="en-US" altLang="zh-CN" sz="2000" dirty="0">
                <a:solidFill>
                  <a:srgbClr val="C01920"/>
                </a:solidFill>
              </a:rPr>
              <a:t>(*</a:t>
            </a:r>
            <a:r>
              <a:rPr lang="en-US" altLang="zh-CN" sz="2000" dirty="0" err="1">
                <a:solidFill>
                  <a:srgbClr val="C01920"/>
                </a:solidFill>
              </a:rPr>
              <a:t>func</a:t>
            </a:r>
            <a:r>
              <a:rPr lang="en-US" altLang="zh-CN" sz="2000" dirty="0">
                <a:solidFill>
                  <a:srgbClr val="C01920"/>
                </a:solidFill>
              </a:rPr>
              <a:t>[4]) (</a:t>
            </a:r>
            <a:r>
              <a:rPr lang="en-US" altLang="zh-CN" sz="2000" dirty="0" err="1">
                <a:solidFill>
                  <a:srgbClr val="C01920"/>
                </a:solidFill>
              </a:rPr>
              <a:t>int</a:t>
            </a:r>
            <a:r>
              <a:rPr lang="en-US" altLang="zh-CN" sz="2000" dirty="0">
                <a:solidFill>
                  <a:srgbClr val="C01920"/>
                </a:solidFill>
              </a:rPr>
              <a:t>, </a:t>
            </a:r>
            <a:r>
              <a:rPr lang="en-US" altLang="zh-CN" sz="2000" dirty="0" err="1">
                <a:solidFill>
                  <a:srgbClr val="C01920"/>
                </a:solidFill>
              </a:rPr>
              <a:t>int</a:t>
            </a:r>
            <a:r>
              <a:rPr lang="en-US" altLang="zh-CN" sz="2000" dirty="0">
                <a:solidFill>
                  <a:srgbClr val="C01920"/>
                </a:solidFill>
              </a:rPr>
              <a:t>) </a:t>
            </a:r>
            <a:r>
              <a:rPr lang="en-US" altLang="zh-CN" sz="2000" dirty="0"/>
              <a:t>= {add, sub, max, min};  </a:t>
            </a:r>
          </a:p>
          <a:p>
            <a:pPr marL="457200" indent="-457200"/>
            <a:r>
              <a:rPr lang="en-US" altLang="zh-CN" sz="2000" dirty="0"/>
              <a:t>  </a:t>
            </a:r>
            <a:r>
              <a:rPr lang="en-US" altLang="zh-CN" sz="2000" dirty="0" err="1"/>
              <a:t>printf</a:t>
            </a:r>
            <a:r>
              <a:rPr lang="en-US" altLang="zh-CN" sz="2000" dirty="0"/>
              <a:t> ("select operator(0-add,1-sub,</a:t>
            </a:r>
          </a:p>
          <a:p>
            <a:pPr marL="457200" indent="-457200"/>
            <a:r>
              <a:rPr lang="en-US" altLang="zh-CN" sz="2000" dirty="0"/>
              <a:t>                2-max,3-min): ");</a:t>
            </a:r>
          </a:p>
          <a:p>
            <a:pPr marL="457200" indent="-457200"/>
            <a:r>
              <a:rPr lang="en-US" altLang="zh-CN" sz="2000" dirty="0"/>
              <a:t>  </a:t>
            </a:r>
            <a:r>
              <a:rPr lang="en-US" altLang="zh-CN" sz="2000" dirty="0" err="1"/>
              <a:t>scanf</a:t>
            </a:r>
            <a:r>
              <a:rPr lang="en-US" altLang="zh-CN" sz="2000" dirty="0"/>
              <a:t> ("%d", &amp;</a:t>
            </a:r>
            <a:r>
              <a:rPr lang="en-US" altLang="zh-CN" sz="2000" dirty="0" err="1"/>
              <a:t>i</a:t>
            </a:r>
            <a:r>
              <a:rPr lang="en-US" altLang="zh-CN" sz="2000" dirty="0"/>
              <a:t>);</a:t>
            </a:r>
          </a:p>
          <a:p>
            <a:pPr marL="457200" indent="-457200"/>
            <a:r>
              <a:rPr lang="en-US" altLang="zh-CN" sz="2000" dirty="0"/>
              <a:t>  </a:t>
            </a:r>
            <a:r>
              <a:rPr lang="en-US" altLang="zh-CN" sz="2000" dirty="0" err="1"/>
              <a:t>printf</a:t>
            </a:r>
            <a:r>
              <a:rPr lang="en-US" altLang="zh-CN" sz="2000" dirty="0"/>
              <a:t> ("</a:t>
            </a:r>
            <a:r>
              <a:rPr lang="en-US" altLang="zh-CN" sz="2000" dirty="0" err="1"/>
              <a:t>intput</a:t>
            </a:r>
            <a:r>
              <a:rPr lang="en-US" altLang="zh-CN" sz="2000" dirty="0"/>
              <a:t> number(</a:t>
            </a:r>
            <a:r>
              <a:rPr lang="en-US" altLang="zh-CN" sz="2000" dirty="0" err="1"/>
              <a:t>a,b</a:t>
            </a:r>
            <a:r>
              <a:rPr lang="en-US" altLang="zh-CN" sz="2000" dirty="0"/>
              <a:t>): ");</a:t>
            </a:r>
          </a:p>
          <a:p>
            <a:pPr marL="457200" indent="-457200"/>
            <a:r>
              <a:rPr lang="en-US" altLang="zh-CN" sz="2000" dirty="0"/>
              <a:t>  </a:t>
            </a:r>
            <a:r>
              <a:rPr lang="en-US" altLang="zh-CN" sz="2000" dirty="0" err="1"/>
              <a:t>scanf</a:t>
            </a:r>
            <a:r>
              <a:rPr lang="en-US" altLang="zh-CN" sz="2000" dirty="0"/>
              <a:t> ("%</a:t>
            </a:r>
            <a:r>
              <a:rPr lang="en-US" altLang="zh-CN" sz="2000" dirty="0" err="1"/>
              <a:t>d%d</a:t>
            </a:r>
            <a:r>
              <a:rPr lang="en-US" altLang="zh-CN" sz="2000" dirty="0"/>
              <a:t>", &amp;a, &amp;b);</a:t>
            </a:r>
          </a:p>
          <a:p>
            <a:pPr marL="457200" indent="-457200"/>
            <a:r>
              <a:rPr lang="en-US" altLang="zh-CN" sz="1800" dirty="0">
                <a:solidFill>
                  <a:schemeClr val="accent2">
                    <a:lumMod val="50000"/>
                  </a:schemeClr>
                </a:solidFill>
              </a:rPr>
              <a:t>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根据用户操作选择来执行不同的函数</a:t>
            </a:r>
          </a:p>
          <a:p>
            <a:pPr marL="457200" indent="-457200"/>
            <a:r>
              <a:rPr lang="zh-CN" altLang="en-US" sz="2000" dirty="0"/>
              <a:t>  </a:t>
            </a:r>
            <a:r>
              <a:rPr lang="en-US" altLang="zh-CN" sz="2000" dirty="0"/>
              <a:t>k = </a:t>
            </a:r>
            <a:r>
              <a:rPr lang="en-US" altLang="zh-CN" sz="2000" dirty="0" err="1">
                <a:solidFill>
                  <a:srgbClr val="C01920"/>
                </a:solidFill>
              </a:rPr>
              <a:t>func</a:t>
            </a:r>
            <a:r>
              <a:rPr lang="en-US" altLang="zh-CN" sz="2000" dirty="0">
                <a:solidFill>
                  <a:srgbClr val="C01920"/>
                </a:solidFill>
              </a:rPr>
              <a:t>[</a:t>
            </a:r>
            <a:r>
              <a:rPr lang="en-US" altLang="zh-CN" sz="2000" dirty="0" err="1">
                <a:solidFill>
                  <a:srgbClr val="C01920"/>
                </a:solidFill>
              </a:rPr>
              <a:t>i</a:t>
            </a:r>
            <a:r>
              <a:rPr lang="en-US" altLang="zh-CN" sz="2000" dirty="0">
                <a:solidFill>
                  <a:srgbClr val="C01920"/>
                </a:solidFill>
              </a:rPr>
              <a:t>] (a, b); </a:t>
            </a:r>
          </a:p>
          <a:p>
            <a:pPr marL="457200" indent="-457200"/>
            <a:r>
              <a:rPr lang="en-US" altLang="zh-CN" sz="2000" dirty="0"/>
              <a:t>  </a:t>
            </a:r>
            <a:r>
              <a:rPr lang="en-US" altLang="zh-CN" sz="2000" dirty="0" err="1"/>
              <a:t>printf</a:t>
            </a:r>
            <a:r>
              <a:rPr lang="en-US" altLang="zh-CN" sz="2000" dirty="0"/>
              <a:t> ("the result: %d\n", k);</a:t>
            </a:r>
          </a:p>
          <a:p>
            <a:pPr marL="457200" indent="-457200"/>
            <a:r>
              <a:rPr lang="en-US" altLang="zh-CN" sz="2000" dirty="0"/>
              <a:t>  return 0;</a:t>
            </a:r>
          </a:p>
          <a:p>
            <a:pPr marL="457200" indent="-457200"/>
            <a:r>
              <a:rPr lang="en-US" altLang="zh-CN" sz="2000" dirty="0"/>
              <a:t>}</a:t>
            </a:r>
          </a:p>
        </p:txBody>
      </p:sp>
      <p:sp>
        <p:nvSpPr>
          <p:cNvPr id="1219591" name="Rectangle 7" descr="信纸"/>
          <p:cNvSpPr>
            <a:spLocks noChangeArrowheads="1"/>
          </p:cNvSpPr>
          <p:nvPr/>
        </p:nvSpPr>
        <p:spPr bwMode="auto">
          <a:xfrm>
            <a:off x="7896201" y="538614"/>
            <a:ext cx="3528392" cy="5940088"/>
          </a:xfrm>
          <a:prstGeom prst="rect">
            <a:avLst/>
          </a:prstGeom>
          <a:gradFill>
            <a:gsLst>
              <a:gs pos="0">
                <a:srgbClr val="CFCFD1"/>
              </a:gs>
              <a:gs pos="100000">
                <a:schemeClr val="bg1">
                  <a:lumMod val="95000"/>
                </a:schemeClr>
              </a:gs>
            </a:gsLst>
            <a:lin ang="5400000" scaled="1"/>
          </a:gradFill>
          <a:ln w="38100"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dirty="0">
                <a:solidFill>
                  <a:schemeClr val="accent1">
                    <a:lumMod val="50000"/>
                  </a:schemeClr>
                </a:solidFill>
              </a:rPr>
              <a:t>int add (int a, int b)</a:t>
            </a:r>
          </a:p>
          <a:p>
            <a:pPr marL="457200" indent="-457200"/>
            <a:r>
              <a:rPr lang="en-US" altLang="zh-CN" sz="2000" dirty="0"/>
              <a:t>{</a:t>
            </a:r>
          </a:p>
          <a:p>
            <a:pPr marL="457200" indent="-457200"/>
            <a:r>
              <a:rPr lang="en-US" altLang="zh-CN" sz="2000" dirty="0"/>
              <a:t>  return (</a:t>
            </a:r>
            <a:r>
              <a:rPr lang="en-US" altLang="zh-CN" sz="2000" dirty="0" err="1"/>
              <a:t>a+b</a:t>
            </a:r>
            <a:r>
              <a:rPr lang="en-US" altLang="zh-CN" sz="2000" dirty="0"/>
              <a:t>);</a:t>
            </a:r>
          </a:p>
          <a:p>
            <a:pPr marL="457200" indent="-457200"/>
            <a:r>
              <a:rPr lang="en-US" altLang="zh-CN" sz="2000" dirty="0"/>
              <a:t>}</a:t>
            </a:r>
          </a:p>
          <a:p>
            <a:pPr marL="457200" indent="-457200"/>
            <a:endParaRPr lang="en-US" altLang="zh-CN" sz="2000" dirty="0"/>
          </a:p>
          <a:p>
            <a:pPr marL="457200" indent="-457200"/>
            <a:r>
              <a:rPr lang="en-US" altLang="zh-CN" sz="2000" dirty="0">
                <a:solidFill>
                  <a:schemeClr val="accent1">
                    <a:lumMod val="50000"/>
                  </a:schemeClr>
                </a:solidFill>
              </a:rPr>
              <a:t>int sub (int a, int b)</a:t>
            </a:r>
          </a:p>
          <a:p>
            <a:pPr marL="457200" indent="-457200"/>
            <a:r>
              <a:rPr lang="en-US" altLang="zh-CN" sz="2000" dirty="0"/>
              <a:t>{</a:t>
            </a:r>
          </a:p>
          <a:p>
            <a:pPr marL="457200" indent="-457200"/>
            <a:r>
              <a:rPr lang="en-US" altLang="zh-CN" sz="2000" dirty="0"/>
              <a:t>  return (a-b);</a:t>
            </a:r>
          </a:p>
          <a:p>
            <a:pPr marL="457200" indent="-457200"/>
            <a:r>
              <a:rPr lang="en-US" altLang="zh-CN" sz="2000" dirty="0"/>
              <a:t>}</a:t>
            </a:r>
          </a:p>
          <a:p>
            <a:pPr marL="457200" indent="-457200"/>
            <a:endParaRPr lang="en-US" altLang="zh-CN" sz="2000" dirty="0"/>
          </a:p>
          <a:p>
            <a:pPr marL="457200" indent="-457200"/>
            <a:r>
              <a:rPr lang="en-US" altLang="zh-CN" sz="2000" dirty="0">
                <a:solidFill>
                  <a:schemeClr val="accent1">
                    <a:lumMod val="50000"/>
                  </a:schemeClr>
                </a:solidFill>
              </a:rPr>
              <a:t>int max (int a, int b)</a:t>
            </a:r>
          </a:p>
          <a:p>
            <a:pPr marL="457200" indent="-457200"/>
            <a:r>
              <a:rPr lang="en-US" altLang="zh-CN" sz="2000" dirty="0"/>
              <a:t>{</a:t>
            </a:r>
          </a:p>
          <a:p>
            <a:pPr marL="457200" indent="-457200"/>
            <a:r>
              <a:rPr lang="en-US" altLang="zh-CN" sz="2000" dirty="0"/>
              <a:t>  return (a &gt; b? a : b);</a:t>
            </a:r>
          </a:p>
          <a:p>
            <a:pPr marL="457200" indent="-457200"/>
            <a:r>
              <a:rPr lang="en-US" altLang="zh-CN" sz="2000" dirty="0"/>
              <a:t>}</a:t>
            </a:r>
          </a:p>
          <a:p>
            <a:pPr marL="457200" indent="-457200"/>
            <a:endParaRPr lang="en-US" altLang="zh-CN" sz="2000" dirty="0"/>
          </a:p>
          <a:p>
            <a:pPr marL="457200" indent="-457200"/>
            <a:r>
              <a:rPr lang="en-US" altLang="zh-CN" sz="2000" dirty="0">
                <a:solidFill>
                  <a:schemeClr val="accent1">
                    <a:lumMod val="50000"/>
                  </a:schemeClr>
                </a:solidFill>
              </a:rPr>
              <a:t>int min (int a, int b)</a:t>
            </a:r>
          </a:p>
          <a:p>
            <a:pPr marL="457200" indent="-457200"/>
            <a:r>
              <a:rPr lang="en-US" altLang="zh-CN" sz="2000" dirty="0"/>
              <a:t>{</a:t>
            </a:r>
          </a:p>
          <a:p>
            <a:pPr marL="457200" indent="-457200"/>
            <a:r>
              <a:rPr lang="en-US" altLang="zh-CN" sz="2000" dirty="0"/>
              <a:t>  return (a &lt; b? a : b);</a:t>
            </a:r>
          </a:p>
          <a:p>
            <a:pPr marL="457200" indent="-457200"/>
            <a:r>
              <a:rPr lang="en-US" altLang="zh-CN" sz="2000" dirty="0"/>
              <a:t>}</a:t>
            </a:r>
          </a:p>
        </p:txBody>
      </p:sp>
      <p:sp>
        <p:nvSpPr>
          <p:cNvPr id="1219592" name="Text Box 8"/>
          <p:cNvSpPr txBox="1">
            <a:spLocks noChangeArrowheads="1"/>
          </p:cNvSpPr>
          <p:nvPr/>
        </p:nvSpPr>
        <p:spPr bwMode="auto">
          <a:xfrm>
            <a:off x="5123632" y="5230173"/>
            <a:ext cx="5545138" cy="1349375"/>
          </a:xfrm>
          <a:prstGeom prst="rect">
            <a:avLst/>
          </a:prstGeom>
          <a:solidFill>
            <a:srgbClr val="FFFFFF"/>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zh-CN" altLang="en-US" sz="2000" dirty="0">
                <a:solidFill>
                  <a:srgbClr val="C00000"/>
                </a:solidFill>
                <a:latin typeface="+mn-lt"/>
                <a:ea typeface="隶书" pitchFamily="49" charset="-122"/>
              </a:rPr>
              <a:t>运行结果：</a:t>
            </a:r>
          </a:p>
          <a:p>
            <a:r>
              <a:rPr lang="en-US" altLang="zh-CN" sz="2000" dirty="0"/>
              <a:t>select operator(0-add,1-sub,2-max,3-min)</a:t>
            </a:r>
            <a:r>
              <a:rPr lang="zh-CN" altLang="en-US" sz="2000" dirty="0"/>
              <a:t>：</a:t>
            </a:r>
            <a:r>
              <a:rPr lang="en-US" altLang="zh-CN" sz="2000" dirty="0"/>
              <a:t>0</a:t>
            </a:r>
            <a:r>
              <a:rPr lang="en-US" altLang="zh-CN" sz="2000" dirty="0">
                <a:latin typeface="宋体" panose="02010600030101010101" pitchFamily="2" charset="-122"/>
                <a:ea typeface="宋体" panose="02010600030101010101" pitchFamily="2" charset="-122"/>
              </a:rPr>
              <a:t>↙</a:t>
            </a:r>
          </a:p>
          <a:p>
            <a:r>
              <a:rPr lang="en-US" altLang="zh-CN" sz="2000" dirty="0" err="1"/>
              <a:t>intput</a:t>
            </a:r>
            <a:r>
              <a:rPr lang="en-US" altLang="zh-CN" sz="2000" dirty="0"/>
              <a:t> number(</a:t>
            </a:r>
            <a:r>
              <a:rPr lang="en-US" altLang="zh-CN" sz="2000" dirty="0" err="1"/>
              <a:t>a,b</a:t>
            </a:r>
            <a:r>
              <a:rPr lang="en-US" altLang="zh-CN" sz="2000" dirty="0"/>
              <a:t>)</a:t>
            </a:r>
            <a:r>
              <a:rPr lang="zh-CN" altLang="en-US" sz="2000" dirty="0"/>
              <a:t>：</a:t>
            </a:r>
            <a:r>
              <a:rPr lang="en-US" altLang="zh-CN" sz="2000" dirty="0"/>
              <a:t>2  3</a:t>
            </a:r>
            <a:r>
              <a:rPr lang="en-US" altLang="zh-CN" sz="2000" dirty="0">
                <a:latin typeface="+mn-ea"/>
                <a:ea typeface="+mn-ea"/>
              </a:rPr>
              <a:t>↙</a:t>
            </a:r>
          </a:p>
          <a:p>
            <a:r>
              <a:rPr lang="en-US" altLang="zh-CN" sz="2000" dirty="0">
                <a:solidFill>
                  <a:schemeClr val="accent2">
                    <a:lumMod val="50000"/>
                  </a:schemeClr>
                </a:solidFill>
              </a:rPr>
              <a:t>the result</a:t>
            </a:r>
            <a:r>
              <a:rPr lang="zh-CN" altLang="en-US" sz="2000" dirty="0">
                <a:solidFill>
                  <a:schemeClr val="accent2">
                    <a:lumMod val="50000"/>
                  </a:schemeClr>
                </a:solidFill>
              </a:rPr>
              <a:t>：</a:t>
            </a:r>
            <a:r>
              <a:rPr lang="en-US" altLang="zh-CN" sz="2000" dirty="0">
                <a:solidFill>
                  <a:schemeClr val="accent2">
                    <a:lumMod val="50000"/>
                  </a:schemeClr>
                </a:solidFill>
              </a:rPr>
              <a:t>5</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9586">
                                            <p:txEl>
                                              <p:pRg st="0" end="0"/>
                                            </p:txEl>
                                          </p:spTgt>
                                        </p:tgtEl>
                                        <p:attrNameLst>
                                          <p:attrName>style.visibility</p:attrName>
                                        </p:attrNameLst>
                                      </p:cBhvr>
                                      <p:to>
                                        <p:strVal val="visible"/>
                                      </p:to>
                                    </p:set>
                                    <p:anim calcmode="lin" valueType="num">
                                      <p:cBhvr additive="base">
                                        <p:cTn id="7" dur="500" fill="hold"/>
                                        <p:tgtEl>
                                          <p:spTgt spid="121958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1958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219587"/>
                                        </p:tgtEl>
                                        <p:attrNameLst>
                                          <p:attrName>style.visibility</p:attrName>
                                        </p:attrNameLst>
                                      </p:cBhvr>
                                      <p:to>
                                        <p:strVal val="visible"/>
                                      </p:to>
                                    </p:set>
                                    <p:animEffect transition="in" filter="blinds(vertical)">
                                      <p:cBhvr>
                                        <p:cTn id="13" dur="500"/>
                                        <p:tgtEl>
                                          <p:spTgt spid="1219587"/>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219591"/>
                                        </p:tgtEl>
                                        <p:attrNameLst>
                                          <p:attrName>style.visibility</p:attrName>
                                        </p:attrNameLst>
                                      </p:cBhvr>
                                      <p:to>
                                        <p:strVal val="visible"/>
                                      </p:to>
                                    </p:set>
                                    <p:animEffect transition="in" filter="box(out)">
                                      <p:cBhvr>
                                        <p:cTn id="18" dur="500"/>
                                        <p:tgtEl>
                                          <p:spTgt spid="1219591"/>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219592"/>
                                        </p:tgtEl>
                                        <p:attrNameLst>
                                          <p:attrName>style.visibility</p:attrName>
                                        </p:attrNameLst>
                                      </p:cBhvr>
                                      <p:to>
                                        <p:strVal val="visible"/>
                                      </p:to>
                                    </p:set>
                                    <p:animEffect transition="in" filter="box(out)">
                                      <p:cBhvr>
                                        <p:cTn id="23" dur="500"/>
                                        <p:tgtEl>
                                          <p:spTgt spid="1219592"/>
                                        </p:tgtEl>
                                      </p:cBhvr>
                                    </p:animEffect>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9586" grpId="0" build="p" autoUpdateAnimBg="0"/>
      <p:bldP spid="1219587" grpId="0" animBg="1" autoUpdateAnimBg="0"/>
      <p:bldP spid="1219591" grpId="0" animBg="1"/>
      <p:bldP spid="1219592" grpId="0" animBg="1"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0648" name="Text Box 40"/>
          <p:cNvSpPr txBox="1">
            <a:spLocks noChangeArrowheads="1"/>
          </p:cNvSpPr>
          <p:nvPr/>
        </p:nvSpPr>
        <p:spPr bwMode="auto">
          <a:xfrm>
            <a:off x="2161374" y="2306356"/>
            <a:ext cx="7885113" cy="431800"/>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lstStyle/>
          <a:p>
            <a:pPr marL="342900" indent="-342900" algn="ctr"/>
            <a:r>
              <a:rPr lang="zh-CN" altLang="en-US" sz="2000" dirty="0">
                <a:effectLst>
                  <a:outerShdw blurRad="38100" dist="38100" dir="2700000" algn="tl">
                    <a:srgbClr val="FFFFFF"/>
                  </a:outerShdw>
                </a:effectLst>
                <a:latin typeface="+mn-lt"/>
                <a:ea typeface="隶书" pitchFamily="49" charset="-122"/>
              </a:rPr>
              <a:t>命令名  参数</a:t>
            </a:r>
            <a:r>
              <a:rPr lang="en-US" altLang="zh-CN" sz="2000" dirty="0">
                <a:effectLst>
                  <a:outerShdw blurRad="38100" dist="38100" dir="2700000" algn="tl">
                    <a:srgbClr val="FFFFFF"/>
                  </a:outerShdw>
                </a:effectLst>
                <a:latin typeface="+mn-lt"/>
                <a:ea typeface="隶书" pitchFamily="49" charset="-122"/>
              </a:rPr>
              <a:t>1   </a:t>
            </a:r>
            <a:r>
              <a:rPr lang="zh-CN" altLang="en-US" sz="2000" dirty="0">
                <a:effectLst>
                  <a:outerShdw blurRad="38100" dist="38100" dir="2700000" algn="tl">
                    <a:srgbClr val="FFFFFF"/>
                  </a:outerShdw>
                </a:effectLst>
                <a:latin typeface="+mn-lt"/>
                <a:ea typeface="隶书" pitchFamily="49" charset="-122"/>
              </a:rPr>
              <a:t>参数</a:t>
            </a:r>
            <a:r>
              <a:rPr lang="en-US" altLang="zh-CN" sz="2000" dirty="0">
                <a:effectLst>
                  <a:outerShdw blurRad="38100" dist="38100" dir="2700000" algn="tl">
                    <a:srgbClr val="FFFFFF"/>
                  </a:outerShdw>
                </a:effectLst>
                <a:latin typeface="+mn-lt"/>
                <a:ea typeface="隶书" pitchFamily="49" charset="-122"/>
              </a:rPr>
              <a:t>2   </a:t>
            </a:r>
            <a:r>
              <a:rPr lang="zh-CN" altLang="en-US" sz="2000" dirty="0">
                <a:effectLst>
                  <a:outerShdw blurRad="38100" dist="38100" dir="2700000" algn="tl">
                    <a:srgbClr val="FFFFFF"/>
                  </a:outerShdw>
                </a:effectLst>
                <a:latin typeface="+mn-lt"/>
                <a:ea typeface="隶书" pitchFamily="49" charset="-122"/>
              </a:rPr>
              <a:t>参数</a:t>
            </a:r>
            <a:r>
              <a:rPr lang="en-US" altLang="zh-CN" sz="2000" dirty="0">
                <a:effectLst>
                  <a:outerShdw blurRad="38100" dist="38100" dir="2700000" algn="tl">
                    <a:srgbClr val="FFFFFF"/>
                  </a:outerShdw>
                </a:effectLst>
                <a:latin typeface="+mn-lt"/>
                <a:ea typeface="隶书" pitchFamily="49" charset="-122"/>
              </a:rPr>
              <a:t>3   ……   </a:t>
            </a:r>
            <a:r>
              <a:rPr lang="zh-CN" altLang="en-US" sz="2000" dirty="0">
                <a:effectLst>
                  <a:outerShdw blurRad="38100" dist="38100" dir="2700000" algn="tl">
                    <a:srgbClr val="FFFFFF"/>
                  </a:outerShdw>
                </a:effectLst>
                <a:latin typeface="+mn-lt"/>
                <a:ea typeface="隶书" pitchFamily="49" charset="-122"/>
              </a:rPr>
              <a:t>参数</a:t>
            </a:r>
            <a:r>
              <a:rPr lang="en-US" altLang="zh-CN" sz="2000" dirty="0">
                <a:effectLst>
                  <a:outerShdw blurRad="38100" dist="38100" dir="2700000" algn="tl">
                    <a:srgbClr val="FFFFFF"/>
                  </a:outerShdw>
                </a:effectLst>
                <a:latin typeface="+mn-lt"/>
                <a:ea typeface="隶书" pitchFamily="49" charset="-122"/>
              </a:rPr>
              <a:t>n</a:t>
            </a:r>
          </a:p>
        </p:txBody>
      </p:sp>
      <p:sp>
        <p:nvSpPr>
          <p:cNvPr id="1220649" name="AutoShape 41"/>
          <p:cNvSpPr>
            <a:spLocks noChangeArrowheads="1"/>
          </p:cNvSpPr>
          <p:nvPr/>
        </p:nvSpPr>
        <p:spPr bwMode="auto">
          <a:xfrm>
            <a:off x="3991833" y="3282943"/>
            <a:ext cx="3950418" cy="463846"/>
          </a:xfrm>
          <a:prstGeom prst="wedgeRectCallout">
            <a:avLst>
              <a:gd name="adj1" fmla="val -14866"/>
              <a:gd name="adj2" fmla="val -198509"/>
            </a:avLst>
          </a:prstGeom>
          <a:gradFill rotWithShape="1">
            <a:gsLst>
              <a:gs pos="0">
                <a:srgbClr val="CFCFD1"/>
              </a:gs>
              <a:gs pos="100000">
                <a:schemeClr val="bg1">
                  <a:lumMod val="95000"/>
                </a:schemeClr>
              </a:gs>
            </a:gsLst>
            <a:lin ang="5400000" scaled="1"/>
          </a:gradFill>
          <a:ln w="28575">
            <a:solidFill>
              <a:srgbClr val="002060"/>
            </a:solidFill>
            <a:miter lim="800000"/>
            <a:headEnd/>
            <a:tailEnd/>
          </a:ln>
          <a:effectLst>
            <a:outerShdw dist="107763" dir="2700000" algn="ctr" rotWithShape="0">
              <a:schemeClr val="bg2">
                <a:alpha val="50000"/>
              </a:schemeClr>
            </a:outerShdw>
          </a:effectLst>
        </p:spPr>
        <p:txBody>
          <a:bodyPr wrap="none" lIns="90000" tIns="46800" rIns="90000" bIns="46800" anchor="ctr">
            <a:spAutoFit/>
          </a:bodyPr>
          <a:lstStyle/>
          <a:p>
            <a:pPr algn="ctr">
              <a:lnSpc>
                <a:spcPct val="100000"/>
              </a:lnSpc>
              <a:spcBef>
                <a:spcPct val="0"/>
              </a:spcBef>
            </a:pPr>
            <a:r>
              <a:rPr lang="zh-CN" altLang="en-US" sz="2000" b="1">
                <a:solidFill>
                  <a:srgbClr val="C00000"/>
                </a:solidFill>
                <a:latin typeface="+mn-lt"/>
                <a:ea typeface="楷体" pitchFamily="49" charset="-122"/>
              </a:rPr>
              <a:t>参数之间以一个或多个空格隔开</a:t>
            </a:r>
            <a:r>
              <a:rPr lang="zh-CN" altLang="en-US" b="1">
                <a:solidFill>
                  <a:srgbClr val="C00000"/>
                </a:solidFill>
                <a:latin typeface="+mn-lt"/>
                <a:ea typeface="楷体" pitchFamily="49" charset="-122"/>
              </a:rPr>
              <a:t> </a:t>
            </a:r>
          </a:p>
        </p:txBody>
      </p:sp>
      <p:sp>
        <p:nvSpPr>
          <p:cNvPr id="1220646" name="Rectangle 38"/>
          <p:cNvSpPr>
            <a:spLocks noChangeArrowheads="1"/>
          </p:cNvSpPr>
          <p:nvPr/>
        </p:nvSpPr>
        <p:spPr bwMode="auto">
          <a:xfrm>
            <a:off x="1001310" y="862860"/>
            <a:ext cx="8353425" cy="830997"/>
          </a:xfrm>
          <a:prstGeom prst="rect">
            <a:avLst/>
          </a:prstGeom>
          <a:noFill/>
          <a:ln w="9525" algn="ctr">
            <a:noFill/>
            <a:miter lim="800000"/>
            <a:headEnd/>
            <a:tailEnd/>
          </a:ln>
          <a:effectLst/>
        </p:spPr>
        <p:txBody>
          <a:bodyPr>
            <a:spAutoFit/>
          </a:bodyPr>
          <a:lstStyle/>
          <a:p>
            <a:pPr marL="342900" indent="-342900">
              <a:buFont typeface="Wingdings" pitchFamily="2" charset="2"/>
              <a:buChar char="Ø"/>
            </a:pPr>
            <a:r>
              <a:rPr lang="zh-CN" altLang="en-US" b="1" dirty="0">
                <a:solidFill>
                  <a:srgbClr val="C00000"/>
                </a:solidFill>
                <a:latin typeface="+mn-lt"/>
                <a:ea typeface="楷体" pitchFamily="49" charset="-122"/>
              </a:rPr>
              <a:t>命令行</a:t>
            </a:r>
          </a:p>
          <a:p>
            <a:pPr marL="342900" indent="-342900"/>
            <a:r>
              <a:rPr lang="zh-CN" altLang="en-US" dirty="0">
                <a:effectLst>
                  <a:outerShdw blurRad="38100" dist="38100" dir="2700000" algn="tl">
                    <a:srgbClr val="FFFFFF"/>
                  </a:outerShdw>
                </a:effectLst>
                <a:latin typeface="+mn-lt"/>
                <a:ea typeface="楷体" pitchFamily="49" charset="-122"/>
              </a:rPr>
              <a:t>    在操作系统状态下，为执行某个程序而键入的一行字符</a:t>
            </a:r>
          </a:p>
        </p:txBody>
      </p:sp>
      <p:sp>
        <p:nvSpPr>
          <p:cNvPr id="1220647" name="Rectangle 39"/>
          <p:cNvSpPr>
            <a:spLocks noChangeArrowheads="1"/>
          </p:cNvSpPr>
          <p:nvPr/>
        </p:nvSpPr>
        <p:spPr bwMode="auto">
          <a:xfrm>
            <a:off x="1006657" y="1783423"/>
            <a:ext cx="3521075" cy="461665"/>
          </a:xfrm>
          <a:prstGeom prst="rect">
            <a:avLst/>
          </a:prstGeom>
          <a:noFill/>
          <a:ln w="9525" algn="ctr">
            <a:noFill/>
            <a:miter lim="800000"/>
            <a:headEnd/>
            <a:tailEnd/>
          </a:ln>
          <a:effectLst/>
        </p:spPr>
        <p:txBody>
          <a:bodyPr>
            <a:spAutoFit/>
          </a:bodyPr>
          <a:lstStyle/>
          <a:p>
            <a:pPr marL="342900" indent="-342900">
              <a:buFont typeface="Wingdings" pitchFamily="2" charset="2"/>
              <a:buChar char="Ø"/>
            </a:pPr>
            <a:r>
              <a:rPr lang="zh-CN" altLang="en-US" b="1">
                <a:solidFill>
                  <a:srgbClr val="C00000"/>
                </a:solidFill>
                <a:latin typeface="+mn-lt"/>
                <a:ea typeface="楷体" pitchFamily="49" charset="-122"/>
              </a:rPr>
              <a:t>命令行一般形式    </a:t>
            </a:r>
          </a:p>
        </p:txBody>
      </p:sp>
      <p:sp>
        <p:nvSpPr>
          <p:cNvPr id="1220650" name="Rectangle 42"/>
          <p:cNvSpPr>
            <a:spLocks noChangeArrowheads="1"/>
          </p:cNvSpPr>
          <p:nvPr/>
        </p:nvSpPr>
        <p:spPr bwMode="auto">
          <a:xfrm>
            <a:off x="2141617" y="2915796"/>
            <a:ext cx="7885113" cy="461665"/>
          </a:xfrm>
          <a:prstGeom prst="rect">
            <a:avLst/>
          </a:prstGeom>
          <a:gradFill rotWithShape="1">
            <a:gsLst>
              <a:gs pos="0">
                <a:srgbClr val="CFCFD1"/>
              </a:gs>
              <a:gs pos="100000">
                <a:schemeClr val="bg1"/>
              </a:gs>
            </a:gsLst>
            <a:lin ang="5400000" scaled="1"/>
          </a:gradFill>
          <a:ln w="28575" algn="ctr">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zh-CN" altLang="en-US" b="1" dirty="0">
                <a:solidFill>
                  <a:srgbClr val="C00000"/>
                </a:solidFill>
                <a:latin typeface="+mn-lt"/>
                <a:ea typeface="隶书" pitchFamily="49" charset="-122"/>
              </a:rPr>
              <a:t>例如：   </a:t>
            </a:r>
            <a:r>
              <a:rPr lang="en-US" altLang="zh-CN" dirty="0">
                <a:effectLst>
                  <a:outerShdw blurRad="38100" dist="38100" dir="2700000" algn="tl">
                    <a:srgbClr val="FFFFFF"/>
                  </a:outerShdw>
                </a:effectLst>
              </a:rPr>
              <a:t>C:\&gt;copy[.exe]   source.cpp   c:\bak\prg.cpp </a:t>
            </a:r>
          </a:p>
        </p:txBody>
      </p:sp>
      <p:sp>
        <p:nvSpPr>
          <p:cNvPr id="1220651" name="AutoShape 43"/>
          <p:cNvSpPr>
            <a:spLocks noChangeArrowheads="1"/>
          </p:cNvSpPr>
          <p:nvPr/>
        </p:nvSpPr>
        <p:spPr bwMode="auto">
          <a:xfrm>
            <a:off x="5336257" y="3590557"/>
            <a:ext cx="3150519" cy="402291"/>
          </a:xfrm>
          <a:prstGeom prst="wedgeRectCallout">
            <a:avLst>
              <a:gd name="adj1" fmla="val -50903"/>
              <a:gd name="adj2" fmla="val -128759"/>
            </a:avLst>
          </a:prstGeom>
          <a:gradFill rotWithShape="1">
            <a:gsLst>
              <a:gs pos="0">
                <a:srgbClr val="CFCFD1"/>
              </a:gs>
              <a:gs pos="100000">
                <a:srgbClr val="FFFFFF"/>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zh-CN" altLang="en-US" sz="2000" b="1">
                <a:solidFill>
                  <a:srgbClr val="002060"/>
                </a:solidFill>
                <a:latin typeface="+mn-lt"/>
                <a:ea typeface="楷体" pitchFamily="49" charset="-122"/>
              </a:rPr>
              <a:t>有</a:t>
            </a:r>
            <a:r>
              <a:rPr lang="en-US" altLang="zh-CN" sz="2000" b="1">
                <a:solidFill>
                  <a:srgbClr val="002060"/>
                </a:solidFill>
                <a:latin typeface="+mn-lt"/>
                <a:ea typeface="楷体" pitchFamily="49" charset="-122"/>
              </a:rPr>
              <a:t>3</a:t>
            </a:r>
            <a:r>
              <a:rPr lang="zh-CN" altLang="en-US" sz="2000" b="1">
                <a:solidFill>
                  <a:srgbClr val="002060"/>
                </a:solidFill>
                <a:latin typeface="+mn-lt"/>
                <a:ea typeface="楷体" pitchFamily="49" charset="-122"/>
              </a:rPr>
              <a:t>个字符串参数的命令行</a:t>
            </a:r>
          </a:p>
        </p:txBody>
      </p:sp>
      <p:sp>
        <p:nvSpPr>
          <p:cNvPr id="1220652" name="Rectangle 44"/>
          <p:cNvSpPr>
            <a:spLocks noChangeArrowheads="1"/>
          </p:cNvSpPr>
          <p:nvPr/>
        </p:nvSpPr>
        <p:spPr bwMode="auto">
          <a:xfrm>
            <a:off x="983432" y="4104003"/>
            <a:ext cx="4629150" cy="461665"/>
          </a:xfrm>
          <a:prstGeom prst="rect">
            <a:avLst/>
          </a:prstGeom>
          <a:noFill/>
          <a:ln w="9525" algn="ctr">
            <a:noFill/>
            <a:miter lim="800000"/>
            <a:headEnd/>
            <a:tailEnd/>
          </a:ln>
          <a:effectLst/>
        </p:spPr>
        <p:txBody>
          <a:bodyPr>
            <a:spAutoFit/>
          </a:bodyPr>
          <a:lstStyle/>
          <a:p>
            <a:pPr marL="342900" indent="-342900">
              <a:buFont typeface="Wingdings" pitchFamily="2" charset="2"/>
              <a:buChar char="Ø"/>
            </a:pPr>
            <a:r>
              <a:rPr lang="zh-CN" altLang="en-US" b="1" dirty="0">
                <a:solidFill>
                  <a:srgbClr val="C00000"/>
                </a:solidFill>
                <a:latin typeface="+mn-lt"/>
                <a:ea typeface="楷体" pitchFamily="49" charset="-122"/>
              </a:rPr>
              <a:t>带参数的</a:t>
            </a:r>
            <a:r>
              <a:rPr lang="en-US" altLang="zh-CN" b="1" dirty="0">
                <a:solidFill>
                  <a:srgbClr val="C00000"/>
                </a:solidFill>
                <a:latin typeface="+mn-lt"/>
                <a:ea typeface="楷体" pitchFamily="49" charset="-122"/>
              </a:rPr>
              <a:t>main</a:t>
            </a:r>
            <a:r>
              <a:rPr lang="zh-CN" altLang="en-US" b="1" dirty="0">
                <a:solidFill>
                  <a:srgbClr val="C00000"/>
                </a:solidFill>
                <a:latin typeface="+mn-lt"/>
                <a:ea typeface="楷体" pitchFamily="49" charset="-122"/>
              </a:rPr>
              <a:t>函数的形式    </a:t>
            </a:r>
          </a:p>
        </p:txBody>
      </p:sp>
      <p:sp>
        <p:nvSpPr>
          <p:cNvPr id="1220653" name="Text Box 45" descr="信纸"/>
          <p:cNvSpPr txBox="1">
            <a:spLocks noChangeArrowheads="1"/>
          </p:cNvSpPr>
          <p:nvPr/>
        </p:nvSpPr>
        <p:spPr bwMode="auto">
          <a:xfrm>
            <a:off x="2160511" y="4735731"/>
            <a:ext cx="7895929" cy="833178"/>
          </a:xfrm>
          <a:prstGeom prst="rect">
            <a:avLst/>
          </a:prstGeom>
          <a:gradFill>
            <a:gsLst>
              <a:gs pos="0">
                <a:srgbClr val="CFCFD1"/>
              </a:gs>
              <a:gs pos="100000">
                <a:srgbClr val="FFFFFF"/>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dirty="0" err="1">
                <a:ea typeface="隶书" pitchFamily="49" charset="-122"/>
              </a:rPr>
              <a:t>int</a:t>
            </a:r>
            <a:r>
              <a:rPr lang="en-US" altLang="zh-CN" dirty="0">
                <a:ea typeface="隶书" pitchFamily="49" charset="-122"/>
              </a:rPr>
              <a:t> main(</a:t>
            </a:r>
            <a:r>
              <a:rPr lang="en-US" altLang="zh-CN" dirty="0" err="1">
                <a:ea typeface="隶书" pitchFamily="49" charset="-122"/>
              </a:rPr>
              <a:t>int</a:t>
            </a:r>
            <a:r>
              <a:rPr lang="en-US" altLang="zh-CN" dirty="0">
                <a:solidFill>
                  <a:srgbClr val="0000FF"/>
                </a:solidFill>
                <a:ea typeface="隶书" pitchFamily="49" charset="-122"/>
              </a:rPr>
              <a:t>   </a:t>
            </a:r>
            <a:r>
              <a:rPr lang="en-US" altLang="zh-CN" dirty="0" err="1">
                <a:solidFill>
                  <a:srgbClr val="002060"/>
                </a:solidFill>
                <a:ea typeface="隶书" pitchFamily="49" charset="-122"/>
              </a:rPr>
              <a:t>argc</a:t>
            </a:r>
            <a:r>
              <a:rPr lang="en-US" altLang="zh-CN" dirty="0">
                <a:solidFill>
                  <a:srgbClr val="002060"/>
                </a:solidFill>
                <a:ea typeface="隶书" pitchFamily="49" charset="-122"/>
              </a:rPr>
              <a:t>,  </a:t>
            </a:r>
            <a:r>
              <a:rPr lang="en-US" altLang="zh-CN" dirty="0">
                <a:ea typeface="隶书" pitchFamily="49" charset="-122"/>
              </a:rPr>
              <a:t>char  *</a:t>
            </a:r>
            <a:r>
              <a:rPr lang="en-US" altLang="zh-CN" dirty="0" err="1">
                <a:solidFill>
                  <a:srgbClr val="002060"/>
                </a:solidFill>
                <a:ea typeface="隶书" pitchFamily="49" charset="-122"/>
              </a:rPr>
              <a:t>argv</a:t>
            </a:r>
            <a:r>
              <a:rPr lang="en-US" altLang="zh-CN" dirty="0">
                <a:ea typeface="隶书" pitchFamily="49" charset="-122"/>
              </a:rPr>
              <a:t>[ ])</a:t>
            </a:r>
            <a:endParaRPr lang="en-US" altLang="zh-CN" dirty="0">
              <a:solidFill>
                <a:srgbClr val="0000FF"/>
              </a:solidFill>
              <a:ea typeface="隶书" pitchFamily="49" charset="-122"/>
            </a:endParaRPr>
          </a:p>
          <a:p>
            <a:pPr>
              <a:lnSpc>
                <a:spcPct val="100000"/>
              </a:lnSpc>
              <a:spcBef>
                <a:spcPct val="0"/>
              </a:spcBef>
            </a:pPr>
            <a:r>
              <a:rPr lang="en-US" altLang="zh-CN" dirty="0">
                <a:ea typeface="隶书" pitchFamily="49" charset="-122"/>
              </a:rPr>
              <a:t>{    …   }</a:t>
            </a:r>
          </a:p>
        </p:txBody>
      </p:sp>
      <p:sp>
        <p:nvSpPr>
          <p:cNvPr id="1220654" name="AutoShape 46"/>
          <p:cNvSpPr>
            <a:spLocks noChangeArrowheads="1"/>
          </p:cNvSpPr>
          <p:nvPr/>
        </p:nvSpPr>
        <p:spPr bwMode="auto">
          <a:xfrm>
            <a:off x="2681949" y="6081476"/>
            <a:ext cx="2246426" cy="402291"/>
          </a:xfrm>
          <a:prstGeom prst="wedgeRectCallout">
            <a:avLst>
              <a:gd name="adj1" fmla="val 29389"/>
              <a:gd name="adj2" fmla="val -264745"/>
            </a:avLst>
          </a:prstGeom>
          <a:gradFill rotWithShape="1">
            <a:gsLst>
              <a:gs pos="0">
                <a:srgbClr val="CFCFD1"/>
              </a:gs>
              <a:gs pos="100000">
                <a:srgbClr val="FFFFFF"/>
              </a:gs>
            </a:gsLst>
            <a:lin ang="5400000" scaled="1"/>
          </a:gradFill>
          <a:ln w="25400">
            <a:solidFill>
              <a:srgbClr val="002060"/>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zh-CN" altLang="zh-CN" sz="2000">
                <a:solidFill>
                  <a:srgbClr val="C00000"/>
                </a:solidFill>
                <a:latin typeface="隶书" pitchFamily="49" charset="-122"/>
                <a:ea typeface="隶书" pitchFamily="49" charset="-122"/>
              </a:rPr>
              <a:t>命令行中参数个数</a:t>
            </a:r>
            <a:endParaRPr lang="zh-CN" altLang="en-US" sz="2000">
              <a:solidFill>
                <a:srgbClr val="C00000"/>
              </a:solidFill>
              <a:latin typeface="隶书" pitchFamily="49" charset="-122"/>
              <a:ea typeface="隶书" pitchFamily="49" charset="-122"/>
            </a:endParaRPr>
          </a:p>
        </p:txBody>
      </p:sp>
      <p:sp>
        <p:nvSpPr>
          <p:cNvPr id="1220655" name="AutoShape 47"/>
          <p:cNvSpPr>
            <a:spLocks noChangeArrowheads="1"/>
          </p:cNvSpPr>
          <p:nvPr/>
        </p:nvSpPr>
        <p:spPr bwMode="auto">
          <a:xfrm>
            <a:off x="3836630" y="6064014"/>
            <a:ext cx="1472176" cy="402291"/>
          </a:xfrm>
          <a:prstGeom prst="wedgeRectCallout">
            <a:avLst>
              <a:gd name="adj1" fmla="val 29389"/>
              <a:gd name="adj2" fmla="val -264745"/>
            </a:avLst>
          </a:prstGeom>
          <a:gradFill rotWithShape="1">
            <a:gsLst>
              <a:gs pos="0">
                <a:srgbClr val="CFCFD1"/>
              </a:gs>
              <a:gs pos="100000">
                <a:srgbClr val="FFFFFF"/>
              </a:gs>
            </a:gsLst>
            <a:lin ang="5400000" scaled="1"/>
          </a:gradFill>
          <a:ln w="25400">
            <a:solidFill>
              <a:srgbClr val="002060"/>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zh-CN" altLang="zh-CN" sz="2000">
                <a:solidFill>
                  <a:srgbClr val="C00000"/>
                </a:solidFill>
                <a:latin typeface="隶书" pitchFamily="49" charset="-122"/>
                <a:ea typeface="隶书" pitchFamily="49" charset="-122"/>
              </a:rPr>
              <a:t>形参名任意</a:t>
            </a:r>
            <a:endParaRPr lang="zh-CN" altLang="en-US" sz="2000">
              <a:solidFill>
                <a:srgbClr val="C00000"/>
              </a:solidFill>
              <a:latin typeface="隶书" pitchFamily="49" charset="-122"/>
              <a:ea typeface="隶书" pitchFamily="49" charset="-122"/>
            </a:endParaRPr>
          </a:p>
        </p:txBody>
      </p:sp>
      <p:sp>
        <p:nvSpPr>
          <p:cNvPr id="1220656" name="AutoShape 48"/>
          <p:cNvSpPr>
            <a:spLocks noChangeArrowheads="1"/>
          </p:cNvSpPr>
          <p:nvPr/>
        </p:nvSpPr>
        <p:spPr bwMode="auto">
          <a:xfrm>
            <a:off x="5472390" y="5918063"/>
            <a:ext cx="2490082" cy="710067"/>
          </a:xfrm>
          <a:prstGeom prst="wedgeRectCallout">
            <a:avLst>
              <a:gd name="adj1" fmla="val -20259"/>
              <a:gd name="adj2" fmla="val -169394"/>
            </a:avLst>
          </a:prstGeom>
          <a:gradFill rotWithShape="1">
            <a:gsLst>
              <a:gs pos="0">
                <a:srgbClr val="CFCFD1"/>
              </a:gs>
              <a:gs pos="100000">
                <a:srgbClr val="FFFFFF"/>
              </a:gs>
            </a:gsLst>
            <a:lin ang="5400000" scaled="1"/>
          </a:gradFill>
          <a:ln w="25400">
            <a:solidFill>
              <a:srgbClr val="002060"/>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r>
              <a:rPr lang="zh-CN" altLang="zh-CN" sz="2000">
                <a:solidFill>
                  <a:srgbClr val="C00000"/>
                </a:solidFill>
                <a:latin typeface="隶书" pitchFamily="49" charset="-122"/>
                <a:ea typeface="隶书" pitchFamily="49" charset="-122"/>
              </a:rPr>
              <a:t>元素指向命令行参数</a:t>
            </a:r>
          </a:p>
          <a:p>
            <a:pPr algn="ctr"/>
            <a:r>
              <a:rPr lang="zh-CN" altLang="zh-CN" sz="2000">
                <a:solidFill>
                  <a:srgbClr val="C00000"/>
                </a:solidFill>
                <a:latin typeface="隶书" pitchFamily="49" charset="-122"/>
                <a:ea typeface="隶书" pitchFamily="49" charset="-122"/>
              </a:rPr>
              <a:t>中各字符串首地址</a:t>
            </a:r>
            <a:endParaRPr lang="zh-CN" altLang="en-US" sz="2000">
              <a:solidFill>
                <a:srgbClr val="C00000"/>
              </a:solidFill>
              <a:latin typeface="隶书" pitchFamily="49" charset="-122"/>
              <a:ea typeface="隶书" pitchFamily="49" charset="-122"/>
            </a:endParaRPr>
          </a:p>
        </p:txBody>
      </p:sp>
      <p:sp>
        <p:nvSpPr>
          <p:cNvPr id="40" name="Rectangle 4">
            <a:extLst>
              <a:ext uri="{FF2B5EF4-FFF2-40B4-BE49-F238E27FC236}">
                <a16:creationId xmlns:a16="http://schemas.microsoft.com/office/drawing/2014/main" id="{3797AD1C-ECB4-4129-A7FA-678A0E71BB09}"/>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带参数的</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main</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函数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0646"/>
                                        </p:tgtEl>
                                        <p:attrNameLst>
                                          <p:attrName>style.visibility</p:attrName>
                                        </p:attrNameLst>
                                      </p:cBhvr>
                                      <p:to>
                                        <p:strVal val="visible"/>
                                      </p:to>
                                    </p:set>
                                    <p:anim calcmode="lin" valueType="num">
                                      <p:cBhvr additive="base">
                                        <p:cTn id="7" dur="500" fill="hold"/>
                                        <p:tgtEl>
                                          <p:spTgt spid="1220646"/>
                                        </p:tgtEl>
                                        <p:attrNameLst>
                                          <p:attrName>ppt_x</p:attrName>
                                        </p:attrNameLst>
                                      </p:cBhvr>
                                      <p:tavLst>
                                        <p:tav tm="0">
                                          <p:val>
                                            <p:strVal val="0-#ppt_w/2"/>
                                          </p:val>
                                        </p:tav>
                                        <p:tav tm="100000">
                                          <p:val>
                                            <p:strVal val="#ppt_x"/>
                                          </p:val>
                                        </p:tav>
                                      </p:tavLst>
                                    </p:anim>
                                    <p:anim calcmode="lin" valueType="num">
                                      <p:cBhvr additive="base">
                                        <p:cTn id="8" dur="500" fill="hold"/>
                                        <p:tgtEl>
                                          <p:spTgt spid="122064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0647"/>
                                        </p:tgtEl>
                                        <p:attrNameLst>
                                          <p:attrName>style.visibility</p:attrName>
                                        </p:attrNameLst>
                                      </p:cBhvr>
                                      <p:to>
                                        <p:strVal val="visible"/>
                                      </p:to>
                                    </p:set>
                                    <p:anim calcmode="lin" valueType="num">
                                      <p:cBhvr additive="base">
                                        <p:cTn id="13" dur="500" fill="hold"/>
                                        <p:tgtEl>
                                          <p:spTgt spid="1220647"/>
                                        </p:tgtEl>
                                        <p:attrNameLst>
                                          <p:attrName>ppt_x</p:attrName>
                                        </p:attrNameLst>
                                      </p:cBhvr>
                                      <p:tavLst>
                                        <p:tav tm="0">
                                          <p:val>
                                            <p:strVal val="0-#ppt_w/2"/>
                                          </p:val>
                                        </p:tav>
                                        <p:tav tm="100000">
                                          <p:val>
                                            <p:strVal val="#ppt_x"/>
                                          </p:val>
                                        </p:tav>
                                      </p:tavLst>
                                    </p:anim>
                                    <p:anim calcmode="lin" valueType="num">
                                      <p:cBhvr additive="base">
                                        <p:cTn id="14" dur="500" fill="hold"/>
                                        <p:tgtEl>
                                          <p:spTgt spid="122064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220648"/>
                                        </p:tgtEl>
                                        <p:attrNameLst>
                                          <p:attrName>style.visibility</p:attrName>
                                        </p:attrNameLst>
                                      </p:cBhvr>
                                      <p:to>
                                        <p:strVal val="visible"/>
                                      </p:to>
                                    </p:set>
                                    <p:animEffect transition="in" filter="box(out)">
                                      <p:cBhvr>
                                        <p:cTn id="19" dur="500"/>
                                        <p:tgtEl>
                                          <p:spTgt spid="1220648"/>
                                        </p:tgtEl>
                                      </p:cBhvr>
                                    </p:animEffect>
                                  </p:childTnLst>
                                  <p:subTnLst>
                                    <p:audio>
                                      <p:cMediaNode>
                                        <p:cTn display="0" masterRel="sameClick">
                                          <p:stCondLst>
                                            <p:cond evt="begin" delay="0">
                                              <p:tn val="17"/>
                                            </p:cond>
                                          </p:stCondLst>
                                          <p:endCondLst>
                                            <p:cond evt="onStopAudio" delay="0">
                                              <p:tgtEl>
                                                <p:sldTgt/>
                                              </p:tgtEl>
                                            </p:cond>
                                          </p:endCondLst>
                                        </p:cTn>
                                        <p:tgtEl>
                                          <p:sndTgt r:embed="rId4"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220649"/>
                                        </p:tgtEl>
                                        <p:attrNameLst>
                                          <p:attrName>style.visibility</p:attrName>
                                        </p:attrNameLst>
                                      </p:cBhvr>
                                      <p:to>
                                        <p:strVal val="visible"/>
                                      </p:to>
                                    </p:set>
                                    <p:animEffect transition="in" filter="box(out)">
                                      <p:cBhvr>
                                        <p:cTn id="24" dur="500"/>
                                        <p:tgtEl>
                                          <p:spTgt spid="1220649"/>
                                        </p:tgtEl>
                                      </p:cBhvr>
                                    </p:animEffect>
                                  </p:childTnLst>
                                  <p:subTnLst>
                                    <p:set>
                                      <p:cBhvr override="childStyle">
                                        <p:cTn dur="1" fill="hold" display="0" masterRel="nextClick" afterEffect="1"/>
                                        <p:tgtEl>
                                          <p:spTgt spid="1220649"/>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4"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220650"/>
                                        </p:tgtEl>
                                        <p:attrNameLst>
                                          <p:attrName>style.visibility</p:attrName>
                                        </p:attrNameLst>
                                      </p:cBhvr>
                                      <p:to>
                                        <p:strVal val="visible"/>
                                      </p:to>
                                    </p:set>
                                    <p:animEffect transition="in" filter="box(out)">
                                      <p:cBhvr>
                                        <p:cTn id="29" dur="500"/>
                                        <p:tgtEl>
                                          <p:spTgt spid="1220650"/>
                                        </p:tgtEl>
                                      </p:cBhvr>
                                    </p:animEffect>
                                  </p:childTnLst>
                                  <p:subTnLst>
                                    <p:audio>
                                      <p:cMediaNode>
                                        <p:cTn display="0" masterRel="sameClick">
                                          <p:stCondLst>
                                            <p:cond evt="begin" delay="0">
                                              <p:tn val="27"/>
                                            </p:cond>
                                          </p:stCondLst>
                                          <p:endCondLst>
                                            <p:cond evt="onStopAudio" delay="0">
                                              <p:tgtEl>
                                                <p:sldTgt/>
                                              </p:tgtEl>
                                            </p:cond>
                                          </p:endCondLst>
                                        </p:cTn>
                                        <p:tgtEl>
                                          <p:sndTgt r:embed="rId4"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220651"/>
                                        </p:tgtEl>
                                        <p:attrNameLst>
                                          <p:attrName>style.visibility</p:attrName>
                                        </p:attrNameLst>
                                      </p:cBhvr>
                                      <p:to>
                                        <p:strVal val="visible"/>
                                      </p:to>
                                    </p:set>
                                    <p:animEffect transition="in" filter="box(out)">
                                      <p:cBhvr>
                                        <p:cTn id="34" dur="500"/>
                                        <p:tgtEl>
                                          <p:spTgt spid="1220651"/>
                                        </p:tgtEl>
                                      </p:cBhvr>
                                    </p:animEffect>
                                  </p:childTnLst>
                                  <p:subTnLst>
                                    <p:set>
                                      <p:cBhvr override="childStyle">
                                        <p:cTn dur="1" fill="hold" display="0" masterRel="nextClick" afterEffect="1"/>
                                        <p:tgtEl>
                                          <p:spTgt spid="1220651"/>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4" name="camera.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220652"/>
                                        </p:tgtEl>
                                        <p:attrNameLst>
                                          <p:attrName>style.visibility</p:attrName>
                                        </p:attrNameLst>
                                      </p:cBhvr>
                                      <p:to>
                                        <p:strVal val="visible"/>
                                      </p:to>
                                    </p:set>
                                    <p:anim calcmode="lin" valueType="num">
                                      <p:cBhvr additive="base">
                                        <p:cTn id="39" dur="500" fill="hold"/>
                                        <p:tgtEl>
                                          <p:spTgt spid="1220652"/>
                                        </p:tgtEl>
                                        <p:attrNameLst>
                                          <p:attrName>ppt_x</p:attrName>
                                        </p:attrNameLst>
                                      </p:cBhvr>
                                      <p:tavLst>
                                        <p:tav tm="0">
                                          <p:val>
                                            <p:strVal val="0-#ppt_w/2"/>
                                          </p:val>
                                        </p:tav>
                                        <p:tav tm="100000">
                                          <p:val>
                                            <p:strVal val="#ppt_x"/>
                                          </p:val>
                                        </p:tav>
                                      </p:tavLst>
                                    </p:anim>
                                    <p:anim calcmode="lin" valueType="num">
                                      <p:cBhvr additive="base">
                                        <p:cTn id="40" dur="500" fill="hold"/>
                                        <p:tgtEl>
                                          <p:spTgt spid="122065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WHOOSH.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220653"/>
                                        </p:tgtEl>
                                        <p:attrNameLst>
                                          <p:attrName>style.visibility</p:attrName>
                                        </p:attrNameLst>
                                      </p:cBhvr>
                                      <p:to>
                                        <p:strVal val="visible"/>
                                      </p:to>
                                    </p:set>
                                    <p:animEffect transition="in" filter="box(out)">
                                      <p:cBhvr>
                                        <p:cTn id="45" dur="500"/>
                                        <p:tgtEl>
                                          <p:spTgt spid="1220653"/>
                                        </p:tgtEl>
                                      </p:cBhvr>
                                    </p:animEffect>
                                  </p:childTnLst>
                                  <p:subTnLst>
                                    <p:audio>
                                      <p:cMediaNode>
                                        <p:cTn display="0" masterRel="sameClick">
                                          <p:stCondLst>
                                            <p:cond evt="begin" delay="0">
                                              <p:tn val="43"/>
                                            </p:cond>
                                          </p:stCondLst>
                                          <p:endCondLst>
                                            <p:cond evt="onStopAudio" delay="0">
                                              <p:tgtEl>
                                                <p:sldTgt/>
                                              </p:tgtEl>
                                            </p:cond>
                                          </p:endCondLst>
                                        </p:cTn>
                                        <p:tgtEl>
                                          <p:sndTgt r:embed="rId4" name="CAMERA.WAV"/>
                                        </p:tgtEl>
                                      </p:cMediaNode>
                                    </p:audio>
                                  </p:subTnLst>
                                </p:cTn>
                              </p:par>
                            </p:childTnLst>
                          </p:cTn>
                        </p:par>
                      </p:childTnLst>
                    </p:cTn>
                  </p:par>
                  <p:par>
                    <p:cTn id="46" fill="hold">
                      <p:stCondLst>
                        <p:cond delay="indefinite"/>
                      </p:stCondLst>
                      <p:childTnLst>
                        <p:par>
                          <p:cTn id="47" fill="hold">
                            <p:stCondLst>
                              <p:cond delay="0"/>
                            </p:stCondLst>
                            <p:childTnLst>
                              <p:par>
                                <p:cTn id="48" presetID="4" presetClass="entr" presetSubtype="32" fill="hold" grpId="0" nodeType="clickEffect">
                                  <p:stCondLst>
                                    <p:cond delay="0"/>
                                  </p:stCondLst>
                                  <p:childTnLst>
                                    <p:set>
                                      <p:cBhvr>
                                        <p:cTn id="49" dur="1" fill="hold">
                                          <p:stCondLst>
                                            <p:cond delay="0"/>
                                          </p:stCondLst>
                                        </p:cTn>
                                        <p:tgtEl>
                                          <p:spTgt spid="1220655"/>
                                        </p:tgtEl>
                                        <p:attrNameLst>
                                          <p:attrName>style.visibility</p:attrName>
                                        </p:attrNameLst>
                                      </p:cBhvr>
                                      <p:to>
                                        <p:strVal val="visible"/>
                                      </p:to>
                                    </p:set>
                                    <p:animEffect transition="in" filter="box(out)">
                                      <p:cBhvr>
                                        <p:cTn id="50" dur="500"/>
                                        <p:tgtEl>
                                          <p:spTgt spid="1220655"/>
                                        </p:tgtEl>
                                      </p:cBhvr>
                                    </p:animEffect>
                                  </p:childTnLst>
                                  <p:subTnLst>
                                    <p:set>
                                      <p:cBhvr override="childStyle">
                                        <p:cTn dur="1" fill="hold" display="0" masterRel="nextClick" afterEffect="1"/>
                                        <p:tgtEl>
                                          <p:spTgt spid="1220655"/>
                                        </p:tgtEl>
                                        <p:attrNameLst>
                                          <p:attrName>style.visibility</p:attrName>
                                        </p:attrNameLst>
                                      </p:cBhvr>
                                      <p:to>
                                        <p:strVal val="hidden"/>
                                      </p:to>
                                    </p:set>
                                    <p:audio>
                                      <p:cMediaNode>
                                        <p:cTn display="0" masterRel="sameClick">
                                          <p:stCondLst>
                                            <p:cond evt="begin" delay="0">
                                              <p:tn val="48"/>
                                            </p:cond>
                                          </p:stCondLst>
                                          <p:endCondLst>
                                            <p:cond evt="onStopAudio" delay="0">
                                              <p:tgtEl>
                                                <p:sldTgt/>
                                              </p:tgtEl>
                                            </p:cond>
                                          </p:endCondLst>
                                        </p:cTn>
                                        <p:tgtEl>
                                          <p:sndTgt r:embed="rId4" name="CAMERA.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220654"/>
                                        </p:tgtEl>
                                        <p:attrNameLst>
                                          <p:attrName>style.visibility</p:attrName>
                                        </p:attrNameLst>
                                      </p:cBhvr>
                                      <p:to>
                                        <p:strVal val="visible"/>
                                      </p:to>
                                    </p:set>
                                    <p:animEffect transition="in" filter="box(out)">
                                      <p:cBhvr>
                                        <p:cTn id="55" dur="500"/>
                                        <p:tgtEl>
                                          <p:spTgt spid="1220654"/>
                                        </p:tgtEl>
                                      </p:cBhvr>
                                    </p:animEffect>
                                  </p:childTnLst>
                                  <p:subTnLst>
                                    <p:set>
                                      <p:cBhvr override="childStyle">
                                        <p:cTn dur="1" fill="hold" display="0" masterRel="nextClick" afterEffect="1"/>
                                        <p:tgtEl>
                                          <p:spTgt spid="1220654"/>
                                        </p:tgtEl>
                                        <p:attrNameLst>
                                          <p:attrName>style.visibility</p:attrName>
                                        </p:attrNameLst>
                                      </p:cBhvr>
                                      <p:to>
                                        <p:strVal val="hidden"/>
                                      </p:to>
                                    </p:set>
                                    <p:audio>
                                      <p:cMediaNode>
                                        <p:cTn display="0" masterRel="sameClick">
                                          <p:stCondLst>
                                            <p:cond evt="begin" delay="0">
                                              <p:tn val="53"/>
                                            </p:cond>
                                          </p:stCondLst>
                                          <p:endCondLst>
                                            <p:cond evt="onStopAudio" delay="0">
                                              <p:tgtEl>
                                                <p:sldTgt/>
                                              </p:tgtEl>
                                            </p:cond>
                                          </p:endCondLst>
                                        </p:cTn>
                                        <p:tgtEl>
                                          <p:sndTgt r:embed="rId4"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220656"/>
                                        </p:tgtEl>
                                        <p:attrNameLst>
                                          <p:attrName>style.visibility</p:attrName>
                                        </p:attrNameLst>
                                      </p:cBhvr>
                                      <p:to>
                                        <p:strVal val="visible"/>
                                      </p:to>
                                    </p:set>
                                    <p:animEffect transition="in" filter="box(out)">
                                      <p:cBhvr>
                                        <p:cTn id="60" dur="500"/>
                                        <p:tgtEl>
                                          <p:spTgt spid="1220656"/>
                                        </p:tgtEl>
                                      </p:cBhvr>
                                    </p:animEffect>
                                  </p:childTnLst>
                                  <p:subTnLst>
                                    <p:set>
                                      <p:cBhvr override="childStyle">
                                        <p:cTn dur="1" fill="hold" display="0" masterRel="nextClick" afterEffect="1"/>
                                        <p:tgtEl>
                                          <p:spTgt spid="1220656"/>
                                        </p:tgtEl>
                                        <p:attrNameLst>
                                          <p:attrName>style.visibility</p:attrName>
                                        </p:attrNameLst>
                                      </p:cBhvr>
                                      <p:to>
                                        <p:strVal val="hidden"/>
                                      </p:to>
                                    </p:set>
                                    <p:audio>
                                      <p:cMediaNode>
                                        <p:cTn display="0" masterRel="sameClick">
                                          <p:stCondLst>
                                            <p:cond evt="begin" delay="0">
                                              <p:tn val="58"/>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0648" grpId="0" animBg="1"/>
      <p:bldP spid="1220649" grpId="0" animBg="1" autoUpdateAnimBg="0"/>
      <p:bldP spid="1220646" grpId="0"/>
      <p:bldP spid="1220647" grpId="0"/>
      <p:bldP spid="1220650" grpId="0" animBg="1"/>
      <p:bldP spid="1220651" grpId="0" animBg="1" autoUpdateAnimBg="0"/>
      <p:bldP spid="1220652" grpId="0"/>
      <p:bldP spid="1220653" grpId="0" animBg="1" autoUpdateAnimBg="0"/>
      <p:bldP spid="1220654" grpId="0" animBg="1" autoUpdateAnimBg="0"/>
      <p:bldP spid="1220655" grpId="0" animBg="1" autoUpdateAnimBg="0"/>
      <p:bldP spid="1220656" grpId="0" animBg="1"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1638" name="Rectangle 6"/>
          <p:cNvSpPr>
            <a:spLocks noChangeArrowheads="1"/>
          </p:cNvSpPr>
          <p:nvPr/>
        </p:nvSpPr>
        <p:spPr bwMode="auto">
          <a:xfrm>
            <a:off x="998403" y="3333672"/>
            <a:ext cx="3384550" cy="461665"/>
          </a:xfrm>
          <a:prstGeom prst="rect">
            <a:avLst/>
          </a:prstGeom>
          <a:noFill/>
          <a:ln w="9525" algn="ctr">
            <a:noFill/>
            <a:miter lim="800000"/>
            <a:headEnd/>
            <a:tailEnd/>
          </a:ln>
          <a:effectLst/>
        </p:spPr>
        <p:txBody>
          <a:bodyPr>
            <a:spAutoFit/>
          </a:bodyPr>
          <a:lstStyle/>
          <a:p>
            <a:pPr marL="342900" indent="-342900">
              <a:buFont typeface="Wingdings" pitchFamily="2" charset="2"/>
              <a:buChar char="Ø"/>
            </a:pPr>
            <a:r>
              <a:rPr lang="zh-CN" altLang="en-US" b="1" dirty="0">
                <a:solidFill>
                  <a:srgbClr val="C00000"/>
                </a:solidFill>
                <a:latin typeface="+mn-lt"/>
                <a:ea typeface="楷体" pitchFamily="49" charset="-122"/>
              </a:rPr>
              <a:t>命令行参数的传递</a:t>
            </a:r>
          </a:p>
        </p:txBody>
      </p:sp>
      <p:grpSp>
        <p:nvGrpSpPr>
          <p:cNvPr id="1221678" name="Group 46"/>
          <p:cNvGrpSpPr>
            <a:grpSpLocks/>
          </p:cNvGrpSpPr>
          <p:nvPr/>
        </p:nvGrpSpPr>
        <p:grpSpPr bwMode="auto">
          <a:xfrm>
            <a:off x="3724476" y="3502597"/>
            <a:ext cx="4713288" cy="2138363"/>
            <a:chOff x="1223" y="386"/>
            <a:chExt cx="2969" cy="1347"/>
          </a:xfrm>
        </p:grpSpPr>
        <p:sp>
          <p:nvSpPr>
            <p:cNvPr id="1221673" name="Rectangle 41"/>
            <p:cNvSpPr>
              <a:spLocks noChangeArrowheads="1"/>
            </p:cNvSpPr>
            <p:nvPr/>
          </p:nvSpPr>
          <p:spPr bwMode="auto">
            <a:xfrm>
              <a:off x="1223" y="1441"/>
              <a:ext cx="1089" cy="292"/>
            </a:xfrm>
            <a:prstGeom prst="rect">
              <a:avLst/>
            </a:prstGeom>
            <a:gradFill rotWithShape="1">
              <a:gsLst>
                <a:gs pos="0">
                  <a:srgbClr val="CFCFD1"/>
                </a:gs>
                <a:gs pos="100000">
                  <a:srgbClr val="FFFFFF"/>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dirty="0">
                  <a:ea typeface="隶书" pitchFamily="49" charset="-122"/>
                </a:rPr>
                <a:t>命令行</a:t>
              </a:r>
              <a:r>
                <a:rPr lang="zh-CN" altLang="en-US" dirty="0">
                  <a:solidFill>
                    <a:srgbClr val="002060"/>
                  </a:solidFill>
                  <a:ea typeface="隶书" pitchFamily="49" charset="-122"/>
                </a:rPr>
                <a:t>实参</a:t>
              </a:r>
            </a:p>
          </p:txBody>
        </p:sp>
        <p:sp>
          <p:nvSpPr>
            <p:cNvPr id="1221674" name="Rectangle 42"/>
            <p:cNvSpPr>
              <a:spLocks noChangeArrowheads="1"/>
            </p:cNvSpPr>
            <p:nvPr/>
          </p:nvSpPr>
          <p:spPr bwMode="auto">
            <a:xfrm>
              <a:off x="3138" y="1441"/>
              <a:ext cx="1054" cy="292"/>
            </a:xfrm>
            <a:prstGeom prst="rect">
              <a:avLst/>
            </a:prstGeom>
            <a:gradFill rotWithShape="1">
              <a:gsLst>
                <a:gs pos="0">
                  <a:srgbClr val="CFCFD1"/>
                </a:gs>
                <a:gs pos="100000">
                  <a:srgbClr val="FFFFFF"/>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en-US" altLang="zh-CN" dirty="0">
                  <a:ea typeface="隶书" pitchFamily="49" charset="-122"/>
                </a:rPr>
                <a:t>main(</a:t>
              </a:r>
              <a:r>
                <a:rPr lang="zh-CN" altLang="en-US" dirty="0">
                  <a:solidFill>
                    <a:srgbClr val="002060"/>
                  </a:solidFill>
                  <a:ea typeface="隶书" pitchFamily="49" charset="-122"/>
                </a:rPr>
                <a:t>形参</a:t>
              </a:r>
              <a:r>
                <a:rPr lang="en-US" altLang="zh-CN" dirty="0">
                  <a:ea typeface="隶书" pitchFamily="49" charset="-122"/>
                </a:rPr>
                <a:t>)</a:t>
              </a:r>
            </a:p>
          </p:txBody>
        </p:sp>
        <p:sp>
          <p:nvSpPr>
            <p:cNvPr id="1221676" name="Rectangle 44"/>
            <p:cNvSpPr>
              <a:spLocks noChangeArrowheads="1"/>
            </p:cNvSpPr>
            <p:nvPr/>
          </p:nvSpPr>
          <p:spPr bwMode="auto">
            <a:xfrm>
              <a:off x="1896" y="386"/>
              <a:ext cx="1755" cy="536"/>
            </a:xfrm>
            <a:prstGeom prst="rect">
              <a:avLst/>
            </a:prstGeom>
            <a:gradFill rotWithShape="1">
              <a:gsLst>
                <a:gs pos="0">
                  <a:srgbClr val="CFCFD1"/>
                </a:gs>
                <a:gs pos="100000">
                  <a:srgbClr val="FFFFFF"/>
                </a:gs>
              </a:gsLst>
              <a:lin ang="5400000" scaled="1"/>
            </a:gradFill>
            <a:ln w="28575">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gn="ctr">
                <a:lnSpc>
                  <a:spcPct val="100000"/>
                </a:lnSpc>
                <a:spcBef>
                  <a:spcPct val="0"/>
                </a:spcBef>
              </a:pPr>
              <a:r>
                <a:rPr lang="zh-CN" altLang="zh-CN">
                  <a:latin typeface="隶书" pitchFamily="49" charset="-122"/>
                  <a:ea typeface="隶书" pitchFamily="49" charset="-122"/>
                </a:rPr>
                <a:t>系统自动调用</a:t>
              </a:r>
            </a:p>
            <a:p>
              <a:pPr algn="ctr">
                <a:lnSpc>
                  <a:spcPct val="100000"/>
                </a:lnSpc>
                <a:spcBef>
                  <a:spcPct val="0"/>
                </a:spcBef>
              </a:pPr>
              <a:r>
                <a:rPr lang="en-US" altLang="zh-CN">
                  <a:latin typeface="隶书" pitchFamily="49" charset="-122"/>
                  <a:ea typeface="隶书" pitchFamily="49" charset="-122"/>
                </a:rPr>
                <a:t>main</a:t>
              </a:r>
              <a:r>
                <a:rPr lang="zh-CN" altLang="zh-CN">
                  <a:latin typeface="隶书" pitchFamily="49" charset="-122"/>
                  <a:ea typeface="隶书" pitchFamily="49" charset="-122"/>
                </a:rPr>
                <a:t>函数时传递</a:t>
              </a:r>
              <a:endParaRPr lang="zh-CN" altLang="en-US">
                <a:latin typeface="隶书" pitchFamily="49" charset="-122"/>
                <a:ea typeface="隶书" pitchFamily="49" charset="-122"/>
              </a:endParaRPr>
            </a:p>
          </p:txBody>
        </p:sp>
        <p:sp>
          <p:nvSpPr>
            <p:cNvPr id="1221677" name="AutoShape 45"/>
            <p:cNvSpPr>
              <a:spLocks noChangeArrowheads="1"/>
            </p:cNvSpPr>
            <p:nvPr/>
          </p:nvSpPr>
          <p:spPr bwMode="auto">
            <a:xfrm>
              <a:off x="1718" y="980"/>
              <a:ext cx="2251" cy="454"/>
            </a:xfrm>
            <a:prstGeom prst="curvedDownArrow">
              <a:avLst>
                <a:gd name="adj1" fmla="val 43200"/>
                <a:gd name="adj2" fmla="val 142363"/>
                <a:gd name="adj3" fmla="val 33481"/>
              </a:avLst>
            </a:prstGeom>
            <a:gradFill rotWithShape="1">
              <a:gsLst>
                <a:gs pos="0">
                  <a:srgbClr val="BEDFC4"/>
                </a:gs>
                <a:gs pos="100000">
                  <a:srgbClr val="00FFFF">
                    <a:gamma/>
                    <a:shade val="60784"/>
                    <a:invGamma/>
                  </a:srgbClr>
                </a:gs>
              </a:gsLst>
              <a:lin ang="5400000" scaled="1"/>
            </a:gradFill>
            <a:ln w="25400">
              <a:noFill/>
              <a:miter lim="800000"/>
              <a:headEnd/>
              <a:tailEnd/>
            </a:ln>
            <a:effectLst>
              <a:outerShdw dist="35921" dir="2700000" algn="ctr" rotWithShape="0">
                <a:schemeClr val="bg2"/>
              </a:outerShdw>
            </a:effectLst>
          </p:spPr>
          <p:txBody>
            <a:bodyPr wrap="none" anchor="ctr"/>
            <a:lstStyle/>
            <a:p>
              <a:endParaRPr lang="zh-CN" altLang="en-US"/>
            </a:p>
          </p:txBody>
        </p:sp>
      </p:grpSp>
      <p:sp>
        <p:nvSpPr>
          <p:cNvPr id="1221679" name="AutoShape 47"/>
          <p:cNvSpPr>
            <a:spLocks noChangeArrowheads="1"/>
          </p:cNvSpPr>
          <p:nvPr/>
        </p:nvSpPr>
        <p:spPr bwMode="auto">
          <a:xfrm>
            <a:off x="2711624" y="6061498"/>
            <a:ext cx="5359457" cy="463846"/>
          </a:xfrm>
          <a:prstGeom prst="wedgeRectCallout">
            <a:avLst>
              <a:gd name="adj1" fmla="val -6894"/>
              <a:gd name="adj2" fmla="val -126282"/>
            </a:avLst>
          </a:prstGeom>
          <a:gradFill rotWithShape="1">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zh-CN" altLang="en-US" dirty="0">
                <a:ea typeface="隶书" pitchFamily="49" charset="-122"/>
              </a:rPr>
              <a:t>第一个参数</a:t>
            </a:r>
            <a:r>
              <a:rPr lang="en-US" altLang="zh-CN" dirty="0">
                <a:ea typeface="隶书" pitchFamily="49" charset="-122"/>
              </a:rPr>
              <a:t>: </a:t>
            </a:r>
            <a:r>
              <a:rPr lang="en-US" altLang="zh-CN" dirty="0">
                <a:ea typeface="宋体" pitchFamily="2" charset="-122"/>
              </a:rPr>
              <a:t>main</a:t>
            </a:r>
            <a:r>
              <a:rPr lang="zh-CN" altLang="zh-CN" dirty="0">
                <a:ea typeface="隶书" pitchFamily="49" charset="-122"/>
              </a:rPr>
              <a:t>所在的</a:t>
            </a:r>
            <a:r>
              <a:rPr lang="zh-CN" altLang="zh-CN" i="1" dirty="0">
                <a:solidFill>
                  <a:srgbClr val="C00000"/>
                </a:solidFill>
                <a:ea typeface="隶书" pitchFamily="49" charset="-122"/>
              </a:rPr>
              <a:t>可执行文件名</a:t>
            </a:r>
            <a:endParaRPr lang="zh-CN" altLang="en-US" i="1" dirty="0">
              <a:solidFill>
                <a:srgbClr val="C00000"/>
              </a:solidFill>
            </a:endParaRPr>
          </a:p>
        </p:txBody>
      </p:sp>
      <p:sp>
        <p:nvSpPr>
          <p:cNvPr id="12" name="Rectangle 49">
            <a:extLst>
              <a:ext uri="{FF2B5EF4-FFF2-40B4-BE49-F238E27FC236}">
                <a16:creationId xmlns:a16="http://schemas.microsoft.com/office/drawing/2014/main" id="{06F0296F-B068-4248-B516-9E7DD7F2088D}"/>
              </a:ext>
            </a:extLst>
          </p:cNvPr>
          <p:cNvSpPr>
            <a:spLocks noChangeArrowheads="1"/>
          </p:cNvSpPr>
          <p:nvPr/>
        </p:nvSpPr>
        <p:spPr bwMode="auto">
          <a:xfrm>
            <a:off x="1026414" y="855936"/>
            <a:ext cx="6093335" cy="461665"/>
          </a:xfrm>
          <a:prstGeom prst="rect">
            <a:avLst/>
          </a:prstGeom>
          <a:noFill/>
          <a:ln w="9525" algn="ctr">
            <a:noFill/>
            <a:miter lim="800000"/>
            <a:headEnd/>
            <a:tailEnd/>
          </a:ln>
          <a:effectLst/>
        </p:spPr>
        <p:txBody>
          <a:bodyPr wrap="none" anchor="ctr">
            <a:spAutoFit/>
          </a:bodyPr>
          <a:lstStyle/>
          <a:p>
            <a:pPr>
              <a:lnSpc>
                <a:spcPct val="100000"/>
              </a:lnSpc>
              <a:spcBef>
                <a:spcPct val="0"/>
              </a:spcBef>
              <a:buFont typeface="Wingdings" pitchFamily="2" charset="2"/>
              <a:buChar char="Ø"/>
            </a:pPr>
            <a:r>
              <a:rPr lang="en-US" altLang="zh-CN" b="1" dirty="0">
                <a:solidFill>
                  <a:srgbClr val="C00000"/>
                </a:solidFill>
                <a:latin typeface="+mn-lt"/>
                <a:ea typeface="楷体" pitchFamily="49" charset="-122"/>
              </a:rPr>
              <a:t> </a:t>
            </a:r>
            <a:r>
              <a:rPr lang="en-US" altLang="zh-CN" b="1" dirty="0" err="1">
                <a:solidFill>
                  <a:srgbClr val="C00000"/>
                </a:solidFill>
                <a:latin typeface="+mn-lt"/>
                <a:ea typeface="楷体" pitchFamily="49" charset="-122"/>
              </a:rPr>
              <a:t>argc</a:t>
            </a:r>
            <a:r>
              <a:rPr lang="zh-CN" altLang="en-US" b="1" dirty="0">
                <a:solidFill>
                  <a:srgbClr val="C00000"/>
                </a:solidFill>
                <a:latin typeface="+mn-lt"/>
                <a:ea typeface="楷体" pitchFamily="49" charset="-122"/>
              </a:rPr>
              <a:t>和</a:t>
            </a:r>
            <a:r>
              <a:rPr lang="en-US" altLang="zh-CN" b="1" dirty="0" err="1">
                <a:solidFill>
                  <a:srgbClr val="C00000"/>
                </a:solidFill>
                <a:latin typeface="+mn-lt"/>
                <a:ea typeface="楷体" pitchFamily="49" charset="-122"/>
              </a:rPr>
              <a:t>argv</a:t>
            </a:r>
            <a:r>
              <a:rPr lang="zh-CN" altLang="en-US" b="1" dirty="0">
                <a:solidFill>
                  <a:srgbClr val="C00000"/>
                </a:solidFill>
                <a:latin typeface="+mn-lt"/>
                <a:ea typeface="楷体" pitchFamily="49" charset="-122"/>
              </a:rPr>
              <a:t>与命令行参数之间的对应关系 </a:t>
            </a:r>
          </a:p>
        </p:txBody>
      </p:sp>
      <p:grpSp>
        <p:nvGrpSpPr>
          <p:cNvPr id="13" name="Group 71">
            <a:extLst>
              <a:ext uri="{FF2B5EF4-FFF2-40B4-BE49-F238E27FC236}">
                <a16:creationId xmlns:a16="http://schemas.microsoft.com/office/drawing/2014/main" id="{CFD55F25-1595-4C3D-882C-D3AD4C691732}"/>
              </a:ext>
            </a:extLst>
          </p:cNvPr>
          <p:cNvGrpSpPr>
            <a:grpSpLocks/>
          </p:cNvGrpSpPr>
          <p:nvPr/>
        </p:nvGrpSpPr>
        <p:grpSpPr bwMode="auto">
          <a:xfrm>
            <a:off x="2003147" y="1291391"/>
            <a:ext cx="7919229" cy="1712915"/>
            <a:chOff x="1020" y="3258"/>
            <a:chExt cx="3674" cy="1079"/>
          </a:xfrm>
        </p:grpSpPr>
        <p:sp>
          <p:nvSpPr>
            <p:cNvPr id="14" name="Text Box 50">
              <a:extLst>
                <a:ext uri="{FF2B5EF4-FFF2-40B4-BE49-F238E27FC236}">
                  <a16:creationId xmlns:a16="http://schemas.microsoft.com/office/drawing/2014/main" id="{CC5F39A7-9D40-489A-BFA1-7E237922DDDA}"/>
                </a:ext>
              </a:extLst>
            </p:cNvPr>
            <p:cNvSpPr txBox="1">
              <a:spLocks noChangeArrowheads="1"/>
            </p:cNvSpPr>
            <p:nvPr/>
          </p:nvSpPr>
          <p:spPr bwMode="auto">
            <a:xfrm>
              <a:off x="1020" y="3667"/>
              <a:ext cx="3674" cy="272"/>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lstStyle/>
            <a:p>
              <a:pPr marL="342900" indent="-342900" algn="ctr"/>
              <a:r>
                <a:rPr lang="zh-CN" altLang="en-US" sz="2000" b="1" dirty="0">
                  <a:solidFill>
                    <a:srgbClr val="C00000"/>
                  </a:solidFill>
                  <a:latin typeface="+mn-lt"/>
                  <a:ea typeface="隶书" pitchFamily="49" charset="-122"/>
                </a:rPr>
                <a:t>命令名    参数</a:t>
              </a:r>
              <a:r>
                <a:rPr lang="en-US" altLang="zh-CN" sz="2000" b="1" dirty="0">
                  <a:solidFill>
                    <a:srgbClr val="C00000"/>
                  </a:solidFill>
                  <a:latin typeface="+mn-lt"/>
                  <a:ea typeface="隶书" pitchFamily="49" charset="-122"/>
                </a:rPr>
                <a:t>1    </a:t>
              </a:r>
              <a:r>
                <a:rPr lang="zh-CN" altLang="en-US" sz="2000" b="1" dirty="0">
                  <a:solidFill>
                    <a:srgbClr val="C00000"/>
                  </a:solidFill>
                  <a:latin typeface="+mn-lt"/>
                  <a:ea typeface="隶书" pitchFamily="49" charset="-122"/>
                </a:rPr>
                <a:t>参数</a:t>
              </a:r>
              <a:r>
                <a:rPr lang="en-US" altLang="zh-CN" sz="2000" b="1" dirty="0">
                  <a:solidFill>
                    <a:srgbClr val="C00000"/>
                  </a:solidFill>
                  <a:latin typeface="+mn-lt"/>
                  <a:ea typeface="隶书" pitchFamily="49" charset="-122"/>
                </a:rPr>
                <a:t>2     </a:t>
              </a:r>
              <a:r>
                <a:rPr lang="zh-CN" altLang="en-US" sz="2000" b="1" dirty="0">
                  <a:solidFill>
                    <a:srgbClr val="C00000"/>
                  </a:solidFill>
                  <a:latin typeface="+mn-lt"/>
                  <a:ea typeface="隶书" pitchFamily="49" charset="-122"/>
                </a:rPr>
                <a:t>参数</a:t>
              </a:r>
              <a:r>
                <a:rPr lang="en-US" altLang="zh-CN" sz="2000" b="1" dirty="0">
                  <a:solidFill>
                    <a:srgbClr val="C00000"/>
                  </a:solidFill>
                  <a:latin typeface="+mn-lt"/>
                  <a:ea typeface="隶书" pitchFamily="49" charset="-122"/>
                </a:rPr>
                <a:t>3     ……    </a:t>
              </a:r>
              <a:r>
                <a:rPr lang="zh-CN" altLang="en-US" sz="2000" b="1" dirty="0">
                  <a:solidFill>
                    <a:srgbClr val="C00000"/>
                  </a:solidFill>
                  <a:latin typeface="+mn-lt"/>
                  <a:ea typeface="隶书" pitchFamily="49" charset="-122"/>
                </a:rPr>
                <a:t>参数</a:t>
              </a:r>
              <a:r>
                <a:rPr lang="en-US" altLang="zh-CN" sz="2000" b="1" dirty="0">
                  <a:solidFill>
                    <a:srgbClr val="C00000"/>
                  </a:solidFill>
                  <a:latin typeface="+mn-lt"/>
                  <a:ea typeface="隶书" pitchFamily="49" charset="-122"/>
                </a:rPr>
                <a:t>n</a:t>
              </a:r>
            </a:p>
          </p:txBody>
        </p:sp>
        <p:grpSp>
          <p:nvGrpSpPr>
            <p:cNvPr id="15" name="Group 53">
              <a:extLst>
                <a:ext uri="{FF2B5EF4-FFF2-40B4-BE49-F238E27FC236}">
                  <a16:creationId xmlns:a16="http://schemas.microsoft.com/office/drawing/2014/main" id="{FF38A7BD-EE35-4997-9C10-8C5FC4E338AF}"/>
                </a:ext>
              </a:extLst>
            </p:cNvPr>
            <p:cNvGrpSpPr>
              <a:grpSpLocks/>
            </p:cNvGrpSpPr>
            <p:nvPr/>
          </p:nvGrpSpPr>
          <p:grpSpPr bwMode="auto">
            <a:xfrm>
              <a:off x="1715" y="3258"/>
              <a:ext cx="2306" cy="406"/>
              <a:chOff x="1715" y="3339"/>
              <a:chExt cx="2306" cy="406"/>
            </a:xfrm>
          </p:grpSpPr>
          <p:sp>
            <p:nvSpPr>
              <p:cNvPr id="33" name="AutoShape 51">
                <a:extLst>
                  <a:ext uri="{FF2B5EF4-FFF2-40B4-BE49-F238E27FC236}">
                    <a16:creationId xmlns:a16="http://schemas.microsoft.com/office/drawing/2014/main" id="{76249AE8-A935-4F27-BB56-8BBDCFDF09A3}"/>
                  </a:ext>
                </a:extLst>
              </p:cNvPr>
              <p:cNvSpPr>
                <a:spLocks/>
              </p:cNvSpPr>
              <p:nvPr/>
            </p:nvSpPr>
            <p:spPr bwMode="auto">
              <a:xfrm rot="16200000">
                <a:off x="2779" y="2503"/>
                <a:ext cx="178" cy="2306"/>
              </a:xfrm>
              <a:prstGeom prst="rightBrace">
                <a:avLst>
                  <a:gd name="adj1" fmla="val 130861"/>
                  <a:gd name="adj2" fmla="val 50000"/>
                </a:avLst>
              </a:prstGeom>
              <a:noFill/>
              <a:ln w="25400">
                <a:solidFill>
                  <a:srgbClr val="002060"/>
                </a:solidFill>
                <a:round/>
                <a:headEnd/>
                <a:tailEnd/>
              </a:ln>
              <a:effectLst/>
            </p:spPr>
            <p:txBody>
              <a:bodyPr wrap="none" anchor="ctr"/>
              <a:lstStyle/>
              <a:p>
                <a:endParaRPr lang="zh-CN" altLang="en-US" dirty="0"/>
              </a:p>
            </p:txBody>
          </p:sp>
          <p:sp>
            <p:nvSpPr>
              <p:cNvPr id="34" name="Rectangle 52">
                <a:extLst>
                  <a:ext uri="{FF2B5EF4-FFF2-40B4-BE49-F238E27FC236}">
                    <a16:creationId xmlns:a16="http://schemas.microsoft.com/office/drawing/2014/main" id="{795A3179-FB9B-46CC-B177-36D62F0DC5FB}"/>
                  </a:ext>
                </a:extLst>
              </p:cNvPr>
              <p:cNvSpPr>
                <a:spLocks noChangeArrowheads="1"/>
              </p:cNvSpPr>
              <p:nvPr/>
            </p:nvSpPr>
            <p:spPr bwMode="auto">
              <a:xfrm>
                <a:off x="2249" y="3339"/>
                <a:ext cx="1281" cy="252"/>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zh-CN" altLang="en-US" sz="2000" b="1" dirty="0">
                    <a:solidFill>
                      <a:srgbClr val="002060"/>
                    </a:solidFill>
                    <a:latin typeface="+mn-lt"/>
                    <a:ea typeface="楷体" pitchFamily="49" charset="-122"/>
                  </a:rPr>
                  <a:t>参数的个数</a:t>
                </a:r>
                <a:r>
                  <a:rPr lang="en-US" altLang="zh-CN" sz="2000" b="1" dirty="0">
                    <a:solidFill>
                      <a:srgbClr val="002060"/>
                    </a:solidFill>
                    <a:latin typeface="+mn-lt"/>
                    <a:ea typeface="楷体" pitchFamily="49" charset="-122"/>
                  </a:rPr>
                  <a:t>n+1 → </a:t>
                </a:r>
                <a:r>
                  <a:rPr lang="en-US" altLang="zh-CN" sz="2000" b="1" dirty="0" err="1">
                    <a:solidFill>
                      <a:srgbClr val="002060"/>
                    </a:solidFill>
                    <a:latin typeface="+mn-lt"/>
                    <a:ea typeface="楷体" pitchFamily="49" charset="-122"/>
                  </a:rPr>
                  <a:t>argc</a:t>
                </a:r>
                <a:endParaRPr lang="en-US" altLang="zh-CN" sz="2000" b="1" dirty="0">
                  <a:solidFill>
                    <a:srgbClr val="002060"/>
                  </a:solidFill>
                  <a:latin typeface="+mn-lt"/>
                  <a:ea typeface="楷体" pitchFamily="49" charset="-122"/>
                </a:endParaRPr>
              </a:p>
            </p:txBody>
          </p:sp>
        </p:grpSp>
        <p:grpSp>
          <p:nvGrpSpPr>
            <p:cNvPr id="16" name="Group 70">
              <a:extLst>
                <a:ext uri="{FF2B5EF4-FFF2-40B4-BE49-F238E27FC236}">
                  <a16:creationId xmlns:a16="http://schemas.microsoft.com/office/drawing/2014/main" id="{97F09EE8-E248-488E-88D6-115728202E99}"/>
                </a:ext>
              </a:extLst>
            </p:cNvPr>
            <p:cNvGrpSpPr>
              <a:grpSpLocks/>
            </p:cNvGrpSpPr>
            <p:nvPr/>
          </p:nvGrpSpPr>
          <p:grpSpPr bwMode="auto">
            <a:xfrm>
              <a:off x="1616" y="3929"/>
              <a:ext cx="2586" cy="408"/>
              <a:chOff x="1616" y="3929"/>
              <a:chExt cx="2586" cy="408"/>
            </a:xfrm>
          </p:grpSpPr>
          <p:grpSp>
            <p:nvGrpSpPr>
              <p:cNvPr id="17" name="Group 56">
                <a:extLst>
                  <a:ext uri="{FF2B5EF4-FFF2-40B4-BE49-F238E27FC236}">
                    <a16:creationId xmlns:a16="http://schemas.microsoft.com/office/drawing/2014/main" id="{9418CC80-786B-4CD8-8A31-7EEC01C29CC6}"/>
                  </a:ext>
                </a:extLst>
              </p:cNvPr>
              <p:cNvGrpSpPr>
                <a:grpSpLocks/>
              </p:cNvGrpSpPr>
              <p:nvPr/>
            </p:nvGrpSpPr>
            <p:grpSpPr bwMode="auto">
              <a:xfrm>
                <a:off x="1616" y="3947"/>
                <a:ext cx="416" cy="386"/>
                <a:chOff x="1616" y="3947"/>
                <a:chExt cx="416" cy="386"/>
              </a:xfrm>
            </p:grpSpPr>
            <p:sp>
              <p:nvSpPr>
                <p:cNvPr id="31" name="Line 54">
                  <a:extLst>
                    <a:ext uri="{FF2B5EF4-FFF2-40B4-BE49-F238E27FC236}">
                      <a16:creationId xmlns:a16="http://schemas.microsoft.com/office/drawing/2014/main" id="{FA4CCB41-E850-4A0C-B401-8E223C15E628}"/>
                    </a:ext>
                  </a:extLst>
                </p:cNvPr>
                <p:cNvSpPr>
                  <a:spLocks noChangeShapeType="1"/>
                </p:cNvSpPr>
                <p:nvPr/>
              </p:nvSpPr>
              <p:spPr bwMode="auto">
                <a:xfrm flipV="1">
                  <a:off x="1838" y="3947"/>
                  <a:ext cx="0" cy="182"/>
                </a:xfrm>
                <a:prstGeom prst="line">
                  <a:avLst/>
                </a:prstGeom>
                <a:noFill/>
                <a:ln w="28575">
                  <a:solidFill>
                    <a:srgbClr val="002060"/>
                  </a:solidFill>
                  <a:round/>
                  <a:headEnd/>
                  <a:tailEnd type="stealth" w="lg" len="lg"/>
                </a:ln>
                <a:effectLst/>
              </p:spPr>
              <p:txBody>
                <a:bodyPr/>
                <a:lstStyle/>
                <a:p>
                  <a:endParaRPr lang="zh-CN" altLang="en-US"/>
                </a:p>
              </p:txBody>
            </p:sp>
            <p:sp>
              <p:nvSpPr>
                <p:cNvPr id="32" name="Text Box 55">
                  <a:extLst>
                    <a:ext uri="{FF2B5EF4-FFF2-40B4-BE49-F238E27FC236}">
                      <a16:creationId xmlns:a16="http://schemas.microsoft.com/office/drawing/2014/main" id="{6C4F37B9-2449-4F1B-B4C6-035F4BF2AC68}"/>
                    </a:ext>
                  </a:extLst>
                </p:cNvPr>
                <p:cNvSpPr txBox="1">
                  <a:spLocks noChangeArrowheads="1"/>
                </p:cNvSpPr>
                <p:nvPr/>
              </p:nvSpPr>
              <p:spPr bwMode="auto">
                <a:xfrm>
                  <a:off x="1616" y="4081"/>
                  <a:ext cx="416" cy="252"/>
                </a:xfrm>
                <a:prstGeom prst="rect">
                  <a:avLst/>
                </a:prstGeom>
                <a:noFill/>
                <a:ln w="9525" algn="ctr">
                  <a:noFill/>
                  <a:miter lim="800000"/>
                  <a:headEnd/>
                  <a:tailEnd/>
                </a:ln>
                <a:effectLst/>
              </p:spPr>
              <p:txBody>
                <a:bodyPr wrap="square">
                  <a:spAutoFit/>
                </a:bodyPr>
                <a:lstStyle/>
                <a:p>
                  <a:pPr marL="342900" indent="-342900">
                    <a:spcBef>
                      <a:spcPct val="50000"/>
                    </a:spcBef>
                  </a:pPr>
                  <a:r>
                    <a:rPr lang="en-US" altLang="zh-CN" sz="2000" b="1" dirty="0" err="1">
                      <a:solidFill>
                        <a:srgbClr val="002060"/>
                      </a:solidFill>
                    </a:rPr>
                    <a:t>argv</a:t>
                  </a:r>
                  <a:r>
                    <a:rPr lang="en-US" altLang="zh-CN" sz="2000" b="1" dirty="0">
                      <a:solidFill>
                        <a:srgbClr val="002060"/>
                      </a:solidFill>
                    </a:rPr>
                    <a:t>[0]</a:t>
                  </a:r>
                </a:p>
              </p:txBody>
            </p:sp>
          </p:grpSp>
          <p:grpSp>
            <p:nvGrpSpPr>
              <p:cNvPr id="18" name="Group 57">
                <a:extLst>
                  <a:ext uri="{FF2B5EF4-FFF2-40B4-BE49-F238E27FC236}">
                    <a16:creationId xmlns:a16="http://schemas.microsoft.com/office/drawing/2014/main" id="{29943E53-4185-43F8-BB9C-5F9C0FA3A9F7}"/>
                  </a:ext>
                </a:extLst>
              </p:cNvPr>
              <p:cNvGrpSpPr>
                <a:grpSpLocks/>
              </p:cNvGrpSpPr>
              <p:nvPr/>
            </p:nvGrpSpPr>
            <p:grpSpPr bwMode="auto">
              <a:xfrm>
                <a:off x="2059" y="3948"/>
                <a:ext cx="493" cy="386"/>
                <a:chOff x="1482" y="3947"/>
                <a:chExt cx="493" cy="386"/>
              </a:xfrm>
            </p:grpSpPr>
            <p:sp>
              <p:nvSpPr>
                <p:cNvPr id="29" name="Line 58">
                  <a:extLst>
                    <a:ext uri="{FF2B5EF4-FFF2-40B4-BE49-F238E27FC236}">
                      <a16:creationId xmlns:a16="http://schemas.microsoft.com/office/drawing/2014/main" id="{FE5F4431-B588-40E3-BCB3-00041DC12149}"/>
                    </a:ext>
                  </a:extLst>
                </p:cNvPr>
                <p:cNvSpPr>
                  <a:spLocks noChangeShapeType="1"/>
                </p:cNvSpPr>
                <p:nvPr/>
              </p:nvSpPr>
              <p:spPr bwMode="auto">
                <a:xfrm flipV="1">
                  <a:off x="1718" y="3947"/>
                  <a:ext cx="0" cy="182"/>
                </a:xfrm>
                <a:prstGeom prst="line">
                  <a:avLst/>
                </a:prstGeom>
                <a:noFill/>
                <a:ln w="28575">
                  <a:solidFill>
                    <a:srgbClr val="002060"/>
                  </a:solidFill>
                  <a:round/>
                  <a:headEnd/>
                  <a:tailEnd type="stealth" w="lg" len="lg"/>
                </a:ln>
                <a:effectLst/>
              </p:spPr>
              <p:txBody>
                <a:bodyPr/>
                <a:lstStyle/>
                <a:p>
                  <a:endParaRPr lang="zh-CN" altLang="en-US"/>
                </a:p>
              </p:txBody>
            </p:sp>
            <p:sp>
              <p:nvSpPr>
                <p:cNvPr id="30" name="Text Box 59">
                  <a:extLst>
                    <a:ext uri="{FF2B5EF4-FFF2-40B4-BE49-F238E27FC236}">
                      <a16:creationId xmlns:a16="http://schemas.microsoft.com/office/drawing/2014/main" id="{3DA0A8B4-47A0-436C-8B6B-E94AB6699A0B}"/>
                    </a:ext>
                  </a:extLst>
                </p:cNvPr>
                <p:cNvSpPr txBox="1">
                  <a:spLocks noChangeArrowheads="1"/>
                </p:cNvSpPr>
                <p:nvPr/>
              </p:nvSpPr>
              <p:spPr bwMode="auto">
                <a:xfrm>
                  <a:off x="1482" y="4081"/>
                  <a:ext cx="493" cy="252"/>
                </a:xfrm>
                <a:prstGeom prst="rect">
                  <a:avLst/>
                </a:prstGeom>
                <a:noFill/>
                <a:ln w="9525" algn="ctr">
                  <a:noFill/>
                  <a:miter lim="800000"/>
                  <a:headEnd/>
                  <a:tailEnd/>
                </a:ln>
                <a:effectLst/>
              </p:spPr>
              <p:txBody>
                <a:bodyPr wrap="square">
                  <a:spAutoFit/>
                </a:bodyPr>
                <a:lstStyle/>
                <a:p>
                  <a:pPr marL="342900" indent="-342900">
                    <a:spcBef>
                      <a:spcPct val="50000"/>
                    </a:spcBef>
                  </a:pPr>
                  <a:r>
                    <a:rPr lang="en-US" altLang="zh-CN" sz="2000" b="1" dirty="0" err="1">
                      <a:solidFill>
                        <a:srgbClr val="002060"/>
                      </a:solidFill>
                    </a:rPr>
                    <a:t>argv</a:t>
                  </a:r>
                  <a:r>
                    <a:rPr lang="en-US" altLang="zh-CN" sz="2000" b="1" dirty="0">
                      <a:solidFill>
                        <a:srgbClr val="002060"/>
                      </a:solidFill>
                    </a:rPr>
                    <a:t>[1]</a:t>
                  </a:r>
                </a:p>
              </p:txBody>
            </p:sp>
          </p:grpSp>
          <p:grpSp>
            <p:nvGrpSpPr>
              <p:cNvPr id="19" name="Group 60">
                <a:extLst>
                  <a:ext uri="{FF2B5EF4-FFF2-40B4-BE49-F238E27FC236}">
                    <a16:creationId xmlns:a16="http://schemas.microsoft.com/office/drawing/2014/main" id="{F9E51853-22CA-4B1D-9630-F71D28683691}"/>
                  </a:ext>
                </a:extLst>
              </p:cNvPr>
              <p:cNvGrpSpPr>
                <a:grpSpLocks/>
              </p:cNvGrpSpPr>
              <p:nvPr/>
            </p:nvGrpSpPr>
            <p:grpSpPr bwMode="auto">
              <a:xfrm>
                <a:off x="2494" y="3949"/>
                <a:ext cx="680" cy="386"/>
                <a:chOff x="1385" y="3947"/>
                <a:chExt cx="680" cy="386"/>
              </a:xfrm>
            </p:grpSpPr>
            <p:sp>
              <p:nvSpPr>
                <p:cNvPr id="27" name="Line 61">
                  <a:extLst>
                    <a:ext uri="{FF2B5EF4-FFF2-40B4-BE49-F238E27FC236}">
                      <a16:creationId xmlns:a16="http://schemas.microsoft.com/office/drawing/2014/main" id="{43CE99C9-1F92-4322-85CE-46DC65F8E9C6}"/>
                    </a:ext>
                  </a:extLst>
                </p:cNvPr>
                <p:cNvSpPr>
                  <a:spLocks noChangeShapeType="1"/>
                </p:cNvSpPr>
                <p:nvPr/>
              </p:nvSpPr>
              <p:spPr bwMode="auto">
                <a:xfrm flipV="1">
                  <a:off x="1621" y="3947"/>
                  <a:ext cx="0" cy="182"/>
                </a:xfrm>
                <a:prstGeom prst="line">
                  <a:avLst/>
                </a:prstGeom>
                <a:noFill/>
                <a:ln w="28575">
                  <a:solidFill>
                    <a:srgbClr val="002060"/>
                  </a:solidFill>
                  <a:round/>
                  <a:headEnd/>
                  <a:tailEnd type="stealth" w="lg" len="lg"/>
                </a:ln>
                <a:effectLst/>
              </p:spPr>
              <p:txBody>
                <a:bodyPr/>
                <a:lstStyle/>
                <a:p>
                  <a:endParaRPr lang="zh-CN" altLang="en-US"/>
                </a:p>
              </p:txBody>
            </p:sp>
            <p:sp>
              <p:nvSpPr>
                <p:cNvPr id="28" name="Text Box 62">
                  <a:extLst>
                    <a:ext uri="{FF2B5EF4-FFF2-40B4-BE49-F238E27FC236}">
                      <a16:creationId xmlns:a16="http://schemas.microsoft.com/office/drawing/2014/main" id="{5585B257-C199-4B2D-B32F-0EDE29ACE630}"/>
                    </a:ext>
                  </a:extLst>
                </p:cNvPr>
                <p:cNvSpPr txBox="1">
                  <a:spLocks noChangeArrowheads="1"/>
                </p:cNvSpPr>
                <p:nvPr/>
              </p:nvSpPr>
              <p:spPr bwMode="auto">
                <a:xfrm>
                  <a:off x="1385" y="4081"/>
                  <a:ext cx="680"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err="1">
                      <a:solidFill>
                        <a:srgbClr val="002060"/>
                      </a:solidFill>
                    </a:rPr>
                    <a:t>argv</a:t>
                  </a:r>
                  <a:r>
                    <a:rPr lang="en-US" altLang="zh-CN" sz="2000" b="1" dirty="0">
                      <a:solidFill>
                        <a:srgbClr val="002060"/>
                      </a:solidFill>
                    </a:rPr>
                    <a:t>[2]</a:t>
                  </a:r>
                </a:p>
              </p:txBody>
            </p:sp>
          </p:grpSp>
          <p:grpSp>
            <p:nvGrpSpPr>
              <p:cNvPr id="20" name="Group 63">
                <a:extLst>
                  <a:ext uri="{FF2B5EF4-FFF2-40B4-BE49-F238E27FC236}">
                    <a16:creationId xmlns:a16="http://schemas.microsoft.com/office/drawing/2014/main" id="{71AC8931-4C59-42E9-B8D8-E66DAF8CFC5F}"/>
                  </a:ext>
                </a:extLst>
              </p:cNvPr>
              <p:cNvGrpSpPr>
                <a:grpSpLocks/>
              </p:cNvGrpSpPr>
              <p:nvPr/>
            </p:nvGrpSpPr>
            <p:grpSpPr bwMode="auto">
              <a:xfrm>
                <a:off x="2930" y="3950"/>
                <a:ext cx="680" cy="386"/>
                <a:chOff x="1271" y="3947"/>
                <a:chExt cx="680" cy="386"/>
              </a:xfrm>
            </p:grpSpPr>
            <p:sp>
              <p:nvSpPr>
                <p:cNvPr id="25" name="Line 64">
                  <a:extLst>
                    <a:ext uri="{FF2B5EF4-FFF2-40B4-BE49-F238E27FC236}">
                      <a16:creationId xmlns:a16="http://schemas.microsoft.com/office/drawing/2014/main" id="{B22E4552-A859-4E7A-8A20-8491B414F6C4}"/>
                    </a:ext>
                  </a:extLst>
                </p:cNvPr>
                <p:cNvSpPr>
                  <a:spLocks noChangeShapeType="1"/>
                </p:cNvSpPr>
                <p:nvPr/>
              </p:nvSpPr>
              <p:spPr bwMode="auto">
                <a:xfrm flipV="1">
                  <a:off x="1507" y="3947"/>
                  <a:ext cx="0" cy="182"/>
                </a:xfrm>
                <a:prstGeom prst="line">
                  <a:avLst/>
                </a:prstGeom>
                <a:noFill/>
                <a:ln w="28575">
                  <a:solidFill>
                    <a:srgbClr val="002060"/>
                  </a:solidFill>
                  <a:round/>
                  <a:headEnd/>
                  <a:tailEnd type="stealth" w="lg" len="lg"/>
                </a:ln>
                <a:effectLst/>
              </p:spPr>
              <p:txBody>
                <a:bodyPr/>
                <a:lstStyle/>
                <a:p>
                  <a:endParaRPr lang="zh-CN" altLang="en-US"/>
                </a:p>
              </p:txBody>
            </p:sp>
            <p:sp>
              <p:nvSpPr>
                <p:cNvPr id="26" name="Text Box 65">
                  <a:extLst>
                    <a:ext uri="{FF2B5EF4-FFF2-40B4-BE49-F238E27FC236}">
                      <a16:creationId xmlns:a16="http://schemas.microsoft.com/office/drawing/2014/main" id="{C43CD962-D519-485B-AB0B-3673BB09AC07}"/>
                    </a:ext>
                  </a:extLst>
                </p:cNvPr>
                <p:cNvSpPr txBox="1">
                  <a:spLocks noChangeArrowheads="1"/>
                </p:cNvSpPr>
                <p:nvPr/>
              </p:nvSpPr>
              <p:spPr bwMode="auto">
                <a:xfrm>
                  <a:off x="1271" y="4081"/>
                  <a:ext cx="680" cy="25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b="1" dirty="0" err="1">
                      <a:solidFill>
                        <a:srgbClr val="002060"/>
                      </a:solidFill>
                    </a:rPr>
                    <a:t>argv</a:t>
                  </a:r>
                  <a:r>
                    <a:rPr lang="en-US" altLang="zh-CN" sz="2000" b="1" dirty="0">
                      <a:solidFill>
                        <a:srgbClr val="002060"/>
                      </a:solidFill>
                    </a:rPr>
                    <a:t>[3]</a:t>
                  </a:r>
                </a:p>
              </p:txBody>
            </p:sp>
          </p:grpSp>
          <p:grpSp>
            <p:nvGrpSpPr>
              <p:cNvPr id="21" name="Group 66">
                <a:extLst>
                  <a:ext uri="{FF2B5EF4-FFF2-40B4-BE49-F238E27FC236}">
                    <a16:creationId xmlns:a16="http://schemas.microsoft.com/office/drawing/2014/main" id="{A51F6645-AC6D-4F8A-B7B5-5011B05C4D9D}"/>
                  </a:ext>
                </a:extLst>
              </p:cNvPr>
              <p:cNvGrpSpPr>
                <a:grpSpLocks/>
              </p:cNvGrpSpPr>
              <p:nvPr/>
            </p:nvGrpSpPr>
            <p:grpSpPr bwMode="auto">
              <a:xfrm>
                <a:off x="3709" y="3951"/>
                <a:ext cx="493" cy="386"/>
                <a:chOff x="1104" y="3947"/>
                <a:chExt cx="493" cy="386"/>
              </a:xfrm>
            </p:grpSpPr>
            <p:sp>
              <p:nvSpPr>
                <p:cNvPr id="23" name="Line 67">
                  <a:extLst>
                    <a:ext uri="{FF2B5EF4-FFF2-40B4-BE49-F238E27FC236}">
                      <a16:creationId xmlns:a16="http://schemas.microsoft.com/office/drawing/2014/main" id="{A7EA6358-94CA-42D6-BBB9-E125FC808858}"/>
                    </a:ext>
                  </a:extLst>
                </p:cNvPr>
                <p:cNvSpPr>
                  <a:spLocks noChangeShapeType="1"/>
                </p:cNvSpPr>
                <p:nvPr/>
              </p:nvSpPr>
              <p:spPr bwMode="auto">
                <a:xfrm flipV="1">
                  <a:off x="1335" y="3947"/>
                  <a:ext cx="0" cy="182"/>
                </a:xfrm>
                <a:prstGeom prst="line">
                  <a:avLst/>
                </a:prstGeom>
                <a:noFill/>
                <a:ln w="28575">
                  <a:solidFill>
                    <a:srgbClr val="002060"/>
                  </a:solidFill>
                  <a:round/>
                  <a:headEnd/>
                  <a:tailEnd type="stealth" w="lg" len="lg"/>
                </a:ln>
                <a:effectLst/>
              </p:spPr>
              <p:txBody>
                <a:bodyPr/>
                <a:lstStyle/>
                <a:p>
                  <a:endParaRPr lang="zh-CN" altLang="en-US"/>
                </a:p>
              </p:txBody>
            </p:sp>
            <p:sp>
              <p:nvSpPr>
                <p:cNvPr id="24" name="Text Box 68">
                  <a:extLst>
                    <a:ext uri="{FF2B5EF4-FFF2-40B4-BE49-F238E27FC236}">
                      <a16:creationId xmlns:a16="http://schemas.microsoft.com/office/drawing/2014/main" id="{4A1C930C-4234-4BA3-A47D-0C3F0A431814}"/>
                    </a:ext>
                  </a:extLst>
                </p:cNvPr>
                <p:cNvSpPr txBox="1">
                  <a:spLocks noChangeArrowheads="1"/>
                </p:cNvSpPr>
                <p:nvPr/>
              </p:nvSpPr>
              <p:spPr bwMode="auto">
                <a:xfrm>
                  <a:off x="1104" y="4081"/>
                  <a:ext cx="493" cy="252"/>
                </a:xfrm>
                <a:prstGeom prst="rect">
                  <a:avLst/>
                </a:prstGeom>
                <a:noFill/>
                <a:ln w="9525" algn="ctr">
                  <a:noFill/>
                  <a:miter lim="800000"/>
                  <a:headEnd/>
                  <a:tailEnd/>
                </a:ln>
                <a:effectLst/>
              </p:spPr>
              <p:txBody>
                <a:bodyPr wrap="square">
                  <a:spAutoFit/>
                </a:bodyPr>
                <a:lstStyle/>
                <a:p>
                  <a:pPr marL="342900" indent="-342900">
                    <a:spcBef>
                      <a:spcPct val="50000"/>
                    </a:spcBef>
                  </a:pPr>
                  <a:r>
                    <a:rPr lang="en-US" altLang="zh-CN" sz="2000" b="1" dirty="0" err="1">
                      <a:solidFill>
                        <a:srgbClr val="002060"/>
                      </a:solidFill>
                    </a:rPr>
                    <a:t>argv</a:t>
                  </a:r>
                  <a:r>
                    <a:rPr lang="en-US" altLang="zh-CN" sz="2000" b="1" dirty="0">
                      <a:solidFill>
                        <a:srgbClr val="002060"/>
                      </a:solidFill>
                    </a:rPr>
                    <a:t>[n]</a:t>
                  </a:r>
                </a:p>
              </p:txBody>
            </p:sp>
          </p:grpSp>
          <p:sp>
            <p:nvSpPr>
              <p:cNvPr id="22" name="Text Box 69">
                <a:extLst>
                  <a:ext uri="{FF2B5EF4-FFF2-40B4-BE49-F238E27FC236}">
                    <a16:creationId xmlns:a16="http://schemas.microsoft.com/office/drawing/2014/main" id="{95E98BC9-A6CF-4EF6-AE46-86F122B26881}"/>
                  </a:ext>
                </a:extLst>
              </p:cNvPr>
              <p:cNvSpPr txBox="1">
                <a:spLocks noChangeArrowheads="1"/>
              </p:cNvSpPr>
              <p:nvPr/>
            </p:nvSpPr>
            <p:spPr bwMode="auto">
              <a:xfrm>
                <a:off x="3358" y="3929"/>
                <a:ext cx="368" cy="291"/>
              </a:xfrm>
              <a:prstGeom prst="rect">
                <a:avLst/>
              </a:prstGeom>
              <a:noFill/>
              <a:ln w="9525" algn="ctr">
                <a:noFill/>
                <a:miter lim="800000"/>
                <a:headEnd/>
                <a:tailEnd/>
              </a:ln>
              <a:effectLst/>
            </p:spPr>
            <p:txBody>
              <a:bodyPr wrap="square">
                <a:spAutoFit/>
              </a:bodyPr>
              <a:lstStyle/>
              <a:p>
                <a:pPr marL="342900" indent="-342900">
                  <a:spcBef>
                    <a:spcPct val="50000"/>
                  </a:spcBef>
                </a:pPr>
                <a:r>
                  <a:rPr lang="en-US" altLang="zh-CN" b="1" dirty="0">
                    <a:solidFill>
                      <a:srgbClr val="002060"/>
                    </a:solidFill>
                  </a:rPr>
                  <a:t>……</a:t>
                </a:r>
              </a:p>
            </p:txBody>
          </p:sp>
        </p:grpSp>
      </p:grpSp>
      <p:sp>
        <p:nvSpPr>
          <p:cNvPr id="35" name="Rectangle 4">
            <a:extLst>
              <a:ext uri="{FF2B5EF4-FFF2-40B4-BE49-F238E27FC236}">
                <a16:creationId xmlns:a16="http://schemas.microsoft.com/office/drawing/2014/main" id="{C1C4B675-D78A-4857-9A28-62ECFEB45364}"/>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带参数的</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main</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函数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out)">
                                      <p:cBhvr>
                                        <p:cTn id="13" dur="500"/>
                                        <p:tgtEl>
                                          <p:spTgt spid="13"/>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221638"/>
                                        </p:tgtEl>
                                        <p:attrNameLst>
                                          <p:attrName>style.visibility</p:attrName>
                                        </p:attrNameLst>
                                      </p:cBhvr>
                                      <p:to>
                                        <p:strVal val="visible"/>
                                      </p:to>
                                    </p:set>
                                    <p:anim calcmode="lin" valueType="num">
                                      <p:cBhvr additive="base">
                                        <p:cTn id="18" dur="500" fill="hold"/>
                                        <p:tgtEl>
                                          <p:spTgt spid="1221638"/>
                                        </p:tgtEl>
                                        <p:attrNameLst>
                                          <p:attrName>ppt_x</p:attrName>
                                        </p:attrNameLst>
                                      </p:cBhvr>
                                      <p:tavLst>
                                        <p:tav tm="0">
                                          <p:val>
                                            <p:strVal val="0-#ppt_w/2"/>
                                          </p:val>
                                        </p:tav>
                                        <p:tav tm="100000">
                                          <p:val>
                                            <p:strVal val="#ppt_x"/>
                                          </p:val>
                                        </p:tav>
                                      </p:tavLst>
                                    </p:anim>
                                    <p:anim calcmode="lin" valueType="num">
                                      <p:cBhvr additive="base">
                                        <p:cTn id="19" dur="500" fill="hold"/>
                                        <p:tgtEl>
                                          <p:spTgt spid="12216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1221678"/>
                                        </p:tgtEl>
                                        <p:attrNameLst>
                                          <p:attrName>style.visibility</p:attrName>
                                        </p:attrNameLst>
                                      </p:cBhvr>
                                      <p:to>
                                        <p:strVal val="visible"/>
                                      </p:to>
                                    </p:set>
                                    <p:animEffect transition="in" filter="box(out)">
                                      <p:cBhvr>
                                        <p:cTn id="24" dur="500"/>
                                        <p:tgtEl>
                                          <p:spTgt spid="1221678"/>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221679"/>
                                        </p:tgtEl>
                                        <p:attrNameLst>
                                          <p:attrName>style.visibility</p:attrName>
                                        </p:attrNameLst>
                                      </p:cBhvr>
                                      <p:to>
                                        <p:strVal val="visible"/>
                                      </p:to>
                                    </p:set>
                                    <p:animEffect transition="in" filter="box(out)">
                                      <p:cBhvr>
                                        <p:cTn id="29" dur="500"/>
                                        <p:tgtEl>
                                          <p:spTgt spid="1221679"/>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1638" grpId="0"/>
      <p:bldP spid="1221679" grpId="0" animBg="1" autoUpdateAnimBg="0"/>
      <p:bldP spid="1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2660" name="Text Box 4"/>
          <p:cNvSpPr txBox="1">
            <a:spLocks noChangeArrowheads="1"/>
          </p:cNvSpPr>
          <p:nvPr/>
        </p:nvSpPr>
        <p:spPr bwMode="auto">
          <a:xfrm>
            <a:off x="839416" y="790070"/>
            <a:ext cx="3433953" cy="461665"/>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1】</a:t>
            </a:r>
            <a:r>
              <a:rPr lang="zh-CN" altLang="en-US" b="1" dirty="0">
                <a:solidFill>
                  <a:srgbClr val="C00000"/>
                </a:solidFill>
                <a:latin typeface="楷体" panose="02010609060101010101" pitchFamily="49" charset="-122"/>
                <a:ea typeface="楷体" panose="02010609060101010101" pitchFamily="49" charset="-122"/>
              </a:rPr>
              <a:t>输出命令行参数</a:t>
            </a:r>
          </a:p>
        </p:txBody>
      </p:sp>
      <p:sp>
        <p:nvSpPr>
          <p:cNvPr id="1222661" name="Rectangle 5" descr="信纸"/>
          <p:cNvSpPr>
            <a:spLocks noChangeArrowheads="1"/>
          </p:cNvSpPr>
          <p:nvPr/>
        </p:nvSpPr>
        <p:spPr bwMode="auto">
          <a:xfrm>
            <a:off x="673745" y="1247270"/>
            <a:ext cx="6830908" cy="3477875"/>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sz="2000" dirty="0">
                <a:solidFill>
                  <a:schemeClr val="accent2">
                    <a:lumMod val="50000"/>
                  </a:schemeClr>
                </a:solidFill>
                <a:ea typeface="宋体" pitchFamily="2" charset="-122"/>
              </a:rPr>
              <a:t>//test.cpp</a:t>
            </a:r>
          </a:p>
          <a:p>
            <a:pPr eaLnBrk="0" hangingPunct="0">
              <a:lnSpc>
                <a:spcPct val="100000"/>
              </a:lnSpc>
              <a:spcBef>
                <a:spcPct val="0"/>
              </a:spcBef>
            </a:pPr>
            <a:r>
              <a:rPr lang="en-US" altLang="zh-CN" sz="2000" dirty="0" err="1">
                <a:solidFill>
                  <a:srgbClr val="CC0099"/>
                </a:solidFill>
                <a:ea typeface="宋体" pitchFamily="2" charset="-122"/>
              </a:rPr>
              <a:t>int</a:t>
            </a:r>
            <a:r>
              <a:rPr lang="en-US" altLang="zh-CN" sz="2000" dirty="0">
                <a:solidFill>
                  <a:srgbClr val="CC0099"/>
                </a:solidFill>
                <a:ea typeface="宋体" pitchFamily="2" charset="-122"/>
              </a:rPr>
              <a:t> main(</a:t>
            </a:r>
            <a:r>
              <a:rPr lang="en-US" altLang="zh-CN" sz="2000" dirty="0" err="1">
                <a:solidFill>
                  <a:srgbClr val="CC0099"/>
                </a:solidFill>
                <a:ea typeface="宋体" pitchFamily="2" charset="-122"/>
              </a:rPr>
              <a:t>int</a:t>
            </a:r>
            <a:r>
              <a:rPr lang="en-US" altLang="zh-CN" sz="2000" dirty="0">
                <a:solidFill>
                  <a:srgbClr val="CC0099"/>
                </a:solidFill>
                <a:ea typeface="宋体" pitchFamily="2" charset="-122"/>
              </a:rPr>
              <a:t>  </a:t>
            </a:r>
            <a:r>
              <a:rPr lang="en-US" altLang="zh-CN" sz="2000" dirty="0" err="1">
                <a:solidFill>
                  <a:srgbClr val="CC0099"/>
                </a:solidFill>
                <a:ea typeface="宋体" pitchFamily="2" charset="-122"/>
              </a:rPr>
              <a:t>argc</a:t>
            </a:r>
            <a:r>
              <a:rPr lang="en-US" altLang="zh-CN" sz="2000" dirty="0">
                <a:solidFill>
                  <a:srgbClr val="CC0099"/>
                </a:solidFill>
                <a:ea typeface="宋体" pitchFamily="2" charset="-122"/>
              </a:rPr>
              <a:t>, char *</a:t>
            </a:r>
            <a:r>
              <a:rPr lang="en-US" altLang="zh-CN" sz="2000" dirty="0" err="1">
                <a:solidFill>
                  <a:srgbClr val="CC0099"/>
                </a:solidFill>
                <a:ea typeface="宋体" pitchFamily="2" charset="-122"/>
              </a:rPr>
              <a:t>argv</a:t>
            </a:r>
            <a:r>
              <a:rPr lang="en-US" altLang="zh-CN" sz="2000" dirty="0">
                <a:solidFill>
                  <a:srgbClr val="CC0099"/>
                </a:solidFill>
                <a:ea typeface="宋体" pitchFamily="2" charset="-122"/>
              </a:rPr>
              <a:t>[])</a:t>
            </a:r>
          </a:p>
          <a:p>
            <a:pPr eaLnBrk="0" hangingPunct="0">
              <a:lnSpc>
                <a:spcPct val="100000"/>
              </a:lnSpc>
              <a:spcBef>
                <a:spcPct val="0"/>
              </a:spcBef>
            </a:pPr>
            <a:r>
              <a:rPr lang="en-US" altLang="zh-CN" sz="2000" dirty="0">
                <a:ea typeface="宋体" pitchFamily="2" charset="-122"/>
              </a:rPr>
              <a:t>{   </a:t>
            </a:r>
          </a:p>
          <a:p>
            <a:pPr eaLnBrk="0" hangingPunct="0">
              <a:lnSpc>
                <a:spcPct val="100000"/>
              </a:lnSpc>
              <a:spcBef>
                <a:spcPct val="0"/>
              </a:spcBef>
            </a:pPr>
            <a:r>
              <a:rPr lang="en-US" altLang="zh-CN" sz="2000" dirty="0">
                <a:ea typeface="宋体" pitchFamily="2" charset="-122"/>
              </a:rPr>
              <a:t>   while (</a:t>
            </a:r>
            <a:r>
              <a:rPr lang="en-US" altLang="zh-CN" sz="2000" dirty="0" err="1">
                <a:ea typeface="宋体" pitchFamily="2" charset="-122"/>
              </a:rPr>
              <a:t>argc</a:t>
            </a:r>
            <a:r>
              <a:rPr lang="en-US" altLang="zh-CN" sz="2000" dirty="0">
                <a:ea typeface="宋体" pitchFamily="2" charset="-122"/>
              </a:rPr>
              <a:t> &gt; 1)</a:t>
            </a:r>
          </a:p>
          <a:p>
            <a:pPr eaLnBrk="0" hangingPunct="0">
              <a:lnSpc>
                <a:spcPct val="100000"/>
              </a:lnSpc>
              <a:spcBef>
                <a:spcPct val="0"/>
              </a:spcBef>
            </a:pPr>
            <a:r>
              <a:rPr lang="en-US" altLang="zh-CN" sz="2000" dirty="0">
                <a:ea typeface="宋体" pitchFamily="2" charset="-122"/>
              </a:rPr>
              <a:t>   { </a:t>
            </a:r>
          </a:p>
          <a:p>
            <a:pPr eaLnBrk="0" hangingPunct="0">
              <a:lnSpc>
                <a:spcPct val="100000"/>
              </a:lnSpc>
              <a:spcBef>
                <a:spcPct val="0"/>
              </a:spcBef>
            </a:pPr>
            <a:r>
              <a:rPr lang="en-US" altLang="zh-CN" sz="2000" dirty="0">
                <a:ea typeface="宋体" pitchFamily="2" charset="-122"/>
              </a:rPr>
              <a:t>      ++</a:t>
            </a:r>
            <a:r>
              <a:rPr lang="en-US" altLang="zh-CN" sz="2000" dirty="0" err="1">
                <a:ea typeface="宋体" pitchFamily="2" charset="-122"/>
              </a:rPr>
              <a:t>argv</a:t>
            </a:r>
            <a:r>
              <a:rPr lang="en-US" altLang="zh-CN" sz="2000" dirty="0">
                <a:ea typeface="宋体" pitchFamily="2" charset="-122"/>
              </a:rPr>
              <a:t>;</a:t>
            </a:r>
          </a:p>
          <a:p>
            <a:pPr eaLnBrk="0" hangingPunct="0">
              <a:lnSpc>
                <a:spcPct val="100000"/>
              </a:lnSpc>
              <a:spcBef>
                <a:spcPct val="0"/>
              </a:spcBef>
            </a:pPr>
            <a:r>
              <a:rPr lang="en-US" altLang="zh-CN" sz="2000" dirty="0">
                <a:ea typeface="宋体" pitchFamily="2" charset="-122"/>
              </a:rPr>
              <a:t>      </a:t>
            </a:r>
            <a:r>
              <a:rPr lang="en-US" altLang="zh-CN" sz="2000" dirty="0" err="1">
                <a:ea typeface="宋体" pitchFamily="2" charset="-122"/>
              </a:rPr>
              <a:t>printf</a:t>
            </a:r>
            <a:r>
              <a:rPr lang="en-US" altLang="zh-CN" sz="2000" dirty="0">
                <a:ea typeface="宋体" pitchFamily="2" charset="-122"/>
              </a:rPr>
              <a:t>("%s\n",*</a:t>
            </a:r>
            <a:r>
              <a:rPr lang="en-US" altLang="zh-CN" sz="2000" dirty="0" err="1">
                <a:ea typeface="宋体" pitchFamily="2" charset="-122"/>
              </a:rPr>
              <a:t>argv</a:t>
            </a:r>
            <a:r>
              <a:rPr lang="en-US" altLang="zh-CN" sz="2000" dirty="0">
                <a:ea typeface="宋体" pitchFamily="2" charset="-122"/>
              </a:rPr>
              <a:t>);</a:t>
            </a:r>
          </a:p>
          <a:p>
            <a:pPr eaLnBrk="0" hangingPunct="0">
              <a:lnSpc>
                <a:spcPct val="100000"/>
              </a:lnSpc>
              <a:spcBef>
                <a:spcPct val="0"/>
              </a:spcBef>
            </a:pPr>
            <a:r>
              <a:rPr lang="en-US" altLang="zh-CN" sz="2000" dirty="0">
                <a:ea typeface="宋体" pitchFamily="2" charset="-122"/>
              </a:rPr>
              <a:t>      --</a:t>
            </a:r>
            <a:r>
              <a:rPr lang="en-US" altLang="zh-CN" sz="2000" dirty="0" err="1">
                <a:ea typeface="宋体" pitchFamily="2" charset="-122"/>
              </a:rPr>
              <a:t>argc</a:t>
            </a:r>
            <a:r>
              <a:rPr lang="en-US" altLang="zh-CN" sz="2000" dirty="0">
                <a:ea typeface="宋体" pitchFamily="2" charset="-122"/>
              </a:rPr>
              <a:t>;</a:t>
            </a:r>
          </a:p>
          <a:p>
            <a:pPr eaLnBrk="0" hangingPunct="0">
              <a:lnSpc>
                <a:spcPct val="100000"/>
              </a:lnSpc>
              <a:spcBef>
                <a:spcPct val="0"/>
              </a:spcBef>
            </a:pPr>
            <a:r>
              <a:rPr lang="en-US" altLang="zh-CN" sz="2000" dirty="0">
                <a:ea typeface="宋体" pitchFamily="2" charset="-122"/>
              </a:rPr>
              <a:t>   }</a:t>
            </a:r>
          </a:p>
          <a:p>
            <a:pPr eaLnBrk="0" hangingPunct="0">
              <a:lnSpc>
                <a:spcPct val="100000"/>
              </a:lnSpc>
              <a:spcBef>
                <a:spcPct val="0"/>
              </a:spcBef>
            </a:pPr>
            <a:r>
              <a:rPr lang="en-US" altLang="zh-CN" sz="2000" dirty="0">
                <a:ea typeface="宋体" pitchFamily="2" charset="-122"/>
              </a:rPr>
              <a:t>   return 0;</a:t>
            </a:r>
          </a:p>
          <a:p>
            <a:pPr eaLnBrk="0" hangingPunct="0">
              <a:lnSpc>
                <a:spcPct val="100000"/>
              </a:lnSpc>
              <a:spcBef>
                <a:spcPct val="0"/>
              </a:spcBef>
            </a:pPr>
            <a:r>
              <a:rPr lang="en-US" altLang="zh-CN" sz="2000" dirty="0">
                <a:ea typeface="宋体" pitchFamily="2" charset="-122"/>
              </a:rPr>
              <a:t>}</a:t>
            </a:r>
          </a:p>
        </p:txBody>
      </p:sp>
      <p:sp>
        <p:nvSpPr>
          <p:cNvPr id="1222662" name="Rectangle 6" descr="新闻纸"/>
          <p:cNvSpPr>
            <a:spLocks noChangeArrowheads="1"/>
          </p:cNvSpPr>
          <p:nvPr/>
        </p:nvSpPr>
        <p:spPr bwMode="auto">
          <a:xfrm>
            <a:off x="7896200" y="3513202"/>
            <a:ext cx="4032448" cy="1938992"/>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sz="2000" dirty="0" err="1">
                <a:solidFill>
                  <a:srgbClr val="002060"/>
                </a:solidFill>
                <a:ea typeface="宋体" pitchFamily="2" charset="-122"/>
              </a:rPr>
              <a:t>int</a:t>
            </a:r>
            <a:r>
              <a:rPr lang="en-US" altLang="zh-CN" sz="2000" dirty="0">
                <a:solidFill>
                  <a:srgbClr val="002060"/>
                </a:solidFill>
                <a:ea typeface="宋体" pitchFamily="2" charset="-122"/>
              </a:rPr>
              <a:t> main(</a:t>
            </a:r>
            <a:r>
              <a:rPr lang="en-US" altLang="zh-CN" sz="2000" dirty="0" err="1">
                <a:solidFill>
                  <a:srgbClr val="002060"/>
                </a:solidFill>
                <a:ea typeface="宋体" pitchFamily="2" charset="-122"/>
              </a:rPr>
              <a:t>int</a:t>
            </a:r>
            <a:r>
              <a:rPr lang="en-US" altLang="zh-CN" sz="2000" dirty="0">
                <a:solidFill>
                  <a:srgbClr val="002060"/>
                </a:solidFill>
                <a:ea typeface="宋体" pitchFamily="2" charset="-122"/>
              </a:rPr>
              <a:t>  </a:t>
            </a:r>
            <a:r>
              <a:rPr lang="en-US" altLang="zh-CN" sz="2000" dirty="0" err="1">
                <a:solidFill>
                  <a:srgbClr val="002060"/>
                </a:solidFill>
                <a:ea typeface="宋体" pitchFamily="2" charset="-122"/>
              </a:rPr>
              <a:t>argc</a:t>
            </a:r>
            <a:r>
              <a:rPr lang="en-US" altLang="zh-CN" sz="2000" dirty="0">
                <a:solidFill>
                  <a:srgbClr val="002060"/>
                </a:solidFill>
                <a:ea typeface="宋体" pitchFamily="2" charset="-122"/>
              </a:rPr>
              <a:t>, char  *</a:t>
            </a:r>
            <a:r>
              <a:rPr lang="en-US" altLang="zh-CN" sz="2000" dirty="0" err="1">
                <a:solidFill>
                  <a:srgbClr val="002060"/>
                </a:solidFill>
                <a:ea typeface="宋体" pitchFamily="2" charset="-122"/>
              </a:rPr>
              <a:t>argv</a:t>
            </a:r>
            <a:r>
              <a:rPr lang="en-US" altLang="zh-CN" sz="2000" dirty="0">
                <a:solidFill>
                  <a:srgbClr val="002060"/>
                </a:solidFill>
                <a:ea typeface="宋体" pitchFamily="2" charset="-122"/>
              </a:rPr>
              <a:t>[])</a:t>
            </a:r>
          </a:p>
          <a:p>
            <a:pPr eaLnBrk="0" hangingPunct="0">
              <a:lnSpc>
                <a:spcPct val="100000"/>
              </a:lnSpc>
              <a:spcBef>
                <a:spcPct val="0"/>
              </a:spcBef>
            </a:pPr>
            <a:r>
              <a:rPr lang="en-US" altLang="zh-CN" sz="2000" dirty="0">
                <a:ea typeface="宋体" pitchFamily="2" charset="-122"/>
              </a:rPr>
              <a:t>{   </a:t>
            </a:r>
          </a:p>
          <a:p>
            <a:pPr eaLnBrk="0" hangingPunct="0">
              <a:lnSpc>
                <a:spcPct val="100000"/>
              </a:lnSpc>
              <a:spcBef>
                <a:spcPct val="0"/>
              </a:spcBef>
            </a:pPr>
            <a:r>
              <a:rPr lang="en-US" altLang="zh-CN" sz="2000" dirty="0">
                <a:ea typeface="宋体" pitchFamily="2" charset="-122"/>
              </a:rPr>
              <a:t>   while (</a:t>
            </a:r>
            <a:r>
              <a:rPr lang="en-US" altLang="zh-CN" sz="2000" dirty="0" err="1">
                <a:ea typeface="宋体" pitchFamily="2" charset="-122"/>
              </a:rPr>
              <a:t>argc</a:t>
            </a:r>
            <a:r>
              <a:rPr lang="en-US" altLang="zh-CN" sz="2000" dirty="0">
                <a:ea typeface="宋体" pitchFamily="2" charset="-122"/>
              </a:rPr>
              <a:t>-- &gt; 0)</a:t>
            </a:r>
          </a:p>
          <a:p>
            <a:pPr eaLnBrk="0" hangingPunct="0">
              <a:lnSpc>
                <a:spcPct val="100000"/>
              </a:lnSpc>
              <a:spcBef>
                <a:spcPct val="0"/>
              </a:spcBef>
            </a:pPr>
            <a:r>
              <a:rPr lang="en-US" altLang="zh-CN" sz="2000" dirty="0">
                <a:ea typeface="宋体" pitchFamily="2" charset="-122"/>
              </a:rPr>
              <a:t>        </a:t>
            </a:r>
            <a:r>
              <a:rPr lang="en-US" altLang="zh-CN" sz="2000" dirty="0" err="1">
                <a:ea typeface="宋体" pitchFamily="2" charset="-122"/>
              </a:rPr>
              <a:t>printf</a:t>
            </a:r>
            <a:r>
              <a:rPr lang="en-US" altLang="zh-CN" sz="2000" dirty="0">
                <a:ea typeface="宋体" pitchFamily="2" charset="-122"/>
              </a:rPr>
              <a:t> ("%s\n", *</a:t>
            </a:r>
            <a:r>
              <a:rPr lang="en-US" altLang="zh-CN" sz="2000" dirty="0" err="1">
                <a:ea typeface="宋体" pitchFamily="2" charset="-122"/>
              </a:rPr>
              <a:t>argv</a:t>
            </a:r>
            <a:r>
              <a:rPr lang="en-US" altLang="zh-CN" sz="2000" dirty="0">
                <a:ea typeface="宋体" pitchFamily="2" charset="-122"/>
              </a:rPr>
              <a:t>++);</a:t>
            </a:r>
          </a:p>
          <a:p>
            <a:pPr eaLnBrk="0" hangingPunct="0">
              <a:lnSpc>
                <a:spcPct val="100000"/>
              </a:lnSpc>
              <a:spcBef>
                <a:spcPct val="0"/>
              </a:spcBef>
            </a:pPr>
            <a:r>
              <a:rPr lang="en-US" altLang="zh-CN" sz="2000" dirty="0">
                <a:ea typeface="宋体" pitchFamily="2" charset="-122"/>
              </a:rPr>
              <a:t>    return 0;</a:t>
            </a:r>
          </a:p>
          <a:p>
            <a:pPr eaLnBrk="0" hangingPunct="0">
              <a:lnSpc>
                <a:spcPct val="100000"/>
              </a:lnSpc>
              <a:spcBef>
                <a:spcPct val="0"/>
              </a:spcBef>
            </a:pPr>
            <a:r>
              <a:rPr lang="en-US" altLang="zh-CN" sz="2000" dirty="0">
                <a:ea typeface="宋体" pitchFamily="2" charset="-122"/>
              </a:rPr>
              <a:t>}</a:t>
            </a:r>
          </a:p>
        </p:txBody>
      </p:sp>
      <p:sp>
        <p:nvSpPr>
          <p:cNvPr id="1222663" name="Rectangle 7"/>
          <p:cNvSpPr>
            <a:spLocks noChangeArrowheads="1"/>
          </p:cNvSpPr>
          <p:nvPr/>
        </p:nvSpPr>
        <p:spPr bwMode="auto">
          <a:xfrm>
            <a:off x="695325" y="4920623"/>
            <a:ext cx="6846971" cy="833178"/>
          </a:xfrm>
          <a:prstGeom prst="rect">
            <a:avLst/>
          </a:prstGeom>
          <a:gradFill rotWithShape="1">
            <a:gsLst>
              <a:gs pos="0">
                <a:srgbClr val="CFCFD1"/>
              </a:gs>
              <a:gs pos="100000">
                <a:srgbClr val="FFFFFF"/>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dirty="0">
                <a:ea typeface="隶书" pitchFamily="49" charset="-122"/>
              </a:rPr>
              <a:t>1.  </a:t>
            </a:r>
            <a:r>
              <a:rPr lang="zh-CN" altLang="en-US" dirty="0">
                <a:ea typeface="隶书" pitchFamily="49" charset="-122"/>
              </a:rPr>
              <a:t>编译、链接</a:t>
            </a:r>
            <a:r>
              <a:rPr lang="en-US" altLang="zh-CN" dirty="0">
                <a:ea typeface="隶书" pitchFamily="49" charset="-122"/>
              </a:rPr>
              <a:t>test.cpp</a:t>
            </a:r>
            <a:r>
              <a:rPr lang="zh-CN" altLang="en-US" dirty="0">
                <a:ea typeface="隶书" pitchFamily="49" charset="-122"/>
              </a:rPr>
              <a:t>，生成可执行文件</a:t>
            </a:r>
            <a:r>
              <a:rPr lang="en-US" altLang="zh-CN" dirty="0">
                <a:solidFill>
                  <a:srgbClr val="002060"/>
                </a:solidFill>
                <a:ea typeface="隶书" pitchFamily="49" charset="-122"/>
              </a:rPr>
              <a:t>test.exe</a:t>
            </a:r>
          </a:p>
          <a:p>
            <a:pPr>
              <a:lnSpc>
                <a:spcPct val="100000"/>
              </a:lnSpc>
              <a:spcBef>
                <a:spcPct val="0"/>
              </a:spcBef>
            </a:pPr>
            <a:r>
              <a:rPr lang="en-US" altLang="zh-CN" dirty="0">
                <a:ea typeface="隶书" pitchFamily="49" charset="-122"/>
              </a:rPr>
              <a:t>2.  </a:t>
            </a:r>
            <a:r>
              <a:rPr lang="zh-CN" altLang="en-US" dirty="0">
                <a:ea typeface="隶书" pitchFamily="49" charset="-122"/>
              </a:rPr>
              <a:t>在命令提示符状态下运行</a:t>
            </a:r>
            <a:r>
              <a:rPr lang="en-US" altLang="zh-CN" dirty="0">
                <a:ea typeface="隶书" pitchFamily="49" charset="-122"/>
              </a:rPr>
              <a:t>(test.exe</a:t>
            </a:r>
            <a:r>
              <a:rPr lang="zh-CN" altLang="zh-CN" dirty="0">
                <a:ea typeface="隶书" pitchFamily="49" charset="-122"/>
              </a:rPr>
              <a:t>所在路径下）</a:t>
            </a:r>
            <a:endParaRPr lang="zh-CN" altLang="en-US" dirty="0">
              <a:ea typeface="隶书" pitchFamily="49" charset="-122"/>
            </a:endParaRPr>
          </a:p>
        </p:txBody>
      </p:sp>
      <p:sp>
        <p:nvSpPr>
          <p:cNvPr id="1222664" name="Rectangle 8"/>
          <p:cNvSpPr>
            <a:spLocks noChangeArrowheads="1"/>
          </p:cNvSpPr>
          <p:nvPr/>
        </p:nvSpPr>
        <p:spPr bwMode="auto">
          <a:xfrm>
            <a:off x="660240" y="5949280"/>
            <a:ext cx="6844414" cy="463846"/>
          </a:xfrm>
          <a:prstGeom prst="rect">
            <a:avLst/>
          </a:prstGeom>
          <a:gradFill rotWithShape="1">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C00000"/>
                </a:solidFill>
                <a:ea typeface="隶书" pitchFamily="49" charset="-122"/>
              </a:rPr>
              <a:t>例如： </a:t>
            </a:r>
            <a:r>
              <a:rPr lang="en-US" altLang="zh-CN" dirty="0">
                <a:ea typeface="隶书" pitchFamily="49" charset="-122"/>
              </a:rPr>
              <a:t>C:\TC&gt;</a:t>
            </a:r>
            <a:r>
              <a:rPr lang="en-US" altLang="zh-CN" dirty="0">
                <a:solidFill>
                  <a:srgbClr val="002060"/>
                </a:solidFill>
                <a:ea typeface="隶书" pitchFamily="49" charset="-122"/>
              </a:rPr>
              <a:t> test</a:t>
            </a:r>
            <a:r>
              <a:rPr lang="en-US" altLang="zh-CN" dirty="0">
                <a:solidFill>
                  <a:schemeClr val="bg2"/>
                </a:solidFill>
                <a:ea typeface="隶书" pitchFamily="49" charset="-122"/>
              </a:rPr>
              <a:t>[.exe]</a:t>
            </a:r>
            <a:r>
              <a:rPr lang="en-US" altLang="zh-CN" dirty="0">
                <a:ea typeface="隶书" pitchFamily="49" charset="-122"/>
              </a:rPr>
              <a:t>   </a:t>
            </a:r>
            <a:r>
              <a:rPr lang="en-US" altLang="zh-CN" dirty="0">
                <a:solidFill>
                  <a:srgbClr val="000099"/>
                </a:solidFill>
                <a:ea typeface="隶书" pitchFamily="49" charset="-122"/>
              </a:rPr>
              <a:t> </a:t>
            </a:r>
            <a:r>
              <a:rPr lang="en-US" altLang="zh-CN" dirty="0">
                <a:solidFill>
                  <a:srgbClr val="002060"/>
                </a:solidFill>
                <a:ea typeface="隶书" pitchFamily="49" charset="-122"/>
              </a:rPr>
              <a:t>hello   world!</a:t>
            </a:r>
          </a:p>
        </p:txBody>
      </p:sp>
      <p:sp>
        <p:nvSpPr>
          <p:cNvPr id="1222665" name="Rectangle 9"/>
          <p:cNvSpPr>
            <a:spLocks noChangeArrowheads="1"/>
          </p:cNvSpPr>
          <p:nvPr/>
        </p:nvSpPr>
        <p:spPr bwMode="auto">
          <a:xfrm>
            <a:off x="5054899" y="3789040"/>
            <a:ext cx="2193229" cy="707886"/>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a:lnSpc>
                <a:spcPct val="100000"/>
              </a:lnSpc>
              <a:spcBef>
                <a:spcPct val="0"/>
              </a:spcBef>
            </a:pPr>
            <a:r>
              <a:rPr lang="zh-CN" altLang="en-US" sz="2000" dirty="0">
                <a:solidFill>
                  <a:srgbClr val="C00000"/>
                </a:solidFill>
                <a:latin typeface="隶书" pitchFamily="49" charset="-122"/>
                <a:ea typeface="隶书" pitchFamily="49" charset="-122"/>
              </a:rPr>
              <a:t>运行结果：</a:t>
            </a:r>
            <a:r>
              <a:rPr lang="en-US" altLang="zh-CN" sz="2000" dirty="0">
                <a:solidFill>
                  <a:srgbClr val="002060"/>
                </a:solidFill>
                <a:ea typeface="宋体" pitchFamily="2" charset="-122"/>
              </a:rPr>
              <a:t>hello</a:t>
            </a:r>
          </a:p>
          <a:p>
            <a:pPr>
              <a:lnSpc>
                <a:spcPct val="100000"/>
              </a:lnSpc>
              <a:spcBef>
                <a:spcPct val="0"/>
              </a:spcBef>
            </a:pPr>
            <a:r>
              <a:rPr lang="en-US" altLang="zh-CN" sz="2000" dirty="0">
                <a:solidFill>
                  <a:srgbClr val="002060"/>
                </a:solidFill>
                <a:ea typeface="宋体" pitchFamily="2" charset="-122"/>
              </a:rPr>
              <a:t>                    world!</a:t>
            </a:r>
          </a:p>
        </p:txBody>
      </p:sp>
      <p:sp>
        <p:nvSpPr>
          <p:cNvPr id="1222666" name="Rectangle 10"/>
          <p:cNvSpPr>
            <a:spLocks noChangeArrowheads="1"/>
          </p:cNvSpPr>
          <p:nvPr/>
        </p:nvSpPr>
        <p:spPr bwMode="auto">
          <a:xfrm>
            <a:off x="8552036" y="5136628"/>
            <a:ext cx="2211387" cy="104457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a:lnSpc>
                <a:spcPct val="100000"/>
              </a:lnSpc>
              <a:spcBef>
                <a:spcPct val="0"/>
              </a:spcBef>
            </a:pPr>
            <a:r>
              <a:rPr lang="zh-CN" altLang="en-US" sz="2000" dirty="0">
                <a:solidFill>
                  <a:srgbClr val="C00000"/>
                </a:solidFill>
                <a:latin typeface="隶书" pitchFamily="49" charset="-122"/>
                <a:ea typeface="隶书" pitchFamily="49" charset="-122"/>
              </a:rPr>
              <a:t>运行结果：</a:t>
            </a:r>
            <a:r>
              <a:rPr lang="en-US" altLang="zh-CN" sz="2000" dirty="0">
                <a:solidFill>
                  <a:srgbClr val="002060"/>
                </a:solidFill>
                <a:ea typeface="宋体" pitchFamily="2" charset="-122"/>
              </a:rPr>
              <a:t>test</a:t>
            </a:r>
          </a:p>
          <a:p>
            <a:pPr>
              <a:lnSpc>
                <a:spcPct val="100000"/>
              </a:lnSpc>
              <a:spcBef>
                <a:spcPct val="0"/>
              </a:spcBef>
            </a:pPr>
            <a:r>
              <a:rPr lang="en-US" altLang="zh-CN" sz="2000" dirty="0">
                <a:solidFill>
                  <a:srgbClr val="002060"/>
                </a:solidFill>
                <a:ea typeface="宋体" pitchFamily="2" charset="-122"/>
              </a:rPr>
              <a:t>                    hello</a:t>
            </a:r>
          </a:p>
          <a:p>
            <a:pPr>
              <a:lnSpc>
                <a:spcPct val="100000"/>
              </a:lnSpc>
              <a:spcBef>
                <a:spcPct val="0"/>
              </a:spcBef>
            </a:pPr>
            <a:r>
              <a:rPr lang="en-US" altLang="zh-CN" sz="2000" dirty="0">
                <a:solidFill>
                  <a:srgbClr val="002060"/>
                </a:solidFill>
                <a:ea typeface="宋体" pitchFamily="2" charset="-122"/>
              </a:rPr>
              <a:t>                    world!</a:t>
            </a:r>
          </a:p>
        </p:txBody>
      </p:sp>
      <p:grpSp>
        <p:nvGrpSpPr>
          <p:cNvPr id="1222667" name="Group 11"/>
          <p:cNvGrpSpPr>
            <a:grpSpLocks/>
          </p:cNvGrpSpPr>
          <p:nvPr/>
        </p:nvGrpSpPr>
        <p:grpSpPr bwMode="auto">
          <a:xfrm>
            <a:off x="7834485" y="1250132"/>
            <a:ext cx="4094163" cy="1674813"/>
            <a:chOff x="3195" y="1539"/>
            <a:chExt cx="2579" cy="1055"/>
          </a:xfrm>
        </p:grpSpPr>
        <p:sp>
          <p:nvSpPr>
            <p:cNvPr id="1222668" name="Rectangle 12"/>
            <p:cNvSpPr>
              <a:spLocks noChangeArrowheads="1"/>
            </p:cNvSpPr>
            <p:nvPr/>
          </p:nvSpPr>
          <p:spPr bwMode="auto">
            <a:xfrm>
              <a:off x="3925" y="1765"/>
              <a:ext cx="901" cy="783"/>
            </a:xfrm>
            <a:prstGeom prst="rect">
              <a:avLst/>
            </a:prstGeom>
            <a:solidFill>
              <a:srgbClr val="DDFAED"/>
            </a:solidFill>
            <a:ln w="28575">
              <a:solidFill>
                <a:srgbClr val="00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effectLst>
                  <a:outerShdw blurRad="38100" dist="38100" dir="2700000" algn="tl">
                    <a:srgbClr val="000000">
                      <a:alpha val="43137"/>
                    </a:srgbClr>
                  </a:outerShdw>
                </a:effectLst>
              </a:endParaRPr>
            </a:p>
          </p:txBody>
        </p:sp>
        <p:sp>
          <p:nvSpPr>
            <p:cNvPr id="1222669" name="Line 13"/>
            <p:cNvSpPr>
              <a:spLocks noChangeShapeType="1"/>
            </p:cNvSpPr>
            <p:nvPr/>
          </p:nvSpPr>
          <p:spPr bwMode="auto">
            <a:xfrm flipV="1">
              <a:off x="3924" y="2043"/>
              <a:ext cx="912" cy="0"/>
            </a:xfrm>
            <a:prstGeom prst="line">
              <a:avLst/>
            </a:prstGeom>
            <a:noFill/>
            <a:ln w="9525">
              <a:solidFill>
                <a:srgbClr val="000000"/>
              </a:solidFill>
              <a:round/>
              <a:headEnd/>
              <a:tailEnd/>
            </a:ln>
            <a:effectLst/>
          </p:spPr>
          <p:txBody>
            <a:bodyPr wrap="none" anchor="ctr"/>
            <a:lstStyle/>
            <a:p>
              <a:endParaRPr lang="zh-CN" altLang="en-US"/>
            </a:p>
          </p:txBody>
        </p:sp>
        <p:sp>
          <p:nvSpPr>
            <p:cNvPr id="1222670" name="Line 14"/>
            <p:cNvSpPr>
              <a:spLocks noChangeShapeType="1"/>
            </p:cNvSpPr>
            <p:nvPr/>
          </p:nvSpPr>
          <p:spPr bwMode="auto">
            <a:xfrm>
              <a:off x="3924" y="2310"/>
              <a:ext cx="901" cy="0"/>
            </a:xfrm>
            <a:prstGeom prst="line">
              <a:avLst/>
            </a:prstGeom>
            <a:noFill/>
            <a:ln w="9525">
              <a:solidFill>
                <a:srgbClr val="000000"/>
              </a:solidFill>
              <a:round/>
              <a:headEnd/>
              <a:tailEnd/>
            </a:ln>
            <a:effectLst/>
          </p:spPr>
          <p:txBody>
            <a:bodyPr wrap="none" anchor="ctr"/>
            <a:lstStyle/>
            <a:p>
              <a:endParaRPr lang="zh-CN" altLang="en-US"/>
            </a:p>
          </p:txBody>
        </p:sp>
        <p:sp>
          <p:nvSpPr>
            <p:cNvPr id="1222671" name="Text Box 15"/>
            <p:cNvSpPr txBox="1">
              <a:spLocks noChangeArrowheads="1"/>
            </p:cNvSpPr>
            <p:nvPr/>
          </p:nvSpPr>
          <p:spPr bwMode="auto">
            <a:xfrm>
              <a:off x="4010" y="1785"/>
              <a:ext cx="613" cy="250"/>
            </a:xfrm>
            <a:prstGeom prst="rect">
              <a:avLst/>
            </a:prstGeom>
            <a:noFill/>
            <a:ln w="9525">
              <a:noFill/>
              <a:miter lim="800000"/>
              <a:headEnd/>
              <a:tailEnd/>
            </a:ln>
            <a:effectLst/>
          </p:spPr>
          <p:txBody>
            <a:bodyPr wrap="none" anchor="ctr">
              <a:spAutoFit/>
            </a:bodyPr>
            <a:lstStyle/>
            <a:p>
              <a:pP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argv[0]</a:t>
              </a:r>
            </a:p>
          </p:txBody>
        </p:sp>
        <p:sp>
          <p:nvSpPr>
            <p:cNvPr id="1222672" name="Text Box 16"/>
            <p:cNvSpPr txBox="1">
              <a:spLocks noChangeArrowheads="1"/>
            </p:cNvSpPr>
            <p:nvPr/>
          </p:nvSpPr>
          <p:spPr bwMode="auto">
            <a:xfrm>
              <a:off x="4021" y="2051"/>
              <a:ext cx="613" cy="250"/>
            </a:xfrm>
            <a:prstGeom prst="rect">
              <a:avLst/>
            </a:prstGeom>
            <a:noFill/>
            <a:ln w="9525">
              <a:noFill/>
              <a:miter lim="800000"/>
              <a:headEnd/>
              <a:tailEnd/>
            </a:ln>
            <a:effectLst/>
          </p:spPr>
          <p:txBody>
            <a:bodyPr wrap="none" anchor="ctr">
              <a:spAutoFit/>
            </a:bodyPr>
            <a:lstStyle/>
            <a:p>
              <a:pP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argv[1]</a:t>
              </a:r>
            </a:p>
          </p:txBody>
        </p:sp>
        <p:sp>
          <p:nvSpPr>
            <p:cNvPr id="1222673" name="Text Box 17"/>
            <p:cNvSpPr txBox="1">
              <a:spLocks noChangeArrowheads="1"/>
            </p:cNvSpPr>
            <p:nvPr/>
          </p:nvSpPr>
          <p:spPr bwMode="auto">
            <a:xfrm>
              <a:off x="4021" y="2307"/>
              <a:ext cx="613" cy="250"/>
            </a:xfrm>
            <a:prstGeom prst="rect">
              <a:avLst/>
            </a:prstGeom>
            <a:noFill/>
            <a:ln w="9525">
              <a:noFill/>
              <a:miter lim="800000"/>
              <a:headEnd/>
              <a:tailEnd/>
            </a:ln>
            <a:effectLst/>
          </p:spPr>
          <p:txBody>
            <a:bodyPr wrap="none" anchor="ctr">
              <a:spAutoFit/>
            </a:bodyPr>
            <a:lstStyle/>
            <a:p>
              <a:pP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argv[2]</a:t>
              </a:r>
            </a:p>
          </p:txBody>
        </p:sp>
        <p:sp>
          <p:nvSpPr>
            <p:cNvPr id="1222674" name="Text Box 18"/>
            <p:cNvSpPr txBox="1">
              <a:spLocks noChangeArrowheads="1"/>
            </p:cNvSpPr>
            <p:nvPr/>
          </p:nvSpPr>
          <p:spPr bwMode="auto">
            <a:xfrm>
              <a:off x="3827" y="1539"/>
              <a:ext cx="1010" cy="252"/>
            </a:xfrm>
            <a:prstGeom prst="rect">
              <a:avLst/>
            </a:prstGeom>
            <a:noFill/>
            <a:ln w="9525">
              <a:noFill/>
              <a:miter lim="800000"/>
              <a:headEnd/>
              <a:tailEnd/>
            </a:ln>
            <a:effectLst/>
          </p:spPr>
          <p:txBody>
            <a:bodyPr wrap="none" anchor="ctr">
              <a:spAutoFit/>
            </a:bodyPr>
            <a:lstStyle/>
            <a:p>
              <a:pPr eaLnBrk="0" hangingPunct="0">
                <a:lnSpc>
                  <a:spcPct val="100000"/>
                </a:lnSpc>
                <a:spcBef>
                  <a:spcPct val="0"/>
                </a:spcBef>
              </a:pPr>
              <a:r>
                <a:rPr lang="en-US" altLang="zh-CN" sz="2000" b="1" dirty="0">
                  <a:effectLst>
                    <a:outerShdw blurRad="38100" dist="38100" dir="2700000" algn="tl">
                      <a:srgbClr val="FFFFFF"/>
                    </a:outerShdw>
                  </a:effectLst>
                  <a:ea typeface="宋体" pitchFamily="2" charset="-122"/>
                </a:rPr>
                <a:t>char *</a:t>
              </a:r>
              <a:r>
                <a:rPr lang="en-US" altLang="zh-CN" sz="2000" b="1" dirty="0" err="1">
                  <a:solidFill>
                    <a:srgbClr val="002060"/>
                  </a:solidFill>
                  <a:ea typeface="宋体" pitchFamily="2" charset="-122"/>
                </a:rPr>
                <a:t>argv</a:t>
              </a:r>
              <a:r>
                <a:rPr lang="en-US" altLang="zh-CN" sz="2000" b="1" dirty="0">
                  <a:effectLst>
                    <a:outerShdw blurRad="38100" dist="38100" dir="2700000" algn="tl">
                      <a:srgbClr val="FFFFFF"/>
                    </a:outerShdw>
                  </a:effectLst>
                  <a:ea typeface="宋体" pitchFamily="2" charset="-122"/>
                </a:rPr>
                <a:t>[ ]</a:t>
              </a:r>
            </a:p>
          </p:txBody>
        </p:sp>
        <p:sp>
          <p:nvSpPr>
            <p:cNvPr id="1222675" name="Text Box 19"/>
            <p:cNvSpPr txBox="1">
              <a:spLocks noChangeArrowheads="1"/>
            </p:cNvSpPr>
            <p:nvPr/>
          </p:nvSpPr>
          <p:spPr bwMode="auto">
            <a:xfrm>
              <a:off x="5033" y="2342"/>
              <a:ext cx="741" cy="252"/>
            </a:xfrm>
            <a:prstGeom prst="rect">
              <a:avLst/>
            </a:prstGeom>
            <a:gradFill rotWithShape="1">
              <a:gsLst>
                <a:gs pos="0">
                  <a:srgbClr val="DDFAED"/>
                </a:gs>
                <a:gs pos="100000">
                  <a:srgbClr val="FFFFFF"/>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square" anchor="ctr">
              <a:spAutoFit/>
            </a:bodyPr>
            <a:lstStyle/>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a:t>
              </a:r>
              <a:r>
                <a:rPr lang="en-US" altLang="zh-CN" sz="2000" b="0" dirty="0">
                  <a:effectLst/>
                  <a:ea typeface="宋体" pitchFamily="2" charset="-122"/>
                </a:rPr>
                <a:t>world!</a:t>
              </a:r>
              <a:r>
                <a:rPr lang="en-US" altLang="zh-CN" sz="2000" dirty="0">
                  <a:effectLst>
                    <a:outerShdw blurRad="38100" dist="38100" dir="2700000" algn="tl">
                      <a:srgbClr val="FFFFFF"/>
                    </a:outerShdw>
                  </a:effectLst>
                  <a:ea typeface="宋体" pitchFamily="2" charset="-122"/>
                </a:rPr>
                <a:t>"</a:t>
              </a:r>
              <a:endParaRPr lang="en-US" altLang="zh-CN" sz="2000" b="0" dirty="0">
                <a:effectLst/>
                <a:ea typeface="宋体" pitchFamily="2" charset="-122"/>
              </a:endParaRPr>
            </a:p>
          </p:txBody>
        </p:sp>
        <p:sp>
          <p:nvSpPr>
            <p:cNvPr id="1222678" name="Line 22"/>
            <p:cNvSpPr>
              <a:spLocks noChangeShapeType="1"/>
            </p:cNvSpPr>
            <p:nvPr/>
          </p:nvSpPr>
          <p:spPr bwMode="auto">
            <a:xfrm>
              <a:off x="4647" y="2439"/>
              <a:ext cx="386" cy="0"/>
            </a:xfrm>
            <a:prstGeom prst="line">
              <a:avLst/>
            </a:prstGeom>
            <a:noFill/>
            <a:ln w="28575">
              <a:solidFill>
                <a:srgbClr val="C00000"/>
              </a:solidFill>
              <a:round/>
              <a:headEnd/>
              <a:tailEnd type="stealth" w="lg" len="lg"/>
            </a:ln>
            <a:effectLst/>
          </p:spPr>
          <p:txBody>
            <a:bodyPr wrap="none" anchor="ctr"/>
            <a:lstStyle/>
            <a:p>
              <a:endParaRPr lang="zh-CN" altLang="en-US"/>
            </a:p>
          </p:txBody>
        </p:sp>
        <p:sp>
          <p:nvSpPr>
            <p:cNvPr id="1222679" name="Rectangle 23"/>
            <p:cNvSpPr>
              <a:spLocks noChangeArrowheads="1"/>
            </p:cNvSpPr>
            <p:nvPr/>
          </p:nvSpPr>
          <p:spPr bwMode="auto">
            <a:xfrm>
              <a:off x="5040" y="1753"/>
              <a:ext cx="519" cy="252"/>
            </a:xfrm>
            <a:prstGeom prst="rect">
              <a:avLst/>
            </a:prstGeom>
            <a:gradFill rotWithShape="1">
              <a:gsLst>
                <a:gs pos="0">
                  <a:srgbClr val="DDFAED"/>
                </a:gs>
                <a:gs pos="100000">
                  <a:schemeClr val="bg1"/>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spAutoFit/>
            </a:bodyPr>
            <a:lstStyle/>
            <a:p>
              <a:pPr>
                <a:lnSpc>
                  <a:spcPct val="100000"/>
                </a:lnSpc>
                <a:spcBef>
                  <a:spcPct val="0"/>
                </a:spcBef>
              </a:pPr>
              <a:r>
                <a:rPr lang="en-US" altLang="zh-CN" sz="2000" dirty="0">
                  <a:effectLst>
                    <a:outerShdw blurRad="38100" dist="38100" dir="2700000" algn="tl">
                      <a:srgbClr val="FFFFFF"/>
                    </a:outerShdw>
                  </a:effectLst>
                  <a:ea typeface="宋体" pitchFamily="2" charset="-122"/>
                </a:rPr>
                <a:t>"</a:t>
              </a:r>
              <a:r>
                <a:rPr lang="en-US" altLang="zh-CN" sz="2000" b="0" dirty="0">
                  <a:effectLst/>
                  <a:ea typeface="宋体" pitchFamily="2" charset="-122"/>
                </a:rPr>
                <a:t>test</a:t>
              </a:r>
              <a:r>
                <a:rPr lang="en-US" altLang="zh-CN" sz="2000" dirty="0">
                  <a:effectLst>
                    <a:outerShdw blurRad="38100" dist="38100" dir="2700000" algn="tl">
                      <a:srgbClr val="FFFFFF"/>
                    </a:outerShdw>
                  </a:effectLst>
                  <a:ea typeface="宋体" pitchFamily="2" charset="-122"/>
                </a:rPr>
                <a:t>"</a:t>
              </a:r>
              <a:endParaRPr lang="en-US" altLang="zh-CN" sz="2000" b="0" dirty="0">
                <a:effectLst/>
                <a:ea typeface="宋体" pitchFamily="2" charset="-122"/>
              </a:endParaRPr>
            </a:p>
          </p:txBody>
        </p:sp>
        <p:sp>
          <p:nvSpPr>
            <p:cNvPr id="1222680" name="Text Box 24"/>
            <p:cNvSpPr txBox="1">
              <a:spLocks noChangeArrowheads="1"/>
            </p:cNvSpPr>
            <p:nvPr/>
          </p:nvSpPr>
          <p:spPr bwMode="auto">
            <a:xfrm>
              <a:off x="5032" y="2046"/>
              <a:ext cx="618" cy="252"/>
            </a:xfrm>
            <a:prstGeom prst="rect">
              <a:avLst/>
            </a:prstGeom>
            <a:gradFill rotWithShape="1">
              <a:gsLst>
                <a:gs pos="0">
                  <a:srgbClr val="DDFAED"/>
                </a:gs>
                <a:gs pos="100000">
                  <a:schemeClr val="bg1"/>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spAutoFit/>
            </a:bodyPr>
            <a:lstStyle/>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a:t>
              </a:r>
              <a:r>
                <a:rPr lang="en-US" altLang="zh-CN" sz="2000" b="0" dirty="0">
                  <a:effectLst/>
                  <a:ea typeface="宋体" pitchFamily="2" charset="-122"/>
                </a:rPr>
                <a:t>hello</a:t>
              </a:r>
              <a:r>
                <a:rPr lang="en-US" altLang="zh-CN" sz="2000" dirty="0">
                  <a:effectLst>
                    <a:outerShdw blurRad="38100" dist="38100" dir="2700000" algn="tl">
                      <a:srgbClr val="FFFFFF"/>
                    </a:outerShdw>
                  </a:effectLst>
                  <a:ea typeface="宋体" pitchFamily="2" charset="-122"/>
                </a:rPr>
                <a:t>"</a:t>
              </a:r>
              <a:endParaRPr lang="en-US" altLang="zh-CN" sz="2000" b="0" dirty="0">
                <a:effectLst/>
                <a:ea typeface="宋体" pitchFamily="2" charset="-122"/>
              </a:endParaRPr>
            </a:p>
          </p:txBody>
        </p:sp>
        <p:sp>
          <p:nvSpPr>
            <p:cNvPr id="1222681" name="Line 25"/>
            <p:cNvSpPr>
              <a:spLocks noChangeShapeType="1"/>
            </p:cNvSpPr>
            <p:nvPr/>
          </p:nvSpPr>
          <p:spPr bwMode="auto">
            <a:xfrm>
              <a:off x="3546" y="1767"/>
              <a:ext cx="375" cy="0"/>
            </a:xfrm>
            <a:prstGeom prst="line">
              <a:avLst/>
            </a:prstGeom>
            <a:noFill/>
            <a:ln w="38100">
              <a:solidFill>
                <a:srgbClr val="002060"/>
              </a:solidFill>
              <a:round/>
              <a:headEnd/>
              <a:tailEnd type="stealth" w="lg" len="lg"/>
            </a:ln>
            <a:effectLst/>
          </p:spPr>
          <p:txBody>
            <a:bodyPr wrap="none" anchor="ctr"/>
            <a:lstStyle/>
            <a:p>
              <a:endParaRPr lang="zh-CN" altLang="en-US"/>
            </a:p>
          </p:txBody>
        </p:sp>
        <p:sp>
          <p:nvSpPr>
            <p:cNvPr id="1222682" name="Text Box 26"/>
            <p:cNvSpPr txBox="1">
              <a:spLocks noChangeArrowheads="1"/>
            </p:cNvSpPr>
            <p:nvPr/>
          </p:nvSpPr>
          <p:spPr bwMode="auto">
            <a:xfrm>
              <a:off x="3207" y="1637"/>
              <a:ext cx="430" cy="25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1" dirty="0" err="1">
                  <a:solidFill>
                    <a:srgbClr val="002060"/>
                  </a:solidFill>
                  <a:ea typeface="宋体" pitchFamily="2" charset="-122"/>
                </a:rPr>
                <a:t>argv</a:t>
              </a:r>
              <a:endParaRPr lang="en-US" altLang="zh-CN" sz="2000" b="1" dirty="0">
                <a:solidFill>
                  <a:srgbClr val="002060"/>
                </a:solidFill>
                <a:ea typeface="宋体" pitchFamily="2" charset="-122"/>
              </a:endParaRPr>
            </a:p>
          </p:txBody>
        </p:sp>
        <p:sp>
          <p:nvSpPr>
            <p:cNvPr id="1222683" name="Text Box 27"/>
            <p:cNvSpPr txBox="1">
              <a:spLocks noChangeArrowheads="1"/>
            </p:cNvSpPr>
            <p:nvPr/>
          </p:nvSpPr>
          <p:spPr bwMode="auto">
            <a:xfrm>
              <a:off x="3195" y="1990"/>
              <a:ext cx="688" cy="292"/>
            </a:xfrm>
            <a:prstGeom prst="rect">
              <a:avLst/>
            </a:prstGeom>
            <a:noFill/>
            <a:ln w="38100">
              <a:solidFill>
                <a:srgbClr val="002060"/>
              </a:solidFill>
              <a:miter lim="800000"/>
              <a:headEnd/>
              <a:tailEnd/>
            </a:ln>
            <a:effectLst/>
          </p:spPr>
          <p:txBody>
            <a:bodyPr wrap="square" lIns="90000" tIns="46800" rIns="90000" bIns="46800" anchor="ctr">
              <a:spAutoFit/>
            </a:bodyPr>
            <a:lstStyle/>
            <a:p>
              <a:pPr algn="ctr">
                <a:lnSpc>
                  <a:spcPct val="100000"/>
                </a:lnSpc>
                <a:spcBef>
                  <a:spcPct val="0"/>
                </a:spcBef>
              </a:pPr>
              <a:r>
                <a:rPr lang="en-US" altLang="zh-CN" b="1" dirty="0" err="1">
                  <a:solidFill>
                    <a:srgbClr val="002060"/>
                  </a:solidFill>
                  <a:ea typeface="隶书" pitchFamily="49" charset="-122"/>
                </a:rPr>
                <a:t>argc</a:t>
              </a:r>
              <a:r>
                <a:rPr lang="en-US" altLang="zh-CN" dirty="0">
                  <a:effectLst>
                    <a:outerShdw blurRad="38100" dist="38100" dir="2700000" algn="tl">
                      <a:srgbClr val="FFFFFF"/>
                    </a:outerShdw>
                  </a:effectLst>
                  <a:ea typeface="隶书" pitchFamily="49" charset="-122"/>
                </a:rPr>
                <a:t>=</a:t>
              </a:r>
              <a:r>
                <a:rPr lang="en-US" altLang="zh-CN" b="1" dirty="0">
                  <a:solidFill>
                    <a:srgbClr val="C00000"/>
                  </a:solidFill>
                  <a:ea typeface="隶书" pitchFamily="49" charset="-122"/>
                </a:rPr>
                <a:t>3</a:t>
              </a:r>
            </a:p>
          </p:txBody>
        </p:sp>
        <p:sp>
          <p:nvSpPr>
            <p:cNvPr id="1222676" name="Line 20"/>
            <p:cNvSpPr>
              <a:spLocks noChangeShapeType="1"/>
            </p:cNvSpPr>
            <p:nvPr/>
          </p:nvSpPr>
          <p:spPr bwMode="auto">
            <a:xfrm>
              <a:off x="4654" y="1899"/>
              <a:ext cx="386" cy="0"/>
            </a:xfrm>
            <a:prstGeom prst="line">
              <a:avLst/>
            </a:prstGeom>
            <a:noFill/>
            <a:ln w="28575">
              <a:solidFill>
                <a:srgbClr val="C00000"/>
              </a:solidFill>
              <a:round/>
              <a:headEnd/>
              <a:tailEnd type="stealth" w="lg" len="lg"/>
            </a:ln>
            <a:effectLst/>
          </p:spPr>
          <p:txBody>
            <a:bodyPr wrap="none" anchor="ctr"/>
            <a:lstStyle/>
            <a:p>
              <a:endParaRPr lang="zh-CN" altLang="en-US"/>
            </a:p>
          </p:txBody>
        </p:sp>
        <p:sp>
          <p:nvSpPr>
            <p:cNvPr id="1222677" name="Line 21"/>
            <p:cNvSpPr>
              <a:spLocks noChangeShapeType="1"/>
            </p:cNvSpPr>
            <p:nvPr/>
          </p:nvSpPr>
          <p:spPr bwMode="auto">
            <a:xfrm>
              <a:off x="4647" y="2195"/>
              <a:ext cx="386" cy="0"/>
            </a:xfrm>
            <a:prstGeom prst="line">
              <a:avLst/>
            </a:prstGeom>
            <a:noFill/>
            <a:ln w="28575">
              <a:solidFill>
                <a:srgbClr val="C00000"/>
              </a:solidFill>
              <a:round/>
              <a:headEnd/>
              <a:tailEnd type="stealth" w="lg" len="lg"/>
            </a:ln>
            <a:effectLst/>
          </p:spPr>
          <p:txBody>
            <a:bodyPr wrap="none" anchor="ctr"/>
            <a:lstStyle/>
            <a:p>
              <a:endParaRPr lang="zh-CN" altLang="en-US"/>
            </a:p>
          </p:txBody>
        </p:sp>
      </p:grpSp>
      <p:sp>
        <p:nvSpPr>
          <p:cNvPr id="29" name="Rectangle 4">
            <a:extLst>
              <a:ext uri="{FF2B5EF4-FFF2-40B4-BE49-F238E27FC236}">
                <a16:creationId xmlns:a16="http://schemas.microsoft.com/office/drawing/2014/main" id="{F99C71A0-C8FF-43A8-B336-AA50F7F17072}"/>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带参数的</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main</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函数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2660">
                                            <p:txEl>
                                              <p:pRg st="0" end="0"/>
                                            </p:txEl>
                                          </p:spTgt>
                                        </p:tgtEl>
                                        <p:attrNameLst>
                                          <p:attrName>style.visibility</p:attrName>
                                        </p:attrNameLst>
                                      </p:cBhvr>
                                      <p:to>
                                        <p:strVal val="visible"/>
                                      </p:to>
                                    </p:set>
                                    <p:anim calcmode="lin" valueType="num">
                                      <p:cBhvr additive="base">
                                        <p:cTn id="7" dur="500" fill="hold"/>
                                        <p:tgtEl>
                                          <p:spTgt spid="122266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266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2661"/>
                                        </p:tgtEl>
                                        <p:attrNameLst>
                                          <p:attrName>style.visibility</p:attrName>
                                        </p:attrNameLst>
                                      </p:cBhvr>
                                      <p:to>
                                        <p:strVal val="visible"/>
                                      </p:to>
                                    </p:set>
                                    <p:anim calcmode="lin" valueType="num">
                                      <p:cBhvr additive="base">
                                        <p:cTn id="13" dur="500" fill="hold"/>
                                        <p:tgtEl>
                                          <p:spTgt spid="1222661"/>
                                        </p:tgtEl>
                                        <p:attrNameLst>
                                          <p:attrName>ppt_x</p:attrName>
                                        </p:attrNameLst>
                                      </p:cBhvr>
                                      <p:tavLst>
                                        <p:tav tm="0">
                                          <p:val>
                                            <p:strVal val="0-#ppt_w/2"/>
                                          </p:val>
                                        </p:tav>
                                        <p:tav tm="100000">
                                          <p:val>
                                            <p:strVal val="#ppt_x"/>
                                          </p:val>
                                        </p:tav>
                                      </p:tavLst>
                                    </p:anim>
                                    <p:anim calcmode="lin" valueType="num">
                                      <p:cBhvr additive="base">
                                        <p:cTn id="14" dur="500" fill="hold"/>
                                        <p:tgtEl>
                                          <p:spTgt spid="122266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222663"/>
                                        </p:tgtEl>
                                        <p:attrNameLst>
                                          <p:attrName>style.visibility</p:attrName>
                                        </p:attrNameLst>
                                      </p:cBhvr>
                                      <p:to>
                                        <p:strVal val="visible"/>
                                      </p:to>
                                    </p:set>
                                    <p:animEffect transition="in" filter="box(out)">
                                      <p:cBhvr>
                                        <p:cTn id="19" dur="500"/>
                                        <p:tgtEl>
                                          <p:spTgt spid="1222663"/>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222664"/>
                                        </p:tgtEl>
                                        <p:attrNameLst>
                                          <p:attrName>style.visibility</p:attrName>
                                        </p:attrNameLst>
                                      </p:cBhvr>
                                      <p:to>
                                        <p:strVal val="visible"/>
                                      </p:to>
                                    </p:set>
                                    <p:animEffect transition="in" filter="box(out)">
                                      <p:cBhvr>
                                        <p:cTn id="24" dur="500"/>
                                        <p:tgtEl>
                                          <p:spTgt spid="1222664"/>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1222667"/>
                                        </p:tgtEl>
                                        <p:attrNameLst>
                                          <p:attrName>style.visibility</p:attrName>
                                        </p:attrNameLst>
                                      </p:cBhvr>
                                      <p:to>
                                        <p:strVal val="visible"/>
                                      </p:to>
                                    </p:set>
                                    <p:animEffect transition="in" filter="box(out)">
                                      <p:cBhvr>
                                        <p:cTn id="29" dur="500"/>
                                        <p:tgtEl>
                                          <p:spTgt spid="1222667"/>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222665"/>
                                        </p:tgtEl>
                                        <p:attrNameLst>
                                          <p:attrName>style.visibility</p:attrName>
                                        </p:attrNameLst>
                                      </p:cBhvr>
                                      <p:to>
                                        <p:strVal val="visible"/>
                                      </p:to>
                                    </p:set>
                                    <p:animEffect transition="in" filter="box(out)">
                                      <p:cBhvr>
                                        <p:cTn id="34" dur="500"/>
                                        <p:tgtEl>
                                          <p:spTgt spid="1222665"/>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222662"/>
                                        </p:tgtEl>
                                        <p:attrNameLst>
                                          <p:attrName>style.visibility</p:attrName>
                                        </p:attrNameLst>
                                      </p:cBhvr>
                                      <p:to>
                                        <p:strVal val="visible"/>
                                      </p:to>
                                    </p:set>
                                    <p:anim calcmode="lin" valueType="num">
                                      <p:cBhvr additive="base">
                                        <p:cTn id="39" dur="500" fill="hold"/>
                                        <p:tgtEl>
                                          <p:spTgt spid="1222662"/>
                                        </p:tgtEl>
                                        <p:attrNameLst>
                                          <p:attrName>ppt_x</p:attrName>
                                        </p:attrNameLst>
                                      </p:cBhvr>
                                      <p:tavLst>
                                        <p:tav tm="0">
                                          <p:val>
                                            <p:strVal val="0-#ppt_w/2"/>
                                          </p:val>
                                        </p:tav>
                                        <p:tav tm="100000">
                                          <p:val>
                                            <p:strVal val="#ppt_x"/>
                                          </p:val>
                                        </p:tav>
                                      </p:tavLst>
                                    </p:anim>
                                    <p:anim calcmode="lin" valueType="num">
                                      <p:cBhvr additive="base">
                                        <p:cTn id="40" dur="500" fill="hold"/>
                                        <p:tgtEl>
                                          <p:spTgt spid="12226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WHOOSH.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222666"/>
                                        </p:tgtEl>
                                        <p:attrNameLst>
                                          <p:attrName>style.visibility</p:attrName>
                                        </p:attrNameLst>
                                      </p:cBhvr>
                                      <p:to>
                                        <p:strVal val="visible"/>
                                      </p:to>
                                    </p:set>
                                    <p:animEffect transition="in" filter="box(out)">
                                      <p:cBhvr>
                                        <p:cTn id="45" dur="500"/>
                                        <p:tgtEl>
                                          <p:spTgt spid="1222666"/>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2660" grpId="0" build="p" autoUpdateAnimBg="0"/>
      <p:bldP spid="1222661" grpId="0" animBg="1" autoUpdateAnimBg="0"/>
      <p:bldP spid="1222662" grpId="0" animBg="1" autoUpdateAnimBg="0"/>
      <p:bldP spid="1222663" grpId="0" animBg="1" autoUpdateAnimBg="0"/>
      <p:bldP spid="1222664" grpId="0" animBg="1" autoUpdateAnimBg="0"/>
      <p:bldP spid="1222665" grpId="0" animBg="1" autoUpdateAnimBg="0"/>
      <p:bldP spid="1222666" grpId="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4">
            <a:extLst>
              <a:ext uri="{FF2B5EF4-FFF2-40B4-BE49-F238E27FC236}">
                <a16:creationId xmlns:a16="http://schemas.microsoft.com/office/drawing/2014/main" id="{0D337AEA-DB9F-4495-919D-0116F1150CEA}"/>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9.11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带参数的</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main</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函数 </a:t>
            </a:r>
          </a:p>
        </p:txBody>
      </p:sp>
      <p:sp>
        <p:nvSpPr>
          <p:cNvPr id="1223682" name="Text Box 2"/>
          <p:cNvSpPr txBox="1">
            <a:spLocks noChangeArrowheads="1"/>
          </p:cNvSpPr>
          <p:nvPr/>
        </p:nvSpPr>
        <p:spPr bwMode="auto">
          <a:xfrm>
            <a:off x="839416" y="852061"/>
            <a:ext cx="8230138" cy="461665"/>
          </a:xfrm>
          <a:prstGeom prst="rect">
            <a:avLst/>
          </a:prstGeom>
          <a:noFill/>
          <a:ln w="9525">
            <a:noFill/>
            <a:miter lim="800000"/>
            <a:headEnd/>
            <a:tailEnd/>
          </a:ln>
          <a:effectLst/>
        </p:spPr>
        <p:txBody>
          <a:bodyPr wrap="none">
            <a:spAutoFit/>
          </a:bodyPr>
          <a:lstStyle>
            <a:defPPr>
              <a:defRPr lang="zh-CN"/>
            </a:defPPr>
            <a:lvl1pPr>
              <a:lnSpc>
                <a:spcPct val="100000"/>
              </a:lnSpc>
              <a:defRPr b="1">
                <a:solidFill>
                  <a:srgbClr val="C0000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2】</a:t>
            </a:r>
            <a:r>
              <a:rPr lang="zh-CN" altLang="en-US" dirty="0"/>
              <a:t>利用命令行参数输出一月份到十二月份的英文名。 </a:t>
            </a:r>
          </a:p>
        </p:txBody>
      </p:sp>
      <p:sp>
        <p:nvSpPr>
          <p:cNvPr id="1223709" name="Rectangle 29" descr="信纸"/>
          <p:cNvSpPr>
            <a:spLocks noChangeArrowheads="1"/>
          </p:cNvSpPr>
          <p:nvPr/>
        </p:nvSpPr>
        <p:spPr bwMode="auto">
          <a:xfrm>
            <a:off x="727948" y="852061"/>
            <a:ext cx="6121400" cy="5940088"/>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dirty="0"/>
              <a:t>#include &lt;</a:t>
            </a:r>
            <a:r>
              <a:rPr lang="en-US" altLang="zh-CN" sz="2000" dirty="0" err="1"/>
              <a:t>stdio.h</a:t>
            </a:r>
            <a:r>
              <a:rPr lang="en-US" altLang="zh-CN" sz="2000" dirty="0"/>
              <a:t>&gt;</a:t>
            </a:r>
          </a:p>
          <a:p>
            <a:pPr marL="457200" indent="-457200"/>
            <a:r>
              <a:rPr lang="en-US" altLang="zh-CN" sz="2000" dirty="0"/>
              <a:t>#include &lt;</a:t>
            </a:r>
            <a:r>
              <a:rPr lang="en-US" altLang="zh-CN" sz="2000" dirty="0" err="1"/>
              <a:t>stdlib.h</a:t>
            </a:r>
            <a:r>
              <a:rPr lang="en-US" altLang="zh-CN" sz="2000" dirty="0"/>
              <a:t>&gt;</a:t>
            </a:r>
          </a:p>
          <a:p>
            <a:pPr marL="457200" indent="-457200"/>
            <a:r>
              <a:rPr lang="en-US" altLang="zh-CN" sz="2000" dirty="0"/>
              <a:t>#include &lt;</a:t>
            </a:r>
            <a:r>
              <a:rPr lang="en-US" altLang="zh-CN" sz="2000" dirty="0" err="1"/>
              <a:t>math.h</a:t>
            </a:r>
            <a:r>
              <a:rPr lang="en-US" altLang="zh-CN" sz="2000" dirty="0"/>
              <a:t>&gt;</a:t>
            </a:r>
          </a:p>
          <a:p>
            <a:pPr marL="457200" indent="-457200"/>
            <a:endParaRPr lang="en-US" altLang="zh-CN" sz="2000" dirty="0"/>
          </a:p>
          <a:p>
            <a:pPr marL="457200" indent="-457200"/>
            <a:r>
              <a:rPr lang="en-US" altLang="zh-CN" sz="2000" dirty="0" err="1"/>
              <a:t>int</a:t>
            </a:r>
            <a:r>
              <a:rPr lang="en-US" altLang="zh-CN" sz="2000" dirty="0"/>
              <a:t> </a:t>
            </a:r>
            <a:r>
              <a:rPr lang="en-US" altLang="zh-CN" sz="2000" dirty="0" err="1"/>
              <a:t>GetMonth</a:t>
            </a:r>
            <a:r>
              <a:rPr lang="en-US" altLang="zh-CN" sz="2000" dirty="0"/>
              <a:t> (char *</a:t>
            </a:r>
            <a:r>
              <a:rPr lang="en-US" altLang="zh-CN" sz="2000" dirty="0" err="1"/>
              <a:t>str</a:t>
            </a:r>
            <a:r>
              <a:rPr lang="en-US" altLang="zh-CN" sz="2000" dirty="0"/>
              <a:t>);</a:t>
            </a:r>
          </a:p>
          <a:p>
            <a:pPr marL="457200" indent="-457200"/>
            <a:r>
              <a:rPr lang="en-US" altLang="zh-CN" sz="2000" dirty="0"/>
              <a:t>char *</a:t>
            </a:r>
            <a:r>
              <a:rPr lang="en-US" altLang="zh-CN" sz="2000" dirty="0" err="1"/>
              <a:t>month_str</a:t>
            </a:r>
            <a:r>
              <a:rPr lang="en-US" altLang="zh-CN" sz="2000" dirty="0"/>
              <a:t>[ ] = </a:t>
            </a:r>
          </a:p>
          <a:p>
            <a:pPr marL="457200" indent="-457200"/>
            <a:r>
              <a:rPr lang="en-US" altLang="zh-CN" sz="2000" dirty="0"/>
              <a:t>    { "January", "February", "March", "April",</a:t>
            </a:r>
          </a:p>
          <a:p>
            <a:pPr marL="457200" indent="-457200"/>
            <a:r>
              <a:rPr lang="en-US" altLang="zh-CN" sz="2000" dirty="0"/>
              <a:t>       "May", "June", "July", "August", "September", </a:t>
            </a:r>
          </a:p>
          <a:p>
            <a:pPr marL="457200" indent="-457200"/>
            <a:r>
              <a:rPr lang="en-US" altLang="zh-CN" sz="2000" dirty="0"/>
              <a:t>       "October", "November", "December" };</a:t>
            </a:r>
          </a:p>
          <a:p>
            <a:pPr marL="457200" indent="-457200"/>
            <a:endParaRPr lang="en-US" altLang="zh-CN" sz="2000" dirty="0"/>
          </a:p>
          <a:p>
            <a:pPr marL="457200" indent="-457200"/>
            <a:r>
              <a:rPr lang="en-US" altLang="zh-CN" sz="2000" dirty="0" err="1">
                <a:solidFill>
                  <a:srgbClr val="CC0099"/>
                </a:solidFill>
              </a:rPr>
              <a:t>int</a:t>
            </a:r>
            <a:r>
              <a:rPr lang="en-US" altLang="zh-CN" sz="2000" dirty="0">
                <a:solidFill>
                  <a:srgbClr val="CC0099"/>
                </a:solidFill>
              </a:rPr>
              <a:t> main (</a:t>
            </a:r>
            <a:r>
              <a:rPr lang="en-US" altLang="zh-CN" sz="2000" dirty="0" err="1">
                <a:solidFill>
                  <a:srgbClr val="CC0099"/>
                </a:solidFill>
              </a:rPr>
              <a:t>int</a:t>
            </a:r>
            <a:r>
              <a:rPr lang="en-US" altLang="zh-CN" sz="2000" dirty="0">
                <a:solidFill>
                  <a:srgbClr val="CC0099"/>
                </a:solidFill>
              </a:rPr>
              <a:t> </a:t>
            </a:r>
            <a:r>
              <a:rPr lang="en-US" altLang="zh-CN" sz="2000" dirty="0" err="1">
                <a:solidFill>
                  <a:srgbClr val="CC0099"/>
                </a:solidFill>
              </a:rPr>
              <a:t>argc</a:t>
            </a:r>
            <a:r>
              <a:rPr lang="en-US" altLang="zh-CN" sz="2000" dirty="0">
                <a:solidFill>
                  <a:srgbClr val="CC0099"/>
                </a:solidFill>
              </a:rPr>
              <a:t>, char *</a:t>
            </a:r>
            <a:r>
              <a:rPr lang="en-US" altLang="zh-CN" sz="2000" dirty="0" err="1">
                <a:solidFill>
                  <a:srgbClr val="CC0099"/>
                </a:solidFill>
              </a:rPr>
              <a:t>argv</a:t>
            </a:r>
            <a:r>
              <a:rPr lang="en-US" altLang="zh-CN" sz="2000" dirty="0">
                <a:solidFill>
                  <a:srgbClr val="CC0099"/>
                </a:solidFill>
              </a:rPr>
              <a:t>[ ])</a:t>
            </a:r>
          </a:p>
          <a:p>
            <a:pPr marL="457200" indent="-457200"/>
            <a:r>
              <a:rPr lang="en-US" altLang="zh-CN" sz="2000" dirty="0"/>
              <a:t>{</a:t>
            </a:r>
          </a:p>
          <a:p>
            <a:pPr marL="457200" indent="-457200"/>
            <a:r>
              <a:rPr lang="en-US" altLang="zh-CN" sz="2000" dirty="0"/>
              <a:t>  </a:t>
            </a:r>
            <a:r>
              <a:rPr lang="en-US" altLang="zh-CN" sz="2000" dirty="0" err="1"/>
              <a:t>int</a:t>
            </a:r>
            <a:r>
              <a:rPr lang="en-US" altLang="zh-CN" sz="2000" dirty="0"/>
              <a:t> k;</a:t>
            </a:r>
          </a:p>
          <a:p>
            <a:pPr marL="457200" indent="-457200"/>
            <a:r>
              <a:rPr lang="en-US" altLang="zh-CN" sz="2000" dirty="0"/>
              <a:t>  if ( </a:t>
            </a:r>
            <a:r>
              <a:rPr lang="en-US" altLang="zh-CN" sz="2000" dirty="0" err="1"/>
              <a:t>argc</a:t>
            </a:r>
            <a:r>
              <a:rPr lang="en-US" altLang="zh-CN" sz="2000" dirty="0"/>
              <a:t> != 2)</a:t>
            </a:r>
          </a:p>
          <a:p>
            <a:pPr marL="457200" indent="-457200"/>
            <a:r>
              <a:rPr lang="en-US" altLang="zh-CN" sz="2000" dirty="0"/>
              <a:t>  {</a:t>
            </a:r>
          </a:p>
          <a:p>
            <a:pPr marL="457200" indent="-457200"/>
            <a:r>
              <a:rPr lang="en-US" altLang="zh-CN" sz="2000" dirty="0"/>
              <a:t>    </a:t>
            </a:r>
            <a:r>
              <a:rPr lang="en-US" altLang="zh-CN" sz="2000" dirty="0" err="1"/>
              <a:t>printf</a:t>
            </a:r>
            <a:r>
              <a:rPr lang="en-US" altLang="zh-CN" sz="2000" dirty="0"/>
              <a:t> ("Use this program like this: example9-15 3");</a:t>
            </a:r>
          </a:p>
          <a:p>
            <a:pPr marL="457200" indent="-457200"/>
            <a:r>
              <a:rPr lang="en-US" altLang="zh-CN" sz="2000" dirty="0"/>
              <a:t>    exit (0);</a:t>
            </a:r>
          </a:p>
          <a:p>
            <a:pPr marL="457200" indent="-457200"/>
            <a:r>
              <a:rPr lang="en-US" altLang="zh-CN" sz="2000" dirty="0"/>
              <a:t>  }</a:t>
            </a:r>
          </a:p>
          <a:p>
            <a:pPr marL="457200" indent="-457200"/>
            <a:r>
              <a:rPr lang="en-US" altLang="zh-CN" sz="2000" dirty="0"/>
              <a:t>  k = </a:t>
            </a:r>
            <a:r>
              <a:rPr lang="en-US" altLang="zh-CN" sz="2000" dirty="0" err="1"/>
              <a:t>GetMonth</a:t>
            </a:r>
            <a:r>
              <a:rPr lang="en-US" altLang="zh-CN" sz="2000" dirty="0"/>
              <a:t> (</a:t>
            </a:r>
            <a:r>
              <a:rPr lang="en-US" altLang="zh-CN" sz="2000" dirty="0" err="1"/>
              <a:t>argv</a:t>
            </a:r>
            <a:r>
              <a:rPr lang="en-US" altLang="zh-CN" sz="2000" dirty="0"/>
              <a:t>[1]);  </a:t>
            </a:r>
          </a:p>
        </p:txBody>
      </p:sp>
      <p:sp>
        <p:nvSpPr>
          <p:cNvPr id="1223710" name="Rectangle 30" descr="信纸"/>
          <p:cNvSpPr>
            <a:spLocks noChangeArrowheads="1"/>
          </p:cNvSpPr>
          <p:nvPr/>
        </p:nvSpPr>
        <p:spPr bwMode="auto">
          <a:xfrm>
            <a:off x="7134416" y="941526"/>
            <a:ext cx="4692508" cy="2850011"/>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if (k == -1)</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("command line argument must </a:t>
            </a:r>
          </a:p>
          <a:p>
            <a:pPr marL="457200" indent="-457200"/>
            <a:r>
              <a:rPr lang="en-US" altLang="zh-CN" sz="2000" dirty="0">
                <a:effectLst>
                  <a:outerShdw blurRad="38100" dist="38100" dir="2700000" algn="tl">
                    <a:srgbClr val="FFFFFF"/>
                  </a:outerShdw>
                </a:effectLst>
              </a:rPr>
              <a:t>                   be in [1..12]\n");</a:t>
            </a:r>
          </a:p>
          <a:p>
            <a:pPr marL="457200" indent="-457200"/>
            <a:r>
              <a:rPr lang="en-US" altLang="zh-CN" sz="2000" dirty="0">
                <a:effectLst>
                  <a:outerShdw blurRad="38100" dist="38100" dir="2700000" algn="tl">
                    <a:srgbClr val="FFFFFF"/>
                  </a:outerShdw>
                </a:effectLst>
              </a:rPr>
              <a:t>    exit (0);</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("%s\n", </a:t>
            </a:r>
            <a:r>
              <a:rPr lang="en-US" altLang="zh-CN" sz="2000" dirty="0" err="1">
                <a:effectLst>
                  <a:outerShdw blurRad="38100" dist="38100" dir="2700000" algn="tl">
                    <a:srgbClr val="FFFFFF"/>
                  </a:outerShdw>
                </a:effectLst>
              </a:rPr>
              <a:t>month_str</a:t>
            </a:r>
            <a:r>
              <a:rPr lang="en-US" altLang="zh-CN" sz="2000" dirty="0">
                <a:effectLst>
                  <a:outerShdw blurRad="38100" dist="38100" dir="2700000" algn="tl">
                    <a:srgbClr val="FFFFFF"/>
                  </a:outerShdw>
                </a:effectLst>
              </a:rPr>
              <a:t>[k-1]);</a:t>
            </a:r>
          </a:p>
          <a:p>
            <a:pPr marL="457200" indent="-457200"/>
            <a:r>
              <a:rPr lang="en-US" altLang="zh-CN" sz="2000" dirty="0">
                <a:effectLst>
                  <a:outerShdw blurRad="38100" dist="38100" dir="2700000" algn="tl">
                    <a:srgbClr val="FFFFFF"/>
                  </a:outerShdw>
                </a:effectLst>
              </a:rPr>
              <a:t>  return 0;</a:t>
            </a:r>
          </a:p>
          <a:p>
            <a:pPr marL="457200" indent="-457200"/>
            <a:r>
              <a:rPr lang="en-US" altLang="zh-CN" sz="2000" dirty="0">
                <a:effectLst>
                  <a:outerShdw blurRad="38100" dist="38100" dir="2700000" algn="tl">
                    <a:srgbClr val="FFFFFF"/>
                  </a:outerShdw>
                </a:effectLst>
              </a:rPr>
              <a:t>}</a:t>
            </a:r>
          </a:p>
        </p:txBody>
      </p:sp>
      <p:sp>
        <p:nvSpPr>
          <p:cNvPr id="1223711" name="Rectangle 31" descr="信纸"/>
          <p:cNvSpPr>
            <a:spLocks noChangeArrowheads="1"/>
          </p:cNvSpPr>
          <p:nvPr/>
        </p:nvSpPr>
        <p:spPr bwMode="auto">
          <a:xfrm>
            <a:off x="7134416" y="941526"/>
            <a:ext cx="4686310" cy="5262979"/>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spcBef>
                <a:spcPts val="0"/>
              </a:spcBef>
            </a:pP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判断输入的月份是否在</a:t>
            </a:r>
            <a:r>
              <a:rPr lang="en-US" altLang="zh-CN" sz="1800" dirty="0">
                <a:solidFill>
                  <a:schemeClr val="accent2">
                    <a:lumMod val="50000"/>
                  </a:schemeClr>
                </a:solidFill>
                <a:latin typeface="+mn-lt"/>
                <a:ea typeface="楷体" pitchFamily="49" charset="-122"/>
              </a:rPr>
              <a:t>1..12</a:t>
            </a:r>
            <a:r>
              <a:rPr lang="zh-CN" altLang="en-US" sz="1800" dirty="0">
                <a:solidFill>
                  <a:schemeClr val="accent2">
                    <a:lumMod val="50000"/>
                  </a:schemeClr>
                </a:solidFill>
                <a:latin typeface="+mn-lt"/>
                <a:ea typeface="楷体" pitchFamily="49" charset="-122"/>
              </a:rPr>
              <a:t>之间</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正确返回</a:t>
            </a:r>
            <a:endParaRPr lang="en-US" altLang="zh-CN" sz="1800" dirty="0">
              <a:solidFill>
                <a:schemeClr val="accent2">
                  <a:lumMod val="50000"/>
                </a:schemeClr>
              </a:solidFill>
              <a:latin typeface="+mn-lt"/>
              <a:ea typeface="楷体" pitchFamily="49" charset="-122"/>
            </a:endParaRPr>
          </a:p>
          <a:p>
            <a:pPr>
              <a:spcBef>
                <a:spcPts val="0"/>
              </a:spcBef>
            </a:pPr>
            <a:r>
              <a:rPr lang="en-US" altLang="zh-CN" sz="1800" dirty="0">
                <a:solidFill>
                  <a:schemeClr val="accent2">
                    <a:lumMod val="50000"/>
                  </a:schemeClr>
                </a:solidFill>
                <a:latin typeface="+mn-lt"/>
                <a:ea typeface="楷体" pitchFamily="49" charset="-122"/>
              </a:rPr>
              <a:t>   1..12</a:t>
            </a:r>
            <a:r>
              <a:rPr lang="zh-CN" altLang="en-US" sz="1800" dirty="0">
                <a:solidFill>
                  <a:schemeClr val="accent2">
                    <a:lumMod val="50000"/>
                  </a:schemeClr>
                </a:solidFill>
                <a:latin typeface="+mn-lt"/>
                <a:ea typeface="楷体" pitchFamily="49" charset="-122"/>
              </a:rPr>
              <a:t>之间的整数，错误返回</a:t>
            </a:r>
            <a:r>
              <a:rPr lang="en-US" altLang="zh-CN" sz="1800" dirty="0">
                <a:solidFill>
                  <a:schemeClr val="accent2">
                    <a:lumMod val="50000"/>
                  </a:schemeClr>
                </a:solidFill>
                <a:latin typeface="+mn-lt"/>
                <a:ea typeface="楷体" pitchFamily="49" charset="-122"/>
              </a:rPr>
              <a:t>-1</a:t>
            </a:r>
          </a:p>
          <a:p>
            <a:pPr marL="457200" indent="-457200"/>
            <a:r>
              <a:rPr lang="en-US" altLang="zh-CN" sz="2000" dirty="0" err="1">
                <a:solidFill>
                  <a:srgbClr val="CC0099"/>
                </a:solidFill>
              </a:rPr>
              <a:t>int</a:t>
            </a:r>
            <a:r>
              <a:rPr lang="en-US" altLang="zh-CN" sz="2000" dirty="0">
                <a:solidFill>
                  <a:srgbClr val="CC0099"/>
                </a:solidFill>
              </a:rPr>
              <a:t> </a:t>
            </a:r>
            <a:r>
              <a:rPr lang="en-US" altLang="zh-CN" sz="2000" dirty="0" err="1">
                <a:solidFill>
                  <a:srgbClr val="CC0099"/>
                </a:solidFill>
              </a:rPr>
              <a:t>GetMonth</a:t>
            </a:r>
            <a:r>
              <a:rPr lang="en-US" altLang="zh-CN" sz="2000" dirty="0">
                <a:solidFill>
                  <a:srgbClr val="CC0099"/>
                </a:solidFill>
              </a:rPr>
              <a:t> (char *</a:t>
            </a:r>
            <a:r>
              <a:rPr lang="en-US" altLang="zh-CN" sz="2000" dirty="0" err="1">
                <a:solidFill>
                  <a:srgbClr val="CC0099"/>
                </a:solidFill>
              </a:rPr>
              <a:t>str</a:t>
            </a:r>
            <a:r>
              <a:rPr lang="en-US" altLang="zh-CN" sz="2000" dirty="0">
                <a:solidFill>
                  <a:srgbClr val="CC0099"/>
                </a:solidFill>
              </a:rPr>
              <a:t>)  </a:t>
            </a:r>
          </a:p>
          <a:p>
            <a:pPr marL="457200" indent="-457200"/>
            <a:r>
              <a:rPr lang="en-US" altLang="zh-CN" sz="2000" dirty="0"/>
              <a:t>{</a:t>
            </a:r>
          </a:p>
          <a:p>
            <a:pPr marL="457200" indent="-457200"/>
            <a:r>
              <a:rPr lang="en-US" altLang="zh-CN" sz="2000" dirty="0"/>
              <a:t>  </a:t>
            </a:r>
            <a:r>
              <a:rPr lang="en-US" altLang="zh-CN" sz="2000" dirty="0" err="1"/>
              <a:t>int</a:t>
            </a:r>
            <a:r>
              <a:rPr lang="en-US" altLang="zh-CN" sz="2000" dirty="0"/>
              <a:t> k, </a:t>
            </a:r>
            <a:r>
              <a:rPr lang="en-US" altLang="zh-CN" sz="2000" dirty="0" err="1"/>
              <a:t>i</a:t>
            </a:r>
            <a:r>
              <a:rPr lang="en-US" altLang="zh-CN" sz="2000" dirty="0"/>
              <a:t> = 0;</a:t>
            </a:r>
          </a:p>
          <a:p>
            <a:pPr marL="457200" indent="-457200"/>
            <a:r>
              <a:rPr lang="en-US" altLang="zh-CN" sz="2000" dirty="0"/>
              <a:t>  while (</a:t>
            </a:r>
            <a:r>
              <a:rPr lang="en-US" altLang="zh-CN" sz="2000" dirty="0" err="1"/>
              <a:t>str</a:t>
            </a:r>
            <a:r>
              <a:rPr lang="en-US" altLang="zh-CN" sz="2000" dirty="0"/>
              <a:t>[</a:t>
            </a:r>
            <a:r>
              <a:rPr lang="en-US" altLang="zh-CN" sz="2000" dirty="0" err="1"/>
              <a:t>i</a:t>
            </a:r>
            <a:r>
              <a:rPr lang="en-US" altLang="zh-CN" sz="2000" dirty="0"/>
              <a:t>] != 0)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是否为合法的数字串</a:t>
            </a:r>
          </a:p>
          <a:p>
            <a:pPr marL="457200" indent="-457200"/>
            <a:r>
              <a:rPr lang="zh-CN" altLang="en-US" sz="2000" dirty="0"/>
              <a:t>  </a:t>
            </a:r>
            <a:r>
              <a:rPr lang="en-US" altLang="zh-CN" sz="2000" dirty="0"/>
              <a:t>{</a:t>
            </a:r>
          </a:p>
          <a:p>
            <a:pPr marL="457200" indent="-457200"/>
            <a:r>
              <a:rPr lang="en-US" altLang="zh-CN" sz="2000" dirty="0"/>
              <a:t>    if (</a:t>
            </a:r>
            <a:r>
              <a:rPr lang="en-US" altLang="zh-CN" sz="2000" dirty="0" err="1"/>
              <a:t>str</a:t>
            </a:r>
            <a:r>
              <a:rPr lang="en-US" altLang="zh-CN" sz="2000" dirty="0"/>
              <a:t>[</a:t>
            </a:r>
            <a:r>
              <a:rPr lang="en-US" altLang="zh-CN" sz="2000" dirty="0" err="1"/>
              <a:t>i</a:t>
            </a:r>
            <a:r>
              <a:rPr lang="en-US" altLang="zh-CN" sz="2000" dirty="0"/>
              <a:t>] &lt; '0' || </a:t>
            </a:r>
            <a:r>
              <a:rPr lang="en-US" altLang="zh-CN" sz="2000" dirty="0" err="1"/>
              <a:t>str</a:t>
            </a:r>
            <a:r>
              <a:rPr lang="en-US" altLang="zh-CN" sz="2000" dirty="0"/>
              <a:t>[</a:t>
            </a:r>
            <a:r>
              <a:rPr lang="en-US" altLang="zh-CN" sz="2000" dirty="0" err="1"/>
              <a:t>i</a:t>
            </a:r>
            <a:r>
              <a:rPr lang="en-US" altLang="zh-CN" sz="2000" dirty="0"/>
              <a:t>] &gt; '9')</a:t>
            </a:r>
          </a:p>
          <a:p>
            <a:pPr marL="457200" indent="-457200"/>
            <a:r>
              <a:rPr lang="en-US" altLang="zh-CN" sz="2000" dirty="0"/>
              <a:t>       return (-1);</a:t>
            </a:r>
          </a:p>
          <a:p>
            <a:pPr marL="457200" indent="-457200"/>
            <a:r>
              <a:rPr lang="en-US" altLang="zh-CN" sz="2000" dirty="0"/>
              <a:t>    else</a:t>
            </a:r>
          </a:p>
          <a:p>
            <a:pPr marL="457200" indent="-457200"/>
            <a:r>
              <a:rPr lang="en-US" altLang="zh-CN" sz="2000" dirty="0"/>
              <a:t>       </a:t>
            </a:r>
            <a:r>
              <a:rPr lang="en-US" altLang="zh-CN" sz="2000" dirty="0" err="1"/>
              <a:t>i</a:t>
            </a:r>
            <a:r>
              <a:rPr lang="en-US" altLang="zh-CN" sz="2000" dirty="0"/>
              <a:t>++;</a:t>
            </a:r>
          </a:p>
          <a:p>
            <a:pPr marL="457200" indent="-457200"/>
            <a:r>
              <a:rPr lang="en-US" altLang="zh-CN" sz="2000" dirty="0"/>
              <a:t>  }</a:t>
            </a:r>
          </a:p>
          <a:p>
            <a:pPr marL="457200" indent="-457200"/>
            <a:r>
              <a:rPr lang="en-US" altLang="zh-CN" sz="2000" dirty="0"/>
              <a:t>  k = </a:t>
            </a:r>
            <a:r>
              <a:rPr lang="en-US" altLang="zh-CN" sz="2000" dirty="0" err="1"/>
              <a:t>atoi</a:t>
            </a:r>
            <a:r>
              <a:rPr lang="en-US" altLang="zh-CN" sz="2000" dirty="0"/>
              <a:t> (</a:t>
            </a:r>
            <a:r>
              <a:rPr lang="en-US" altLang="zh-CN" sz="2000" dirty="0" err="1"/>
              <a:t>str</a:t>
            </a:r>
            <a:r>
              <a:rPr lang="en-US" altLang="zh-CN" sz="2000" dirty="0"/>
              <a:t>);  </a:t>
            </a:r>
          </a:p>
          <a:p>
            <a:pPr marL="457200" indent="-457200"/>
            <a:r>
              <a:rPr lang="en-US" altLang="zh-CN" sz="2000" dirty="0"/>
              <a:t>  if (k &lt; 0 || k &gt; 12)  </a:t>
            </a:r>
            <a:r>
              <a:rPr lang="en-US" altLang="zh-CN" sz="1800" dirty="0">
                <a:solidFill>
                  <a:schemeClr val="accent2">
                    <a:lumMod val="50000"/>
                  </a:schemeClr>
                </a:solidFill>
                <a:latin typeface="+mn-lt"/>
                <a:ea typeface="楷体" pitchFamily="49" charset="-122"/>
              </a:rPr>
              <a:t>//</a:t>
            </a:r>
            <a:r>
              <a:rPr lang="zh-CN" altLang="en-US" sz="1800" dirty="0">
                <a:solidFill>
                  <a:schemeClr val="accent2">
                    <a:lumMod val="50000"/>
                  </a:schemeClr>
                </a:solidFill>
                <a:latin typeface="+mn-lt"/>
                <a:ea typeface="楷体" pitchFamily="49" charset="-122"/>
              </a:rPr>
              <a:t>月份是否在</a:t>
            </a:r>
            <a:r>
              <a:rPr lang="en-US" altLang="zh-CN" sz="1800" dirty="0">
                <a:solidFill>
                  <a:schemeClr val="accent2">
                    <a:lumMod val="50000"/>
                  </a:schemeClr>
                </a:solidFill>
                <a:latin typeface="+mn-lt"/>
                <a:ea typeface="楷体" pitchFamily="49" charset="-122"/>
              </a:rPr>
              <a:t>1..12</a:t>
            </a:r>
            <a:r>
              <a:rPr lang="zh-CN" altLang="en-US" sz="1800" dirty="0">
                <a:solidFill>
                  <a:schemeClr val="accent2">
                    <a:lumMod val="50000"/>
                  </a:schemeClr>
                </a:solidFill>
                <a:latin typeface="+mn-lt"/>
                <a:ea typeface="楷体" pitchFamily="49" charset="-122"/>
              </a:rPr>
              <a:t>之间</a:t>
            </a:r>
          </a:p>
          <a:p>
            <a:pPr marL="457200" indent="-457200"/>
            <a:r>
              <a:rPr lang="zh-CN" altLang="en-US" sz="2000" dirty="0"/>
              <a:t>     </a:t>
            </a:r>
            <a:r>
              <a:rPr lang="en-US" altLang="zh-CN" sz="2000" dirty="0"/>
              <a:t>return (-1);</a:t>
            </a:r>
          </a:p>
          <a:p>
            <a:pPr marL="457200" indent="-457200"/>
            <a:r>
              <a:rPr lang="en-US" altLang="zh-CN" sz="2000" dirty="0"/>
              <a:t>  return (k);</a:t>
            </a:r>
          </a:p>
          <a:p>
            <a:pPr marL="457200" indent="-457200"/>
            <a:r>
              <a:rPr lang="en-US" altLang="zh-CN" sz="2000" dirty="0"/>
              <a:t>}</a:t>
            </a:r>
          </a:p>
        </p:txBody>
      </p:sp>
      <p:sp>
        <p:nvSpPr>
          <p:cNvPr id="1223712" name="Rectangle 32"/>
          <p:cNvSpPr>
            <a:spLocks noChangeArrowheads="1"/>
          </p:cNvSpPr>
          <p:nvPr/>
        </p:nvSpPr>
        <p:spPr bwMode="auto">
          <a:xfrm>
            <a:off x="8759329" y="5296564"/>
            <a:ext cx="2880320" cy="1015663"/>
          </a:xfrm>
          <a:prstGeom prst="rect">
            <a:avLst/>
          </a:prstGeom>
          <a:solidFill>
            <a:srgbClr val="FFFFFF"/>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zh-CN" altLang="en-US" sz="2000" dirty="0">
                <a:solidFill>
                  <a:srgbClr val="C00000"/>
                </a:solidFill>
                <a:latin typeface="隶书" pitchFamily="49" charset="-122"/>
                <a:ea typeface="隶书" pitchFamily="49" charset="-122"/>
              </a:rPr>
              <a:t>运行结果：</a:t>
            </a:r>
          </a:p>
          <a:p>
            <a:pPr>
              <a:lnSpc>
                <a:spcPct val="100000"/>
              </a:lnSpc>
              <a:spcBef>
                <a:spcPct val="0"/>
              </a:spcBef>
            </a:pPr>
            <a:r>
              <a:rPr lang="en-US" altLang="zh-CN" sz="2000" dirty="0"/>
              <a:t>example9-16  12</a:t>
            </a:r>
            <a:r>
              <a:rPr lang="en-US" altLang="zh-CN" sz="2000" dirty="0">
                <a:latin typeface="+mn-ea"/>
                <a:ea typeface="+mn-ea"/>
              </a:rPr>
              <a:t>↙</a:t>
            </a:r>
          </a:p>
          <a:p>
            <a:pPr>
              <a:lnSpc>
                <a:spcPct val="100000"/>
              </a:lnSpc>
              <a:spcBef>
                <a:spcPct val="0"/>
              </a:spcBef>
            </a:pPr>
            <a:r>
              <a:rPr lang="en-US" altLang="zh-CN" sz="2000" dirty="0">
                <a:solidFill>
                  <a:schemeClr val="accent2">
                    <a:lumMod val="50000"/>
                  </a:schemeClr>
                </a:solidFill>
              </a:rPr>
              <a:t>December</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3682">
                                            <p:txEl>
                                              <p:pRg st="0" end="0"/>
                                            </p:txEl>
                                          </p:spTgt>
                                        </p:tgtEl>
                                        <p:attrNameLst>
                                          <p:attrName>style.visibility</p:attrName>
                                        </p:attrNameLst>
                                      </p:cBhvr>
                                      <p:to>
                                        <p:strVal val="visible"/>
                                      </p:to>
                                    </p:set>
                                    <p:anim calcmode="lin" valueType="num">
                                      <p:cBhvr additive="base">
                                        <p:cTn id="7" dur="500" fill="hold"/>
                                        <p:tgtEl>
                                          <p:spTgt spid="122368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368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223709"/>
                                        </p:tgtEl>
                                        <p:attrNameLst>
                                          <p:attrName>style.visibility</p:attrName>
                                        </p:attrNameLst>
                                      </p:cBhvr>
                                      <p:to>
                                        <p:strVal val="visible"/>
                                      </p:to>
                                    </p:set>
                                    <p:animEffect transition="in" filter="blinds(vertical)">
                                      <p:cBhvr>
                                        <p:cTn id="13" dur="500"/>
                                        <p:tgtEl>
                                          <p:spTgt spid="122370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1223710"/>
                                        </p:tgtEl>
                                        <p:attrNameLst>
                                          <p:attrName>style.visibility</p:attrName>
                                        </p:attrNameLst>
                                      </p:cBhvr>
                                      <p:to>
                                        <p:strVal val="visible"/>
                                      </p:to>
                                    </p:set>
                                    <p:animEffect transition="in" filter="blinds(vertical)">
                                      <p:cBhvr>
                                        <p:cTn id="18" dur="500"/>
                                        <p:tgtEl>
                                          <p:spTgt spid="1223710"/>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1223711"/>
                                        </p:tgtEl>
                                        <p:attrNameLst>
                                          <p:attrName>style.visibility</p:attrName>
                                        </p:attrNameLst>
                                      </p:cBhvr>
                                      <p:to>
                                        <p:strVal val="visible"/>
                                      </p:to>
                                    </p:set>
                                    <p:animEffect transition="in" filter="blinds(vertical)">
                                      <p:cBhvr>
                                        <p:cTn id="23" dur="500"/>
                                        <p:tgtEl>
                                          <p:spTgt spid="1223711"/>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223712"/>
                                        </p:tgtEl>
                                        <p:attrNameLst>
                                          <p:attrName>style.visibility</p:attrName>
                                        </p:attrNameLst>
                                      </p:cBhvr>
                                      <p:to>
                                        <p:strVal val="visible"/>
                                      </p:to>
                                    </p:set>
                                    <p:animEffect transition="in" filter="box(out)">
                                      <p:cBhvr>
                                        <p:cTn id="28" dur="500"/>
                                        <p:tgtEl>
                                          <p:spTgt spid="1223712"/>
                                        </p:tgtEl>
                                      </p:cBhvr>
                                    </p:animEffect>
                                  </p:childTnLst>
                                  <p:subTnLst>
                                    <p:audio>
                                      <p:cMediaNode>
                                        <p:cTn display="0" masterRel="sameClick">
                                          <p:stCondLst>
                                            <p:cond evt="begin" delay="0">
                                              <p:tn val="2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3682" grpId="0" build="p" autoUpdateAnimBg="0"/>
      <p:bldP spid="1223709" grpId="0" animBg="1" autoUpdateAnimBg="0"/>
      <p:bldP spid="1223710" grpId="0" animBg="1" autoUpdateAnimBg="0"/>
      <p:bldP spid="1223711" grpId="0" animBg="1" autoUpdateAnimBg="0"/>
      <p:bldP spid="1223712" grpId="0" animBg="1"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4714" name="Rectangle 10"/>
          <p:cNvSpPr>
            <a:spLocks noChangeArrowheads="1"/>
          </p:cNvSpPr>
          <p:nvPr/>
        </p:nvSpPr>
        <p:spPr bwMode="auto">
          <a:xfrm>
            <a:off x="672490" y="957364"/>
            <a:ext cx="11040134" cy="2019079"/>
          </a:xfrm>
          <a:prstGeom prst="rect">
            <a:avLst/>
          </a:prstGeom>
          <a:noFill/>
          <a:ln w="9525" algn="ctr">
            <a:noFill/>
            <a:miter lim="800000"/>
            <a:headEnd/>
            <a:tailEnd/>
          </a:ln>
          <a:effectLst/>
        </p:spPr>
        <p:txBody>
          <a:bodyPr wrap="square" anchor="ctr">
            <a:spAutoFit/>
          </a:bodyPr>
          <a:lstStyle/>
          <a:p>
            <a:pPr marL="457200" indent="-457200">
              <a:tabLst>
                <a:tab pos="266700" algn="l"/>
              </a:tabLst>
            </a:pPr>
            <a:r>
              <a:rPr lang="en-US" altLang="zh-CN" b="1" dirty="0">
                <a:solidFill>
                  <a:srgbClr val="C00000"/>
                </a:solidFill>
                <a:latin typeface="楷体" panose="02010609060101010101" pitchFamily="49" charset="-122"/>
                <a:ea typeface="楷体" panose="02010609060101010101" pitchFamily="49" charset="-122"/>
              </a:rPr>
              <a:t>1. </a:t>
            </a:r>
            <a:r>
              <a:rPr lang="zh-CN" altLang="en-US" b="1" dirty="0">
                <a:solidFill>
                  <a:srgbClr val="C00000"/>
                </a:solidFill>
                <a:latin typeface="楷体" panose="02010609060101010101" pitchFamily="49" charset="-122"/>
                <a:ea typeface="楷体" panose="02010609060101010101" pitchFamily="49" charset="-122"/>
              </a:rPr>
              <a:t>指针是Ｃ语言中一个重要的组成部分，使用指针编程有以下优点：</a:t>
            </a:r>
          </a:p>
          <a:p>
            <a:pPr marL="914400" lvl="1" indent="-457200">
              <a:lnSpc>
                <a:spcPct val="130000"/>
              </a:lnSpc>
              <a:buFontTx/>
              <a:buAutoNum type="circleNumDbPlain"/>
              <a:tabLst>
                <a:tab pos="266700" algn="l"/>
              </a:tabLst>
            </a:pPr>
            <a:r>
              <a:rPr lang="zh-CN" altLang="en-US" sz="2000" dirty="0">
                <a:latin typeface="+mn-lt"/>
                <a:ea typeface="楷体" pitchFamily="49" charset="-122"/>
              </a:rPr>
              <a:t>提高程序的编译效率和执行速度。</a:t>
            </a:r>
          </a:p>
          <a:p>
            <a:pPr marL="914400" lvl="1" indent="-457200">
              <a:lnSpc>
                <a:spcPct val="130000"/>
              </a:lnSpc>
              <a:buFontTx/>
              <a:buAutoNum type="circleNumDbPlain"/>
              <a:tabLst>
                <a:tab pos="266700" algn="l"/>
              </a:tabLst>
            </a:pPr>
            <a:r>
              <a:rPr lang="zh-CN" altLang="en-US" sz="2000" dirty="0">
                <a:latin typeface="+mn-lt"/>
                <a:ea typeface="楷体" pitchFamily="49" charset="-122"/>
              </a:rPr>
              <a:t>通过指针可使主调函数和被调函数之间共享变量或数据结构，便于实现双向数据通讯。</a:t>
            </a:r>
          </a:p>
          <a:p>
            <a:pPr marL="914400" lvl="1" indent="-457200">
              <a:lnSpc>
                <a:spcPct val="130000"/>
              </a:lnSpc>
              <a:buFontTx/>
              <a:buAutoNum type="circleNumDbPlain"/>
              <a:tabLst>
                <a:tab pos="266700" algn="l"/>
              </a:tabLst>
            </a:pPr>
            <a:r>
              <a:rPr lang="zh-CN" altLang="en-US" sz="2000" dirty="0">
                <a:latin typeface="+mn-lt"/>
                <a:ea typeface="楷体" pitchFamily="49" charset="-122"/>
              </a:rPr>
              <a:t>可以实现动态的存储分配。</a:t>
            </a:r>
          </a:p>
          <a:p>
            <a:pPr marL="914400" lvl="1" indent="-457200">
              <a:lnSpc>
                <a:spcPct val="130000"/>
              </a:lnSpc>
              <a:buFontTx/>
              <a:buAutoNum type="circleNumDbPlain"/>
              <a:tabLst>
                <a:tab pos="266700" algn="l"/>
              </a:tabLst>
            </a:pPr>
            <a:r>
              <a:rPr lang="zh-CN" altLang="en-US" sz="2000" dirty="0">
                <a:latin typeface="+mn-lt"/>
                <a:ea typeface="楷体" pitchFamily="49" charset="-122"/>
              </a:rPr>
              <a:t>便于表示各种数据结构，编写高质量的程序。</a:t>
            </a:r>
          </a:p>
        </p:txBody>
      </p:sp>
      <p:sp>
        <p:nvSpPr>
          <p:cNvPr id="1224715" name="Rectangle 11"/>
          <p:cNvSpPr>
            <a:spLocks noChangeArrowheads="1"/>
          </p:cNvSpPr>
          <p:nvPr/>
        </p:nvSpPr>
        <p:spPr bwMode="auto">
          <a:xfrm>
            <a:off x="743926" y="3203704"/>
            <a:ext cx="7800345" cy="1618969"/>
          </a:xfrm>
          <a:prstGeom prst="rect">
            <a:avLst/>
          </a:prstGeom>
          <a:noFill/>
          <a:ln w="9525" algn="ctr">
            <a:noFill/>
            <a:miter lim="800000"/>
            <a:headEnd/>
            <a:tailEnd/>
          </a:ln>
          <a:effectLst/>
        </p:spPr>
        <p:txBody>
          <a:bodyPr wrap="square" anchor="ctr">
            <a:spAutoFit/>
          </a:bodyPr>
          <a:lstStyle/>
          <a:p>
            <a:pPr marL="457200" indent="-457200">
              <a:tabLst>
                <a:tab pos="266700" algn="l"/>
              </a:tabLst>
            </a:pPr>
            <a:r>
              <a:rPr lang="en-US" altLang="zh-CN" b="1" dirty="0">
                <a:solidFill>
                  <a:srgbClr val="C00000"/>
                </a:solidFill>
                <a:latin typeface="楷体" panose="02010609060101010101" pitchFamily="49" charset="-122"/>
                <a:ea typeface="楷体" panose="02010609060101010101" pitchFamily="49" charset="-122"/>
              </a:rPr>
              <a:t>2. </a:t>
            </a:r>
            <a:r>
              <a:rPr lang="zh-CN" altLang="en-US" b="1" dirty="0">
                <a:solidFill>
                  <a:srgbClr val="C00000"/>
                </a:solidFill>
                <a:latin typeface="楷体" panose="02010609060101010101" pitchFamily="49" charset="-122"/>
                <a:ea typeface="楷体" panose="02010609060101010101" pitchFamily="49" charset="-122"/>
              </a:rPr>
              <a:t>指针的运算</a:t>
            </a:r>
          </a:p>
          <a:p>
            <a:pPr marL="914400" lvl="1" indent="-457200">
              <a:lnSpc>
                <a:spcPct val="130000"/>
              </a:lnSpc>
              <a:buFontTx/>
              <a:buAutoNum type="circleNumDbPlain"/>
              <a:tabLst>
                <a:tab pos="266700" algn="l"/>
              </a:tabLst>
            </a:pPr>
            <a:r>
              <a:rPr lang="zh-CN" altLang="en-US" sz="2000" dirty="0">
                <a:latin typeface="+mn-lt"/>
                <a:ea typeface="楷体" pitchFamily="49" charset="-122"/>
              </a:rPr>
              <a:t>取地址运算符</a:t>
            </a:r>
            <a:r>
              <a:rPr lang="en-US" altLang="zh-CN" sz="2000" dirty="0">
                <a:latin typeface="+mn-lt"/>
                <a:ea typeface="楷体" pitchFamily="49" charset="-122"/>
              </a:rPr>
              <a:t>&amp;</a:t>
            </a:r>
            <a:r>
              <a:rPr lang="zh-CN" altLang="en-US" sz="2000" dirty="0">
                <a:latin typeface="+mn-lt"/>
                <a:ea typeface="楷体" pitchFamily="49" charset="-122"/>
              </a:rPr>
              <a:t>：求变量的地址</a:t>
            </a:r>
          </a:p>
          <a:p>
            <a:pPr marL="914400" lvl="1" indent="-457200">
              <a:lnSpc>
                <a:spcPct val="130000"/>
              </a:lnSpc>
              <a:buFontTx/>
              <a:buAutoNum type="circleNumDbPlain"/>
              <a:tabLst>
                <a:tab pos="266700" algn="l"/>
              </a:tabLst>
            </a:pPr>
            <a:r>
              <a:rPr lang="zh-CN" altLang="en-US" sz="2000" dirty="0">
                <a:latin typeface="+mn-lt"/>
                <a:ea typeface="楷体" pitchFamily="49" charset="-122"/>
              </a:rPr>
              <a:t>取内容运算符*：表示指针所指的变量</a:t>
            </a:r>
          </a:p>
          <a:p>
            <a:pPr marL="914400" lvl="1" indent="-457200">
              <a:lnSpc>
                <a:spcPct val="130000"/>
              </a:lnSpc>
              <a:buFontTx/>
              <a:buAutoNum type="circleNumDbPlain"/>
              <a:tabLst>
                <a:tab pos="266700" algn="l"/>
              </a:tabLst>
            </a:pPr>
            <a:r>
              <a:rPr lang="zh-CN" altLang="en-US" sz="2000" dirty="0">
                <a:latin typeface="+mn-lt"/>
                <a:ea typeface="楷体" pitchFamily="49" charset="-122"/>
              </a:rPr>
              <a:t>赋值运算</a:t>
            </a:r>
          </a:p>
        </p:txBody>
      </p:sp>
      <p:sp>
        <p:nvSpPr>
          <p:cNvPr id="1224716" name="Rectangle 12"/>
          <p:cNvSpPr>
            <a:spLocks noChangeArrowheads="1"/>
          </p:cNvSpPr>
          <p:nvPr/>
        </p:nvSpPr>
        <p:spPr bwMode="auto">
          <a:xfrm>
            <a:off x="1919536" y="4725144"/>
            <a:ext cx="4748416" cy="1649747"/>
          </a:xfrm>
          <a:prstGeom prst="rect">
            <a:avLst/>
          </a:prstGeom>
          <a:noFill/>
          <a:ln w="9525" algn="ctr">
            <a:noFill/>
            <a:miter lim="800000"/>
            <a:headEnd/>
            <a:tailEnd/>
          </a:ln>
          <a:effectLst/>
        </p:spPr>
        <p:txBody>
          <a:bodyPr wrap="none" anchor="ctr">
            <a:spAutoFit/>
          </a:bodyPr>
          <a:lstStyle/>
          <a:p>
            <a:pPr>
              <a:lnSpc>
                <a:spcPct val="130000"/>
              </a:lnSpc>
              <a:buClr>
                <a:srgbClr val="C00000"/>
              </a:buClr>
              <a:buFont typeface="Wingdings" pitchFamily="2" charset="2"/>
              <a:buChar char="Ø"/>
              <a:tabLst>
                <a:tab pos="533400" algn="l"/>
              </a:tabLst>
            </a:pPr>
            <a:r>
              <a:rPr lang="zh-CN" altLang="en-US" sz="2000" dirty="0">
                <a:latin typeface="+mn-lt"/>
                <a:ea typeface="楷体" pitchFamily="49" charset="-122"/>
              </a:rPr>
              <a:t>把变量地址赋予指针变量</a:t>
            </a:r>
          </a:p>
          <a:p>
            <a:pPr>
              <a:lnSpc>
                <a:spcPct val="130000"/>
              </a:lnSpc>
              <a:buClr>
                <a:srgbClr val="C00000"/>
              </a:buClr>
              <a:buFont typeface="Wingdings" pitchFamily="2" charset="2"/>
              <a:buChar char="Ø"/>
              <a:tabLst>
                <a:tab pos="533400" algn="l"/>
              </a:tabLst>
            </a:pPr>
            <a:r>
              <a:rPr lang="zh-CN" altLang="en-US" sz="2000" dirty="0">
                <a:latin typeface="+mn-lt"/>
                <a:ea typeface="楷体" pitchFamily="49" charset="-122"/>
              </a:rPr>
              <a:t>同类型指针变量相互赋值</a:t>
            </a:r>
          </a:p>
          <a:p>
            <a:pPr>
              <a:lnSpc>
                <a:spcPct val="130000"/>
              </a:lnSpc>
              <a:buClr>
                <a:srgbClr val="C00000"/>
              </a:buClr>
              <a:buFont typeface="Wingdings" pitchFamily="2" charset="2"/>
              <a:buChar char="Ø"/>
              <a:tabLst>
                <a:tab pos="533400" algn="l"/>
              </a:tabLst>
            </a:pPr>
            <a:r>
              <a:rPr lang="zh-CN" altLang="en-US" sz="2000" dirty="0">
                <a:latin typeface="+mn-lt"/>
                <a:ea typeface="楷体" pitchFamily="49" charset="-122"/>
              </a:rPr>
              <a:t>把数组，字符串的首地址赋予指针变量</a:t>
            </a:r>
          </a:p>
          <a:p>
            <a:pPr>
              <a:lnSpc>
                <a:spcPct val="130000"/>
              </a:lnSpc>
              <a:buClr>
                <a:srgbClr val="C00000"/>
              </a:buClr>
              <a:buFont typeface="Wingdings" pitchFamily="2" charset="2"/>
              <a:buChar char="Ø"/>
              <a:tabLst>
                <a:tab pos="533400" algn="l"/>
              </a:tabLst>
            </a:pPr>
            <a:r>
              <a:rPr lang="zh-CN" altLang="en-US" sz="2000" dirty="0">
                <a:latin typeface="+mn-lt"/>
                <a:ea typeface="楷体" pitchFamily="49" charset="-122"/>
              </a:rPr>
              <a:t>把函数入口地址赋予指针变量</a:t>
            </a:r>
          </a:p>
        </p:txBody>
      </p:sp>
      <p:sp>
        <p:nvSpPr>
          <p:cNvPr id="9" name="Rectangle 4">
            <a:extLst>
              <a:ext uri="{FF2B5EF4-FFF2-40B4-BE49-F238E27FC236}">
                <a16:creationId xmlns:a16="http://schemas.microsoft.com/office/drawing/2014/main" id="{79F1D65F-02AA-4B40-8CCC-2B6A8CB2089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224714">
                                            <p:txEl>
                                              <p:pRg st="0" end="0"/>
                                            </p:txEl>
                                          </p:spTgt>
                                        </p:tgtEl>
                                        <p:attrNameLst>
                                          <p:attrName>style.visibility</p:attrName>
                                        </p:attrNameLst>
                                      </p:cBhvr>
                                      <p:to>
                                        <p:strVal val="visible"/>
                                      </p:to>
                                    </p:set>
                                    <p:animEffect transition="in" filter="box(out)">
                                      <p:cBhvr>
                                        <p:cTn id="7" dur="500"/>
                                        <p:tgtEl>
                                          <p:spTgt spid="1224714">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224714">
                                            <p:txEl>
                                              <p:pRg st="1" end="1"/>
                                            </p:txEl>
                                          </p:spTgt>
                                        </p:tgtEl>
                                        <p:attrNameLst>
                                          <p:attrName>style.visibility</p:attrName>
                                        </p:attrNameLst>
                                      </p:cBhvr>
                                      <p:to>
                                        <p:strVal val="visible"/>
                                      </p:to>
                                    </p:set>
                                    <p:anim calcmode="lin" valueType="num">
                                      <p:cBhvr additive="base">
                                        <p:cTn id="12" dur="500" fill="hold"/>
                                        <p:tgtEl>
                                          <p:spTgt spid="1224714">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22471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224714">
                                            <p:txEl>
                                              <p:pRg st="2" end="2"/>
                                            </p:txEl>
                                          </p:spTgt>
                                        </p:tgtEl>
                                        <p:attrNameLst>
                                          <p:attrName>style.visibility</p:attrName>
                                        </p:attrNameLst>
                                      </p:cBhvr>
                                      <p:to>
                                        <p:strVal val="visible"/>
                                      </p:to>
                                    </p:set>
                                    <p:anim calcmode="lin" valueType="num">
                                      <p:cBhvr additive="base">
                                        <p:cTn id="18" dur="500" fill="hold"/>
                                        <p:tgtEl>
                                          <p:spTgt spid="1224714">
                                            <p:txEl>
                                              <p:pRg st="2" end="2"/>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22471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224714">
                                            <p:txEl>
                                              <p:pRg st="3" end="3"/>
                                            </p:txEl>
                                          </p:spTgt>
                                        </p:tgtEl>
                                        <p:attrNameLst>
                                          <p:attrName>style.visibility</p:attrName>
                                        </p:attrNameLst>
                                      </p:cBhvr>
                                      <p:to>
                                        <p:strVal val="visible"/>
                                      </p:to>
                                    </p:set>
                                    <p:anim calcmode="lin" valueType="num">
                                      <p:cBhvr additive="base">
                                        <p:cTn id="24" dur="500" fill="hold"/>
                                        <p:tgtEl>
                                          <p:spTgt spid="1224714">
                                            <p:txEl>
                                              <p:pRg st="3" end="3"/>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22471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1224714">
                                            <p:txEl>
                                              <p:pRg st="4" end="4"/>
                                            </p:txEl>
                                          </p:spTgt>
                                        </p:tgtEl>
                                        <p:attrNameLst>
                                          <p:attrName>style.visibility</p:attrName>
                                        </p:attrNameLst>
                                      </p:cBhvr>
                                      <p:to>
                                        <p:strVal val="visible"/>
                                      </p:to>
                                    </p:set>
                                    <p:anim calcmode="lin" valueType="num">
                                      <p:cBhvr additive="base">
                                        <p:cTn id="30" dur="500" fill="hold"/>
                                        <p:tgtEl>
                                          <p:spTgt spid="1224714">
                                            <p:txEl>
                                              <p:pRg st="4" end="4"/>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1224714">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1224715">
                                            <p:txEl>
                                              <p:pRg st="0" end="0"/>
                                            </p:txEl>
                                          </p:spTgt>
                                        </p:tgtEl>
                                        <p:attrNameLst>
                                          <p:attrName>style.visibility</p:attrName>
                                        </p:attrNameLst>
                                      </p:cBhvr>
                                      <p:to>
                                        <p:strVal val="visible"/>
                                      </p:to>
                                    </p:set>
                                    <p:animEffect transition="in" filter="box(out)">
                                      <p:cBhvr>
                                        <p:cTn id="36" dur="500"/>
                                        <p:tgtEl>
                                          <p:spTgt spid="1224715">
                                            <p:txEl>
                                              <p:pRg st="0" end="0"/>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2" name="WHOOSH.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1224715">
                                            <p:txEl>
                                              <p:pRg st="1" end="1"/>
                                            </p:txEl>
                                          </p:spTgt>
                                        </p:tgtEl>
                                        <p:attrNameLst>
                                          <p:attrName>style.visibility</p:attrName>
                                        </p:attrNameLst>
                                      </p:cBhvr>
                                      <p:to>
                                        <p:strVal val="visible"/>
                                      </p:to>
                                    </p:set>
                                    <p:anim calcmode="lin" valueType="num">
                                      <p:cBhvr additive="base">
                                        <p:cTn id="41" dur="500" fill="hold"/>
                                        <p:tgtEl>
                                          <p:spTgt spid="1224715">
                                            <p:txEl>
                                              <p:pRg st="1" end="1"/>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122471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1224715">
                                            <p:txEl>
                                              <p:pRg st="2" end="2"/>
                                            </p:txEl>
                                          </p:spTgt>
                                        </p:tgtEl>
                                        <p:attrNameLst>
                                          <p:attrName>style.visibility</p:attrName>
                                        </p:attrNameLst>
                                      </p:cBhvr>
                                      <p:to>
                                        <p:strVal val="visible"/>
                                      </p:to>
                                    </p:set>
                                    <p:anim calcmode="lin" valueType="num">
                                      <p:cBhvr additive="base">
                                        <p:cTn id="47" dur="500" fill="hold"/>
                                        <p:tgtEl>
                                          <p:spTgt spid="1224715">
                                            <p:txEl>
                                              <p:pRg st="2" end="2"/>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122471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p:cTn id="52" dur="1" fill="hold">
                                          <p:stCondLst>
                                            <p:cond delay="0"/>
                                          </p:stCondLst>
                                        </p:cTn>
                                        <p:tgtEl>
                                          <p:spTgt spid="1224715">
                                            <p:txEl>
                                              <p:pRg st="3" end="3"/>
                                            </p:txEl>
                                          </p:spTgt>
                                        </p:tgtEl>
                                        <p:attrNameLst>
                                          <p:attrName>style.visibility</p:attrName>
                                        </p:attrNameLst>
                                      </p:cBhvr>
                                      <p:to>
                                        <p:strVal val="visible"/>
                                      </p:to>
                                    </p:set>
                                    <p:anim calcmode="lin" valueType="num">
                                      <p:cBhvr additive="base">
                                        <p:cTn id="53" dur="500" fill="hold"/>
                                        <p:tgtEl>
                                          <p:spTgt spid="1224715">
                                            <p:txEl>
                                              <p:pRg st="3" end="3"/>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122471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224716">
                                            <p:txEl>
                                              <p:pRg st="0" end="0"/>
                                            </p:txEl>
                                          </p:spTgt>
                                        </p:tgtEl>
                                        <p:attrNameLst>
                                          <p:attrName>style.visibility</p:attrName>
                                        </p:attrNameLst>
                                      </p:cBhvr>
                                      <p:to>
                                        <p:strVal val="visible"/>
                                      </p:to>
                                    </p:set>
                                    <p:anim calcmode="lin" valueType="num">
                                      <p:cBhvr additive="base">
                                        <p:cTn id="59" dur="500" fill="hold"/>
                                        <p:tgtEl>
                                          <p:spTgt spid="1224716">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224716">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224716">
                                            <p:txEl>
                                              <p:pRg st="1" end="1"/>
                                            </p:txEl>
                                          </p:spTgt>
                                        </p:tgtEl>
                                        <p:attrNameLst>
                                          <p:attrName>style.visibility</p:attrName>
                                        </p:attrNameLst>
                                      </p:cBhvr>
                                      <p:to>
                                        <p:strVal val="visible"/>
                                      </p:to>
                                    </p:set>
                                    <p:anim calcmode="lin" valueType="num">
                                      <p:cBhvr additive="base">
                                        <p:cTn id="65" dur="500" fill="hold"/>
                                        <p:tgtEl>
                                          <p:spTgt spid="1224716">
                                            <p:txEl>
                                              <p:pRg st="1" end="1"/>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224716">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224716">
                                            <p:txEl>
                                              <p:pRg st="2" end="2"/>
                                            </p:txEl>
                                          </p:spTgt>
                                        </p:tgtEl>
                                        <p:attrNameLst>
                                          <p:attrName>style.visibility</p:attrName>
                                        </p:attrNameLst>
                                      </p:cBhvr>
                                      <p:to>
                                        <p:strVal val="visible"/>
                                      </p:to>
                                    </p:set>
                                    <p:anim calcmode="lin" valueType="num">
                                      <p:cBhvr additive="base">
                                        <p:cTn id="71" dur="500" fill="hold"/>
                                        <p:tgtEl>
                                          <p:spTgt spid="1224716">
                                            <p:txEl>
                                              <p:pRg st="2" end="2"/>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224716">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224716">
                                            <p:txEl>
                                              <p:pRg st="3" end="3"/>
                                            </p:txEl>
                                          </p:spTgt>
                                        </p:tgtEl>
                                        <p:attrNameLst>
                                          <p:attrName>style.visibility</p:attrName>
                                        </p:attrNameLst>
                                      </p:cBhvr>
                                      <p:to>
                                        <p:strVal val="visible"/>
                                      </p:to>
                                    </p:set>
                                    <p:anim calcmode="lin" valueType="num">
                                      <p:cBhvr additive="base">
                                        <p:cTn id="77" dur="500" fill="hold"/>
                                        <p:tgtEl>
                                          <p:spTgt spid="1224716">
                                            <p:txEl>
                                              <p:pRg st="3" end="3"/>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224716">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5737" name="Rectangle 9"/>
          <p:cNvSpPr>
            <a:spLocks noChangeArrowheads="1"/>
          </p:cNvSpPr>
          <p:nvPr/>
        </p:nvSpPr>
        <p:spPr bwMode="auto">
          <a:xfrm>
            <a:off x="1127448" y="1581760"/>
            <a:ext cx="10008865" cy="1631216"/>
          </a:xfrm>
          <a:prstGeom prst="rect">
            <a:avLst/>
          </a:prstGeom>
          <a:noFill/>
          <a:ln w="9525" algn="ctr">
            <a:noFill/>
            <a:miter lim="800000"/>
            <a:headEnd/>
            <a:tailEnd/>
          </a:ln>
          <a:effectLst/>
        </p:spPr>
        <p:txBody>
          <a:bodyPr wrap="square" anchor="ctr">
            <a:spAutoFit/>
          </a:bodyPr>
          <a:lstStyle/>
          <a:p>
            <a:pPr indent="266700">
              <a:buFontTx/>
              <a:buAutoNum type="circleNumDbPlain" startAt="4"/>
              <a:tabLst>
                <a:tab pos="266700" algn="l"/>
              </a:tabLst>
            </a:pPr>
            <a:r>
              <a:rPr lang="zh-CN" altLang="en-US" sz="2000" dirty="0">
                <a:latin typeface="+mn-lt"/>
                <a:ea typeface="楷体" pitchFamily="49" charset="-122"/>
              </a:rPr>
              <a:t>加减运算</a:t>
            </a:r>
            <a:endParaRPr lang="en-US" altLang="zh-CN" sz="2000" dirty="0">
              <a:latin typeface="+mn-lt"/>
              <a:ea typeface="楷体" pitchFamily="49" charset="-122"/>
            </a:endParaRPr>
          </a:p>
          <a:p>
            <a:pPr>
              <a:tabLst>
                <a:tab pos="266700" algn="l"/>
              </a:tabLst>
            </a:pPr>
            <a:endParaRPr lang="zh-CN" altLang="en-US" sz="2000" dirty="0">
              <a:latin typeface="+mn-lt"/>
              <a:ea typeface="楷体" pitchFamily="49" charset="-122"/>
            </a:endParaRPr>
          </a:p>
          <a:p>
            <a:pPr indent="266700">
              <a:tabLst>
                <a:tab pos="266700" algn="l"/>
              </a:tabLst>
            </a:pPr>
            <a:r>
              <a:rPr lang="zh-CN" altLang="en-US" sz="2000" dirty="0">
                <a:latin typeface="+mn-lt"/>
                <a:ea typeface="楷体" pitchFamily="49" charset="-122"/>
              </a:rPr>
              <a:t>    对指向数组，字符串的指针变量可以进行加减运算，如</a:t>
            </a:r>
            <a:r>
              <a:rPr lang="en-US" altLang="zh-CN" sz="2000" dirty="0">
                <a:latin typeface="+mn-lt"/>
                <a:ea typeface="楷体" pitchFamily="49" charset="-122"/>
              </a:rPr>
              <a:t>p + n</a:t>
            </a:r>
            <a:r>
              <a:rPr lang="zh-CN" altLang="en-US" sz="2000" dirty="0">
                <a:latin typeface="+mn-lt"/>
                <a:ea typeface="楷体" pitchFamily="49" charset="-122"/>
              </a:rPr>
              <a:t>，</a:t>
            </a:r>
            <a:r>
              <a:rPr lang="en-US" altLang="zh-CN" sz="2000" dirty="0">
                <a:latin typeface="+mn-lt"/>
                <a:ea typeface="楷体" pitchFamily="49" charset="-122"/>
              </a:rPr>
              <a:t>p – n</a:t>
            </a:r>
            <a:r>
              <a:rPr lang="zh-CN" altLang="en-US" sz="2000" dirty="0">
                <a:latin typeface="+mn-lt"/>
                <a:ea typeface="楷体" pitchFamily="49" charset="-122"/>
              </a:rPr>
              <a:t>，</a:t>
            </a:r>
            <a:r>
              <a:rPr lang="en-US" altLang="zh-CN" sz="2000" dirty="0">
                <a:latin typeface="+mn-lt"/>
                <a:ea typeface="楷体" pitchFamily="49" charset="-122"/>
              </a:rPr>
              <a:t>p++</a:t>
            </a:r>
            <a:r>
              <a:rPr lang="zh-CN" altLang="en-US" sz="2000" dirty="0">
                <a:latin typeface="+mn-lt"/>
                <a:ea typeface="楷体" pitchFamily="49" charset="-122"/>
              </a:rPr>
              <a:t>，</a:t>
            </a:r>
            <a:r>
              <a:rPr lang="en-US" altLang="zh-CN" sz="2000" dirty="0">
                <a:latin typeface="+mn-lt"/>
                <a:ea typeface="楷体" pitchFamily="49" charset="-122"/>
              </a:rPr>
              <a:t>p--</a:t>
            </a:r>
            <a:r>
              <a:rPr lang="zh-CN" altLang="en-US" sz="2000" dirty="0">
                <a:latin typeface="+mn-lt"/>
                <a:ea typeface="楷体" pitchFamily="49" charset="-122"/>
              </a:rPr>
              <a:t>等。对指向同一数组的两个指针变量可以相减。对指向其它类型的指针变量作加减运算是无意义的。</a:t>
            </a:r>
          </a:p>
        </p:txBody>
      </p:sp>
      <p:sp>
        <p:nvSpPr>
          <p:cNvPr id="1225738" name="Rectangle 10"/>
          <p:cNvSpPr>
            <a:spLocks noChangeArrowheads="1"/>
          </p:cNvSpPr>
          <p:nvPr/>
        </p:nvSpPr>
        <p:spPr bwMode="auto">
          <a:xfrm>
            <a:off x="1147880" y="3617729"/>
            <a:ext cx="10007397" cy="1323439"/>
          </a:xfrm>
          <a:prstGeom prst="rect">
            <a:avLst/>
          </a:prstGeom>
          <a:noFill/>
          <a:ln w="9525" algn="ctr">
            <a:noFill/>
            <a:miter lim="800000"/>
            <a:headEnd/>
            <a:tailEnd/>
          </a:ln>
          <a:effectLst/>
        </p:spPr>
        <p:txBody>
          <a:bodyPr wrap="square" anchor="ctr">
            <a:spAutoFit/>
          </a:bodyPr>
          <a:lstStyle/>
          <a:p>
            <a:pPr indent="266700">
              <a:buFontTx/>
              <a:buAutoNum type="circleNumDbPlain" startAt="5"/>
              <a:tabLst>
                <a:tab pos="266700" algn="l"/>
              </a:tabLst>
            </a:pPr>
            <a:r>
              <a:rPr lang="zh-CN" altLang="en-US" sz="2000" dirty="0">
                <a:latin typeface="+mn-lt"/>
                <a:ea typeface="楷体" pitchFamily="49" charset="-122"/>
              </a:rPr>
              <a:t>关系运算</a:t>
            </a:r>
            <a:endParaRPr lang="en-US" altLang="zh-CN" sz="2000" dirty="0">
              <a:latin typeface="+mn-lt"/>
              <a:ea typeface="楷体" pitchFamily="49" charset="-122"/>
            </a:endParaRPr>
          </a:p>
          <a:p>
            <a:pPr indent="266700">
              <a:buFontTx/>
              <a:buAutoNum type="circleNumDbPlain" startAt="5"/>
              <a:tabLst>
                <a:tab pos="266700" algn="l"/>
              </a:tabLst>
            </a:pPr>
            <a:endParaRPr lang="zh-CN" altLang="en-US" sz="2000" dirty="0">
              <a:latin typeface="+mn-lt"/>
              <a:ea typeface="楷体" pitchFamily="49" charset="-122"/>
            </a:endParaRPr>
          </a:p>
          <a:p>
            <a:pPr indent="266700">
              <a:tabLst>
                <a:tab pos="266700" algn="l"/>
              </a:tabLst>
            </a:pPr>
            <a:r>
              <a:rPr lang="zh-CN" altLang="en-US" sz="2000" dirty="0">
                <a:latin typeface="+mn-lt"/>
                <a:ea typeface="楷体" pitchFamily="49" charset="-122"/>
              </a:rPr>
              <a:t>     指向同一数组的两个指针变量之间可以进行大于、小于、等于比较运算。指针可与</a:t>
            </a:r>
            <a:r>
              <a:rPr lang="en-US" altLang="zh-CN" sz="2000" dirty="0">
                <a:latin typeface="+mn-lt"/>
                <a:ea typeface="楷体" pitchFamily="49" charset="-122"/>
              </a:rPr>
              <a:t>0</a:t>
            </a:r>
            <a:r>
              <a:rPr lang="zh-CN" altLang="en-US" sz="2000" dirty="0">
                <a:latin typeface="+mn-lt"/>
                <a:ea typeface="楷体" pitchFamily="49" charset="-122"/>
              </a:rPr>
              <a:t>比较，</a:t>
            </a:r>
            <a:r>
              <a:rPr lang="en-US" altLang="zh-CN" sz="2000" dirty="0">
                <a:latin typeface="+mn-lt"/>
                <a:ea typeface="楷体" pitchFamily="49" charset="-122"/>
              </a:rPr>
              <a:t>p == 0</a:t>
            </a:r>
            <a:r>
              <a:rPr lang="zh-CN" altLang="en-US" sz="2000" dirty="0">
                <a:latin typeface="+mn-lt"/>
                <a:ea typeface="楷体" pitchFamily="49" charset="-122"/>
              </a:rPr>
              <a:t>表示</a:t>
            </a:r>
            <a:r>
              <a:rPr lang="en-US" altLang="zh-CN" sz="2000" dirty="0">
                <a:latin typeface="+mn-lt"/>
                <a:ea typeface="楷体" pitchFamily="49" charset="-122"/>
              </a:rPr>
              <a:t>p</a:t>
            </a:r>
            <a:r>
              <a:rPr lang="zh-CN" altLang="en-US" sz="2000" dirty="0">
                <a:latin typeface="+mn-lt"/>
                <a:ea typeface="楷体" pitchFamily="49" charset="-122"/>
              </a:rPr>
              <a:t>为空指针。</a:t>
            </a:r>
          </a:p>
        </p:txBody>
      </p:sp>
      <p:sp>
        <p:nvSpPr>
          <p:cNvPr id="8" name="Rectangle 4">
            <a:extLst>
              <a:ext uri="{FF2B5EF4-FFF2-40B4-BE49-F238E27FC236}">
                <a16:creationId xmlns:a16="http://schemas.microsoft.com/office/drawing/2014/main" id="{87A2B63A-BA10-4B65-83D8-09B734CE2C5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
        <p:nvSpPr>
          <p:cNvPr id="9" name="Rectangle 11">
            <a:extLst>
              <a:ext uri="{FF2B5EF4-FFF2-40B4-BE49-F238E27FC236}">
                <a16:creationId xmlns:a16="http://schemas.microsoft.com/office/drawing/2014/main" id="{B13F045E-EC9B-408D-8BE0-42FF53ED6147}"/>
              </a:ext>
            </a:extLst>
          </p:cNvPr>
          <p:cNvSpPr>
            <a:spLocks noChangeArrowheads="1"/>
          </p:cNvSpPr>
          <p:nvPr/>
        </p:nvSpPr>
        <p:spPr bwMode="auto">
          <a:xfrm>
            <a:off x="637239" y="966723"/>
            <a:ext cx="7800345" cy="461665"/>
          </a:xfrm>
          <a:prstGeom prst="rect">
            <a:avLst/>
          </a:prstGeom>
          <a:noFill/>
          <a:ln w="9525" algn="ctr">
            <a:noFill/>
            <a:miter lim="800000"/>
            <a:headEnd/>
            <a:tailEnd/>
          </a:ln>
          <a:effectLst/>
        </p:spPr>
        <p:txBody>
          <a:bodyPr wrap="square" anchor="ctr">
            <a:spAutoFit/>
          </a:bodyPr>
          <a:lstStyle/>
          <a:p>
            <a:pPr marL="457200" indent="-457200">
              <a:tabLst>
                <a:tab pos="266700" algn="l"/>
              </a:tabLst>
            </a:pPr>
            <a:r>
              <a:rPr lang="en-US" altLang="zh-CN" b="1" dirty="0">
                <a:solidFill>
                  <a:srgbClr val="C00000"/>
                </a:solidFill>
                <a:latin typeface="楷体" panose="02010609060101010101" pitchFamily="49" charset="-122"/>
                <a:ea typeface="楷体" panose="02010609060101010101" pitchFamily="49" charset="-122"/>
              </a:rPr>
              <a:t>2. </a:t>
            </a:r>
            <a:r>
              <a:rPr lang="zh-CN" altLang="en-US" b="1" dirty="0">
                <a:solidFill>
                  <a:srgbClr val="C00000"/>
                </a:solidFill>
                <a:latin typeface="楷体" panose="02010609060101010101" pitchFamily="49" charset="-122"/>
                <a:ea typeface="楷体" panose="02010609060101010101" pitchFamily="49" charset="-122"/>
              </a:rPr>
              <a:t>指针的运算</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5737"/>
                                        </p:tgtEl>
                                        <p:attrNameLst>
                                          <p:attrName>style.visibility</p:attrName>
                                        </p:attrNameLst>
                                      </p:cBhvr>
                                      <p:to>
                                        <p:strVal val="visible"/>
                                      </p:to>
                                    </p:set>
                                    <p:anim calcmode="lin" valueType="num">
                                      <p:cBhvr additive="base">
                                        <p:cTn id="7" dur="500" fill="hold"/>
                                        <p:tgtEl>
                                          <p:spTgt spid="1225737"/>
                                        </p:tgtEl>
                                        <p:attrNameLst>
                                          <p:attrName>ppt_x</p:attrName>
                                        </p:attrNameLst>
                                      </p:cBhvr>
                                      <p:tavLst>
                                        <p:tav tm="0">
                                          <p:val>
                                            <p:strVal val="0-#ppt_w/2"/>
                                          </p:val>
                                        </p:tav>
                                        <p:tav tm="100000">
                                          <p:val>
                                            <p:strVal val="#ppt_x"/>
                                          </p:val>
                                        </p:tav>
                                      </p:tavLst>
                                    </p:anim>
                                    <p:anim calcmode="lin" valueType="num">
                                      <p:cBhvr additive="base">
                                        <p:cTn id="8" dur="500" fill="hold"/>
                                        <p:tgtEl>
                                          <p:spTgt spid="122573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5738"/>
                                        </p:tgtEl>
                                        <p:attrNameLst>
                                          <p:attrName>style.visibility</p:attrName>
                                        </p:attrNameLst>
                                      </p:cBhvr>
                                      <p:to>
                                        <p:strVal val="visible"/>
                                      </p:to>
                                    </p:set>
                                    <p:anim calcmode="lin" valueType="num">
                                      <p:cBhvr additive="base">
                                        <p:cTn id="13" dur="500" fill="hold"/>
                                        <p:tgtEl>
                                          <p:spTgt spid="1225738"/>
                                        </p:tgtEl>
                                        <p:attrNameLst>
                                          <p:attrName>ppt_x</p:attrName>
                                        </p:attrNameLst>
                                      </p:cBhvr>
                                      <p:tavLst>
                                        <p:tav tm="0">
                                          <p:val>
                                            <p:strVal val="0-#ppt_w/2"/>
                                          </p:val>
                                        </p:tav>
                                        <p:tav tm="100000">
                                          <p:val>
                                            <p:strVal val="#ppt_x"/>
                                          </p:val>
                                        </p:tav>
                                      </p:tavLst>
                                    </p:anim>
                                    <p:anim calcmode="lin" valueType="num">
                                      <p:cBhvr additive="base">
                                        <p:cTn id="14" dur="500" fill="hold"/>
                                        <p:tgtEl>
                                          <p:spTgt spid="12257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5737" grpId="0"/>
      <p:bldP spid="1225738"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6882" name="Group 130"/>
          <p:cNvGraphicFramePr>
            <a:graphicFrameLocks noGrp="1"/>
          </p:cNvGraphicFramePr>
          <p:nvPr>
            <p:extLst>
              <p:ext uri="{D42A27DB-BD31-4B8C-83A1-F6EECF244321}">
                <p14:modId xmlns:p14="http://schemas.microsoft.com/office/powerpoint/2010/main" val="3837200994"/>
              </p:ext>
            </p:extLst>
          </p:nvPr>
        </p:nvGraphicFramePr>
        <p:xfrm>
          <a:off x="962867" y="1627820"/>
          <a:ext cx="10266266" cy="3962400"/>
        </p:xfrm>
        <a:graphic>
          <a:graphicData uri="http://schemas.openxmlformats.org/drawingml/2006/table">
            <a:tbl>
              <a:tblPr>
                <a:effectLst>
                  <a:outerShdw blurRad="50800" dist="38100" dir="2700000" algn="tl" rotWithShape="0">
                    <a:prstClr val="black">
                      <a:alpha val="40000"/>
                    </a:prstClr>
                  </a:outerShdw>
                </a:effectLst>
              </a:tblPr>
              <a:tblGrid>
                <a:gridCol w="2802312">
                  <a:extLst>
                    <a:ext uri="{9D8B030D-6E8A-4147-A177-3AD203B41FA5}">
                      <a16:colId xmlns:a16="http://schemas.microsoft.com/office/drawing/2014/main" val="20000"/>
                    </a:ext>
                  </a:extLst>
                </a:gridCol>
                <a:gridCol w="7463954">
                  <a:extLst>
                    <a:ext uri="{9D8B030D-6E8A-4147-A177-3AD203B41FA5}">
                      <a16:colId xmlns:a16="http://schemas.microsoft.com/office/drawing/2014/main" val="20001"/>
                    </a:ext>
                  </a:extLst>
                </a:gridCol>
              </a:tblGrid>
              <a:tr h="277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bg1">
                              <a:lumMod val="95000"/>
                            </a:schemeClr>
                          </a:solidFill>
                          <a:effectLst/>
                          <a:latin typeface="+mn-lt"/>
                          <a:ea typeface="楷体" pitchFamily="49" charset="-122"/>
                          <a:cs typeface="Times New Roman" pitchFamily="18" charset="0"/>
                        </a:rPr>
                        <a:t>定义</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bg1">
                              <a:lumMod val="95000"/>
                            </a:schemeClr>
                          </a:solidFill>
                          <a:effectLst/>
                          <a:latin typeface="+mn-lt"/>
                          <a:ea typeface="楷体" pitchFamily="49" charset="-122"/>
                          <a:cs typeface="Times New Roman" pitchFamily="18" charset="0"/>
                        </a:rPr>
                        <a:t>含义</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0000"/>
                    </a:solidFill>
                  </a:tcPr>
                </a:tc>
                <a:extLst>
                  <a:ext uri="{0D108BD9-81ED-4DB2-BD59-A6C34878D82A}">
                    <a16:rowId xmlns:a16="http://schemas.microsoft.com/office/drawing/2014/main" val="10000"/>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r>
                        <a:rPr kumimoji="1" lang="en-US" altLang="zh-CN" sz="2000" b="0"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a:t>
                      </a:r>
                      <a:r>
                        <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定义整型变量</a:t>
                      </a:r>
                      <a:r>
                        <a:rPr kumimoji="1" lang="en-US" altLang="zh-CN" sz="2000" b="0"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为指向整型数据的指针变量</a:t>
                      </a:r>
                      <a:endParaRPr kumimoji="1" lang="zh-CN" altLang="en-US"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定义含</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n</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个元素的整型数组</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err="1">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  *p[n];</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n</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个指向整型数据的指针变量组成的指针数组</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2984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int  (*p)[n];</a:t>
                      </a:r>
                      <a:endParaRPr kumimoji="1" lang="en-US" altLang="zh-CN" sz="2000" b="0"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为指向含</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n</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个元素的一维整型数组的指针变量</a:t>
                      </a:r>
                      <a:endParaRPr kumimoji="1" lang="zh-CN" altLang="en-US"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int  f();</a:t>
                      </a:r>
                      <a:endParaRPr kumimoji="1" lang="en-US" altLang="zh-CN" sz="2000" b="0"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f</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为返回整型数的函数</a:t>
                      </a:r>
                      <a:endParaRPr kumimoji="1" lang="zh-CN" altLang="en-US"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int  *p();</a:t>
                      </a:r>
                      <a:endParaRPr kumimoji="1" lang="en-US" altLang="zh-CN" sz="2000" b="0"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为返回指针的函数，该指针指向一个整型数据</a:t>
                      </a:r>
                      <a:endParaRPr kumimoji="1" lang="zh-CN" altLang="en-US"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int  (*p)();</a:t>
                      </a:r>
                      <a:endParaRPr kumimoji="1" lang="en-US" altLang="zh-CN" sz="2000" b="0"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为指向函数的指针变量，该函数返回整型数</a:t>
                      </a:r>
                      <a:endParaRPr kumimoji="1" lang="zh-CN" altLang="en-US"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int  **p;</a:t>
                      </a:r>
                      <a:endParaRPr kumimoji="1" lang="en-US" altLang="zh-CN" sz="2000" b="0"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为指针变量，它指向一个指向整型数据的指针变量</a:t>
                      </a:r>
                      <a:endParaRPr kumimoji="1" lang="zh-CN" altLang="en-US"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bl>
          </a:graphicData>
        </a:graphic>
      </p:graphicFrame>
      <p:sp>
        <p:nvSpPr>
          <p:cNvPr id="1226883" name="Rectangle 131"/>
          <p:cNvSpPr>
            <a:spLocks noChangeArrowheads="1"/>
          </p:cNvSpPr>
          <p:nvPr/>
        </p:nvSpPr>
        <p:spPr bwMode="auto">
          <a:xfrm>
            <a:off x="612321" y="817898"/>
            <a:ext cx="5548312" cy="457200"/>
          </a:xfrm>
          <a:prstGeom prst="rect">
            <a:avLst/>
          </a:prstGeom>
          <a:noFill/>
          <a:ln w="9525" algn="ctr">
            <a:noFill/>
            <a:miter lim="800000"/>
            <a:headEnd/>
            <a:tailEnd/>
          </a:ln>
          <a:effectLst/>
        </p:spPr>
        <p:txBody>
          <a:bodyPr wrap="none" anchor="ctr">
            <a:spAutoFit/>
          </a:bodyPr>
          <a:lstStyle/>
          <a:p>
            <a:pPr>
              <a:lnSpc>
                <a:spcPct val="100000"/>
              </a:lnSpc>
              <a:spcBef>
                <a:spcPct val="0"/>
              </a:spcBef>
              <a:tabLst>
                <a:tab pos="533400" algn="l"/>
              </a:tabLst>
            </a:pPr>
            <a:r>
              <a:rPr lang="en-US" altLang="zh-CN" b="1" dirty="0">
                <a:solidFill>
                  <a:srgbClr val="C00000"/>
                </a:solidFill>
                <a:latin typeface="楷体" panose="02010609060101010101" pitchFamily="49" charset="-122"/>
                <a:ea typeface="楷体" panose="02010609060101010101" pitchFamily="49" charset="-122"/>
              </a:rPr>
              <a:t>3. </a:t>
            </a:r>
            <a:r>
              <a:rPr lang="zh-CN" altLang="en-US" b="1" dirty="0">
                <a:solidFill>
                  <a:srgbClr val="C00000"/>
                </a:solidFill>
                <a:latin typeface="楷体" panose="02010609060101010101" pitchFamily="49" charset="-122"/>
                <a:ea typeface="楷体" panose="02010609060101010101" pitchFamily="49" charset="-122"/>
              </a:rPr>
              <a:t>与指针有关的各种说明和意义见下表</a:t>
            </a:r>
          </a:p>
        </p:txBody>
      </p:sp>
      <p:sp>
        <p:nvSpPr>
          <p:cNvPr id="1226884" name="Rectangle 132"/>
          <p:cNvSpPr>
            <a:spLocks noChangeArrowheads="1"/>
          </p:cNvSpPr>
          <p:nvPr/>
        </p:nvSpPr>
        <p:spPr bwMode="auto">
          <a:xfrm>
            <a:off x="1569132" y="3262332"/>
            <a:ext cx="9053735" cy="3046988"/>
          </a:xfrm>
          <a:prstGeom prst="rect">
            <a:avLst/>
          </a:prstGeom>
          <a:gradFill rotWithShape="1">
            <a:gsLst>
              <a:gs pos="0">
                <a:srgbClr val="CFCFD1"/>
              </a:gs>
              <a:gs pos="100000">
                <a:schemeClr val="bg1"/>
              </a:gs>
            </a:gsLst>
            <a:lin ang="5400000" scaled="1"/>
          </a:gradFill>
          <a:ln w="38100" algn="ctr">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dirty="0">
                <a:solidFill>
                  <a:srgbClr val="C00000"/>
                </a:solidFill>
                <a:latin typeface="隶书" pitchFamily="49" charset="-122"/>
                <a:ea typeface="隶书" pitchFamily="49" charset="-122"/>
              </a:rPr>
              <a:t>例如，下列定义的含义：</a:t>
            </a:r>
          </a:p>
          <a:p>
            <a:r>
              <a:rPr lang="zh-CN" altLang="en-US" dirty="0"/>
              <a:t>（</a:t>
            </a:r>
            <a:r>
              <a:rPr lang="en-US" altLang="zh-CN" dirty="0"/>
              <a:t>1</a:t>
            </a:r>
            <a:r>
              <a:rPr lang="zh-CN" altLang="en-US" dirty="0"/>
              <a:t>）</a:t>
            </a:r>
            <a:r>
              <a:rPr lang="en-US" altLang="zh-CN" dirty="0"/>
              <a:t>int  *p[3];                       </a:t>
            </a:r>
            <a:r>
              <a:rPr lang="en-US" altLang="zh-CN" sz="2000" dirty="0">
                <a:solidFill>
                  <a:srgbClr val="002060"/>
                </a:solidFill>
                <a:latin typeface="+mn-lt"/>
                <a:ea typeface="楷体" pitchFamily="49" charset="-122"/>
              </a:rPr>
              <a:t>//</a:t>
            </a:r>
            <a:r>
              <a:rPr lang="zh-CN" altLang="en-US" sz="2000" dirty="0">
                <a:solidFill>
                  <a:srgbClr val="002060"/>
                </a:solidFill>
                <a:latin typeface="+mn-lt"/>
                <a:ea typeface="楷体" pitchFamily="49" charset="-122"/>
              </a:rPr>
              <a:t>指针数组</a:t>
            </a:r>
          </a:p>
          <a:p>
            <a:r>
              <a:rPr lang="zh-CN" altLang="en-US" dirty="0"/>
              <a:t>（</a:t>
            </a:r>
            <a:r>
              <a:rPr lang="en-US" altLang="zh-CN" dirty="0"/>
              <a:t>2</a:t>
            </a:r>
            <a:r>
              <a:rPr lang="zh-CN" altLang="en-US" dirty="0"/>
              <a:t>）</a:t>
            </a:r>
            <a:r>
              <a:rPr lang="en-US" altLang="zh-CN" dirty="0"/>
              <a:t>int (*p)[3];        </a:t>
            </a:r>
            <a:r>
              <a:rPr lang="en-US" altLang="zh-CN" sz="2000" dirty="0">
                <a:solidFill>
                  <a:schemeClr val="accent2"/>
                </a:solidFill>
                <a:latin typeface="+mn-lt"/>
                <a:ea typeface="楷体" pitchFamily="49" charset="-122"/>
              </a:rPr>
              <a:t>  </a:t>
            </a:r>
            <a:r>
              <a:rPr lang="en-US" altLang="zh-CN" dirty="0"/>
              <a:t>            </a:t>
            </a:r>
            <a:r>
              <a:rPr lang="en-US" altLang="zh-CN" sz="2000" dirty="0">
                <a:solidFill>
                  <a:srgbClr val="002060"/>
                </a:solidFill>
                <a:latin typeface="+mn-lt"/>
                <a:ea typeface="楷体" pitchFamily="49" charset="-122"/>
              </a:rPr>
              <a:t>//</a:t>
            </a:r>
            <a:r>
              <a:rPr lang="zh-CN" altLang="en-US" sz="2000" dirty="0">
                <a:solidFill>
                  <a:srgbClr val="002060"/>
                </a:solidFill>
                <a:latin typeface="+mn-lt"/>
                <a:ea typeface="楷体" pitchFamily="49" charset="-122"/>
              </a:rPr>
              <a:t>指向一维数组的指针</a:t>
            </a:r>
          </a:p>
          <a:p>
            <a:r>
              <a:rPr lang="zh-CN" altLang="en-US" dirty="0"/>
              <a:t>（</a:t>
            </a:r>
            <a:r>
              <a:rPr lang="en-US" altLang="zh-CN" dirty="0"/>
              <a:t>3</a:t>
            </a:r>
            <a:r>
              <a:rPr lang="zh-CN" altLang="en-US" dirty="0"/>
              <a:t>）</a:t>
            </a:r>
            <a:r>
              <a:rPr lang="en-US" altLang="zh-CN" dirty="0"/>
              <a:t>int  *p (int);                    </a:t>
            </a:r>
            <a:r>
              <a:rPr lang="en-US" altLang="zh-CN" sz="2000" dirty="0">
                <a:solidFill>
                  <a:srgbClr val="002060"/>
                </a:solidFill>
                <a:latin typeface="+mn-lt"/>
                <a:ea typeface="楷体" pitchFamily="49" charset="-122"/>
              </a:rPr>
              <a:t>//</a:t>
            </a:r>
            <a:r>
              <a:rPr lang="zh-CN" altLang="en-US" sz="2000" dirty="0">
                <a:solidFill>
                  <a:srgbClr val="002060"/>
                </a:solidFill>
                <a:latin typeface="+mn-lt"/>
                <a:ea typeface="楷体" pitchFamily="49" charset="-122"/>
              </a:rPr>
              <a:t>返回指针的函数</a:t>
            </a:r>
          </a:p>
          <a:p>
            <a:r>
              <a:rPr lang="zh-CN" altLang="en-US" dirty="0"/>
              <a:t>（</a:t>
            </a:r>
            <a:r>
              <a:rPr lang="en-US" altLang="zh-CN" dirty="0"/>
              <a:t>4</a:t>
            </a:r>
            <a:r>
              <a:rPr lang="zh-CN" altLang="en-US" dirty="0"/>
              <a:t>）</a:t>
            </a:r>
            <a:r>
              <a:rPr lang="en-US" altLang="zh-CN" dirty="0"/>
              <a:t>int  (*p)(int);                  </a:t>
            </a:r>
            <a:r>
              <a:rPr lang="en-US" altLang="zh-CN" sz="2000" dirty="0">
                <a:solidFill>
                  <a:srgbClr val="002060"/>
                </a:solidFill>
                <a:latin typeface="+mn-lt"/>
                <a:ea typeface="楷体" pitchFamily="49" charset="-122"/>
              </a:rPr>
              <a:t>//</a:t>
            </a:r>
            <a:r>
              <a:rPr lang="zh-CN" altLang="en-US" sz="2000" dirty="0">
                <a:solidFill>
                  <a:srgbClr val="002060"/>
                </a:solidFill>
                <a:latin typeface="+mn-lt"/>
                <a:ea typeface="楷体" pitchFamily="49" charset="-122"/>
              </a:rPr>
              <a:t>指向函数的指针，函数返回</a:t>
            </a:r>
            <a:r>
              <a:rPr lang="en-US" altLang="zh-CN" sz="2000" dirty="0" err="1">
                <a:solidFill>
                  <a:srgbClr val="002060"/>
                </a:solidFill>
                <a:latin typeface="+mn-lt"/>
                <a:ea typeface="楷体" pitchFamily="49" charset="-122"/>
              </a:rPr>
              <a:t>int</a:t>
            </a:r>
            <a:r>
              <a:rPr lang="zh-CN" altLang="en-US" sz="2000" dirty="0">
                <a:solidFill>
                  <a:srgbClr val="002060"/>
                </a:solidFill>
                <a:latin typeface="+mn-lt"/>
                <a:ea typeface="楷体" pitchFamily="49" charset="-122"/>
              </a:rPr>
              <a:t>型变量</a:t>
            </a:r>
          </a:p>
          <a:p>
            <a:r>
              <a:rPr lang="zh-CN" altLang="en-US" dirty="0"/>
              <a:t>（</a:t>
            </a:r>
            <a:r>
              <a:rPr lang="en-US" altLang="zh-CN" dirty="0"/>
              <a:t>5</a:t>
            </a:r>
            <a:r>
              <a:rPr lang="zh-CN" altLang="en-US" dirty="0"/>
              <a:t>）</a:t>
            </a:r>
            <a:r>
              <a:rPr lang="en-US" altLang="zh-CN" dirty="0"/>
              <a:t>int  *(*p)(int);                </a:t>
            </a:r>
            <a:r>
              <a:rPr lang="en-US" altLang="zh-CN" sz="2000" dirty="0">
                <a:solidFill>
                  <a:srgbClr val="002060"/>
                </a:solidFill>
                <a:latin typeface="+mn-lt"/>
                <a:ea typeface="楷体" pitchFamily="49" charset="-122"/>
              </a:rPr>
              <a:t>//</a:t>
            </a:r>
            <a:r>
              <a:rPr lang="zh-CN" altLang="en-US" sz="2000" dirty="0">
                <a:solidFill>
                  <a:srgbClr val="002060"/>
                </a:solidFill>
                <a:latin typeface="+mn-lt"/>
                <a:ea typeface="楷体" pitchFamily="49" charset="-122"/>
              </a:rPr>
              <a:t>指向函数的指针，函数返回</a:t>
            </a:r>
            <a:r>
              <a:rPr lang="en-US" altLang="zh-CN" sz="2000" dirty="0" err="1">
                <a:solidFill>
                  <a:srgbClr val="002060"/>
                </a:solidFill>
                <a:latin typeface="+mn-lt"/>
                <a:ea typeface="楷体" pitchFamily="49" charset="-122"/>
              </a:rPr>
              <a:t>int</a:t>
            </a:r>
            <a:r>
              <a:rPr lang="zh-CN" altLang="en-US" sz="2000" dirty="0">
                <a:solidFill>
                  <a:srgbClr val="002060"/>
                </a:solidFill>
                <a:latin typeface="+mn-lt"/>
                <a:ea typeface="楷体" pitchFamily="49" charset="-122"/>
              </a:rPr>
              <a:t>型指针</a:t>
            </a:r>
          </a:p>
          <a:p>
            <a:r>
              <a:rPr lang="zh-CN" altLang="en-US" dirty="0"/>
              <a:t>（</a:t>
            </a:r>
            <a:r>
              <a:rPr lang="en-US" altLang="zh-CN" dirty="0"/>
              <a:t>6</a:t>
            </a:r>
            <a:r>
              <a:rPr lang="zh-CN" altLang="en-US" dirty="0"/>
              <a:t>）</a:t>
            </a:r>
            <a:r>
              <a:rPr lang="en-US" altLang="zh-CN" dirty="0"/>
              <a:t>int  (*p[3])(int);             </a:t>
            </a:r>
            <a:r>
              <a:rPr lang="en-US" altLang="zh-CN" sz="2000" dirty="0">
                <a:solidFill>
                  <a:srgbClr val="002060"/>
                </a:solidFill>
                <a:latin typeface="+mn-lt"/>
                <a:ea typeface="楷体" pitchFamily="49" charset="-122"/>
              </a:rPr>
              <a:t>//</a:t>
            </a:r>
            <a:r>
              <a:rPr lang="zh-CN" altLang="en-US" sz="2000" dirty="0">
                <a:solidFill>
                  <a:srgbClr val="002060"/>
                </a:solidFill>
                <a:latin typeface="+mn-lt"/>
                <a:ea typeface="楷体" pitchFamily="49" charset="-122"/>
              </a:rPr>
              <a:t>函数指针数组，函数返回</a:t>
            </a:r>
            <a:r>
              <a:rPr lang="en-US" altLang="zh-CN" sz="2000" dirty="0" err="1">
                <a:solidFill>
                  <a:srgbClr val="002060"/>
                </a:solidFill>
                <a:latin typeface="+mn-lt"/>
                <a:ea typeface="楷体" pitchFamily="49" charset="-122"/>
              </a:rPr>
              <a:t>int</a:t>
            </a:r>
            <a:r>
              <a:rPr lang="zh-CN" altLang="en-US" sz="2000" dirty="0">
                <a:solidFill>
                  <a:srgbClr val="002060"/>
                </a:solidFill>
                <a:latin typeface="+mn-lt"/>
                <a:ea typeface="楷体" pitchFamily="49" charset="-122"/>
              </a:rPr>
              <a:t>型变量</a:t>
            </a:r>
          </a:p>
          <a:p>
            <a:r>
              <a:rPr lang="zh-CN" altLang="en-US" dirty="0"/>
              <a:t>（</a:t>
            </a:r>
            <a:r>
              <a:rPr lang="en-US" altLang="zh-CN" dirty="0"/>
              <a:t>7</a:t>
            </a:r>
            <a:r>
              <a:rPr lang="zh-CN" altLang="en-US" dirty="0"/>
              <a:t>）</a:t>
            </a:r>
            <a:r>
              <a:rPr lang="en-US" altLang="zh-CN" dirty="0"/>
              <a:t>int  *(*p[3])(int)             </a:t>
            </a:r>
            <a:r>
              <a:rPr lang="en-US" altLang="zh-CN" sz="2000" dirty="0">
                <a:solidFill>
                  <a:srgbClr val="002060"/>
                </a:solidFill>
                <a:latin typeface="+mn-lt"/>
                <a:ea typeface="楷体" pitchFamily="49" charset="-122"/>
              </a:rPr>
              <a:t>//</a:t>
            </a:r>
            <a:r>
              <a:rPr lang="zh-CN" altLang="en-US" sz="2000" dirty="0">
                <a:solidFill>
                  <a:srgbClr val="002060"/>
                </a:solidFill>
                <a:latin typeface="+mn-lt"/>
                <a:ea typeface="楷体" pitchFamily="49" charset="-122"/>
              </a:rPr>
              <a:t>函数指针数组，函数返回</a:t>
            </a:r>
            <a:r>
              <a:rPr lang="en-US" altLang="zh-CN" sz="2000" dirty="0" err="1">
                <a:solidFill>
                  <a:srgbClr val="002060"/>
                </a:solidFill>
                <a:latin typeface="+mn-lt"/>
                <a:ea typeface="楷体" pitchFamily="49" charset="-122"/>
              </a:rPr>
              <a:t>int</a:t>
            </a:r>
            <a:r>
              <a:rPr lang="zh-CN" altLang="en-US" sz="2000" dirty="0">
                <a:solidFill>
                  <a:srgbClr val="002060"/>
                </a:solidFill>
                <a:latin typeface="+mn-lt"/>
                <a:ea typeface="楷体" pitchFamily="49" charset="-122"/>
              </a:rPr>
              <a:t>型指针</a:t>
            </a:r>
          </a:p>
        </p:txBody>
      </p:sp>
      <p:sp>
        <p:nvSpPr>
          <p:cNvPr id="9" name="Rectangle 4">
            <a:extLst>
              <a:ext uri="{FF2B5EF4-FFF2-40B4-BE49-F238E27FC236}">
                <a16:creationId xmlns:a16="http://schemas.microsoft.com/office/drawing/2014/main" id="{9226892E-3D2D-44E2-A134-A430F440102E}"/>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26883"/>
                                        </p:tgtEl>
                                        <p:attrNameLst>
                                          <p:attrName>style.visibility</p:attrName>
                                        </p:attrNameLst>
                                      </p:cBhvr>
                                      <p:to>
                                        <p:strVal val="visible"/>
                                      </p:to>
                                    </p:set>
                                    <p:animEffect transition="in" filter="box(out)">
                                      <p:cBhvr>
                                        <p:cTn id="7" dur="500"/>
                                        <p:tgtEl>
                                          <p:spTgt spid="1226883"/>
                                        </p:tgtEl>
                                      </p:cBhvr>
                                    </p:animEffec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226882"/>
                                        </p:tgtEl>
                                        <p:attrNameLst>
                                          <p:attrName>style.visibility</p:attrName>
                                        </p:attrNameLst>
                                      </p:cBhvr>
                                      <p:to>
                                        <p:strVal val="visible"/>
                                      </p:to>
                                    </p:set>
                                    <p:animEffect transition="in" filter="box(out)">
                                      <p:cBhvr>
                                        <p:cTn id="12" dur="500"/>
                                        <p:tgtEl>
                                          <p:spTgt spid="122688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226884"/>
                                        </p:tgtEl>
                                        <p:attrNameLst>
                                          <p:attrName>style.visibility</p:attrName>
                                        </p:attrNameLst>
                                      </p:cBhvr>
                                      <p:to>
                                        <p:strVal val="visible"/>
                                      </p:to>
                                    </p:set>
                                    <p:animEffect transition="in" filter="box(out)">
                                      <p:cBhvr>
                                        <p:cTn id="17" dur="500"/>
                                        <p:tgtEl>
                                          <p:spTgt spid="122688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6883" grpId="0"/>
      <p:bldP spid="122688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7784" name="Rectangle 8"/>
          <p:cNvSpPr>
            <a:spLocks noChangeArrowheads="1"/>
          </p:cNvSpPr>
          <p:nvPr/>
        </p:nvSpPr>
        <p:spPr bwMode="auto">
          <a:xfrm>
            <a:off x="407368" y="988255"/>
            <a:ext cx="10872885" cy="1323439"/>
          </a:xfrm>
          <a:prstGeom prst="rect">
            <a:avLst/>
          </a:prstGeom>
          <a:noFill/>
          <a:ln w="9525" algn="ctr">
            <a:noFill/>
            <a:miter lim="800000"/>
            <a:headEnd/>
            <a:tailEnd/>
          </a:ln>
          <a:effectLst/>
        </p:spPr>
        <p:txBody>
          <a:bodyPr wrap="square" anchor="ctr">
            <a:spAutoFit/>
          </a:bodyPr>
          <a:lstStyle/>
          <a:p>
            <a:pPr indent="266700">
              <a:tabLst>
                <a:tab pos="571500" algn="l"/>
              </a:tabLst>
            </a:pPr>
            <a:r>
              <a:rPr lang="en-US" altLang="zh-CN" b="1" dirty="0">
                <a:solidFill>
                  <a:srgbClr val="C00000"/>
                </a:solidFill>
                <a:latin typeface="楷体" panose="02010609060101010101" pitchFamily="49" charset="-122"/>
                <a:ea typeface="楷体" panose="02010609060101010101" pitchFamily="49" charset="-122"/>
              </a:rPr>
              <a:t>4. </a:t>
            </a:r>
            <a:r>
              <a:rPr lang="zh-CN" altLang="en-US" b="1" dirty="0">
                <a:solidFill>
                  <a:srgbClr val="C00000"/>
                </a:solidFill>
                <a:latin typeface="楷体" panose="02010609060101010101" pitchFamily="49" charset="-122"/>
                <a:ea typeface="楷体" panose="02010609060101010101" pitchFamily="49" charset="-122"/>
              </a:rPr>
              <a:t>有关指针的说明很多是由指针、数组、函数说明组合而成的</a:t>
            </a:r>
            <a:endParaRPr lang="en-US" altLang="zh-CN" b="1" dirty="0">
              <a:solidFill>
                <a:srgbClr val="C00000"/>
              </a:solidFill>
              <a:latin typeface="楷体" panose="02010609060101010101" pitchFamily="49" charset="-122"/>
              <a:ea typeface="楷体" panose="02010609060101010101" pitchFamily="49" charset="-122"/>
            </a:endParaRPr>
          </a:p>
          <a:p>
            <a:pPr indent="266700">
              <a:tabLst>
                <a:tab pos="571500" algn="l"/>
              </a:tabLst>
            </a:pPr>
            <a:endParaRPr lang="zh-CN" altLang="en-US" sz="900" b="1" dirty="0">
              <a:solidFill>
                <a:srgbClr val="C00000"/>
              </a:solidFill>
              <a:latin typeface="楷体" panose="02010609060101010101" pitchFamily="49" charset="-122"/>
              <a:ea typeface="楷体" panose="02010609060101010101" pitchFamily="49" charset="-122"/>
            </a:endParaRPr>
          </a:p>
          <a:p>
            <a:pPr indent="266700">
              <a:tabLst>
                <a:tab pos="571500" algn="l"/>
              </a:tabLst>
            </a:pPr>
            <a:r>
              <a:rPr lang="zh-CN" altLang="en-US" dirty="0">
                <a:effectLst>
                  <a:outerShdw blurRad="38100" dist="38100" dir="2700000" algn="tl">
                    <a:srgbClr val="FFFFFF"/>
                  </a:outerShdw>
                </a:effectLst>
              </a:rPr>
              <a:t>   </a:t>
            </a:r>
            <a:r>
              <a:rPr lang="zh-CN" altLang="en-US" sz="2000" dirty="0">
                <a:effectLst>
                  <a:outerShdw blurRad="38100" dist="38100" dir="2700000" algn="tl">
                    <a:srgbClr val="FFFFFF"/>
                  </a:outerShdw>
                </a:effectLst>
                <a:latin typeface="+mn-lt"/>
                <a:ea typeface="楷体" pitchFamily="49" charset="-122"/>
              </a:rPr>
              <a:t>但并不是可以任意组合，例如，数组不能由函数组成，即数组元素不能是一个函数；函数也不能返回一个数组或返回另一个函数。例如</a:t>
            </a:r>
            <a:r>
              <a:rPr lang="en-US" altLang="zh-CN" sz="2000" dirty="0" err="1">
                <a:effectLst>
                  <a:outerShdw blurRad="38100" dist="38100" dir="2700000" algn="tl">
                    <a:srgbClr val="FFFFFF"/>
                  </a:outerShdw>
                </a:effectLst>
                <a:latin typeface="+mn-lt"/>
                <a:ea typeface="楷体" pitchFamily="49" charset="-122"/>
              </a:rPr>
              <a:t>int</a:t>
            </a:r>
            <a:r>
              <a:rPr lang="en-US" altLang="zh-CN" sz="2000" dirty="0">
                <a:effectLst>
                  <a:outerShdw blurRad="38100" dist="38100" dir="2700000" algn="tl">
                    <a:srgbClr val="FFFFFF"/>
                  </a:outerShdw>
                </a:effectLst>
                <a:latin typeface="+mn-lt"/>
                <a:ea typeface="楷体" pitchFamily="49" charset="-122"/>
              </a:rPr>
              <a:t> a[5]()</a:t>
            </a:r>
            <a:r>
              <a:rPr lang="zh-CN" altLang="en-US" sz="2000" dirty="0">
                <a:effectLst>
                  <a:outerShdw blurRad="38100" dist="38100" dir="2700000" algn="tl">
                    <a:srgbClr val="FFFFFF"/>
                  </a:outerShdw>
                </a:effectLst>
                <a:latin typeface="+mn-lt"/>
                <a:ea typeface="楷体" pitchFamily="49" charset="-122"/>
              </a:rPr>
              <a:t>；就是错误的。</a:t>
            </a:r>
            <a:endParaRPr lang="zh-CN" altLang="en-US" dirty="0">
              <a:effectLst>
                <a:outerShdw blurRad="38100" dist="38100" dir="2700000" algn="tl">
                  <a:srgbClr val="FFFFFF"/>
                </a:outerShdw>
              </a:effectLst>
              <a:latin typeface="+mn-lt"/>
              <a:ea typeface="楷体" pitchFamily="49" charset="-122"/>
            </a:endParaRPr>
          </a:p>
        </p:txBody>
      </p:sp>
      <p:sp>
        <p:nvSpPr>
          <p:cNvPr id="1227785" name="Rectangle 9"/>
          <p:cNvSpPr>
            <a:spLocks noChangeArrowheads="1"/>
          </p:cNvSpPr>
          <p:nvPr/>
        </p:nvSpPr>
        <p:spPr bwMode="auto">
          <a:xfrm>
            <a:off x="407368" y="2445699"/>
            <a:ext cx="10840367" cy="1138773"/>
          </a:xfrm>
          <a:prstGeom prst="rect">
            <a:avLst/>
          </a:prstGeom>
          <a:noFill/>
          <a:ln w="9525" algn="ctr">
            <a:noFill/>
            <a:miter lim="800000"/>
            <a:headEnd/>
            <a:tailEnd/>
          </a:ln>
          <a:effectLst/>
        </p:spPr>
        <p:txBody>
          <a:bodyPr wrap="square" anchor="ctr">
            <a:spAutoFit/>
          </a:bodyPr>
          <a:lstStyle/>
          <a:p>
            <a:pPr indent="266700">
              <a:tabLst>
                <a:tab pos="571500" algn="l"/>
              </a:tabLst>
            </a:pPr>
            <a:r>
              <a:rPr lang="en-US" altLang="zh-CN" b="1" dirty="0">
                <a:solidFill>
                  <a:srgbClr val="C00000"/>
                </a:solidFill>
                <a:latin typeface="楷体" panose="02010609060101010101" pitchFamily="49" charset="-122"/>
                <a:ea typeface="楷体" panose="02010609060101010101" pitchFamily="49" charset="-122"/>
              </a:rPr>
              <a:t>5. </a:t>
            </a:r>
            <a:r>
              <a:rPr lang="zh-CN" altLang="en-US" b="1" dirty="0">
                <a:solidFill>
                  <a:srgbClr val="C00000"/>
                </a:solidFill>
                <a:latin typeface="楷体" panose="02010609060101010101" pitchFamily="49" charset="-122"/>
                <a:ea typeface="楷体" panose="02010609060101010101" pitchFamily="49" charset="-122"/>
              </a:rPr>
              <a:t>关于括号</a:t>
            </a:r>
          </a:p>
          <a:p>
            <a:pPr indent="266700">
              <a:tabLst>
                <a:tab pos="571500" algn="l"/>
              </a:tabLst>
            </a:pPr>
            <a:r>
              <a:rPr lang="zh-CN" altLang="en-US" dirty="0">
                <a:effectLst>
                  <a:outerShdw blurRad="38100" dist="38100" dir="2700000" algn="tl">
                    <a:srgbClr val="FFFFFF"/>
                  </a:outerShdw>
                </a:effectLst>
              </a:rPr>
              <a:t>   </a:t>
            </a:r>
            <a:r>
              <a:rPr lang="zh-CN" altLang="en-US" sz="2000" dirty="0">
                <a:effectLst>
                  <a:outerShdw blurRad="38100" dist="38100" dir="2700000" algn="tl">
                    <a:srgbClr val="FFFFFF"/>
                  </a:outerShdw>
                </a:effectLst>
                <a:latin typeface="+mn-lt"/>
                <a:ea typeface="楷体" pitchFamily="49" charset="-122"/>
              </a:rPr>
              <a:t>在解释组合说明符时，标识符右边的方括号和圆括号优先于标识符左边的“*”号，而方括号和圆括号以相同的优先级从左到右结合。但可以用圆括号改变约定的结合顺序。</a:t>
            </a:r>
            <a:endParaRPr lang="zh-CN" altLang="en-US" dirty="0">
              <a:effectLst>
                <a:outerShdw blurRad="38100" dist="38100" dir="2700000" algn="tl">
                  <a:srgbClr val="FFFFFF"/>
                </a:outerShdw>
              </a:effectLst>
              <a:latin typeface="+mn-lt"/>
              <a:ea typeface="楷体" pitchFamily="49" charset="-122"/>
            </a:endParaRPr>
          </a:p>
        </p:txBody>
      </p:sp>
      <p:sp>
        <p:nvSpPr>
          <p:cNvPr id="1227786" name="Rectangle 10"/>
          <p:cNvSpPr>
            <a:spLocks noChangeArrowheads="1"/>
          </p:cNvSpPr>
          <p:nvPr/>
        </p:nvSpPr>
        <p:spPr bwMode="auto">
          <a:xfrm>
            <a:off x="374850" y="3933920"/>
            <a:ext cx="10761463" cy="1138773"/>
          </a:xfrm>
          <a:prstGeom prst="rect">
            <a:avLst/>
          </a:prstGeom>
          <a:noFill/>
          <a:ln w="9525" algn="ctr">
            <a:noFill/>
            <a:miter lim="800000"/>
            <a:headEnd/>
            <a:tailEnd/>
          </a:ln>
          <a:effectLst/>
        </p:spPr>
        <p:txBody>
          <a:bodyPr wrap="square" anchor="ctr">
            <a:spAutoFit/>
          </a:bodyPr>
          <a:lstStyle/>
          <a:p>
            <a:pPr indent="266700">
              <a:tabLst>
                <a:tab pos="571500" algn="l"/>
              </a:tabLst>
            </a:pPr>
            <a:r>
              <a:rPr lang="en-US" altLang="zh-CN" b="1" dirty="0">
                <a:solidFill>
                  <a:srgbClr val="C00000"/>
                </a:solidFill>
                <a:latin typeface="楷体" panose="02010609060101010101" pitchFamily="49" charset="-122"/>
                <a:ea typeface="楷体" panose="02010609060101010101" pitchFamily="49" charset="-122"/>
              </a:rPr>
              <a:t>6. </a:t>
            </a:r>
            <a:r>
              <a:rPr lang="zh-CN" altLang="en-US" b="1" dirty="0">
                <a:solidFill>
                  <a:srgbClr val="C00000"/>
                </a:solidFill>
                <a:latin typeface="楷体" panose="02010609060101010101" pitchFamily="49" charset="-122"/>
                <a:ea typeface="楷体" panose="02010609060101010101" pitchFamily="49" charset="-122"/>
              </a:rPr>
              <a:t>阅读组合说明符的规则是“从里向外”。</a:t>
            </a:r>
          </a:p>
          <a:p>
            <a:pPr indent="266700">
              <a:tabLst>
                <a:tab pos="571500" algn="l"/>
              </a:tabLst>
            </a:pPr>
            <a:r>
              <a:rPr lang="zh-CN" altLang="en-US" dirty="0">
                <a:effectLst>
                  <a:outerShdw blurRad="38100" dist="38100" dir="2700000" algn="tl">
                    <a:srgbClr val="FFFFFF"/>
                  </a:outerShdw>
                </a:effectLst>
                <a:latin typeface="+mn-lt"/>
                <a:ea typeface="楷体" pitchFamily="49" charset="-122"/>
              </a:rPr>
              <a:t>    </a:t>
            </a:r>
            <a:r>
              <a:rPr lang="zh-CN" altLang="en-US" sz="2000" dirty="0">
                <a:effectLst>
                  <a:outerShdw blurRad="38100" dist="38100" dir="2700000" algn="tl">
                    <a:srgbClr val="FFFFFF"/>
                  </a:outerShdw>
                </a:effectLst>
                <a:latin typeface="+mn-lt"/>
                <a:ea typeface="楷体" pitchFamily="49" charset="-122"/>
              </a:rPr>
              <a:t>从标识符开始，先看它右边有无方括号或园括号，如有则先作出解释，再看左边有无*号。如果在任何时候遇到了闭括号，则在继续之前必须用相同的规则处理括号内的内容。例如：</a:t>
            </a:r>
            <a:endParaRPr lang="zh-CN" altLang="en-US" dirty="0">
              <a:effectLst>
                <a:outerShdw blurRad="38100" dist="38100" dir="2700000" algn="tl">
                  <a:srgbClr val="FFFFFF"/>
                </a:outerShdw>
              </a:effectLst>
              <a:latin typeface="+mn-lt"/>
              <a:ea typeface="楷体" pitchFamily="49" charset="-122"/>
            </a:endParaRPr>
          </a:p>
        </p:txBody>
      </p:sp>
      <p:sp>
        <p:nvSpPr>
          <p:cNvPr id="1227787" name="Rectangle 11"/>
          <p:cNvSpPr>
            <a:spLocks noChangeArrowheads="1"/>
          </p:cNvSpPr>
          <p:nvPr/>
        </p:nvSpPr>
        <p:spPr bwMode="auto">
          <a:xfrm>
            <a:off x="1739516" y="1859376"/>
            <a:ext cx="8712968" cy="4154984"/>
          </a:xfrm>
          <a:prstGeom prst="rect">
            <a:avLst/>
          </a:prstGeom>
          <a:gradFill rotWithShape="1">
            <a:gsLst>
              <a:gs pos="0">
                <a:srgbClr val="CFCFD1"/>
              </a:gs>
              <a:gs pos="100000">
                <a:schemeClr val="bg1"/>
              </a:gs>
            </a:gsLst>
            <a:lin ang="5400000" scaled="1"/>
          </a:gradFill>
          <a:ln w="38100" algn="ctr">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tabLst>
                <a:tab pos="266700" algn="l"/>
              </a:tabLst>
            </a:pPr>
            <a:r>
              <a:rPr lang="en-US" altLang="zh-CN" dirty="0" err="1">
                <a:solidFill>
                  <a:srgbClr val="C00000"/>
                </a:solidFill>
              </a:rPr>
              <a:t>int</a:t>
            </a:r>
            <a:r>
              <a:rPr lang="en-US" altLang="zh-CN" dirty="0">
                <a:solidFill>
                  <a:srgbClr val="C00000"/>
                </a:solidFill>
              </a:rPr>
              <a:t> *(*(*a)( ))[10]</a:t>
            </a:r>
          </a:p>
          <a:p>
            <a:pPr indent="266700">
              <a:tabLst>
                <a:tab pos="266700" algn="l"/>
              </a:tabLst>
            </a:pPr>
            <a:r>
              <a:rPr lang="zh-CN" altLang="en-US" dirty="0">
                <a:latin typeface="+mn-lt"/>
                <a:ea typeface="隶书" pitchFamily="49" charset="-122"/>
              </a:rPr>
              <a:t>上面给出了由内向外的阅读顺序，下面来解释它：</a:t>
            </a:r>
          </a:p>
          <a:p>
            <a:pPr marL="265113" lvl="1" indent="360363">
              <a:buClr>
                <a:srgbClr val="C00000"/>
              </a:buClr>
              <a:buFontTx/>
              <a:buAutoNum type="circleNumDbPlain"/>
              <a:tabLst>
                <a:tab pos="266700" algn="l"/>
              </a:tabLst>
            </a:pPr>
            <a:r>
              <a:rPr lang="zh-CN" altLang="en-US" dirty="0">
                <a:latin typeface="+mn-lt"/>
                <a:ea typeface="隶书" pitchFamily="49" charset="-122"/>
              </a:rPr>
              <a:t>标识符</a:t>
            </a:r>
            <a:r>
              <a:rPr lang="en-US" altLang="zh-CN" dirty="0">
                <a:latin typeface="+mn-lt"/>
                <a:ea typeface="隶书" pitchFamily="49" charset="-122"/>
              </a:rPr>
              <a:t>a</a:t>
            </a:r>
            <a:r>
              <a:rPr lang="zh-CN" altLang="en-US" dirty="0">
                <a:latin typeface="+mn-lt"/>
                <a:ea typeface="隶书" pitchFamily="49" charset="-122"/>
              </a:rPr>
              <a:t>被说明为；</a:t>
            </a:r>
          </a:p>
          <a:p>
            <a:pPr marL="265113" lvl="1" indent="360363">
              <a:buClr>
                <a:srgbClr val="C00000"/>
              </a:buClr>
              <a:buFontTx/>
              <a:buAutoNum type="circleNumDbPlain"/>
              <a:tabLst>
                <a:tab pos="266700" algn="l"/>
              </a:tabLst>
            </a:pPr>
            <a:r>
              <a:rPr lang="zh-CN" altLang="en-US" dirty="0">
                <a:latin typeface="+mn-lt"/>
                <a:ea typeface="隶书" pitchFamily="49" charset="-122"/>
              </a:rPr>
              <a:t>一个指针变量，它指向；</a:t>
            </a:r>
          </a:p>
          <a:p>
            <a:pPr marL="265113" lvl="1" indent="360363">
              <a:buClr>
                <a:srgbClr val="C00000"/>
              </a:buClr>
              <a:buFontTx/>
              <a:buAutoNum type="circleNumDbPlain"/>
              <a:tabLst>
                <a:tab pos="266700" algn="l"/>
              </a:tabLst>
            </a:pPr>
            <a:r>
              <a:rPr lang="zh-CN" altLang="en-US" dirty="0">
                <a:latin typeface="+mn-lt"/>
                <a:ea typeface="隶书" pitchFamily="49" charset="-122"/>
              </a:rPr>
              <a:t>一个函数，它返回；</a:t>
            </a:r>
          </a:p>
          <a:p>
            <a:pPr marL="265113" lvl="1" indent="360363">
              <a:buClr>
                <a:srgbClr val="C00000"/>
              </a:buClr>
              <a:buFontTx/>
              <a:buAutoNum type="circleNumDbPlain"/>
              <a:tabLst>
                <a:tab pos="266700" algn="l"/>
              </a:tabLst>
            </a:pPr>
            <a:r>
              <a:rPr lang="zh-CN" altLang="en-US" dirty="0">
                <a:latin typeface="+mn-lt"/>
                <a:ea typeface="隶书" pitchFamily="49" charset="-122"/>
              </a:rPr>
              <a:t>一个指针，该指针指向；</a:t>
            </a:r>
          </a:p>
          <a:p>
            <a:pPr marL="265113" lvl="1" indent="360363">
              <a:buClr>
                <a:srgbClr val="C00000"/>
              </a:buClr>
              <a:buFontTx/>
              <a:buAutoNum type="circleNumDbPlain"/>
              <a:tabLst>
                <a:tab pos="266700" algn="l"/>
              </a:tabLst>
            </a:pPr>
            <a:r>
              <a:rPr lang="zh-CN" altLang="en-US" dirty="0">
                <a:latin typeface="+mn-lt"/>
                <a:ea typeface="隶书" pitchFamily="49" charset="-122"/>
              </a:rPr>
              <a:t>一个有</a:t>
            </a:r>
            <a:r>
              <a:rPr lang="en-US" altLang="zh-CN" dirty="0">
                <a:latin typeface="+mn-lt"/>
                <a:ea typeface="隶书" pitchFamily="49" charset="-122"/>
              </a:rPr>
              <a:t>10</a:t>
            </a:r>
            <a:r>
              <a:rPr lang="zh-CN" altLang="en-US" dirty="0">
                <a:latin typeface="+mn-lt"/>
                <a:ea typeface="隶书" pitchFamily="49" charset="-122"/>
              </a:rPr>
              <a:t>个元素的数组，其类型为；</a:t>
            </a:r>
          </a:p>
          <a:p>
            <a:pPr marL="265113" lvl="1" indent="360363">
              <a:buClr>
                <a:srgbClr val="C00000"/>
              </a:buClr>
              <a:buFontTx/>
              <a:buAutoNum type="circleNumDbPlain"/>
              <a:tabLst>
                <a:tab pos="266700" algn="l"/>
              </a:tabLst>
            </a:pPr>
            <a:r>
              <a:rPr lang="zh-CN" altLang="en-US" dirty="0">
                <a:latin typeface="+mn-lt"/>
                <a:ea typeface="隶书" pitchFamily="49" charset="-122"/>
              </a:rPr>
              <a:t>指针型，它指向；</a:t>
            </a:r>
          </a:p>
          <a:p>
            <a:pPr marL="265113" lvl="1" indent="360363">
              <a:buClr>
                <a:srgbClr val="C00000"/>
              </a:buClr>
              <a:buFontTx/>
              <a:buAutoNum type="circleNumDbPlain"/>
              <a:tabLst>
                <a:tab pos="266700" algn="l"/>
              </a:tabLst>
            </a:pPr>
            <a:r>
              <a:rPr lang="en-US" altLang="zh-CN" dirty="0" err="1">
                <a:latin typeface="+mn-lt"/>
                <a:ea typeface="隶书" pitchFamily="49" charset="-122"/>
              </a:rPr>
              <a:t>int</a:t>
            </a:r>
            <a:r>
              <a:rPr lang="zh-CN" altLang="en-US" dirty="0">
                <a:latin typeface="+mn-lt"/>
                <a:ea typeface="隶书" pitchFamily="49" charset="-122"/>
              </a:rPr>
              <a:t>型数据。</a:t>
            </a:r>
          </a:p>
          <a:p>
            <a:pPr indent="266700">
              <a:tabLst>
                <a:tab pos="266700" algn="l"/>
              </a:tabLst>
            </a:pPr>
            <a:r>
              <a:rPr lang="zh-CN" altLang="en-US" dirty="0">
                <a:latin typeface="+mn-lt"/>
                <a:ea typeface="隶书" pitchFamily="49" charset="-122"/>
              </a:rPr>
              <a:t>     因此</a:t>
            </a:r>
            <a:r>
              <a:rPr lang="en-US" altLang="zh-CN" dirty="0">
                <a:solidFill>
                  <a:srgbClr val="C00000"/>
                </a:solidFill>
                <a:latin typeface="+mn-lt"/>
                <a:ea typeface="隶书" pitchFamily="49" charset="-122"/>
              </a:rPr>
              <a:t>a</a:t>
            </a:r>
            <a:r>
              <a:rPr lang="zh-CN" altLang="en-US" dirty="0">
                <a:solidFill>
                  <a:srgbClr val="C00000"/>
                </a:solidFill>
                <a:latin typeface="+mn-lt"/>
                <a:ea typeface="隶书" pitchFamily="49" charset="-122"/>
              </a:rPr>
              <a:t>是一个函数指针变量</a:t>
            </a:r>
            <a:r>
              <a:rPr lang="zh-CN" altLang="en-US" dirty="0">
                <a:latin typeface="+mn-lt"/>
                <a:ea typeface="隶书" pitchFamily="49" charset="-122"/>
              </a:rPr>
              <a:t>，该函数返回的一个指针值又指向一个指针数组，该指针数组的元素指向整型量。</a:t>
            </a:r>
          </a:p>
        </p:txBody>
      </p:sp>
      <p:sp>
        <p:nvSpPr>
          <p:cNvPr id="1227788" name="Rectangle 12"/>
          <p:cNvSpPr>
            <a:spLocks noChangeArrowheads="1"/>
          </p:cNvSpPr>
          <p:nvPr/>
        </p:nvSpPr>
        <p:spPr bwMode="auto">
          <a:xfrm>
            <a:off x="695325" y="6097215"/>
            <a:ext cx="8712968" cy="461665"/>
          </a:xfrm>
          <a:prstGeom prst="rect">
            <a:avLst/>
          </a:prstGeom>
          <a:solidFill>
            <a:srgbClr val="C00000"/>
          </a:solidFill>
          <a:ln w="28575">
            <a:noFill/>
            <a:miter lim="800000"/>
            <a:headEnd/>
            <a:tailEnd/>
          </a:ln>
          <a:effectLst/>
        </p:spPr>
        <p:txBody>
          <a:bodyPr wrap="square" anchor="ctr">
            <a:spAutoFit/>
          </a:bodyPr>
          <a:lstStyle/>
          <a:p>
            <a:pPr>
              <a:lnSpc>
                <a:spcPct val="100000"/>
              </a:lnSpc>
              <a:spcBef>
                <a:spcPct val="0"/>
              </a:spcBef>
            </a:pPr>
            <a:r>
              <a:rPr lang="zh-CN" altLang="en-US" dirty="0">
                <a:solidFill>
                  <a:schemeClr val="bg1"/>
                </a:solidFill>
                <a:latin typeface="思源黑体 CN Heavy" panose="020B0A00000000000000" pitchFamily="34" charset="-122"/>
                <a:ea typeface="思源黑体 CN Heavy" panose="020B0A00000000000000" pitchFamily="34" charset="-122"/>
              </a:rPr>
              <a:t>习题</a:t>
            </a:r>
            <a:r>
              <a:rPr lang="en-US" altLang="zh-CN" dirty="0">
                <a:solidFill>
                  <a:schemeClr val="bg1"/>
                </a:solidFill>
                <a:latin typeface="思源黑体 CN Heavy" panose="020B0A00000000000000" pitchFamily="34" charset="-122"/>
                <a:ea typeface="思源黑体 CN Heavy" panose="020B0A00000000000000" pitchFamily="34" charset="-122"/>
              </a:rPr>
              <a:t>9</a:t>
            </a:r>
            <a:r>
              <a:rPr lang="zh-CN" altLang="en-US" dirty="0">
                <a:solidFill>
                  <a:schemeClr val="bg1"/>
                </a:solidFill>
                <a:latin typeface="思源黑体 CN Heavy" panose="020B0A00000000000000" pitchFamily="34" charset="-122"/>
                <a:ea typeface="思源黑体 CN Heavy" panose="020B0A00000000000000" pitchFamily="34" charset="-122"/>
              </a:rPr>
              <a:t>：</a:t>
            </a:r>
            <a:r>
              <a:rPr lang="en-US" altLang="zh-CN" dirty="0">
                <a:solidFill>
                  <a:schemeClr val="bg1"/>
                </a:solidFill>
                <a:latin typeface="思源黑体 CN Heavy" panose="020B0A00000000000000" pitchFamily="34" charset="-122"/>
                <a:ea typeface="思源黑体 CN Heavy" panose="020B0A00000000000000" pitchFamily="34" charset="-122"/>
              </a:rPr>
              <a:t>1</a:t>
            </a:r>
            <a:r>
              <a:rPr lang="zh-CN" altLang="en-US" dirty="0">
                <a:solidFill>
                  <a:schemeClr val="bg1"/>
                </a:solidFill>
                <a:latin typeface="思源黑体 CN Heavy" panose="020B0A00000000000000" pitchFamily="34" charset="-122"/>
                <a:ea typeface="思源黑体 CN Heavy" panose="020B0A00000000000000" pitchFamily="34" charset="-122"/>
              </a:rPr>
              <a:t>、</a:t>
            </a:r>
            <a:r>
              <a:rPr lang="en-US" altLang="zh-CN" dirty="0">
                <a:solidFill>
                  <a:schemeClr val="bg1"/>
                </a:solidFill>
                <a:latin typeface="思源黑体 CN Heavy" panose="020B0A00000000000000" pitchFamily="34" charset="-122"/>
                <a:ea typeface="思源黑体 CN Heavy" panose="020B0A00000000000000" pitchFamily="34" charset="-122"/>
              </a:rPr>
              <a:t>2</a:t>
            </a:r>
            <a:r>
              <a:rPr lang="zh-CN" altLang="en-US" dirty="0">
                <a:solidFill>
                  <a:schemeClr val="bg1"/>
                </a:solidFill>
                <a:latin typeface="思源黑体 CN Heavy" panose="020B0A00000000000000" pitchFamily="34" charset="-122"/>
                <a:ea typeface="思源黑体 CN Heavy" panose="020B0A00000000000000" pitchFamily="34" charset="-122"/>
              </a:rPr>
              <a:t>、</a:t>
            </a:r>
            <a:r>
              <a:rPr lang="en-US" altLang="zh-CN" dirty="0">
                <a:solidFill>
                  <a:schemeClr val="bg1"/>
                </a:solidFill>
                <a:latin typeface="思源黑体 CN Heavy" panose="020B0A00000000000000" pitchFamily="34" charset="-122"/>
                <a:ea typeface="思源黑体 CN Heavy" panose="020B0A00000000000000" pitchFamily="34" charset="-122"/>
              </a:rPr>
              <a:t>3(2</a:t>
            </a:r>
            <a:r>
              <a:rPr lang="zh-CN" altLang="en-US" dirty="0">
                <a:solidFill>
                  <a:schemeClr val="bg1"/>
                </a:solidFill>
                <a:latin typeface="思源黑体 CN Heavy" panose="020B0A00000000000000" pitchFamily="34" charset="-122"/>
                <a:ea typeface="思源黑体 CN Heavy" panose="020B0A00000000000000" pitchFamily="34" charset="-122"/>
              </a:rPr>
              <a:t>、</a:t>
            </a:r>
            <a:r>
              <a:rPr lang="en-US" altLang="zh-CN" dirty="0">
                <a:solidFill>
                  <a:schemeClr val="bg1"/>
                </a:solidFill>
                <a:latin typeface="思源黑体 CN Heavy" panose="020B0A00000000000000" pitchFamily="34" charset="-122"/>
                <a:ea typeface="思源黑体 CN Heavy" panose="020B0A00000000000000" pitchFamily="34" charset="-122"/>
              </a:rPr>
              <a:t>3</a:t>
            </a:r>
            <a:r>
              <a:rPr lang="zh-CN" altLang="en-US" dirty="0">
                <a:solidFill>
                  <a:schemeClr val="bg1"/>
                </a:solidFill>
                <a:latin typeface="思源黑体 CN Heavy" panose="020B0A00000000000000" pitchFamily="34" charset="-122"/>
                <a:ea typeface="思源黑体 CN Heavy" panose="020B0A00000000000000" pitchFamily="34" charset="-122"/>
              </a:rPr>
              <a:t>、</a:t>
            </a:r>
            <a:r>
              <a:rPr lang="en-US" altLang="zh-CN" dirty="0">
                <a:solidFill>
                  <a:schemeClr val="bg1"/>
                </a:solidFill>
                <a:latin typeface="思源黑体 CN Heavy" panose="020B0A00000000000000" pitchFamily="34" charset="-122"/>
                <a:ea typeface="思源黑体 CN Heavy" panose="020B0A00000000000000" pitchFamily="34" charset="-122"/>
              </a:rPr>
              <a:t>5</a:t>
            </a:r>
            <a:r>
              <a:rPr lang="zh-CN" altLang="en-US" dirty="0">
                <a:solidFill>
                  <a:schemeClr val="bg1"/>
                </a:solidFill>
                <a:latin typeface="思源黑体 CN Heavy" panose="020B0A00000000000000" pitchFamily="34" charset="-122"/>
                <a:ea typeface="思源黑体 CN Heavy" panose="020B0A00000000000000" pitchFamily="34" charset="-122"/>
              </a:rPr>
              <a:t>、</a:t>
            </a:r>
            <a:r>
              <a:rPr lang="en-US" altLang="zh-CN" dirty="0">
                <a:solidFill>
                  <a:schemeClr val="bg1"/>
                </a:solidFill>
                <a:latin typeface="思源黑体 CN Heavy" panose="020B0A00000000000000" pitchFamily="34" charset="-122"/>
                <a:ea typeface="思源黑体 CN Heavy" panose="020B0A00000000000000" pitchFamily="34" charset="-122"/>
              </a:rPr>
              <a:t>7</a:t>
            </a:r>
            <a:r>
              <a:rPr lang="zh-CN" altLang="en-US" dirty="0">
                <a:solidFill>
                  <a:schemeClr val="bg1"/>
                </a:solidFill>
                <a:latin typeface="思源黑体 CN Heavy" panose="020B0A00000000000000" pitchFamily="34" charset="-122"/>
                <a:ea typeface="思源黑体 CN Heavy" panose="020B0A00000000000000" pitchFamily="34" charset="-122"/>
              </a:rPr>
              <a:t>、</a:t>
            </a:r>
            <a:r>
              <a:rPr lang="en-US" altLang="zh-CN" dirty="0">
                <a:solidFill>
                  <a:schemeClr val="bg1"/>
                </a:solidFill>
                <a:latin typeface="思源黑体 CN Heavy" panose="020B0A00000000000000" pitchFamily="34" charset="-122"/>
                <a:ea typeface="思源黑体 CN Heavy" panose="020B0A00000000000000" pitchFamily="34" charset="-122"/>
              </a:rPr>
              <a:t>9</a:t>
            </a:r>
            <a:r>
              <a:rPr lang="zh-CN" altLang="en-US" dirty="0">
                <a:solidFill>
                  <a:schemeClr val="bg1"/>
                </a:solidFill>
                <a:latin typeface="思源黑体 CN Heavy" panose="020B0A00000000000000" pitchFamily="34" charset="-122"/>
                <a:ea typeface="思源黑体 CN Heavy" panose="020B0A00000000000000" pitchFamily="34" charset="-122"/>
              </a:rPr>
              <a:t>、</a:t>
            </a:r>
            <a:r>
              <a:rPr lang="en-US" altLang="zh-CN" dirty="0">
                <a:solidFill>
                  <a:schemeClr val="bg1"/>
                </a:solidFill>
                <a:latin typeface="思源黑体 CN Heavy" panose="020B0A00000000000000" pitchFamily="34" charset="-122"/>
                <a:ea typeface="思源黑体 CN Heavy" panose="020B0A00000000000000" pitchFamily="34" charset="-122"/>
              </a:rPr>
              <a:t>11) </a:t>
            </a:r>
          </a:p>
        </p:txBody>
      </p:sp>
      <p:sp>
        <p:nvSpPr>
          <p:cNvPr id="11" name="Rectangle 4">
            <a:extLst>
              <a:ext uri="{FF2B5EF4-FFF2-40B4-BE49-F238E27FC236}">
                <a16:creationId xmlns:a16="http://schemas.microsoft.com/office/drawing/2014/main" id="{4936DF1E-1354-4FD9-BFB8-D40E274CFCC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7784"/>
                                        </p:tgtEl>
                                        <p:attrNameLst>
                                          <p:attrName>style.visibility</p:attrName>
                                        </p:attrNameLst>
                                      </p:cBhvr>
                                      <p:to>
                                        <p:strVal val="visible"/>
                                      </p:to>
                                    </p:set>
                                    <p:anim calcmode="lin" valueType="num">
                                      <p:cBhvr additive="base">
                                        <p:cTn id="7" dur="500" fill="hold"/>
                                        <p:tgtEl>
                                          <p:spTgt spid="1227784"/>
                                        </p:tgtEl>
                                        <p:attrNameLst>
                                          <p:attrName>ppt_x</p:attrName>
                                        </p:attrNameLst>
                                      </p:cBhvr>
                                      <p:tavLst>
                                        <p:tav tm="0">
                                          <p:val>
                                            <p:strVal val="0-#ppt_w/2"/>
                                          </p:val>
                                        </p:tav>
                                        <p:tav tm="100000">
                                          <p:val>
                                            <p:strVal val="#ppt_x"/>
                                          </p:val>
                                        </p:tav>
                                      </p:tavLst>
                                    </p:anim>
                                    <p:anim calcmode="lin" valueType="num">
                                      <p:cBhvr additive="base">
                                        <p:cTn id="8" dur="500" fill="hold"/>
                                        <p:tgtEl>
                                          <p:spTgt spid="12277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7785"/>
                                        </p:tgtEl>
                                        <p:attrNameLst>
                                          <p:attrName>style.visibility</p:attrName>
                                        </p:attrNameLst>
                                      </p:cBhvr>
                                      <p:to>
                                        <p:strVal val="visible"/>
                                      </p:to>
                                    </p:set>
                                    <p:anim calcmode="lin" valueType="num">
                                      <p:cBhvr additive="base">
                                        <p:cTn id="13" dur="500" fill="hold"/>
                                        <p:tgtEl>
                                          <p:spTgt spid="1227785"/>
                                        </p:tgtEl>
                                        <p:attrNameLst>
                                          <p:attrName>ppt_x</p:attrName>
                                        </p:attrNameLst>
                                      </p:cBhvr>
                                      <p:tavLst>
                                        <p:tav tm="0">
                                          <p:val>
                                            <p:strVal val="0-#ppt_w/2"/>
                                          </p:val>
                                        </p:tav>
                                        <p:tav tm="100000">
                                          <p:val>
                                            <p:strVal val="#ppt_x"/>
                                          </p:val>
                                        </p:tav>
                                      </p:tavLst>
                                    </p:anim>
                                    <p:anim calcmode="lin" valueType="num">
                                      <p:cBhvr additive="base">
                                        <p:cTn id="14" dur="500" fill="hold"/>
                                        <p:tgtEl>
                                          <p:spTgt spid="122778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27786"/>
                                        </p:tgtEl>
                                        <p:attrNameLst>
                                          <p:attrName>style.visibility</p:attrName>
                                        </p:attrNameLst>
                                      </p:cBhvr>
                                      <p:to>
                                        <p:strVal val="visible"/>
                                      </p:to>
                                    </p:set>
                                    <p:anim calcmode="lin" valueType="num">
                                      <p:cBhvr additive="base">
                                        <p:cTn id="19" dur="500" fill="hold"/>
                                        <p:tgtEl>
                                          <p:spTgt spid="1227786"/>
                                        </p:tgtEl>
                                        <p:attrNameLst>
                                          <p:attrName>ppt_x</p:attrName>
                                        </p:attrNameLst>
                                      </p:cBhvr>
                                      <p:tavLst>
                                        <p:tav tm="0">
                                          <p:val>
                                            <p:strVal val="0-#ppt_w/2"/>
                                          </p:val>
                                        </p:tav>
                                        <p:tav tm="100000">
                                          <p:val>
                                            <p:strVal val="#ppt_x"/>
                                          </p:val>
                                        </p:tav>
                                      </p:tavLst>
                                    </p:anim>
                                    <p:anim calcmode="lin" valueType="num">
                                      <p:cBhvr additive="base">
                                        <p:cTn id="20" dur="500" fill="hold"/>
                                        <p:tgtEl>
                                          <p:spTgt spid="122778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227787"/>
                                        </p:tgtEl>
                                        <p:attrNameLst>
                                          <p:attrName>style.visibility</p:attrName>
                                        </p:attrNameLst>
                                      </p:cBhvr>
                                      <p:to>
                                        <p:strVal val="visible"/>
                                      </p:to>
                                    </p:set>
                                    <p:animEffect transition="in" filter="box(out)">
                                      <p:cBhvr>
                                        <p:cTn id="25" dur="500"/>
                                        <p:tgtEl>
                                          <p:spTgt spid="1227787"/>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1227788"/>
                                        </p:tgtEl>
                                        <p:attrNameLst>
                                          <p:attrName>style.visibility</p:attrName>
                                        </p:attrNameLst>
                                      </p:cBhvr>
                                      <p:to>
                                        <p:strVal val="visible"/>
                                      </p:to>
                                    </p:set>
                                    <p:animEffect transition="in" filter="diamond(in)">
                                      <p:cBhvr>
                                        <p:cTn id="30" dur="2000"/>
                                        <p:tgtEl>
                                          <p:spTgt spid="1227788"/>
                                        </p:tgtEl>
                                      </p:cBhvr>
                                    </p:animEffect>
                                  </p:childTnLst>
                                  <p:subTnLst>
                                    <p:audio>
                                      <p:cMediaNode>
                                        <p:cTn display="0" masterRel="sameClick">
                                          <p:stCondLst>
                                            <p:cond evt="begin" delay="0">
                                              <p:tn val="28"/>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7784" grpId="0"/>
      <p:bldP spid="1227785" grpId="0"/>
      <p:bldP spid="1227786" grpId="0"/>
      <p:bldP spid="1227787" grpId="0" animBg="1"/>
      <p:bldP spid="1227788"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图示&#10;&#10;描述已自动生成">
            <a:extLst>
              <a:ext uri="{FF2B5EF4-FFF2-40B4-BE49-F238E27FC236}">
                <a16:creationId xmlns:a16="http://schemas.microsoft.com/office/drawing/2014/main" id="{6786D2E8-A965-4475-ABFD-4583DDBBFE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9576" y="1241757"/>
            <a:ext cx="7776864" cy="4374486"/>
          </a:xfrm>
          <a:prstGeom prst="rect">
            <a:avLst/>
          </a:prstGeom>
        </p:spPr>
      </p:pic>
      <p:sp>
        <p:nvSpPr>
          <p:cNvPr id="6" name="文本框 5">
            <a:extLst>
              <a:ext uri="{FF2B5EF4-FFF2-40B4-BE49-F238E27FC236}">
                <a16:creationId xmlns:a16="http://schemas.microsoft.com/office/drawing/2014/main" id="{D6D1ECF0-97FF-4328-931A-88315164A5A3}"/>
              </a:ext>
            </a:extLst>
          </p:cNvPr>
          <p:cNvSpPr txBox="1"/>
          <p:nvPr/>
        </p:nvSpPr>
        <p:spPr>
          <a:xfrm>
            <a:off x="1883532" y="5877272"/>
            <a:ext cx="8424936" cy="369332"/>
          </a:xfrm>
          <a:prstGeom prst="rect">
            <a:avLst/>
          </a:prstGeom>
          <a:noFill/>
        </p:spPr>
        <p:txBody>
          <a:bodyPr wrap="square" rtlCol="0">
            <a:spAutoFit/>
          </a:bodyPr>
          <a:lstStyle/>
          <a:p>
            <a:r>
              <a:rPr lang="zh-CN" altLang="en-US" sz="1800" dirty="0">
                <a:latin typeface="思源黑体 CN Heavy" panose="020B0A00000000000000" pitchFamily="34" charset="-122"/>
                <a:ea typeface="思源黑体 CN Heavy" panose="020B0A00000000000000" pitchFamily="34" charset="-122"/>
              </a:rPr>
              <a:t>本课件版权归清华大学出版社所有，仅提供教师教学使用，其他用途一律视为侵权</a:t>
            </a:r>
          </a:p>
        </p:txBody>
      </p:sp>
    </p:spTree>
    <p:extLst>
      <p:ext uri="{BB962C8B-B14F-4D97-AF65-F5344CB8AC3E}">
        <p14:creationId xmlns:p14="http://schemas.microsoft.com/office/powerpoint/2010/main" val="251817966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3" name="bomb.wav"/>
                                        </p:tgtEl>
                                      </p:cMediaNode>
                                    </p:audio>
                                  </p:sub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subTnLst>
                                    <p:audio>
                                      <p:cMediaNode>
                                        <p:cTn display="0" masterRel="sameClick">
                                          <p:stCondLst>
                                            <p:cond evt="begin" delay="0">
                                              <p:tn val="1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ISLIDE.ICON" val="#379839;"/>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23932</TotalTime>
  <Words>17864</Words>
  <Application>Microsoft Office PowerPoint</Application>
  <PresentationFormat>宽屏</PresentationFormat>
  <Paragraphs>2882</Paragraphs>
  <Slides>96</Slides>
  <Notes>12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96</vt:i4>
      </vt:variant>
    </vt:vector>
  </HeadingPairs>
  <TitlesOfParts>
    <vt:vector size="104" baseType="lpstr">
      <vt:lpstr>楷体</vt:lpstr>
      <vt:lpstr>楷体_GB2312</vt:lpstr>
      <vt:lpstr>隶书</vt:lpstr>
      <vt:lpstr>思源黑体 CN Heavy</vt:lpstr>
      <vt:lpstr>宋体</vt:lpstr>
      <vt:lpstr>Times New Roman</vt:lpstr>
      <vt:lpstr>Wingdings</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A83381</cp:lastModifiedBy>
  <cp:revision>1758</cp:revision>
  <dcterms:created xsi:type="dcterms:W3CDTF">1999-05-31T10:27:02Z</dcterms:created>
  <dcterms:modified xsi:type="dcterms:W3CDTF">2022-06-13T02:13:34Z</dcterms:modified>
</cp:coreProperties>
</file>