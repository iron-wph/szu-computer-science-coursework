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858"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4" name="标题 13"/>
          <p:cNvSpPr>
            <a:spLocks noGrp="1"/>
          </p:cNvSpPr>
          <p:nvPr>
            <p:ph type="ctrTitle"/>
          </p:nvPr>
        </p:nvSpPr>
        <p:spPr>
          <a:xfrm>
            <a:off x="1432560" y="359898"/>
            <a:ext cx="7406640" cy="1472184"/>
          </a:xfrm>
        </p:spPr>
        <p:txBody>
          <a:bodyPr anchor="b"/>
          <a:lstStyle>
            <a:lvl1pPr algn="l">
              <a:defRPr/>
            </a:lvl1pPr>
            <a:extLst/>
          </a:lstStyle>
          <a:p>
            <a:r>
              <a:rPr kumimoji="0" lang="zh-CN" altLang="en-US"/>
              <a:t>单击此处编辑母版标题样式</a:t>
            </a:r>
            <a:endParaRPr kumimoji="0" lang="en-US"/>
          </a:p>
        </p:txBody>
      </p:sp>
      <p:sp>
        <p:nvSpPr>
          <p:cNvPr id="22" name="副标题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20" name="页脚占位符 19"/>
          <p:cNvSpPr>
            <a:spLocks noGrp="1"/>
          </p:cNvSpPr>
          <p:nvPr>
            <p:ph type="ftr" sz="quarter" idx="11"/>
          </p:nvPr>
        </p:nvSpPr>
        <p:spPr/>
        <p:txBody>
          <a:bodyPr/>
          <a:lstStyle/>
          <a:p>
            <a:endParaRPr lang="zh-CN" altLang="en-US"/>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椭圆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矩形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10" name="矩形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320"/>
            <a:ext cx="7498080"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320"/>
            <a:ext cx="7498080" cy="1143000"/>
          </a:xfrm>
        </p:spPr>
        <p:txBody>
          <a:bodyPr anchor="ct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矩形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日期占位符 1"/>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6" name="矩形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zh-CN" altLang="en-US"/>
              <a:t>单击此处编辑母版标题样式</a:t>
            </a:r>
            <a:endParaRPr kumimoji="0" lang="en-US"/>
          </a:p>
        </p:txBody>
      </p:sp>
      <p:sp>
        <p:nvSpPr>
          <p:cNvPr id="3" name="文本占位符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矩形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图片占位符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zh-CN" altLang="en-US"/>
              <a:t>单击图标添加图片</a:t>
            </a:r>
            <a:endParaRPr kumimoji="0" lang="en-US" dirty="0"/>
          </a:p>
        </p:txBody>
      </p:sp>
      <p:sp>
        <p:nvSpPr>
          <p:cNvPr id="9" name="流程图: 过程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流程图: 过程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文本占位符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274639"/>
            <a:ext cx="18288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1143000" y="274640"/>
            <a:ext cx="55626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饼形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同心圆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标题占位符 4"/>
          <p:cNvSpPr>
            <a:spLocks noGrp="1"/>
          </p:cNvSpPr>
          <p:nvPr>
            <p:ph type="title"/>
          </p:nvPr>
        </p:nvSpPr>
        <p:spPr>
          <a:xfrm>
            <a:off x="1435608" y="274638"/>
            <a:ext cx="7498080" cy="1143000"/>
          </a:xfrm>
          <a:prstGeom prst="rect">
            <a:avLst/>
          </a:prstGeom>
        </p:spPr>
        <p:txBody>
          <a:bodyPr anchor="ctr">
            <a:normAutofit/>
          </a:bodyPr>
          <a:lstStyle/>
          <a:p>
            <a:r>
              <a:rPr kumimoji="0" lang="zh-CN" altLang="en-US"/>
              <a:t>单击此处编辑母版标题样式</a:t>
            </a:r>
            <a:endParaRPr kumimoji="0" lang="en-US"/>
          </a:p>
        </p:txBody>
      </p:sp>
      <p:sp>
        <p:nvSpPr>
          <p:cNvPr id="9" name="文本占位符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24" name="日期占位符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530820CF-B880-4189-942D-D702A7CBA730}" type="datetimeFigureOut">
              <a:rPr lang="zh-CN" altLang="en-US" smtClean="0"/>
              <a:pPr/>
              <a:t>2021-10-05</a:t>
            </a:fld>
            <a:endParaRPr lang="zh-CN" altLang="en-US"/>
          </a:p>
        </p:txBody>
      </p:sp>
      <p:sp>
        <p:nvSpPr>
          <p:cNvPr id="10" name="页脚占位符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zh-CN" altLang="en-US"/>
          </a:p>
        </p:txBody>
      </p:sp>
      <p:sp>
        <p:nvSpPr>
          <p:cNvPr id="22" name="灯片编号占位符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0C913308-F349-4B6D-A68A-DD1791B4A57B}" type="slidenum">
              <a:rPr lang="zh-CN" altLang="en-US" smtClean="0"/>
              <a:pPr/>
              <a:t>‹#›</a:t>
            </a:fld>
            <a:endParaRPr lang="zh-CN" altLang="en-US"/>
          </a:p>
        </p:txBody>
      </p:sp>
      <p:sp>
        <p:nvSpPr>
          <p:cNvPr id="15" name="矩形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x-none" altLang="zh-CN" b="1" dirty="0"/>
              <a:t>第</a:t>
            </a:r>
            <a:r>
              <a:rPr lang="en-US" altLang="zh-CN" b="1" dirty="0"/>
              <a:t>14</a:t>
            </a:r>
            <a:r>
              <a:rPr lang="x-none" altLang="zh-CN" b="1" dirty="0"/>
              <a:t>章  </a:t>
            </a:r>
            <a:r>
              <a:rPr lang="zh-CN" altLang="zh-CN" b="1" dirty="0"/>
              <a:t>图书管理系统</a:t>
            </a:r>
          </a:p>
        </p:txBody>
      </p:sp>
      <p:sp>
        <p:nvSpPr>
          <p:cNvPr id="3" name="内容占位符 2"/>
          <p:cNvSpPr>
            <a:spLocks noGrp="1"/>
          </p:cNvSpPr>
          <p:nvPr>
            <p:ph idx="1"/>
          </p:nvPr>
        </p:nvSpPr>
        <p:spPr/>
        <p:txBody>
          <a:bodyPr>
            <a:normAutofit/>
          </a:bodyPr>
          <a:lstStyle/>
          <a:p>
            <a:r>
              <a:rPr lang="x-none" altLang="zh-CN" b="1" dirty="0"/>
              <a:t>14.1  </a:t>
            </a:r>
            <a:r>
              <a:rPr lang="zh-CN" altLang="zh-CN" b="1" dirty="0"/>
              <a:t>需求分析</a:t>
            </a:r>
            <a:endParaRPr lang="en-US" altLang="zh-CN" b="1" dirty="0"/>
          </a:p>
          <a:p>
            <a:r>
              <a:rPr lang="zh-CN" altLang="zh-CN" dirty="0"/>
              <a:t>图书管理系统的主要用作对图书信息的管理，主要功能有图书录入、添加图书、删除图书、图书列表、查询图书和修改图书信息。</a:t>
            </a:r>
          </a:p>
          <a:p>
            <a:endParaRPr lang="zh-CN" altLang="zh-CN" b="1" dirty="0"/>
          </a:p>
        </p:txBody>
      </p:sp>
    </p:spTree>
    <p:extLst>
      <p:ext uri="{BB962C8B-B14F-4D97-AF65-F5344CB8AC3E}">
        <p14:creationId xmlns:p14="http://schemas.microsoft.com/office/powerpoint/2010/main" val="1986008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638"/>
            <a:ext cx="7498080" cy="994122"/>
          </a:xfrm>
        </p:spPr>
        <p:txBody>
          <a:bodyPr>
            <a:normAutofit/>
          </a:bodyPr>
          <a:lstStyle/>
          <a:p>
            <a:r>
              <a:rPr lang="x-none" altLang="zh-CN" b="1" dirty="0"/>
              <a:t>14.1  </a:t>
            </a:r>
            <a:r>
              <a:rPr lang="zh-CN" altLang="zh-CN" b="1" dirty="0"/>
              <a:t>需求分析</a:t>
            </a:r>
            <a:endParaRPr lang="zh-CN" altLang="en-US" dirty="0"/>
          </a:p>
        </p:txBody>
      </p:sp>
      <p:sp>
        <p:nvSpPr>
          <p:cNvPr id="3" name="内容占位符 2"/>
          <p:cNvSpPr>
            <a:spLocks noGrp="1"/>
          </p:cNvSpPr>
          <p:nvPr>
            <p:ph idx="1"/>
          </p:nvPr>
        </p:nvSpPr>
        <p:spPr>
          <a:xfrm>
            <a:off x="1435608" y="1340768"/>
            <a:ext cx="7498080" cy="5256584"/>
          </a:xfrm>
        </p:spPr>
        <p:txBody>
          <a:bodyPr>
            <a:normAutofit fontScale="62500" lnSpcReduction="20000"/>
          </a:bodyPr>
          <a:lstStyle/>
          <a:p>
            <a:pPr>
              <a:buFont typeface="Wingdings" pitchFamily="2" charset="2"/>
              <a:buChar char="l"/>
            </a:pPr>
            <a:r>
              <a:rPr lang="zh-CN" altLang="zh-CN" sz="3400" dirty="0"/>
              <a:t>图书录入功能主要实现多本图书信息的录入，用户输入图书</a:t>
            </a:r>
            <a:endParaRPr lang="en-US" altLang="zh-CN" sz="3400" dirty="0"/>
          </a:p>
          <a:p>
            <a:pPr>
              <a:buNone/>
            </a:pPr>
            <a:r>
              <a:rPr lang="en-US" altLang="zh-CN" sz="3400" dirty="0"/>
              <a:t>	</a:t>
            </a:r>
            <a:r>
              <a:rPr lang="zh-CN" altLang="zh-CN" sz="3400" dirty="0"/>
              <a:t>的编号、图书名、作者名、出版社、类别和价格信息，系统</a:t>
            </a:r>
            <a:endParaRPr lang="en-US" altLang="zh-CN" sz="3400" dirty="0"/>
          </a:p>
          <a:p>
            <a:pPr>
              <a:buNone/>
            </a:pPr>
            <a:r>
              <a:rPr lang="en-US" altLang="zh-CN" sz="3400" dirty="0"/>
              <a:t>	</a:t>
            </a:r>
            <a:r>
              <a:rPr lang="zh-CN" altLang="zh-CN" sz="3400" dirty="0"/>
              <a:t>根据用户输入来判断是否保存输入的图书信息。如果用户还</a:t>
            </a:r>
            <a:endParaRPr lang="en-US" altLang="zh-CN" sz="3400" dirty="0"/>
          </a:p>
          <a:p>
            <a:pPr>
              <a:buNone/>
            </a:pPr>
            <a:r>
              <a:rPr lang="en-US" altLang="zh-CN" sz="3400" dirty="0"/>
              <a:t>	</a:t>
            </a:r>
            <a:r>
              <a:rPr lang="zh-CN" altLang="zh-CN" sz="3400" dirty="0"/>
              <a:t>有其它图书的信息需要录入可以继续录入，一次可以录入多</a:t>
            </a:r>
            <a:endParaRPr lang="en-US" altLang="zh-CN" sz="3400" dirty="0"/>
          </a:p>
          <a:p>
            <a:pPr>
              <a:buNone/>
            </a:pPr>
            <a:r>
              <a:rPr lang="en-US" altLang="zh-CN" sz="3400" dirty="0"/>
              <a:t>	</a:t>
            </a:r>
            <a:r>
              <a:rPr lang="zh-CN" altLang="zh-CN" sz="3400" dirty="0"/>
              <a:t>本图书信息。</a:t>
            </a:r>
          </a:p>
          <a:p>
            <a:pPr>
              <a:buFont typeface="Wingdings" pitchFamily="2" charset="2"/>
              <a:buChar char="l"/>
            </a:pPr>
            <a:r>
              <a:rPr lang="zh-CN" altLang="zh-CN" sz="3400" dirty="0"/>
              <a:t>添加图书主要用于单本图书的录入，用户输入图书的编号、</a:t>
            </a:r>
            <a:endParaRPr lang="en-US" altLang="zh-CN" sz="3400" dirty="0"/>
          </a:p>
          <a:p>
            <a:pPr>
              <a:buNone/>
            </a:pPr>
            <a:r>
              <a:rPr lang="en-US" altLang="zh-CN" sz="3400" dirty="0"/>
              <a:t>	</a:t>
            </a:r>
            <a:r>
              <a:rPr lang="zh-CN" altLang="zh-CN" sz="3400" dirty="0"/>
              <a:t>图书名、作者名、出版社、类别和价格信息，然后保存，就</a:t>
            </a:r>
            <a:endParaRPr lang="en-US" altLang="zh-CN" sz="3400" dirty="0"/>
          </a:p>
          <a:p>
            <a:pPr>
              <a:buNone/>
            </a:pPr>
            <a:r>
              <a:rPr lang="en-US" altLang="zh-CN" sz="3400" dirty="0"/>
              <a:t>	</a:t>
            </a:r>
            <a:r>
              <a:rPr lang="zh-CN" altLang="zh-CN" sz="3400" dirty="0"/>
              <a:t>添加了该本图书的信息。</a:t>
            </a:r>
          </a:p>
          <a:p>
            <a:pPr>
              <a:buFont typeface="Wingdings" pitchFamily="2" charset="2"/>
              <a:buChar char="l"/>
            </a:pPr>
            <a:r>
              <a:rPr lang="zh-CN" altLang="zh-CN" sz="3400" dirty="0"/>
              <a:t>删除图书功能主要是根据用户输入的图书编号来删除系统中</a:t>
            </a:r>
            <a:endParaRPr lang="en-US" altLang="zh-CN" sz="3400" dirty="0"/>
          </a:p>
          <a:p>
            <a:pPr>
              <a:buNone/>
            </a:pPr>
            <a:r>
              <a:rPr lang="en-US" altLang="zh-CN" sz="3400" dirty="0"/>
              <a:t>	</a:t>
            </a:r>
            <a:r>
              <a:rPr lang="zh-CN" altLang="zh-CN" sz="3400" dirty="0"/>
              <a:t>存储的对应的图书信息。 </a:t>
            </a:r>
          </a:p>
          <a:p>
            <a:pPr>
              <a:buFont typeface="Wingdings" pitchFamily="2" charset="2"/>
              <a:buChar char="l"/>
            </a:pPr>
            <a:r>
              <a:rPr lang="zh-CN" altLang="zh-CN" sz="3400" dirty="0"/>
              <a:t>图书列表功能应该可以将输入的所有图书信息通过列表的形式显示出来。</a:t>
            </a:r>
          </a:p>
          <a:p>
            <a:pPr>
              <a:buFont typeface="Wingdings" pitchFamily="2" charset="2"/>
              <a:buChar char="l"/>
            </a:pPr>
            <a:r>
              <a:rPr lang="zh-CN" altLang="zh-CN" sz="3400" dirty="0"/>
              <a:t>查询图书功能是用户根据已知的图书信息来检索图书，可以</a:t>
            </a:r>
            <a:endParaRPr lang="en-US" altLang="zh-CN" sz="3400" dirty="0"/>
          </a:p>
          <a:p>
            <a:pPr>
              <a:buNone/>
            </a:pPr>
            <a:r>
              <a:rPr lang="en-US" altLang="zh-CN" sz="3400" dirty="0"/>
              <a:t>	</a:t>
            </a:r>
            <a:r>
              <a:rPr lang="zh-CN" altLang="zh-CN" sz="3400" dirty="0"/>
              <a:t>根据编号、图书名、作者名、类别和出版时间进行查询。</a:t>
            </a:r>
          </a:p>
          <a:p>
            <a:pPr>
              <a:buFont typeface="Wingdings" pitchFamily="2" charset="2"/>
              <a:buChar char="l"/>
            </a:pPr>
            <a:r>
              <a:rPr lang="zh-CN" altLang="zh-CN" sz="3400" dirty="0"/>
              <a:t>修改图书功能是用户根据已知的图书编号先检索图书，然后</a:t>
            </a:r>
            <a:endParaRPr lang="en-US" altLang="zh-CN" sz="3400" dirty="0"/>
          </a:p>
          <a:p>
            <a:pPr>
              <a:buNone/>
            </a:pPr>
            <a:r>
              <a:rPr lang="en-US" altLang="zh-CN" sz="3400" dirty="0"/>
              <a:t>	</a:t>
            </a:r>
            <a:r>
              <a:rPr lang="zh-CN" altLang="zh-CN" sz="3400" dirty="0"/>
              <a:t>输入想要修改的图书信息的类别。</a:t>
            </a:r>
          </a:p>
          <a:p>
            <a:pPr>
              <a:buFont typeface="Wingdings" pitchFamily="2" charset="2"/>
              <a:buChar char="l"/>
            </a:pPr>
            <a:endParaRPr lang="zh-CN" altLang="en-US" dirty="0"/>
          </a:p>
        </p:txBody>
      </p:sp>
    </p:spTree>
    <p:extLst>
      <p:ext uri="{BB962C8B-B14F-4D97-AF65-F5344CB8AC3E}">
        <p14:creationId xmlns:p14="http://schemas.microsoft.com/office/powerpoint/2010/main" val="2474245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638"/>
            <a:ext cx="7498080" cy="994122"/>
          </a:xfrm>
        </p:spPr>
        <p:txBody>
          <a:bodyPr>
            <a:normAutofit/>
          </a:bodyPr>
          <a:lstStyle/>
          <a:p>
            <a:r>
              <a:rPr lang="x-none" altLang="zh-CN" b="1" dirty="0"/>
              <a:t>14.2  </a:t>
            </a:r>
            <a:r>
              <a:rPr lang="zh-CN" altLang="zh-CN" b="1" dirty="0"/>
              <a:t>系统设计</a:t>
            </a:r>
            <a:endParaRPr lang="zh-CN" altLang="en-US" dirty="0"/>
          </a:p>
        </p:txBody>
      </p:sp>
      <p:sp>
        <p:nvSpPr>
          <p:cNvPr id="3" name="内容占位符 2"/>
          <p:cNvSpPr>
            <a:spLocks noGrp="1"/>
          </p:cNvSpPr>
          <p:nvPr>
            <p:ph idx="1"/>
          </p:nvPr>
        </p:nvSpPr>
        <p:spPr>
          <a:xfrm>
            <a:off x="1435608" y="1340768"/>
            <a:ext cx="7498080" cy="5040560"/>
          </a:xfrm>
        </p:spPr>
        <p:txBody>
          <a:bodyPr>
            <a:normAutofit fontScale="62500" lnSpcReduction="20000"/>
          </a:bodyPr>
          <a:lstStyle/>
          <a:p>
            <a:r>
              <a:rPr lang="zh-CN" altLang="zh-CN" dirty="0"/>
              <a:t>图书管理系统的各个模块的功能如下：</a:t>
            </a:r>
          </a:p>
          <a:p>
            <a:pPr>
              <a:buFont typeface="Wingdings" pitchFamily="2" charset="2"/>
              <a:buChar char="l"/>
            </a:pPr>
            <a:r>
              <a:rPr lang="zh-CN" altLang="zh-CN" dirty="0"/>
              <a:t>主模块：该模块主要用来实现整个系统的流程，通过调用其他</a:t>
            </a:r>
            <a:endParaRPr lang="en-US" altLang="zh-CN" dirty="0"/>
          </a:p>
          <a:p>
            <a:pPr>
              <a:buNone/>
            </a:pPr>
            <a:r>
              <a:rPr lang="en-US" altLang="zh-CN" dirty="0"/>
              <a:t>	</a:t>
            </a:r>
            <a:r>
              <a:rPr lang="zh-CN" altLang="zh-CN" dirty="0"/>
              <a:t>模块，将这些模块串起来，完成图书管理系统的整个流程。</a:t>
            </a:r>
          </a:p>
          <a:p>
            <a:pPr>
              <a:buFont typeface="Wingdings" pitchFamily="2" charset="2"/>
              <a:buChar char="l"/>
            </a:pPr>
            <a:r>
              <a:rPr lang="zh-CN" altLang="zh-CN" dirty="0"/>
              <a:t>录入图书和添加图书模块：该模块主要用来实现图书信息的添</a:t>
            </a:r>
            <a:endParaRPr lang="en-US" altLang="zh-CN" dirty="0"/>
          </a:p>
          <a:p>
            <a:pPr>
              <a:buNone/>
            </a:pPr>
            <a:r>
              <a:rPr lang="en-US" altLang="zh-CN" dirty="0"/>
              <a:t>	</a:t>
            </a:r>
            <a:r>
              <a:rPr lang="zh-CN" altLang="zh-CN" dirty="0"/>
              <a:t>加，并将图书信息保存起来，用于查询以及修改。该模块实际</a:t>
            </a:r>
            <a:endParaRPr lang="en-US" altLang="zh-CN" dirty="0"/>
          </a:p>
          <a:p>
            <a:pPr>
              <a:buNone/>
            </a:pPr>
            <a:r>
              <a:rPr lang="en-US" altLang="zh-CN" dirty="0"/>
              <a:t>	</a:t>
            </a:r>
            <a:r>
              <a:rPr lang="zh-CN" altLang="zh-CN" dirty="0"/>
              <a:t>上对应两个功能，即多本图书信息的录入以及单本图书信息的</a:t>
            </a:r>
            <a:endParaRPr lang="en-US" altLang="zh-CN" dirty="0"/>
          </a:p>
          <a:p>
            <a:pPr>
              <a:buNone/>
            </a:pPr>
            <a:r>
              <a:rPr lang="en-US" altLang="zh-CN" dirty="0"/>
              <a:t>	</a:t>
            </a:r>
            <a:r>
              <a:rPr lang="zh-CN" altLang="zh-CN" dirty="0"/>
              <a:t>录入。</a:t>
            </a:r>
          </a:p>
          <a:p>
            <a:pPr>
              <a:buFont typeface="Wingdings" pitchFamily="2" charset="2"/>
              <a:buChar char="l"/>
            </a:pPr>
            <a:r>
              <a:rPr lang="zh-CN" altLang="zh-CN" dirty="0"/>
              <a:t>修改图书模块：该模块主要来实现指定图书信息修改，并将修</a:t>
            </a:r>
            <a:endParaRPr lang="en-US" altLang="zh-CN" dirty="0"/>
          </a:p>
          <a:p>
            <a:pPr>
              <a:buNone/>
            </a:pPr>
            <a:r>
              <a:rPr lang="en-US" altLang="zh-CN" dirty="0"/>
              <a:t>	</a:t>
            </a:r>
            <a:r>
              <a:rPr lang="zh-CN" altLang="zh-CN" dirty="0"/>
              <a:t>改信息保存起来。</a:t>
            </a:r>
          </a:p>
          <a:p>
            <a:pPr>
              <a:buFont typeface="Wingdings" pitchFamily="2" charset="2"/>
              <a:buChar char="l"/>
            </a:pPr>
            <a:r>
              <a:rPr lang="zh-CN" altLang="zh-CN" dirty="0"/>
              <a:t>查询图书模块：该模块主要用于查询图书信息，根据图书的编</a:t>
            </a:r>
            <a:endParaRPr lang="en-US" altLang="zh-CN" dirty="0"/>
          </a:p>
          <a:p>
            <a:pPr>
              <a:buNone/>
            </a:pPr>
            <a:r>
              <a:rPr lang="en-US" altLang="zh-CN" dirty="0"/>
              <a:t>	</a:t>
            </a:r>
            <a:r>
              <a:rPr lang="zh-CN" altLang="zh-CN" dirty="0"/>
              <a:t>号、书名等相关信息就可以检索到相关图书的信息。</a:t>
            </a:r>
          </a:p>
          <a:p>
            <a:pPr>
              <a:buFont typeface="Wingdings" pitchFamily="2" charset="2"/>
              <a:buChar char="l"/>
            </a:pPr>
            <a:r>
              <a:rPr lang="zh-CN" altLang="zh-CN" dirty="0"/>
              <a:t>修改图书模块：该模块主要用来修改图书的信息。</a:t>
            </a:r>
          </a:p>
          <a:p>
            <a:pPr>
              <a:buFont typeface="Wingdings" pitchFamily="2" charset="2"/>
              <a:buChar char="l"/>
            </a:pPr>
            <a:r>
              <a:rPr lang="zh-CN" altLang="zh-CN" dirty="0"/>
              <a:t>删除图书模块：</a:t>
            </a:r>
            <a:r>
              <a:rPr lang="zh-CN" altLang="en-US" dirty="0"/>
              <a:t>该</a:t>
            </a:r>
            <a:r>
              <a:rPr lang="zh-CN" altLang="zh-CN" dirty="0"/>
              <a:t>模块主要用于根据编号来删除对应的图书。</a:t>
            </a:r>
          </a:p>
          <a:p>
            <a:pPr>
              <a:buFont typeface="Wingdings" pitchFamily="2" charset="2"/>
              <a:buChar char="l"/>
            </a:pPr>
            <a:r>
              <a:rPr lang="zh-CN" altLang="zh-CN" dirty="0"/>
              <a:t>文件模块：文件模块主要是将图书的信息保存到文件中，以便</a:t>
            </a:r>
            <a:endParaRPr lang="en-US" altLang="zh-CN" dirty="0"/>
          </a:p>
          <a:p>
            <a:pPr>
              <a:buNone/>
            </a:pPr>
            <a:r>
              <a:rPr lang="en-US" altLang="zh-CN" dirty="0"/>
              <a:t>	</a:t>
            </a:r>
            <a:r>
              <a:rPr lang="zh-CN" altLang="zh-CN" dirty="0"/>
              <a:t>下一次查询，也用于读出图书的信息。</a:t>
            </a:r>
          </a:p>
          <a:p>
            <a:pPr>
              <a:buFont typeface="Wingdings" pitchFamily="2" charset="2"/>
              <a:buChar char="l"/>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图片 1"/>
          <p:cNvPicPr>
            <a:picLocks noChangeAspect="1" noChangeArrowheads="1"/>
          </p:cNvPicPr>
          <p:nvPr/>
        </p:nvPicPr>
        <p:blipFill>
          <a:blip r:embed="rId2" cstate="print"/>
          <a:srcRect/>
          <a:stretch>
            <a:fillRect/>
          </a:stretch>
        </p:blipFill>
        <p:spPr bwMode="auto">
          <a:xfrm>
            <a:off x="1259632" y="76200"/>
            <a:ext cx="7272808" cy="6250070"/>
          </a:xfrm>
          <a:prstGeom prst="rect">
            <a:avLst/>
          </a:prstGeom>
          <a:noFill/>
          <a:ln w="9525">
            <a:noFill/>
            <a:miter lim="800000"/>
            <a:headEnd/>
            <a:tailEnd/>
          </a:ln>
        </p:spPr>
      </p:pic>
      <p:sp>
        <p:nvSpPr>
          <p:cNvPr id="5" name="矩形 4"/>
          <p:cNvSpPr/>
          <p:nvPr/>
        </p:nvSpPr>
        <p:spPr>
          <a:xfrm>
            <a:off x="3923928" y="6237312"/>
            <a:ext cx="2388795" cy="400110"/>
          </a:xfrm>
          <a:prstGeom prst="rect">
            <a:avLst/>
          </a:prstGeom>
        </p:spPr>
        <p:txBody>
          <a:bodyPr wrap="none">
            <a:spAutoFit/>
          </a:bodyPr>
          <a:lstStyle/>
          <a:p>
            <a:r>
              <a:rPr lang="zh-CN" altLang="zh-CN" sz="2000" dirty="0"/>
              <a:t>图</a:t>
            </a:r>
            <a:r>
              <a:rPr lang="en-US" altLang="zh-CN" sz="2000" dirty="0"/>
              <a:t>14.1  </a:t>
            </a:r>
            <a:r>
              <a:rPr lang="zh-CN" altLang="zh-CN" sz="2000" dirty="0"/>
              <a:t>系统结构图</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14.3  </a:t>
            </a:r>
            <a:r>
              <a:rPr lang="zh-CN" altLang="zh-CN" b="1" dirty="0"/>
              <a:t>主模块</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zh-CN" dirty="0"/>
              <a:t>在主模块中定义了系统中使用的关键数据，比如描述图书信息的数据：编号，图书名、作者名、出版社等。</a:t>
            </a:r>
            <a:endParaRPr lang="en-US" altLang="zh-CN" dirty="0"/>
          </a:p>
          <a:p>
            <a:pPr>
              <a:buFont typeface="Wingdings" pitchFamily="2" charset="2"/>
              <a:buChar char="l"/>
            </a:pPr>
            <a:endParaRPr lang="en-US" altLang="zh-CN" dirty="0"/>
          </a:p>
          <a:p>
            <a:pPr>
              <a:buFont typeface="Wingdings" pitchFamily="2" charset="2"/>
              <a:buChar char="l"/>
            </a:pPr>
            <a:r>
              <a:rPr lang="zh-CN" altLang="zh-CN" dirty="0"/>
              <a:t>主模块中调用其它子模块实现了系统的功能。</a:t>
            </a:r>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638"/>
            <a:ext cx="7498080" cy="922114"/>
          </a:xfrm>
        </p:spPr>
        <p:txBody>
          <a:bodyPr/>
          <a:lstStyle/>
          <a:p>
            <a:r>
              <a:rPr lang="x-none" altLang="zh-CN" b="1" dirty="0"/>
              <a:t>14.3  </a:t>
            </a:r>
            <a:r>
              <a:rPr lang="zh-CN" altLang="zh-CN" b="1" dirty="0"/>
              <a:t>主模块</a:t>
            </a:r>
            <a:endParaRPr lang="zh-CN" altLang="en-US" dirty="0"/>
          </a:p>
        </p:txBody>
      </p:sp>
      <p:sp>
        <p:nvSpPr>
          <p:cNvPr id="3" name="内容占位符 2"/>
          <p:cNvSpPr>
            <a:spLocks noGrp="1"/>
          </p:cNvSpPr>
          <p:nvPr>
            <p:ph idx="1"/>
          </p:nvPr>
        </p:nvSpPr>
        <p:spPr>
          <a:xfrm>
            <a:off x="1435608" y="1268760"/>
            <a:ext cx="7498080" cy="4979640"/>
          </a:xfrm>
        </p:spPr>
        <p:txBody>
          <a:bodyPr>
            <a:normAutofit fontScale="77500" lnSpcReduction="20000"/>
          </a:bodyPr>
          <a:lstStyle/>
          <a:p>
            <a:pPr>
              <a:buFont typeface="Wingdings" pitchFamily="2" charset="2"/>
              <a:buChar char="l"/>
            </a:pPr>
            <a:r>
              <a:rPr lang="zh-CN" altLang="zh-CN" dirty="0"/>
              <a:t>通过结构体可以实现对图书信息的管理，定义结</a:t>
            </a:r>
            <a:endParaRPr lang="en-US" altLang="zh-CN" dirty="0"/>
          </a:p>
          <a:p>
            <a:pPr>
              <a:buNone/>
            </a:pPr>
            <a:r>
              <a:rPr lang="en-US" altLang="zh-CN" dirty="0"/>
              <a:t>	</a:t>
            </a:r>
            <a:r>
              <a:rPr lang="zh-CN" altLang="zh-CN" dirty="0"/>
              <a:t>构体如下：</a:t>
            </a:r>
          </a:p>
          <a:p>
            <a:r>
              <a:rPr lang="en-US" altLang="zh-CN" dirty="0"/>
              <a:t>/******************</a:t>
            </a:r>
            <a:r>
              <a:rPr lang="zh-CN" altLang="zh-CN" dirty="0"/>
              <a:t>图书结构体</a:t>
            </a:r>
            <a:r>
              <a:rPr lang="en-US" altLang="zh-CN" dirty="0"/>
              <a:t>*****************/</a:t>
            </a:r>
            <a:endParaRPr lang="zh-CN" altLang="zh-CN" dirty="0"/>
          </a:p>
          <a:p>
            <a:r>
              <a:rPr lang="en-US" altLang="zh-CN" dirty="0" err="1"/>
              <a:t>struct</a:t>
            </a:r>
            <a:r>
              <a:rPr lang="en-US" altLang="zh-CN" dirty="0"/>
              <a:t> book{</a:t>
            </a:r>
            <a:endParaRPr lang="zh-CN" altLang="zh-CN" dirty="0"/>
          </a:p>
          <a:p>
            <a:r>
              <a:rPr lang="en-US" altLang="zh-CN" dirty="0"/>
              <a:t>	</a:t>
            </a:r>
            <a:r>
              <a:rPr lang="en-US" altLang="zh-CN" dirty="0" err="1"/>
              <a:t>int</a:t>
            </a:r>
            <a:r>
              <a:rPr lang="en-US" altLang="zh-CN" dirty="0"/>
              <a:t> num;			/*</a:t>
            </a:r>
            <a:r>
              <a:rPr lang="zh-CN" altLang="zh-CN" dirty="0"/>
              <a:t>图书编号</a:t>
            </a:r>
            <a:r>
              <a:rPr lang="en-US" altLang="zh-CN" dirty="0"/>
              <a:t>*/</a:t>
            </a:r>
            <a:endParaRPr lang="zh-CN" altLang="zh-CN" dirty="0"/>
          </a:p>
          <a:p>
            <a:r>
              <a:rPr lang="en-US" altLang="zh-CN" dirty="0"/>
              <a:t>	char </a:t>
            </a:r>
            <a:r>
              <a:rPr lang="en-US" altLang="zh-CN" dirty="0" err="1"/>
              <a:t>bookname</a:t>
            </a:r>
            <a:r>
              <a:rPr lang="en-US" altLang="zh-CN" dirty="0"/>
              <a:t>[50];	/*</a:t>
            </a:r>
            <a:r>
              <a:rPr lang="zh-CN" altLang="zh-CN" dirty="0"/>
              <a:t>图书名</a:t>
            </a:r>
            <a:r>
              <a:rPr lang="en-US" altLang="zh-CN" dirty="0"/>
              <a:t>*/</a:t>
            </a:r>
            <a:endParaRPr lang="zh-CN" altLang="zh-CN" dirty="0"/>
          </a:p>
          <a:p>
            <a:r>
              <a:rPr lang="en-US" altLang="zh-CN" dirty="0"/>
              <a:t>	char </a:t>
            </a:r>
            <a:r>
              <a:rPr lang="en-US" altLang="zh-CN" dirty="0" err="1"/>
              <a:t>writername</a:t>
            </a:r>
            <a:r>
              <a:rPr lang="en-US" altLang="zh-CN" dirty="0"/>
              <a:t>[20];	/*</a:t>
            </a:r>
            <a:r>
              <a:rPr lang="zh-CN" altLang="zh-CN" dirty="0"/>
              <a:t>作者名</a:t>
            </a:r>
            <a:r>
              <a:rPr lang="en-US" altLang="zh-CN" dirty="0"/>
              <a:t>*/</a:t>
            </a:r>
            <a:endParaRPr lang="zh-CN" altLang="zh-CN" dirty="0"/>
          </a:p>
          <a:p>
            <a:r>
              <a:rPr lang="en-US" altLang="zh-CN" dirty="0"/>
              <a:t>	char press[50];		/*</a:t>
            </a:r>
            <a:r>
              <a:rPr lang="zh-CN" altLang="zh-CN" dirty="0"/>
              <a:t>出版社</a:t>
            </a:r>
            <a:r>
              <a:rPr lang="en-US" altLang="zh-CN" dirty="0"/>
              <a:t>*/</a:t>
            </a:r>
            <a:endParaRPr lang="zh-CN" altLang="zh-CN" dirty="0"/>
          </a:p>
          <a:p>
            <a:r>
              <a:rPr lang="en-US" altLang="zh-CN" dirty="0"/>
              <a:t>	char sort[50];		/*</a:t>
            </a:r>
            <a:r>
              <a:rPr lang="zh-CN" altLang="zh-CN" dirty="0"/>
              <a:t>种类</a:t>
            </a:r>
            <a:r>
              <a:rPr lang="en-US" altLang="zh-CN" dirty="0"/>
              <a:t>*/</a:t>
            </a:r>
            <a:endParaRPr lang="zh-CN" altLang="zh-CN" dirty="0"/>
          </a:p>
          <a:p>
            <a:r>
              <a:rPr lang="en-US" altLang="zh-CN" dirty="0"/>
              <a:t>	char time[50];		/*</a:t>
            </a:r>
            <a:r>
              <a:rPr lang="zh-CN" altLang="zh-CN" dirty="0"/>
              <a:t>出版时间</a:t>
            </a:r>
            <a:r>
              <a:rPr lang="en-US" altLang="zh-CN" dirty="0"/>
              <a:t>*/</a:t>
            </a:r>
            <a:endParaRPr lang="zh-CN" altLang="zh-CN" dirty="0"/>
          </a:p>
          <a:p>
            <a:r>
              <a:rPr lang="en-US" altLang="zh-CN" dirty="0"/>
              <a:t>	float price;			/*</a:t>
            </a:r>
            <a:r>
              <a:rPr lang="zh-CN" altLang="zh-CN" dirty="0"/>
              <a:t>价格</a:t>
            </a:r>
            <a:r>
              <a:rPr lang="en-US" altLang="zh-CN" dirty="0"/>
              <a:t>*/</a:t>
            </a:r>
            <a:endParaRPr lang="zh-CN" altLang="zh-CN" dirty="0"/>
          </a:p>
          <a:p>
            <a:r>
              <a:rPr lang="en-US" altLang="zh-CN" dirty="0"/>
              <a:t>    </a:t>
            </a:r>
            <a:r>
              <a:rPr lang="en-US" altLang="zh-CN" dirty="0" err="1"/>
              <a:t>struct</a:t>
            </a:r>
            <a:r>
              <a:rPr lang="en-US" altLang="zh-CN" dirty="0"/>
              <a:t> book *next;		/*</a:t>
            </a:r>
            <a:r>
              <a:rPr lang="zh-CN" altLang="zh-CN" dirty="0"/>
              <a:t>下一个节点</a:t>
            </a:r>
            <a:r>
              <a:rPr lang="en-US" altLang="zh-CN" dirty="0"/>
              <a:t>*/</a:t>
            </a:r>
            <a:endParaRPr lang="zh-CN" altLang="zh-CN" dirty="0"/>
          </a:p>
          <a:p>
            <a:r>
              <a:rPr lang="en-US" altLang="zh-CN" dirty="0"/>
              <a:t>};</a:t>
            </a:r>
            <a:endParaRPr lang="zh-CN" altLang="zh-CN" dirty="0"/>
          </a:p>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14.4  </a:t>
            </a:r>
            <a:r>
              <a:rPr lang="zh-CN" altLang="zh-CN" b="1" dirty="0"/>
              <a:t>录入数据模块</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zh-CN" dirty="0"/>
              <a:t>录入数据模块主要实现了对图书信息的添加，并形成链表。将用户输入的图书信息存储在链表中，然后返回表头，存储起来。</a:t>
            </a:r>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14.5  </a:t>
            </a:r>
            <a:r>
              <a:rPr lang="zh-CN" altLang="zh-CN" b="1" dirty="0"/>
              <a:t>修改图书模块</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zh-CN" dirty="0"/>
              <a:t>修改图书模块是对存储在文件中的指定图书信息进行修改。该模块的功能由</a:t>
            </a:r>
            <a:r>
              <a:rPr lang="en-US" altLang="zh-CN" dirty="0" err="1"/>
              <a:t>modifybookinfo</a:t>
            </a:r>
            <a:r>
              <a:rPr lang="zh-CN" altLang="zh-CN" dirty="0"/>
              <a:t>函数来完成。</a:t>
            </a:r>
            <a:endParaRPr lang="en-US" altLang="zh-CN" dirty="0"/>
          </a:p>
          <a:p>
            <a:pPr>
              <a:buFont typeface="Wingdings" pitchFamily="2" charset="2"/>
              <a:buChar char="l"/>
            </a:pPr>
            <a:endParaRPr lang="zh-CN" altLang="zh-CN" dirty="0"/>
          </a:p>
          <a:p>
            <a:pPr>
              <a:buFont typeface="Wingdings" pitchFamily="2" charset="2"/>
              <a:buChar char="l"/>
            </a:pPr>
            <a:r>
              <a:rPr lang="zh-CN" altLang="zh-CN" dirty="0"/>
              <a:t>在</a:t>
            </a:r>
            <a:r>
              <a:rPr lang="en-US" altLang="zh-CN" dirty="0" err="1"/>
              <a:t>modifybookinfo</a:t>
            </a:r>
            <a:r>
              <a:rPr lang="zh-CN" altLang="zh-CN" dirty="0"/>
              <a:t>函数中，首先由用户指定图书编号，并根据编号来查找图书，在查找到图书后，再选择要更改指定图书的哪项信息，最后输入新信息并进行保存。</a:t>
            </a:r>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14.6  查询图书模块</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zh-CN" dirty="0"/>
              <a:t>查询图书模块用来查询图书的详细信息，根据已知的图书的一些相关信息，如编号、图书名、图书类别等来进行查询。</a:t>
            </a:r>
            <a:endParaRPr lang="en-US" altLang="zh-CN" dirty="0"/>
          </a:p>
          <a:p>
            <a:pPr>
              <a:buFont typeface="Wingdings" pitchFamily="2" charset="2"/>
              <a:buChar char="l"/>
            </a:pPr>
            <a:endParaRPr lang="zh-CN" altLang="zh-CN" dirty="0"/>
          </a:p>
          <a:p>
            <a:pPr>
              <a:buFont typeface="Wingdings" pitchFamily="2" charset="2"/>
              <a:buChar char="l"/>
            </a:pPr>
            <a:r>
              <a:rPr lang="zh-CN" altLang="zh-CN" dirty="0"/>
              <a:t>在查询图书模块中又包含了几个小模块，根据用户的选择</a:t>
            </a:r>
            <a:r>
              <a:rPr lang="zh-CN" altLang="en-US" dirty="0"/>
              <a:t>进行</a:t>
            </a:r>
            <a:r>
              <a:rPr lang="zh-CN" altLang="zh-CN" dirty="0"/>
              <a:t>调用</a:t>
            </a:r>
            <a:r>
              <a:rPr lang="zh-CN" altLang="en-US"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图片 1"/>
          <p:cNvPicPr>
            <a:picLocks noChangeAspect="1" noChangeArrowheads="1"/>
          </p:cNvPicPr>
          <p:nvPr/>
        </p:nvPicPr>
        <p:blipFill>
          <a:blip r:embed="rId2" cstate="print"/>
          <a:srcRect/>
          <a:stretch>
            <a:fillRect/>
          </a:stretch>
        </p:blipFill>
        <p:spPr bwMode="auto">
          <a:xfrm>
            <a:off x="1043608" y="1196752"/>
            <a:ext cx="7913737" cy="3816424"/>
          </a:xfrm>
          <a:prstGeom prst="rect">
            <a:avLst/>
          </a:prstGeom>
          <a:noFill/>
          <a:ln w="9525">
            <a:noFill/>
            <a:miter lim="800000"/>
            <a:headEnd/>
            <a:tailEnd/>
          </a:ln>
        </p:spPr>
      </p:pic>
      <p:sp>
        <p:nvSpPr>
          <p:cNvPr id="2051" name="Rectangle 3"/>
          <p:cNvSpPr>
            <a:spLocks noChangeArrowheads="1"/>
          </p:cNvSpPr>
          <p:nvPr/>
        </p:nvSpPr>
        <p:spPr bwMode="auto">
          <a:xfrm>
            <a:off x="3287976" y="5154960"/>
            <a:ext cx="3647152"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图</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14.2  </a:t>
            </a: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查询图书模块结构</a:t>
            </a:r>
            <a:endParaRPr kumimoji="0" lang="zh-CN" altLang="en-US"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14.7  </a:t>
            </a:r>
            <a:r>
              <a:rPr lang="zh-CN" altLang="zh-CN" b="1" dirty="0"/>
              <a:t>删除图书模块</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zh-CN" dirty="0"/>
              <a:t>删除图书模块可用来删除指定的图书。在用户输入要删除的图书编号后，该模块从文件中读取所有的图书信息，与要删除的图书编号对比直至找到相同的图书编号，找到该编号所在的结点将其从链表中删除，将删除结点后的链表信息重新写入文件中。</a:t>
            </a:r>
          </a:p>
          <a:p>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14.8  文件模块</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zh-CN" dirty="0"/>
              <a:t>文件模块用来读取和存储图书信息。在程序运行时，图书信息是存放在链表中的，通过文件模块中的</a:t>
            </a:r>
            <a:r>
              <a:rPr lang="en-US" altLang="zh-CN" dirty="0" err="1"/>
              <a:t>fprint</a:t>
            </a:r>
            <a:r>
              <a:rPr lang="en-US" altLang="zh-CN" dirty="0"/>
              <a:t>()</a:t>
            </a:r>
            <a:r>
              <a:rPr lang="zh-CN" altLang="zh-CN" dirty="0"/>
              <a:t>函数可以将链表中存放的图书信息写入到文件中，而当程序运行过程中需要图书信息时，就从文件中加载这些信息并重新存入链表中。</a:t>
            </a:r>
          </a:p>
          <a:p>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14.9  </a:t>
            </a:r>
            <a:r>
              <a:rPr lang="zh-CN" altLang="zh-CN" b="1" dirty="0"/>
              <a:t>图书管理系统使用说明</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zh-CN" dirty="0"/>
              <a:t>图书管理系统的开始界面如图</a:t>
            </a:r>
            <a:r>
              <a:rPr lang="en-US" altLang="zh-CN" dirty="0"/>
              <a:t>20.3</a:t>
            </a:r>
            <a:r>
              <a:rPr lang="zh-CN" altLang="zh-CN" dirty="0"/>
              <a:t>所示。用户可以通过数字按键来实现功能菜单的选择， </a:t>
            </a:r>
            <a:r>
              <a:rPr lang="en-US" altLang="zh-CN" dirty="0"/>
              <a:t>0-6</a:t>
            </a:r>
            <a:r>
              <a:rPr lang="zh-CN" altLang="zh-CN" dirty="0"/>
              <a:t>每个数字各代表一项主要功能，如果按下数字键</a:t>
            </a:r>
            <a:r>
              <a:rPr lang="en-US" altLang="zh-CN" dirty="0"/>
              <a:t>0</a:t>
            </a:r>
            <a:r>
              <a:rPr lang="zh-CN" altLang="zh-CN" dirty="0"/>
              <a:t>，则会退出系统。</a:t>
            </a:r>
          </a:p>
          <a:p>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图片 1"/>
          <p:cNvPicPr>
            <a:picLocks noChangeAspect="1" noChangeArrowheads="1"/>
          </p:cNvPicPr>
          <p:nvPr/>
        </p:nvPicPr>
        <p:blipFill>
          <a:blip r:embed="rId2" cstate="print"/>
          <a:srcRect/>
          <a:stretch>
            <a:fillRect/>
          </a:stretch>
        </p:blipFill>
        <p:spPr bwMode="auto">
          <a:xfrm>
            <a:off x="1475656" y="1196752"/>
            <a:ext cx="7101904" cy="4320480"/>
          </a:xfrm>
          <a:prstGeom prst="rect">
            <a:avLst/>
          </a:prstGeom>
          <a:noFill/>
          <a:ln w="9525">
            <a:noFill/>
            <a:miter lim="800000"/>
            <a:headEnd/>
            <a:tailEnd/>
          </a:ln>
        </p:spPr>
      </p:pic>
      <p:sp>
        <p:nvSpPr>
          <p:cNvPr id="25603" name="Rectangle 3"/>
          <p:cNvSpPr>
            <a:spLocks noChangeArrowheads="1"/>
          </p:cNvSpPr>
          <p:nvPr/>
        </p:nvSpPr>
        <p:spPr bwMode="auto">
          <a:xfrm>
            <a:off x="2933184" y="5833809"/>
            <a:ext cx="3583032" cy="40011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图</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14.3  </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图书管理系统开始界面</a:t>
            </a: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5608" y="562670"/>
            <a:ext cx="7498080" cy="706090"/>
          </a:xfrm>
        </p:spPr>
        <p:txBody>
          <a:bodyPr>
            <a:normAutofit fontScale="90000"/>
          </a:bodyPr>
          <a:lstStyle/>
          <a:p>
            <a:r>
              <a:rPr lang="zh-CN" altLang="zh-CN" dirty="0"/>
              <a:t>（</a:t>
            </a:r>
            <a:r>
              <a:rPr lang="en-US" altLang="zh-CN" dirty="0"/>
              <a:t>1</a:t>
            </a:r>
            <a:r>
              <a:rPr lang="zh-CN" altLang="zh-CN" dirty="0"/>
              <a:t>）图书录入</a:t>
            </a:r>
            <a:endParaRPr lang="zh-CN" altLang="en-US" dirty="0"/>
          </a:p>
        </p:txBody>
      </p:sp>
      <p:pic>
        <p:nvPicPr>
          <p:cNvPr id="29698" name="图片 1"/>
          <p:cNvPicPr>
            <a:picLocks noChangeAspect="1" noChangeArrowheads="1"/>
          </p:cNvPicPr>
          <p:nvPr/>
        </p:nvPicPr>
        <p:blipFill>
          <a:blip r:embed="rId2" cstate="print"/>
          <a:srcRect/>
          <a:stretch>
            <a:fillRect/>
          </a:stretch>
        </p:blipFill>
        <p:spPr bwMode="auto">
          <a:xfrm>
            <a:off x="1331640" y="1628800"/>
            <a:ext cx="7319401" cy="4536504"/>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a:t>
            </a:r>
            <a:r>
              <a:rPr lang="en-US" altLang="zh-CN" dirty="0"/>
              <a:t>2</a:t>
            </a:r>
            <a:r>
              <a:rPr lang="zh-CN" altLang="zh-CN" dirty="0"/>
              <a:t>）添加图书</a:t>
            </a:r>
            <a:endParaRPr lang="zh-CN" altLang="en-US" dirty="0"/>
          </a:p>
        </p:txBody>
      </p:sp>
      <p:pic>
        <p:nvPicPr>
          <p:cNvPr id="30722" name="图片 1"/>
          <p:cNvPicPr>
            <a:picLocks noChangeAspect="1" noChangeArrowheads="1"/>
          </p:cNvPicPr>
          <p:nvPr/>
        </p:nvPicPr>
        <p:blipFill>
          <a:blip r:embed="rId2" cstate="print"/>
          <a:srcRect/>
          <a:stretch>
            <a:fillRect/>
          </a:stretch>
        </p:blipFill>
        <p:spPr bwMode="auto">
          <a:xfrm>
            <a:off x="1475656" y="1556792"/>
            <a:ext cx="7128792" cy="444611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a:t>
            </a:r>
            <a:r>
              <a:rPr lang="en-US" altLang="zh-CN" dirty="0"/>
              <a:t>3</a:t>
            </a:r>
            <a:r>
              <a:rPr lang="zh-CN" altLang="zh-CN" dirty="0"/>
              <a:t>）删除图书</a:t>
            </a:r>
            <a:endParaRPr lang="zh-CN" altLang="en-US" dirty="0"/>
          </a:p>
        </p:txBody>
      </p:sp>
      <p:pic>
        <p:nvPicPr>
          <p:cNvPr id="31746" name="图片 1"/>
          <p:cNvPicPr>
            <a:picLocks noChangeAspect="1" noChangeArrowheads="1"/>
          </p:cNvPicPr>
          <p:nvPr/>
        </p:nvPicPr>
        <p:blipFill>
          <a:blip r:embed="rId2" cstate="print"/>
          <a:srcRect/>
          <a:stretch>
            <a:fillRect/>
          </a:stretch>
        </p:blipFill>
        <p:spPr bwMode="auto">
          <a:xfrm>
            <a:off x="1475656" y="1556792"/>
            <a:ext cx="7203221" cy="4464496"/>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5608" y="404664"/>
            <a:ext cx="7498080" cy="1012974"/>
          </a:xfrm>
        </p:spPr>
        <p:txBody>
          <a:bodyPr>
            <a:normAutofit/>
          </a:bodyPr>
          <a:lstStyle/>
          <a:p>
            <a:r>
              <a:rPr lang="zh-CN" altLang="zh-CN" dirty="0"/>
              <a:t>（</a:t>
            </a:r>
            <a:r>
              <a:rPr lang="en-US" altLang="zh-CN" dirty="0"/>
              <a:t>4</a:t>
            </a:r>
            <a:r>
              <a:rPr lang="zh-CN" altLang="zh-CN" dirty="0"/>
              <a:t>）图书列表</a:t>
            </a:r>
            <a:endParaRPr lang="zh-CN" altLang="en-US" dirty="0"/>
          </a:p>
        </p:txBody>
      </p:sp>
      <p:pic>
        <p:nvPicPr>
          <p:cNvPr id="32770" name="图片 1"/>
          <p:cNvPicPr>
            <a:picLocks noChangeAspect="1" noChangeArrowheads="1"/>
          </p:cNvPicPr>
          <p:nvPr/>
        </p:nvPicPr>
        <p:blipFill>
          <a:blip r:embed="rId2" cstate="print"/>
          <a:srcRect/>
          <a:stretch>
            <a:fillRect/>
          </a:stretch>
        </p:blipFill>
        <p:spPr bwMode="auto">
          <a:xfrm>
            <a:off x="1331640" y="1628800"/>
            <a:ext cx="7416824" cy="46162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a:t>
            </a:r>
            <a:r>
              <a:rPr lang="en-US" altLang="zh-CN" dirty="0"/>
              <a:t>5</a:t>
            </a:r>
            <a:r>
              <a:rPr lang="zh-CN" altLang="zh-CN" dirty="0"/>
              <a:t>）查询图书</a:t>
            </a:r>
            <a:endParaRPr lang="zh-CN" altLang="en-US" dirty="0"/>
          </a:p>
        </p:txBody>
      </p:sp>
      <p:sp>
        <p:nvSpPr>
          <p:cNvPr id="3" name="内容占位符 2"/>
          <p:cNvSpPr>
            <a:spLocks noGrp="1"/>
          </p:cNvSpPr>
          <p:nvPr>
            <p:ph idx="1"/>
          </p:nvPr>
        </p:nvSpPr>
        <p:spPr/>
        <p:txBody>
          <a:bodyPr/>
          <a:lstStyle/>
          <a:p>
            <a:endParaRPr lang="zh-CN" altLang="en-US"/>
          </a:p>
        </p:txBody>
      </p:sp>
      <p:pic>
        <p:nvPicPr>
          <p:cNvPr id="33794" name="图片 1"/>
          <p:cNvPicPr>
            <a:picLocks noChangeAspect="1" noChangeArrowheads="1"/>
          </p:cNvPicPr>
          <p:nvPr/>
        </p:nvPicPr>
        <p:blipFill>
          <a:blip r:embed="rId2" cstate="print"/>
          <a:srcRect/>
          <a:stretch>
            <a:fillRect/>
          </a:stretch>
        </p:blipFill>
        <p:spPr bwMode="auto">
          <a:xfrm>
            <a:off x="1547663" y="1628800"/>
            <a:ext cx="7200801" cy="432048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a:t>
            </a:r>
            <a:r>
              <a:rPr lang="en-US" altLang="zh-CN" dirty="0"/>
              <a:t>6</a:t>
            </a:r>
            <a:r>
              <a:rPr lang="zh-CN" altLang="zh-CN" dirty="0"/>
              <a:t>）修改图书</a:t>
            </a:r>
            <a:endParaRPr lang="zh-CN" altLang="en-US" dirty="0"/>
          </a:p>
        </p:txBody>
      </p:sp>
      <p:sp>
        <p:nvSpPr>
          <p:cNvPr id="3" name="内容占位符 2"/>
          <p:cNvSpPr>
            <a:spLocks noGrp="1"/>
          </p:cNvSpPr>
          <p:nvPr>
            <p:ph idx="1"/>
          </p:nvPr>
        </p:nvSpPr>
        <p:spPr/>
        <p:txBody>
          <a:bodyPr/>
          <a:lstStyle/>
          <a:p>
            <a:endParaRPr lang="zh-CN" altLang="en-US"/>
          </a:p>
        </p:txBody>
      </p:sp>
      <p:pic>
        <p:nvPicPr>
          <p:cNvPr id="34818" name="图片 1"/>
          <p:cNvPicPr>
            <a:picLocks noChangeAspect="1" noChangeArrowheads="1"/>
          </p:cNvPicPr>
          <p:nvPr/>
        </p:nvPicPr>
        <p:blipFill>
          <a:blip r:embed="rId2" cstate="print"/>
          <a:srcRect/>
          <a:stretch>
            <a:fillRect/>
          </a:stretch>
        </p:blipFill>
        <p:spPr bwMode="auto">
          <a:xfrm>
            <a:off x="1475656" y="1628800"/>
            <a:ext cx="7392821" cy="4608512"/>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14.10  本章小结</a:t>
            </a:r>
            <a:endParaRPr lang="zh-CN" altLang="en-US" dirty="0"/>
          </a:p>
        </p:txBody>
      </p:sp>
      <p:sp>
        <p:nvSpPr>
          <p:cNvPr id="3" name="内容占位符 2"/>
          <p:cNvSpPr>
            <a:spLocks noGrp="1"/>
          </p:cNvSpPr>
          <p:nvPr>
            <p:ph idx="1"/>
          </p:nvPr>
        </p:nvSpPr>
        <p:spPr/>
        <p:txBody>
          <a:bodyPr>
            <a:normAutofit/>
          </a:bodyPr>
          <a:lstStyle/>
          <a:p>
            <a:pPr>
              <a:buFont typeface="Wingdings" pitchFamily="2" charset="2"/>
              <a:buChar char="l"/>
            </a:pPr>
            <a:r>
              <a:rPr lang="zh-CN" altLang="zh-CN" dirty="0"/>
              <a:t>本章实现了一个图书管理系统，该图书管理系统共包含六个模块，分别是：主模块、录入数据模块、修改图书模块、查询图书模块、删除图书模块以及文件模块。</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69</TotalTime>
  <Words>1077</Words>
  <Application>Microsoft Office PowerPoint</Application>
  <PresentationFormat>全屏显示(4:3)</PresentationFormat>
  <Paragraphs>80</Paragraphs>
  <Slides>21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21</vt:i4>
      </vt:variant>
    </vt:vector>
  </HeadingPairs>
  <TitlesOfParts>
    <vt:vector size="28" baseType="lpstr">
      <vt:lpstr>Arial</vt:lpstr>
      <vt:lpstr>Gill Sans MT</vt:lpstr>
      <vt:lpstr>Times New Roman</vt:lpstr>
      <vt:lpstr>Verdana</vt:lpstr>
      <vt:lpstr>Wingdings</vt:lpstr>
      <vt:lpstr>Wingdings 2</vt:lpstr>
      <vt:lpstr>夏至</vt:lpstr>
      <vt:lpstr>第14章  图书管理系统</vt:lpstr>
      <vt:lpstr>14.1  需求分析</vt:lpstr>
      <vt:lpstr>14.2  系统设计</vt:lpstr>
      <vt:lpstr>PowerPoint 演示文稿</vt:lpstr>
      <vt:lpstr>14.3  主模块</vt:lpstr>
      <vt:lpstr>14.3  主模块</vt:lpstr>
      <vt:lpstr>14.4  录入数据模块</vt:lpstr>
      <vt:lpstr>14.5  修改图书模块</vt:lpstr>
      <vt:lpstr>14.6  查询图书模块</vt:lpstr>
      <vt:lpstr>PowerPoint 演示文稿</vt:lpstr>
      <vt:lpstr>14.7  删除图书模块</vt:lpstr>
      <vt:lpstr>14.8  文件模块</vt:lpstr>
      <vt:lpstr>14.9  图书管理系统使用说明</vt:lpstr>
      <vt:lpstr>PowerPoint 演示文稿</vt:lpstr>
      <vt:lpstr>（1）图书录入</vt:lpstr>
      <vt:lpstr>（2）添加图书</vt:lpstr>
      <vt:lpstr>（3）删除图书</vt:lpstr>
      <vt:lpstr>（4）图书列表</vt:lpstr>
      <vt:lpstr>（5）查询图书</vt:lpstr>
      <vt:lpstr>（6）修改图书</vt:lpstr>
      <vt:lpstr>14.10  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C语言编程实战宝典</dc:title>
  <dc:creator>mcc</dc:creator>
  <cp:lastModifiedBy>wei jj</cp:lastModifiedBy>
  <cp:revision>20</cp:revision>
  <dcterms:created xsi:type="dcterms:W3CDTF">2014-11-26T01:55:50Z</dcterms:created>
  <dcterms:modified xsi:type="dcterms:W3CDTF">2021-10-05T14:41:19Z</dcterms:modified>
</cp:coreProperties>
</file>