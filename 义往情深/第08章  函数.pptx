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67" r:id="rId2"/>
    <p:sldId id="872" r:id="rId3"/>
    <p:sldId id="766" r:id="rId4"/>
    <p:sldId id="769" r:id="rId5"/>
    <p:sldId id="772" r:id="rId6"/>
    <p:sldId id="775" r:id="rId7"/>
    <p:sldId id="777" r:id="rId8"/>
    <p:sldId id="778" r:id="rId9"/>
    <p:sldId id="781" r:id="rId10"/>
    <p:sldId id="782" r:id="rId11"/>
    <p:sldId id="783" r:id="rId12"/>
    <p:sldId id="784" r:id="rId13"/>
    <p:sldId id="785" r:id="rId14"/>
    <p:sldId id="786" r:id="rId15"/>
    <p:sldId id="787" r:id="rId16"/>
    <p:sldId id="806" r:id="rId17"/>
    <p:sldId id="808" r:id="rId18"/>
    <p:sldId id="809" r:id="rId19"/>
    <p:sldId id="833" r:id="rId20"/>
    <p:sldId id="810" r:id="rId21"/>
    <p:sldId id="811" r:id="rId22"/>
    <p:sldId id="812" r:id="rId23"/>
    <p:sldId id="813" r:id="rId24"/>
    <p:sldId id="873" r:id="rId25"/>
    <p:sldId id="874" r:id="rId26"/>
    <p:sldId id="875" r:id="rId27"/>
    <p:sldId id="788" r:id="rId28"/>
    <p:sldId id="789" r:id="rId29"/>
    <p:sldId id="790" r:id="rId30"/>
    <p:sldId id="791" r:id="rId31"/>
    <p:sldId id="792" r:id="rId32"/>
    <p:sldId id="793" r:id="rId33"/>
    <p:sldId id="794" r:id="rId34"/>
    <p:sldId id="795" r:id="rId35"/>
    <p:sldId id="796" r:id="rId36"/>
    <p:sldId id="797" r:id="rId37"/>
    <p:sldId id="798" r:id="rId38"/>
    <p:sldId id="831" r:id="rId39"/>
    <p:sldId id="830" r:id="rId40"/>
    <p:sldId id="799" r:id="rId41"/>
    <p:sldId id="800" r:id="rId42"/>
    <p:sldId id="801" r:id="rId43"/>
    <p:sldId id="802" r:id="rId44"/>
    <p:sldId id="803" r:id="rId45"/>
    <p:sldId id="804" r:id="rId46"/>
    <p:sldId id="805" r:id="rId47"/>
    <p:sldId id="820" r:id="rId48"/>
    <p:sldId id="821" r:id="rId49"/>
    <p:sldId id="832" r:id="rId50"/>
    <p:sldId id="861" r:id="rId51"/>
    <p:sldId id="836" r:id="rId52"/>
    <p:sldId id="837" r:id="rId53"/>
    <p:sldId id="838" r:id="rId54"/>
    <p:sldId id="839" r:id="rId55"/>
    <p:sldId id="840" r:id="rId56"/>
    <p:sldId id="841" r:id="rId57"/>
    <p:sldId id="842" r:id="rId58"/>
    <p:sldId id="843" r:id="rId59"/>
    <p:sldId id="844" r:id="rId60"/>
    <p:sldId id="845" r:id="rId61"/>
    <p:sldId id="846" r:id="rId62"/>
    <p:sldId id="847" r:id="rId63"/>
    <p:sldId id="848" r:id="rId64"/>
    <p:sldId id="849" r:id="rId65"/>
    <p:sldId id="850" r:id="rId66"/>
    <p:sldId id="852" r:id="rId67"/>
    <p:sldId id="851" r:id="rId68"/>
    <p:sldId id="853" r:id="rId69"/>
    <p:sldId id="854" r:id="rId70"/>
    <p:sldId id="862" r:id="rId71"/>
    <p:sldId id="863" r:id="rId72"/>
    <p:sldId id="864" r:id="rId73"/>
    <p:sldId id="865" r:id="rId74"/>
    <p:sldId id="825" r:id="rId75"/>
    <p:sldId id="826" r:id="rId76"/>
    <p:sldId id="866" r:id="rId77"/>
    <p:sldId id="867" r:id="rId78"/>
    <p:sldId id="868" r:id="rId79"/>
    <p:sldId id="869" r:id="rId80"/>
    <p:sldId id="870" r:id="rId81"/>
    <p:sldId id="871" r:id="rId82"/>
    <p:sldId id="827" r:id="rId83"/>
    <p:sldId id="828" r:id="rId8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DDCAC7C-4CA9-4E02-A32A-EBAF0DE45C6A}">
          <p14:sldIdLst>
            <p14:sldId id="267"/>
            <p14:sldId id="872"/>
            <p14:sldId id="766"/>
            <p14:sldId id="769"/>
            <p14:sldId id="772"/>
            <p14:sldId id="775"/>
            <p14:sldId id="777"/>
            <p14:sldId id="778"/>
            <p14:sldId id="781"/>
            <p14:sldId id="782"/>
            <p14:sldId id="783"/>
            <p14:sldId id="784"/>
            <p14:sldId id="785"/>
            <p14:sldId id="786"/>
            <p14:sldId id="787"/>
            <p14:sldId id="806"/>
            <p14:sldId id="808"/>
            <p14:sldId id="809"/>
            <p14:sldId id="833"/>
            <p14:sldId id="810"/>
            <p14:sldId id="811"/>
            <p14:sldId id="812"/>
            <p14:sldId id="813"/>
            <p14:sldId id="873"/>
            <p14:sldId id="874"/>
            <p14:sldId id="875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831"/>
            <p14:sldId id="830"/>
            <p14:sldId id="799"/>
            <p14:sldId id="800"/>
            <p14:sldId id="801"/>
            <p14:sldId id="802"/>
            <p14:sldId id="803"/>
            <p14:sldId id="804"/>
            <p14:sldId id="805"/>
            <p14:sldId id="820"/>
            <p14:sldId id="821"/>
            <p14:sldId id="832"/>
            <p14:sldId id="861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2"/>
            <p14:sldId id="851"/>
            <p14:sldId id="853"/>
            <p14:sldId id="854"/>
            <p14:sldId id="862"/>
            <p14:sldId id="863"/>
            <p14:sldId id="864"/>
            <p14:sldId id="865"/>
            <p14:sldId id="825"/>
            <p14:sldId id="826"/>
            <p14:sldId id="866"/>
            <p14:sldId id="867"/>
            <p14:sldId id="868"/>
            <p14:sldId id="869"/>
            <p14:sldId id="870"/>
            <p14:sldId id="871"/>
            <p14:sldId id="827"/>
            <p14:sldId id="828"/>
          </p14:sldIdLst>
        </p14:section>
      </p14:sectionLst>
    </p:ext>
    <p:ext uri="{EFAFB233-063F-42B5-8137-9DF3F51BA10A}">
      <p15:sldGuideLst xmlns:p15="http://schemas.microsoft.com/office/powerpoint/2012/main">
        <p15:guide id="2" pos="3885" userDrawn="1">
          <p15:clr>
            <a:srgbClr val="A4A3A4"/>
          </p15:clr>
        </p15:guide>
        <p15:guide id="4" pos="982" userDrawn="1">
          <p15:clr>
            <a:srgbClr val="A4A3A4"/>
          </p15:clr>
        </p15:guide>
        <p15:guide id="5" pos="7197" userDrawn="1">
          <p15:clr>
            <a:srgbClr val="A4A3A4"/>
          </p15:clr>
        </p15:guide>
        <p15:guide id="6" pos="574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DFC4"/>
    <a:srgbClr val="C01920"/>
    <a:srgbClr val="CFCFD1"/>
    <a:srgbClr val="CF0D9E"/>
    <a:srgbClr val="F0E5B7"/>
    <a:srgbClr val="BD6368"/>
    <a:srgbClr val="DDFAED"/>
    <a:srgbClr val="BAA1B9"/>
    <a:srgbClr val="9CF7FF"/>
    <a:srgbClr val="090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2" autoAdjust="0"/>
    <p:restoredTop sz="93156" autoAdjust="0"/>
  </p:normalViewPr>
  <p:slideViewPr>
    <p:cSldViewPr>
      <p:cViewPr varScale="1">
        <p:scale>
          <a:sx n="79" d="100"/>
          <a:sy n="79" d="100"/>
        </p:scale>
        <p:origin x="562" y="72"/>
      </p:cViewPr>
      <p:guideLst>
        <p:guide pos="3885"/>
        <p:guide pos="982"/>
        <p:guide pos="7197"/>
        <p:guide pos="57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6E37FF-4EAF-470E-BD31-3D917444AAA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35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938BE8-531F-4030-B1F1-4ED38DC7F3CE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486642-9806-41FB-A1D6-AFF5712577C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02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904AB-7837-4A6E-8715-5D76AF5BF02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03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F3130-4238-4506-84E6-5E6780887583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9102A-6E35-48AF-9CA4-CCA23B0D469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4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32B4C1-5911-4429-96EA-C5724E60B0CA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9BD0D-60E7-453D-901D-7800B45482EF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FA2DAB-19C2-42A7-9E50-4A375AC0B3D4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9098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E038D5-33A4-4118-9168-B06234D9960C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6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61B903-4B70-4C87-8D29-05146E07AF2C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06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6BD14C-31EF-494E-B458-07B49F661C11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6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C4F22-E42C-4342-8D8A-A741442279B1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06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76DE1D-199F-4CB7-BABC-91C78171521B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07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41C8C9-8EE5-4488-BDA2-7136183A4A57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07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C46C54-CCF4-4A1E-B464-379FD3B2B1EE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07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705853-54DA-4FBB-A0F4-0671261FF5E3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07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99B00-AFEA-471E-BD51-7D14D855FD90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CCDFF3-0E7A-454F-9358-16DE199F612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08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D5B520-7064-4799-8074-328497A3D6BE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08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390E10-029D-40B1-B7DA-DF5E22209245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12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C5C7F-B62C-47B9-8D72-DA6FD087F866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126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8353E3-4037-4403-A8B7-28BB90661ACB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08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</a:p>
          <a:p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指令是不可分割的最小功能单元</a:t>
            </a:r>
          </a:p>
          <a:p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执行效率高</a:t>
            </a:r>
          </a:p>
          <a:p>
            <a:r>
              <a:rPr lang="zh-CN" altLang="en-US" dirty="0"/>
              <a:t>不直观，不易查错，生产效率低。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。汇编语言</a:t>
            </a:r>
          </a:p>
          <a:p>
            <a:r>
              <a:rPr lang="zh-CN" altLang="en-US" dirty="0"/>
              <a:t>定义：用助记符号描述的指令系统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生产效率高，质量好，执行效率较高；</a:t>
            </a:r>
          </a:p>
          <a:p>
            <a:r>
              <a:rPr lang="zh-CN" altLang="en-US" dirty="0"/>
              <a:t>要经汇编程序汇编成目标程序（机器语言）才能执行，依赖硬件。</a:t>
            </a:r>
          </a:p>
          <a:p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。高级语言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编程效率高，不必考虑硬件；</a:t>
            </a:r>
          </a:p>
          <a:p>
            <a:r>
              <a:rPr lang="zh-CN" altLang="en-US" dirty="0"/>
              <a:t>执行效率低，要经编译、连接后才能执行。</a:t>
            </a:r>
          </a:p>
          <a:p>
            <a:r>
              <a:rPr lang="zh-CN" altLang="en-US" dirty="0"/>
              <a:t>面向过程的程序设计语言</a:t>
            </a:r>
          </a:p>
          <a:p>
            <a:r>
              <a:rPr lang="zh-CN" altLang="en-US" dirty="0"/>
              <a:t>认为解题过程是数据被加工的过程</a:t>
            </a:r>
          </a:p>
          <a:p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</a:p>
          <a:p>
            <a:r>
              <a:rPr lang="zh-CN" altLang="en-US" dirty="0"/>
              <a:t>           面向对象的程序设计语言</a:t>
            </a:r>
          </a:p>
          <a:p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 dirty="0"/>
              <a:t>特点：比面向过程的语言更清晰、易懂，适宜编更大规模程序，是程序设计的主流</a:t>
            </a:r>
          </a:p>
          <a:p>
            <a:endParaRPr lang="zh-CN" altLang="en-US" dirty="0"/>
          </a:p>
          <a:p>
            <a:r>
              <a:rPr lang="zh-CN" altLang="en-US" dirty="0"/>
              <a:t>程序设计语言基本成分：</a:t>
            </a:r>
          </a:p>
          <a:p>
            <a:r>
              <a:rPr lang="zh-CN" altLang="en-US" dirty="0"/>
              <a:t>。数据成分</a:t>
            </a:r>
          </a:p>
          <a:p>
            <a:r>
              <a:rPr lang="zh-CN" altLang="en-US" dirty="0"/>
              <a:t>。运算成分</a:t>
            </a:r>
          </a:p>
          <a:p>
            <a:r>
              <a:rPr lang="zh-CN" altLang="en-US" dirty="0"/>
              <a:t>。控制成分</a:t>
            </a:r>
          </a:p>
          <a:p>
            <a:r>
              <a:rPr lang="zh-CN" altLang="en-US" dirty="0"/>
              <a:t>。传输成分	</a:t>
            </a:r>
          </a:p>
          <a:p>
            <a:endParaRPr lang="zh-CN" altLang="en-US" dirty="0"/>
          </a:p>
          <a:p>
            <a:r>
              <a:rPr lang="zh-CN" altLang="en-US" dirty="0"/>
              <a:t>程序设计语言定义：用于书写计算机程序的语言。通常指实现高级语言。</a:t>
            </a:r>
          </a:p>
          <a:p>
            <a:r>
              <a:rPr lang="zh-CN" altLang="en-US" dirty="0"/>
              <a:t>语言的基础是一组记号与一组规则。</a:t>
            </a:r>
          </a:p>
          <a:p>
            <a:r>
              <a:rPr lang="zh-CN" altLang="en-US" dirty="0"/>
              <a:t>程序设计语言包括：</a:t>
            </a:r>
          </a:p>
          <a:p>
            <a:r>
              <a:rPr lang="zh-CN" altLang="en-US" dirty="0"/>
              <a:t>语法：记号的组合规则</a:t>
            </a:r>
          </a:p>
          <a:p>
            <a:r>
              <a:rPr lang="zh-CN" altLang="en-US" dirty="0"/>
              <a:t>语义：记号的特定意义</a:t>
            </a:r>
          </a:p>
          <a:p>
            <a:r>
              <a:rPr lang="zh-CN" altLang="en-US" dirty="0"/>
              <a:t>语用：程序与使用者的关系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B66D85-95EE-4AF3-9929-F45AB9E92E3F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C6C8E-92E6-4FCC-8E7B-F10E9026FF18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08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957167-DF14-469F-B537-F3FB397848CC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09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A4F381-BBC8-48F9-BB2E-C969B0ADE259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09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8FD785-8A0B-4214-998E-1FB632E87917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09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3BE39-54D5-4F19-945C-C4AE09688EE9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51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4CA0FDB-3C96-4F80-8C31-ADBD4276175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234118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312431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5BC307-0E07-482C-BB08-A2C38A4179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809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>
            <a:extLst>
              <a:ext uri="{FF2B5EF4-FFF2-40B4-BE49-F238E27FC236}">
                <a16:creationId xmlns:a16="http://schemas.microsoft.com/office/drawing/2014/main" id="{81D87E20-A483-4771-BDFC-D8D927F63D13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80774D16-5A3B-4998-9069-CABD6DAAC587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CE22601C-9D9A-44B6-8FE9-13CC32B61073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34C2F3B2-FC04-4AED-AE64-473780E0D800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6F9F5A30-451F-4A64-B55E-623F23A47044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01AF90C5-DD35-42EC-8A3D-A4D1B89D3C2B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54491DDC-9077-4DD7-9DB9-80C6EDD96E18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D5B0FF59-60AA-4EDC-96A7-D3249822EA0A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BDEFF61F-0FE2-4C97-80BE-32709EC4E85D}"/>
              </a:ext>
            </a:extLst>
          </p:cNvPr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79" name="Freeform 5">
              <a:extLst>
                <a:ext uri="{FF2B5EF4-FFF2-40B4-BE49-F238E27FC236}">
                  <a16:creationId xmlns:a16="http://schemas.microsoft.com/office/drawing/2014/main" id="{5F5A5567-55C9-45B6-8848-B368CF28E9CE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Freeform 6">
              <a:extLst>
                <a:ext uri="{FF2B5EF4-FFF2-40B4-BE49-F238E27FC236}">
                  <a16:creationId xmlns:a16="http://schemas.microsoft.com/office/drawing/2014/main" id="{C0F05963-0313-4583-83D3-92797619A611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Freeform 7">
              <a:extLst>
                <a:ext uri="{FF2B5EF4-FFF2-40B4-BE49-F238E27FC236}">
                  <a16:creationId xmlns:a16="http://schemas.microsoft.com/office/drawing/2014/main" id="{B3FE9900-C892-4F18-8F39-C938A05309EC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Freeform 8">
              <a:extLst>
                <a:ext uri="{FF2B5EF4-FFF2-40B4-BE49-F238E27FC236}">
                  <a16:creationId xmlns:a16="http://schemas.microsoft.com/office/drawing/2014/main" id="{D89AC6E6-56E9-470B-977A-7677BB6297E3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Freeform 9">
              <a:extLst>
                <a:ext uri="{FF2B5EF4-FFF2-40B4-BE49-F238E27FC236}">
                  <a16:creationId xmlns:a16="http://schemas.microsoft.com/office/drawing/2014/main" id="{3DAE5FAE-51B6-4D6D-9FA7-A926D514B762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Freeform 10">
              <a:extLst>
                <a:ext uri="{FF2B5EF4-FFF2-40B4-BE49-F238E27FC236}">
                  <a16:creationId xmlns:a16="http://schemas.microsoft.com/office/drawing/2014/main" id="{5F9CD168-A52D-495F-B18D-F79B847212F7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Freeform 11">
              <a:extLst>
                <a:ext uri="{FF2B5EF4-FFF2-40B4-BE49-F238E27FC236}">
                  <a16:creationId xmlns:a16="http://schemas.microsoft.com/office/drawing/2014/main" id="{4DB422A8-71E6-4235-9FEC-02A6CB6E3754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Freeform 12">
              <a:extLst>
                <a:ext uri="{FF2B5EF4-FFF2-40B4-BE49-F238E27FC236}">
                  <a16:creationId xmlns:a16="http://schemas.microsoft.com/office/drawing/2014/main" id="{312AE813-0716-4D33-8B3B-383A8B742DB9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Freeform 13">
              <a:extLst>
                <a:ext uri="{FF2B5EF4-FFF2-40B4-BE49-F238E27FC236}">
                  <a16:creationId xmlns:a16="http://schemas.microsoft.com/office/drawing/2014/main" id="{EF2130A1-25A6-446E-80CD-E1FC74AAE266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Freeform 14">
              <a:extLst>
                <a:ext uri="{FF2B5EF4-FFF2-40B4-BE49-F238E27FC236}">
                  <a16:creationId xmlns:a16="http://schemas.microsoft.com/office/drawing/2014/main" id="{53220C9E-3E1E-4A2E-98D1-C56C2E49A47D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Freeform 15">
              <a:extLst>
                <a:ext uri="{FF2B5EF4-FFF2-40B4-BE49-F238E27FC236}">
                  <a16:creationId xmlns:a16="http://schemas.microsoft.com/office/drawing/2014/main" id="{EAF12D85-3C01-48BE-9E6F-2A08B3F72AAA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FCEF5430-833F-4C95-A366-BF05DA71DA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Freeform 17">
              <a:extLst>
                <a:ext uri="{FF2B5EF4-FFF2-40B4-BE49-F238E27FC236}">
                  <a16:creationId xmlns:a16="http://schemas.microsoft.com/office/drawing/2014/main" id="{EAD0F70C-8142-4516-B07C-265BDE1058EC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Freeform 18">
              <a:extLst>
                <a:ext uri="{FF2B5EF4-FFF2-40B4-BE49-F238E27FC236}">
                  <a16:creationId xmlns:a16="http://schemas.microsoft.com/office/drawing/2014/main" id="{EEF47A0F-2249-47BA-AA52-CE10D4E66DBA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Freeform 19">
              <a:extLst>
                <a:ext uri="{FF2B5EF4-FFF2-40B4-BE49-F238E27FC236}">
                  <a16:creationId xmlns:a16="http://schemas.microsoft.com/office/drawing/2014/main" id="{D29172E4-646E-4C55-AB07-0242803029C2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Freeform 20">
              <a:extLst>
                <a:ext uri="{FF2B5EF4-FFF2-40B4-BE49-F238E27FC236}">
                  <a16:creationId xmlns:a16="http://schemas.microsoft.com/office/drawing/2014/main" id="{6EEE90B6-A29C-415C-8181-006D7DFF5354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Freeform 21">
              <a:extLst>
                <a:ext uri="{FF2B5EF4-FFF2-40B4-BE49-F238E27FC236}">
                  <a16:creationId xmlns:a16="http://schemas.microsoft.com/office/drawing/2014/main" id="{1EBD3143-BAD6-4FCA-87D1-B2FD0B8FA1C0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Freeform 22">
              <a:extLst>
                <a:ext uri="{FF2B5EF4-FFF2-40B4-BE49-F238E27FC236}">
                  <a16:creationId xmlns:a16="http://schemas.microsoft.com/office/drawing/2014/main" id="{B962BBCC-D818-4016-ADF9-B5558EC8D204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Freeform 23">
              <a:extLst>
                <a:ext uri="{FF2B5EF4-FFF2-40B4-BE49-F238E27FC236}">
                  <a16:creationId xmlns:a16="http://schemas.microsoft.com/office/drawing/2014/main" id="{FEBB4E1E-D6C7-4214-96B4-178EDA5A4CC2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Freeform 24">
              <a:extLst>
                <a:ext uri="{FF2B5EF4-FFF2-40B4-BE49-F238E27FC236}">
                  <a16:creationId xmlns:a16="http://schemas.microsoft.com/office/drawing/2014/main" id="{F48DF447-1174-48FF-9D32-F8A158B7133E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Freeform 25">
              <a:extLst>
                <a:ext uri="{FF2B5EF4-FFF2-40B4-BE49-F238E27FC236}">
                  <a16:creationId xmlns:a16="http://schemas.microsoft.com/office/drawing/2014/main" id="{50039319-364E-46E3-88CA-9C7D68AC2FE4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Freeform 26">
              <a:extLst>
                <a:ext uri="{FF2B5EF4-FFF2-40B4-BE49-F238E27FC236}">
                  <a16:creationId xmlns:a16="http://schemas.microsoft.com/office/drawing/2014/main" id="{B407A3F4-F447-44A4-8ED3-DC9F5B4AB096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Freeform 27">
              <a:extLst>
                <a:ext uri="{FF2B5EF4-FFF2-40B4-BE49-F238E27FC236}">
                  <a16:creationId xmlns:a16="http://schemas.microsoft.com/office/drawing/2014/main" id="{E1C057EF-C655-4AD6-B215-D29C77AAF699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Freeform 28">
              <a:extLst>
                <a:ext uri="{FF2B5EF4-FFF2-40B4-BE49-F238E27FC236}">
                  <a16:creationId xmlns:a16="http://schemas.microsoft.com/office/drawing/2014/main" id="{2983E3ED-44FE-49EB-BDCE-A8BDB36A5F4F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Freeform 29">
              <a:extLst>
                <a:ext uri="{FF2B5EF4-FFF2-40B4-BE49-F238E27FC236}">
                  <a16:creationId xmlns:a16="http://schemas.microsoft.com/office/drawing/2014/main" id="{92618580-B491-4CE5-AA7D-8805AAD73E1D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Freeform 30">
              <a:extLst>
                <a:ext uri="{FF2B5EF4-FFF2-40B4-BE49-F238E27FC236}">
                  <a16:creationId xmlns:a16="http://schemas.microsoft.com/office/drawing/2014/main" id="{E59A4ECB-D7E2-47CB-AE97-EAA602D47948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Freeform 31">
              <a:extLst>
                <a:ext uri="{FF2B5EF4-FFF2-40B4-BE49-F238E27FC236}">
                  <a16:creationId xmlns:a16="http://schemas.microsoft.com/office/drawing/2014/main" id="{E12048EF-4D0E-4FBB-8305-F05BB6FF3501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Freeform 32">
              <a:extLst>
                <a:ext uri="{FF2B5EF4-FFF2-40B4-BE49-F238E27FC236}">
                  <a16:creationId xmlns:a16="http://schemas.microsoft.com/office/drawing/2014/main" id="{37972A6D-87F6-48E8-9470-487D6C291ED1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Freeform 33">
              <a:extLst>
                <a:ext uri="{FF2B5EF4-FFF2-40B4-BE49-F238E27FC236}">
                  <a16:creationId xmlns:a16="http://schemas.microsoft.com/office/drawing/2014/main" id="{1C8687DA-31A5-48BF-97F7-BCA8860CEB7D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Freeform 34">
              <a:extLst>
                <a:ext uri="{FF2B5EF4-FFF2-40B4-BE49-F238E27FC236}">
                  <a16:creationId xmlns:a16="http://schemas.microsoft.com/office/drawing/2014/main" id="{7AF59FF6-3D05-49E5-B8B8-F7C086DD6A66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Freeform 35">
              <a:extLst>
                <a:ext uri="{FF2B5EF4-FFF2-40B4-BE49-F238E27FC236}">
                  <a16:creationId xmlns:a16="http://schemas.microsoft.com/office/drawing/2014/main" id="{1765C19E-3080-40A5-B5B8-3AAB4A6A83FF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Freeform 36">
              <a:extLst>
                <a:ext uri="{FF2B5EF4-FFF2-40B4-BE49-F238E27FC236}">
                  <a16:creationId xmlns:a16="http://schemas.microsoft.com/office/drawing/2014/main" id="{9B958140-C4A6-4E5A-88E1-CFF3E9AA6C5E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Freeform 37">
              <a:extLst>
                <a:ext uri="{FF2B5EF4-FFF2-40B4-BE49-F238E27FC236}">
                  <a16:creationId xmlns:a16="http://schemas.microsoft.com/office/drawing/2014/main" id="{BC0EF8A0-9941-4344-9FB8-03CEF188CD6F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Freeform 38">
              <a:extLst>
                <a:ext uri="{FF2B5EF4-FFF2-40B4-BE49-F238E27FC236}">
                  <a16:creationId xmlns:a16="http://schemas.microsoft.com/office/drawing/2014/main" id="{FFDC6EC0-8FE0-4700-B996-FEF9ADDD0DC5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Freeform 39">
              <a:extLst>
                <a:ext uri="{FF2B5EF4-FFF2-40B4-BE49-F238E27FC236}">
                  <a16:creationId xmlns:a16="http://schemas.microsoft.com/office/drawing/2014/main" id="{1825E92F-63EB-47E0-9787-16745D054A52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Freeform 40">
              <a:extLst>
                <a:ext uri="{FF2B5EF4-FFF2-40B4-BE49-F238E27FC236}">
                  <a16:creationId xmlns:a16="http://schemas.microsoft.com/office/drawing/2014/main" id="{B8801130-A4AF-49EE-B3B4-1DE860CE5609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Freeform 41">
              <a:extLst>
                <a:ext uri="{FF2B5EF4-FFF2-40B4-BE49-F238E27FC236}">
                  <a16:creationId xmlns:a16="http://schemas.microsoft.com/office/drawing/2014/main" id="{A782A9B0-3D41-4D7D-BA06-AFEE446CBF03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6" name="Freeform 42">
              <a:extLst>
                <a:ext uri="{FF2B5EF4-FFF2-40B4-BE49-F238E27FC236}">
                  <a16:creationId xmlns:a16="http://schemas.microsoft.com/office/drawing/2014/main" id="{D8DCB985-3C03-443D-9327-1F583BD3256D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7" name="Freeform 43">
              <a:extLst>
                <a:ext uri="{FF2B5EF4-FFF2-40B4-BE49-F238E27FC236}">
                  <a16:creationId xmlns:a16="http://schemas.microsoft.com/office/drawing/2014/main" id="{69C60E22-C42F-46C3-9121-79C3883A9BA4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Freeform 44">
              <a:extLst>
                <a:ext uri="{FF2B5EF4-FFF2-40B4-BE49-F238E27FC236}">
                  <a16:creationId xmlns:a16="http://schemas.microsoft.com/office/drawing/2014/main" id="{DE2445C0-62BC-4294-BE33-F78702217E26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Freeform 45">
              <a:extLst>
                <a:ext uri="{FF2B5EF4-FFF2-40B4-BE49-F238E27FC236}">
                  <a16:creationId xmlns:a16="http://schemas.microsoft.com/office/drawing/2014/main" id="{80BC7681-2758-4A2A-BCD0-E96FDADF029E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Freeform 46">
              <a:extLst>
                <a:ext uri="{FF2B5EF4-FFF2-40B4-BE49-F238E27FC236}">
                  <a16:creationId xmlns:a16="http://schemas.microsoft.com/office/drawing/2014/main" id="{D1180D13-6B40-487F-ABEB-583EFE9508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Freeform 47">
              <a:extLst>
                <a:ext uri="{FF2B5EF4-FFF2-40B4-BE49-F238E27FC236}">
                  <a16:creationId xmlns:a16="http://schemas.microsoft.com/office/drawing/2014/main" id="{F7A4DC2A-B36B-4D46-B964-72680A7071BA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Freeform 48">
              <a:extLst>
                <a:ext uri="{FF2B5EF4-FFF2-40B4-BE49-F238E27FC236}">
                  <a16:creationId xmlns:a16="http://schemas.microsoft.com/office/drawing/2014/main" id="{5DE7B63C-1610-431E-A108-24D1BA22A9E4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Freeform 49">
              <a:extLst>
                <a:ext uri="{FF2B5EF4-FFF2-40B4-BE49-F238E27FC236}">
                  <a16:creationId xmlns:a16="http://schemas.microsoft.com/office/drawing/2014/main" id="{B2D0A0F3-90F4-4282-BCDE-E9072D58EAB7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Freeform 50">
              <a:extLst>
                <a:ext uri="{FF2B5EF4-FFF2-40B4-BE49-F238E27FC236}">
                  <a16:creationId xmlns:a16="http://schemas.microsoft.com/office/drawing/2014/main" id="{DDDDF67D-723E-4808-B599-A0EED4AF9779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Freeform 51">
              <a:extLst>
                <a:ext uri="{FF2B5EF4-FFF2-40B4-BE49-F238E27FC236}">
                  <a16:creationId xmlns:a16="http://schemas.microsoft.com/office/drawing/2014/main" id="{25C35C79-066C-4ADC-9263-F904B107D5A7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Freeform 52">
              <a:extLst>
                <a:ext uri="{FF2B5EF4-FFF2-40B4-BE49-F238E27FC236}">
                  <a16:creationId xmlns:a16="http://schemas.microsoft.com/office/drawing/2014/main" id="{3B763EE9-8813-48CD-9FE3-826AE80DD979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Freeform 53">
              <a:extLst>
                <a:ext uri="{FF2B5EF4-FFF2-40B4-BE49-F238E27FC236}">
                  <a16:creationId xmlns:a16="http://schemas.microsoft.com/office/drawing/2014/main" id="{99EEA722-C815-4E66-AE1B-0B406429B01D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Freeform 54">
              <a:extLst>
                <a:ext uri="{FF2B5EF4-FFF2-40B4-BE49-F238E27FC236}">
                  <a16:creationId xmlns:a16="http://schemas.microsoft.com/office/drawing/2014/main" id="{B14AFA32-1C69-40FD-98FA-7FF42ED31E6D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Freeform 55">
              <a:extLst>
                <a:ext uri="{FF2B5EF4-FFF2-40B4-BE49-F238E27FC236}">
                  <a16:creationId xmlns:a16="http://schemas.microsoft.com/office/drawing/2014/main" id="{5156B023-6560-4FF8-AE7F-5888B79D90D2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Freeform 56">
              <a:extLst>
                <a:ext uri="{FF2B5EF4-FFF2-40B4-BE49-F238E27FC236}">
                  <a16:creationId xmlns:a16="http://schemas.microsoft.com/office/drawing/2014/main" id="{CEE67C8A-979A-4E6C-A4A9-74AD96B5AFC5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Freeform 57">
              <a:extLst>
                <a:ext uri="{FF2B5EF4-FFF2-40B4-BE49-F238E27FC236}">
                  <a16:creationId xmlns:a16="http://schemas.microsoft.com/office/drawing/2014/main" id="{CEA7D04C-0BA5-43B6-B31E-DD72BCA5544F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2" name="Freeform 58">
              <a:extLst>
                <a:ext uri="{FF2B5EF4-FFF2-40B4-BE49-F238E27FC236}">
                  <a16:creationId xmlns:a16="http://schemas.microsoft.com/office/drawing/2014/main" id="{89B5F591-3B06-41F9-9D32-76AD1FD547AB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3" name="Oval 59">
              <a:extLst>
                <a:ext uri="{FF2B5EF4-FFF2-40B4-BE49-F238E27FC236}">
                  <a16:creationId xmlns:a16="http://schemas.microsoft.com/office/drawing/2014/main" id="{BCF29830-F4C7-4DCF-BCEF-0A4611CC0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4" name="Oval 60">
              <a:extLst>
                <a:ext uri="{FF2B5EF4-FFF2-40B4-BE49-F238E27FC236}">
                  <a16:creationId xmlns:a16="http://schemas.microsoft.com/office/drawing/2014/main" id="{71307412-03CE-4F1F-A6F9-C79CA116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" name="Freeform 61">
              <a:extLst>
                <a:ext uri="{FF2B5EF4-FFF2-40B4-BE49-F238E27FC236}">
                  <a16:creationId xmlns:a16="http://schemas.microsoft.com/office/drawing/2014/main" id="{8DE77178-8F36-4CD4-8187-E41A12A4D1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" name="Freeform 62">
              <a:extLst>
                <a:ext uri="{FF2B5EF4-FFF2-40B4-BE49-F238E27FC236}">
                  <a16:creationId xmlns:a16="http://schemas.microsoft.com/office/drawing/2014/main" id="{4A3CBB1D-C6BE-438D-BDDC-E0A000077BB2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7" name="Freeform 63">
              <a:extLst>
                <a:ext uri="{FF2B5EF4-FFF2-40B4-BE49-F238E27FC236}">
                  <a16:creationId xmlns:a16="http://schemas.microsoft.com/office/drawing/2014/main" id="{65B54D92-A005-4316-8A0F-A4C29D4174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8" name="Freeform 64">
              <a:extLst>
                <a:ext uri="{FF2B5EF4-FFF2-40B4-BE49-F238E27FC236}">
                  <a16:creationId xmlns:a16="http://schemas.microsoft.com/office/drawing/2014/main" id="{B9631772-3E8E-408E-B36E-F842D7B67C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9" name="Freeform 65">
              <a:extLst>
                <a:ext uri="{FF2B5EF4-FFF2-40B4-BE49-F238E27FC236}">
                  <a16:creationId xmlns:a16="http://schemas.microsoft.com/office/drawing/2014/main" id="{C5F7DAE9-1312-49FC-87FC-17A12493B0FD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0" name="Freeform 66">
              <a:extLst>
                <a:ext uri="{FF2B5EF4-FFF2-40B4-BE49-F238E27FC236}">
                  <a16:creationId xmlns:a16="http://schemas.microsoft.com/office/drawing/2014/main" id="{EFD08285-5949-4600-90C4-076D84DC21B0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1" name="Freeform 67">
              <a:extLst>
                <a:ext uri="{FF2B5EF4-FFF2-40B4-BE49-F238E27FC236}">
                  <a16:creationId xmlns:a16="http://schemas.microsoft.com/office/drawing/2014/main" id="{DA988E02-A63E-4334-A575-B76CB63EEF2A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2" name="Freeform 68">
              <a:extLst>
                <a:ext uri="{FF2B5EF4-FFF2-40B4-BE49-F238E27FC236}">
                  <a16:creationId xmlns:a16="http://schemas.microsoft.com/office/drawing/2014/main" id="{CC5CBA3A-7C3F-41C1-83C7-0970FC58A3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3" name="Freeform 69">
              <a:extLst>
                <a:ext uri="{FF2B5EF4-FFF2-40B4-BE49-F238E27FC236}">
                  <a16:creationId xmlns:a16="http://schemas.microsoft.com/office/drawing/2014/main" id="{7CC0698F-C4FD-4C5F-A7EA-0B0C541C0D0E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4" name="Freeform 70">
              <a:extLst>
                <a:ext uri="{FF2B5EF4-FFF2-40B4-BE49-F238E27FC236}">
                  <a16:creationId xmlns:a16="http://schemas.microsoft.com/office/drawing/2014/main" id="{F7C40139-5123-4500-A8F5-C5F55A2AE731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5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6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2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0"/>
            <a:ext cx="12191999" cy="8267612"/>
          </a:xfrm>
          <a:prstGeom prst="rect">
            <a:avLst/>
          </a:prstGeom>
        </p:spPr>
      </p:pic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8" name="标题 3073"/>
          <p:cNvSpPr txBox="1"/>
          <p:nvPr/>
        </p:nvSpPr>
        <p:spPr>
          <a:xfrm>
            <a:off x="2893993" y="2646242"/>
            <a:ext cx="6404014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D2A8F0-2545-4AAC-80DA-E2D950293328}"/>
              </a:ext>
            </a:extLst>
          </p:cNvPr>
          <p:cNvSpPr txBox="1"/>
          <p:nvPr/>
        </p:nvSpPr>
        <p:spPr>
          <a:xfrm>
            <a:off x="4072048" y="2638620"/>
            <a:ext cx="40479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/>
              <a:t>函数及递归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19540E-4722-413C-A6F6-F9C6702F5D1F}"/>
              </a:ext>
            </a:extLst>
          </p:cNvPr>
          <p:cNvSpPr txBox="1"/>
          <p:nvPr/>
        </p:nvSpPr>
        <p:spPr>
          <a:xfrm>
            <a:off x="6819900" y="3861048"/>
            <a:ext cx="2372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王培鸿</a:t>
            </a:r>
          </a:p>
        </p:txBody>
      </p:sp>
    </p:spTree>
    <p:extLst>
      <p:ext uri="{BB962C8B-B14F-4D97-AF65-F5344CB8AC3E}">
        <p14:creationId xmlns:p14="http://schemas.microsoft.com/office/powerpoint/2010/main" val="291332696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">
            <a:extLst>
              <a:ext uri="{FF2B5EF4-FFF2-40B4-BE49-F238E27FC236}">
                <a16:creationId xmlns:a16="http://schemas.microsoft.com/office/drawing/2014/main" id="{FB891A25-926A-4525-8FD9-AF7F17D2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章：函  数 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366E962-D97C-47E7-AD39-066F7D8101EF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75B19A7D-4C0C-473B-81BD-526F79EAF2BB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8CA39714-838C-47B8-80FE-DDE38B15E1BC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4626E672-179B-473C-86B0-BCFA40D4F7FA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492B3353-0131-4723-B831-1343EDDCB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sp>
        <p:nvSpPr>
          <p:cNvPr id="9" name="Text Box 13">
            <a:extLst>
              <a:ext uri="{FF2B5EF4-FFF2-40B4-BE49-F238E27FC236}">
                <a16:creationId xmlns:a16="http://schemas.microsoft.com/office/drawing/2014/main" id="{FB2FA91B-9EA6-4FE1-AB42-C5C8DC58F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760" y="4572843"/>
            <a:ext cx="576263" cy="156966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1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0CE65483-8487-467F-97CF-FC1E931C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422" y="4585543"/>
            <a:ext cx="576262" cy="156966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2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9AC46E6B-C976-4699-BE9D-740D9C886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885" y="4542681"/>
            <a:ext cx="576263" cy="156966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n</a:t>
            </a:r>
          </a:p>
        </p:txBody>
      </p:sp>
      <p:grpSp>
        <p:nvGrpSpPr>
          <p:cNvPr id="12" name="Group 34">
            <a:extLst>
              <a:ext uri="{FF2B5EF4-FFF2-40B4-BE49-F238E27FC236}">
                <a16:creationId xmlns:a16="http://schemas.microsoft.com/office/drawing/2014/main" id="{19145BDA-EBE1-48FE-A068-D0DC40A1EC7E}"/>
              </a:ext>
            </a:extLst>
          </p:cNvPr>
          <p:cNvGrpSpPr>
            <a:grpSpLocks/>
          </p:cNvGrpSpPr>
          <p:nvPr/>
        </p:nvGrpSpPr>
        <p:grpSpPr bwMode="auto">
          <a:xfrm>
            <a:off x="4253259" y="3512394"/>
            <a:ext cx="2897188" cy="1076325"/>
            <a:chOff x="2018" y="1986"/>
            <a:chExt cx="1825" cy="678"/>
          </a:xfrm>
        </p:grpSpPr>
        <p:sp>
          <p:nvSpPr>
            <p:cNvPr id="13" name="Line 28">
              <a:extLst>
                <a:ext uri="{FF2B5EF4-FFF2-40B4-BE49-F238E27FC236}">
                  <a16:creationId xmlns:a16="http://schemas.microsoft.com/office/drawing/2014/main" id="{03F1B3FD-F354-4F9A-96FC-48E75718A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2346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90CB6B12-55E6-48E6-8B8F-62DF3F1DF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7" y="2330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2F128FCC-6D2D-4D59-8DEF-132ABE580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331"/>
              <a:ext cx="1815" cy="0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DD24EC5C-4CF7-42EA-B71E-C2BF788D2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1" y="1986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7" name="Line 29">
              <a:extLst>
                <a:ext uri="{FF2B5EF4-FFF2-40B4-BE49-F238E27FC236}">
                  <a16:creationId xmlns:a16="http://schemas.microsoft.com/office/drawing/2014/main" id="{0D286F02-E9B6-49B5-9FE1-551D091F3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330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18" name="Text Box 10">
            <a:extLst>
              <a:ext uri="{FF2B5EF4-FFF2-40B4-BE49-F238E27FC236}">
                <a16:creationId xmlns:a16="http://schemas.microsoft.com/office/drawing/2014/main" id="{DDCD2D20-E0A7-4E22-94EA-0E02A491E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182" y="3039318"/>
            <a:ext cx="1800225" cy="457200"/>
          </a:xfrm>
          <a:prstGeom prst="rect">
            <a:avLst/>
          </a:prstGeom>
          <a:solidFill>
            <a:srgbClr val="BD6368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D6368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1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D7A3C602-38D4-4018-ABB1-A2EA54A5C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5369" y="3042493"/>
            <a:ext cx="1871662" cy="45720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2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BABF9C0F-3F83-4351-B845-F9313F275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919" y="3039318"/>
            <a:ext cx="1655762" cy="457200"/>
          </a:xfrm>
          <a:prstGeom prst="rect">
            <a:avLst/>
          </a:prstGeom>
          <a:solidFill>
            <a:srgbClr val="BAA1B9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AA1B9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n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2417064D-8F8E-44DE-8877-DED249D3E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957" y="2785318"/>
            <a:ext cx="1655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……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0F4C802A-D473-402A-BA18-77E9485F0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522" y="4771282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/>
              <a:t>……</a:t>
            </a:r>
          </a:p>
        </p:txBody>
      </p:sp>
      <p:grpSp>
        <p:nvGrpSpPr>
          <p:cNvPr id="23" name="Group 33">
            <a:extLst>
              <a:ext uri="{FF2B5EF4-FFF2-40B4-BE49-F238E27FC236}">
                <a16:creationId xmlns:a16="http://schemas.microsoft.com/office/drawing/2014/main" id="{7946709B-9025-4F09-A264-66FCF636721E}"/>
              </a:ext>
            </a:extLst>
          </p:cNvPr>
          <p:cNvGrpSpPr>
            <a:grpSpLocks/>
          </p:cNvGrpSpPr>
          <p:nvPr/>
        </p:nvGrpSpPr>
        <p:grpSpPr bwMode="auto">
          <a:xfrm>
            <a:off x="2710681" y="1988394"/>
            <a:ext cx="6210300" cy="1038225"/>
            <a:chOff x="884" y="1026"/>
            <a:chExt cx="3912" cy="654"/>
          </a:xfrm>
        </p:grpSpPr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FE0C616A-8657-4A75-97EF-6EA4BD2EF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1361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9EA48A9B-4BE6-42D2-B9BB-A16D49D4D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362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EFE0B3B8-537E-46ED-8159-C9D018A4F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6" y="1352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5A850946-5F5B-42C0-A4D6-A8DF2D6C0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359"/>
              <a:ext cx="3901" cy="0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2401AA62-0233-43FC-B0E2-CF5EE3DAC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" y="1026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29" name="Text Box 30">
            <a:extLst>
              <a:ext uri="{FF2B5EF4-FFF2-40B4-BE49-F238E27FC236}">
                <a16:creationId xmlns:a16="http://schemas.microsoft.com/office/drawing/2014/main" id="{A4466A53-EFDA-435E-B875-AFD12FD3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319" y="3440957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……</a:t>
            </a: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1F0D2CB0-5450-4720-9F11-1767E6DF8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982" y="3402857"/>
            <a:ext cx="16557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……</a:t>
            </a:r>
          </a:p>
        </p:txBody>
      </p:sp>
      <p:sp>
        <p:nvSpPr>
          <p:cNvPr id="37" name="Text Box 8">
            <a:extLst>
              <a:ext uri="{FF2B5EF4-FFF2-40B4-BE49-F238E27FC236}">
                <a16:creationId xmlns:a16="http://schemas.microsoft.com/office/drawing/2014/main" id="{3789E9F3-F197-4F03-9310-B273C3E0D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907" y="1535956"/>
            <a:ext cx="2232025" cy="457200"/>
          </a:xfrm>
          <a:prstGeom prst="rect">
            <a:avLst/>
          </a:prstGeom>
          <a:solidFill>
            <a:srgbClr val="C01920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01920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软件项目</a:t>
            </a:r>
          </a:p>
        </p:txBody>
      </p:sp>
      <p:sp>
        <p:nvSpPr>
          <p:cNvPr id="38" name="AutoShape 35">
            <a:extLst>
              <a:ext uri="{FF2B5EF4-FFF2-40B4-BE49-F238E27FC236}">
                <a16:creationId xmlns:a16="http://schemas.microsoft.com/office/drawing/2014/main" id="{1DE003C9-5A89-48DD-AAEF-DB7AAE6A8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619" y="4070118"/>
            <a:ext cx="1871662" cy="576262"/>
          </a:xfrm>
          <a:prstGeom prst="wedgeRoundRectCallout">
            <a:avLst>
              <a:gd name="adj1" fmla="val 110332"/>
              <a:gd name="adj2" fmla="val -141314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语言程序</a:t>
            </a:r>
          </a:p>
        </p:txBody>
      </p:sp>
      <p:sp>
        <p:nvSpPr>
          <p:cNvPr id="39" name="AutoShape 36">
            <a:extLst>
              <a:ext uri="{FF2B5EF4-FFF2-40B4-BE49-F238E27FC236}">
                <a16:creationId xmlns:a16="http://schemas.microsoft.com/office/drawing/2014/main" id="{B210035F-FE3C-4B0B-920C-44EC73F0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894" y="6165106"/>
            <a:ext cx="1871662" cy="576262"/>
          </a:xfrm>
          <a:prstGeom prst="wedgeRoundRectCallout">
            <a:avLst>
              <a:gd name="adj1" fmla="val -70694"/>
              <a:gd name="adj2" fmla="val -195454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语言函数</a:t>
            </a:r>
          </a:p>
        </p:txBody>
      </p:sp>
      <p:sp>
        <p:nvSpPr>
          <p:cNvPr id="40" name="AutoShape 37">
            <a:extLst>
              <a:ext uri="{FF2B5EF4-FFF2-40B4-BE49-F238E27FC236}">
                <a16:creationId xmlns:a16="http://schemas.microsoft.com/office/drawing/2014/main" id="{E3819C1F-8A94-4327-BA91-C1839582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831" y="548531"/>
            <a:ext cx="3168650" cy="1079500"/>
          </a:xfrm>
          <a:prstGeom prst="cloudCallout">
            <a:avLst>
              <a:gd name="adj1" fmla="val -60773"/>
              <a:gd name="adj2" fmla="val 122500"/>
            </a:avLst>
          </a:prstGeom>
          <a:gradFill rotWithShape="1">
            <a:gsLst>
              <a:gs pos="0">
                <a:srgbClr val="CFCFD1"/>
              </a:gs>
              <a:gs pos="85000">
                <a:schemeClr val="bg1">
                  <a:lumMod val="95000"/>
                </a:schemeClr>
              </a:gs>
            </a:gsLst>
            <a:lin ang="5400000" scaled="1"/>
          </a:gradFill>
          <a:ln w="22225">
            <a:solidFill>
              <a:srgbClr val="C0000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隶书" pitchFamily="49" charset="-122"/>
              </a:rPr>
              <a:t>搭积木</a:t>
            </a:r>
          </a:p>
        </p:txBody>
      </p:sp>
    </p:spTree>
    <p:extLst>
      <p:ext uri="{BB962C8B-B14F-4D97-AF65-F5344CB8AC3E}">
        <p14:creationId xmlns:p14="http://schemas.microsoft.com/office/powerpoint/2010/main" val="14127622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/>
      <p:bldP spid="22" grpId="0"/>
      <p:bldP spid="29" grpId="0"/>
      <p:bldP spid="30" grpId="0"/>
      <p:bldP spid="37" grpId="0" animBg="1"/>
      <p:bldP spid="38" grpId="0" animBg="1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96" name="Rectangle 32"/>
          <p:cNvSpPr>
            <a:spLocks noChangeArrowheads="1"/>
          </p:cNvSpPr>
          <p:nvPr/>
        </p:nvSpPr>
        <p:spPr bwMode="auto">
          <a:xfrm>
            <a:off x="997024" y="883568"/>
            <a:ext cx="2528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、函数的概念</a:t>
            </a:r>
          </a:p>
        </p:txBody>
      </p:sp>
      <p:sp>
        <p:nvSpPr>
          <p:cNvPr id="958513" name="Rectangle 49"/>
          <p:cNvSpPr>
            <a:spLocks noChangeArrowheads="1"/>
          </p:cNvSpPr>
          <p:nvPr/>
        </p:nvSpPr>
        <p:spPr bwMode="auto">
          <a:xfrm>
            <a:off x="728194" y="1391319"/>
            <a:ext cx="1128340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函数其实就是一段可以重复调用的、功能相对独立完整的程序段。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语言中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必须有且只能有一个名为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的主函数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958515" name="Rectangle 51"/>
          <p:cNvSpPr>
            <a:spLocks noChangeArrowheads="1"/>
          </p:cNvSpPr>
          <p:nvPr/>
        </p:nvSpPr>
        <p:spPr bwMode="auto">
          <a:xfrm>
            <a:off x="997024" y="2551027"/>
            <a:ext cx="2528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、函数的分类</a:t>
            </a:r>
          </a:p>
        </p:txBody>
      </p:sp>
      <p:sp>
        <p:nvSpPr>
          <p:cNvPr id="958516" name="Rectangle 52"/>
          <p:cNvSpPr>
            <a:spLocks noChangeArrowheads="1"/>
          </p:cNvSpPr>
          <p:nvPr/>
        </p:nvSpPr>
        <p:spPr bwMode="auto">
          <a:xfrm>
            <a:off x="1282774" y="3028418"/>
            <a:ext cx="7129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从用户角度</a:t>
            </a:r>
          </a:p>
        </p:txBody>
      </p:sp>
      <p:sp>
        <p:nvSpPr>
          <p:cNvPr id="958517" name="Rectangle 53"/>
          <p:cNvSpPr>
            <a:spLocks noChangeArrowheads="1"/>
          </p:cNvSpPr>
          <p:nvPr/>
        </p:nvSpPr>
        <p:spPr bwMode="auto">
          <a:xfrm>
            <a:off x="1703462" y="3374494"/>
            <a:ext cx="66960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标准函数（库函数）：由系统提供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用户自定义函数</a:t>
            </a:r>
          </a:p>
        </p:txBody>
      </p:sp>
      <p:sp>
        <p:nvSpPr>
          <p:cNvPr id="958518" name="Rectangle 54"/>
          <p:cNvSpPr>
            <a:spLocks noChangeArrowheads="1"/>
          </p:cNvSpPr>
          <p:nvPr/>
        </p:nvSpPr>
        <p:spPr bwMode="auto">
          <a:xfrm>
            <a:off x="1258764" y="4087281"/>
            <a:ext cx="7129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从函数形式</a:t>
            </a:r>
          </a:p>
        </p:txBody>
      </p:sp>
      <p:sp>
        <p:nvSpPr>
          <p:cNvPr id="958519" name="Rectangle 55"/>
          <p:cNvSpPr>
            <a:spLocks noChangeArrowheads="1"/>
          </p:cNvSpPr>
          <p:nvPr/>
        </p:nvSpPr>
        <p:spPr bwMode="auto">
          <a:xfrm>
            <a:off x="1716162" y="4468281"/>
            <a:ext cx="669607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无参数无返回值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无参数有返回值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有参数无返回值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有参数有返回值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2C734F9-9E9C-4C57-8BF0-DAACFBE0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函数概述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958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496" grpId="0"/>
      <p:bldP spid="958513" grpId="0"/>
      <p:bldP spid="958515" grpId="0"/>
      <p:bldP spid="958516" grpId="0"/>
      <p:bldP spid="958517" grpId="0"/>
      <p:bldP spid="958518" grpId="0"/>
      <p:bldP spid="9585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7" name="Rectangle 3"/>
          <p:cNvSpPr>
            <a:spLocks noChangeArrowheads="1"/>
          </p:cNvSpPr>
          <p:nvPr/>
        </p:nvSpPr>
        <p:spPr bwMode="auto">
          <a:xfrm>
            <a:off x="809585" y="811560"/>
            <a:ext cx="4787245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、无参数无返回值的函数</a:t>
            </a:r>
          </a:p>
        </p:txBody>
      </p:sp>
      <p:sp>
        <p:nvSpPr>
          <p:cNvPr id="1025031" name="Rectangle 7"/>
          <p:cNvSpPr>
            <a:spLocks noChangeArrowheads="1"/>
          </p:cNvSpPr>
          <p:nvPr/>
        </p:nvSpPr>
        <p:spPr bwMode="auto">
          <a:xfrm>
            <a:off x="1166839" y="134076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定义格式 </a:t>
            </a:r>
          </a:p>
        </p:txBody>
      </p:sp>
      <p:sp>
        <p:nvSpPr>
          <p:cNvPr id="1025040" name="Text Box 16"/>
          <p:cNvSpPr txBox="1">
            <a:spLocks noChangeArrowheads="1"/>
          </p:cNvSpPr>
          <p:nvPr/>
        </p:nvSpPr>
        <p:spPr bwMode="auto">
          <a:xfrm>
            <a:off x="4218682" y="1687514"/>
            <a:ext cx="3743325" cy="194468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pPr algn="l"/>
            <a:r>
              <a:rPr lang="en-US" altLang="zh-CN" dirty="0"/>
              <a:t>void  </a:t>
            </a:r>
            <a:r>
              <a:rPr lang="zh-CN" altLang="en-US" dirty="0"/>
              <a:t>函数名 </a:t>
            </a:r>
            <a:r>
              <a:rPr lang="en-US" altLang="zh-CN" dirty="0"/>
              <a:t>(void)</a:t>
            </a:r>
          </a:p>
          <a:p>
            <a:pPr algn="l"/>
            <a:r>
              <a:rPr lang="en-US" altLang="zh-CN" dirty="0"/>
              <a:t>{</a:t>
            </a:r>
          </a:p>
          <a:p>
            <a:pPr algn="l"/>
            <a:r>
              <a:rPr lang="en-US" altLang="zh-CN" dirty="0"/>
              <a:t>    </a:t>
            </a:r>
            <a:r>
              <a:rPr lang="zh-CN" altLang="en-US" dirty="0"/>
              <a:t>变量声明部分</a:t>
            </a:r>
          </a:p>
          <a:p>
            <a:pPr algn="l"/>
            <a:r>
              <a:rPr lang="zh-CN" altLang="en-US" dirty="0"/>
              <a:t>    执行部分</a:t>
            </a:r>
          </a:p>
          <a:p>
            <a:pPr algn="l"/>
            <a:r>
              <a:rPr lang="en-US" altLang="zh-CN" dirty="0"/>
              <a:t>}</a:t>
            </a:r>
          </a:p>
        </p:txBody>
      </p:sp>
      <p:grpSp>
        <p:nvGrpSpPr>
          <p:cNvPr id="1025045" name="Group 21"/>
          <p:cNvGrpSpPr>
            <a:grpSpLocks/>
          </p:cNvGrpSpPr>
          <p:nvPr/>
        </p:nvGrpSpPr>
        <p:grpSpPr bwMode="auto">
          <a:xfrm>
            <a:off x="6531670" y="2593976"/>
            <a:ext cx="1152525" cy="569913"/>
            <a:chOff x="3195" y="1661"/>
            <a:chExt cx="726" cy="359"/>
          </a:xfrm>
        </p:grpSpPr>
        <p:sp>
          <p:nvSpPr>
            <p:cNvPr id="1025041" name="AutoShape 17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025042" name="Text Box 18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000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25043" name="AutoShape 19"/>
          <p:cNvSpPr>
            <a:spLocks noChangeArrowheads="1"/>
          </p:cNvSpPr>
          <p:nvPr/>
        </p:nvSpPr>
        <p:spPr bwMode="auto">
          <a:xfrm>
            <a:off x="1775520" y="2217739"/>
            <a:ext cx="1944687" cy="1152525"/>
          </a:xfrm>
          <a:prstGeom prst="wedgeRoundRectCallout">
            <a:avLst>
              <a:gd name="adj1" fmla="val 79958"/>
              <a:gd name="adj2" fmla="val -73829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空类型，表明函数无返回值，不可省！</a:t>
            </a:r>
          </a:p>
        </p:txBody>
      </p:sp>
      <p:sp>
        <p:nvSpPr>
          <p:cNvPr id="1025044" name="AutoShape 20"/>
          <p:cNvSpPr>
            <a:spLocks noChangeArrowheads="1"/>
          </p:cNvSpPr>
          <p:nvPr/>
        </p:nvSpPr>
        <p:spPr bwMode="auto">
          <a:xfrm>
            <a:off x="7960420" y="2349501"/>
            <a:ext cx="1944687" cy="792163"/>
          </a:xfrm>
          <a:prstGeom prst="wedgeRoundRectCallout">
            <a:avLst>
              <a:gd name="adj1" fmla="val -125917"/>
              <a:gd name="adj2" fmla="val -83269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表明无参数，可缺省！</a:t>
            </a:r>
          </a:p>
        </p:txBody>
      </p:sp>
      <p:sp>
        <p:nvSpPr>
          <p:cNvPr id="1025046" name="AutoShape 22"/>
          <p:cNvSpPr>
            <a:spLocks noChangeArrowheads="1"/>
          </p:cNvSpPr>
          <p:nvPr/>
        </p:nvSpPr>
        <p:spPr bwMode="auto">
          <a:xfrm>
            <a:off x="6595170" y="536576"/>
            <a:ext cx="1944687" cy="792163"/>
          </a:xfrm>
          <a:prstGeom prst="wedgeRoundRectCallout">
            <a:avLst>
              <a:gd name="adj1" fmla="val -114329"/>
              <a:gd name="adj2" fmla="val 103907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必须为合法的标识符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475D9CB2-CE3C-481D-A44E-39B088898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D1C98C96-22F3-4A16-B5C7-2B817F8C4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374" y="4241174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形式 </a:t>
            </a: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9D758860-84FE-4A3B-BBCC-92B972E8A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701" y="4015042"/>
            <a:ext cx="5976937" cy="12255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pPr algn="l"/>
            <a:r>
              <a:rPr lang="en-US" altLang="zh-CN" dirty="0"/>
              <a:t>  </a:t>
            </a:r>
            <a:r>
              <a:rPr lang="en-US" altLang="en-US" dirty="0"/>
              <a:t>①</a:t>
            </a:r>
            <a:r>
              <a:rPr lang="en-US" altLang="zh-CN" dirty="0"/>
              <a:t> return (</a:t>
            </a:r>
            <a:r>
              <a:rPr lang="zh-CN" altLang="en-US" dirty="0"/>
              <a:t>表达式</a:t>
            </a:r>
            <a:r>
              <a:rPr lang="en-US" altLang="zh-CN" dirty="0"/>
              <a:t>);    </a:t>
            </a:r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有返回值</a:t>
            </a:r>
          </a:p>
          <a:p>
            <a:pPr algn="l"/>
            <a:r>
              <a:rPr lang="zh-CN" altLang="en-US" dirty="0"/>
              <a:t>  </a:t>
            </a:r>
            <a:r>
              <a:rPr lang="en-US" altLang="en-US" dirty="0"/>
              <a:t>②</a:t>
            </a:r>
            <a:r>
              <a:rPr lang="zh-CN" altLang="en-US" dirty="0"/>
              <a:t> </a:t>
            </a:r>
            <a:r>
              <a:rPr lang="en-US" altLang="zh-CN" dirty="0"/>
              <a:t>return   </a:t>
            </a:r>
            <a:r>
              <a:rPr lang="zh-CN" altLang="en-US" dirty="0"/>
              <a:t>表达式</a:t>
            </a:r>
            <a:r>
              <a:rPr lang="en-US" altLang="zh-CN" dirty="0"/>
              <a:t>;     </a:t>
            </a:r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有返回值</a:t>
            </a:r>
          </a:p>
          <a:p>
            <a:pPr algn="l"/>
            <a:r>
              <a:rPr lang="zh-CN" altLang="en-US" dirty="0"/>
              <a:t>  </a:t>
            </a:r>
            <a:r>
              <a:rPr lang="en-US" altLang="en-US" dirty="0"/>
              <a:t>③</a:t>
            </a:r>
            <a:r>
              <a:rPr lang="zh-CN" altLang="en-US" dirty="0"/>
              <a:t> </a:t>
            </a:r>
            <a:r>
              <a:rPr lang="en-US" altLang="zh-CN" dirty="0"/>
              <a:t>return;                    </a:t>
            </a:r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无返回值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9723A617-32C9-4046-9918-B64CB0068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246" y="5755650"/>
            <a:ext cx="1096184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使程序控制从被调用函数返回到调用函数中，如果有返回值，同时把返值带给调用函数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zh-CN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485EEF19-3C51-470B-ACD1-77F0D8EEE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549" y="5395287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功能 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80587C6A-6E44-47D1-8042-F00F7AD0A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879" y="3491477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函数的返回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25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25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25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25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25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25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7" grpId="0"/>
      <p:bldP spid="1025031" grpId="0"/>
      <p:bldP spid="1025040" grpId="0" animBg="1"/>
      <p:bldP spid="1025043" grpId="0" animBg="1"/>
      <p:bldP spid="1025044" grpId="0" animBg="1"/>
      <p:bldP spid="1025046" grpId="0" animBg="1"/>
      <p:bldP spid="17" grpId="0"/>
      <p:bldP spid="18" grpId="0" animBg="1"/>
      <p:bldP spid="19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224" name="Text Box 8"/>
          <p:cNvSpPr txBox="1">
            <a:spLocks noChangeArrowheads="1"/>
          </p:cNvSpPr>
          <p:nvPr/>
        </p:nvSpPr>
        <p:spPr bwMode="auto">
          <a:xfrm>
            <a:off x="5087888" y="1592029"/>
            <a:ext cx="5243513" cy="194468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返回值类型符  函数名 </a:t>
            </a:r>
            <a:r>
              <a:rPr lang="en-US" altLang="zh-CN" dirty="0"/>
              <a:t>(void)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变量声明部分</a:t>
            </a:r>
          </a:p>
          <a:p>
            <a:r>
              <a:rPr lang="zh-CN" altLang="en-US" dirty="0"/>
              <a:t>    执行部分</a:t>
            </a:r>
          </a:p>
          <a:p>
            <a:r>
              <a:rPr lang="en-US" altLang="zh-CN" dirty="0"/>
              <a:t>}</a:t>
            </a:r>
          </a:p>
        </p:txBody>
      </p:sp>
      <p:grpSp>
        <p:nvGrpSpPr>
          <p:cNvPr id="1033225" name="Group 9"/>
          <p:cNvGrpSpPr>
            <a:grpSpLocks/>
          </p:cNvGrpSpPr>
          <p:nvPr/>
        </p:nvGrpSpPr>
        <p:grpSpPr bwMode="auto">
          <a:xfrm>
            <a:off x="7629476" y="2490555"/>
            <a:ext cx="1152525" cy="569913"/>
            <a:chOff x="3195" y="1661"/>
            <a:chExt cx="726" cy="359"/>
          </a:xfrm>
        </p:grpSpPr>
        <p:sp>
          <p:nvSpPr>
            <p:cNvPr id="1033226" name="AutoShape 10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27" name="Text Box 11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33228" name="AutoShape 12"/>
          <p:cNvSpPr>
            <a:spLocks noChangeArrowheads="1"/>
          </p:cNvSpPr>
          <p:nvPr/>
        </p:nvSpPr>
        <p:spPr bwMode="auto">
          <a:xfrm>
            <a:off x="2639962" y="2155593"/>
            <a:ext cx="2286000" cy="863674"/>
          </a:xfrm>
          <a:prstGeom prst="wedgeRoundRectCallout">
            <a:avLst>
              <a:gd name="adj1" fmla="val 66042"/>
              <a:gd name="adj2" fmla="val -63333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可以为除数组类型外的任何类型</a:t>
            </a:r>
          </a:p>
        </p:txBody>
      </p:sp>
      <p:sp>
        <p:nvSpPr>
          <p:cNvPr id="1033229" name="AutoShape 13"/>
          <p:cNvSpPr>
            <a:spLocks noChangeArrowheads="1"/>
          </p:cNvSpPr>
          <p:nvPr/>
        </p:nvSpPr>
        <p:spPr bwMode="auto">
          <a:xfrm>
            <a:off x="9120137" y="2600092"/>
            <a:ext cx="1944688" cy="792162"/>
          </a:xfrm>
          <a:prstGeom prst="wedgeRoundRectCallout">
            <a:avLst>
              <a:gd name="adj1" fmla="val -76042"/>
              <a:gd name="adj2" fmla="val -127153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表明无参数，可缺省！</a:t>
            </a:r>
          </a:p>
        </p:txBody>
      </p:sp>
      <p:sp>
        <p:nvSpPr>
          <p:cNvPr id="1033230" name="AutoShape 14"/>
          <p:cNvSpPr>
            <a:spLocks noChangeArrowheads="1"/>
          </p:cNvSpPr>
          <p:nvPr/>
        </p:nvSpPr>
        <p:spPr bwMode="auto">
          <a:xfrm>
            <a:off x="8616901" y="671280"/>
            <a:ext cx="1944687" cy="792163"/>
          </a:xfrm>
          <a:prstGeom prst="wedgeRoundRectCallout">
            <a:avLst>
              <a:gd name="adj1" fmla="val -102898"/>
              <a:gd name="adj2" fmla="val 7585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必须为合法的标识符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55871274-1E02-4859-8999-4D86410F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、无参数有返回值的函数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A7141C56-D628-4820-B240-1FF8B507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527175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定义格式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ABAEF636-D553-492F-A452-A4F6C3D1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id="{191D5E88-CB78-42A5-9E9A-0FEE29E9D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688" y="4084180"/>
            <a:ext cx="5976938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dirty="0"/>
              <a:t> return (</a:t>
            </a:r>
            <a:r>
              <a:rPr lang="zh-CN" altLang="en-US" dirty="0"/>
              <a:t>表达式</a:t>
            </a:r>
            <a:r>
              <a:rPr lang="en-US" altLang="zh-CN" dirty="0"/>
              <a:t>);    </a:t>
            </a:r>
            <a:r>
              <a:rPr lang="zh-CN" altLang="en-US" dirty="0">
                <a:solidFill>
                  <a:srgbClr val="C01920"/>
                </a:solidFill>
              </a:rPr>
              <a:t>或</a:t>
            </a:r>
            <a:r>
              <a:rPr lang="zh-CN" altLang="en-US" dirty="0"/>
              <a:t>     </a:t>
            </a:r>
            <a:r>
              <a:rPr lang="en-US" altLang="zh-CN" dirty="0"/>
              <a:t>return   </a:t>
            </a:r>
            <a:r>
              <a:rPr lang="zh-CN" altLang="en-US" dirty="0"/>
              <a:t>表达式</a:t>
            </a:r>
            <a:r>
              <a:rPr lang="en-US" altLang="zh-CN" dirty="0"/>
              <a:t>;     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EB646E38-5233-4141-BB13-27F782E7D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8" y="3477680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函数的返回 </a:t>
            </a: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889E5B08-3BC1-4ADA-8A50-BC4DA1820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597" y="5223500"/>
            <a:ext cx="1008112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表达式的值即是函数的返回值；</a:t>
            </a:r>
          </a:p>
          <a:p>
            <a:pPr>
              <a:buClr>
                <a:srgbClr val="C0192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当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（表达式）语句中的表达式的类型与函数的返回值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类型不一致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时，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编译器将表达式的值强制转换成函数返回值类型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然后返回。</a:t>
            </a:r>
          </a:p>
        </p:txBody>
      </p:sp>
      <p:sp>
        <p:nvSpPr>
          <p:cNvPr id="24" name="Rectangle 31" descr="信纸">
            <a:extLst>
              <a:ext uri="{FF2B5EF4-FFF2-40B4-BE49-F238E27FC236}">
                <a16:creationId xmlns:a16="http://schemas.microsoft.com/office/drawing/2014/main" id="{65E85F44-5A1D-4DD5-A948-C87F25F6E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260" y="4575175"/>
            <a:ext cx="5976937" cy="1958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C01920"/>
                </a:solidFill>
              </a:rPr>
              <a:t>int </a:t>
            </a:r>
            <a:r>
              <a:rPr lang="en-US" altLang="zh-CN" sz="2000" b="1" dirty="0" err="1">
                <a:solidFill>
                  <a:srgbClr val="C01920"/>
                </a:solidFill>
              </a:rPr>
              <a:t>func</a:t>
            </a:r>
            <a:r>
              <a:rPr lang="en-US" altLang="zh-CN" sz="2000" b="1" dirty="0">
                <a:solidFill>
                  <a:srgbClr val="C01920"/>
                </a:solidFill>
              </a:rPr>
              <a:t>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float f = 5;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f = f / 2;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return ( f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}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953E2844-C7BB-469E-848E-4E7802E40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333" y="5557310"/>
            <a:ext cx="3025775" cy="400110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函数将返回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，而不是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2.5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3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33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33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33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33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224" grpId="0" animBg="1"/>
      <p:bldP spid="1033228" grpId="0" animBg="1"/>
      <p:bldP spid="1033229" grpId="0" animBg="1"/>
      <p:bldP spid="1033230" grpId="0" animBg="1"/>
      <p:bldP spid="20" grpId="0"/>
      <p:bldP spid="21" grpId="0"/>
      <p:bldP spid="17" grpId="0" animBg="1"/>
      <p:bldP spid="19" grpId="0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367" name="Text Box 7"/>
          <p:cNvSpPr txBox="1">
            <a:spLocks noChangeArrowheads="1"/>
          </p:cNvSpPr>
          <p:nvPr/>
        </p:nvSpPr>
        <p:spPr bwMode="auto">
          <a:xfrm>
            <a:off x="1327038" y="1994349"/>
            <a:ext cx="10097030" cy="163066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sz="2000" dirty="0"/>
              <a:t>void  </a:t>
            </a:r>
            <a:r>
              <a:rPr lang="zh-CN" altLang="en-US" sz="2000" dirty="0"/>
              <a:t>函数名 </a:t>
            </a:r>
            <a:r>
              <a:rPr lang="en-US" altLang="zh-CN" sz="2000" dirty="0"/>
              <a:t>(</a:t>
            </a:r>
            <a:r>
              <a:rPr lang="zh-CN" altLang="en-US" sz="2000" dirty="0"/>
              <a:t>类型符</a:t>
            </a:r>
            <a:r>
              <a:rPr lang="en-US" altLang="zh-CN" sz="2000" dirty="0"/>
              <a:t>1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1,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2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2, … 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n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n 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</a:t>
            </a:r>
            <a:r>
              <a:rPr lang="zh-CN" altLang="en-US" sz="2000" dirty="0"/>
              <a:t>变量声明部分</a:t>
            </a:r>
          </a:p>
          <a:p>
            <a:r>
              <a:rPr lang="zh-CN" altLang="en-US" sz="2000" dirty="0"/>
              <a:t>    执行部分</a:t>
            </a:r>
          </a:p>
          <a:p>
            <a:r>
              <a:rPr lang="en-US" altLang="zh-CN" sz="2000" dirty="0"/>
              <a:t>}</a:t>
            </a:r>
          </a:p>
        </p:txBody>
      </p:sp>
      <p:grpSp>
        <p:nvGrpSpPr>
          <p:cNvPr id="1039368" name="Group 8"/>
          <p:cNvGrpSpPr>
            <a:grpSpLocks/>
          </p:cNvGrpSpPr>
          <p:nvPr/>
        </p:nvGrpSpPr>
        <p:grpSpPr bwMode="auto">
          <a:xfrm>
            <a:off x="3271725" y="2769464"/>
            <a:ext cx="1152525" cy="569913"/>
            <a:chOff x="3195" y="1661"/>
            <a:chExt cx="726" cy="359"/>
          </a:xfrm>
        </p:grpSpPr>
        <p:sp>
          <p:nvSpPr>
            <p:cNvPr id="1039369" name="AutoShape 9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370" name="Text Box 10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grpSp>
        <p:nvGrpSpPr>
          <p:cNvPr id="1039380" name="Group 20"/>
          <p:cNvGrpSpPr>
            <a:grpSpLocks/>
          </p:cNvGrpSpPr>
          <p:nvPr/>
        </p:nvGrpSpPr>
        <p:grpSpPr bwMode="auto">
          <a:xfrm>
            <a:off x="3127261" y="2342012"/>
            <a:ext cx="6192838" cy="684212"/>
            <a:chOff x="1474" y="981"/>
            <a:chExt cx="3901" cy="431"/>
          </a:xfrm>
        </p:grpSpPr>
        <p:sp>
          <p:nvSpPr>
            <p:cNvPr id="1039378" name="AutoShape 18"/>
            <p:cNvSpPr>
              <a:spLocks/>
            </p:cNvSpPr>
            <p:nvPr/>
          </p:nvSpPr>
          <p:spPr bwMode="auto">
            <a:xfrm rot="-5400000">
              <a:off x="3334" y="-879"/>
              <a:ext cx="182" cy="3901"/>
            </a:xfrm>
            <a:prstGeom prst="leftBrace">
              <a:avLst>
                <a:gd name="adj1" fmla="val 178617"/>
                <a:gd name="adj2" fmla="val 50000"/>
              </a:avLst>
            </a:prstGeom>
            <a:noFill/>
            <a:ln w="22225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39379" name="Text Box 19"/>
            <p:cNvSpPr txBox="1">
              <a:spLocks noChangeArrowheads="1"/>
            </p:cNvSpPr>
            <p:nvPr/>
          </p:nvSpPr>
          <p:spPr bwMode="auto">
            <a:xfrm>
              <a:off x="3088" y="1162"/>
              <a:ext cx="8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形参列表</a:t>
              </a:r>
            </a:p>
          </p:txBody>
        </p:sp>
      </p:grpSp>
      <p:sp>
        <p:nvSpPr>
          <p:cNvPr id="1039381" name="AutoShape 21"/>
          <p:cNvSpPr>
            <a:spLocks noChangeArrowheads="1"/>
          </p:cNvSpPr>
          <p:nvPr/>
        </p:nvSpPr>
        <p:spPr bwMode="auto">
          <a:xfrm>
            <a:off x="6080012" y="973587"/>
            <a:ext cx="3167063" cy="792162"/>
          </a:xfrm>
          <a:prstGeom prst="wedgeRoundRectCallout">
            <a:avLst>
              <a:gd name="adj1" fmla="val -86593"/>
              <a:gd name="adj2" fmla="val 93486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ea typeface="隶书" pitchFamily="49" charset="-122"/>
              </a:rPr>
              <a:t>至少要有一项，形参之间要用逗号“，”分开 </a:t>
            </a:r>
          </a:p>
        </p:txBody>
      </p:sp>
      <p:sp>
        <p:nvSpPr>
          <p:cNvPr id="1039382" name="AutoShape 22"/>
          <p:cNvSpPr>
            <a:spLocks noChangeArrowheads="1"/>
          </p:cNvSpPr>
          <p:nvPr/>
        </p:nvSpPr>
        <p:spPr bwMode="auto">
          <a:xfrm>
            <a:off x="7664336" y="3071089"/>
            <a:ext cx="1873250" cy="504825"/>
          </a:xfrm>
          <a:prstGeom prst="wedgeRoundRectCallout">
            <a:avLst>
              <a:gd name="adj1" fmla="val -44491"/>
              <a:gd name="adj2" fmla="val -19528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指明形参类型 </a:t>
            </a:r>
          </a:p>
        </p:txBody>
      </p:sp>
      <p:sp>
        <p:nvSpPr>
          <p:cNvPr id="1039383" name="AutoShape 23"/>
          <p:cNvSpPr>
            <a:spLocks noChangeArrowheads="1"/>
          </p:cNvSpPr>
          <p:nvPr/>
        </p:nvSpPr>
        <p:spPr bwMode="auto">
          <a:xfrm>
            <a:off x="4089788" y="2924944"/>
            <a:ext cx="3300413" cy="1512888"/>
          </a:xfrm>
          <a:prstGeom prst="irregularSeal1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不允许对</a:t>
            </a:r>
          </a:p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形参赋初值 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65D157C-A2FF-462E-B9F6-4672E52EE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、有参数无返回值的函数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C188D4D-C204-443D-A8A3-F6143DC14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定义格式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7686CEA1-A24E-4A76-815D-9E5C89680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2B6A610A-11FE-46B1-9BF5-5D4F914ED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038" y="5231458"/>
            <a:ext cx="9809002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 dirty="0"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latin typeface="+mn-lt"/>
                <a:ea typeface="楷体" pitchFamily="49" charset="-122"/>
              </a:rPr>
              <a:t>( </a:t>
            </a:r>
            <a:r>
              <a:rPr lang="zh-CN" altLang="en-US" b="1" dirty="0"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latin typeface="+mn-lt"/>
                <a:ea typeface="楷体" pitchFamily="49" charset="-122"/>
              </a:rPr>
              <a:t>n )</a:t>
            </a:r>
            <a:r>
              <a:rPr lang="zh-CN" altLang="en-US" b="1" dirty="0">
                <a:latin typeface="+mn-lt"/>
                <a:ea typeface="楷体" pitchFamily="49" charset="-122"/>
              </a:rPr>
              <a:t>；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B9748D4F-0B47-403B-B1A3-2F3F1F37E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331" y="4280545"/>
            <a:ext cx="3311525" cy="792163"/>
          </a:xfrm>
          <a:prstGeom prst="wedgeRoundRectCallout">
            <a:avLst>
              <a:gd name="adj1" fmla="val -86097"/>
              <a:gd name="adj2" fmla="val 79861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ea typeface="隶书" pitchFamily="49" charset="-122"/>
              </a:rPr>
              <a:t>实参可以是常量、变量、表达式、函数等 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E3D96373-2641-4DB4-8CD1-52BDA829B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478" y="4676627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函数调用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1681BE3-240A-42A6-B17F-E9FC0336A15A}"/>
              </a:ext>
            </a:extLst>
          </p:cNvPr>
          <p:cNvSpPr txBox="1"/>
          <p:nvPr/>
        </p:nvSpPr>
        <p:spPr>
          <a:xfrm>
            <a:off x="981478" y="5870399"/>
            <a:ext cx="109604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实参表求值顺序（即实参赋值给形参的顺序）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         因系统而定。</a:t>
            </a:r>
            <a:r>
              <a:rPr lang="en-US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VC6.0</a:t>
            </a:r>
            <a:r>
              <a:rPr lang="zh-CN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VC2010</a:t>
            </a:r>
            <a:r>
              <a:rPr lang="zh-CN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和</a:t>
            </a:r>
            <a:r>
              <a:rPr lang="en-US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CB17.12</a:t>
            </a:r>
            <a:r>
              <a:rPr lang="zh-CN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均是自右向左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，也就是说最右边的实参最先赋值给最右边的形参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, 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最左边的实参最后赋值给最左边的形参。但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VC6.0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与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VC2010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和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CB17.12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在具体赋值时稍有不同，注意它们之间的区别。</a:t>
            </a:r>
            <a:endParaRPr lang="zh-CN" altLang="en-US" b="1" dirty="0">
              <a:ln w="1905"/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9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39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39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39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39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39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367" grpId="0" animBg="1"/>
      <p:bldP spid="1039381" grpId="0" animBg="1"/>
      <p:bldP spid="1039382" grpId="0" animBg="1"/>
      <p:bldP spid="1039383" grpId="0" animBg="1"/>
      <p:bldP spid="22" grpId="0"/>
      <p:bldP spid="23" grpId="0"/>
      <p:bldP spid="19" grpId="0" animBg="1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4">
            <a:extLst>
              <a:ext uri="{FF2B5EF4-FFF2-40B4-BE49-F238E27FC236}">
                <a16:creationId xmlns:a16="http://schemas.microsoft.com/office/drawing/2014/main" id="{8D600872-7B98-423A-B75A-51FEF675C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D58A01F2-D3C9-4D37-997C-A77AB278E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、有参数无返回值的函数</a:t>
            </a:r>
          </a:p>
        </p:txBody>
      </p:sp>
      <p:sp>
        <p:nvSpPr>
          <p:cNvPr id="1043466" name="Rectangle 10" descr="信纸"/>
          <p:cNvSpPr>
            <a:spLocks noChangeArrowheads="1"/>
          </p:cNvSpPr>
          <p:nvPr/>
        </p:nvSpPr>
        <p:spPr bwMode="auto">
          <a:xfrm>
            <a:off x="1126877" y="513382"/>
            <a:ext cx="6169006" cy="6247864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void compare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b);  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{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2;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compare (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 );        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%d\n",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}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void compare ( </a:t>
            </a:r>
            <a:r>
              <a:rPr lang="en-US" altLang="zh-CN" sz="2000" b="1" dirty="0" err="1">
                <a:solidFill>
                  <a:srgbClr val="008000"/>
                </a:solidFill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</a:rPr>
              <a:t> a, </a:t>
            </a:r>
            <a:r>
              <a:rPr lang="en-US" altLang="zh-CN" sz="2000" b="1" dirty="0" err="1">
                <a:solidFill>
                  <a:srgbClr val="008000"/>
                </a:solidFill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</a:rPr>
              <a:t> b )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{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= %d  b = %d\n", a, 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if ( a &gt; b)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&gt;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else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if (a == b)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=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else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&lt;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}</a:t>
            </a:r>
          </a:p>
        </p:txBody>
      </p:sp>
      <p:sp>
        <p:nvSpPr>
          <p:cNvPr id="1043467" name="AutoShape 11"/>
          <p:cNvSpPr>
            <a:spLocks/>
          </p:cNvSpPr>
          <p:nvPr/>
        </p:nvSpPr>
        <p:spPr bwMode="auto">
          <a:xfrm>
            <a:off x="4335283" y="1476596"/>
            <a:ext cx="1368425" cy="360362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44315"/>
              <a:gd name="adj5" fmla="val 186343"/>
              <a:gd name="adj6" fmla="val -8433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为实参</a:t>
            </a:r>
            <a:r>
              <a:rPr lang="zh-CN" altLang="en-US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3468" name="Oval 12"/>
          <p:cNvSpPr>
            <a:spLocks noChangeArrowheads="1"/>
          </p:cNvSpPr>
          <p:nvPr/>
        </p:nvSpPr>
        <p:spPr bwMode="auto">
          <a:xfrm>
            <a:off x="2566739" y="2134580"/>
            <a:ext cx="720725" cy="287338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69" name="Oval 13"/>
          <p:cNvSpPr>
            <a:spLocks noChangeArrowheads="1"/>
          </p:cNvSpPr>
          <p:nvPr/>
        </p:nvSpPr>
        <p:spPr bwMode="auto">
          <a:xfrm>
            <a:off x="2855664" y="3273660"/>
            <a:ext cx="1223963" cy="431800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70" name="AutoShape 14"/>
          <p:cNvSpPr>
            <a:spLocks/>
          </p:cNvSpPr>
          <p:nvPr/>
        </p:nvSpPr>
        <p:spPr bwMode="auto">
          <a:xfrm>
            <a:off x="5035485" y="2728457"/>
            <a:ext cx="1368425" cy="360363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38861"/>
              <a:gd name="adj5" fmla="val 182380"/>
              <a:gd name="adj6" fmla="val -73204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为形参</a:t>
            </a:r>
            <a:r>
              <a:rPr lang="zh-CN" altLang="en-US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3471" name="Rectangle 15"/>
          <p:cNvSpPr>
            <a:spLocks noChangeArrowheads="1"/>
          </p:cNvSpPr>
          <p:nvPr/>
        </p:nvSpPr>
        <p:spPr bwMode="auto">
          <a:xfrm>
            <a:off x="1199901" y="903865"/>
            <a:ext cx="2951162" cy="360363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72" name="AutoShape 16"/>
          <p:cNvSpPr>
            <a:spLocks/>
          </p:cNvSpPr>
          <p:nvPr/>
        </p:nvSpPr>
        <p:spPr bwMode="auto">
          <a:xfrm>
            <a:off x="5095919" y="723683"/>
            <a:ext cx="1368425" cy="360363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36310"/>
              <a:gd name="adj5" fmla="val 81940"/>
              <a:gd name="adj6" fmla="val -6798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原型声明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43475" name="Group 19"/>
          <p:cNvGrpSpPr>
            <a:grpSpLocks/>
          </p:cNvGrpSpPr>
          <p:nvPr/>
        </p:nvGrpSpPr>
        <p:grpSpPr bwMode="auto">
          <a:xfrm>
            <a:off x="7843015" y="958278"/>
            <a:ext cx="3562352" cy="1044575"/>
            <a:chOff x="3283" y="246"/>
            <a:chExt cx="2244" cy="658"/>
          </a:xfrm>
        </p:grpSpPr>
        <p:sp>
          <p:nvSpPr>
            <p:cNvPr id="1043473" name="Rectangle 17"/>
            <p:cNvSpPr>
              <a:spLocks noChangeArrowheads="1"/>
            </p:cNvSpPr>
            <p:nvPr/>
          </p:nvSpPr>
          <p:spPr bwMode="auto">
            <a:xfrm>
              <a:off x="3283" y="246"/>
              <a:ext cx="2178" cy="65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3  b = 2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&gt; b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= 3</a:t>
              </a:r>
            </a:p>
          </p:txBody>
        </p:sp>
        <p:sp>
          <p:nvSpPr>
            <p:cNvPr id="1043474" name="Rectangle 18"/>
            <p:cNvSpPr>
              <a:spLocks noChangeArrowheads="1"/>
            </p:cNvSpPr>
            <p:nvPr/>
          </p:nvSpPr>
          <p:spPr bwMode="auto">
            <a:xfrm>
              <a:off x="3670" y="447"/>
              <a:ext cx="185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C01920"/>
                  </a:solidFill>
                  <a:ea typeface="隶书" pitchFamily="49" charset="-122"/>
                </a:rPr>
                <a:t>运行结果</a:t>
              </a:r>
              <a:endParaRPr lang="en-US" altLang="zh-CN" sz="2000" b="1" dirty="0">
                <a:solidFill>
                  <a:srgbClr val="C01920"/>
                </a:solidFill>
                <a:ea typeface="隶书" pitchFamily="49" charset="-122"/>
              </a:endParaRPr>
            </a:p>
            <a:p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(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在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VC2010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或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CB17.12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下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)</a:t>
              </a:r>
            </a:p>
          </p:txBody>
        </p:sp>
      </p:grpSp>
      <p:grpSp>
        <p:nvGrpSpPr>
          <p:cNvPr id="1043476" name="Group 20"/>
          <p:cNvGrpSpPr>
            <a:grpSpLocks/>
          </p:cNvGrpSpPr>
          <p:nvPr/>
        </p:nvGrpSpPr>
        <p:grpSpPr bwMode="auto">
          <a:xfrm>
            <a:off x="7896645" y="3811589"/>
            <a:ext cx="3413125" cy="1044575"/>
            <a:chOff x="3443" y="349"/>
            <a:chExt cx="2150" cy="658"/>
          </a:xfrm>
        </p:grpSpPr>
        <p:sp>
          <p:nvSpPr>
            <p:cNvPr id="1043477" name="Rectangle 21"/>
            <p:cNvSpPr>
              <a:spLocks noChangeArrowheads="1"/>
            </p:cNvSpPr>
            <p:nvPr/>
          </p:nvSpPr>
          <p:spPr bwMode="auto">
            <a:xfrm>
              <a:off x="3443" y="349"/>
              <a:ext cx="2150" cy="658"/>
            </a:xfrm>
            <a:prstGeom prst="rect">
              <a:avLst/>
            </a:prstGeom>
            <a:gradFill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square" anchor="ctr">
              <a:spAutoFit/>
            </a:bodyPr>
            <a:lstStyle/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2  b = 2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b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= 3</a:t>
              </a:r>
            </a:p>
          </p:txBody>
        </p:sp>
        <p:sp>
          <p:nvSpPr>
            <p:cNvPr id="1043478" name="Rectangle 22"/>
            <p:cNvSpPr>
              <a:spLocks noChangeArrowheads="1"/>
            </p:cNvSpPr>
            <p:nvPr/>
          </p:nvSpPr>
          <p:spPr bwMode="auto">
            <a:xfrm>
              <a:off x="3958" y="735"/>
              <a:ext cx="163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ea typeface="隶书" pitchFamily="49" charset="-122"/>
                </a:rPr>
                <a:t>运行结果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(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在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VC6.0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下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)</a:t>
              </a:r>
            </a:p>
          </p:txBody>
        </p:sp>
      </p:grpSp>
      <p:grpSp>
        <p:nvGrpSpPr>
          <p:cNvPr id="1043489" name="Group 33"/>
          <p:cNvGrpSpPr>
            <a:grpSpLocks/>
          </p:cNvGrpSpPr>
          <p:nvPr/>
        </p:nvGrpSpPr>
        <p:grpSpPr bwMode="auto">
          <a:xfrm>
            <a:off x="10976589" y="2569716"/>
            <a:ext cx="342900" cy="503237"/>
            <a:chOff x="5103" y="1597"/>
            <a:chExt cx="216" cy="317"/>
          </a:xfrm>
        </p:grpSpPr>
        <p:sp>
          <p:nvSpPr>
            <p:cNvPr id="1043487" name="Line 31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88" name="Text Box 32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①</a:t>
              </a:r>
            </a:p>
          </p:txBody>
        </p:sp>
      </p:grpSp>
      <p:grpSp>
        <p:nvGrpSpPr>
          <p:cNvPr id="1043493" name="Group 37"/>
          <p:cNvGrpSpPr>
            <a:grpSpLocks/>
          </p:cNvGrpSpPr>
          <p:nvPr/>
        </p:nvGrpSpPr>
        <p:grpSpPr bwMode="auto">
          <a:xfrm>
            <a:off x="7880965" y="2082353"/>
            <a:ext cx="3527425" cy="1490663"/>
            <a:chOff x="3324" y="1281"/>
            <a:chExt cx="2222" cy="939"/>
          </a:xfrm>
        </p:grpSpPr>
        <p:sp>
          <p:nvSpPr>
            <p:cNvPr id="1043479" name="Text Box 23"/>
            <p:cNvSpPr txBox="1">
              <a:spLocks noChangeArrowheads="1"/>
            </p:cNvSpPr>
            <p:nvPr/>
          </p:nvSpPr>
          <p:spPr bwMode="auto">
            <a:xfrm>
              <a:off x="3913" y="1298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</a:p>
          </p:txBody>
        </p:sp>
        <p:sp>
          <p:nvSpPr>
            <p:cNvPr id="1043480" name="Text Box 24"/>
            <p:cNvSpPr txBox="1">
              <a:spLocks noChangeArrowheads="1"/>
            </p:cNvSpPr>
            <p:nvPr/>
          </p:nvSpPr>
          <p:spPr bwMode="auto">
            <a:xfrm>
              <a:off x="4094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481" name="Text Box 25"/>
            <p:cNvSpPr txBox="1">
              <a:spLocks noChangeArrowheads="1"/>
            </p:cNvSpPr>
            <p:nvPr/>
          </p:nvSpPr>
          <p:spPr bwMode="auto">
            <a:xfrm>
              <a:off x="4729" y="1298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i++</a:t>
              </a:r>
            </a:p>
          </p:txBody>
        </p:sp>
        <p:sp>
          <p:nvSpPr>
            <p:cNvPr id="1043482" name="Text Box 26"/>
            <p:cNvSpPr txBox="1">
              <a:spLocks noChangeArrowheads="1"/>
            </p:cNvSpPr>
            <p:nvPr/>
          </p:nvSpPr>
          <p:spPr bwMode="auto">
            <a:xfrm>
              <a:off x="5092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483" name="Text Box 27"/>
            <p:cNvSpPr txBox="1">
              <a:spLocks noChangeArrowheads="1"/>
            </p:cNvSpPr>
            <p:nvPr/>
          </p:nvSpPr>
          <p:spPr bwMode="auto">
            <a:xfrm>
              <a:off x="3905" y="1911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1043484" name="Text Box 28"/>
            <p:cNvSpPr txBox="1">
              <a:spLocks noChangeArrowheads="1"/>
            </p:cNvSpPr>
            <p:nvPr/>
          </p:nvSpPr>
          <p:spPr bwMode="auto">
            <a:xfrm>
              <a:off x="4113" y="1920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485" name="Text Box 29"/>
            <p:cNvSpPr txBox="1">
              <a:spLocks noChangeArrowheads="1"/>
            </p:cNvSpPr>
            <p:nvPr/>
          </p:nvSpPr>
          <p:spPr bwMode="auto">
            <a:xfrm>
              <a:off x="4878" y="1903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1043486" name="Text Box 30"/>
            <p:cNvSpPr txBox="1">
              <a:spLocks noChangeArrowheads="1"/>
            </p:cNvSpPr>
            <p:nvPr/>
          </p:nvSpPr>
          <p:spPr bwMode="auto">
            <a:xfrm>
              <a:off x="5086" y="1912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490" name="Text Box 34"/>
            <p:cNvSpPr txBox="1">
              <a:spLocks noChangeArrowheads="1"/>
            </p:cNvSpPr>
            <p:nvPr/>
          </p:nvSpPr>
          <p:spPr bwMode="auto">
            <a:xfrm>
              <a:off x="3324" y="1281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实参</a:t>
              </a:r>
            </a:p>
          </p:txBody>
        </p:sp>
        <p:sp>
          <p:nvSpPr>
            <p:cNvPr id="1043492" name="Text Box 36"/>
            <p:cNvSpPr txBox="1">
              <a:spLocks noChangeArrowheads="1"/>
            </p:cNvSpPr>
            <p:nvPr/>
          </p:nvSpPr>
          <p:spPr bwMode="auto">
            <a:xfrm>
              <a:off x="3334" y="1912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形参</a:t>
              </a:r>
            </a:p>
          </p:txBody>
        </p:sp>
      </p:grpSp>
      <p:sp>
        <p:nvSpPr>
          <p:cNvPr id="1043491" name="Text Box 35"/>
          <p:cNvSpPr txBox="1">
            <a:spLocks noChangeArrowheads="1"/>
          </p:cNvSpPr>
          <p:nvPr/>
        </p:nvSpPr>
        <p:spPr bwMode="auto">
          <a:xfrm>
            <a:off x="10676553" y="3074540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496" name="Group 40"/>
          <p:cNvGrpSpPr>
            <a:grpSpLocks/>
          </p:cNvGrpSpPr>
          <p:nvPr/>
        </p:nvGrpSpPr>
        <p:grpSpPr bwMode="auto">
          <a:xfrm>
            <a:off x="9839940" y="2528441"/>
            <a:ext cx="1120775" cy="503237"/>
            <a:chOff x="4558" y="1571"/>
            <a:chExt cx="706" cy="317"/>
          </a:xfrm>
        </p:grpSpPr>
        <p:sp>
          <p:nvSpPr>
            <p:cNvPr id="1043494" name="Line 38"/>
            <p:cNvSpPr>
              <a:spLocks noChangeShapeType="1"/>
            </p:cNvSpPr>
            <p:nvPr/>
          </p:nvSpPr>
          <p:spPr bwMode="auto">
            <a:xfrm flipH="1" flipV="1">
              <a:off x="4558" y="1616"/>
              <a:ext cx="545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95" name="Text Box 39"/>
            <p:cNvSpPr txBox="1">
              <a:spLocks noChangeArrowheads="1"/>
            </p:cNvSpPr>
            <p:nvPr/>
          </p:nvSpPr>
          <p:spPr bwMode="auto">
            <a:xfrm>
              <a:off x="4765" y="1571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② i+1</a:t>
              </a:r>
            </a:p>
          </p:txBody>
        </p:sp>
      </p:grpSp>
      <p:sp>
        <p:nvSpPr>
          <p:cNvPr id="1043497" name="Text Box 41"/>
          <p:cNvSpPr txBox="1">
            <a:spLocks noChangeArrowheads="1"/>
          </p:cNvSpPr>
          <p:nvPr/>
        </p:nvSpPr>
        <p:spPr bwMode="auto">
          <a:xfrm>
            <a:off x="9104928" y="2095052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498" name="Group 42"/>
          <p:cNvGrpSpPr>
            <a:grpSpLocks/>
          </p:cNvGrpSpPr>
          <p:nvPr/>
        </p:nvGrpSpPr>
        <p:grpSpPr bwMode="auto">
          <a:xfrm>
            <a:off x="9393852" y="2585591"/>
            <a:ext cx="342900" cy="503237"/>
            <a:chOff x="5103" y="1597"/>
            <a:chExt cx="216" cy="317"/>
          </a:xfrm>
        </p:grpSpPr>
        <p:sp>
          <p:nvSpPr>
            <p:cNvPr id="1043499" name="Line 43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00" name="Text Box 44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endParaRPr lang="en-US" altLang="zh-CN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043501" name="Text Box 45"/>
          <p:cNvSpPr txBox="1">
            <a:spLocks noChangeArrowheads="1"/>
          </p:cNvSpPr>
          <p:nvPr/>
        </p:nvSpPr>
        <p:spPr bwMode="auto">
          <a:xfrm>
            <a:off x="9135090" y="3088827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502" name="Group 46"/>
          <p:cNvGrpSpPr>
            <a:grpSpLocks/>
          </p:cNvGrpSpPr>
          <p:nvPr/>
        </p:nvGrpSpPr>
        <p:grpSpPr bwMode="auto">
          <a:xfrm>
            <a:off x="7752184" y="5027613"/>
            <a:ext cx="3527425" cy="1490662"/>
            <a:chOff x="3324" y="1281"/>
            <a:chExt cx="2222" cy="939"/>
          </a:xfrm>
        </p:grpSpPr>
        <p:sp>
          <p:nvSpPr>
            <p:cNvPr id="1043503" name="Text Box 47"/>
            <p:cNvSpPr txBox="1">
              <a:spLocks noChangeArrowheads="1"/>
            </p:cNvSpPr>
            <p:nvPr/>
          </p:nvSpPr>
          <p:spPr bwMode="auto">
            <a:xfrm>
              <a:off x="3913" y="1298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</a:p>
          </p:txBody>
        </p:sp>
        <p:sp>
          <p:nvSpPr>
            <p:cNvPr id="1043504" name="Text Box 48"/>
            <p:cNvSpPr txBox="1">
              <a:spLocks noChangeArrowheads="1"/>
            </p:cNvSpPr>
            <p:nvPr/>
          </p:nvSpPr>
          <p:spPr bwMode="auto">
            <a:xfrm>
              <a:off x="4094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505" name="Text Box 49"/>
            <p:cNvSpPr txBox="1">
              <a:spLocks noChangeArrowheads="1"/>
            </p:cNvSpPr>
            <p:nvPr/>
          </p:nvSpPr>
          <p:spPr bwMode="auto">
            <a:xfrm>
              <a:off x="4729" y="1298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i++</a:t>
              </a:r>
            </a:p>
          </p:txBody>
        </p:sp>
        <p:sp>
          <p:nvSpPr>
            <p:cNvPr id="1043506" name="Text Box 50"/>
            <p:cNvSpPr txBox="1">
              <a:spLocks noChangeArrowheads="1"/>
            </p:cNvSpPr>
            <p:nvPr/>
          </p:nvSpPr>
          <p:spPr bwMode="auto">
            <a:xfrm>
              <a:off x="5092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507" name="Text Box 51"/>
            <p:cNvSpPr txBox="1">
              <a:spLocks noChangeArrowheads="1"/>
            </p:cNvSpPr>
            <p:nvPr/>
          </p:nvSpPr>
          <p:spPr bwMode="auto">
            <a:xfrm>
              <a:off x="3905" y="1911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1043508" name="Text Box 52"/>
            <p:cNvSpPr txBox="1">
              <a:spLocks noChangeArrowheads="1"/>
            </p:cNvSpPr>
            <p:nvPr/>
          </p:nvSpPr>
          <p:spPr bwMode="auto">
            <a:xfrm>
              <a:off x="4113" y="1920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509" name="Text Box 53"/>
            <p:cNvSpPr txBox="1">
              <a:spLocks noChangeArrowheads="1"/>
            </p:cNvSpPr>
            <p:nvPr/>
          </p:nvSpPr>
          <p:spPr bwMode="auto">
            <a:xfrm>
              <a:off x="4878" y="1903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1043510" name="Text Box 54"/>
            <p:cNvSpPr txBox="1">
              <a:spLocks noChangeArrowheads="1"/>
            </p:cNvSpPr>
            <p:nvPr/>
          </p:nvSpPr>
          <p:spPr bwMode="auto">
            <a:xfrm>
              <a:off x="5086" y="1912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511" name="Text Box 55"/>
            <p:cNvSpPr txBox="1">
              <a:spLocks noChangeArrowheads="1"/>
            </p:cNvSpPr>
            <p:nvPr/>
          </p:nvSpPr>
          <p:spPr bwMode="auto">
            <a:xfrm>
              <a:off x="3324" y="1281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实参</a:t>
              </a:r>
            </a:p>
          </p:txBody>
        </p:sp>
        <p:sp>
          <p:nvSpPr>
            <p:cNvPr id="1043512" name="Text Box 56"/>
            <p:cNvSpPr txBox="1">
              <a:spLocks noChangeArrowheads="1"/>
            </p:cNvSpPr>
            <p:nvPr/>
          </p:nvSpPr>
          <p:spPr bwMode="auto">
            <a:xfrm>
              <a:off x="3334" y="1912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形参</a:t>
              </a:r>
            </a:p>
          </p:txBody>
        </p:sp>
      </p:grpSp>
      <p:grpSp>
        <p:nvGrpSpPr>
          <p:cNvPr id="1043513" name="Group 57"/>
          <p:cNvGrpSpPr>
            <a:grpSpLocks/>
          </p:cNvGrpSpPr>
          <p:nvPr/>
        </p:nvGrpSpPr>
        <p:grpSpPr bwMode="auto">
          <a:xfrm>
            <a:off x="10862096" y="5530850"/>
            <a:ext cx="342900" cy="503238"/>
            <a:chOff x="5103" y="1597"/>
            <a:chExt cx="216" cy="317"/>
          </a:xfrm>
        </p:grpSpPr>
        <p:sp>
          <p:nvSpPr>
            <p:cNvPr id="1043514" name="Line 58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15" name="Text Box 59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①</a:t>
              </a:r>
            </a:p>
          </p:txBody>
        </p:sp>
      </p:grpSp>
      <p:sp>
        <p:nvSpPr>
          <p:cNvPr id="1043516" name="Text Box 60"/>
          <p:cNvSpPr txBox="1">
            <a:spLocks noChangeArrowheads="1"/>
          </p:cNvSpPr>
          <p:nvPr/>
        </p:nvSpPr>
        <p:spPr bwMode="auto">
          <a:xfrm>
            <a:off x="10546184" y="6035675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517" name="Group 61"/>
          <p:cNvGrpSpPr>
            <a:grpSpLocks/>
          </p:cNvGrpSpPr>
          <p:nvPr/>
        </p:nvGrpSpPr>
        <p:grpSpPr bwMode="auto">
          <a:xfrm>
            <a:off x="9292058" y="5530850"/>
            <a:ext cx="342900" cy="503238"/>
            <a:chOff x="5103" y="1597"/>
            <a:chExt cx="216" cy="317"/>
          </a:xfrm>
        </p:grpSpPr>
        <p:sp>
          <p:nvSpPr>
            <p:cNvPr id="1043518" name="Line 62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19" name="Text Box 63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②</a:t>
              </a:r>
              <a:endParaRPr lang="en-US" altLang="zh-CN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043520" name="Text Box 64"/>
          <p:cNvSpPr txBox="1">
            <a:spLocks noChangeArrowheads="1"/>
          </p:cNvSpPr>
          <p:nvPr/>
        </p:nvSpPr>
        <p:spPr bwMode="auto">
          <a:xfrm>
            <a:off x="9004722" y="6037263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521" name="Group 65"/>
          <p:cNvGrpSpPr>
            <a:grpSpLocks/>
          </p:cNvGrpSpPr>
          <p:nvPr/>
        </p:nvGrpSpPr>
        <p:grpSpPr bwMode="auto">
          <a:xfrm rot="728620">
            <a:off x="9523834" y="5589589"/>
            <a:ext cx="1120775" cy="503237"/>
            <a:chOff x="4558" y="1571"/>
            <a:chExt cx="706" cy="317"/>
          </a:xfrm>
        </p:grpSpPr>
        <p:sp>
          <p:nvSpPr>
            <p:cNvPr id="1043522" name="Line 66"/>
            <p:cNvSpPr>
              <a:spLocks noChangeShapeType="1"/>
            </p:cNvSpPr>
            <p:nvPr/>
          </p:nvSpPr>
          <p:spPr bwMode="auto">
            <a:xfrm flipH="1" flipV="1">
              <a:off x="4558" y="1616"/>
              <a:ext cx="545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23" name="Text Box 67"/>
            <p:cNvSpPr txBox="1">
              <a:spLocks noChangeArrowheads="1"/>
            </p:cNvSpPr>
            <p:nvPr/>
          </p:nvSpPr>
          <p:spPr bwMode="auto">
            <a:xfrm>
              <a:off x="4765" y="1571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i+1</a:t>
              </a:r>
            </a:p>
          </p:txBody>
        </p:sp>
      </p:grpSp>
      <p:sp>
        <p:nvSpPr>
          <p:cNvPr id="1043524" name="Text Box 68"/>
          <p:cNvSpPr txBox="1">
            <a:spLocks noChangeArrowheads="1"/>
          </p:cNvSpPr>
          <p:nvPr/>
        </p:nvSpPr>
        <p:spPr bwMode="auto">
          <a:xfrm>
            <a:off x="8961859" y="5056188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43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043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43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43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043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043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10434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43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43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43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43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4" dur="500"/>
                                        <p:tgtEl>
                                          <p:spTgt spid="10434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43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043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043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043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1043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1043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1043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"/>
                                        <p:tgtEl>
                                          <p:spTgt spid="1043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1043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0" dur="500"/>
                                        <p:tgtEl>
                                          <p:spTgt spid="1043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1043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043466" grpId="0" animBg="1"/>
      <p:bldP spid="1043467" grpId="0" animBg="1"/>
      <p:bldP spid="1043468" grpId="0" animBg="1"/>
      <p:bldP spid="1043469" grpId="0" animBg="1"/>
      <p:bldP spid="1043470" grpId="0" animBg="1"/>
      <p:bldP spid="1043471" grpId="0" animBg="1"/>
      <p:bldP spid="1043472" grpId="0" animBg="1"/>
      <p:bldP spid="1043491" grpId="0" animBg="1"/>
      <p:bldP spid="1043497" grpId="0" animBg="1"/>
      <p:bldP spid="1043501" grpId="0" animBg="1"/>
      <p:bldP spid="1043516" grpId="0" animBg="1"/>
      <p:bldP spid="1043520" grpId="0" animBg="1"/>
      <p:bldP spid="10435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11" name="Text Box 7"/>
          <p:cNvSpPr txBox="1">
            <a:spLocks noChangeArrowheads="1"/>
          </p:cNvSpPr>
          <p:nvPr/>
        </p:nvSpPr>
        <p:spPr bwMode="auto">
          <a:xfrm>
            <a:off x="1545048" y="1863498"/>
            <a:ext cx="9793015" cy="1715269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sz="2000"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返回值类型符  函数</a:t>
            </a:r>
            <a:r>
              <a:rPr lang="zh-CN" altLang="en-US"/>
              <a:t>名 </a:t>
            </a:r>
            <a:r>
              <a:rPr lang="en-US" altLang="zh-CN" dirty="0"/>
              <a:t>(</a:t>
            </a:r>
            <a:r>
              <a:rPr lang="zh-CN" altLang="en-US"/>
              <a:t>类型符</a:t>
            </a:r>
            <a:r>
              <a:rPr lang="en-US" altLang="zh-CN" dirty="0"/>
              <a:t>1  </a:t>
            </a:r>
            <a:r>
              <a:rPr lang="zh-CN" altLang="en-US"/>
              <a:t>形参名</a:t>
            </a:r>
            <a:r>
              <a:rPr lang="en-US" altLang="zh-CN" dirty="0"/>
              <a:t>1, … … , </a:t>
            </a:r>
            <a:r>
              <a:rPr lang="zh-CN" altLang="en-US"/>
              <a:t>类型符</a:t>
            </a:r>
            <a:r>
              <a:rPr lang="en-US" altLang="zh-CN" dirty="0"/>
              <a:t>n  </a:t>
            </a:r>
            <a:r>
              <a:rPr lang="zh-CN" altLang="en-US"/>
              <a:t>形参名</a:t>
            </a:r>
            <a:r>
              <a:rPr lang="en-US" altLang="zh-CN"/>
              <a:t>n 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变量声明部分</a:t>
            </a:r>
          </a:p>
          <a:p>
            <a:r>
              <a:rPr lang="zh-CN" altLang="en-US" dirty="0"/>
              <a:t>    执行部分</a:t>
            </a:r>
          </a:p>
          <a:p>
            <a:r>
              <a:rPr lang="en-US" altLang="zh-CN" dirty="0"/>
              <a:t>}</a:t>
            </a:r>
          </a:p>
        </p:txBody>
      </p:sp>
      <p:grpSp>
        <p:nvGrpSpPr>
          <p:cNvPr id="1045512" name="Group 8"/>
          <p:cNvGrpSpPr>
            <a:grpSpLocks/>
          </p:cNvGrpSpPr>
          <p:nvPr/>
        </p:nvGrpSpPr>
        <p:grpSpPr bwMode="auto">
          <a:xfrm>
            <a:off x="3489736" y="2628673"/>
            <a:ext cx="1152525" cy="569913"/>
            <a:chOff x="3195" y="1661"/>
            <a:chExt cx="726" cy="359"/>
          </a:xfrm>
        </p:grpSpPr>
        <p:sp>
          <p:nvSpPr>
            <p:cNvPr id="1045513" name="AutoShape 9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514" name="Text Box 10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grpSp>
        <p:nvGrpSpPr>
          <p:cNvPr id="1045525" name="Group 21"/>
          <p:cNvGrpSpPr>
            <a:grpSpLocks/>
          </p:cNvGrpSpPr>
          <p:nvPr/>
        </p:nvGrpSpPr>
        <p:grpSpPr bwMode="auto">
          <a:xfrm>
            <a:off x="4281897" y="2209572"/>
            <a:ext cx="4679950" cy="685800"/>
            <a:chOff x="2064" y="980"/>
            <a:chExt cx="2948" cy="432"/>
          </a:xfrm>
        </p:grpSpPr>
        <p:sp>
          <p:nvSpPr>
            <p:cNvPr id="1045520" name="AutoShape 16"/>
            <p:cNvSpPr>
              <a:spLocks/>
            </p:cNvSpPr>
            <p:nvPr/>
          </p:nvSpPr>
          <p:spPr bwMode="auto">
            <a:xfrm rot="-5400000">
              <a:off x="3447" y="-403"/>
              <a:ext cx="182" cy="2948"/>
            </a:xfrm>
            <a:prstGeom prst="leftBrace">
              <a:avLst>
                <a:gd name="adj1" fmla="val 134982"/>
                <a:gd name="adj2" fmla="val 50000"/>
              </a:avLst>
            </a:prstGeom>
            <a:noFill/>
            <a:ln w="22225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521" name="Text Box 17"/>
            <p:cNvSpPr txBox="1">
              <a:spLocks noChangeArrowheads="1"/>
            </p:cNvSpPr>
            <p:nvPr/>
          </p:nvSpPr>
          <p:spPr bwMode="auto">
            <a:xfrm>
              <a:off x="3196" y="1162"/>
              <a:ext cx="8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形参列表</a:t>
              </a:r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52580E85-079D-4F29-9EB3-C2F0D1958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、有参数有返回值的函数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207FE5AA-F6F1-41F5-A0D7-E7B301C5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定义格式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CB1D55ED-3699-462D-B225-7C4D2F217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C565B4B2-917F-4F13-8328-B251F39B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437" y="3862459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函数调用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7B3BFC04-8B02-40BA-8934-664F1A2AC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736" y="3952818"/>
            <a:ext cx="8224826" cy="1097742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sz="2000"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函数名</a:t>
            </a:r>
            <a:r>
              <a:rPr lang="en-US" altLang="zh-CN" dirty="0"/>
              <a:t>( </a:t>
            </a:r>
            <a:r>
              <a:rPr lang="zh-CN" altLang="en-US" dirty="0"/>
              <a:t>实参</a:t>
            </a:r>
            <a:r>
              <a:rPr lang="en-US" altLang="zh-CN" dirty="0"/>
              <a:t>1</a:t>
            </a:r>
            <a:r>
              <a:rPr lang="zh-CN" altLang="en-US" dirty="0"/>
              <a:t>，实参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，实参</a:t>
            </a:r>
            <a:r>
              <a:rPr lang="en-US" altLang="zh-CN" dirty="0"/>
              <a:t>n )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                            </a:t>
            </a:r>
            <a:r>
              <a:rPr lang="zh-CN" altLang="en-US" dirty="0">
                <a:solidFill>
                  <a:srgbClr val="C01920"/>
                </a:solidFill>
              </a:rPr>
              <a:t>或</a:t>
            </a:r>
          </a:p>
          <a:p>
            <a:r>
              <a:rPr lang="zh-CN" altLang="en-US" dirty="0"/>
              <a:t>变量名 </a:t>
            </a:r>
            <a:r>
              <a:rPr lang="en-US" altLang="zh-CN" dirty="0"/>
              <a:t>= </a:t>
            </a:r>
            <a:r>
              <a:rPr lang="zh-CN" altLang="en-US" dirty="0"/>
              <a:t>函数名</a:t>
            </a:r>
            <a:r>
              <a:rPr lang="en-US" altLang="zh-CN" dirty="0"/>
              <a:t>( </a:t>
            </a:r>
            <a:r>
              <a:rPr lang="zh-CN" altLang="en-US" dirty="0"/>
              <a:t>实参</a:t>
            </a:r>
            <a:r>
              <a:rPr lang="en-US" altLang="zh-CN" dirty="0"/>
              <a:t>1</a:t>
            </a:r>
            <a:r>
              <a:rPr lang="zh-CN" altLang="en-US" dirty="0"/>
              <a:t>，实参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，实参</a:t>
            </a:r>
            <a:r>
              <a:rPr lang="en-US" altLang="zh-CN" dirty="0"/>
              <a:t>n )</a:t>
            </a:r>
            <a:r>
              <a:rPr lang="zh-CN" altLang="en-US" dirty="0"/>
              <a:t>；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45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455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455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511" grpId="0" animBg="1"/>
      <p:bldP spid="19" grpId="0"/>
      <p:bldP spid="20" grpId="0"/>
      <p:bldP spid="16" grpId="0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25325" y="1436330"/>
            <a:ext cx="10909301" cy="6315075"/>
          </a:xfrm>
        </p:spPr>
        <p:txBody>
          <a:bodyPr/>
          <a:lstStyle/>
          <a:p>
            <a:pPr lvl="2"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函数声明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一般形式：   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(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形参类型  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[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形参名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],….. );</a:t>
            </a:r>
          </a:p>
          <a:p>
            <a:pPr lvl="3"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ffectLst/>
                <a:ea typeface="楷体" pitchFamily="49" charset="-122"/>
              </a:rPr>
              <a:t>          </a:t>
            </a:r>
            <a:r>
              <a:rPr lang="zh-CN" altLang="en-US" dirty="0">
                <a:effectLst/>
                <a:ea typeface="楷体" pitchFamily="49" charset="-122"/>
              </a:rPr>
              <a:t>或             </a:t>
            </a: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(   );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作用：告诉编译系统</a:t>
            </a:r>
            <a:r>
              <a:rPr lang="zh-CN" altLang="en-US" dirty="0">
                <a:effectLst/>
                <a:ea typeface="楷体" pitchFamily="49" charset="-122"/>
                <a:sym typeface="Symbol" pitchFamily="18" charset="2"/>
              </a:rPr>
              <a:t>函数类型、参数个数及类型，以便检验</a:t>
            </a:r>
            <a:endParaRPr lang="en-US" altLang="zh-CN" dirty="0">
              <a:effectLst/>
              <a:ea typeface="楷体" pitchFamily="49" charset="-122"/>
              <a:sym typeface="Symbol" pitchFamily="18" charset="2"/>
            </a:endParaRPr>
          </a:p>
          <a:p>
            <a:pPr lvl="2"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函数定义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一般形式：   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(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形参类型  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[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形参名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],….. ) {     }</a:t>
            </a:r>
          </a:p>
          <a:p>
            <a:pPr lvl="3"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ffectLst/>
                <a:ea typeface="楷体" pitchFamily="49" charset="-122"/>
              </a:rPr>
              <a:t>          </a:t>
            </a:r>
            <a:r>
              <a:rPr lang="zh-CN" altLang="en-US" dirty="0">
                <a:effectLst/>
                <a:ea typeface="楷体" pitchFamily="49" charset="-122"/>
              </a:rPr>
              <a:t>或             </a:t>
            </a: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(   ) {     }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作用：告诉编译系统</a:t>
            </a:r>
            <a:r>
              <a:rPr lang="zh-CN" altLang="en-US" dirty="0">
                <a:effectLst/>
                <a:ea typeface="楷体" pitchFamily="49" charset="-122"/>
                <a:sym typeface="Symbol" pitchFamily="18" charset="2"/>
              </a:rPr>
              <a:t>函数的具体实现</a:t>
            </a:r>
            <a:endParaRPr lang="en-US" altLang="zh-CN" dirty="0">
              <a:effectLst/>
              <a:ea typeface="楷体" pitchFamily="49" charset="-122"/>
              <a:sym typeface="Symbol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584823-D211-49E3-9C52-3D8C165E4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5070391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、函数调用和函数说明小结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F153130-7457-4D0D-AFA6-2F56D2E62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0" grpId="0" build="p" bldLvl="5" autoUpdateAnimBg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Text Box 2"/>
          <p:cNvSpPr txBox="1">
            <a:spLocks noChangeArrowheads="1"/>
          </p:cNvSpPr>
          <p:nvPr/>
        </p:nvSpPr>
        <p:spPr bwMode="auto">
          <a:xfrm>
            <a:off x="634949" y="896746"/>
            <a:ext cx="30432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函数说明举例</a:t>
            </a:r>
          </a:p>
        </p:txBody>
      </p:sp>
      <p:grpSp>
        <p:nvGrpSpPr>
          <p:cNvPr id="1052688" name="Group 16"/>
          <p:cNvGrpSpPr>
            <a:grpSpLocks/>
          </p:cNvGrpSpPr>
          <p:nvPr/>
        </p:nvGrpSpPr>
        <p:grpSpPr bwMode="auto">
          <a:xfrm>
            <a:off x="6023992" y="1901300"/>
            <a:ext cx="6551614" cy="4894263"/>
            <a:chOff x="332" y="1082"/>
            <a:chExt cx="4127" cy="3083"/>
          </a:xfrm>
        </p:grpSpPr>
        <p:sp>
          <p:nvSpPr>
            <p:cNvPr id="1052679" name="Rectangle 7" descr="信纸"/>
            <p:cNvSpPr>
              <a:spLocks noChangeArrowheads="1"/>
            </p:cNvSpPr>
            <p:nvPr/>
          </p:nvSpPr>
          <p:spPr bwMode="auto">
            <a:xfrm>
              <a:off x="332" y="1082"/>
              <a:ext cx="3084" cy="3083"/>
            </a:xfrm>
            <a:prstGeom prst="rect">
              <a:avLst/>
            </a:prstGeom>
            <a:gradFill>
              <a:gsLst>
                <a:gs pos="0">
                  <a:srgbClr val="CFCFD1"/>
                </a:gs>
                <a:gs pos="100000">
                  <a:srgbClr val="FFFFFF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zh-CN" sz="2000" b="1" dirty="0">
                  <a:solidFill>
                    <a:srgbClr val="7030A0"/>
                  </a:solidFill>
                </a:rPr>
                <a:t>float add (float x, float y)</a:t>
              </a:r>
            </a:p>
            <a:p>
              <a:pPr eaLnBrk="0" hangingPunct="0"/>
              <a:r>
                <a:rPr lang="en-US" altLang="zh-CN" sz="2000" b="1" dirty="0"/>
                <a:t>{   </a:t>
              </a:r>
            </a:p>
            <a:p>
              <a:pPr eaLnBrk="0" hangingPunct="0"/>
              <a:r>
                <a:rPr lang="en-US" altLang="zh-CN" sz="2000" b="1" dirty="0"/>
                <a:t>    float z;</a:t>
              </a:r>
            </a:p>
            <a:p>
              <a:pPr eaLnBrk="0" hangingPunct="0"/>
              <a:r>
                <a:rPr lang="en-US" altLang="zh-CN" sz="2000" b="1" dirty="0"/>
                <a:t>    z = x + y;</a:t>
              </a:r>
            </a:p>
            <a:p>
              <a:pPr eaLnBrk="0" hangingPunct="0"/>
              <a:r>
                <a:rPr lang="en-US" altLang="zh-CN" sz="2000" b="1" dirty="0"/>
                <a:t>    return (z);</a:t>
              </a:r>
            </a:p>
            <a:p>
              <a:pPr eaLnBrk="0" hangingPunct="0"/>
              <a:r>
                <a:rPr lang="en-US" altLang="zh-CN" sz="2000" b="1" dirty="0"/>
                <a:t>}</a:t>
              </a:r>
            </a:p>
            <a:p>
              <a:pPr eaLnBrk="0" hangingPunct="0"/>
              <a:endParaRPr lang="en-US" altLang="zh-CN" sz="2000" b="1" dirty="0"/>
            </a:p>
            <a:p>
              <a:pPr eaLnBrk="0" hangingPunct="0"/>
              <a:r>
                <a:rPr lang="en-US" altLang="zh-CN" sz="2000" b="1" dirty="0" err="1">
                  <a:solidFill>
                    <a:srgbClr val="CC0000"/>
                  </a:solidFill>
                </a:rPr>
                <a:t>int</a:t>
              </a:r>
              <a:r>
                <a:rPr lang="en-US" altLang="zh-CN" sz="2000" b="1" dirty="0">
                  <a:solidFill>
                    <a:srgbClr val="CC0000"/>
                  </a:solidFill>
                </a:rPr>
                <a:t> main ( )</a:t>
              </a:r>
            </a:p>
            <a:p>
              <a:pPr eaLnBrk="0" hangingPunct="0"/>
              <a:r>
                <a:rPr lang="en-US" altLang="zh-CN" sz="2000" b="1" dirty="0"/>
                <a:t>{   </a:t>
              </a:r>
            </a:p>
            <a:p>
              <a:pPr eaLnBrk="0" hangingPunct="0"/>
              <a:r>
                <a:rPr lang="en-US" altLang="zh-CN" sz="2000" b="1" dirty="0"/>
                <a:t>    float a, b, c;</a:t>
              </a:r>
            </a:p>
            <a:p>
              <a:pPr eaLnBrk="0" hangingPunct="0"/>
              <a:r>
                <a:rPr lang="en-US" altLang="zh-CN" sz="2000" b="1" dirty="0"/>
                <a:t>    </a:t>
              </a:r>
              <a:r>
                <a:rPr lang="en-US" altLang="zh-CN" sz="2000" b="1" dirty="0" err="1"/>
                <a:t>scanf</a:t>
              </a:r>
              <a:r>
                <a:rPr lang="en-US" altLang="zh-CN" sz="2000" b="1" dirty="0"/>
                <a:t> ("%</a:t>
              </a:r>
              <a:r>
                <a:rPr lang="en-US" altLang="zh-CN" sz="2000" b="1" dirty="0" err="1"/>
                <a:t>f,%f</a:t>
              </a:r>
              <a:r>
                <a:rPr lang="en-US" altLang="zh-CN" sz="2000" b="1" dirty="0"/>
                <a:t>", &amp;a, &amp;b);</a:t>
              </a:r>
            </a:p>
            <a:p>
              <a:pPr eaLnBrk="0" hangingPunct="0"/>
              <a:r>
                <a:rPr lang="en-US" altLang="zh-CN" sz="2000" b="1" dirty="0"/>
                <a:t>    c = add (a, b);</a:t>
              </a:r>
            </a:p>
            <a:p>
              <a:pPr eaLnBrk="0" hangingPunct="0"/>
              <a:r>
                <a:rPr lang="en-US" altLang="zh-CN" sz="2000" b="1" dirty="0"/>
                <a:t>    </a:t>
              </a:r>
              <a:r>
                <a:rPr lang="en-US" altLang="zh-CN" sz="2000" b="1" dirty="0" err="1"/>
                <a:t>printf</a:t>
              </a:r>
              <a:r>
                <a:rPr lang="en-US" altLang="zh-CN" sz="2000" b="1" dirty="0"/>
                <a:t> ("sum is %f", c);</a:t>
              </a:r>
            </a:p>
            <a:p>
              <a:pPr eaLnBrk="0" hangingPunct="0"/>
              <a:r>
                <a:rPr lang="en-US" altLang="zh-CN" sz="2000" b="1" dirty="0"/>
                <a:t>    return 0;</a:t>
              </a:r>
            </a:p>
            <a:p>
              <a:pPr eaLnBrk="0" hangingPunct="0"/>
              <a:r>
                <a:rPr lang="en-US" altLang="zh-CN" sz="2000" b="1" dirty="0"/>
                <a:t>}</a:t>
              </a:r>
            </a:p>
          </p:txBody>
        </p:sp>
        <p:sp>
          <p:nvSpPr>
            <p:cNvPr id="1052687" name="AutoShape 15"/>
            <p:cNvSpPr>
              <a:spLocks noChangeArrowheads="1"/>
            </p:cNvSpPr>
            <p:nvPr/>
          </p:nvSpPr>
          <p:spPr bwMode="auto">
            <a:xfrm>
              <a:off x="2373" y="1805"/>
              <a:ext cx="2086" cy="499"/>
            </a:xfrm>
            <a:prstGeom prst="wedgeRoundRectCallout">
              <a:avLst>
                <a:gd name="adj1" fmla="val -59972"/>
                <a:gd name="adj2" fmla="val -130963"/>
                <a:gd name="adj3" fmla="val 16667"/>
              </a:avLst>
            </a:prstGeom>
            <a:gradFill rotWithShape="1">
              <a:gsLst>
                <a:gs pos="0">
                  <a:srgbClr val="CFCFD1"/>
                </a:gs>
                <a:gs pos="100000">
                  <a:srgbClr val="FFFFFF"/>
                </a:gs>
              </a:gsLst>
              <a:lin ang="5400000" scaled="1"/>
            </a:gradFill>
            <a:ln w="2222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被调函数出现在主调函数之前，不必函数说明</a:t>
              </a: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E5026198-0822-4B9C-BD08-6E181536D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75D03C-FF0B-405D-A9F5-43CFFE355D41}"/>
              </a:ext>
            </a:extLst>
          </p:cNvPr>
          <p:cNvSpPr txBox="1"/>
          <p:nvPr/>
        </p:nvSpPr>
        <p:spPr>
          <a:xfrm>
            <a:off x="1726053" y="1415858"/>
            <a:ext cx="8739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建议直接在</a:t>
            </a:r>
            <a:r>
              <a:rPr lang="en-US" altLang="zh-CN" sz="2000" b="1" dirty="0"/>
              <a:t>main</a:t>
            </a:r>
            <a:r>
              <a:rPr lang="zh-CN" altLang="en-US" sz="2000" b="1" dirty="0"/>
              <a:t>函数前定义函数，减少先声明后实现（容易忘记重新定义）</a:t>
            </a:r>
          </a:p>
        </p:txBody>
      </p:sp>
      <p:sp>
        <p:nvSpPr>
          <p:cNvPr id="1052682" name="Rectangle 10" descr="信纸"/>
          <p:cNvSpPr>
            <a:spLocks noChangeArrowheads="1"/>
          </p:cNvSpPr>
          <p:nvPr/>
        </p:nvSpPr>
        <p:spPr bwMode="auto">
          <a:xfrm>
            <a:off x="823073" y="1901300"/>
            <a:ext cx="4431702" cy="470898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  <a:sp3d extrusionH="57150">
              <a:bevelT w="57150" h="38100" prst="hardEdge"/>
            </a:sp3d>
          </a:bodyPr>
          <a:lstStyle/>
          <a:p>
            <a:pPr eaLnBrk="0" hangingPunct="0"/>
            <a:r>
              <a:rPr lang="en-US" altLang="zh-CN" sz="2000" b="1" dirty="0" err="1">
                <a:solidFill>
                  <a:srgbClr val="C00000"/>
                </a:solidFill>
              </a:rPr>
              <a:t>int</a:t>
            </a:r>
            <a:r>
              <a:rPr lang="en-US" altLang="zh-CN" sz="2000" b="1" dirty="0">
                <a:solidFill>
                  <a:srgbClr val="C00000"/>
                </a:solidFill>
              </a:rPr>
              <a:t> main( )</a:t>
            </a:r>
          </a:p>
          <a:p>
            <a:pPr eaLnBrk="0" hangingPunct="0"/>
            <a:r>
              <a:rPr lang="en-US" altLang="zh-CN" sz="2000" b="1" dirty="0"/>
              <a:t>{   </a:t>
            </a:r>
          </a:p>
          <a:p>
            <a:pPr eaLnBrk="0" hangingPunct="0"/>
            <a:r>
              <a:rPr lang="en-US" altLang="zh-CN" sz="2000" b="1" dirty="0">
                <a:solidFill>
                  <a:srgbClr val="FF3399"/>
                </a:solidFill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</a:rPr>
              <a:t>float add(</a:t>
            </a:r>
            <a:r>
              <a:rPr lang="en-US" altLang="zh-CN" sz="2000" b="1" dirty="0" err="1">
                <a:solidFill>
                  <a:srgbClr val="7030A0"/>
                </a:solidFill>
              </a:rPr>
              <a:t>float,float</a:t>
            </a:r>
            <a:r>
              <a:rPr lang="en-US" altLang="zh-CN" sz="2000" b="1" dirty="0">
                <a:solidFill>
                  <a:srgbClr val="7030A0"/>
                </a:solidFill>
              </a:rPr>
              <a:t>);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函数原型声明</a:t>
            </a:r>
          </a:p>
          <a:p>
            <a:pPr eaLnBrk="0" hangingPunct="0"/>
            <a:r>
              <a:rPr lang="zh-CN" altLang="en-US" sz="2000" b="1" dirty="0"/>
              <a:t>    </a:t>
            </a:r>
            <a:r>
              <a:rPr lang="en-US" altLang="zh-CN" sz="2000" b="1" dirty="0"/>
              <a:t>float a, b ,c;</a:t>
            </a:r>
          </a:p>
          <a:p>
            <a:pPr eaLnBrk="0" hangingPunct="0"/>
            <a:r>
              <a:rPr lang="en-US" altLang="zh-CN" sz="2000" b="1" dirty="0"/>
              <a:t>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("%</a:t>
            </a:r>
            <a:r>
              <a:rPr lang="en-US" altLang="zh-CN" sz="2000" b="1" dirty="0" err="1"/>
              <a:t>f,%f</a:t>
            </a:r>
            <a:r>
              <a:rPr lang="en-US" altLang="zh-CN" sz="2000" b="1" dirty="0"/>
              <a:t>", &amp;a, &amp;b);</a:t>
            </a:r>
          </a:p>
          <a:p>
            <a:pPr eaLnBrk="0" hangingPunct="0"/>
            <a:r>
              <a:rPr lang="en-US" altLang="zh-CN" sz="2000" b="1" dirty="0"/>
              <a:t>    c = add (a, b);</a:t>
            </a:r>
          </a:p>
          <a:p>
            <a:pPr eaLnBrk="0" hangingPunct="0"/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("sum is %f", c);</a:t>
            </a:r>
          </a:p>
          <a:p>
            <a:pPr eaLnBrk="0" hangingPunct="0"/>
            <a:r>
              <a:rPr lang="en-US" altLang="zh-CN" sz="2000" b="1" dirty="0"/>
              <a:t>    return 0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}</a:t>
            </a:r>
          </a:p>
          <a:p>
            <a:pPr eaLnBrk="0" hangingPunct="0"/>
            <a:r>
              <a:rPr lang="en-US" altLang="zh-CN" sz="2000" b="1" dirty="0">
                <a:solidFill>
                  <a:srgbClr val="7030A0"/>
                </a:solidFill>
              </a:rPr>
              <a:t>float add (float x, float y)</a:t>
            </a:r>
          </a:p>
          <a:p>
            <a:pPr eaLnBrk="0" hangingPunct="0"/>
            <a:r>
              <a:rPr lang="en-US" altLang="zh-CN" sz="2000" b="1" dirty="0"/>
              <a:t>{   </a:t>
            </a:r>
          </a:p>
          <a:p>
            <a:pPr eaLnBrk="0" hangingPunct="0"/>
            <a:r>
              <a:rPr lang="en-US" altLang="zh-CN" sz="2000" b="1" dirty="0"/>
              <a:t>    float z;</a:t>
            </a:r>
          </a:p>
          <a:p>
            <a:pPr eaLnBrk="0" hangingPunct="0"/>
            <a:r>
              <a:rPr lang="en-US" altLang="zh-CN" sz="2000" b="1" dirty="0"/>
              <a:t>    z = x + y;</a:t>
            </a:r>
          </a:p>
          <a:p>
            <a:pPr eaLnBrk="0" hangingPunct="0"/>
            <a:r>
              <a:rPr lang="en-US" altLang="zh-CN" sz="2000" b="1" dirty="0"/>
              <a:t>    return (z);</a:t>
            </a:r>
          </a:p>
          <a:p>
            <a:pPr eaLnBrk="0" hangingPunct="0"/>
            <a:r>
              <a:rPr lang="en-US" altLang="zh-CN" sz="2000" b="1" dirty="0"/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2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2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68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9" name="Rectangle 3"/>
          <p:cNvSpPr>
            <a:spLocks noChangeArrowheads="1"/>
          </p:cNvSpPr>
          <p:nvPr/>
        </p:nvSpPr>
        <p:spPr bwMode="auto">
          <a:xfrm>
            <a:off x="780985" y="1819672"/>
            <a:ext cx="28667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、值传递方式</a:t>
            </a:r>
          </a:p>
        </p:txBody>
      </p:sp>
      <p:sp>
        <p:nvSpPr>
          <p:cNvPr id="1053716" name="Rectangle 20"/>
          <p:cNvSpPr>
            <a:spLocks noChangeArrowheads="1"/>
          </p:cNvSpPr>
          <p:nvPr/>
        </p:nvSpPr>
        <p:spPr bwMode="auto">
          <a:xfrm>
            <a:off x="495232" y="1095127"/>
            <a:ext cx="11217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根据实参传递给形参值的不同，通常有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值传递方式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地址传递方式</a:t>
            </a:r>
            <a:r>
              <a:rPr lang="zh-CN" altLang="en-US" b="1" dirty="0">
                <a:latin typeface="+mn-lt"/>
                <a:ea typeface="楷体" pitchFamily="49" charset="-122"/>
              </a:rPr>
              <a:t>两种。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53717" name="Rectangle 21"/>
          <p:cNvSpPr>
            <a:spLocks noChangeArrowheads="1"/>
          </p:cNvSpPr>
          <p:nvPr/>
        </p:nvSpPr>
        <p:spPr bwMode="auto">
          <a:xfrm>
            <a:off x="1281051" y="2704852"/>
            <a:ext cx="1012996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方式：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     函数调用时</a:t>
            </a:r>
            <a:r>
              <a:rPr lang="en-US" altLang="zh-CN" b="1" dirty="0">
                <a:latin typeface="+mn-lt"/>
                <a:ea typeface="楷体" pitchFamily="49" charset="-122"/>
              </a:rPr>
              <a:t>,</a:t>
            </a:r>
            <a:r>
              <a:rPr lang="zh-CN" altLang="en-US" b="1" dirty="0">
                <a:latin typeface="+mn-lt"/>
                <a:ea typeface="楷体" pitchFamily="49" charset="-122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形参分配内存单元</a:t>
            </a:r>
            <a:r>
              <a:rPr lang="en-US" altLang="zh-CN" b="1" dirty="0">
                <a:latin typeface="+mn-lt"/>
                <a:ea typeface="楷体" pitchFamily="49" charset="-122"/>
              </a:rPr>
              <a:t>,</a:t>
            </a:r>
            <a:r>
              <a:rPr lang="zh-CN" altLang="en-US" b="1" dirty="0">
                <a:latin typeface="+mn-lt"/>
                <a:ea typeface="楷体" pitchFamily="49" charset="-122"/>
              </a:rPr>
              <a:t>并将实参的值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复制</a:t>
            </a:r>
            <a:r>
              <a:rPr lang="zh-CN" altLang="en-US" b="1" dirty="0">
                <a:latin typeface="+mn-lt"/>
                <a:ea typeface="楷体" pitchFamily="49" charset="-122"/>
              </a:rPr>
              <a:t>到形参中；调用结束，形参单元被释放，实参单元仍保留并维持原值。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特点：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① 形参与实参占用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不同</a:t>
            </a:r>
            <a:r>
              <a:rPr lang="zh-CN" altLang="en-US" b="1" dirty="0">
                <a:latin typeface="+mn-lt"/>
                <a:ea typeface="楷体" pitchFamily="49" charset="-122"/>
              </a:rPr>
              <a:t>的内存单元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latin typeface="+mn-lt"/>
                <a:ea typeface="楷体" pitchFamily="49" charset="-122"/>
              </a:rPr>
              <a:t>②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单向</a:t>
            </a:r>
            <a:r>
              <a:rPr lang="zh-CN" altLang="en-US" b="1" dirty="0">
                <a:latin typeface="+mn-lt"/>
                <a:ea typeface="楷体" pitchFamily="49" charset="-122"/>
              </a:rPr>
              <a:t>传递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295090-67D6-4A96-8AA4-BEC598DB8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3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5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53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537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9" grpId="0"/>
      <p:bldP spid="10537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">
            <a:extLst>
              <a:ext uri="{FF2B5EF4-FFF2-40B4-BE49-F238E27FC236}">
                <a16:creationId xmlns:a16="http://schemas.microsoft.com/office/drawing/2014/main" id="{0693F9DC-DBCD-4A28-ADEE-0D38966E8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  <p:grpSp>
        <p:nvGrpSpPr>
          <p:cNvPr id="1055857" name="Group 113"/>
          <p:cNvGrpSpPr>
            <a:grpSpLocks/>
          </p:cNvGrpSpPr>
          <p:nvPr/>
        </p:nvGrpSpPr>
        <p:grpSpPr bwMode="auto">
          <a:xfrm>
            <a:off x="8830171" y="1366839"/>
            <a:ext cx="2736850" cy="1774825"/>
            <a:chOff x="3923" y="951"/>
            <a:chExt cx="1724" cy="1118"/>
          </a:xfrm>
        </p:grpSpPr>
        <p:sp>
          <p:nvSpPr>
            <p:cNvPr id="1055814" name="Rectangle 70"/>
            <p:cNvSpPr>
              <a:spLocks noChangeArrowheads="1"/>
            </p:cNvSpPr>
            <p:nvPr/>
          </p:nvSpPr>
          <p:spPr bwMode="auto">
            <a:xfrm>
              <a:off x="3923" y="981"/>
              <a:ext cx="1724" cy="1088"/>
            </a:xfrm>
            <a:prstGeom prst="rect">
              <a:avLst/>
            </a:prstGeom>
            <a:gradFill rotWithShape="1">
              <a:gsLst>
                <a:gs pos="0">
                  <a:srgbClr val="CFCFD1">
                    <a:lumMod val="99000"/>
                  </a:srgbClr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055815" name="Group 71"/>
            <p:cNvGrpSpPr>
              <a:grpSpLocks/>
            </p:cNvGrpSpPr>
            <p:nvPr/>
          </p:nvGrpSpPr>
          <p:grpSpPr bwMode="auto">
            <a:xfrm>
              <a:off x="3969" y="1161"/>
              <a:ext cx="590" cy="317"/>
              <a:chOff x="2460" y="12426"/>
              <a:chExt cx="930" cy="492"/>
            </a:xfrm>
          </p:grpSpPr>
          <p:sp>
            <p:nvSpPr>
              <p:cNvPr id="1055816" name="Text Box 72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17" name="Text Box 73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18" name="Group 74"/>
            <p:cNvGrpSpPr>
              <a:grpSpLocks/>
            </p:cNvGrpSpPr>
            <p:nvPr/>
          </p:nvGrpSpPr>
          <p:grpSpPr bwMode="auto">
            <a:xfrm>
              <a:off x="4876" y="1161"/>
              <a:ext cx="613" cy="303"/>
              <a:chOff x="3780" y="12447"/>
              <a:chExt cx="960" cy="477"/>
            </a:xfrm>
          </p:grpSpPr>
          <p:sp>
            <p:nvSpPr>
              <p:cNvPr id="1055819" name="Text Box 75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20" name="Text Box 76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829" name="Text Box 85"/>
            <p:cNvSpPr txBox="1">
              <a:spLocks noChangeArrowheads="1"/>
            </p:cNvSpPr>
            <p:nvPr/>
          </p:nvSpPr>
          <p:spPr bwMode="auto">
            <a:xfrm>
              <a:off x="4406" y="951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②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 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</a:t>
              </a:r>
            </a:p>
          </p:txBody>
        </p:sp>
      </p:grpSp>
      <p:sp>
        <p:nvSpPr>
          <p:cNvPr id="1055746" name="Text Box 2"/>
          <p:cNvSpPr txBox="1">
            <a:spLocks noChangeArrowheads="1"/>
          </p:cNvSpPr>
          <p:nvPr/>
        </p:nvSpPr>
        <p:spPr bwMode="auto">
          <a:xfrm>
            <a:off x="768673" y="836712"/>
            <a:ext cx="49672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交换两个数</a:t>
            </a:r>
            <a:r>
              <a:rPr lang="en-US" altLang="zh-CN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值传递方式</a:t>
            </a:r>
            <a:r>
              <a:rPr lang="en-US" altLang="zh-CN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055753" name="Rectangle 9" descr="信纸"/>
          <p:cNvSpPr>
            <a:spLocks noChangeArrowheads="1"/>
          </p:cNvSpPr>
          <p:nvPr/>
        </p:nvSpPr>
        <p:spPr bwMode="auto">
          <a:xfrm>
            <a:off x="855625" y="729272"/>
            <a:ext cx="7669747" cy="59400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swap (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a,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b); 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x = 7, y = 11;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("before swapped: ");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("x=%d, y=%d\n", x, y);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swap (x, y);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("after  swapped: ");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("x=%d, y=%d\n", x, y);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void swap (</a:t>
            </a:r>
            <a:r>
              <a:rPr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a, </a:t>
            </a:r>
            <a:r>
              <a:rPr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b)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temp;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temp = a;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a = b;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b = temp;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55757" name="Rectangle 13"/>
          <p:cNvSpPr>
            <a:spLocks noChangeArrowheads="1"/>
          </p:cNvSpPr>
          <p:nvPr/>
        </p:nvSpPr>
        <p:spPr bwMode="auto">
          <a:xfrm>
            <a:off x="4910634" y="5343197"/>
            <a:ext cx="3382962" cy="104457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ctr"/>
            <a:r>
              <a:rPr lang="en-US" altLang="zh-CN" sz="2000" b="1" dirty="0"/>
              <a:t>before swapped: x = 7, y = 11</a:t>
            </a:r>
          </a:p>
          <a:p>
            <a:pPr algn="ctr"/>
            <a:r>
              <a:rPr lang="en-US" altLang="zh-CN" sz="2000" b="1" dirty="0"/>
              <a:t>after  swapped:  </a:t>
            </a:r>
            <a:r>
              <a:rPr lang="en-US" altLang="zh-CN" sz="2000" b="1" dirty="0">
                <a:solidFill>
                  <a:srgbClr val="002060"/>
                </a:solidFill>
              </a:rPr>
              <a:t>x = 7, y = 11</a:t>
            </a:r>
          </a:p>
        </p:txBody>
      </p:sp>
      <p:grpSp>
        <p:nvGrpSpPr>
          <p:cNvPr id="1055856" name="Group 112"/>
          <p:cNvGrpSpPr>
            <a:grpSpLocks/>
          </p:cNvGrpSpPr>
          <p:nvPr/>
        </p:nvGrpSpPr>
        <p:grpSpPr bwMode="auto">
          <a:xfrm>
            <a:off x="8830171" y="174625"/>
            <a:ext cx="2736850" cy="1093788"/>
            <a:chOff x="3923" y="110"/>
            <a:chExt cx="1724" cy="689"/>
          </a:xfrm>
        </p:grpSpPr>
        <p:sp>
          <p:nvSpPr>
            <p:cNvPr id="1055813" name="Rectangle 69"/>
            <p:cNvSpPr>
              <a:spLocks noChangeArrowheads="1"/>
            </p:cNvSpPr>
            <p:nvPr/>
          </p:nvSpPr>
          <p:spPr bwMode="auto">
            <a:xfrm>
              <a:off x="3923" y="119"/>
              <a:ext cx="1724" cy="680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055762" name="Group 18"/>
            <p:cNvGrpSpPr>
              <a:grpSpLocks/>
            </p:cNvGrpSpPr>
            <p:nvPr/>
          </p:nvGrpSpPr>
          <p:grpSpPr bwMode="auto">
            <a:xfrm>
              <a:off x="3969" y="373"/>
              <a:ext cx="590" cy="317"/>
              <a:chOff x="2460" y="12426"/>
              <a:chExt cx="930" cy="492"/>
            </a:xfrm>
          </p:grpSpPr>
          <p:sp>
            <p:nvSpPr>
              <p:cNvPr id="1055763" name="Text Box 19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764" name="Text Box 20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765" name="Group 21"/>
            <p:cNvGrpSpPr>
              <a:grpSpLocks/>
            </p:cNvGrpSpPr>
            <p:nvPr/>
          </p:nvGrpSpPr>
          <p:grpSpPr bwMode="auto">
            <a:xfrm>
              <a:off x="4851" y="360"/>
              <a:ext cx="613" cy="303"/>
              <a:chOff x="3780" y="12447"/>
              <a:chExt cx="960" cy="477"/>
            </a:xfrm>
          </p:grpSpPr>
          <p:sp>
            <p:nvSpPr>
              <p:cNvPr id="1055766" name="Text Box 22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767" name="Text Box 23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768" name="Text Box 24"/>
            <p:cNvSpPr txBox="1">
              <a:spLocks noChangeArrowheads="1"/>
            </p:cNvSpPr>
            <p:nvPr/>
          </p:nvSpPr>
          <p:spPr bwMode="auto">
            <a:xfrm>
              <a:off x="4276" y="110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① 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调用前</a:t>
              </a:r>
            </a:p>
          </p:txBody>
        </p:sp>
      </p:grpSp>
      <p:grpSp>
        <p:nvGrpSpPr>
          <p:cNvPr id="1055821" name="Group 77"/>
          <p:cNvGrpSpPr>
            <a:grpSpLocks/>
          </p:cNvGrpSpPr>
          <p:nvPr/>
        </p:nvGrpSpPr>
        <p:grpSpPr bwMode="auto">
          <a:xfrm>
            <a:off x="8904784" y="2544764"/>
            <a:ext cx="936625" cy="503237"/>
            <a:chOff x="2460" y="12426"/>
            <a:chExt cx="930" cy="492"/>
          </a:xfrm>
        </p:grpSpPr>
        <p:sp>
          <p:nvSpPr>
            <p:cNvPr id="1055822" name="Text Box 78"/>
            <p:cNvSpPr txBox="1">
              <a:spLocks noChangeArrowheads="1"/>
            </p:cNvSpPr>
            <p:nvPr/>
          </p:nvSpPr>
          <p:spPr bwMode="auto">
            <a:xfrm>
              <a:off x="2850" y="12450"/>
              <a:ext cx="540" cy="4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7</a:t>
              </a:r>
            </a:p>
          </p:txBody>
        </p:sp>
        <p:sp>
          <p:nvSpPr>
            <p:cNvPr id="1055823" name="Text Box 79"/>
            <p:cNvSpPr txBox="1">
              <a:spLocks noChangeArrowheads="1"/>
            </p:cNvSpPr>
            <p:nvPr/>
          </p:nvSpPr>
          <p:spPr bwMode="auto">
            <a:xfrm>
              <a:off x="2460" y="12426"/>
              <a:ext cx="5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055824" name="Group 80"/>
          <p:cNvGrpSpPr>
            <a:grpSpLocks/>
          </p:cNvGrpSpPr>
          <p:nvPr/>
        </p:nvGrpSpPr>
        <p:grpSpPr bwMode="auto">
          <a:xfrm>
            <a:off x="10363697" y="2503489"/>
            <a:ext cx="936625" cy="503237"/>
            <a:chOff x="2460" y="12426"/>
            <a:chExt cx="930" cy="492"/>
          </a:xfrm>
        </p:grpSpPr>
        <p:sp>
          <p:nvSpPr>
            <p:cNvPr id="1055825" name="Text Box 81"/>
            <p:cNvSpPr txBox="1">
              <a:spLocks noChangeArrowheads="1"/>
            </p:cNvSpPr>
            <p:nvPr/>
          </p:nvSpPr>
          <p:spPr bwMode="auto">
            <a:xfrm>
              <a:off x="2850" y="12450"/>
              <a:ext cx="540" cy="4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</a:t>
              </a:r>
            </a:p>
          </p:txBody>
        </p:sp>
        <p:sp>
          <p:nvSpPr>
            <p:cNvPr id="1055826" name="Text Box 82"/>
            <p:cNvSpPr txBox="1">
              <a:spLocks noChangeArrowheads="1"/>
            </p:cNvSpPr>
            <p:nvPr/>
          </p:nvSpPr>
          <p:spPr bwMode="auto">
            <a:xfrm>
              <a:off x="2460" y="12426"/>
              <a:ext cx="5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</p:grpSp>
      <p:sp>
        <p:nvSpPr>
          <p:cNvPr id="1055827" name="Line 83"/>
          <p:cNvSpPr>
            <a:spLocks noChangeShapeType="1"/>
          </p:cNvSpPr>
          <p:nvPr/>
        </p:nvSpPr>
        <p:spPr bwMode="auto">
          <a:xfrm>
            <a:off x="9550896" y="2205038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28" name="Line 84"/>
          <p:cNvSpPr>
            <a:spLocks noChangeShapeType="1"/>
          </p:cNvSpPr>
          <p:nvPr/>
        </p:nvSpPr>
        <p:spPr bwMode="auto">
          <a:xfrm>
            <a:off x="11019333" y="2160588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055855" name="Group 111"/>
          <p:cNvGrpSpPr>
            <a:grpSpLocks/>
          </p:cNvGrpSpPr>
          <p:nvPr/>
        </p:nvGrpSpPr>
        <p:grpSpPr bwMode="auto">
          <a:xfrm>
            <a:off x="8831758" y="3273425"/>
            <a:ext cx="2736850" cy="2274888"/>
            <a:chOff x="3924" y="2224"/>
            <a:chExt cx="1724" cy="1433"/>
          </a:xfrm>
        </p:grpSpPr>
        <p:sp>
          <p:nvSpPr>
            <p:cNvPr id="1055830" name="Rectangle 86"/>
            <p:cNvSpPr>
              <a:spLocks noChangeArrowheads="1"/>
            </p:cNvSpPr>
            <p:nvPr/>
          </p:nvSpPr>
          <p:spPr bwMode="auto">
            <a:xfrm>
              <a:off x="3924" y="2233"/>
              <a:ext cx="1724" cy="1424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31" name="Text Box 87"/>
            <p:cNvSpPr txBox="1">
              <a:spLocks noChangeArrowheads="1"/>
            </p:cNvSpPr>
            <p:nvPr/>
          </p:nvSpPr>
          <p:spPr bwMode="auto">
            <a:xfrm>
              <a:off x="4332" y="2224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C01920"/>
                  </a:solidFill>
                </a:rPr>
                <a:t>③</a:t>
              </a:r>
              <a:r>
                <a:rPr lang="en-US" altLang="zh-CN" sz="2000" b="1" dirty="0">
                  <a:solidFill>
                    <a:srgbClr val="C0192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000" b="1" dirty="0">
                  <a:solidFill>
                    <a:srgbClr val="C01920"/>
                  </a:solidFill>
                  <a:ea typeface="楷体_GB2312" pitchFamily="49" charset="-122"/>
                </a:rPr>
                <a:t>swap</a:t>
              </a:r>
            </a:p>
          </p:txBody>
        </p:sp>
        <p:grpSp>
          <p:nvGrpSpPr>
            <p:cNvPr id="1055832" name="Group 88"/>
            <p:cNvGrpSpPr>
              <a:grpSpLocks/>
            </p:cNvGrpSpPr>
            <p:nvPr/>
          </p:nvGrpSpPr>
          <p:grpSpPr bwMode="auto">
            <a:xfrm>
              <a:off x="3970" y="2476"/>
              <a:ext cx="590" cy="317"/>
              <a:chOff x="2460" y="12426"/>
              <a:chExt cx="930" cy="492"/>
            </a:xfrm>
          </p:grpSpPr>
          <p:sp>
            <p:nvSpPr>
              <p:cNvPr id="1055833" name="Text Box 89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34" name="Text Box 90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35" name="Group 91"/>
            <p:cNvGrpSpPr>
              <a:grpSpLocks/>
            </p:cNvGrpSpPr>
            <p:nvPr/>
          </p:nvGrpSpPr>
          <p:grpSpPr bwMode="auto">
            <a:xfrm>
              <a:off x="4877" y="2476"/>
              <a:ext cx="613" cy="303"/>
              <a:chOff x="3780" y="12447"/>
              <a:chExt cx="960" cy="477"/>
            </a:xfrm>
          </p:grpSpPr>
          <p:sp>
            <p:nvSpPr>
              <p:cNvPr id="1055836" name="Text Box 92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37" name="Text Box 93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grpSp>
          <p:nvGrpSpPr>
            <p:cNvPr id="1055844" name="Group 100"/>
            <p:cNvGrpSpPr>
              <a:grpSpLocks/>
            </p:cNvGrpSpPr>
            <p:nvPr/>
          </p:nvGrpSpPr>
          <p:grpSpPr bwMode="auto">
            <a:xfrm>
              <a:off x="3971" y="2900"/>
              <a:ext cx="590" cy="317"/>
              <a:chOff x="2460" y="12426"/>
              <a:chExt cx="930" cy="492"/>
            </a:xfrm>
          </p:grpSpPr>
          <p:sp>
            <p:nvSpPr>
              <p:cNvPr id="1055845" name="Text Box 101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46" name="Text Box 102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055847" name="Group 103"/>
            <p:cNvGrpSpPr>
              <a:grpSpLocks/>
            </p:cNvGrpSpPr>
            <p:nvPr/>
          </p:nvGrpSpPr>
          <p:grpSpPr bwMode="auto">
            <a:xfrm>
              <a:off x="4890" y="2874"/>
              <a:ext cx="590" cy="317"/>
              <a:chOff x="2460" y="12426"/>
              <a:chExt cx="930" cy="492"/>
            </a:xfrm>
          </p:grpSpPr>
          <p:sp>
            <p:nvSpPr>
              <p:cNvPr id="1055848" name="Text Box 104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49" name="Text Box 105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055854" name="Group 110"/>
            <p:cNvGrpSpPr>
              <a:grpSpLocks/>
            </p:cNvGrpSpPr>
            <p:nvPr/>
          </p:nvGrpSpPr>
          <p:grpSpPr bwMode="auto">
            <a:xfrm>
              <a:off x="4250" y="3276"/>
              <a:ext cx="780" cy="305"/>
              <a:chOff x="4250" y="3276"/>
              <a:chExt cx="780" cy="305"/>
            </a:xfrm>
          </p:grpSpPr>
          <p:sp>
            <p:nvSpPr>
              <p:cNvPr id="1055851" name="Text Box 107"/>
              <p:cNvSpPr txBox="1">
                <a:spLocks noChangeArrowheads="1"/>
              </p:cNvSpPr>
              <p:nvPr/>
            </p:nvSpPr>
            <p:spPr bwMode="auto">
              <a:xfrm>
                <a:off x="4687" y="3276"/>
                <a:ext cx="343" cy="30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zh-CN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055852" name="Text Box 108"/>
              <p:cNvSpPr txBox="1">
                <a:spLocks noChangeArrowheads="1"/>
              </p:cNvSpPr>
              <p:nvPr/>
            </p:nvSpPr>
            <p:spPr bwMode="auto">
              <a:xfrm>
                <a:off x="4250" y="3279"/>
                <a:ext cx="497" cy="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rgbClr val="008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temp</a:t>
                </a:r>
              </a:p>
            </p:txBody>
          </p:sp>
        </p:grpSp>
      </p:grpSp>
      <p:sp>
        <p:nvSpPr>
          <p:cNvPr id="1055853" name="Text Box 109"/>
          <p:cNvSpPr txBox="1">
            <a:spLocks noChangeArrowheads="1"/>
          </p:cNvSpPr>
          <p:nvPr/>
        </p:nvSpPr>
        <p:spPr bwMode="auto">
          <a:xfrm>
            <a:off x="10054134" y="4943476"/>
            <a:ext cx="544513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sp>
        <p:nvSpPr>
          <p:cNvPr id="1055858" name="Line 114"/>
          <p:cNvSpPr>
            <a:spLocks noChangeShapeType="1"/>
          </p:cNvSpPr>
          <p:nvPr/>
        </p:nvSpPr>
        <p:spPr bwMode="auto">
          <a:xfrm>
            <a:off x="9666784" y="4929188"/>
            <a:ext cx="358775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59" name="Line 115"/>
          <p:cNvSpPr>
            <a:spLocks noChangeShapeType="1"/>
          </p:cNvSpPr>
          <p:nvPr/>
        </p:nvSpPr>
        <p:spPr bwMode="auto">
          <a:xfrm flipH="1">
            <a:off x="9882684" y="4640263"/>
            <a:ext cx="7921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60" name="Text Box 116"/>
          <p:cNvSpPr txBox="1">
            <a:spLocks noChangeArrowheads="1"/>
          </p:cNvSpPr>
          <p:nvPr/>
        </p:nvSpPr>
        <p:spPr bwMode="auto">
          <a:xfrm>
            <a:off x="9306421" y="4367214"/>
            <a:ext cx="544512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1055861" name="Line 117"/>
          <p:cNvSpPr>
            <a:spLocks noChangeShapeType="1"/>
          </p:cNvSpPr>
          <p:nvPr/>
        </p:nvSpPr>
        <p:spPr bwMode="auto">
          <a:xfrm flipV="1">
            <a:off x="10630397" y="4827588"/>
            <a:ext cx="288925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62" name="Text Box 118"/>
          <p:cNvSpPr txBox="1">
            <a:spLocks noChangeArrowheads="1"/>
          </p:cNvSpPr>
          <p:nvPr/>
        </p:nvSpPr>
        <p:spPr bwMode="auto">
          <a:xfrm>
            <a:off x="10760571" y="4324351"/>
            <a:ext cx="544512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grpSp>
        <p:nvGrpSpPr>
          <p:cNvPr id="1055872" name="Group 128"/>
          <p:cNvGrpSpPr>
            <a:grpSpLocks/>
          </p:cNvGrpSpPr>
          <p:nvPr/>
        </p:nvGrpSpPr>
        <p:grpSpPr bwMode="auto">
          <a:xfrm>
            <a:off x="8830171" y="5664200"/>
            <a:ext cx="2736850" cy="1093788"/>
            <a:chOff x="3923" y="3577"/>
            <a:chExt cx="1724" cy="689"/>
          </a:xfrm>
        </p:grpSpPr>
        <p:sp>
          <p:nvSpPr>
            <p:cNvPr id="1055864" name="Rectangle 120"/>
            <p:cNvSpPr>
              <a:spLocks noChangeArrowheads="1"/>
            </p:cNvSpPr>
            <p:nvPr/>
          </p:nvSpPr>
          <p:spPr bwMode="auto">
            <a:xfrm>
              <a:off x="3923" y="3586"/>
              <a:ext cx="1724" cy="680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55865" name="Group 121"/>
            <p:cNvGrpSpPr>
              <a:grpSpLocks/>
            </p:cNvGrpSpPr>
            <p:nvPr/>
          </p:nvGrpSpPr>
          <p:grpSpPr bwMode="auto">
            <a:xfrm>
              <a:off x="3969" y="3840"/>
              <a:ext cx="590" cy="317"/>
              <a:chOff x="2460" y="12426"/>
              <a:chExt cx="930" cy="492"/>
            </a:xfrm>
          </p:grpSpPr>
          <p:sp>
            <p:nvSpPr>
              <p:cNvPr id="1055866" name="Text Box 122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67" name="Text Box 123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68" name="Group 124"/>
            <p:cNvGrpSpPr>
              <a:grpSpLocks/>
            </p:cNvGrpSpPr>
            <p:nvPr/>
          </p:nvGrpSpPr>
          <p:grpSpPr bwMode="auto">
            <a:xfrm>
              <a:off x="4851" y="3827"/>
              <a:ext cx="613" cy="303"/>
              <a:chOff x="3780" y="12447"/>
              <a:chExt cx="960" cy="477"/>
            </a:xfrm>
          </p:grpSpPr>
          <p:sp>
            <p:nvSpPr>
              <p:cNvPr id="1055869" name="Text Box 125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70" name="Text Box 126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871" name="Text Box 127"/>
            <p:cNvSpPr txBox="1">
              <a:spLocks noChangeArrowheads="1"/>
            </p:cNvSpPr>
            <p:nvPr/>
          </p:nvSpPr>
          <p:spPr bwMode="auto">
            <a:xfrm>
              <a:off x="4276" y="3577"/>
              <a:ext cx="1053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④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 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调用结束</a:t>
              </a:r>
            </a:p>
          </p:txBody>
        </p:sp>
      </p:grpSp>
      <p:sp>
        <p:nvSpPr>
          <p:cNvPr id="1055873" name="AutoShape 129"/>
          <p:cNvSpPr>
            <a:spLocks noChangeArrowheads="1"/>
          </p:cNvSpPr>
          <p:nvPr/>
        </p:nvSpPr>
        <p:spPr bwMode="auto">
          <a:xfrm>
            <a:off x="3487698" y="3933825"/>
            <a:ext cx="2159000" cy="1079500"/>
          </a:xfrm>
          <a:prstGeom prst="cloudCallout">
            <a:avLst>
              <a:gd name="adj1" fmla="val 101182"/>
              <a:gd name="adj2" fmla="val 103950"/>
            </a:avLst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5400">
            <a:solidFill>
              <a:srgbClr val="C0192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en-US" altLang="zh-CN" sz="2800" b="1">
                <a:solidFill>
                  <a:srgbClr val="C01920"/>
                </a:solidFill>
              </a:rPr>
              <a:t>Why?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5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5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055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55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55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055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55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055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055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55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55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55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0558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55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55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055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0558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53" grpId="0" animBg="1"/>
      <p:bldP spid="1055757" grpId="0" animBg="1"/>
      <p:bldP spid="1055827" grpId="0" animBg="1"/>
      <p:bldP spid="1055828" grpId="0" animBg="1"/>
      <p:bldP spid="1055853" grpId="0" animBg="1"/>
      <p:bldP spid="1055858" grpId="0" animBg="1"/>
      <p:bldP spid="1055859" grpId="0" animBg="1"/>
      <p:bldP spid="1055860" grpId="0" animBg="1"/>
      <p:bldP spid="1055861" grpId="0" animBg="1"/>
      <p:bldP spid="1055862" grpId="0" animBg="1"/>
      <p:bldP spid="10558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ChangeArrowheads="1"/>
          </p:cNvSpPr>
          <p:nvPr/>
        </p:nvSpPr>
        <p:spPr bwMode="auto">
          <a:xfrm>
            <a:off x="767408" y="838844"/>
            <a:ext cx="4189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、地址传递方式</a:t>
            </a:r>
          </a:p>
        </p:txBody>
      </p:sp>
      <p:sp>
        <p:nvSpPr>
          <p:cNvPr id="1056776" name="Rectangle 8"/>
          <p:cNvSpPr>
            <a:spLocks noChangeArrowheads="1"/>
          </p:cNvSpPr>
          <p:nvPr/>
        </p:nvSpPr>
        <p:spPr bwMode="auto">
          <a:xfrm>
            <a:off x="1196489" y="1327408"/>
            <a:ext cx="106601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方式：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  函数调用时，将数据的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存储地址</a:t>
            </a:r>
            <a:r>
              <a:rPr lang="zh-CN" altLang="en-US" b="1" dirty="0">
                <a:latin typeface="+mn-lt"/>
                <a:ea typeface="楷体" pitchFamily="49" charset="-122"/>
              </a:rPr>
              <a:t>作为参数传递给形参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endParaRPr lang="zh-CN" altLang="en-US" b="1" dirty="0">
              <a:latin typeface="+mn-lt"/>
              <a:ea typeface="楷体" pitchFamily="49" charset="-122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特点：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① 形参与实参占用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同样</a:t>
            </a:r>
            <a:r>
              <a:rPr lang="zh-CN" altLang="en-US" b="1" dirty="0">
                <a:latin typeface="+mn-lt"/>
                <a:ea typeface="楷体" pitchFamily="49" charset="-122"/>
              </a:rPr>
              <a:t>的存储单元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latin typeface="+mn-lt"/>
                <a:ea typeface="楷体" pitchFamily="49" charset="-122"/>
              </a:rPr>
              <a:t>②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双向</a:t>
            </a:r>
            <a:r>
              <a:rPr lang="zh-CN" altLang="en-US" b="1" dirty="0">
                <a:latin typeface="+mn-lt"/>
                <a:ea typeface="楷体" pitchFamily="49" charset="-122"/>
              </a:rPr>
              <a:t>传递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③ 实参和形参必须是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地址</a:t>
            </a:r>
            <a:r>
              <a:rPr lang="zh-CN" altLang="en-US" b="1" dirty="0">
                <a:latin typeface="+mn-lt"/>
                <a:ea typeface="楷体" pitchFamily="49" charset="-122"/>
              </a:rPr>
              <a:t>常量或变量</a:t>
            </a:r>
          </a:p>
        </p:txBody>
      </p:sp>
      <p:sp>
        <p:nvSpPr>
          <p:cNvPr id="1056777" name="Rectangle 9"/>
          <p:cNvSpPr>
            <a:spLocks noChangeArrowheads="1"/>
          </p:cNvSpPr>
          <p:nvPr/>
        </p:nvSpPr>
        <p:spPr bwMode="auto">
          <a:xfrm>
            <a:off x="1371785" y="4035363"/>
            <a:ext cx="10075867" cy="2308324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indent="266700">
              <a:tabLst>
                <a:tab pos="457200" algn="l"/>
              </a:tabLst>
            </a:pPr>
            <a:r>
              <a:rPr lang="zh-CN" altLang="en-US" b="1" u="sng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用数组名作为函数参数时还应注意以下几点：</a:t>
            </a:r>
            <a:endParaRPr lang="zh-CN" altLang="en-US" b="1" dirty="0">
              <a:solidFill>
                <a:srgbClr val="C01920"/>
              </a:solidFill>
              <a:latin typeface="隶书" pitchFamily="49" charset="-122"/>
              <a:ea typeface="隶书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形参数组和实参数组的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类型必须一致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，否则将引起错误。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形参数组和实参数组的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长度可以不相同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，因为在调用时，只传送首地址而不检查形参数组的长度。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多维数组也可以作为函数的参数。在函数定义时对形参数组可以指定每一维的长度，也可省去第一维的长度。   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020F413-459A-49CC-AFA3-147299AD9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56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5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56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56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56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1" grpId="0"/>
      <p:bldP spid="105677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27" name="Text Box 11"/>
          <p:cNvSpPr txBox="1">
            <a:spLocks noChangeArrowheads="1"/>
          </p:cNvSpPr>
          <p:nvPr/>
        </p:nvSpPr>
        <p:spPr bwMode="auto">
          <a:xfrm>
            <a:off x="443377" y="797803"/>
            <a:ext cx="113052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将任意两个字符串连接成一个字符串</a:t>
            </a:r>
            <a:r>
              <a:rPr lang="zh-CN" altLang="zh-CN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数组名作为函数参数实现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地址传递方式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058831" name="Rectangle 15" descr="信纸"/>
          <p:cNvSpPr>
            <a:spLocks noChangeArrowheads="1"/>
          </p:cNvSpPr>
          <p:nvPr/>
        </p:nvSpPr>
        <p:spPr bwMode="auto">
          <a:xfrm>
            <a:off x="1558349" y="908720"/>
            <a:ext cx="9265320" cy="563231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#include &lt;</a:t>
            </a:r>
            <a:r>
              <a:rPr lang="en-US" altLang="zh-CN" sz="1800" b="1" dirty="0" err="1">
                <a:ea typeface="楷体_GB2312" pitchFamily="49" charset="-122"/>
              </a:rPr>
              <a:t>stdio.h</a:t>
            </a:r>
            <a:r>
              <a:rPr lang="en-US" altLang="zh-CN" sz="18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void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mergestr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(char s1[ ], char s2[ ], char s3[ ]);</a:t>
            </a:r>
            <a:r>
              <a:rPr lang="en-US" altLang="zh-CN" sz="1800" b="1" dirty="0">
                <a:ea typeface="楷体_GB2312" pitchFamily="49" charset="-122"/>
              </a:rPr>
              <a:t>  </a:t>
            </a:r>
          </a:p>
          <a:p>
            <a:pPr marL="457200" indent="-457200"/>
            <a:r>
              <a:rPr lang="en-US" altLang="zh-CN" sz="18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char str1[ ] = {"Hello "};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char str2[ ] = {"china!"};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char str3[40];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</a:t>
            </a:r>
            <a:r>
              <a:rPr lang="en-US" altLang="zh-CN" sz="1800" b="1" dirty="0" err="1">
                <a:ea typeface="楷体_GB2312" pitchFamily="49" charset="-122"/>
              </a:rPr>
              <a:t>mergestr</a:t>
            </a:r>
            <a:r>
              <a:rPr lang="en-US" altLang="zh-CN" sz="1800" b="1" dirty="0">
                <a:ea typeface="楷体_GB2312" pitchFamily="49" charset="-122"/>
              </a:rPr>
              <a:t> (str1, str2, str3); 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</a:t>
            </a:r>
            <a:r>
              <a:rPr lang="en-US" altLang="zh-CN" sz="1800" b="1" dirty="0" err="1">
                <a:ea typeface="楷体_GB2312" pitchFamily="49" charset="-122"/>
              </a:rPr>
              <a:t>printf</a:t>
            </a:r>
            <a:r>
              <a:rPr lang="en-US" altLang="zh-CN" sz="1800" b="1" dirty="0">
                <a:ea typeface="楷体_GB2312" pitchFamily="49" charset="-122"/>
              </a:rPr>
              <a:t> ("%s\n", str3);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void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mergestr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(char s1[ ], char s2[ ], char s3[ ]) 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int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, j;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for (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= 0; s1[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!= '\0';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++)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s1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复制到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s3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lang="zh-CN" altLang="en-US" sz="1800" b="1" dirty="0">
                <a:solidFill>
                  <a:srgbClr val="008000"/>
                </a:solidFill>
                <a:ea typeface="楷体_GB2312" pitchFamily="49" charset="-122"/>
              </a:rPr>
              <a:t>        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s3[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= s1[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for (j = 0; s2[j] != '\0'; j++)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s2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复制到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s3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的后边</a:t>
            </a:r>
          </a:p>
          <a:p>
            <a:pPr marL="457200" indent="-457200"/>
            <a:r>
              <a:rPr lang="zh-CN" altLang="en-US" sz="1800" b="1" dirty="0">
                <a:solidFill>
                  <a:srgbClr val="008000"/>
                </a:solidFill>
                <a:ea typeface="楷体_GB2312" pitchFamily="49" charset="-122"/>
              </a:rPr>
              <a:t>        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s3[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i+j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= s2[j];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s3[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i+j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= '\0';          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058884" name="Rectangle 68"/>
          <p:cNvSpPr>
            <a:spLocks noChangeArrowheads="1"/>
          </p:cNvSpPr>
          <p:nvPr/>
        </p:nvSpPr>
        <p:spPr bwMode="auto">
          <a:xfrm>
            <a:off x="7790541" y="5661248"/>
            <a:ext cx="2808312" cy="707886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rgbClr val="002060"/>
                </a:solidFill>
              </a:rPr>
              <a:t>Hello china!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9FE5FBE-99F7-4331-8CE2-1599E25D1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8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8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31" grpId="0" animBg="1"/>
      <p:bldP spid="105888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941" name="Group 101"/>
          <p:cNvGrpSpPr>
            <a:grpSpLocks/>
          </p:cNvGrpSpPr>
          <p:nvPr/>
        </p:nvGrpSpPr>
        <p:grpSpPr bwMode="auto">
          <a:xfrm>
            <a:off x="2270249" y="1935186"/>
            <a:ext cx="588962" cy="639762"/>
            <a:chOff x="840" y="800"/>
            <a:chExt cx="371" cy="403"/>
          </a:xfrm>
        </p:grpSpPr>
        <p:sp>
          <p:nvSpPr>
            <p:cNvPr id="1059933" name="Line 93"/>
            <p:cNvSpPr>
              <a:spLocks noChangeShapeType="1"/>
            </p:cNvSpPr>
            <p:nvPr/>
          </p:nvSpPr>
          <p:spPr bwMode="auto">
            <a:xfrm>
              <a:off x="984" y="999"/>
              <a:ext cx="0" cy="2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059934" name="Text Box 94"/>
            <p:cNvSpPr txBox="1">
              <a:spLocks noChangeArrowheads="1"/>
            </p:cNvSpPr>
            <p:nvPr/>
          </p:nvSpPr>
          <p:spPr bwMode="auto">
            <a:xfrm>
              <a:off x="840" y="80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2060"/>
                  </a:solidFill>
                </a:rPr>
                <a:t>str1</a:t>
              </a:r>
            </a:p>
          </p:txBody>
        </p:sp>
      </p:grpSp>
      <p:grpSp>
        <p:nvGrpSpPr>
          <p:cNvPr id="1059942" name="Group 102"/>
          <p:cNvGrpSpPr>
            <a:grpSpLocks/>
          </p:cNvGrpSpPr>
          <p:nvPr/>
        </p:nvGrpSpPr>
        <p:grpSpPr bwMode="auto">
          <a:xfrm>
            <a:off x="6596187" y="1935186"/>
            <a:ext cx="588963" cy="639762"/>
            <a:chOff x="3097" y="800"/>
            <a:chExt cx="371" cy="403"/>
          </a:xfrm>
        </p:grpSpPr>
        <p:sp>
          <p:nvSpPr>
            <p:cNvPr id="1059935" name="Line 95"/>
            <p:cNvSpPr>
              <a:spLocks noChangeShapeType="1"/>
            </p:cNvSpPr>
            <p:nvPr/>
          </p:nvSpPr>
          <p:spPr bwMode="auto">
            <a:xfrm>
              <a:off x="3270" y="999"/>
              <a:ext cx="0" cy="2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059936" name="Text Box 96"/>
            <p:cNvSpPr txBox="1">
              <a:spLocks noChangeArrowheads="1"/>
            </p:cNvSpPr>
            <p:nvPr/>
          </p:nvSpPr>
          <p:spPr bwMode="auto">
            <a:xfrm>
              <a:off x="3097" y="80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2060"/>
                  </a:solidFill>
                </a:rPr>
                <a:t>str2</a:t>
              </a:r>
            </a:p>
          </p:txBody>
        </p:sp>
      </p:grpSp>
      <p:grpSp>
        <p:nvGrpSpPr>
          <p:cNvPr id="1059946" name="Group 106"/>
          <p:cNvGrpSpPr>
            <a:grpSpLocks/>
          </p:cNvGrpSpPr>
          <p:nvPr/>
        </p:nvGrpSpPr>
        <p:grpSpPr bwMode="auto">
          <a:xfrm>
            <a:off x="2209924" y="4727598"/>
            <a:ext cx="588962" cy="596900"/>
            <a:chOff x="748" y="2415"/>
            <a:chExt cx="371" cy="376"/>
          </a:xfrm>
        </p:grpSpPr>
        <p:sp>
          <p:nvSpPr>
            <p:cNvPr id="1059944" name="Line 104"/>
            <p:cNvSpPr>
              <a:spLocks noChangeShapeType="1"/>
            </p:cNvSpPr>
            <p:nvPr/>
          </p:nvSpPr>
          <p:spPr bwMode="auto">
            <a:xfrm rot="-10800000">
              <a:off x="930" y="2415"/>
              <a:ext cx="0" cy="2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1059945" name="Text Box 105"/>
            <p:cNvSpPr txBox="1">
              <a:spLocks noChangeArrowheads="1"/>
            </p:cNvSpPr>
            <p:nvPr/>
          </p:nvSpPr>
          <p:spPr bwMode="auto">
            <a:xfrm>
              <a:off x="748" y="256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002060"/>
                  </a:solidFill>
                </a:rPr>
                <a:t>str3</a:t>
              </a:r>
            </a:p>
          </p:txBody>
        </p:sp>
      </p:grpSp>
      <p:graphicFrame>
        <p:nvGraphicFramePr>
          <p:cNvPr id="1060046" name="Group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151408"/>
              </p:ext>
            </p:extLst>
          </p:nvPr>
        </p:nvGraphicFramePr>
        <p:xfrm>
          <a:off x="2225799" y="4229844"/>
          <a:ext cx="7931150" cy="49530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50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AA1B9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0037" name="Group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264301"/>
              </p:ext>
            </p:extLst>
          </p:nvPr>
        </p:nvGraphicFramePr>
        <p:xfrm>
          <a:off x="2224211" y="2593999"/>
          <a:ext cx="3816350" cy="504825"/>
        </p:xfrm>
        <a:graphic>
          <a:graphicData uri="http://schemas.openxmlformats.org/drawingml/2006/table">
            <a:tbl>
              <a:tblPr/>
              <a:tblGrid>
                <a:gridCol w="54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'H'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'e'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'l'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'l'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'o'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 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0043" name="Group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69560"/>
              </p:ext>
            </p:extLst>
          </p:nvPr>
        </p:nvGraphicFramePr>
        <p:xfrm>
          <a:off x="6627937" y="2600348"/>
          <a:ext cx="3527425" cy="482600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'c'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'h'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'i'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'n'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'a'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'!'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60049" name="Group 209"/>
          <p:cNvGrpSpPr>
            <a:grpSpLocks/>
          </p:cNvGrpSpPr>
          <p:nvPr/>
        </p:nvGrpSpPr>
        <p:grpSpPr bwMode="auto">
          <a:xfrm>
            <a:off x="1703512" y="1917723"/>
            <a:ext cx="519113" cy="617538"/>
            <a:chOff x="249" y="573"/>
            <a:chExt cx="327" cy="389"/>
          </a:xfrm>
        </p:grpSpPr>
        <p:sp>
          <p:nvSpPr>
            <p:cNvPr id="1060047" name="Line 207"/>
            <p:cNvSpPr>
              <a:spLocks noChangeShapeType="1"/>
            </p:cNvSpPr>
            <p:nvPr/>
          </p:nvSpPr>
          <p:spPr bwMode="auto">
            <a:xfrm>
              <a:off x="394" y="781"/>
              <a:ext cx="182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48" name="Text Box 208"/>
            <p:cNvSpPr txBox="1">
              <a:spLocks noChangeArrowheads="1"/>
            </p:cNvSpPr>
            <p:nvPr/>
          </p:nvSpPr>
          <p:spPr bwMode="auto">
            <a:xfrm>
              <a:off x="249" y="5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s1</a:t>
              </a:r>
            </a:p>
          </p:txBody>
        </p:sp>
      </p:grpSp>
      <p:grpSp>
        <p:nvGrpSpPr>
          <p:cNvPr id="1060050" name="Group 210"/>
          <p:cNvGrpSpPr>
            <a:grpSpLocks/>
          </p:cNvGrpSpPr>
          <p:nvPr/>
        </p:nvGrpSpPr>
        <p:grpSpPr bwMode="auto">
          <a:xfrm>
            <a:off x="6065962" y="1944712"/>
            <a:ext cx="519113" cy="617537"/>
            <a:chOff x="249" y="573"/>
            <a:chExt cx="327" cy="389"/>
          </a:xfrm>
        </p:grpSpPr>
        <p:sp>
          <p:nvSpPr>
            <p:cNvPr id="1060051" name="Line 211"/>
            <p:cNvSpPr>
              <a:spLocks noChangeShapeType="1"/>
            </p:cNvSpPr>
            <p:nvPr/>
          </p:nvSpPr>
          <p:spPr bwMode="auto">
            <a:xfrm>
              <a:off x="394" y="781"/>
              <a:ext cx="182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52" name="Text Box 212"/>
            <p:cNvSpPr txBox="1">
              <a:spLocks noChangeArrowheads="1"/>
            </p:cNvSpPr>
            <p:nvPr/>
          </p:nvSpPr>
          <p:spPr bwMode="auto">
            <a:xfrm>
              <a:off x="249" y="5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s2</a:t>
              </a:r>
            </a:p>
          </p:txBody>
        </p:sp>
      </p:grpSp>
      <p:grpSp>
        <p:nvGrpSpPr>
          <p:cNvPr id="1060060" name="Group 220"/>
          <p:cNvGrpSpPr>
            <a:grpSpLocks/>
          </p:cNvGrpSpPr>
          <p:nvPr/>
        </p:nvGrpSpPr>
        <p:grpSpPr bwMode="auto">
          <a:xfrm>
            <a:off x="1733675" y="4752999"/>
            <a:ext cx="460375" cy="669925"/>
            <a:chOff x="268" y="2323"/>
            <a:chExt cx="290" cy="422"/>
          </a:xfrm>
        </p:grpSpPr>
        <p:sp>
          <p:nvSpPr>
            <p:cNvPr id="1060053" name="Line 213"/>
            <p:cNvSpPr>
              <a:spLocks noChangeShapeType="1"/>
            </p:cNvSpPr>
            <p:nvPr/>
          </p:nvSpPr>
          <p:spPr bwMode="auto">
            <a:xfrm flipV="1">
              <a:off x="385" y="2323"/>
              <a:ext cx="173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56" name="Text Box 216"/>
            <p:cNvSpPr txBox="1">
              <a:spLocks noChangeArrowheads="1"/>
            </p:cNvSpPr>
            <p:nvPr/>
          </p:nvSpPr>
          <p:spPr bwMode="auto">
            <a:xfrm>
              <a:off x="268" y="251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s3</a:t>
              </a:r>
            </a:p>
          </p:txBody>
        </p:sp>
      </p:grpSp>
      <p:sp>
        <p:nvSpPr>
          <p:cNvPr id="1060061" name="Text Box 221"/>
          <p:cNvSpPr txBox="1">
            <a:spLocks noChangeArrowheads="1"/>
          </p:cNvSpPr>
          <p:nvPr/>
        </p:nvSpPr>
        <p:spPr bwMode="auto">
          <a:xfrm>
            <a:off x="2055937" y="1039836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2060"/>
                </a:solidFill>
                <a:ea typeface="隶书" pitchFamily="49" charset="-122"/>
              </a:rPr>
              <a:t>调用前</a:t>
            </a:r>
          </a:p>
        </p:txBody>
      </p:sp>
      <p:sp>
        <p:nvSpPr>
          <p:cNvPr id="1060062" name="Line 222"/>
          <p:cNvSpPr>
            <a:spLocks noChangeShapeType="1"/>
          </p:cNvSpPr>
          <p:nvPr/>
        </p:nvSpPr>
        <p:spPr bwMode="auto">
          <a:xfrm>
            <a:off x="3351336" y="1343048"/>
            <a:ext cx="647700" cy="0"/>
          </a:xfrm>
          <a:prstGeom prst="line">
            <a:avLst/>
          </a:prstGeom>
          <a:noFill/>
          <a:ln w="28575">
            <a:solidFill>
              <a:srgbClr val="C0192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>
              <a:solidFill>
                <a:srgbClr val="C019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0063" name="Text Box 223"/>
          <p:cNvSpPr txBox="1">
            <a:spLocks noChangeArrowheads="1"/>
          </p:cNvSpPr>
          <p:nvPr/>
        </p:nvSpPr>
        <p:spPr bwMode="auto">
          <a:xfrm>
            <a:off x="3957762" y="1041424"/>
            <a:ext cx="10080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1920"/>
                </a:solidFill>
                <a:ea typeface="隶书" pitchFamily="49" charset="-122"/>
              </a:rPr>
              <a:t>调用</a:t>
            </a:r>
          </a:p>
        </p:txBody>
      </p:sp>
      <p:sp>
        <p:nvSpPr>
          <p:cNvPr id="1060064" name="Line 224"/>
          <p:cNvSpPr>
            <a:spLocks noChangeShapeType="1"/>
          </p:cNvSpPr>
          <p:nvPr/>
        </p:nvSpPr>
        <p:spPr bwMode="auto">
          <a:xfrm>
            <a:off x="4864224" y="1357336"/>
            <a:ext cx="647700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65" name="Text Box 225"/>
          <p:cNvSpPr txBox="1">
            <a:spLocks noChangeArrowheads="1"/>
          </p:cNvSpPr>
          <p:nvPr/>
        </p:nvSpPr>
        <p:spPr bwMode="auto">
          <a:xfrm>
            <a:off x="5483349" y="1041424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连接</a:t>
            </a:r>
          </a:p>
        </p:txBody>
      </p:sp>
      <p:sp>
        <p:nvSpPr>
          <p:cNvPr id="1060066" name="AutoShape 226"/>
          <p:cNvSpPr>
            <a:spLocks/>
          </p:cNvSpPr>
          <p:nvPr/>
        </p:nvSpPr>
        <p:spPr bwMode="auto">
          <a:xfrm rot="-5400000">
            <a:off x="3633911" y="1833586"/>
            <a:ext cx="287338" cy="2881312"/>
          </a:xfrm>
          <a:prstGeom prst="leftBrace">
            <a:avLst>
              <a:gd name="adj1" fmla="val 83563"/>
              <a:gd name="adj2" fmla="val 50000"/>
            </a:avLst>
          </a:prstGeom>
          <a:noFill/>
          <a:ln w="25400">
            <a:solidFill>
              <a:srgbClr val="BEDFC4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67" name="AutoShape 227"/>
          <p:cNvSpPr>
            <a:spLocks noChangeArrowheads="1"/>
          </p:cNvSpPr>
          <p:nvPr/>
        </p:nvSpPr>
        <p:spPr bwMode="auto">
          <a:xfrm rot="5400000">
            <a:off x="3453730" y="3598092"/>
            <a:ext cx="649288" cy="431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BEDFC4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68" name="Rectangle 228"/>
          <p:cNvSpPr>
            <a:spLocks noChangeArrowheads="1"/>
          </p:cNvSpPr>
          <p:nvPr/>
        </p:nvSpPr>
        <p:spPr bwMode="auto">
          <a:xfrm>
            <a:off x="2236911" y="4252937"/>
            <a:ext cx="520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7030A0"/>
                </a:solidFill>
              </a:rPr>
              <a:t>'H'</a:t>
            </a:r>
          </a:p>
        </p:txBody>
      </p:sp>
      <p:sp>
        <p:nvSpPr>
          <p:cNvPr id="1060069" name="Rectangle 229"/>
          <p:cNvSpPr>
            <a:spLocks noChangeArrowheads="1"/>
          </p:cNvSpPr>
          <p:nvPr/>
        </p:nvSpPr>
        <p:spPr bwMode="auto">
          <a:xfrm>
            <a:off x="2827462" y="4252937"/>
            <a:ext cx="436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'e'</a:t>
            </a:r>
          </a:p>
        </p:txBody>
      </p:sp>
      <p:sp>
        <p:nvSpPr>
          <p:cNvPr id="1060070" name="Rectangle 230"/>
          <p:cNvSpPr>
            <a:spLocks noChangeArrowheads="1"/>
          </p:cNvSpPr>
          <p:nvPr/>
        </p:nvSpPr>
        <p:spPr bwMode="auto">
          <a:xfrm>
            <a:off x="3373561" y="4252937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'l'</a:t>
            </a:r>
          </a:p>
        </p:txBody>
      </p:sp>
      <p:sp>
        <p:nvSpPr>
          <p:cNvPr id="1060071" name="Rectangle 231"/>
          <p:cNvSpPr>
            <a:spLocks noChangeArrowheads="1"/>
          </p:cNvSpPr>
          <p:nvPr/>
        </p:nvSpPr>
        <p:spPr bwMode="auto">
          <a:xfrm>
            <a:off x="3903786" y="4240237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'l'</a:t>
            </a:r>
          </a:p>
        </p:txBody>
      </p:sp>
      <p:sp>
        <p:nvSpPr>
          <p:cNvPr id="1060072" name="Rectangle 232"/>
          <p:cNvSpPr>
            <a:spLocks noChangeArrowheads="1"/>
          </p:cNvSpPr>
          <p:nvPr/>
        </p:nvSpPr>
        <p:spPr bwMode="auto">
          <a:xfrm>
            <a:off x="4397499" y="4240237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'o'</a:t>
            </a:r>
          </a:p>
        </p:txBody>
      </p:sp>
      <p:sp>
        <p:nvSpPr>
          <p:cNvPr id="1060073" name="Rectangle 233"/>
          <p:cNvSpPr>
            <a:spLocks noChangeArrowheads="1"/>
          </p:cNvSpPr>
          <p:nvPr/>
        </p:nvSpPr>
        <p:spPr bwMode="auto">
          <a:xfrm>
            <a:off x="4972174" y="4252937"/>
            <a:ext cx="387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 '</a:t>
            </a:r>
          </a:p>
        </p:txBody>
      </p:sp>
      <p:grpSp>
        <p:nvGrpSpPr>
          <p:cNvPr id="1060076" name="Group 236"/>
          <p:cNvGrpSpPr>
            <a:grpSpLocks/>
          </p:cNvGrpSpPr>
          <p:nvPr/>
        </p:nvGrpSpPr>
        <p:grpSpPr bwMode="auto">
          <a:xfrm>
            <a:off x="2265487" y="4714899"/>
            <a:ext cx="3743325" cy="1508125"/>
            <a:chOff x="612" y="2614"/>
            <a:chExt cx="2358" cy="950"/>
          </a:xfrm>
        </p:grpSpPr>
        <p:sp>
          <p:nvSpPr>
            <p:cNvPr id="1060074" name="Rectangle 234"/>
            <p:cNvSpPr>
              <a:spLocks noChangeArrowheads="1"/>
            </p:cNvSpPr>
            <p:nvPr/>
          </p:nvSpPr>
          <p:spPr bwMode="auto">
            <a:xfrm>
              <a:off x="612" y="3022"/>
              <a:ext cx="2358" cy="542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accent1">
                      <a:lumMod val="50000"/>
                    </a:schemeClr>
                  </a:solidFill>
                </a:rPr>
                <a:t>for (i = 0; s1[i] != '\0'; i++) </a:t>
              </a:r>
            </a:p>
            <a:p>
              <a:r>
                <a:rPr lang="en-US" altLang="zh-CN" b="1">
                  <a:solidFill>
                    <a:schemeClr val="accent1">
                      <a:lumMod val="50000"/>
                    </a:schemeClr>
                  </a:solidFill>
                </a:rPr>
                <a:t>      s3[i] = s1[i];</a:t>
              </a:r>
            </a:p>
          </p:txBody>
        </p:sp>
        <p:sp>
          <p:nvSpPr>
            <p:cNvPr id="1060075" name="Line 235"/>
            <p:cNvSpPr>
              <a:spLocks noChangeShapeType="1"/>
            </p:cNvSpPr>
            <p:nvPr/>
          </p:nvSpPr>
          <p:spPr bwMode="auto">
            <a:xfrm>
              <a:off x="1383" y="2614"/>
              <a:ext cx="272" cy="40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77" name="AutoShape 237"/>
          <p:cNvSpPr>
            <a:spLocks/>
          </p:cNvSpPr>
          <p:nvPr/>
        </p:nvSpPr>
        <p:spPr bwMode="auto">
          <a:xfrm rot="-5400000">
            <a:off x="7955086" y="1805011"/>
            <a:ext cx="287338" cy="2881312"/>
          </a:xfrm>
          <a:prstGeom prst="leftBrace">
            <a:avLst>
              <a:gd name="adj1" fmla="val 83563"/>
              <a:gd name="adj2" fmla="val 50000"/>
            </a:avLst>
          </a:prstGeom>
          <a:noFill/>
          <a:ln w="25400">
            <a:solidFill>
              <a:srgbClr val="F0E5B7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78" name="AutoShape 238"/>
          <p:cNvSpPr>
            <a:spLocks noChangeArrowheads="1"/>
          </p:cNvSpPr>
          <p:nvPr/>
        </p:nvSpPr>
        <p:spPr bwMode="auto">
          <a:xfrm rot="8220912">
            <a:off x="6735886" y="3567136"/>
            <a:ext cx="1176338" cy="404812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0E5B7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79" name="Rectangle 239"/>
          <p:cNvSpPr>
            <a:spLocks noChangeArrowheads="1"/>
          </p:cNvSpPr>
          <p:nvPr/>
        </p:nvSpPr>
        <p:spPr bwMode="auto">
          <a:xfrm>
            <a:off x="5505574" y="4238649"/>
            <a:ext cx="436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'c'</a:t>
            </a:r>
          </a:p>
        </p:txBody>
      </p:sp>
      <p:sp>
        <p:nvSpPr>
          <p:cNvPr id="1060080" name="Rectangle 240"/>
          <p:cNvSpPr>
            <a:spLocks noChangeArrowheads="1"/>
          </p:cNvSpPr>
          <p:nvPr/>
        </p:nvSpPr>
        <p:spPr bwMode="auto">
          <a:xfrm>
            <a:off x="6053261" y="4238649"/>
            <a:ext cx="465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'h'</a:t>
            </a:r>
          </a:p>
        </p:txBody>
      </p:sp>
      <p:sp>
        <p:nvSpPr>
          <p:cNvPr id="1060081" name="Rectangle 241"/>
          <p:cNvSpPr>
            <a:spLocks noChangeArrowheads="1"/>
          </p:cNvSpPr>
          <p:nvPr/>
        </p:nvSpPr>
        <p:spPr bwMode="auto">
          <a:xfrm>
            <a:off x="6586661" y="4238649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'i'</a:t>
            </a:r>
          </a:p>
        </p:txBody>
      </p:sp>
      <p:sp>
        <p:nvSpPr>
          <p:cNvPr id="1060082" name="Rectangle 242"/>
          <p:cNvSpPr>
            <a:spLocks noChangeArrowheads="1"/>
          </p:cNvSpPr>
          <p:nvPr/>
        </p:nvSpPr>
        <p:spPr bwMode="auto">
          <a:xfrm>
            <a:off x="7089900" y="4238649"/>
            <a:ext cx="465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'n'</a:t>
            </a:r>
          </a:p>
        </p:txBody>
      </p:sp>
      <p:sp>
        <p:nvSpPr>
          <p:cNvPr id="1060083" name="Rectangle 243"/>
          <p:cNvSpPr>
            <a:spLocks noChangeArrowheads="1"/>
          </p:cNvSpPr>
          <p:nvPr/>
        </p:nvSpPr>
        <p:spPr bwMode="auto">
          <a:xfrm>
            <a:off x="7651874" y="4238649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'a'</a:t>
            </a:r>
          </a:p>
        </p:txBody>
      </p:sp>
      <p:sp>
        <p:nvSpPr>
          <p:cNvPr id="1060084" name="Rectangle 244"/>
          <p:cNvSpPr>
            <a:spLocks noChangeArrowheads="1"/>
          </p:cNvSpPr>
          <p:nvPr/>
        </p:nvSpPr>
        <p:spPr bwMode="auto">
          <a:xfrm>
            <a:off x="8199561" y="4238649"/>
            <a:ext cx="407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'!'</a:t>
            </a:r>
          </a:p>
        </p:txBody>
      </p:sp>
      <p:grpSp>
        <p:nvGrpSpPr>
          <p:cNvPr id="1060085" name="Group 245"/>
          <p:cNvGrpSpPr>
            <a:grpSpLocks/>
          </p:cNvGrpSpPr>
          <p:nvPr/>
        </p:nvGrpSpPr>
        <p:grpSpPr bwMode="auto">
          <a:xfrm>
            <a:off x="6297737" y="4729187"/>
            <a:ext cx="3743325" cy="1508125"/>
            <a:chOff x="612" y="2614"/>
            <a:chExt cx="2358" cy="950"/>
          </a:xfrm>
        </p:grpSpPr>
        <p:sp>
          <p:nvSpPr>
            <p:cNvPr id="1060086" name="Rectangle 246"/>
            <p:cNvSpPr>
              <a:spLocks noChangeArrowheads="1"/>
            </p:cNvSpPr>
            <p:nvPr/>
          </p:nvSpPr>
          <p:spPr bwMode="auto">
            <a:xfrm>
              <a:off x="612" y="3022"/>
              <a:ext cx="2358" cy="542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CC0000"/>
                  </a:solidFill>
                </a:rPr>
                <a:t>for (j = 0; s2[j] != '\0'; j++)</a:t>
              </a:r>
            </a:p>
            <a:p>
              <a:r>
                <a:rPr lang="en-US" altLang="zh-CN" b="1">
                  <a:solidFill>
                    <a:srgbClr val="CC0000"/>
                  </a:solidFill>
                </a:rPr>
                <a:t>      s3[i+j] = s2[j];</a:t>
              </a:r>
            </a:p>
          </p:txBody>
        </p:sp>
        <p:sp>
          <p:nvSpPr>
            <p:cNvPr id="1060087" name="Line 247"/>
            <p:cNvSpPr>
              <a:spLocks noChangeShapeType="1"/>
            </p:cNvSpPr>
            <p:nvPr/>
          </p:nvSpPr>
          <p:spPr bwMode="auto">
            <a:xfrm>
              <a:off x="1383" y="2614"/>
              <a:ext cx="272" cy="40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88" name="Rectangle 248"/>
          <p:cNvSpPr>
            <a:spLocks noChangeArrowheads="1"/>
          </p:cNvSpPr>
          <p:nvPr/>
        </p:nvSpPr>
        <p:spPr bwMode="auto">
          <a:xfrm>
            <a:off x="8688511" y="4238649"/>
            <a:ext cx="520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'\0'</a:t>
            </a:r>
          </a:p>
        </p:txBody>
      </p:sp>
      <p:sp>
        <p:nvSpPr>
          <p:cNvPr id="1060089" name="Line 249"/>
          <p:cNvSpPr>
            <a:spLocks noChangeShapeType="1"/>
          </p:cNvSpPr>
          <p:nvPr/>
        </p:nvSpPr>
        <p:spPr bwMode="auto">
          <a:xfrm>
            <a:off x="6377111" y="1343048"/>
            <a:ext cx="647700" cy="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90" name="Text Box 250"/>
          <p:cNvSpPr txBox="1">
            <a:spLocks noChangeArrowheads="1"/>
          </p:cNvSpPr>
          <p:nvPr/>
        </p:nvSpPr>
        <p:spPr bwMode="auto">
          <a:xfrm>
            <a:off x="6994649" y="1069999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7030A0"/>
                </a:solidFill>
                <a:ea typeface="隶书" pitchFamily="49" charset="-122"/>
              </a:rPr>
              <a:t>补</a:t>
            </a:r>
            <a:r>
              <a:rPr lang="en-US" altLang="zh-CN" sz="2800" b="1">
                <a:solidFill>
                  <a:srgbClr val="7030A0"/>
                </a:solidFill>
                <a:ea typeface="隶书" pitchFamily="49" charset="-122"/>
              </a:rPr>
              <a:t>\0</a:t>
            </a:r>
          </a:p>
        </p:txBody>
      </p:sp>
      <p:grpSp>
        <p:nvGrpSpPr>
          <p:cNvPr id="1060093" name="Group 253"/>
          <p:cNvGrpSpPr>
            <a:grpSpLocks/>
          </p:cNvGrpSpPr>
          <p:nvPr/>
        </p:nvGrpSpPr>
        <p:grpSpPr bwMode="auto">
          <a:xfrm>
            <a:off x="8386884" y="3417911"/>
            <a:ext cx="1866900" cy="792162"/>
            <a:chOff x="4468" y="1797"/>
            <a:chExt cx="1176" cy="499"/>
          </a:xfrm>
        </p:grpSpPr>
        <p:sp>
          <p:nvSpPr>
            <p:cNvPr id="1060091" name="Rectangle 251"/>
            <p:cNvSpPr>
              <a:spLocks noChangeArrowheads="1"/>
            </p:cNvSpPr>
            <p:nvPr/>
          </p:nvSpPr>
          <p:spPr bwMode="auto">
            <a:xfrm>
              <a:off x="4468" y="1797"/>
              <a:ext cx="1176" cy="291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2060"/>
                  </a:solidFill>
                </a:rPr>
                <a:t>s3[i+j] = '\0';</a:t>
              </a:r>
            </a:p>
          </p:txBody>
        </p:sp>
        <p:sp>
          <p:nvSpPr>
            <p:cNvPr id="1060092" name="Line 252"/>
            <p:cNvSpPr>
              <a:spLocks noChangeShapeType="1"/>
            </p:cNvSpPr>
            <p:nvPr/>
          </p:nvSpPr>
          <p:spPr bwMode="auto">
            <a:xfrm>
              <a:off x="4649" y="2115"/>
              <a:ext cx="136" cy="181"/>
            </a:xfrm>
            <a:prstGeom prst="line">
              <a:avLst/>
            </a:prstGeom>
            <a:noFill/>
            <a:ln w="381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94" name="Line 254"/>
          <p:cNvSpPr>
            <a:spLocks noChangeShapeType="1"/>
          </p:cNvSpPr>
          <p:nvPr/>
        </p:nvSpPr>
        <p:spPr bwMode="auto">
          <a:xfrm>
            <a:off x="7815386" y="1328761"/>
            <a:ext cx="647700" cy="0"/>
          </a:xfrm>
          <a:prstGeom prst="line">
            <a:avLst/>
          </a:prstGeom>
          <a:noFill/>
          <a:ln w="28575">
            <a:solidFill>
              <a:srgbClr val="BD6368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95" name="Text Box 255"/>
          <p:cNvSpPr txBox="1">
            <a:spLocks noChangeArrowheads="1"/>
          </p:cNvSpPr>
          <p:nvPr/>
        </p:nvSpPr>
        <p:spPr bwMode="auto">
          <a:xfrm>
            <a:off x="8421811" y="1027136"/>
            <a:ext cx="1701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BD6368"/>
                </a:solidFill>
                <a:ea typeface="隶书" pitchFamily="49" charset="-122"/>
              </a:rPr>
              <a:t>调用结束</a:t>
            </a:r>
          </a:p>
        </p:txBody>
      </p:sp>
      <p:sp useBgFill="1">
        <p:nvSpPr>
          <p:cNvPr id="1060096" name="Rectangle 256"/>
          <p:cNvSpPr>
            <a:spLocks noChangeArrowheads="1"/>
          </p:cNvSpPr>
          <p:nvPr/>
        </p:nvSpPr>
        <p:spPr bwMode="auto">
          <a:xfrm>
            <a:off x="1762250" y="1978049"/>
            <a:ext cx="503237" cy="5762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60097" name="Rectangle 257"/>
          <p:cNvSpPr>
            <a:spLocks noChangeArrowheads="1"/>
          </p:cNvSpPr>
          <p:nvPr/>
        </p:nvSpPr>
        <p:spPr bwMode="auto">
          <a:xfrm>
            <a:off x="6167561" y="2006624"/>
            <a:ext cx="503238" cy="5762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60098" name="Rectangle 258"/>
          <p:cNvSpPr>
            <a:spLocks noChangeArrowheads="1"/>
          </p:cNvSpPr>
          <p:nvPr/>
        </p:nvSpPr>
        <p:spPr bwMode="auto">
          <a:xfrm>
            <a:off x="1790824" y="4743474"/>
            <a:ext cx="431800" cy="6905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Rectangle 4">
            <a:extLst>
              <a:ext uri="{FF2B5EF4-FFF2-40B4-BE49-F238E27FC236}">
                <a16:creationId xmlns:a16="http://schemas.microsoft.com/office/drawing/2014/main" id="{8581A671-B3AD-4A20-AE21-7253DA551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60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60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060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060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060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60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60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600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0600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60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60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60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060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60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060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060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60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060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1060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060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1060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0600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060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060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1060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1060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1060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10600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1" dur="500"/>
                                        <p:tgtEl>
                                          <p:spTgt spid="1060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6" dur="500"/>
                                        <p:tgtEl>
                                          <p:spTgt spid="1060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060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1060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1060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1060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062" grpId="0" animBg="1"/>
      <p:bldP spid="1060063" grpId="0"/>
      <p:bldP spid="1060064" grpId="0" animBg="1"/>
      <p:bldP spid="1060065" grpId="0"/>
      <p:bldP spid="1060066" grpId="0" animBg="1"/>
      <p:bldP spid="1060067" grpId="0" animBg="1"/>
      <p:bldP spid="1060068" grpId="0"/>
      <p:bldP spid="1060069" grpId="0"/>
      <p:bldP spid="1060070" grpId="0"/>
      <p:bldP spid="1060071" grpId="0"/>
      <p:bldP spid="1060072" grpId="0"/>
      <p:bldP spid="1060073" grpId="0"/>
      <p:bldP spid="1060077" grpId="0" animBg="1"/>
      <p:bldP spid="1060078" grpId="0" animBg="1"/>
      <p:bldP spid="1060079" grpId="0"/>
      <p:bldP spid="1060080" grpId="0"/>
      <p:bldP spid="1060081" grpId="0"/>
      <p:bldP spid="1060082" grpId="0"/>
      <p:bldP spid="1060083" grpId="0"/>
      <p:bldP spid="1060084" grpId="0"/>
      <p:bldP spid="1060088" grpId="0"/>
      <p:bldP spid="1060089" grpId="0" animBg="1"/>
      <p:bldP spid="1060090" grpId="0"/>
      <p:bldP spid="1060094" grpId="0" animBg="1"/>
      <p:bldP spid="1060095" grpId="0"/>
      <p:bldP spid="1060096" grpId="0" animBg="1"/>
      <p:bldP spid="1060097" grpId="0" animBg="1"/>
      <p:bldP spid="106009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807" name="Rectangle 31"/>
          <p:cNvSpPr>
            <a:spLocks noChangeArrowheads="1"/>
          </p:cNvSpPr>
          <p:nvPr/>
        </p:nvSpPr>
        <p:spPr bwMode="auto">
          <a:xfrm>
            <a:off x="1387292" y="1580413"/>
            <a:ext cx="4234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zh-CN" b="1" dirty="0">
                <a:latin typeface="+mn-lt"/>
                <a:ea typeface="楷体" pitchFamily="49" charset="-122"/>
              </a:rPr>
              <a:t>规定：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函数定义不可嵌套，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   </a:t>
            </a:r>
          </a:p>
        </p:txBody>
      </p:sp>
      <p:sp>
        <p:nvSpPr>
          <p:cNvPr id="1099809" name="Rectangle 33"/>
          <p:cNvSpPr>
            <a:spLocks noChangeArrowheads="1"/>
          </p:cNvSpPr>
          <p:nvPr/>
        </p:nvSpPr>
        <p:spPr bwMode="auto">
          <a:xfrm>
            <a:off x="5375920" y="1556792"/>
            <a:ext cx="294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+mn-lt"/>
                <a:ea typeface="楷体" pitchFamily="49" charset="-122"/>
              </a:rPr>
              <a:t>但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可以嵌套调用</a:t>
            </a:r>
            <a:r>
              <a:rPr lang="zh-CN" altLang="zh-CN" b="1" dirty="0">
                <a:latin typeface="+mn-lt"/>
                <a:ea typeface="楷体" pitchFamily="49" charset="-122"/>
              </a:rPr>
              <a:t>函数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FB8B1A76-BA4F-4AC1-B871-EBF3C7F52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90899DDF-606E-43CB-AAD4-C5AB15E26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、函数的嵌套调用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50F1DA5-10E0-4E57-B3C6-D175A30623CB}"/>
              </a:ext>
            </a:extLst>
          </p:cNvPr>
          <p:cNvGrpSpPr/>
          <p:nvPr/>
        </p:nvGrpSpPr>
        <p:grpSpPr>
          <a:xfrm>
            <a:off x="2495600" y="2175417"/>
            <a:ext cx="7128792" cy="4383463"/>
            <a:chOff x="2150465" y="969615"/>
            <a:chExt cx="7991475" cy="5400675"/>
          </a:xfrm>
        </p:grpSpPr>
        <p:sp>
          <p:nvSpPr>
            <p:cNvPr id="37" name="Rectangle 59">
              <a:extLst>
                <a:ext uri="{FF2B5EF4-FFF2-40B4-BE49-F238E27FC236}">
                  <a16:creationId xmlns:a16="http://schemas.microsoft.com/office/drawing/2014/main" id="{67DEDF54-37F4-4591-8F64-022D8D517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465" y="969615"/>
              <a:ext cx="7991475" cy="5400675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" name="Group 3">
              <a:extLst>
                <a:ext uri="{FF2B5EF4-FFF2-40B4-BE49-F238E27FC236}">
                  <a16:creationId xmlns:a16="http://schemas.microsoft.com/office/drawing/2014/main" id="{965DEDC5-B91D-4C46-B6D1-7BE510E57A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4884" y="2565053"/>
              <a:ext cx="1905000" cy="762000"/>
              <a:chOff x="912" y="1632"/>
              <a:chExt cx="1200" cy="480"/>
            </a:xfrm>
          </p:grpSpPr>
          <p:sp>
            <p:nvSpPr>
              <p:cNvPr id="94" name="Line 4">
                <a:extLst>
                  <a:ext uri="{FF2B5EF4-FFF2-40B4-BE49-F238E27FC236}">
                    <a16:creationId xmlns:a16="http://schemas.microsoft.com/office/drawing/2014/main" id="{8D79DB36-F7BB-42E6-9722-7E8089398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632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5" name="AutoShape 5">
                <a:extLst>
                  <a:ext uri="{FF2B5EF4-FFF2-40B4-BE49-F238E27FC236}">
                    <a16:creationId xmlns:a16="http://schemas.microsoft.com/office/drawing/2014/main" id="{E34BCB4E-9F58-4E25-8D41-37432AB7656A}"/>
                  </a:ext>
                </a:extLst>
              </p:cNvPr>
              <p:cNvCxnSpPr>
                <a:cxnSpLocks noChangeShapeType="1"/>
                <a:stCxn id="45" idx="1"/>
                <a:endCxn id="94" idx="0"/>
              </p:cNvCxnSpPr>
              <p:nvPr/>
            </p:nvCxnSpPr>
            <p:spPr bwMode="auto">
              <a:xfrm flipV="1">
                <a:off x="912" y="1632"/>
                <a:ext cx="1200" cy="480"/>
              </a:xfrm>
              <a:prstGeom prst="straightConnector1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41" name="Group 6">
              <a:extLst>
                <a:ext uri="{FF2B5EF4-FFF2-40B4-BE49-F238E27FC236}">
                  <a16:creationId xmlns:a16="http://schemas.microsoft.com/office/drawing/2014/main" id="{585A29ED-C987-4A86-B4BF-866B41DA3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322" y="2565053"/>
              <a:ext cx="1909763" cy="762000"/>
              <a:chOff x="2157" y="1632"/>
              <a:chExt cx="1203" cy="480"/>
            </a:xfrm>
          </p:grpSpPr>
          <p:sp>
            <p:nvSpPr>
              <p:cNvPr id="92" name="Line 7">
                <a:extLst>
                  <a:ext uri="{FF2B5EF4-FFF2-40B4-BE49-F238E27FC236}">
                    <a16:creationId xmlns:a16="http://schemas.microsoft.com/office/drawing/2014/main" id="{143A46E6-8721-45E5-874D-79190CD11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632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3" name="AutoShape 8">
                <a:extLst>
                  <a:ext uri="{FF2B5EF4-FFF2-40B4-BE49-F238E27FC236}">
                    <a16:creationId xmlns:a16="http://schemas.microsoft.com/office/drawing/2014/main" id="{4335FC54-873C-4F49-82EA-B0EC6A6D8CD6}"/>
                  </a:ext>
                </a:extLst>
              </p:cNvPr>
              <p:cNvCxnSpPr>
                <a:cxnSpLocks noChangeShapeType="1"/>
                <a:stCxn id="94" idx="1"/>
                <a:endCxn id="92" idx="0"/>
              </p:cNvCxnSpPr>
              <p:nvPr/>
            </p:nvCxnSpPr>
            <p:spPr bwMode="auto">
              <a:xfrm flipV="1">
                <a:off x="2157" y="1632"/>
                <a:ext cx="1203" cy="480"/>
              </a:xfrm>
              <a:prstGeom prst="straightConnector1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42" name="Group 9">
              <a:extLst>
                <a:ext uri="{FF2B5EF4-FFF2-40B4-BE49-F238E27FC236}">
                  <a16:creationId xmlns:a16="http://schemas.microsoft.com/office/drawing/2014/main" id="{9C3FACFF-8132-4315-AC95-0D36AC3D6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1084" y="2793653"/>
              <a:ext cx="2057400" cy="1752600"/>
              <a:chOff x="3360" y="1776"/>
              <a:chExt cx="1296" cy="1104"/>
            </a:xfrm>
          </p:grpSpPr>
          <p:sp>
            <p:nvSpPr>
              <p:cNvPr id="89" name="Line 10">
                <a:extLst>
                  <a:ext uri="{FF2B5EF4-FFF2-40B4-BE49-F238E27FC236}">
                    <a16:creationId xmlns:a16="http://schemas.microsoft.com/office/drawing/2014/main" id="{B8504161-D461-45B0-94BE-7C8C8C3F5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776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0" name="AutoShape 11">
                <a:extLst>
                  <a:ext uri="{FF2B5EF4-FFF2-40B4-BE49-F238E27FC236}">
                    <a16:creationId xmlns:a16="http://schemas.microsoft.com/office/drawing/2014/main" id="{9E482348-A0E9-450A-A64F-7710CCB971DD}"/>
                  </a:ext>
                </a:extLst>
              </p:cNvPr>
              <p:cNvCxnSpPr>
                <a:cxnSpLocks noChangeShapeType="1"/>
                <a:stCxn id="92" idx="1"/>
                <a:endCxn id="89" idx="0"/>
              </p:cNvCxnSpPr>
              <p:nvPr/>
            </p:nvCxnSpPr>
            <p:spPr bwMode="auto">
              <a:xfrm flipV="1">
                <a:off x="3405" y="1776"/>
                <a:ext cx="1251" cy="336"/>
              </a:xfrm>
              <a:prstGeom prst="straightConnector1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1" name="AutoShape 12">
                <a:extLst>
                  <a:ext uri="{FF2B5EF4-FFF2-40B4-BE49-F238E27FC236}">
                    <a16:creationId xmlns:a16="http://schemas.microsoft.com/office/drawing/2014/main" id="{32BD2733-86AB-4D96-A428-219B474A97BA}"/>
                  </a:ext>
                </a:extLst>
              </p:cNvPr>
              <p:cNvCxnSpPr>
                <a:cxnSpLocks noChangeShapeType="1"/>
                <a:stCxn id="89" idx="1"/>
                <a:endCxn id="87" idx="0"/>
              </p:cNvCxnSpPr>
              <p:nvPr/>
            </p:nvCxnSpPr>
            <p:spPr bwMode="auto">
              <a:xfrm flipH="1" flipV="1">
                <a:off x="3360" y="2544"/>
                <a:ext cx="1296" cy="336"/>
              </a:xfrm>
              <a:prstGeom prst="straightConnector1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43" name="Group 13">
              <a:extLst>
                <a:ext uri="{FF2B5EF4-FFF2-40B4-BE49-F238E27FC236}">
                  <a16:creationId xmlns:a16="http://schemas.microsoft.com/office/drawing/2014/main" id="{B86FE017-04F1-4227-8F40-FC501D5315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9884" y="4012853"/>
              <a:ext cx="1981200" cy="762000"/>
              <a:chOff x="2112" y="2544"/>
              <a:chExt cx="1248" cy="480"/>
            </a:xfrm>
          </p:grpSpPr>
          <p:sp>
            <p:nvSpPr>
              <p:cNvPr id="87" name="Line 14">
                <a:extLst>
                  <a:ext uri="{FF2B5EF4-FFF2-40B4-BE49-F238E27FC236}">
                    <a16:creationId xmlns:a16="http://schemas.microsoft.com/office/drawing/2014/main" id="{15DA502D-63CA-4B7A-9951-595B38CE5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54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88" name="AutoShape 15">
                <a:extLst>
                  <a:ext uri="{FF2B5EF4-FFF2-40B4-BE49-F238E27FC236}">
                    <a16:creationId xmlns:a16="http://schemas.microsoft.com/office/drawing/2014/main" id="{0E0469D2-6D5D-49C3-AE2C-78B349EAC9DD}"/>
                  </a:ext>
                </a:extLst>
              </p:cNvPr>
              <p:cNvCxnSpPr>
                <a:cxnSpLocks noChangeShapeType="1"/>
                <a:stCxn id="87" idx="1"/>
                <a:endCxn id="85" idx="0"/>
              </p:cNvCxnSpPr>
              <p:nvPr/>
            </p:nvCxnSpPr>
            <p:spPr bwMode="auto">
              <a:xfrm flipH="1" flipV="1">
                <a:off x="2112" y="2544"/>
                <a:ext cx="1248" cy="480"/>
              </a:xfrm>
              <a:prstGeom prst="straightConnector1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44" name="Group 16">
              <a:extLst>
                <a:ext uri="{FF2B5EF4-FFF2-40B4-BE49-F238E27FC236}">
                  <a16:creationId xmlns:a16="http://schemas.microsoft.com/office/drawing/2014/main" id="{06067C8C-1326-4C7E-844B-F5ECDC3A8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584" y="4004918"/>
              <a:ext cx="1892300" cy="769938"/>
              <a:chOff x="920" y="2539"/>
              <a:chExt cx="1192" cy="485"/>
            </a:xfrm>
          </p:grpSpPr>
          <p:sp>
            <p:nvSpPr>
              <p:cNvPr id="85" name="Line 17">
                <a:extLst>
                  <a:ext uri="{FF2B5EF4-FFF2-40B4-BE49-F238E27FC236}">
                    <a16:creationId xmlns:a16="http://schemas.microsoft.com/office/drawing/2014/main" id="{9FE77F5C-0358-490E-B4FC-E519B3A7B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54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86" name="AutoShape 18">
                <a:extLst>
                  <a:ext uri="{FF2B5EF4-FFF2-40B4-BE49-F238E27FC236}">
                    <a16:creationId xmlns:a16="http://schemas.microsoft.com/office/drawing/2014/main" id="{0A6F4F7D-1A97-40F0-8ABF-971EADEA04B0}"/>
                  </a:ext>
                </a:extLst>
              </p:cNvPr>
              <p:cNvCxnSpPr>
                <a:cxnSpLocks noChangeShapeType="1"/>
                <a:stCxn id="85" idx="1"/>
                <a:endCxn id="71" idx="0"/>
              </p:cNvCxnSpPr>
              <p:nvPr/>
            </p:nvCxnSpPr>
            <p:spPr bwMode="auto">
              <a:xfrm flipH="1" flipV="1">
                <a:off x="920" y="2539"/>
                <a:ext cx="1192" cy="485"/>
              </a:xfrm>
              <a:prstGeom prst="straightConnector1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45" name="Line 19">
              <a:extLst>
                <a:ext uri="{FF2B5EF4-FFF2-40B4-BE49-F238E27FC236}">
                  <a16:creationId xmlns:a16="http://schemas.microsoft.com/office/drawing/2014/main" id="{E57785F5-A97D-4A74-815D-6C885774F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4884" y="2565053"/>
              <a:ext cx="0" cy="762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110D4540-D17D-459B-A979-F36CCE8F03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8323" y="2064990"/>
              <a:ext cx="930275" cy="1219200"/>
              <a:chOff x="1152" y="1488"/>
              <a:chExt cx="586" cy="768"/>
            </a:xfrm>
          </p:grpSpPr>
          <p:sp>
            <p:nvSpPr>
              <p:cNvPr id="83" name="Text Box 21">
                <a:extLst>
                  <a:ext uri="{FF2B5EF4-FFF2-40B4-BE49-F238E27FC236}">
                    <a16:creationId xmlns:a16="http://schemas.microsoft.com/office/drawing/2014/main" id="{E6AE4127-9422-4539-87C8-52728A2490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968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/>
                  <a:t>r</a:t>
                </a:r>
              </a:p>
            </p:txBody>
          </p:sp>
          <p:sp>
            <p:nvSpPr>
              <p:cNvPr id="84" name="Text Box 22">
                <a:extLst>
                  <a:ext uri="{FF2B5EF4-FFF2-40B4-BE49-F238E27FC236}">
                    <a16:creationId xmlns:a16="http://schemas.microsoft.com/office/drawing/2014/main" id="{B67F1DC3-871B-41FE-8466-6F30ECEA56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2" y="1488"/>
                <a:ext cx="326" cy="6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主程序</a:t>
                </a:r>
              </a:p>
            </p:txBody>
          </p:sp>
        </p:grpSp>
        <p:grpSp>
          <p:nvGrpSpPr>
            <p:cNvPr id="47" name="Group 23">
              <a:extLst>
                <a:ext uri="{FF2B5EF4-FFF2-40B4-BE49-F238E27FC236}">
                  <a16:creationId xmlns:a16="http://schemas.microsoft.com/office/drawing/2014/main" id="{4175C149-E0A8-4C1C-AFC2-B3CB204D49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176" y="4919382"/>
              <a:ext cx="457200" cy="1143000"/>
              <a:chOff x="3504" y="3216"/>
              <a:chExt cx="288" cy="720"/>
            </a:xfrm>
          </p:grpSpPr>
          <p:sp>
            <p:nvSpPr>
              <p:cNvPr id="79" name="Rectangle 24">
                <a:extLst>
                  <a:ext uri="{FF2B5EF4-FFF2-40B4-BE49-F238E27FC236}">
                    <a16:creationId xmlns:a16="http://schemas.microsoft.com/office/drawing/2014/main" id="{55F2E649-8BED-4178-A6FC-E8AD52C27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552"/>
                <a:ext cx="288" cy="192"/>
              </a:xfrm>
              <a:prstGeom prst="rect">
                <a:avLst/>
              </a:prstGeom>
              <a:solidFill>
                <a:srgbClr val="F0E5B7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/>
                  <a:t>s</a:t>
                </a:r>
              </a:p>
            </p:txBody>
          </p:sp>
          <p:sp>
            <p:nvSpPr>
              <p:cNvPr id="80" name="Line 25">
                <a:extLst>
                  <a:ext uri="{FF2B5EF4-FFF2-40B4-BE49-F238E27FC236}">
                    <a16:creationId xmlns:a16="http://schemas.microsoft.com/office/drawing/2014/main" id="{87145ACB-F189-4D21-9039-D1C14BF67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2" y="3216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26">
                <a:extLst>
                  <a:ext uri="{FF2B5EF4-FFF2-40B4-BE49-F238E27FC236}">
                    <a16:creationId xmlns:a16="http://schemas.microsoft.com/office/drawing/2014/main" id="{7888A6B3-1C16-4B6F-990E-0DB954157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4" y="3216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Rectangle 27">
                <a:extLst>
                  <a:ext uri="{FF2B5EF4-FFF2-40B4-BE49-F238E27FC236}">
                    <a16:creationId xmlns:a16="http://schemas.microsoft.com/office/drawing/2014/main" id="{4DBC7AB1-DFE6-4DE3-8E7C-641D696FA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744"/>
                <a:ext cx="288" cy="192"/>
              </a:xfrm>
              <a:prstGeom prst="rect">
                <a:avLst/>
              </a:prstGeom>
              <a:solidFill>
                <a:srgbClr val="BEDFC4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/>
                  <a:t>r</a:t>
                </a:r>
              </a:p>
            </p:txBody>
          </p:sp>
        </p:grpSp>
        <p:grpSp>
          <p:nvGrpSpPr>
            <p:cNvPr id="48" name="Group 28">
              <a:extLst>
                <a:ext uri="{FF2B5EF4-FFF2-40B4-BE49-F238E27FC236}">
                  <a16:creationId xmlns:a16="http://schemas.microsoft.com/office/drawing/2014/main" id="{43455C2B-6BE5-4BDD-A005-20E3D120F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3776" y="4843182"/>
              <a:ext cx="457200" cy="1143000"/>
              <a:chOff x="3744" y="2544"/>
              <a:chExt cx="288" cy="720"/>
            </a:xfrm>
          </p:grpSpPr>
          <p:sp>
            <p:nvSpPr>
              <p:cNvPr id="76" name="Line 29">
                <a:extLst>
                  <a:ext uri="{FF2B5EF4-FFF2-40B4-BE49-F238E27FC236}">
                    <a16:creationId xmlns:a16="http://schemas.microsoft.com/office/drawing/2014/main" id="{0BCE671B-B73B-4C1D-B522-7B1807E5C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2544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30">
                <a:extLst>
                  <a:ext uri="{FF2B5EF4-FFF2-40B4-BE49-F238E27FC236}">
                    <a16:creationId xmlns:a16="http://schemas.microsoft.com/office/drawing/2014/main" id="{9BDF6995-C306-493D-98BA-C7E921207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2544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Rectangle 31">
                <a:extLst>
                  <a:ext uri="{FF2B5EF4-FFF2-40B4-BE49-F238E27FC236}">
                    <a16:creationId xmlns:a16="http://schemas.microsoft.com/office/drawing/2014/main" id="{FFD3EEA2-8947-4EF1-B785-DFC3AAC37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072"/>
                <a:ext cx="288" cy="192"/>
              </a:xfrm>
              <a:prstGeom prst="rect">
                <a:avLst/>
              </a:prstGeom>
              <a:solidFill>
                <a:srgbClr val="BEDFC4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/>
                  <a:t>r</a:t>
                </a:r>
              </a:p>
            </p:txBody>
          </p:sp>
        </p:grpSp>
        <p:grpSp>
          <p:nvGrpSpPr>
            <p:cNvPr id="49" name="Group 32">
              <a:extLst>
                <a:ext uri="{FF2B5EF4-FFF2-40B4-BE49-F238E27FC236}">
                  <a16:creationId xmlns:a16="http://schemas.microsoft.com/office/drawing/2014/main" id="{1705FAF0-6290-4ABF-9D1A-74FB81E43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2576" y="4004982"/>
              <a:ext cx="685800" cy="1143000"/>
              <a:chOff x="960" y="2640"/>
              <a:chExt cx="432" cy="720"/>
            </a:xfrm>
          </p:grpSpPr>
          <p:sp>
            <p:nvSpPr>
              <p:cNvPr id="71" name="Line 33">
                <a:extLst>
                  <a:ext uri="{FF2B5EF4-FFF2-40B4-BE49-F238E27FC236}">
                    <a16:creationId xmlns:a16="http://schemas.microsoft.com/office/drawing/2014/main" id="{5E897E87-1CC6-46CB-AD34-10493A725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640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" name="Group 34">
                <a:extLst>
                  <a:ext uri="{FF2B5EF4-FFF2-40B4-BE49-F238E27FC236}">
                    <a16:creationId xmlns:a16="http://schemas.microsoft.com/office/drawing/2014/main" id="{2AE1CDC0-1CE6-40DC-B61E-93A7BEC542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640"/>
                <a:ext cx="288" cy="720"/>
                <a:chOff x="2784" y="3408"/>
                <a:chExt cx="288" cy="720"/>
              </a:xfrm>
            </p:grpSpPr>
            <p:sp>
              <p:nvSpPr>
                <p:cNvPr id="73" name="Line 35">
                  <a:extLst>
                    <a:ext uri="{FF2B5EF4-FFF2-40B4-BE49-F238E27FC236}">
                      <a16:creationId xmlns:a16="http://schemas.microsoft.com/office/drawing/2014/main" id="{08BA166F-7651-47CD-A645-30C4238876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84" y="3408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rgbClr val="C0192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" name="Line 36">
                  <a:extLst>
                    <a:ext uri="{FF2B5EF4-FFF2-40B4-BE49-F238E27FC236}">
                      <a16:creationId xmlns:a16="http://schemas.microsoft.com/office/drawing/2014/main" id="{446A3D8D-901A-4140-B94B-B7F94C916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72" y="3408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rgbClr val="C0192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75" name="AutoShape 37">
                  <a:extLst>
                    <a:ext uri="{FF2B5EF4-FFF2-40B4-BE49-F238E27FC236}">
                      <a16:creationId xmlns:a16="http://schemas.microsoft.com/office/drawing/2014/main" id="{60A1F83A-1592-437C-93A4-CD479053D8AF}"/>
                    </a:ext>
                  </a:extLst>
                </p:cNvPr>
                <p:cNvCxnSpPr>
                  <a:cxnSpLocks noChangeShapeType="1"/>
                  <a:stCxn id="73" idx="0"/>
                  <a:endCxn id="74" idx="0"/>
                </p:cNvCxnSpPr>
                <p:nvPr/>
              </p:nvCxnSpPr>
              <p:spPr bwMode="auto">
                <a:xfrm>
                  <a:off x="2784" y="4128"/>
                  <a:ext cx="288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C01920"/>
                  </a:solidFill>
                  <a:round/>
                  <a:headEnd/>
                  <a:tailEnd/>
                </a:ln>
                <a:effectLst/>
              </p:spPr>
            </p:cxnSp>
          </p:grpSp>
        </p:grpSp>
        <p:grpSp>
          <p:nvGrpSpPr>
            <p:cNvPr id="50" name="Group 38">
              <a:extLst>
                <a:ext uri="{FF2B5EF4-FFF2-40B4-BE49-F238E27FC236}">
                  <a16:creationId xmlns:a16="http://schemas.microsoft.com/office/drawing/2014/main" id="{A65AB064-AF03-46E9-A695-96A91AB8D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0284" y="1345853"/>
              <a:ext cx="1098550" cy="2133600"/>
              <a:chOff x="2208" y="960"/>
              <a:chExt cx="692" cy="1344"/>
            </a:xfrm>
          </p:grpSpPr>
          <p:grpSp>
            <p:nvGrpSpPr>
              <p:cNvPr id="65" name="Group 39">
                <a:extLst>
                  <a:ext uri="{FF2B5EF4-FFF2-40B4-BE49-F238E27FC236}">
                    <a16:creationId xmlns:a16="http://schemas.microsoft.com/office/drawing/2014/main" id="{BBD74EE2-B2BF-4760-92D9-F773434C3C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960"/>
                <a:ext cx="288" cy="720"/>
                <a:chOff x="912" y="2976"/>
                <a:chExt cx="288" cy="720"/>
              </a:xfrm>
            </p:grpSpPr>
            <p:sp>
              <p:nvSpPr>
                <p:cNvPr id="68" name="Rectangle 40">
                  <a:extLst>
                    <a:ext uri="{FF2B5EF4-FFF2-40B4-BE49-F238E27FC236}">
                      <a16:creationId xmlns:a16="http://schemas.microsoft.com/office/drawing/2014/main" id="{888164F1-30A8-4F4B-8969-4E40CAFA1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504"/>
                  <a:ext cx="288" cy="192"/>
                </a:xfrm>
                <a:prstGeom prst="rect">
                  <a:avLst/>
                </a:prstGeom>
                <a:solidFill>
                  <a:srgbClr val="BEDFC4"/>
                </a:solidFill>
                <a:ln w="19050">
                  <a:solidFill>
                    <a:srgbClr val="C0192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zh-CN"/>
                    <a:t>r</a:t>
                  </a:r>
                </a:p>
              </p:txBody>
            </p:sp>
            <p:sp>
              <p:nvSpPr>
                <p:cNvPr id="69" name="Line 41">
                  <a:extLst>
                    <a:ext uri="{FF2B5EF4-FFF2-40B4-BE49-F238E27FC236}">
                      <a16:creationId xmlns:a16="http://schemas.microsoft.com/office/drawing/2014/main" id="{796A443E-58A3-4611-8CEC-C4F90B3C0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00" y="2976"/>
                  <a:ext cx="0" cy="720"/>
                </a:xfrm>
                <a:prstGeom prst="line">
                  <a:avLst/>
                </a:prstGeom>
                <a:noFill/>
                <a:ln w="19050">
                  <a:solidFill>
                    <a:srgbClr val="C0192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Line 42">
                  <a:extLst>
                    <a:ext uri="{FF2B5EF4-FFF2-40B4-BE49-F238E27FC236}">
                      <a16:creationId xmlns:a16="http://schemas.microsoft.com/office/drawing/2014/main" id="{7B0A391D-AD86-4822-8724-C6415E5C10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12" y="2976"/>
                  <a:ext cx="0" cy="720"/>
                </a:xfrm>
                <a:prstGeom prst="line">
                  <a:avLst/>
                </a:prstGeom>
                <a:noFill/>
                <a:ln w="19050">
                  <a:solidFill>
                    <a:srgbClr val="C0192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6" name="Text Box 43" descr="花岗岩">
                <a:extLst>
                  <a:ext uri="{FF2B5EF4-FFF2-40B4-BE49-F238E27FC236}">
                    <a16:creationId xmlns:a16="http://schemas.microsoft.com/office/drawing/2014/main" id="{BDCA7752-DB7A-48BB-B959-60F414B168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016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b="1"/>
                  <a:t>s</a:t>
                </a:r>
              </a:p>
            </p:txBody>
          </p:sp>
          <p:sp>
            <p:nvSpPr>
              <p:cNvPr id="67" name="Text Box 44" descr="花岗岩">
                <a:extLst>
                  <a:ext uri="{FF2B5EF4-FFF2-40B4-BE49-F238E27FC236}">
                    <a16:creationId xmlns:a16="http://schemas.microsoft.com/office/drawing/2014/main" id="{0F3BB44B-B486-4671-BE8B-E01304DAD7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4" y="960"/>
                <a:ext cx="326" cy="8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en-US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子过程</a:t>
                </a:r>
                <a:r>
                  <a:rPr lang="en-US" altLang="zh-CN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</a:t>
                </a:r>
              </a:p>
            </p:txBody>
          </p:sp>
        </p:grpSp>
        <p:grpSp>
          <p:nvGrpSpPr>
            <p:cNvPr id="51" name="Group 45">
              <a:extLst>
                <a:ext uri="{FF2B5EF4-FFF2-40B4-BE49-F238E27FC236}">
                  <a16:creationId xmlns:a16="http://schemas.microsoft.com/office/drawing/2014/main" id="{3069461F-72BB-4ED7-8A08-1F5505D15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7684" y="1269653"/>
              <a:ext cx="1098550" cy="2209800"/>
              <a:chOff x="3504" y="912"/>
              <a:chExt cx="692" cy="1392"/>
            </a:xfrm>
          </p:grpSpPr>
          <p:sp>
            <p:nvSpPr>
              <p:cNvPr id="59" name="Rectangle 46">
                <a:extLst>
                  <a:ext uri="{FF2B5EF4-FFF2-40B4-BE49-F238E27FC236}">
                    <a16:creationId xmlns:a16="http://schemas.microsoft.com/office/drawing/2014/main" id="{09963793-405E-43E8-8837-8DA9DB55F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488"/>
                <a:ext cx="288" cy="192"/>
              </a:xfrm>
              <a:prstGeom prst="rect">
                <a:avLst/>
              </a:prstGeom>
              <a:solidFill>
                <a:srgbClr val="BEDFC4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dirty="0"/>
                  <a:t>r</a:t>
                </a:r>
              </a:p>
            </p:txBody>
          </p:sp>
          <p:sp>
            <p:nvSpPr>
              <p:cNvPr id="60" name="Rectangle 47">
                <a:extLst>
                  <a:ext uri="{FF2B5EF4-FFF2-40B4-BE49-F238E27FC236}">
                    <a16:creationId xmlns:a16="http://schemas.microsoft.com/office/drawing/2014/main" id="{CBE43FF9-00E2-4366-8315-4F76E9563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296"/>
                <a:ext cx="288" cy="192"/>
              </a:xfrm>
              <a:prstGeom prst="rect">
                <a:avLst/>
              </a:prstGeom>
              <a:solidFill>
                <a:srgbClr val="F0E5B7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/>
                  <a:t>s</a:t>
                </a:r>
              </a:p>
            </p:txBody>
          </p:sp>
          <p:sp>
            <p:nvSpPr>
              <p:cNvPr id="61" name="Line 48">
                <a:extLst>
                  <a:ext uri="{FF2B5EF4-FFF2-40B4-BE49-F238E27FC236}">
                    <a16:creationId xmlns:a16="http://schemas.microsoft.com/office/drawing/2014/main" id="{0DC6C0E9-4E56-428D-AD51-55276A5D7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4" y="960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49">
                <a:extLst>
                  <a:ext uri="{FF2B5EF4-FFF2-40B4-BE49-F238E27FC236}">
                    <a16:creationId xmlns:a16="http://schemas.microsoft.com/office/drawing/2014/main" id="{E7819BE4-4A9F-4E36-936D-EA5F06833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2" y="960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Text Box 50" descr="花岗岩">
                <a:extLst>
                  <a:ext uri="{FF2B5EF4-FFF2-40B4-BE49-F238E27FC236}">
                    <a16:creationId xmlns:a16="http://schemas.microsoft.com/office/drawing/2014/main" id="{BCCA956C-9399-4CDF-80C2-DBF66CB6AE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2016"/>
                <a:ext cx="28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b="1"/>
                  <a:t>t</a:t>
                </a:r>
              </a:p>
            </p:txBody>
          </p:sp>
          <p:sp>
            <p:nvSpPr>
              <p:cNvPr id="64" name="Text Box 51" descr="花岗岩">
                <a:extLst>
                  <a:ext uri="{FF2B5EF4-FFF2-40B4-BE49-F238E27FC236}">
                    <a16:creationId xmlns:a16="http://schemas.microsoft.com/office/drawing/2014/main" id="{0FD8C487-9818-426C-83A1-C477EE514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0" y="912"/>
                <a:ext cx="326" cy="8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en-US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子过程</a:t>
                </a:r>
                <a:r>
                  <a:rPr lang="en-US" altLang="zh-CN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2</a:t>
                </a: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E4340B1F-70B2-4B3A-BA57-43C3C0C1B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25084" y="1498253"/>
              <a:ext cx="1098550" cy="1371600"/>
              <a:chOff x="4800" y="1056"/>
              <a:chExt cx="692" cy="864"/>
            </a:xfrm>
          </p:grpSpPr>
          <p:sp>
            <p:nvSpPr>
              <p:cNvPr id="53" name="Line 53">
                <a:extLst>
                  <a:ext uri="{FF2B5EF4-FFF2-40B4-BE49-F238E27FC236}">
                    <a16:creationId xmlns:a16="http://schemas.microsoft.com/office/drawing/2014/main" id="{219D8EF9-D61C-4C83-B2D2-6E4E21B9E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1104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54">
                <a:extLst>
                  <a:ext uri="{FF2B5EF4-FFF2-40B4-BE49-F238E27FC236}">
                    <a16:creationId xmlns:a16="http://schemas.microsoft.com/office/drawing/2014/main" id="{5BA309CC-F185-48F4-B52F-EC8A96FDD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88" y="1104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Rectangle 55">
                <a:extLst>
                  <a:ext uri="{FF2B5EF4-FFF2-40B4-BE49-F238E27FC236}">
                    <a16:creationId xmlns:a16="http://schemas.microsoft.com/office/drawing/2014/main" id="{534ECA93-442A-4203-942B-E0CFAC2C7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632"/>
                <a:ext cx="288" cy="192"/>
              </a:xfrm>
              <a:prstGeom prst="rect">
                <a:avLst/>
              </a:prstGeom>
              <a:solidFill>
                <a:srgbClr val="BEDFC4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/>
                  <a:t>r</a:t>
                </a:r>
              </a:p>
            </p:txBody>
          </p:sp>
          <p:sp>
            <p:nvSpPr>
              <p:cNvPr id="56" name="Rectangle 56">
                <a:extLst>
                  <a:ext uri="{FF2B5EF4-FFF2-40B4-BE49-F238E27FC236}">
                    <a16:creationId xmlns:a16="http://schemas.microsoft.com/office/drawing/2014/main" id="{E554EE7A-D75B-470A-A09F-0DB6DE72A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440"/>
                <a:ext cx="288" cy="192"/>
              </a:xfrm>
              <a:prstGeom prst="rect">
                <a:avLst/>
              </a:prstGeom>
              <a:solidFill>
                <a:srgbClr val="F0E5B7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/>
                  <a:t>s</a:t>
                </a:r>
              </a:p>
            </p:txBody>
          </p:sp>
          <p:sp>
            <p:nvSpPr>
              <p:cNvPr id="57" name="Rectangle 57">
                <a:extLst>
                  <a:ext uri="{FF2B5EF4-FFF2-40B4-BE49-F238E27FC236}">
                    <a16:creationId xmlns:a16="http://schemas.microsoft.com/office/drawing/2014/main" id="{467C5E0E-274F-44CF-9189-6595F80F2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248"/>
                <a:ext cx="288" cy="192"/>
              </a:xfrm>
              <a:prstGeom prst="rect">
                <a:avLst/>
              </a:prstGeom>
              <a:solidFill>
                <a:srgbClr val="BD6368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/>
                  <a:t>t</a:t>
                </a:r>
              </a:p>
            </p:txBody>
          </p:sp>
          <p:sp>
            <p:nvSpPr>
              <p:cNvPr id="58" name="Text Box 58" descr="花岗岩">
                <a:extLst>
                  <a:ext uri="{FF2B5EF4-FFF2-40B4-BE49-F238E27FC236}">
                    <a16:creationId xmlns:a16="http://schemas.microsoft.com/office/drawing/2014/main" id="{0FB6E44A-795C-46C4-B0DB-975A090F0F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6" y="1056"/>
                <a:ext cx="326" cy="8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en-US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子过程</a:t>
                </a:r>
                <a:r>
                  <a:rPr lang="en-US" altLang="zh-CN" sz="18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2537289"/>
      </p:ext>
    </p:extLst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99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99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9807" grpId="0"/>
      <p:bldP spid="1099809" grpId="0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4">
            <a:extLst>
              <a:ext uri="{FF2B5EF4-FFF2-40B4-BE49-F238E27FC236}">
                <a16:creationId xmlns:a16="http://schemas.microsoft.com/office/drawing/2014/main" id="{75B48A84-0D0D-4F0C-9911-D1F6FC86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101913" name="Rectangle 89"/>
          <p:cNvSpPr>
            <a:spLocks noChangeArrowheads="1"/>
          </p:cNvSpPr>
          <p:nvPr/>
        </p:nvSpPr>
        <p:spPr bwMode="auto">
          <a:xfrm>
            <a:off x="1571512" y="4377136"/>
            <a:ext cx="4895850" cy="2376264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27" name="Rectangle 3"/>
          <p:cNvSpPr>
            <a:spLocks noChangeArrowheads="1"/>
          </p:cNvSpPr>
          <p:nvPr/>
        </p:nvSpPr>
        <p:spPr bwMode="auto">
          <a:xfrm>
            <a:off x="551384" y="992078"/>
            <a:ext cx="7489825" cy="63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lang="zh-CN" altLang="en-US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计算三个数中最大数与最小数的差。</a:t>
            </a:r>
          </a:p>
        </p:txBody>
      </p:sp>
      <p:sp>
        <p:nvSpPr>
          <p:cNvPr id="1101887" name="Rectangle 63" descr="信纸"/>
          <p:cNvSpPr>
            <a:spLocks noChangeArrowheads="1"/>
          </p:cNvSpPr>
          <p:nvPr/>
        </p:nvSpPr>
        <p:spPr bwMode="auto">
          <a:xfrm>
            <a:off x="1558925" y="498064"/>
            <a:ext cx="4896222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/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dif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y,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z);</a:t>
            </a:r>
          </a:p>
          <a:p>
            <a:pPr marL="457200" indent="-457200"/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max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y,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z);</a:t>
            </a:r>
          </a:p>
          <a:p>
            <a:pPr marL="457200" indent="-457200"/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min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y,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z);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sz="2000" b="1" dirty="0"/>
              <a:t>{  </a:t>
            </a:r>
          </a:p>
          <a:p>
            <a:pPr marL="457200" indent="-457200"/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b, c, d;</a:t>
            </a:r>
          </a:p>
          <a:p>
            <a:pPr marL="457200" indent="-457200"/>
            <a:r>
              <a:rPr lang="en-US" altLang="zh-CN" sz="2000" b="1" dirty="0"/>
              <a:t>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("%</a:t>
            </a:r>
            <a:r>
              <a:rPr lang="en-US" altLang="zh-CN" sz="2000" b="1" dirty="0" err="1"/>
              <a:t>d%d%d</a:t>
            </a:r>
            <a:r>
              <a:rPr lang="en-US" altLang="zh-CN" sz="2000" b="1" dirty="0"/>
              <a:t>", &amp;a, &amp;b, &amp;c);</a:t>
            </a:r>
          </a:p>
          <a:p>
            <a:pPr marL="457200" indent="-457200"/>
            <a:r>
              <a:rPr lang="en-US" altLang="zh-CN" sz="2000" b="1" dirty="0"/>
              <a:t>    d = dif (a, b, c);</a:t>
            </a:r>
          </a:p>
          <a:p>
            <a:pPr marL="457200" indent="-457200"/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("Max - Min = %d\n", d);</a:t>
            </a:r>
          </a:p>
          <a:p>
            <a:pPr marL="457200" indent="-457200"/>
            <a:r>
              <a:rPr lang="en-US" altLang="zh-CN" sz="2000" b="1" dirty="0"/>
              <a:t>    return 0;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1888" name="Rectangle 64" descr="信纸"/>
          <p:cNvSpPr>
            <a:spLocks noChangeArrowheads="1"/>
          </p:cNvSpPr>
          <p:nvPr/>
        </p:nvSpPr>
        <p:spPr bwMode="auto">
          <a:xfrm>
            <a:off x="7090921" y="675977"/>
            <a:ext cx="3757607" cy="5921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C01920"/>
                </a:solidFill>
              </a:rPr>
              <a:t>int </a:t>
            </a:r>
            <a:r>
              <a:rPr lang="en-US" altLang="zh-CN" sz="2000" b="1" dirty="0" err="1">
                <a:solidFill>
                  <a:srgbClr val="C01920"/>
                </a:solidFill>
              </a:rPr>
              <a:t>dif</a:t>
            </a:r>
            <a:r>
              <a:rPr lang="en-US" altLang="zh-CN" sz="2000" b="1" dirty="0">
                <a:solidFill>
                  <a:srgbClr val="C01920"/>
                </a:solidFill>
              </a:rPr>
              <a:t> (int x, int y, int z) </a:t>
            </a:r>
          </a:p>
          <a:p>
            <a:pPr marL="457200" indent="-457200"/>
            <a:r>
              <a:rPr lang="en-US" altLang="zh-CN" sz="2000" b="1" dirty="0"/>
              <a:t>{  </a:t>
            </a:r>
          </a:p>
          <a:p>
            <a:pPr marL="457200" indent="-457200"/>
            <a:r>
              <a:rPr lang="en-US" altLang="zh-CN" sz="2000" b="1" dirty="0"/>
              <a:t>    return (max(x, y, z) – </a:t>
            </a:r>
          </a:p>
          <a:p>
            <a:pPr marL="457200" indent="-457200"/>
            <a:r>
              <a:rPr lang="en-US" altLang="zh-CN" sz="2000" b="1" dirty="0"/>
              <a:t>                 min(x, y, z)); </a:t>
            </a:r>
          </a:p>
          <a:p>
            <a:pPr marL="457200" indent="-457200"/>
            <a:r>
              <a:rPr lang="en-US" altLang="zh-CN" sz="2000" b="1" dirty="0"/>
              <a:t> }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int max (int x, int y, int z) </a:t>
            </a:r>
          </a:p>
          <a:p>
            <a:pPr marL="457200" indent="-457200"/>
            <a:r>
              <a:rPr lang="en-US" altLang="zh-CN" sz="2000" b="1" dirty="0"/>
              <a:t>{    </a:t>
            </a:r>
          </a:p>
          <a:p>
            <a:pPr marL="457200" indent="-457200"/>
            <a:r>
              <a:rPr lang="en-US" altLang="zh-CN" sz="2000" b="1" dirty="0"/>
              <a:t>    int r;</a:t>
            </a:r>
          </a:p>
          <a:p>
            <a:pPr marL="457200" indent="-457200"/>
            <a:r>
              <a:rPr lang="en-US" altLang="zh-CN" sz="2000" b="1" dirty="0"/>
              <a:t>    r = x &gt; y ? x : y;</a:t>
            </a:r>
          </a:p>
          <a:p>
            <a:pPr marL="457200" indent="-457200"/>
            <a:r>
              <a:rPr lang="en-US" altLang="zh-CN" sz="2000" b="1" dirty="0"/>
              <a:t>    return (r &gt; z ? r : z);</a:t>
            </a:r>
          </a:p>
          <a:p>
            <a:pPr marL="457200" indent="-457200"/>
            <a:r>
              <a:rPr lang="en-US" altLang="zh-CN" sz="2000" b="1" dirty="0"/>
              <a:t>  }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int min (int x, int y, int z) </a:t>
            </a:r>
          </a:p>
          <a:p>
            <a:pPr marL="457200" indent="-457200"/>
            <a:r>
              <a:rPr lang="en-US" altLang="zh-CN" sz="2000" b="1" dirty="0"/>
              <a:t>{ </a:t>
            </a:r>
          </a:p>
          <a:p>
            <a:pPr marL="457200" indent="-457200"/>
            <a:r>
              <a:rPr lang="en-US" altLang="zh-CN" sz="2000" b="1" dirty="0"/>
              <a:t>    int r;</a:t>
            </a:r>
          </a:p>
          <a:p>
            <a:pPr marL="457200" indent="-457200"/>
            <a:r>
              <a:rPr lang="en-US" altLang="zh-CN" sz="2000" b="1" dirty="0"/>
              <a:t>    r = x &lt; y ? x : y;</a:t>
            </a:r>
          </a:p>
          <a:p>
            <a:pPr marL="457200" indent="-457200"/>
            <a:r>
              <a:rPr lang="en-US" altLang="zh-CN" sz="2000" b="1" dirty="0"/>
              <a:t>    return (r &lt; z ? r : z);</a:t>
            </a:r>
          </a:p>
          <a:p>
            <a:pPr marL="457200" indent="-457200"/>
            <a:r>
              <a:rPr lang="en-US" altLang="zh-CN" sz="2000" b="1" dirty="0"/>
              <a:t>  }</a:t>
            </a:r>
          </a:p>
        </p:txBody>
      </p:sp>
      <p:sp>
        <p:nvSpPr>
          <p:cNvPr id="1101890" name="Text Box 66"/>
          <p:cNvSpPr txBox="1">
            <a:spLocks noChangeArrowheads="1"/>
          </p:cNvSpPr>
          <p:nvPr/>
        </p:nvSpPr>
        <p:spPr bwMode="auto">
          <a:xfrm>
            <a:off x="1832438" y="4339179"/>
            <a:ext cx="9733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main( )</a:t>
            </a:r>
          </a:p>
        </p:txBody>
      </p:sp>
      <p:sp>
        <p:nvSpPr>
          <p:cNvPr id="1101891" name="Text Box 67"/>
          <p:cNvSpPr txBox="1">
            <a:spLocks noChangeArrowheads="1"/>
          </p:cNvSpPr>
          <p:nvPr/>
        </p:nvSpPr>
        <p:spPr bwMode="auto">
          <a:xfrm>
            <a:off x="1547832" y="4996404"/>
            <a:ext cx="15151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dif</a:t>
            </a:r>
          </a:p>
        </p:txBody>
      </p:sp>
      <p:sp>
        <p:nvSpPr>
          <p:cNvPr id="1101892" name="Text Box 68"/>
          <p:cNvSpPr txBox="1">
            <a:spLocks noChangeArrowheads="1"/>
          </p:cNvSpPr>
          <p:nvPr/>
        </p:nvSpPr>
        <p:spPr bwMode="auto">
          <a:xfrm>
            <a:off x="1878204" y="5693416"/>
            <a:ext cx="70083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输出</a:t>
            </a:r>
            <a:endParaRPr lang="zh-CN" altLang="en-US" sz="2000" b="1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pPr algn="ctr" eaLnBrk="0" hangingPunct="0"/>
            <a:r>
              <a:rPr lang="zh-CN" altLang="zh-CN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结束</a:t>
            </a:r>
            <a:endParaRPr lang="zh-CN" altLang="en-US" sz="2000" b="1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893" name="Text Box 69"/>
          <p:cNvSpPr txBox="1">
            <a:spLocks noChangeArrowheads="1"/>
          </p:cNvSpPr>
          <p:nvPr/>
        </p:nvSpPr>
        <p:spPr bwMode="auto">
          <a:xfrm>
            <a:off x="3529352" y="4367754"/>
            <a:ext cx="998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 dirty="0" err="1">
                <a:solidFill>
                  <a:srgbClr val="7030A0"/>
                </a:solidFill>
                <a:latin typeface="+mn-lt"/>
                <a:ea typeface="楷体" pitchFamily="49" charset="-122"/>
              </a:rPr>
              <a:t>dif</a:t>
            </a:r>
            <a:r>
              <a:rPr lang="zh-CN" altLang="zh-CN" sz="2000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7030A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894" name="Text Box 70"/>
          <p:cNvSpPr txBox="1">
            <a:spLocks noChangeArrowheads="1"/>
          </p:cNvSpPr>
          <p:nvPr/>
        </p:nvSpPr>
        <p:spPr bwMode="auto">
          <a:xfrm>
            <a:off x="5120784" y="4448716"/>
            <a:ext cx="11705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max</a:t>
            </a:r>
            <a:r>
              <a:rPr lang="zh-CN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895" name="Text Box 71"/>
          <p:cNvSpPr txBox="1">
            <a:spLocks noChangeArrowheads="1"/>
          </p:cNvSpPr>
          <p:nvPr/>
        </p:nvSpPr>
        <p:spPr bwMode="auto">
          <a:xfrm>
            <a:off x="3163659" y="5085334"/>
            <a:ext cx="1762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max</a:t>
            </a:r>
          </a:p>
        </p:txBody>
      </p:sp>
      <p:sp>
        <p:nvSpPr>
          <p:cNvPr id="1101896" name="Line 72"/>
          <p:cNvSpPr>
            <a:spLocks noChangeShapeType="1"/>
          </p:cNvSpPr>
          <p:nvPr/>
        </p:nvSpPr>
        <p:spPr bwMode="auto">
          <a:xfrm>
            <a:off x="2249258" y="4701159"/>
            <a:ext cx="0" cy="40481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7" name="Line 73"/>
          <p:cNvSpPr>
            <a:spLocks noChangeShapeType="1"/>
          </p:cNvSpPr>
          <p:nvPr/>
        </p:nvSpPr>
        <p:spPr bwMode="auto">
          <a:xfrm>
            <a:off x="2249258" y="5332983"/>
            <a:ext cx="0" cy="45085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8" name="Line 74"/>
          <p:cNvSpPr>
            <a:spLocks noChangeShapeType="1"/>
          </p:cNvSpPr>
          <p:nvPr/>
        </p:nvSpPr>
        <p:spPr bwMode="auto">
          <a:xfrm flipV="1">
            <a:off x="2996972" y="4745608"/>
            <a:ext cx="1019175" cy="496888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9" name="Line 75"/>
          <p:cNvSpPr>
            <a:spLocks noChangeShapeType="1"/>
          </p:cNvSpPr>
          <p:nvPr/>
        </p:nvSpPr>
        <p:spPr bwMode="auto">
          <a:xfrm>
            <a:off x="4016146" y="4836096"/>
            <a:ext cx="0" cy="315912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1" name="Line 77"/>
          <p:cNvSpPr>
            <a:spLocks noChangeShapeType="1"/>
          </p:cNvSpPr>
          <p:nvPr/>
        </p:nvSpPr>
        <p:spPr bwMode="auto">
          <a:xfrm flipH="1" flipV="1">
            <a:off x="2417533" y="5372672"/>
            <a:ext cx="1512888" cy="1309687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2" name="Text Box 78"/>
          <p:cNvSpPr txBox="1">
            <a:spLocks noChangeArrowheads="1"/>
          </p:cNvSpPr>
          <p:nvPr/>
        </p:nvSpPr>
        <p:spPr bwMode="auto">
          <a:xfrm>
            <a:off x="3285897" y="5815584"/>
            <a:ext cx="162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min</a:t>
            </a:r>
          </a:p>
        </p:txBody>
      </p:sp>
      <p:sp>
        <p:nvSpPr>
          <p:cNvPr id="1101903" name="Line 79"/>
          <p:cNvSpPr>
            <a:spLocks noChangeShapeType="1"/>
          </p:cNvSpPr>
          <p:nvPr/>
        </p:nvSpPr>
        <p:spPr bwMode="auto">
          <a:xfrm flipV="1">
            <a:off x="4822596" y="4796409"/>
            <a:ext cx="660400" cy="417513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4" name="Line 80"/>
          <p:cNvSpPr>
            <a:spLocks noChangeShapeType="1"/>
          </p:cNvSpPr>
          <p:nvPr/>
        </p:nvSpPr>
        <p:spPr bwMode="auto">
          <a:xfrm>
            <a:off x="5484583" y="4891659"/>
            <a:ext cx="0" cy="530225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5" name="Line 81"/>
          <p:cNvSpPr>
            <a:spLocks noChangeShapeType="1"/>
          </p:cNvSpPr>
          <p:nvPr/>
        </p:nvSpPr>
        <p:spPr bwMode="auto">
          <a:xfrm flipH="1" flipV="1">
            <a:off x="4811483" y="5350447"/>
            <a:ext cx="692150" cy="128587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6" name="Line 82"/>
          <p:cNvSpPr>
            <a:spLocks noChangeShapeType="1"/>
          </p:cNvSpPr>
          <p:nvPr/>
        </p:nvSpPr>
        <p:spPr bwMode="auto">
          <a:xfrm flipV="1">
            <a:off x="4851172" y="5806058"/>
            <a:ext cx="547687" cy="242888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7" name="Line 83"/>
          <p:cNvSpPr>
            <a:spLocks noChangeShapeType="1"/>
          </p:cNvSpPr>
          <p:nvPr/>
        </p:nvSpPr>
        <p:spPr bwMode="auto">
          <a:xfrm>
            <a:off x="5470296" y="5850508"/>
            <a:ext cx="0" cy="6477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8" name="Line 84"/>
          <p:cNvSpPr>
            <a:spLocks noChangeShapeType="1"/>
          </p:cNvSpPr>
          <p:nvPr/>
        </p:nvSpPr>
        <p:spPr bwMode="auto">
          <a:xfrm flipH="1" flipV="1">
            <a:off x="4751158" y="6164833"/>
            <a:ext cx="712788" cy="3937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9" name="Text Box 85"/>
          <p:cNvSpPr txBox="1">
            <a:spLocks noChangeArrowheads="1"/>
          </p:cNvSpPr>
          <p:nvPr/>
        </p:nvSpPr>
        <p:spPr bwMode="auto">
          <a:xfrm>
            <a:off x="5097233" y="5459984"/>
            <a:ext cx="111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min</a:t>
            </a:r>
            <a:r>
              <a:rPr lang="zh-CN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910" name="Line 86"/>
          <p:cNvSpPr>
            <a:spLocks noChangeShapeType="1"/>
          </p:cNvSpPr>
          <p:nvPr/>
        </p:nvSpPr>
        <p:spPr bwMode="auto">
          <a:xfrm>
            <a:off x="4017733" y="5423472"/>
            <a:ext cx="0" cy="460375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12" name="Line 88"/>
          <p:cNvSpPr>
            <a:spLocks noChangeShapeType="1"/>
          </p:cNvSpPr>
          <p:nvPr/>
        </p:nvSpPr>
        <p:spPr bwMode="auto">
          <a:xfrm>
            <a:off x="4001858" y="6134671"/>
            <a:ext cx="0" cy="557212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7538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1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1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1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01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101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01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101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01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10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101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101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101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019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101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11019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10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101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101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101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101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500"/>
                                        <p:tgtEl>
                                          <p:spTgt spid="11019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3" dur="500"/>
                                        <p:tgtEl>
                                          <p:spTgt spid="110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1101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101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913" grpId="0" animBg="1"/>
      <p:bldP spid="1101887" grpId="0" animBg="1"/>
      <p:bldP spid="1101888" grpId="0" animBg="1"/>
      <p:bldP spid="1101890" grpId="0"/>
      <p:bldP spid="1101891" grpId="0"/>
      <p:bldP spid="1101892" grpId="0"/>
      <p:bldP spid="1101893" grpId="0"/>
      <p:bldP spid="1101894" grpId="0"/>
      <p:bldP spid="1101895" grpId="0"/>
      <p:bldP spid="1101896" grpId="0" animBg="1"/>
      <p:bldP spid="1101897" grpId="0" animBg="1"/>
      <p:bldP spid="1101898" grpId="0" animBg="1"/>
      <p:bldP spid="1101899" grpId="0" animBg="1"/>
      <p:bldP spid="1101901" grpId="0" animBg="1"/>
      <p:bldP spid="1101903" grpId="0" animBg="1"/>
      <p:bldP spid="1101904" grpId="0" animBg="1"/>
      <p:bldP spid="1101905" grpId="0" animBg="1"/>
      <p:bldP spid="1101906" grpId="0" animBg="1"/>
      <p:bldP spid="1101907" grpId="0" animBg="1"/>
      <p:bldP spid="1101908" grpId="0" animBg="1"/>
      <p:bldP spid="1101909" grpId="0"/>
      <p:bldP spid="1101910" grpId="0" animBg="1"/>
      <p:bldP spid="11019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0" name="Rectangle 2"/>
          <p:cNvSpPr>
            <a:spLocks noChangeArrowheads="1"/>
          </p:cNvSpPr>
          <p:nvPr/>
        </p:nvSpPr>
        <p:spPr bwMode="auto">
          <a:xfrm>
            <a:off x="643046" y="1495166"/>
            <a:ext cx="85344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00100" lvl="1" indent="-34290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</a:t>
            </a:r>
            <a:r>
              <a:rPr lang="zh-CN" altLang="en-US" b="1" dirty="0">
                <a:latin typeface="+mn-lt"/>
                <a:ea typeface="楷体" pitchFamily="49" charset="-122"/>
              </a:rPr>
              <a:t>：函数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直接或间接的调用</a:t>
            </a:r>
            <a:r>
              <a:rPr lang="zh-CN" altLang="en-US" b="1" dirty="0">
                <a:latin typeface="+mn-lt"/>
                <a:ea typeface="楷体" pitchFamily="49" charset="-122"/>
              </a:rPr>
              <a:t>自身叫函数的递归调用</a:t>
            </a:r>
          </a:p>
        </p:txBody>
      </p:sp>
      <p:grpSp>
        <p:nvGrpSpPr>
          <p:cNvPr id="1102882" name="Group 34"/>
          <p:cNvGrpSpPr>
            <a:grpSpLocks/>
          </p:cNvGrpSpPr>
          <p:nvPr/>
        </p:nvGrpSpPr>
        <p:grpSpPr bwMode="auto">
          <a:xfrm>
            <a:off x="2063552" y="4987674"/>
            <a:ext cx="1284288" cy="1581149"/>
            <a:chOff x="948" y="2289"/>
            <a:chExt cx="809" cy="996"/>
          </a:xfrm>
        </p:grpSpPr>
        <p:sp>
          <p:nvSpPr>
            <p:cNvPr id="1102852" name="Text Box 4"/>
            <p:cNvSpPr txBox="1">
              <a:spLocks noChangeArrowheads="1"/>
            </p:cNvSpPr>
            <p:nvPr/>
          </p:nvSpPr>
          <p:spPr bwMode="auto">
            <a:xfrm>
              <a:off x="1402" y="2289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rgbClr val="002060"/>
                  </a:solidFill>
                </a:rPr>
                <a:t>f ( )</a:t>
              </a:r>
            </a:p>
          </p:txBody>
        </p:sp>
        <p:sp>
          <p:nvSpPr>
            <p:cNvPr id="1102853" name="Text Box 5"/>
            <p:cNvSpPr txBox="1">
              <a:spLocks noChangeArrowheads="1"/>
            </p:cNvSpPr>
            <p:nvPr/>
          </p:nvSpPr>
          <p:spPr bwMode="auto">
            <a:xfrm>
              <a:off x="1369" y="3033"/>
              <a:ext cx="3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f</a:t>
              </a:r>
            </a:p>
          </p:txBody>
        </p:sp>
        <p:sp>
          <p:nvSpPr>
            <p:cNvPr id="1102854" name="Line 6"/>
            <p:cNvSpPr>
              <a:spLocks noChangeShapeType="1"/>
            </p:cNvSpPr>
            <p:nvPr/>
          </p:nvSpPr>
          <p:spPr bwMode="auto">
            <a:xfrm>
              <a:off x="1552" y="2528"/>
              <a:ext cx="0" cy="53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102881" name="Group 33"/>
            <p:cNvGrpSpPr>
              <a:grpSpLocks/>
            </p:cNvGrpSpPr>
            <p:nvPr/>
          </p:nvGrpSpPr>
          <p:grpSpPr bwMode="auto">
            <a:xfrm>
              <a:off x="948" y="2441"/>
              <a:ext cx="472" cy="722"/>
              <a:chOff x="975" y="2414"/>
              <a:chExt cx="472" cy="722"/>
            </a:xfrm>
          </p:grpSpPr>
          <p:sp>
            <p:nvSpPr>
              <p:cNvPr id="1102855" name="Line 7"/>
              <p:cNvSpPr>
                <a:spLocks noChangeShapeType="1"/>
              </p:cNvSpPr>
              <p:nvPr/>
            </p:nvSpPr>
            <p:spPr bwMode="auto">
              <a:xfrm flipH="1">
                <a:off x="975" y="3136"/>
                <a:ext cx="406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56" name="Line 8"/>
              <p:cNvSpPr>
                <a:spLocks noChangeShapeType="1"/>
              </p:cNvSpPr>
              <p:nvPr/>
            </p:nvSpPr>
            <p:spPr bwMode="auto">
              <a:xfrm flipV="1">
                <a:off x="975" y="2414"/>
                <a:ext cx="0" cy="722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57" name="Line 9"/>
              <p:cNvSpPr>
                <a:spLocks noChangeShapeType="1"/>
              </p:cNvSpPr>
              <p:nvPr/>
            </p:nvSpPr>
            <p:spPr bwMode="auto">
              <a:xfrm>
                <a:off x="975" y="2414"/>
                <a:ext cx="472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02887" name="Group 39"/>
          <p:cNvGrpSpPr>
            <a:grpSpLocks/>
          </p:cNvGrpSpPr>
          <p:nvPr/>
        </p:nvGrpSpPr>
        <p:grpSpPr bwMode="auto">
          <a:xfrm>
            <a:off x="5674096" y="5170237"/>
            <a:ext cx="2052638" cy="1482726"/>
            <a:chOff x="2767" y="2395"/>
            <a:chExt cx="1293" cy="934"/>
          </a:xfrm>
        </p:grpSpPr>
        <p:sp>
          <p:nvSpPr>
            <p:cNvPr id="1102859" name="Text Box 11"/>
            <p:cNvSpPr txBox="1">
              <a:spLocks noChangeArrowheads="1"/>
            </p:cNvSpPr>
            <p:nvPr/>
          </p:nvSpPr>
          <p:spPr bwMode="auto">
            <a:xfrm>
              <a:off x="2767" y="3077"/>
              <a:ext cx="41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f2</a:t>
              </a:r>
            </a:p>
          </p:txBody>
        </p:sp>
        <p:sp>
          <p:nvSpPr>
            <p:cNvPr id="1102860" name="Text Box 12"/>
            <p:cNvSpPr txBox="1">
              <a:spLocks noChangeArrowheads="1"/>
            </p:cNvSpPr>
            <p:nvPr/>
          </p:nvSpPr>
          <p:spPr bwMode="auto">
            <a:xfrm>
              <a:off x="3378" y="3072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f1</a:t>
              </a:r>
            </a:p>
          </p:txBody>
        </p:sp>
        <p:sp>
          <p:nvSpPr>
            <p:cNvPr id="1102861" name="Text Box 13"/>
            <p:cNvSpPr txBox="1">
              <a:spLocks noChangeArrowheads="1"/>
            </p:cNvSpPr>
            <p:nvPr/>
          </p:nvSpPr>
          <p:spPr bwMode="auto">
            <a:xfrm>
              <a:off x="2811" y="2462"/>
              <a:ext cx="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rgbClr val="002060"/>
                  </a:solidFill>
                  <a:ea typeface="楷体_GB2312" pitchFamily="49" charset="-122"/>
                </a:rPr>
                <a:t>f1( )</a:t>
              </a:r>
            </a:p>
          </p:txBody>
        </p:sp>
        <p:sp>
          <p:nvSpPr>
            <p:cNvPr id="1102862" name="Text Box 14"/>
            <p:cNvSpPr txBox="1">
              <a:spLocks noChangeArrowheads="1"/>
            </p:cNvSpPr>
            <p:nvPr/>
          </p:nvSpPr>
          <p:spPr bwMode="auto">
            <a:xfrm>
              <a:off x="3453" y="2426"/>
              <a:ext cx="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 dirty="0">
                  <a:solidFill>
                    <a:srgbClr val="002060"/>
                  </a:solidFill>
                  <a:ea typeface="楷体_GB2312" pitchFamily="49" charset="-122"/>
                </a:rPr>
                <a:t>f2( )</a:t>
              </a:r>
            </a:p>
          </p:txBody>
        </p:sp>
        <p:sp>
          <p:nvSpPr>
            <p:cNvPr id="1102863" name="Line 15"/>
            <p:cNvSpPr>
              <a:spLocks noChangeShapeType="1"/>
            </p:cNvSpPr>
            <p:nvPr/>
          </p:nvSpPr>
          <p:spPr bwMode="auto">
            <a:xfrm>
              <a:off x="2964" y="2669"/>
              <a:ext cx="0" cy="44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64" name="Line 16"/>
            <p:cNvSpPr>
              <a:spLocks noChangeShapeType="1"/>
            </p:cNvSpPr>
            <p:nvPr/>
          </p:nvSpPr>
          <p:spPr bwMode="auto">
            <a:xfrm flipV="1">
              <a:off x="3035" y="2634"/>
              <a:ext cx="500" cy="479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65" name="Line 17"/>
            <p:cNvSpPr>
              <a:spLocks noChangeShapeType="1"/>
            </p:cNvSpPr>
            <p:nvPr/>
          </p:nvSpPr>
          <p:spPr bwMode="auto">
            <a:xfrm>
              <a:off x="3598" y="2676"/>
              <a:ext cx="0" cy="41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102886" name="Group 38"/>
            <p:cNvGrpSpPr>
              <a:grpSpLocks/>
            </p:cNvGrpSpPr>
            <p:nvPr/>
          </p:nvGrpSpPr>
          <p:grpSpPr bwMode="auto">
            <a:xfrm>
              <a:off x="2964" y="2395"/>
              <a:ext cx="1096" cy="821"/>
              <a:chOff x="2964" y="2395"/>
              <a:chExt cx="1096" cy="821"/>
            </a:xfrm>
          </p:grpSpPr>
          <p:sp>
            <p:nvSpPr>
              <p:cNvPr id="1102866" name="Line 18"/>
              <p:cNvSpPr>
                <a:spLocks noChangeShapeType="1"/>
              </p:cNvSpPr>
              <p:nvPr/>
            </p:nvSpPr>
            <p:spPr bwMode="auto">
              <a:xfrm>
                <a:off x="3845" y="3216"/>
                <a:ext cx="215" cy="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7" name="Line 19"/>
              <p:cNvSpPr>
                <a:spLocks noChangeShapeType="1"/>
              </p:cNvSpPr>
              <p:nvPr/>
            </p:nvSpPr>
            <p:spPr bwMode="auto">
              <a:xfrm flipV="1">
                <a:off x="4059" y="2395"/>
                <a:ext cx="0" cy="821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8" name="Line 20"/>
              <p:cNvSpPr>
                <a:spLocks noChangeShapeType="1"/>
              </p:cNvSpPr>
              <p:nvPr/>
            </p:nvSpPr>
            <p:spPr bwMode="auto">
              <a:xfrm flipH="1">
                <a:off x="2964" y="2395"/>
                <a:ext cx="1095" cy="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9" name="Line 21"/>
              <p:cNvSpPr>
                <a:spLocks noChangeShapeType="1"/>
              </p:cNvSpPr>
              <p:nvPr/>
            </p:nvSpPr>
            <p:spPr bwMode="auto">
              <a:xfrm>
                <a:off x="2964" y="2395"/>
                <a:ext cx="0" cy="103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02871" name="Text Box 23" descr="信纸"/>
          <p:cNvSpPr txBox="1">
            <a:spLocks noChangeArrowheads="1"/>
          </p:cNvSpPr>
          <p:nvPr/>
        </p:nvSpPr>
        <p:spPr bwMode="auto">
          <a:xfrm>
            <a:off x="1775520" y="2191544"/>
            <a:ext cx="2088232" cy="2568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2000" b="1" dirty="0"/>
              <a:t>int  </a:t>
            </a:r>
            <a:r>
              <a:rPr lang="en-US" altLang="zh-CN" sz="2000" b="1" dirty="0">
                <a:solidFill>
                  <a:srgbClr val="002060"/>
                </a:solidFill>
              </a:rPr>
              <a:t>f (int x)</a:t>
            </a:r>
          </a:p>
          <a:p>
            <a:r>
              <a:rPr lang="en-US" altLang="zh-CN" sz="2000" b="1" dirty="0"/>
              <a:t>{    </a:t>
            </a:r>
          </a:p>
          <a:p>
            <a:r>
              <a:rPr lang="en-US" altLang="zh-CN" sz="2000" b="1" dirty="0"/>
              <a:t>   int y, z;</a:t>
            </a:r>
          </a:p>
          <a:p>
            <a:r>
              <a:rPr lang="en-US" altLang="zh-CN" sz="2000" b="1" dirty="0"/>
              <a:t>   ……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z = f (y);</a:t>
            </a:r>
          </a:p>
          <a:p>
            <a:r>
              <a:rPr lang="en-US" altLang="zh-CN" sz="2000" b="1" dirty="0"/>
              <a:t>    …….</a:t>
            </a:r>
          </a:p>
          <a:p>
            <a:r>
              <a:rPr lang="en-US" altLang="zh-CN" sz="2000" b="1" dirty="0"/>
              <a:t>   return (2*z);</a:t>
            </a:r>
          </a:p>
          <a:p>
            <a:r>
              <a:rPr lang="en-US" altLang="zh-CN" sz="2000" b="1" dirty="0"/>
              <a:t>}</a:t>
            </a:r>
          </a:p>
        </p:txBody>
      </p:sp>
      <p:grpSp>
        <p:nvGrpSpPr>
          <p:cNvPr id="1102884" name="Group 36"/>
          <p:cNvGrpSpPr>
            <a:grpSpLocks/>
          </p:cNvGrpSpPr>
          <p:nvPr/>
        </p:nvGrpSpPr>
        <p:grpSpPr bwMode="auto">
          <a:xfrm>
            <a:off x="4402510" y="2175669"/>
            <a:ext cx="4752975" cy="2605087"/>
            <a:chOff x="2245" y="627"/>
            <a:chExt cx="2994" cy="1641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02883" name="Rectangle 35" descr="信纸"/>
            <p:cNvSpPr>
              <a:spLocks noChangeArrowheads="1"/>
            </p:cNvSpPr>
            <p:nvPr/>
          </p:nvSpPr>
          <p:spPr bwMode="auto">
            <a:xfrm>
              <a:off x="2245" y="627"/>
              <a:ext cx="2994" cy="1633"/>
            </a:xfrm>
            <a:prstGeom prst="rect">
              <a:avLst/>
            </a:prstGeom>
            <a:gradFill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73" name="Text Box 25"/>
            <p:cNvSpPr txBox="1">
              <a:spLocks noChangeArrowheads="1"/>
            </p:cNvSpPr>
            <p:nvPr/>
          </p:nvSpPr>
          <p:spPr bwMode="auto">
            <a:xfrm>
              <a:off x="2327" y="674"/>
              <a:ext cx="1110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int  </a:t>
              </a:r>
              <a:r>
                <a:rPr lang="en-US" altLang="zh-CN" sz="2000" b="1" dirty="0">
                  <a:solidFill>
                    <a:srgbClr val="002060"/>
                  </a:solidFill>
                </a:rPr>
                <a:t>f1 (int x)</a:t>
              </a:r>
            </a:p>
            <a:p>
              <a:r>
                <a:rPr lang="en-US" altLang="zh-CN" sz="2000" b="1" dirty="0"/>
                <a:t>{    </a:t>
              </a:r>
            </a:p>
            <a:p>
              <a:r>
                <a:rPr lang="en-US" altLang="zh-CN" sz="2000" b="1" dirty="0"/>
                <a:t>   int </a:t>
              </a:r>
              <a:r>
                <a:rPr lang="en-US" altLang="zh-CN" sz="2000" b="1" dirty="0" err="1"/>
                <a:t>y,z</a:t>
              </a:r>
              <a:r>
                <a:rPr lang="en-US" altLang="zh-CN" sz="2000" b="1" dirty="0"/>
                <a:t>;</a:t>
              </a:r>
            </a:p>
            <a:p>
              <a:r>
                <a:rPr lang="en-US" altLang="zh-CN" sz="2000" b="1" dirty="0"/>
                <a:t>   ……</a:t>
              </a:r>
            </a:p>
            <a:p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</a:rPr>
                <a:t>   z = f2 (y);</a:t>
              </a:r>
            </a:p>
            <a:p>
              <a:r>
                <a:rPr lang="en-US" altLang="zh-CN" sz="2000" b="1" dirty="0"/>
                <a:t>   …….</a:t>
              </a:r>
            </a:p>
            <a:p>
              <a:r>
                <a:rPr lang="en-US" altLang="zh-CN" sz="2000" b="1" dirty="0"/>
                <a:t>   return (2*z);</a:t>
              </a:r>
            </a:p>
            <a:p>
              <a:r>
                <a:rPr lang="en-US" altLang="zh-CN" sz="2000" b="1" dirty="0"/>
                <a:t>}</a:t>
              </a:r>
            </a:p>
          </p:txBody>
        </p:sp>
        <p:sp>
          <p:nvSpPr>
            <p:cNvPr id="1102874" name="Text Box 26"/>
            <p:cNvSpPr txBox="1">
              <a:spLocks noChangeArrowheads="1"/>
            </p:cNvSpPr>
            <p:nvPr/>
          </p:nvSpPr>
          <p:spPr bwMode="auto">
            <a:xfrm>
              <a:off x="3916" y="663"/>
              <a:ext cx="1121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int  </a:t>
              </a:r>
              <a:r>
                <a:rPr lang="en-US" altLang="zh-CN" sz="2000" b="1" dirty="0">
                  <a:solidFill>
                    <a:srgbClr val="002060"/>
                  </a:solidFill>
                </a:rPr>
                <a:t>f2 (int t)</a:t>
              </a:r>
            </a:p>
            <a:p>
              <a:r>
                <a:rPr lang="en-US" altLang="zh-CN" sz="2000" b="1" dirty="0"/>
                <a:t>{    </a:t>
              </a:r>
            </a:p>
            <a:p>
              <a:r>
                <a:rPr lang="en-US" altLang="zh-CN" sz="2000" b="1" dirty="0"/>
                <a:t>   int </a:t>
              </a:r>
              <a:r>
                <a:rPr lang="en-US" altLang="zh-CN" sz="2000" b="1" dirty="0" err="1"/>
                <a:t>a,c</a:t>
              </a:r>
              <a:r>
                <a:rPr lang="en-US" altLang="zh-CN" sz="2000" b="1" dirty="0"/>
                <a:t>;</a:t>
              </a:r>
            </a:p>
            <a:p>
              <a:r>
                <a:rPr lang="en-US" altLang="zh-CN" sz="2000" b="1" dirty="0"/>
                <a:t>    ……</a:t>
              </a:r>
            </a:p>
            <a:p>
              <a:r>
                <a:rPr lang="en-US" altLang="zh-CN" sz="2000" b="1" dirty="0"/>
                <a:t>   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</a:rPr>
                <a:t>c = f1 (a);</a:t>
              </a:r>
            </a:p>
            <a:p>
              <a:r>
                <a:rPr lang="en-US" altLang="zh-CN" sz="2000" b="1" dirty="0"/>
                <a:t>   …….</a:t>
              </a:r>
            </a:p>
            <a:p>
              <a:r>
                <a:rPr lang="en-US" altLang="zh-CN" sz="2000" b="1" dirty="0"/>
                <a:t>   return (3+c);</a:t>
              </a:r>
            </a:p>
            <a:p>
              <a:r>
                <a:rPr lang="en-US" altLang="zh-CN" sz="2000" b="1" dirty="0"/>
                <a:t>}</a:t>
              </a:r>
            </a:p>
          </p:txBody>
        </p:sp>
        <p:sp>
          <p:nvSpPr>
            <p:cNvPr id="1102875" name="Line 27"/>
            <p:cNvSpPr>
              <a:spLocks noChangeShapeType="1"/>
            </p:cNvSpPr>
            <p:nvPr/>
          </p:nvSpPr>
          <p:spPr bwMode="auto">
            <a:xfrm flipV="1">
              <a:off x="3061" y="826"/>
              <a:ext cx="906" cy="65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2876" name="Line 28"/>
            <p:cNvSpPr>
              <a:spLocks noChangeShapeType="1"/>
            </p:cNvSpPr>
            <p:nvPr/>
          </p:nvSpPr>
          <p:spPr bwMode="auto">
            <a:xfrm flipH="1" flipV="1">
              <a:off x="3086" y="921"/>
              <a:ext cx="992" cy="64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02888" name="AutoShape 40"/>
          <p:cNvSpPr>
            <a:spLocks noChangeArrowheads="1"/>
          </p:cNvSpPr>
          <p:nvPr/>
        </p:nvSpPr>
        <p:spPr bwMode="auto">
          <a:xfrm>
            <a:off x="3460553" y="5790949"/>
            <a:ext cx="1368425" cy="431800"/>
          </a:xfrm>
          <a:prstGeom prst="wedgeRoundRectCallout">
            <a:avLst>
              <a:gd name="adj1" fmla="val -77495"/>
              <a:gd name="adj2" fmla="val -14264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000" b="1" dirty="0">
                <a:solidFill>
                  <a:srgbClr val="C01920"/>
                </a:solidFill>
                <a:ea typeface="隶书" pitchFamily="49" charset="-122"/>
              </a:rPr>
              <a:t>直接递归</a:t>
            </a:r>
          </a:p>
        </p:txBody>
      </p:sp>
      <p:sp>
        <p:nvSpPr>
          <p:cNvPr id="1102889" name="AutoShape 41"/>
          <p:cNvSpPr>
            <a:spLocks noChangeArrowheads="1"/>
          </p:cNvSpPr>
          <p:nvPr/>
        </p:nvSpPr>
        <p:spPr bwMode="auto">
          <a:xfrm>
            <a:off x="8218860" y="5821111"/>
            <a:ext cx="1368425" cy="431800"/>
          </a:xfrm>
          <a:prstGeom prst="wedgeRoundRectCallout">
            <a:avLst>
              <a:gd name="adj1" fmla="val -101394"/>
              <a:gd name="adj2" fmla="val -16139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002060"/>
                </a:solidFill>
                <a:ea typeface="隶书" pitchFamily="49" charset="-122"/>
              </a:rPr>
              <a:t>间接递归</a:t>
            </a: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9FFA1E38-A299-4CAC-A186-B47639107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F20BC2FF-1FFD-4922-A156-58957CA5F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、函数递归调用</a:t>
            </a:r>
          </a:p>
        </p:txBody>
      </p:sp>
    </p:spTree>
    <p:extLst>
      <p:ext uri="{BB962C8B-B14F-4D97-AF65-F5344CB8AC3E}">
        <p14:creationId xmlns:p14="http://schemas.microsoft.com/office/powerpoint/2010/main" val="11008515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0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028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10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02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102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102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0" grpId="0" build="p" bldLvl="3" autoUpdateAnimBg="0"/>
      <p:bldP spid="1102871" grpId="0" animBg="1" autoUpdateAnimBg="0"/>
      <p:bldP spid="1102888" grpId="0" animBg="1"/>
      <p:bldP spid="1102889" grpId="0" animBg="1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70" name="Rectangle 22"/>
          <p:cNvSpPr>
            <a:spLocks noChangeArrowheads="1"/>
          </p:cNvSpPr>
          <p:nvPr/>
        </p:nvSpPr>
        <p:spPr bwMode="auto">
          <a:xfrm>
            <a:off x="1199456" y="1556792"/>
            <a:ext cx="194468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481281" name="Rectangle 1"/>
          <p:cNvSpPr>
            <a:spLocks noChangeArrowheads="1"/>
          </p:cNvSpPr>
          <p:nvPr/>
        </p:nvSpPr>
        <p:spPr bwMode="auto">
          <a:xfrm>
            <a:off x="1421298" y="2140875"/>
            <a:ext cx="10081766" cy="34163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363" indent="-360363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递归函数主要用于解决具有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递归性质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的问题，即无论问题规模的大小，所处理的方法和步骤都是一样的。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eaLnBrk="0" hangingPunct="0">
              <a:buClr>
                <a:srgbClr val="C01920"/>
              </a:buClr>
              <a:tabLst>
                <a:tab pos="533400" algn="l"/>
              </a:tabLst>
            </a:pP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265113" indent="-265113"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编写递归函数时不应出现无终止的递归调用，而应当在递归次数或递归调用条件上加以限制，这就是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递归结束条件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的问题。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265113" indent="-265113"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265113" indent="-265113"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每调用函数一次，在内存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堆栈区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都要分配空间，用于存放函数变量、返回值等信息，所以应避免递归次数过多，以防止可能引起的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堆栈溢出问题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。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F68AB0C-28D1-4797-88AB-BBBBDB160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A4FBEAC-B2AD-4423-91D2-4F36FF4E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、函数递归调用</a:t>
            </a:r>
          </a:p>
        </p:txBody>
      </p:sp>
    </p:spTree>
    <p:extLst>
      <p:ext uri="{BB962C8B-B14F-4D97-AF65-F5344CB8AC3E}">
        <p14:creationId xmlns:p14="http://schemas.microsoft.com/office/powerpoint/2010/main" val="40343365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2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2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70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Text Box 2"/>
          <p:cNvSpPr txBox="1">
            <a:spLocks noChangeArrowheads="1"/>
          </p:cNvSpPr>
          <p:nvPr/>
        </p:nvSpPr>
        <p:spPr bwMode="auto">
          <a:xfrm>
            <a:off x="879996" y="3260022"/>
            <a:ext cx="4279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递归的执行情况分析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03875" name="Rectangle 3"/>
          <p:cNvSpPr>
            <a:spLocks noChangeArrowheads="1"/>
          </p:cNvSpPr>
          <p:nvPr/>
        </p:nvSpPr>
        <p:spPr bwMode="auto">
          <a:xfrm>
            <a:off x="1095536" y="1645358"/>
            <a:ext cx="7283450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递归过程及其实现</a:t>
            </a:r>
          </a:p>
          <a:p>
            <a:pPr marL="742950" lvl="1" indent="-28575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递归：函数直接或间接的调用自身叫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递归</a:t>
            </a:r>
          </a:p>
          <a:p>
            <a:pPr marL="742950" lvl="1" indent="-28575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实现：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建立递归工作栈</a:t>
            </a:r>
          </a:p>
        </p:txBody>
      </p:sp>
      <p:sp>
        <p:nvSpPr>
          <p:cNvPr id="1103877" name="Text Box 5"/>
          <p:cNvSpPr txBox="1">
            <a:spLocks noChangeArrowheads="1"/>
          </p:cNvSpPr>
          <p:nvPr/>
        </p:nvSpPr>
        <p:spPr bwMode="auto">
          <a:xfrm>
            <a:off x="3215680" y="5057889"/>
            <a:ext cx="1944216" cy="132343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1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2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  <a:r>
              <a:rPr lang="en-US" altLang="zh-CN" sz="2000" dirty="0">
                <a:solidFill>
                  <a:srgbClr val="002060"/>
                </a:solidFill>
              </a:rPr>
              <a:t>2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3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  <a:r>
              <a:rPr lang="en-US" altLang="zh-CN" sz="2000" dirty="0">
                <a:solidFill>
                  <a:srgbClr val="002060"/>
                </a:solidFill>
              </a:rPr>
              <a:t>3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  <a:r>
              <a:rPr lang="en-US" altLang="zh-CN" sz="2000" dirty="0">
                <a:solidFill>
                  <a:srgbClr val="002060"/>
                </a:solidFill>
              </a:rPr>
              <a:t>3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</a:p>
        </p:txBody>
      </p:sp>
      <p:sp>
        <p:nvSpPr>
          <p:cNvPr id="1103881" name="Text Box 9" descr="信纸"/>
          <p:cNvSpPr txBox="1">
            <a:spLocks noChangeArrowheads="1"/>
          </p:cNvSpPr>
          <p:nvPr/>
        </p:nvSpPr>
        <p:spPr bwMode="auto">
          <a:xfrm>
            <a:off x="6358051" y="1442609"/>
            <a:ext cx="5083100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print (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w);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print ( 3 );  }</a:t>
            </a:r>
          </a:p>
          <a:p>
            <a:pPr marL="457200" indent="-457200"/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void print (</a:t>
            </a:r>
            <a:r>
              <a:rPr lang="en-US" altLang="zh-CN" sz="2000" b="1" dirty="0" err="1">
                <a:solidFill>
                  <a:srgbClr val="7030A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 w)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递归函数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 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if ( w != 0)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递归结束条件</a:t>
            </a:r>
          </a:p>
          <a:p>
            <a:pPr marL="457200" indent="-457200"/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{  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print (w-1);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&lt;= w; ++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w);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("\n");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46ABDA-15B5-4D7C-B2CE-EF9B165B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E2F990-FAEF-41BB-8DBD-3E286043F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、函数递归调用</a:t>
            </a:r>
          </a:p>
        </p:txBody>
      </p:sp>
    </p:spTree>
    <p:extLst>
      <p:ext uri="{BB962C8B-B14F-4D97-AF65-F5344CB8AC3E}">
        <p14:creationId xmlns:p14="http://schemas.microsoft.com/office/powerpoint/2010/main" val="17252736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103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038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03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4" grpId="0" build="p" autoUpdateAnimBg="0"/>
      <p:bldP spid="1103875" grpId="0" build="p" bldLvl="5" autoUpdateAnimBg="0"/>
      <p:bldP spid="1103877" grpId="0" animBg="1" autoUpdateAnimBg="0"/>
      <p:bldP spid="1103881" grpId="0" animBg="1" autoUpdateAnimBg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Box 2"/>
          <p:cNvSpPr txBox="1">
            <a:spLocks noChangeArrowheads="1"/>
          </p:cNvSpPr>
          <p:nvPr/>
        </p:nvSpPr>
        <p:spPr bwMode="auto">
          <a:xfrm>
            <a:off x="855283" y="889414"/>
            <a:ext cx="3672210" cy="457200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递归调用执行情况如下：</a:t>
            </a:r>
          </a:p>
        </p:txBody>
      </p:sp>
      <p:sp>
        <p:nvSpPr>
          <p:cNvPr id="326" name="Rectangle 4">
            <a:extLst>
              <a:ext uri="{FF2B5EF4-FFF2-40B4-BE49-F238E27FC236}">
                <a16:creationId xmlns:a16="http://schemas.microsoft.com/office/drawing/2014/main" id="{145FE9E5-2E1B-4F44-84ED-000DA2DDB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grpSp>
        <p:nvGrpSpPr>
          <p:cNvPr id="328" name="Group 3">
            <a:extLst>
              <a:ext uri="{FF2B5EF4-FFF2-40B4-BE49-F238E27FC236}">
                <a16:creationId xmlns:a16="http://schemas.microsoft.com/office/drawing/2014/main" id="{E7F11D47-D1C9-4FCB-AAEF-7B11F0EA20FA}"/>
              </a:ext>
            </a:extLst>
          </p:cNvPr>
          <p:cNvGrpSpPr>
            <a:grpSpLocks/>
          </p:cNvGrpSpPr>
          <p:nvPr/>
        </p:nvGrpSpPr>
        <p:grpSpPr bwMode="auto">
          <a:xfrm>
            <a:off x="2326704" y="1858094"/>
            <a:ext cx="1219200" cy="914400"/>
            <a:chOff x="528" y="1008"/>
            <a:chExt cx="768" cy="576"/>
          </a:xfrm>
        </p:grpSpPr>
        <p:sp>
          <p:nvSpPr>
            <p:cNvPr id="329" name="Text Box 4">
              <a:extLst>
                <a:ext uri="{FF2B5EF4-FFF2-40B4-BE49-F238E27FC236}">
                  <a16:creationId xmlns:a16="http://schemas.microsoft.com/office/drawing/2014/main" id="{6448340F-33EB-4B4D-A7B0-7E47E7116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00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主程序</a:t>
              </a:r>
            </a:p>
          </p:txBody>
        </p:sp>
        <p:sp>
          <p:nvSpPr>
            <p:cNvPr id="330" name="Line 5">
              <a:extLst>
                <a:ext uri="{FF2B5EF4-FFF2-40B4-BE49-F238E27FC236}">
                  <a16:creationId xmlns:a16="http://schemas.microsoft.com/office/drawing/2014/main" id="{25C11343-9A44-4466-A6DF-002C8F532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9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331" name="Group 6">
            <a:extLst>
              <a:ext uri="{FF2B5EF4-FFF2-40B4-BE49-F238E27FC236}">
                <a16:creationId xmlns:a16="http://schemas.microsoft.com/office/drawing/2014/main" id="{5EFB21DC-EE64-48A9-8AFF-20CD37E4B174}"/>
              </a:ext>
            </a:extLst>
          </p:cNvPr>
          <p:cNvGrpSpPr>
            <a:grpSpLocks/>
          </p:cNvGrpSpPr>
          <p:nvPr/>
        </p:nvGrpSpPr>
        <p:grpSpPr bwMode="auto">
          <a:xfrm>
            <a:off x="3622104" y="2315294"/>
            <a:ext cx="457200" cy="990600"/>
            <a:chOff x="1008" y="1536"/>
            <a:chExt cx="288" cy="624"/>
          </a:xfrm>
        </p:grpSpPr>
        <p:sp>
          <p:nvSpPr>
            <p:cNvPr id="332" name="Line 7">
              <a:extLst>
                <a:ext uri="{FF2B5EF4-FFF2-40B4-BE49-F238E27FC236}">
                  <a16:creationId xmlns:a16="http://schemas.microsoft.com/office/drawing/2014/main" id="{C40E30DE-C383-483E-8341-0528D0A73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60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8">
              <a:extLst>
                <a:ext uri="{FF2B5EF4-FFF2-40B4-BE49-F238E27FC236}">
                  <a16:creationId xmlns:a16="http://schemas.microsoft.com/office/drawing/2014/main" id="{F4E3AEE7-4E00-4F68-8731-2B36990B4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36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9">
              <a:extLst>
                <a:ext uri="{FF2B5EF4-FFF2-40B4-BE49-F238E27FC236}">
                  <a16:creationId xmlns:a16="http://schemas.microsoft.com/office/drawing/2014/main" id="{778EA5B6-7CEC-4167-B6D2-B70DFC121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2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5" name="Group 10">
            <a:extLst>
              <a:ext uri="{FF2B5EF4-FFF2-40B4-BE49-F238E27FC236}">
                <a16:creationId xmlns:a16="http://schemas.microsoft.com/office/drawing/2014/main" id="{B75B931C-328C-4FAF-8CD9-F83EBD708C9D}"/>
              </a:ext>
            </a:extLst>
          </p:cNvPr>
          <p:cNvGrpSpPr>
            <a:grpSpLocks/>
          </p:cNvGrpSpPr>
          <p:nvPr/>
        </p:nvGrpSpPr>
        <p:grpSpPr bwMode="auto">
          <a:xfrm>
            <a:off x="7355904" y="1172294"/>
            <a:ext cx="457200" cy="990600"/>
            <a:chOff x="1008" y="1536"/>
            <a:chExt cx="288" cy="624"/>
          </a:xfrm>
        </p:grpSpPr>
        <p:sp>
          <p:nvSpPr>
            <p:cNvPr id="336" name="Line 11">
              <a:extLst>
                <a:ext uri="{FF2B5EF4-FFF2-40B4-BE49-F238E27FC236}">
                  <a16:creationId xmlns:a16="http://schemas.microsoft.com/office/drawing/2014/main" id="{6977577F-AC73-4A5C-8118-77D58A6A4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60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12">
              <a:extLst>
                <a:ext uri="{FF2B5EF4-FFF2-40B4-BE49-F238E27FC236}">
                  <a16:creationId xmlns:a16="http://schemas.microsoft.com/office/drawing/2014/main" id="{61CF6DEE-033C-4C80-B99A-CD8546C65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36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13">
              <a:extLst>
                <a:ext uri="{FF2B5EF4-FFF2-40B4-BE49-F238E27FC236}">
                  <a16:creationId xmlns:a16="http://schemas.microsoft.com/office/drawing/2014/main" id="{705E4DAC-315F-4BBB-9353-0B8376C9B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2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" name="Group 14">
            <a:extLst>
              <a:ext uri="{FF2B5EF4-FFF2-40B4-BE49-F238E27FC236}">
                <a16:creationId xmlns:a16="http://schemas.microsoft.com/office/drawing/2014/main" id="{16FD8C5D-159F-40D1-8030-A1F7DF136CAE}"/>
              </a:ext>
            </a:extLst>
          </p:cNvPr>
          <p:cNvGrpSpPr>
            <a:grpSpLocks/>
          </p:cNvGrpSpPr>
          <p:nvPr/>
        </p:nvGrpSpPr>
        <p:grpSpPr bwMode="auto">
          <a:xfrm>
            <a:off x="5603304" y="1629494"/>
            <a:ext cx="533400" cy="1143000"/>
            <a:chOff x="2592" y="864"/>
            <a:chExt cx="336" cy="720"/>
          </a:xfrm>
        </p:grpSpPr>
        <p:sp>
          <p:nvSpPr>
            <p:cNvPr id="340" name="Line 15">
              <a:extLst>
                <a:ext uri="{FF2B5EF4-FFF2-40B4-BE49-F238E27FC236}">
                  <a16:creationId xmlns:a16="http://schemas.microsoft.com/office/drawing/2014/main" id="{C329792B-A3A0-4ACE-B42A-3FF850A23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584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16">
              <a:extLst>
                <a:ext uri="{FF2B5EF4-FFF2-40B4-BE49-F238E27FC236}">
                  <a16:creationId xmlns:a16="http://schemas.microsoft.com/office/drawing/2014/main" id="{52E311AF-04C4-40EB-A226-F988DFAEF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864"/>
              <a:ext cx="0" cy="72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17">
              <a:extLst>
                <a:ext uri="{FF2B5EF4-FFF2-40B4-BE49-F238E27FC236}">
                  <a16:creationId xmlns:a16="http://schemas.microsoft.com/office/drawing/2014/main" id="{416C6264-4184-4F41-9F1A-CF8BDFCAA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864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3" name="Group 18">
            <a:extLst>
              <a:ext uri="{FF2B5EF4-FFF2-40B4-BE49-F238E27FC236}">
                <a16:creationId xmlns:a16="http://schemas.microsoft.com/office/drawing/2014/main" id="{4EEF5A18-2DE2-471B-AE22-5BF2E2E262BD}"/>
              </a:ext>
            </a:extLst>
          </p:cNvPr>
          <p:cNvGrpSpPr>
            <a:grpSpLocks/>
          </p:cNvGrpSpPr>
          <p:nvPr/>
        </p:nvGrpSpPr>
        <p:grpSpPr bwMode="auto">
          <a:xfrm>
            <a:off x="2045717" y="2772494"/>
            <a:ext cx="1676400" cy="3581400"/>
            <a:chOff x="288" y="1584"/>
            <a:chExt cx="1056" cy="2256"/>
          </a:xfrm>
        </p:grpSpPr>
        <p:sp>
          <p:nvSpPr>
            <p:cNvPr id="344" name="Text Box 19">
              <a:extLst>
                <a:ext uri="{FF2B5EF4-FFF2-40B4-BE49-F238E27FC236}">
                  <a16:creationId xmlns:a16="http://schemas.microsoft.com/office/drawing/2014/main" id="{20ECD0FE-B757-4CFA-95A1-48EB486B2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016"/>
              <a:ext cx="864" cy="250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rgbClr val="00FFFF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(1)</a:t>
              </a:r>
            </a:p>
          </p:txBody>
        </p:sp>
        <p:grpSp>
          <p:nvGrpSpPr>
            <p:cNvPr id="345" name="Group 20">
              <a:extLst>
                <a:ext uri="{FF2B5EF4-FFF2-40B4-BE49-F238E27FC236}">
                  <a16:creationId xmlns:a16="http://schemas.microsoft.com/office/drawing/2014/main" id="{4C986ECF-9409-4250-A6AB-F18395E17D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84"/>
              <a:ext cx="1056" cy="2256"/>
              <a:chOff x="288" y="1584"/>
              <a:chExt cx="1056" cy="2256"/>
            </a:xfrm>
          </p:grpSpPr>
          <p:sp>
            <p:nvSpPr>
              <p:cNvPr id="346" name="Text Box 21">
                <a:extLst>
                  <a:ext uri="{FF2B5EF4-FFF2-40B4-BE49-F238E27FC236}">
                    <a16:creationId xmlns:a16="http://schemas.microsoft.com/office/drawing/2014/main" id="{86719846-DA87-4844-884B-07406E669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776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print(w)</a:t>
                </a:r>
              </a:p>
            </p:txBody>
          </p:sp>
          <p:sp>
            <p:nvSpPr>
              <p:cNvPr id="347" name="Text Box 22">
                <a:extLst>
                  <a:ext uri="{FF2B5EF4-FFF2-40B4-BE49-F238E27FC236}">
                    <a16:creationId xmlns:a16="http://schemas.microsoft.com/office/drawing/2014/main" id="{E9F37CA5-FEB8-42A2-B21B-E8F38FFD1B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584"/>
                <a:ext cx="91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 w=3; </a:t>
                </a:r>
              </a:p>
            </p:txBody>
          </p:sp>
          <p:grpSp>
            <p:nvGrpSpPr>
              <p:cNvPr id="348" name="Group 23">
                <a:extLst>
                  <a:ext uri="{FF2B5EF4-FFF2-40B4-BE49-F238E27FC236}">
                    <a16:creationId xmlns:a16="http://schemas.microsoft.com/office/drawing/2014/main" id="{8E187A2C-0C4D-4281-B39C-AB31B29688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976"/>
                <a:ext cx="672" cy="864"/>
                <a:chOff x="3168" y="3216"/>
                <a:chExt cx="672" cy="864"/>
              </a:xfrm>
            </p:grpSpPr>
            <p:grpSp>
              <p:nvGrpSpPr>
                <p:cNvPr id="349" name="Group 24">
                  <a:extLst>
                    <a:ext uri="{FF2B5EF4-FFF2-40B4-BE49-F238E27FC236}">
                      <a16:creationId xmlns:a16="http://schemas.microsoft.com/office/drawing/2014/main" id="{496DC376-252F-461B-9558-94592D28B2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68" y="3216"/>
                  <a:ext cx="672" cy="864"/>
                  <a:chOff x="3168" y="3216"/>
                  <a:chExt cx="672" cy="864"/>
                </a:xfrm>
              </p:grpSpPr>
              <p:sp>
                <p:nvSpPr>
                  <p:cNvPr id="351" name="Line 25">
                    <a:extLst>
                      <a:ext uri="{FF2B5EF4-FFF2-40B4-BE49-F238E27FC236}">
                        <a16:creationId xmlns:a16="http://schemas.microsoft.com/office/drawing/2014/main" id="{A84719A1-18EF-477B-920C-E8A10F80AA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8" y="3216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Line 26">
                    <a:extLst>
                      <a:ext uri="{FF2B5EF4-FFF2-40B4-BE49-F238E27FC236}">
                        <a16:creationId xmlns:a16="http://schemas.microsoft.com/office/drawing/2014/main" id="{FC03C104-3D21-40CE-96AC-F8BAB80F56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40" y="3216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Line 27">
                    <a:extLst>
                      <a:ext uri="{FF2B5EF4-FFF2-40B4-BE49-F238E27FC236}">
                        <a16:creationId xmlns:a16="http://schemas.microsoft.com/office/drawing/2014/main" id="{A49FA515-3BBE-4E79-82CC-558624B65F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4080"/>
                    <a:ext cx="67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0" name="Line 28">
                  <a:extLst>
                    <a:ext uri="{FF2B5EF4-FFF2-40B4-BE49-F238E27FC236}">
                      <a16:creationId xmlns:a16="http://schemas.microsoft.com/office/drawing/2014/main" id="{865227E8-5A50-4806-AB88-9385E5157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3888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54" name="Group 29">
            <a:extLst>
              <a:ext uri="{FF2B5EF4-FFF2-40B4-BE49-F238E27FC236}">
                <a16:creationId xmlns:a16="http://schemas.microsoft.com/office/drawing/2014/main" id="{C983B0E3-E385-4EE9-884E-A0F54B38DC5E}"/>
              </a:ext>
            </a:extLst>
          </p:cNvPr>
          <p:cNvGrpSpPr>
            <a:grpSpLocks/>
          </p:cNvGrpSpPr>
          <p:nvPr/>
        </p:nvGrpSpPr>
        <p:grpSpPr bwMode="auto">
          <a:xfrm>
            <a:off x="3164904" y="1781894"/>
            <a:ext cx="2819400" cy="4572000"/>
            <a:chOff x="1056" y="960"/>
            <a:chExt cx="1776" cy="2880"/>
          </a:xfrm>
        </p:grpSpPr>
        <p:grpSp>
          <p:nvGrpSpPr>
            <p:cNvPr id="355" name="Group 30">
              <a:extLst>
                <a:ext uri="{FF2B5EF4-FFF2-40B4-BE49-F238E27FC236}">
                  <a16:creationId xmlns:a16="http://schemas.microsoft.com/office/drawing/2014/main" id="{C7734CAD-1EE9-4029-A406-A665DFC85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200"/>
              <a:ext cx="1776" cy="2640"/>
              <a:chOff x="1056" y="1200"/>
              <a:chExt cx="1776" cy="2640"/>
            </a:xfrm>
          </p:grpSpPr>
          <p:grpSp>
            <p:nvGrpSpPr>
              <p:cNvPr id="357" name="Group 31">
                <a:extLst>
                  <a:ext uri="{FF2B5EF4-FFF2-40B4-BE49-F238E27FC236}">
                    <a16:creationId xmlns:a16="http://schemas.microsoft.com/office/drawing/2014/main" id="{ECAA90DF-C8AC-4DFF-B847-475E39E5D3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200"/>
                <a:ext cx="1776" cy="2640"/>
                <a:chOff x="1056" y="1200"/>
                <a:chExt cx="1776" cy="2640"/>
              </a:xfrm>
            </p:grpSpPr>
            <p:grpSp>
              <p:nvGrpSpPr>
                <p:cNvPr id="359" name="Group 32">
                  <a:extLst>
                    <a:ext uri="{FF2B5EF4-FFF2-40B4-BE49-F238E27FC236}">
                      <a16:creationId xmlns:a16="http://schemas.microsoft.com/office/drawing/2014/main" id="{71CF93F3-8FAD-4C95-9846-8713C1029E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56" y="1200"/>
                  <a:ext cx="1344" cy="2640"/>
                  <a:chOff x="1056" y="1200"/>
                  <a:chExt cx="1344" cy="2640"/>
                </a:xfrm>
              </p:grpSpPr>
              <p:grpSp>
                <p:nvGrpSpPr>
                  <p:cNvPr id="361" name="Group 33">
                    <a:extLst>
                      <a:ext uri="{FF2B5EF4-FFF2-40B4-BE49-F238E27FC236}">
                        <a16:creationId xmlns:a16="http://schemas.microsoft.com/office/drawing/2014/main" id="{EBD17345-3B45-4DD0-BE67-DFB5C824FB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56" y="1200"/>
                    <a:ext cx="1344" cy="2640"/>
                    <a:chOff x="1056" y="1200"/>
                    <a:chExt cx="1344" cy="2640"/>
                  </a:xfrm>
                </p:grpSpPr>
                <p:grpSp>
                  <p:nvGrpSpPr>
                    <p:cNvPr id="363" name="Group 34">
                      <a:extLst>
                        <a:ext uri="{FF2B5EF4-FFF2-40B4-BE49-F238E27FC236}">
                          <a16:creationId xmlns:a16="http://schemas.microsoft.com/office/drawing/2014/main" id="{30A7C6D1-D2E2-4294-A907-B597E452153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40" y="1200"/>
                      <a:ext cx="960" cy="2640"/>
                      <a:chOff x="1440" y="1200"/>
                      <a:chExt cx="960" cy="2640"/>
                    </a:xfrm>
                  </p:grpSpPr>
                  <p:sp>
                    <p:nvSpPr>
                      <p:cNvPr id="365" name="Rectangle 35">
                        <a:extLst>
                          <a:ext uri="{FF2B5EF4-FFF2-40B4-BE49-F238E27FC236}">
                            <a16:creationId xmlns:a16="http://schemas.microsoft.com/office/drawing/2014/main" id="{18F05F47-3927-4511-B5F0-130517248BB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4" y="1200"/>
                        <a:ext cx="192" cy="14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en-US" altLang="zh-CN" sz="2000" b="1"/>
                          <a:t>3</a:t>
                        </a:r>
                      </a:p>
                    </p:txBody>
                  </p:sp>
                  <p:sp>
                    <p:nvSpPr>
                      <p:cNvPr id="366" name="Text Box 36">
                        <a:extLst>
                          <a:ext uri="{FF2B5EF4-FFF2-40B4-BE49-F238E27FC236}">
                            <a16:creationId xmlns:a16="http://schemas.microsoft.com/office/drawing/2014/main" id="{2E0A2EFA-5C39-463B-8A57-5E3A4FD377C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24" y="1285"/>
                        <a:ext cx="116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eaLnBrk="0" hangingPunct="0"/>
                        <a:endParaRPr lang="zh-CN" altLang="zh-CN" sz="2000" b="1"/>
                      </a:p>
                    </p:txBody>
                  </p:sp>
                  <p:sp>
                    <p:nvSpPr>
                      <p:cNvPr id="367" name="Text Box 37">
                        <a:extLst>
                          <a:ext uri="{FF2B5EF4-FFF2-40B4-BE49-F238E27FC236}">
                            <a16:creationId xmlns:a16="http://schemas.microsoft.com/office/drawing/2014/main" id="{72E61C5F-50DA-494E-BBAC-AB08C24C428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80" y="1440"/>
                        <a:ext cx="720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>
                        <a:spAutoFit/>
                      </a:bodyPr>
                      <a:lstStyle/>
                      <a:p>
                        <a:pPr eaLnBrk="0" hangingPunct="0">
                          <a:spcBef>
                            <a:spcPct val="50000"/>
                          </a:spcBef>
                        </a:pPr>
                        <a:r>
                          <a:rPr lang="en-US" altLang="zh-CN" sz="2000" b="1">
                            <a:effectLst>
                              <a:outerShdw blurRad="38100" dist="38100" dir="2700000" algn="tl">
                                <a:srgbClr val="FFFFFF"/>
                              </a:outerShdw>
                            </a:effectLst>
                          </a:rPr>
                          <a:t>print(2);</a:t>
                        </a:r>
                      </a:p>
                    </p:txBody>
                  </p:sp>
                  <p:grpSp>
                    <p:nvGrpSpPr>
                      <p:cNvPr id="368" name="Group 38">
                        <a:extLst>
                          <a:ext uri="{FF2B5EF4-FFF2-40B4-BE49-F238E27FC236}">
                            <a16:creationId xmlns:a16="http://schemas.microsoft.com/office/drawing/2014/main" id="{DD341631-B4F7-41A9-9C3F-0C719E514C9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440" y="2976"/>
                        <a:ext cx="672" cy="864"/>
                        <a:chOff x="1200" y="3024"/>
                        <a:chExt cx="672" cy="864"/>
                      </a:xfrm>
                    </p:grpSpPr>
                    <p:sp>
                      <p:nvSpPr>
                        <p:cNvPr id="369" name="Rectangle 39">
                          <a:extLst>
                            <a:ext uri="{FF2B5EF4-FFF2-40B4-BE49-F238E27FC236}">
                              <a16:creationId xmlns:a16="http://schemas.microsoft.com/office/drawing/2014/main" id="{A82BECD8-6CEF-4A0F-9359-DE425F8F1F7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3696"/>
                          <a:ext cx="672" cy="192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pPr algn="ctr" eaLnBrk="0" hangingPunct="0"/>
                          <a:r>
                            <a:rPr lang="zh-CN" altLang="en-US" sz="2000" b="1"/>
                            <a:t>（</a:t>
                          </a:r>
                          <a:r>
                            <a:rPr lang="en-US" altLang="zh-CN" sz="2000" b="1"/>
                            <a:t>1</a:t>
                          </a:r>
                          <a:r>
                            <a:rPr lang="zh-CN" altLang="en-US" sz="2000" b="1"/>
                            <a:t>）</a:t>
                          </a:r>
                          <a:r>
                            <a:rPr lang="en-US" altLang="zh-CN" sz="2000" b="1"/>
                            <a:t>w=3  </a:t>
                          </a:r>
                        </a:p>
                      </p:txBody>
                    </p:sp>
                    <p:sp>
                      <p:nvSpPr>
                        <p:cNvPr id="370" name="Line 40">
                          <a:extLst>
                            <a:ext uri="{FF2B5EF4-FFF2-40B4-BE49-F238E27FC236}">
                              <a16:creationId xmlns:a16="http://schemas.microsoft.com/office/drawing/2014/main" id="{95EED4AE-E7FD-4748-B789-0A4A487EEB3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0" y="3024"/>
                          <a:ext cx="0" cy="8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1" name="Line 41">
                          <a:extLst>
                            <a:ext uri="{FF2B5EF4-FFF2-40B4-BE49-F238E27FC236}">
                              <a16:creationId xmlns:a16="http://schemas.microsoft.com/office/drawing/2014/main" id="{E22E39F4-7AE0-42F8-A0DD-22D457B8933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872" y="3024"/>
                          <a:ext cx="0" cy="8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sp>
                  <p:nvSpPr>
                    <p:cNvPr id="364" name="AutoShape 42">
                      <a:extLst>
                        <a:ext uri="{FF2B5EF4-FFF2-40B4-BE49-F238E27FC236}">
                          <a16:creationId xmlns:a16="http://schemas.microsoft.com/office/drawing/2014/main" id="{8110A328-CB07-4458-BFF5-103DEF5B72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6" y="3696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2" name="Text Box 43">
                    <a:extLst>
                      <a:ext uri="{FF2B5EF4-FFF2-40B4-BE49-F238E27FC236}">
                        <a16:creationId xmlns:a16="http://schemas.microsoft.com/office/drawing/2014/main" id="{FCAD783E-E085-4724-ABE5-D03BBA7AE65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6" y="3408"/>
                    <a:ext cx="3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1800" b="1"/>
                      <a:t>top</a:t>
                    </a:r>
                  </a:p>
                </p:txBody>
              </p:sp>
            </p:grpSp>
            <p:sp>
              <p:nvSpPr>
                <p:cNvPr id="360" name="Text Box 44">
                  <a:extLst>
                    <a:ext uri="{FF2B5EF4-FFF2-40B4-BE49-F238E27FC236}">
                      <a16:creationId xmlns:a16="http://schemas.microsoft.com/office/drawing/2014/main" id="{6E184CF2-F091-4408-85AC-B374EEBE70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1680"/>
                  <a:ext cx="1296" cy="25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rgbClr val="00FFFF">
                        <a:gamma/>
                        <a:shade val="72549"/>
                        <a:invGamma/>
                      </a:srgb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(2) </a:t>
                  </a:r>
                  <a:r>
                    <a:rPr lang="zh-CN" altLang="en-US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输出：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3, 3, 3</a:t>
                  </a:r>
                </a:p>
              </p:txBody>
            </p:sp>
          </p:grpSp>
          <p:sp>
            <p:nvSpPr>
              <p:cNvPr id="358" name="Line 45">
                <a:extLst>
                  <a:ext uri="{FF2B5EF4-FFF2-40B4-BE49-F238E27FC236}">
                    <a16:creationId xmlns:a16="http://schemas.microsoft.com/office/drawing/2014/main" id="{03BEAEF6-35D3-4E61-9E6E-67B5E97D0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920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6" name="Text Box 46" descr="花岗岩">
              <a:extLst>
                <a:ext uri="{FF2B5EF4-FFF2-40B4-BE49-F238E27FC236}">
                  <a16:creationId xmlns:a16="http://schemas.microsoft.com/office/drawing/2014/main" id="{7BEBFA62-46FA-483C-B9CE-1ADD807B7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96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372" name="Group 47">
            <a:extLst>
              <a:ext uri="{FF2B5EF4-FFF2-40B4-BE49-F238E27FC236}">
                <a16:creationId xmlns:a16="http://schemas.microsoft.com/office/drawing/2014/main" id="{FF3C646F-62C9-4616-B26B-16E8D7807213}"/>
              </a:ext>
            </a:extLst>
          </p:cNvPr>
          <p:cNvGrpSpPr>
            <a:grpSpLocks/>
          </p:cNvGrpSpPr>
          <p:nvPr/>
        </p:nvGrpSpPr>
        <p:grpSpPr bwMode="auto">
          <a:xfrm>
            <a:off x="4996879" y="1086569"/>
            <a:ext cx="2667000" cy="5257800"/>
            <a:chOff x="2208" y="528"/>
            <a:chExt cx="1680" cy="3312"/>
          </a:xfrm>
        </p:grpSpPr>
        <p:grpSp>
          <p:nvGrpSpPr>
            <p:cNvPr id="373" name="Group 48">
              <a:extLst>
                <a:ext uri="{FF2B5EF4-FFF2-40B4-BE49-F238E27FC236}">
                  <a16:creationId xmlns:a16="http://schemas.microsoft.com/office/drawing/2014/main" id="{5ADFF683-8020-4559-9E59-A1F34DEFE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768"/>
              <a:ext cx="1680" cy="3072"/>
              <a:chOff x="2208" y="768"/>
              <a:chExt cx="1680" cy="3072"/>
            </a:xfrm>
          </p:grpSpPr>
          <p:grpSp>
            <p:nvGrpSpPr>
              <p:cNvPr id="375" name="Group 49">
                <a:extLst>
                  <a:ext uri="{FF2B5EF4-FFF2-40B4-BE49-F238E27FC236}">
                    <a16:creationId xmlns:a16="http://schemas.microsoft.com/office/drawing/2014/main" id="{AE89F0C4-902F-4CBB-87A7-4EDBCDFAE6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768"/>
                <a:ext cx="1680" cy="3072"/>
                <a:chOff x="2208" y="768"/>
                <a:chExt cx="1680" cy="3072"/>
              </a:xfrm>
            </p:grpSpPr>
            <p:grpSp>
              <p:nvGrpSpPr>
                <p:cNvPr id="377" name="Group 50">
                  <a:extLst>
                    <a:ext uri="{FF2B5EF4-FFF2-40B4-BE49-F238E27FC236}">
                      <a16:creationId xmlns:a16="http://schemas.microsoft.com/office/drawing/2014/main" id="{764BD807-A475-4AC7-8BA3-38D8A61DE4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8" y="768"/>
                  <a:ext cx="1392" cy="3072"/>
                  <a:chOff x="2208" y="768"/>
                  <a:chExt cx="1392" cy="3072"/>
                </a:xfrm>
              </p:grpSpPr>
              <p:grpSp>
                <p:nvGrpSpPr>
                  <p:cNvPr id="379" name="Group 51">
                    <a:extLst>
                      <a:ext uri="{FF2B5EF4-FFF2-40B4-BE49-F238E27FC236}">
                        <a16:creationId xmlns:a16="http://schemas.microsoft.com/office/drawing/2014/main" id="{6ADD3A2E-55D2-48EE-A254-809AFCE6A6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08" y="768"/>
                    <a:ext cx="1392" cy="3072"/>
                    <a:chOff x="2208" y="768"/>
                    <a:chExt cx="1392" cy="3072"/>
                  </a:xfrm>
                </p:grpSpPr>
                <p:sp>
                  <p:nvSpPr>
                    <p:cNvPr id="381" name="Rectangle 52">
                      <a:extLst>
                        <a:ext uri="{FF2B5EF4-FFF2-40B4-BE49-F238E27FC236}">
                          <a16:creationId xmlns:a16="http://schemas.microsoft.com/office/drawing/2014/main" id="{69D9FB12-DD18-48DA-94AA-DD7D8F076E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2" y="768"/>
                      <a:ext cx="192" cy="144"/>
                    </a:xfrm>
                    <a:prstGeom prst="rect">
                      <a:avLst/>
                    </a:prstGeom>
                    <a:solidFill>
                      <a:srgbClr val="CCEC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0" hangingPunct="0"/>
                      <a:r>
                        <a:rPr lang="en-US" altLang="zh-CN" sz="2000" b="1"/>
                        <a:t>2</a:t>
                      </a:r>
                    </a:p>
                  </p:txBody>
                </p:sp>
                <p:sp>
                  <p:nvSpPr>
                    <p:cNvPr id="382" name="Text Box 53">
                      <a:extLst>
                        <a:ext uri="{FF2B5EF4-FFF2-40B4-BE49-F238E27FC236}">
                          <a16:creationId xmlns:a16="http://schemas.microsoft.com/office/drawing/2014/main" id="{F558D60D-8944-4AF6-8EB9-07314B5194A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72" y="912"/>
                      <a:ext cx="288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endParaRPr lang="zh-CN" altLang="zh-CN" sz="2000" b="1"/>
                    </a:p>
                  </p:txBody>
                </p:sp>
                <p:sp>
                  <p:nvSpPr>
                    <p:cNvPr id="383" name="Text Box 54">
                      <a:extLst>
                        <a:ext uri="{FF2B5EF4-FFF2-40B4-BE49-F238E27FC236}">
                          <a16:creationId xmlns:a16="http://schemas.microsoft.com/office/drawing/2014/main" id="{A8037B03-244B-45B4-A862-890BD26ED7F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28" y="1056"/>
                      <a:ext cx="672" cy="44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r>
                        <a:rPr lang="en-US" altLang="zh-CN" sz="2000" b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print(1);</a:t>
                      </a:r>
                    </a:p>
                  </p:txBody>
                </p:sp>
                <p:grpSp>
                  <p:nvGrpSpPr>
                    <p:cNvPr id="384" name="Group 55">
                      <a:extLst>
                        <a:ext uri="{FF2B5EF4-FFF2-40B4-BE49-F238E27FC236}">
                          <a16:creationId xmlns:a16="http://schemas.microsoft.com/office/drawing/2014/main" id="{AD5D7796-019E-4336-9078-428900A94BD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40" y="2976"/>
                      <a:ext cx="672" cy="864"/>
                      <a:chOff x="2736" y="2976"/>
                      <a:chExt cx="672" cy="864"/>
                    </a:xfrm>
                  </p:grpSpPr>
                  <p:sp>
                    <p:nvSpPr>
                      <p:cNvPr id="386" name="Rectangle 56">
                        <a:extLst>
                          <a:ext uri="{FF2B5EF4-FFF2-40B4-BE49-F238E27FC236}">
                            <a16:creationId xmlns:a16="http://schemas.microsoft.com/office/drawing/2014/main" id="{E4F2F735-18DF-4988-9A50-BFCDAA8316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6" y="3456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2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w=2  </a:t>
                        </a:r>
                      </a:p>
                    </p:txBody>
                  </p:sp>
                  <p:sp>
                    <p:nvSpPr>
                      <p:cNvPr id="387" name="Rectangle 57">
                        <a:extLst>
                          <a:ext uri="{FF2B5EF4-FFF2-40B4-BE49-F238E27FC236}">
                            <a16:creationId xmlns:a16="http://schemas.microsoft.com/office/drawing/2014/main" id="{740C9CD7-BC69-4FE0-8BE5-5F5C518F83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6" y="3648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1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w=3  </a:t>
                        </a:r>
                      </a:p>
                    </p:txBody>
                  </p:sp>
                  <p:sp>
                    <p:nvSpPr>
                      <p:cNvPr id="388" name="Line 58">
                        <a:extLst>
                          <a:ext uri="{FF2B5EF4-FFF2-40B4-BE49-F238E27FC236}">
                            <a16:creationId xmlns:a16="http://schemas.microsoft.com/office/drawing/2014/main" id="{7525FC6C-D5C6-49AE-AB2E-F4A9B537F11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736" y="2976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" name="Line 59">
                        <a:extLst>
                          <a:ext uri="{FF2B5EF4-FFF2-40B4-BE49-F238E27FC236}">
                            <a16:creationId xmlns:a16="http://schemas.microsoft.com/office/drawing/2014/main" id="{B5ADFCD5-1A72-4657-9956-E2B2D5D39D8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08" y="2976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85" name="AutoShape 60">
                      <a:extLst>
                        <a:ext uri="{FF2B5EF4-FFF2-40B4-BE49-F238E27FC236}">
                          <a16:creationId xmlns:a16="http://schemas.microsoft.com/office/drawing/2014/main" id="{6C328619-D9BE-4CAB-A605-4057395390A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8" y="3504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80" name="Text Box 61">
                    <a:extLst>
                      <a:ext uri="{FF2B5EF4-FFF2-40B4-BE49-F238E27FC236}">
                        <a16:creationId xmlns:a16="http://schemas.microsoft.com/office/drawing/2014/main" id="{CAAE2B33-8F70-4720-9EC7-D7973AB5A3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8" y="3264"/>
                    <a:ext cx="3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1800" b="1"/>
                      <a:t>top</a:t>
                    </a:r>
                  </a:p>
                </p:txBody>
              </p:sp>
            </p:grpSp>
            <p:sp>
              <p:nvSpPr>
                <p:cNvPr id="378" name="Text Box 62">
                  <a:extLst>
                    <a:ext uri="{FF2B5EF4-FFF2-40B4-BE49-F238E27FC236}">
                      <a16:creationId xmlns:a16="http://schemas.microsoft.com/office/drawing/2014/main" id="{7BF106EB-ECF7-44A2-9AFD-3F6FE9A07E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84" y="1344"/>
                  <a:ext cx="1104" cy="25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rgbClr val="00FFFF">
                        <a:gamma/>
                        <a:shade val="66667"/>
                        <a:invGamma/>
                      </a:srgb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(3) </a:t>
                  </a:r>
                  <a:r>
                    <a:rPr lang="zh-CN" altLang="en-US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输出：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2, 2</a:t>
                  </a:r>
                </a:p>
              </p:txBody>
            </p:sp>
          </p:grpSp>
          <p:sp>
            <p:nvSpPr>
              <p:cNvPr id="376" name="Line 63">
                <a:extLst>
                  <a:ext uri="{FF2B5EF4-FFF2-40B4-BE49-F238E27FC236}">
                    <a16:creationId xmlns:a16="http://schemas.microsoft.com/office/drawing/2014/main" id="{3549FA5D-EA00-43D3-A4F6-767355F10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58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4" name="Text Box 64" descr="花岗岩">
              <a:extLst>
                <a:ext uri="{FF2B5EF4-FFF2-40B4-BE49-F238E27FC236}">
                  <a16:creationId xmlns:a16="http://schemas.microsoft.com/office/drawing/2014/main" id="{49B85BB1-9AC6-40E9-A9E6-1632F7E03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528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390" name="Group 65">
            <a:extLst>
              <a:ext uri="{FF2B5EF4-FFF2-40B4-BE49-F238E27FC236}">
                <a16:creationId xmlns:a16="http://schemas.microsoft.com/office/drawing/2014/main" id="{4C6E0BC9-070C-4DFD-B6DE-E1C5251348A2}"/>
              </a:ext>
            </a:extLst>
          </p:cNvPr>
          <p:cNvGrpSpPr>
            <a:grpSpLocks/>
          </p:cNvGrpSpPr>
          <p:nvPr/>
        </p:nvGrpSpPr>
        <p:grpSpPr bwMode="auto">
          <a:xfrm>
            <a:off x="6746304" y="638894"/>
            <a:ext cx="2286000" cy="5715000"/>
            <a:chOff x="3360" y="240"/>
            <a:chExt cx="1392" cy="3600"/>
          </a:xfrm>
        </p:grpSpPr>
        <p:grpSp>
          <p:nvGrpSpPr>
            <p:cNvPr id="391" name="Group 66">
              <a:extLst>
                <a:ext uri="{FF2B5EF4-FFF2-40B4-BE49-F238E27FC236}">
                  <a16:creationId xmlns:a16="http://schemas.microsoft.com/office/drawing/2014/main" id="{9BEBA84F-E7C5-4286-86B8-9CE30C38DA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480"/>
              <a:ext cx="1392" cy="3360"/>
              <a:chOff x="3360" y="480"/>
              <a:chExt cx="1392" cy="3360"/>
            </a:xfrm>
          </p:grpSpPr>
          <p:grpSp>
            <p:nvGrpSpPr>
              <p:cNvPr id="393" name="Group 67">
                <a:extLst>
                  <a:ext uri="{FF2B5EF4-FFF2-40B4-BE49-F238E27FC236}">
                    <a16:creationId xmlns:a16="http://schemas.microsoft.com/office/drawing/2014/main" id="{3A627611-0830-44DA-AEAA-EAAD50D65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480"/>
                <a:ext cx="1392" cy="3360"/>
                <a:chOff x="3360" y="480"/>
                <a:chExt cx="1392" cy="3360"/>
              </a:xfrm>
            </p:grpSpPr>
            <p:grpSp>
              <p:nvGrpSpPr>
                <p:cNvPr id="395" name="Group 68">
                  <a:extLst>
                    <a:ext uri="{FF2B5EF4-FFF2-40B4-BE49-F238E27FC236}">
                      <a16:creationId xmlns:a16="http://schemas.microsoft.com/office/drawing/2014/main" id="{E2A86129-1847-49DC-A50B-F3D7AA1CC0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0" y="480"/>
                  <a:ext cx="1392" cy="3360"/>
                  <a:chOff x="3360" y="480"/>
                  <a:chExt cx="1392" cy="3360"/>
                </a:xfrm>
              </p:grpSpPr>
              <p:grpSp>
                <p:nvGrpSpPr>
                  <p:cNvPr id="399" name="Group 69">
                    <a:extLst>
                      <a:ext uri="{FF2B5EF4-FFF2-40B4-BE49-F238E27FC236}">
                        <a16:creationId xmlns:a16="http://schemas.microsoft.com/office/drawing/2014/main" id="{5B7A59F1-8844-49A0-99E8-71AF869455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0" y="480"/>
                    <a:ext cx="1392" cy="3360"/>
                    <a:chOff x="3360" y="480"/>
                    <a:chExt cx="1392" cy="3360"/>
                  </a:xfrm>
                </p:grpSpPr>
                <p:sp>
                  <p:nvSpPr>
                    <p:cNvPr id="401" name="Rectangle 70">
                      <a:extLst>
                        <a:ext uri="{FF2B5EF4-FFF2-40B4-BE49-F238E27FC236}">
                          <a16:creationId xmlns:a16="http://schemas.microsoft.com/office/drawing/2014/main" id="{B96F90A2-D151-4B15-90D7-CF1B092D71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6" y="480"/>
                      <a:ext cx="192" cy="144"/>
                    </a:xfrm>
                    <a:prstGeom prst="rect">
                      <a:avLst/>
                    </a:prstGeom>
                    <a:solidFill>
                      <a:srgbClr val="FFCC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0" hangingPunct="0"/>
                      <a:r>
                        <a:rPr lang="en-US" altLang="zh-CN" sz="2000" b="1"/>
                        <a:t>1</a:t>
                      </a:r>
                    </a:p>
                  </p:txBody>
                </p:sp>
                <p:sp>
                  <p:nvSpPr>
                    <p:cNvPr id="402" name="Text Box 71">
                      <a:extLst>
                        <a:ext uri="{FF2B5EF4-FFF2-40B4-BE49-F238E27FC236}">
                          <a16:creationId xmlns:a16="http://schemas.microsoft.com/office/drawing/2014/main" id="{C9D76340-8CDD-4909-81C2-07A798F2A8F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32" y="720"/>
                      <a:ext cx="720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r>
                        <a:rPr lang="en-US" altLang="zh-CN" sz="2000" b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print(0);</a:t>
                      </a:r>
                    </a:p>
                  </p:txBody>
                </p:sp>
                <p:grpSp>
                  <p:nvGrpSpPr>
                    <p:cNvPr id="403" name="Group 72">
                      <a:extLst>
                        <a:ext uri="{FF2B5EF4-FFF2-40B4-BE49-F238E27FC236}">
                          <a16:creationId xmlns:a16="http://schemas.microsoft.com/office/drawing/2014/main" id="{824163B1-4ECC-4578-AA2E-99C74C354C6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44" y="2976"/>
                      <a:ext cx="672" cy="864"/>
                      <a:chOff x="2976" y="2112"/>
                      <a:chExt cx="672" cy="864"/>
                    </a:xfrm>
                  </p:grpSpPr>
                  <p:sp>
                    <p:nvSpPr>
                      <p:cNvPr id="406" name="Rectangle 73">
                        <a:extLst>
                          <a:ext uri="{FF2B5EF4-FFF2-40B4-BE49-F238E27FC236}">
                            <a16:creationId xmlns:a16="http://schemas.microsoft.com/office/drawing/2014/main" id="{1C8A2604-B3CF-43AF-A51D-04FC9DB53F5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400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3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w=1  </a:t>
                        </a:r>
                      </a:p>
                    </p:txBody>
                  </p:sp>
                  <p:sp>
                    <p:nvSpPr>
                      <p:cNvPr id="407" name="Rectangle 74">
                        <a:extLst>
                          <a:ext uri="{FF2B5EF4-FFF2-40B4-BE49-F238E27FC236}">
                            <a16:creationId xmlns:a16="http://schemas.microsoft.com/office/drawing/2014/main" id="{95320CF6-FD5F-4939-A0CA-D56849D27E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592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2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w=2  </a:t>
                        </a:r>
                      </a:p>
                    </p:txBody>
                  </p:sp>
                  <p:sp>
                    <p:nvSpPr>
                      <p:cNvPr id="408" name="Rectangle 75">
                        <a:extLst>
                          <a:ext uri="{FF2B5EF4-FFF2-40B4-BE49-F238E27FC236}">
                            <a16:creationId xmlns:a16="http://schemas.microsoft.com/office/drawing/2014/main" id="{41B8D5F1-28AD-46D7-BF82-61768D0751D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784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1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w=3  </a:t>
                        </a:r>
                      </a:p>
                    </p:txBody>
                  </p:sp>
                  <p:sp>
                    <p:nvSpPr>
                      <p:cNvPr id="409" name="Line 76">
                        <a:extLst>
                          <a:ext uri="{FF2B5EF4-FFF2-40B4-BE49-F238E27FC236}">
                            <a16:creationId xmlns:a16="http://schemas.microsoft.com/office/drawing/2014/main" id="{EB318649-B8C0-4CFA-A10C-6EDF5C3D1EC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76" y="2112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10" name="Line 77">
                        <a:extLst>
                          <a:ext uri="{FF2B5EF4-FFF2-40B4-BE49-F238E27FC236}">
                            <a16:creationId xmlns:a16="http://schemas.microsoft.com/office/drawing/2014/main" id="{F8BBB49E-C4D6-4F1A-8FD1-5A0DBCE8A42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648" y="2112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404" name="AutoShape 78">
                      <a:extLst>
                        <a:ext uri="{FF2B5EF4-FFF2-40B4-BE49-F238E27FC236}">
                          <a16:creationId xmlns:a16="http://schemas.microsoft.com/office/drawing/2014/main" id="{B5BB263E-7FAC-4D02-97B5-54DBCA0F222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0" y="3312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05" name="Text Box 79">
                      <a:extLst>
                        <a:ext uri="{FF2B5EF4-FFF2-40B4-BE49-F238E27FC236}">
                          <a16:creationId xmlns:a16="http://schemas.microsoft.com/office/drawing/2014/main" id="{383B7CDC-8BC6-43DB-A089-6F4439BA599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76" y="576"/>
                      <a:ext cx="192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endParaRPr lang="zh-CN" altLang="zh-CN" sz="2000" b="1"/>
                    </a:p>
                  </p:txBody>
                </p:sp>
              </p:grpSp>
              <p:sp>
                <p:nvSpPr>
                  <p:cNvPr id="400" name="Text Box 80">
                    <a:extLst>
                      <a:ext uri="{FF2B5EF4-FFF2-40B4-BE49-F238E27FC236}">
                        <a16:creationId xmlns:a16="http://schemas.microsoft.com/office/drawing/2014/main" id="{A3E88829-47EF-4D95-8E20-DD794CC687B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0" y="3072"/>
                    <a:ext cx="336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/>
                      <a:t>top</a:t>
                    </a:r>
                  </a:p>
                </p:txBody>
              </p:sp>
            </p:grpSp>
            <p:grpSp>
              <p:nvGrpSpPr>
                <p:cNvPr id="396" name="Group 81">
                  <a:extLst>
                    <a:ext uri="{FF2B5EF4-FFF2-40B4-BE49-F238E27FC236}">
                      <a16:creationId xmlns:a16="http://schemas.microsoft.com/office/drawing/2014/main" id="{97BF3BEF-25CF-42D2-8C0E-36A4903F93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8" y="960"/>
                  <a:ext cx="864" cy="250"/>
                  <a:chOff x="3840" y="960"/>
                  <a:chExt cx="864" cy="250"/>
                </a:xfrm>
              </p:grpSpPr>
              <p:sp>
                <p:nvSpPr>
                  <p:cNvPr id="397" name="Text Box 82">
                    <a:extLst>
                      <a:ext uri="{FF2B5EF4-FFF2-40B4-BE49-F238E27FC236}">
                        <a16:creationId xmlns:a16="http://schemas.microsoft.com/office/drawing/2014/main" id="{BA6923D6-A668-448A-9672-B29596A623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0" y="960"/>
                    <a:ext cx="864" cy="25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FFFF"/>
                      </a:gs>
                      <a:gs pos="100000">
                        <a:srgbClr val="00FFFF">
                          <a:gamma/>
                          <a:shade val="75686"/>
                          <a:invGamma/>
                        </a:srgbClr>
                      </a:gs>
                    </a:gsLst>
                    <a:lin ang="5400000" scaled="1"/>
                  </a:gra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(4)</a:t>
                    </a:r>
                    <a:r>
                      <a:rPr lang="zh-CN" altLang="en-US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输出：</a:t>
                    </a:r>
                    <a:r>
                      <a:rPr lang="en-US" altLang="zh-CN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398" name="Line 83">
                    <a:extLst>
                      <a:ext uri="{FF2B5EF4-FFF2-40B4-BE49-F238E27FC236}">
                        <a16:creationId xmlns:a16="http://schemas.microsoft.com/office/drawing/2014/main" id="{3FF5BDF9-4AE2-46F7-80FD-F852C99D7C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20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94" name="Line 84">
                <a:extLst>
                  <a:ext uri="{FF2B5EF4-FFF2-40B4-BE49-F238E27FC236}">
                    <a16:creationId xmlns:a16="http://schemas.microsoft.com/office/drawing/2014/main" id="{FAC95EC1-738F-4A86-8206-4CDFFDB23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2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2" name="Text Box 85" descr="花岗岩">
              <a:extLst>
                <a:ext uri="{FF2B5EF4-FFF2-40B4-BE49-F238E27FC236}">
                  <a16:creationId xmlns:a16="http://schemas.microsoft.com/office/drawing/2014/main" id="{50BEEC79-8E35-41AA-97AF-194A09E3A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4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411" name="Group 86">
            <a:extLst>
              <a:ext uri="{FF2B5EF4-FFF2-40B4-BE49-F238E27FC236}">
                <a16:creationId xmlns:a16="http://schemas.microsoft.com/office/drawing/2014/main" id="{00190A54-B230-4114-8D96-0F738BDA285E}"/>
              </a:ext>
            </a:extLst>
          </p:cNvPr>
          <p:cNvGrpSpPr>
            <a:grpSpLocks/>
          </p:cNvGrpSpPr>
          <p:nvPr/>
        </p:nvGrpSpPr>
        <p:grpSpPr bwMode="auto">
          <a:xfrm>
            <a:off x="8575104" y="638894"/>
            <a:ext cx="1676400" cy="5715000"/>
            <a:chOff x="4464" y="240"/>
            <a:chExt cx="1056" cy="3600"/>
          </a:xfrm>
        </p:grpSpPr>
        <p:grpSp>
          <p:nvGrpSpPr>
            <p:cNvPr id="412" name="Group 87">
              <a:extLst>
                <a:ext uri="{FF2B5EF4-FFF2-40B4-BE49-F238E27FC236}">
                  <a16:creationId xmlns:a16="http://schemas.microsoft.com/office/drawing/2014/main" id="{D36B2796-0918-4D70-8DB7-64D53B3EB5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480"/>
              <a:ext cx="1056" cy="3360"/>
              <a:chOff x="4464" y="480"/>
              <a:chExt cx="1056" cy="3360"/>
            </a:xfrm>
          </p:grpSpPr>
          <p:grpSp>
            <p:nvGrpSpPr>
              <p:cNvPr id="414" name="Group 88">
                <a:extLst>
                  <a:ext uri="{FF2B5EF4-FFF2-40B4-BE49-F238E27FC236}">
                    <a16:creationId xmlns:a16="http://schemas.microsoft.com/office/drawing/2014/main" id="{F6D4D6AF-3697-4F0D-8839-20319C557B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4" y="480"/>
                <a:ext cx="1056" cy="3360"/>
                <a:chOff x="4464" y="480"/>
                <a:chExt cx="1056" cy="3360"/>
              </a:xfrm>
            </p:grpSpPr>
            <p:sp>
              <p:nvSpPr>
                <p:cNvPr id="416" name="Rectangle 89">
                  <a:extLst>
                    <a:ext uri="{FF2B5EF4-FFF2-40B4-BE49-F238E27FC236}">
                      <a16:creationId xmlns:a16="http://schemas.microsoft.com/office/drawing/2014/main" id="{B3B31975-0A49-4888-BD94-A1FF202296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0" y="480"/>
                  <a:ext cx="192" cy="144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zh-CN" sz="2000" b="1"/>
                    <a:t>0</a:t>
                  </a:r>
                </a:p>
              </p:txBody>
            </p:sp>
            <p:sp>
              <p:nvSpPr>
                <p:cNvPr id="417" name="Line 90">
                  <a:extLst>
                    <a:ext uri="{FF2B5EF4-FFF2-40B4-BE49-F238E27FC236}">
                      <a16:creationId xmlns:a16="http://schemas.microsoft.com/office/drawing/2014/main" id="{7F283AB0-8C2B-41EE-AE2C-792C4E753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44" y="57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8" name="Line 91">
                  <a:extLst>
                    <a:ext uri="{FF2B5EF4-FFF2-40B4-BE49-F238E27FC236}">
                      <a16:creationId xmlns:a16="http://schemas.microsoft.com/office/drawing/2014/main" id="{9D8B1A5F-0FD5-4E6A-8057-61F3EE5FBA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00" y="86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9" name="Line 92">
                  <a:extLst>
                    <a:ext uri="{FF2B5EF4-FFF2-40B4-BE49-F238E27FC236}">
                      <a16:creationId xmlns:a16="http://schemas.microsoft.com/office/drawing/2014/main" id="{4229DEC1-1FB6-4C1F-ACB5-88D40C3736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4" y="5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" name="Text Box 93">
                  <a:extLst>
                    <a:ext uri="{FF2B5EF4-FFF2-40B4-BE49-F238E27FC236}">
                      <a16:creationId xmlns:a16="http://schemas.microsoft.com/office/drawing/2014/main" id="{4B1BBB79-6575-420B-844B-BCC233A976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80" y="576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zh-CN" sz="2000" b="1"/>
                </a:p>
              </p:txBody>
            </p:sp>
            <p:grpSp>
              <p:nvGrpSpPr>
                <p:cNvPr id="421" name="Group 94">
                  <a:extLst>
                    <a:ext uri="{FF2B5EF4-FFF2-40B4-BE49-F238E27FC236}">
                      <a16:creationId xmlns:a16="http://schemas.microsoft.com/office/drawing/2014/main" id="{0F89FA7B-9130-4E1B-9910-EA7992E590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8" y="2976"/>
                  <a:ext cx="672" cy="864"/>
                  <a:chOff x="3792" y="2352"/>
                  <a:chExt cx="672" cy="864"/>
                </a:xfrm>
              </p:grpSpPr>
              <p:sp>
                <p:nvSpPr>
                  <p:cNvPr id="423" name="Rectangle 95">
                    <a:extLst>
                      <a:ext uri="{FF2B5EF4-FFF2-40B4-BE49-F238E27FC236}">
                        <a16:creationId xmlns:a16="http://schemas.microsoft.com/office/drawing/2014/main" id="{66DB7339-4FCA-4521-AE66-4C472784C3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448"/>
                    <a:ext cx="672" cy="192"/>
                  </a:xfrm>
                  <a:prstGeom prst="rect">
                    <a:avLst/>
                  </a:prstGeom>
                  <a:solidFill>
                    <a:srgbClr val="CC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4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w=0  </a:t>
                    </a:r>
                  </a:p>
                </p:txBody>
              </p:sp>
              <p:sp>
                <p:nvSpPr>
                  <p:cNvPr id="424" name="Rectangle 96">
                    <a:extLst>
                      <a:ext uri="{FF2B5EF4-FFF2-40B4-BE49-F238E27FC236}">
                        <a16:creationId xmlns:a16="http://schemas.microsoft.com/office/drawing/2014/main" id="{F8BBE860-C7B0-4671-B012-E2E9E159C8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640"/>
                    <a:ext cx="672" cy="192"/>
                  </a:xfrm>
                  <a:prstGeom prst="rect">
                    <a:avLst/>
                  </a:prstGeom>
                  <a:solidFill>
                    <a:srgbClr val="FFC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3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w=1  </a:t>
                    </a:r>
                  </a:p>
                </p:txBody>
              </p:sp>
              <p:sp>
                <p:nvSpPr>
                  <p:cNvPr id="425" name="Rectangle 97">
                    <a:extLst>
                      <a:ext uri="{FF2B5EF4-FFF2-40B4-BE49-F238E27FC236}">
                        <a16:creationId xmlns:a16="http://schemas.microsoft.com/office/drawing/2014/main" id="{E653B213-07C6-4196-9587-FAC3703AE8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832"/>
                    <a:ext cx="672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2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w=2  </a:t>
                    </a:r>
                  </a:p>
                </p:txBody>
              </p:sp>
              <p:sp>
                <p:nvSpPr>
                  <p:cNvPr id="426" name="Rectangle 98">
                    <a:extLst>
                      <a:ext uri="{FF2B5EF4-FFF2-40B4-BE49-F238E27FC236}">
                        <a16:creationId xmlns:a16="http://schemas.microsoft.com/office/drawing/2014/main" id="{E23C9DFD-729B-4164-AD5A-A120E86037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3024"/>
                    <a:ext cx="672" cy="192"/>
                  </a:xfrm>
                  <a:prstGeom prst="rect">
                    <a:avLst/>
                  </a:prstGeom>
                  <a:solidFill>
                    <a:srgbClr val="CCFFCC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1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w=3  </a:t>
                    </a:r>
                  </a:p>
                </p:txBody>
              </p:sp>
              <p:sp>
                <p:nvSpPr>
                  <p:cNvPr id="427" name="Line 99">
                    <a:extLst>
                      <a:ext uri="{FF2B5EF4-FFF2-40B4-BE49-F238E27FC236}">
                        <a16:creationId xmlns:a16="http://schemas.microsoft.com/office/drawing/2014/main" id="{1DA1AD42-C129-4566-948F-3576B4EE00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92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Line 100">
                    <a:extLst>
                      <a:ext uri="{FF2B5EF4-FFF2-40B4-BE49-F238E27FC236}">
                        <a16:creationId xmlns:a16="http://schemas.microsoft.com/office/drawing/2014/main" id="{5E79908E-B876-42F4-8DFD-FE17FC546C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22" name="AutoShape 101">
                  <a:extLst>
                    <a:ext uri="{FF2B5EF4-FFF2-40B4-BE49-F238E27FC236}">
                      <a16:creationId xmlns:a16="http://schemas.microsoft.com/office/drawing/2014/main" id="{3D086781-D2AA-4558-84A7-CF1D3530F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3120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5" name="Text Box 102">
                <a:extLst>
                  <a:ext uri="{FF2B5EF4-FFF2-40B4-BE49-F238E27FC236}">
                    <a16:creationId xmlns:a16="http://schemas.microsoft.com/office/drawing/2014/main" id="{33B1EAD3-9F5C-43C3-B262-268E998AB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4" y="2880"/>
                <a:ext cx="3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800" b="1"/>
                  <a:t>top</a:t>
                </a:r>
              </a:p>
            </p:txBody>
          </p:sp>
        </p:grpSp>
        <p:sp>
          <p:nvSpPr>
            <p:cNvPr id="413" name="Text Box 103" descr="花岗岩">
              <a:extLst>
                <a:ext uri="{FF2B5EF4-FFF2-40B4-BE49-F238E27FC236}">
                  <a16:creationId xmlns:a16="http://schemas.microsoft.com/office/drawing/2014/main" id="{D0E31AF5-8AD4-4356-9B37-B67EBC5C1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4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sp>
        <p:nvSpPr>
          <p:cNvPr id="429" name="Rectangle 104">
            <a:extLst>
              <a:ext uri="{FF2B5EF4-FFF2-40B4-BE49-F238E27FC236}">
                <a16:creationId xmlns:a16="http://schemas.microsoft.com/office/drawing/2014/main" id="{E49977D3-91CB-4CA0-9158-4D2E4E470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932" y="4696544"/>
            <a:ext cx="8572500" cy="1828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30" name="Group 105">
            <a:extLst>
              <a:ext uri="{FF2B5EF4-FFF2-40B4-BE49-F238E27FC236}">
                <a16:creationId xmlns:a16="http://schemas.microsoft.com/office/drawing/2014/main" id="{3289C7C0-7467-478E-BC0C-8EFA28C4BBAD}"/>
              </a:ext>
            </a:extLst>
          </p:cNvPr>
          <p:cNvGrpSpPr>
            <a:grpSpLocks/>
          </p:cNvGrpSpPr>
          <p:nvPr/>
        </p:nvGrpSpPr>
        <p:grpSpPr bwMode="auto">
          <a:xfrm>
            <a:off x="4993704" y="2377207"/>
            <a:ext cx="2667000" cy="3962400"/>
            <a:chOff x="2208" y="1344"/>
            <a:chExt cx="1680" cy="2496"/>
          </a:xfrm>
        </p:grpSpPr>
        <p:sp>
          <p:nvSpPr>
            <p:cNvPr id="431" name="Text Box 106">
              <a:extLst>
                <a:ext uri="{FF2B5EF4-FFF2-40B4-BE49-F238E27FC236}">
                  <a16:creationId xmlns:a16="http://schemas.microsoft.com/office/drawing/2014/main" id="{39A09ABE-05D1-4899-A7EE-6C2E2C4E6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344"/>
              <a:ext cx="1104" cy="252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7882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(3)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2, 2</a:t>
              </a:r>
            </a:p>
          </p:txBody>
        </p:sp>
        <p:grpSp>
          <p:nvGrpSpPr>
            <p:cNvPr id="432" name="Group 107">
              <a:extLst>
                <a:ext uri="{FF2B5EF4-FFF2-40B4-BE49-F238E27FC236}">
                  <a16:creationId xmlns:a16="http://schemas.microsoft.com/office/drawing/2014/main" id="{66E0287C-0936-4C75-8442-F740A8959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976"/>
              <a:ext cx="1104" cy="864"/>
              <a:chOff x="2208" y="2208"/>
              <a:chExt cx="1104" cy="864"/>
            </a:xfrm>
          </p:grpSpPr>
          <p:sp>
            <p:nvSpPr>
              <p:cNvPr id="433" name="Rectangle 108">
                <a:extLst>
                  <a:ext uri="{FF2B5EF4-FFF2-40B4-BE49-F238E27FC236}">
                    <a16:creationId xmlns:a16="http://schemas.microsoft.com/office/drawing/2014/main" id="{96CB4025-402A-4F09-822E-930C708FD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688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2</a:t>
                </a:r>
              </a:p>
            </p:txBody>
          </p:sp>
          <p:sp>
            <p:nvSpPr>
              <p:cNvPr id="434" name="Rectangle 109">
                <a:extLst>
                  <a:ext uri="{FF2B5EF4-FFF2-40B4-BE49-F238E27FC236}">
                    <a16:creationId xmlns:a16="http://schemas.microsoft.com/office/drawing/2014/main" id="{0F915DB6-BCEA-49CF-B22A-650B3A446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880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3</a:t>
                </a:r>
              </a:p>
            </p:txBody>
          </p:sp>
          <p:sp>
            <p:nvSpPr>
              <p:cNvPr id="435" name="Line 110">
                <a:extLst>
                  <a:ext uri="{FF2B5EF4-FFF2-40B4-BE49-F238E27FC236}">
                    <a16:creationId xmlns:a16="http://schemas.microsoft.com/office/drawing/2014/main" id="{99D52ABE-25F8-4D4F-8AF1-B77C3316A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0" y="220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36" name="Line 111">
                <a:extLst>
                  <a:ext uri="{FF2B5EF4-FFF2-40B4-BE49-F238E27FC236}">
                    <a16:creationId xmlns:a16="http://schemas.microsoft.com/office/drawing/2014/main" id="{9768113B-8E4B-4E37-BDB6-CD6330047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220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37" name="Group 112">
                <a:extLst>
                  <a:ext uri="{FF2B5EF4-FFF2-40B4-BE49-F238E27FC236}">
                    <a16:creationId xmlns:a16="http://schemas.microsoft.com/office/drawing/2014/main" id="{9ECAF238-1D77-4557-ABA7-3C7A2E556F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496"/>
                <a:ext cx="384" cy="288"/>
                <a:chOff x="1440" y="3888"/>
                <a:chExt cx="384" cy="288"/>
              </a:xfrm>
            </p:grpSpPr>
            <p:sp>
              <p:nvSpPr>
                <p:cNvPr id="438" name="AutoShape 113">
                  <a:extLst>
                    <a:ext uri="{FF2B5EF4-FFF2-40B4-BE49-F238E27FC236}">
                      <a16:creationId xmlns:a16="http://schemas.microsoft.com/office/drawing/2014/main" id="{5AB50708-7DF2-47B7-9D48-33263FA21E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39" name="Text Box 114">
                  <a:extLst>
                    <a:ext uri="{FF2B5EF4-FFF2-40B4-BE49-F238E27FC236}">
                      <a16:creationId xmlns:a16="http://schemas.microsoft.com/office/drawing/2014/main" id="{92BA1520-D665-4596-8F74-AD804BC598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440" name="Group 115">
            <a:extLst>
              <a:ext uri="{FF2B5EF4-FFF2-40B4-BE49-F238E27FC236}">
                <a16:creationId xmlns:a16="http://schemas.microsoft.com/office/drawing/2014/main" id="{A4A92B41-21BC-46B0-A495-5FCD49B02C55}"/>
              </a:ext>
            </a:extLst>
          </p:cNvPr>
          <p:cNvGrpSpPr>
            <a:grpSpLocks/>
          </p:cNvGrpSpPr>
          <p:nvPr/>
        </p:nvGrpSpPr>
        <p:grpSpPr bwMode="auto">
          <a:xfrm>
            <a:off x="6746304" y="1781894"/>
            <a:ext cx="2286000" cy="4572000"/>
            <a:chOff x="3360" y="960"/>
            <a:chExt cx="1392" cy="2880"/>
          </a:xfrm>
        </p:grpSpPr>
        <p:sp>
          <p:nvSpPr>
            <p:cNvPr id="441" name="Text Box 116">
              <a:extLst>
                <a:ext uri="{FF2B5EF4-FFF2-40B4-BE49-F238E27FC236}">
                  <a16:creationId xmlns:a16="http://schemas.microsoft.com/office/drawing/2014/main" id="{1DA9D12A-D413-4D69-B53F-87FEF1D85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60"/>
              <a:ext cx="864" cy="252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72549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(4)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  <p:grpSp>
          <p:nvGrpSpPr>
            <p:cNvPr id="442" name="Group 117">
              <a:extLst>
                <a:ext uri="{FF2B5EF4-FFF2-40B4-BE49-F238E27FC236}">
                  <a16:creationId xmlns:a16="http://schemas.microsoft.com/office/drawing/2014/main" id="{C4EE494A-317D-446B-BE55-D8E9D4648A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976"/>
              <a:ext cx="1056" cy="864"/>
              <a:chOff x="3456" y="2976"/>
              <a:chExt cx="1056" cy="864"/>
            </a:xfrm>
          </p:grpSpPr>
          <p:sp>
            <p:nvSpPr>
              <p:cNvPr id="443" name="Rectangle 118">
                <a:extLst>
                  <a:ext uri="{FF2B5EF4-FFF2-40B4-BE49-F238E27FC236}">
                    <a16:creationId xmlns:a16="http://schemas.microsoft.com/office/drawing/2014/main" id="{D926BE77-05CA-422D-8A23-0A5A55FCF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264"/>
                <a:ext cx="672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(3)       1</a:t>
                </a:r>
              </a:p>
            </p:txBody>
          </p:sp>
          <p:sp>
            <p:nvSpPr>
              <p:cNvPr id="444" name="Rectangle 119">
                <a:extLst>
                  <a:ext uri="{FF2B5EF4-FFF2-40B4-BE49-F238E27FC236}">
                    <a16:creationId xmlns:a16="http://schemas.microsoft.com/office/drawing/2014/main" id="{A3D3E53B-6877-4A88-BA28-EFE2719B8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45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   2</a:t>
                </a:r>
              </a:p>
            </p:txBody>
          </p:sp>
          <p:sp>
            <p:nvSpPr>
              <p:cNvPr id="445" name="Rectangle 120">
                <a:extLst>
                  <a:ext uri="{FF2B5EF4-FFF2-40B4-BE49-F238E27FC236}">
                    <a16:creationId xmlns:a16="http://schemas.microsoft.com/office/drawing/2014/main" id="{6910D682-5BF7-4E22-B6A3-83AEE31E1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6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  3</a:t>
                </a:r>
              </a:p>
            </p:txBody>
          </p:sp>
          <p:sp>
            <p:nvSpPr>
              <p:cNvPr id="446" name="Line 121">
                <a:extLst>
                  <a:ext uri="{FF2B5EF4-FFF2-40B4-BE49-F238E27FC236}">
                    <a16:creationId xmlns:a16="http://schemas.microsoft.com/office/drawing/2014/main" id="{7CE0AB21-CDE3-440D-8C25-7BEFA40C0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47" name="Line 122">
                <a:extLst>
                  <a:ext uri="{FF2B5EF4-FFF2-40B4-BE49-F238E27FC236}">
                    <a16:creationId xmlns:a16="http://schemas.microsoft.com/office/drawing/2014/main" id="{76ED4627-1E83-4130-8C89-1582D5103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48" name="Group 123">
                <a:extLst>
                  <a:ext uri="{FF2B5EF4-FFF2-40B4-BE49-F238E27FC236}">
                    <a16:creationId xmlns:a16="http://schemas.microsoft.com/office/drawing/2014/main" id="{23AA3176-0AAF-48D2-A2FC-7C07FD0FCE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3072"/>
                <a:ext cx="384" cy="288"/>
                <a:chOff x="1440" y="3888"/>
                <a:chExt cx="384" cy="288"/>
              </a:xfrm>
            </p:grpSpPr>
            <p:sp>
              <p:nvSpPr>
                <p:cNvPr id="449" name="AutoShape 124">
                  <a:extLst>
                    <a:ext uri="{FF2B5EF4-FFF2-40B4-BE49-F238E27FC236}">
                      <a16:creationId xmlns:a16="http://schemas.microsoft.com/office/drawing/2014/main" id="{3D5CECA3-21C7-4B03-A875-42B08DB07B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50" name="Text Box 125">
                  <a:extLst>
                    <a:ext uri="{FF2B5EF4-FFF2-40B4-BE49-F238E27FC236}">
                      <a16:creationId xmlns:a16="http://schemas.microsoft.com/office/drawing/2014/main" id="{BF3607B4-E549-4C94-A146-9C9F7A250B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451" name="Group 126">
            <a:extLst>
              <a:ext uri="{FF2B5EF4-FFF2-40B4-BE49-F238E27FC236}">
                <a16:creationId xmlns:a16="http://schemas.microsoft.com/office/drawing/2014/main" id="{13CC346F-F224-4001-A8F8-31ECF9D64528}"/>
              </a:ext>
            </a:extLst>
          </p:cNvPr>
          <p:cNvGrpSpPr>
            <a:grpSpLocks/>
          </p:cNvGrpSpPr>
          <p:nvPr/>
        </p:nvGrpSpPr>
        <p:grpSpPr bwMode="auto">
          <a:xfrm>
            <a:off x="3164904" y="2924894"/>
            <a:ext cx="2819400" cy="3429000"/>
            <a:chOff x="1056" y="1680"/>
            <a:chExt cx="1776" cy="2160"/>
          </a:xfrm>
        </p:grpSpPr>
        <p:sp>
          <p:nvSpPr>
            <p:cNvPr id="452" name="Text Box 127">
              <a:extLst>
                <a:ext uri="{FF2B5EF4-FFF2-40B4-BE49-F238E27FC236}">
                  <a16:creationId xmlns:a16="http://schemas.microsoft.com/office/drawing/2014/main" id="{0041ADFC-EAE5-4CD1-8ED5-0F5A9F56D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80"/>
              <a:ext cx="1296" cy="252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(2)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3, 3, 3  </a:t>
              </a:r>
            </a:p>
          </p:txBody>
        </p:sp>
        <p:grpSp>
          <p:nvGrpSpPr>
            <p:cNvPr id="453" name="Group 128">
              <a:extLst>
                <a:ext uri="{FF2B5EF4-FFF2-40B4-BE49-F238E27FC236}">
                  <a16:creationId xmlns:a16="http://schemas.microsoft.com/office/drawing/2014/main" id="{AD08ED53-7B47-4AC3-A6D5-DDD2172F3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976"/>
              <a:ext cx="1056" cy="864"/>
              <a:chOff x="2160" y="1776"/>
              <a:chExt cx="1056" cy="864"/>
            </a:xfrm>
          </p:grpSpPr>
          <p:sp>
            <p:nvSpPr>
              <p:cNvPr id="454" name="Rectangle 129">
                <a:extLst>
                  <a:ext uri="{FF2B5EF4-FFF2-40B4-BE49-F238E27FC236}">
                    <a16:creationId xmlns:a16="http://schemas.microsoft.com/office/drawing/2014/main" id="{73C69910-54E6-42AE-A02B-2CB8E2D49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(1 )    3</a:t>
                </a:r>
              </a:p>
            </p:txBody>
          </p:sp>
          <p:sp>
            <p:nvSpPr>
              <p:cNvPr id="455" name="Line 130">
                <a:extLst>
                  <a:ext uri="{FF2B5EF4-FFF2-40B4-BE49-F238E27FC236}">
                    <a16:creationId xmlns:a16="http://schemas.microsoft.com/office/drawing/2014/main" id="{1D774AD4-49F0-4A85-89C4-7D8EFC330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44" y="17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56" name="Line 131">
                <a:extLst>
                  <a:ext uri="{FF2B5EF4-FFF2-40B4-BE49-F238E27FC236}">
                    <a16:creationId xmlns:a16="http://schemas.microsoft.com/office/drawing/2014/main" id="{32C020A1-F797-41CB-B548-4073A8435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17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57" name="Group 132">
                <a:extLst>
                  <a:ext uri="{FF2B5EF4-FFF2-40B4-BE49-F238E27FC236}">
                    <a16:creationId xmlns:a16="http://schemas.microsoft.com/office/drawing/2014/main" id="{794E4F43-A383-44B6-91E6-281AC2BD03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2208"/>
                <a:ext cx="384" cy="336"/>
                <a:chOff x="1872" y="2160"/>
                <a:chExt cx="384" cy="336"/>
              </a:xfrm>
            </p:grpSpPr>
            <p:sp>
              <p:nvSpPr>
                <p:cNvPr id="458" name="AutoShape 133">
                  <a:extLst>
                    <a:ext uri="{FF2B5EF4-FFF2-40B4-BE49-F238E27FC236}">
                      <a16:creationId xmlns:a16="http://schemas.microsoft.com/office/drawing/2014/main" id="{3F5E14E5-E09A-47BA-84CB-374816C13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44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59" name="Text Box 134">
                  <a:extLst>
                    <a:ext uri="{FF2B5EF4-FFF2-40B4-BE49-F238E27FC236}">
                      <a16:creationId xmlns:a16="http://schemas.microsoft.com/office/drawing/2014/main" id="{F6ADA427-9615-406C-8C19-9AAA80483D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2160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460" name="Group 135">
            <a:extLst>
              <a:ext uri="{FF2B5EF4-FFF2-40B4-BE49-F238E27FC236}">
                <a16:creationId xmlns:a16="http://schemas.microsoft.com/office/drawing/2014/main" id="{5EF1E5D8-6644-4EFA-BA1A-DD76319523D3}"/>
              </a:ext>
            </a:extLst>
          </p:cNvPr>
          <p:cNvGrpSpPr>
            <a:grpSpLocks/>
          </p:cNvGrpSpPr>
          <p:nvPr/>
        </p:nvGrpSpPr>
        <p:grpSpPr bwMode="auto">
          <a:xfrm>
            <a:off x="8651304" y="1724744"/>
            <a:ext cx="1981200" cy="4648200"/>
            <a:chOff x="4512" y="912"/>
            <a:chExt cx="1248" cy="2928"/>
          </a:xfrm>
        </p:grpSpPr>
        <p:grpSp>
          <p:nvGrpSpPr>
            <p:cNvPr id="461" name="Group 136">
              <a:extLst>
                <a:ext uri="{FF2B5EF4-FFF2-40B4-BE49-F238E27FC236}">
                  <a16:creationId xmlns:a16="http://schemas.microsoft.com/office/drawing/2014/main" id="{61714737-625E-4B20-9BB8-8D451F70C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912"/>
              <a:ext cx="816" cy="250"/>
              <a:chOff x="4944" y="912"/>
              <a:chExt cx="816" cy="250"/>
            </a:xfrm>
          </p:grpSpPr>
          <p:sp>
            <p:nvSpPr>
              <p:cNvPr id="472" name="Line 137">
                <a:extLst>
                  <a:ext uri="{FF2B5EF4-FFF2-40B4-BE49-F238E27FC236}">
                    <a16:creationId xmlns:a16="http://schemas.microsoft.com/office/drawing/2014/main" id="{DEAD42B8-9D6F-4D52-89A2-FB015A89B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10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73" name="Text Box 138">
                <a:extLst>
                  <a:ext uri="{FF2B5EF4-FFF2-40B4-BE49-F238E27FC236}">
                    <a16:creationId xmlns:a16="http://schemas.microsoft.com/office/drawing/2014/main" id="{4E98D9C6-DC69-44DF-BBA3-E3B2EB514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" y="912"/>
                <a:ext cx="576" cy="250"/>
              </a:xfrm>
              <a:prstGeom prst="rect">
                <a:avLst/>
              </a:prstGeom>
              <a:gradFill rotWithShape="1">
                <a:gsLst>
                  <a:gs pos="0">
                    <a:srgbClr val="BAA1B9"/>
                  </a:gs>
                  <a:gs pos="100000">
                    <a:srgbClr val="FF99FF">
                      <a:gamma/>
                      <a:shade val="75686"/>
                      <a:invGamma/>
                    </a:srgb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返回</a:t>
                </a:r>
              </a:p>
            </p:txBody>
          </p:sp>
        </p:grpSp>
        <p:grpSp>
          <p:nvGrpSpPr>
            <p:cNvPr id="462" name="Group 139">
              <a:extLst>
                <a:ext uri="{FF2B5EF4-FFF2-40B4-BE49-F238E27FC236}">
                  <a16:creationId xmlns:a16="http://schemas.microsoft.com/office/drawing/2014/main" id="{FD4C44DB-9557-4115-834E-F752E7ECB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928"/>
              <a:ext cx="1056" cy="912"/>
              <a:chOff x="4464" y="2928"/>
              <a:chExt cx="1056" cy="912"/>
            </a:xfrm>
          </p:grpSpPr>
          <p:sp>
            <p:nvSpPr>
              <p:cNvPr id="463" name="Rectangle 140">
                <a:extLst>
                  <a:ext uri="{FF2B5EF4-FFF2-40B4-BE49-F238E27FC236}">
                    <a16:creationId xmlns:a16="http://schemas.microsoft.com/office/drawing/2014/main" id="{86F52763-6A20-472C-8E98-5580E3960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264"/>
                <a:ext cx="672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(3)      1</a:t>
                </a:r>
              </a:p>
            </p:txBody>
          </p:sp>
          <p:sp>
            <p:nvSpPr>
              <p:cNvPr id="464" name="Rectangle 141">
                <a:extLst>
                  <a:ext uri="{FF2B5EF4-FFF2-40B4-BE49-F238E27FC236}">
                    <a16:creationId xmlns:a16="http://schemas.microsoft.com/office/drawing/2014/main" id="{9B47246E-C075-4535-BE0F-28426CE18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45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  2</a:t>
                </a:r>
              </a:p>
            </p:txBody>
          </p:sp>
          <p:sp>
            <p:nvSpPr>
              <p:cNvPr id="465" name="Rectangle 142">
                <a:extLst>
                  <a:ext uri="{FF2B5EF4-FFF2-40B4-BE49-F238E27FC236}">
                    <a16:creationId xmlns:a16="http://schemas.microsoft.com/office/drawing/2014/main" id="{B664343B-F3DE-46EA-8E0E-580A35DB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6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 3</a:t>
                </a:r>
              </a:p>
            </p:txBody>
          </p:sp>
          <p:sp>
            <p:nvSpPr>
              <p:cNvPr id="466" name="Line 143">
                <a:extLst>
                  <a:ext uri="{FF2B5EF4-FFF2-40B4-BE49-F238E27FC236}">
                    <a16:creationId xmlns:a16="http://schemas.microsoft.com/office/drawing/2014/main" id="{795D3D72-1715-477D-8F42-602695AC0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20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67" name="Line 144">
                <a:extLst>
                  <a:ext uri="{FF2B5EF4-FFF2-40B4-BE49-F238E27FC236}">
                    <a16:creationId xmlns:a16="http://schemas.microsoft.com/office/drawing/2014/main" id="{1BC554FF-C6F9-4794-964D-6CEF354F2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68" name="Group 145">
                <a:extLst>
                  <a:ext uri="{FF2B5EF4-FFF2-40B4-BE49-F238E27FC236}">
                    <a16:creationId xmlns:a16="http://schemas.microsoft.com/office/drawing/2014/main" id="{F0CF3F1A-219C-4225-B851-CDAA0B81D1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4" y="2928"/>
                <a:ext cx="384" cy="288"/>
                <a:chOff x="1440" y="3888"/>
                <a:chExt cx="384" cy="288"/>
              </a:xfrm>
            </p:grpSpPr>
            <p:sp>
              <p:nvSpPr>
                <p:cNvPr id="470" name="AutoShape 146">
                  <a:extLst>
                    <a:ext uri="{FF2B5EF4-FFF2-40B4-BE49-F238E27FC236}">
                      <a16:creationId xmlns:a16="http://schemas.microsoft.com/office/drawing/2014/main" id="{40481260-F093-4F12-8F81-8FF43618E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71" name="Text Box 147">
                  <a:extLst>
                    <a:ext uri="{FF2B5EF4-FFF2-40B4-BE49-F238E27FC236}">
                      <a16:creationId xmlns:a16="http://schemas.microsoft.com/office/drawing/2014/main" id="{118EDA26-EAC6-4B0C-BB32-A91BE491C6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  <p:sp>
            <p:nvSpPr>
              <p:cNvPr id="469" name="Rectangle 148">
                <a:extLst>
                  <a:ext uri="{FF2B5EF4-FFF2-40B4-BE49-F238E27FC236}">
                    <a16:creationId xmlns:a16="http://schemas.microsoft.com/office/drawing/2014/main" id="{D002F3B9-B909-403A-B9BD-0E415953D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672" cy="19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(4)      0</a:t>
                </a:r>
              </a:p>
            </p:txBody>
          </p:sp>
        </p:grpSp>
      </p:grpSp>
      <p:grpSp>
        <p:nvGrpSpPr>
          <p:cNvPr id="474" name="Group 149">
            <a:extLst>
              <a:ext uri="{FF2B5EF4-FFF2-40B4-BE49-F238E27FC236}">
                <a16:creationId xmlns:a16="http://schemas.microsoft.com/office/drawing/2014/main" id="{C05048FA-AC27-4ED5-8EFF-169DE6964B0D}"/>
              </a:ext>
            </a:extLst>
          </p:cNvPr>
          <p:cNvGrpSpPr>
            <a:grpSpLocks/>
          </p:cNvGrpSpPr>
          <p:nvPr/>
        </p:nvGrpSpPr>
        <p:grpSpPr bwMode="auto">
          <a:xfrm>
            <a:off x="1969517" y="3458294"/>
            <a:ext cx="1447800" cy="2895600"/>
            <a:chOff x="240" y="2016"/>
            <a:chExt cx="912" cy="1824"/>
          </a:xfrm>
        </p:grpSpPr>
        <p:grpSp>
          <p:nvGrpSpPr>
            <p:cNvPr id="475" name="Group 150">
              <a:extLst>
                <a:ext uri="{FF2B5EF4-FFF2-40B4-BE49-F238E27FC236}">
                  <a16:creationId xmlns:a16="http://schemas.microsoft.com/office/drawing/2014/main" id="{17F43611-14AD-4219-827E-273DD7F0F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352"/>
              <a:ext cx="912" cy="442"/>
              <a:chOff x="288" y="3744"/>
              <a:chExt cx="912" cy="442"/>
            </a:xfrm>
          </p:grpSpPr>
          <p:sp>
            <p:nvSpPr>
              <p:cNvPr id="482" name="Line 151">
                <a:extLst>
                  <a:ext uri="{FF2B5EF4-FFF2-40B4-BE49-F238E27FC236}">
                    <a16:creationId xmlns:a16="http://schemas.microsoft.com/office/drawing/2014/main" id="{41E76287-61AD-45FD-B86A-3C35E940E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374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3" name="Text Box 152">
                <a:extLst>
                  <a:ext uri="{FF2B5EF4-FFF2-40B4-BE49-F238E27FC236}">
                    <a16:creationId xmlns:a16="http://schemas.microsoft.com/office/drawing/2014/main" id="{010B1668-550A-439C-B43B-5E591DFDF5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3936"/>
                <a:ext cx="52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结束</a:t>
                </a:r>
              </a:p>
            </p:txBody>
          </p:sp>
          <p:sp>
            <p:nvSpPr>
              <p:cNvPr id="484" name="Line 153">
                <a:extLst>
                  <a:ext uri="{FF2B5EF4-FFF2-40B4-BE49-F238E27FC236}">
                    <a16:creationId xmlns:a16="http://schemas.microsoft.com/office/drawing/2014/main" id="{8324002D-20B2-49D2-AD05-7A20E944C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5" name="Line 154">
                <a:extLst>
                  <a:ext uri="{FF2B5EF4-FFF2-40B4-BE49-F238E27FC236}">
                    <a16:creationId xmlns:a16="http://schemas.microsoft.com/office/drawing/2014/main" id="{774E1094-B3FB-419D-B9F6-23B12F1CC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6" name="Text Box 155">
              <a:extLst>
                <a:ext uri="{FF2B5EF4-FFF2-40B4-BE49-F238E27FC236}">
                  <a16:creationId xmlns:a16="http://schemas.microsoft.com/office/drawing/2014/main" id="{805F2132-F7EF-4200-A024-82199A201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016"/>
              <a:ext cx="864" cy="250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6078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(1)</a:t>
              </a:r>
            </a:p>
          </p:txBody>
        </p:sp>
        <p:grpSp>
          <p:nvGrpSpPr>
            <p:cNvPr id="477" name="Group 156">
              <a:extLst>
                <a:ext uri="{FF2B5EF4-FFF2-40B4-BE49-F238E27FC236}">
                  <a16:creationId xmlns:a16="http://schemas.microsoft.com/office/drawing/2014/main" id="{684A2262-1438-409E-B68D-34720E10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976"/>
              <a:ext cx="672" cy="864"/>
              <a:chOff x="2688" y="1728"/>
              <a:chExt cx="672" cy="864"/>
            </a:xfrm>
          </p:grpSpPr>
          <p:sp>
            <p:nvSpPr>
              <p:cNvPr id="478" name="Line 157">
                <a:extLst>
                  <a:ext uri="{FF2B5EF4-FFF2-40B4-BE49-F238E27FC236}">
                    <a16:creationId xmlns:a16="http://schemas.microsoft.com/office/drawing/2014/main" id="{8D6A26BE-040B-494C-98E6-1493EBA79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9" name="Line 158">
                <a:extLst>
                  <a:ext uri="{FF2B5EF4-FFF2-40B4-BE49-F238E27FC236}">
                    <a16:creationId xmlns:a16="http://schemas.microsoft.com/office/drawing/2014/main" id="{48630B28-27B9-43BF-8EC5-233EFE99A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172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0" name="Line 159">
                <a:extLst>
                  <a:ext uri="{FF2B5EF4-FFF2-40B4-BE49-F238E27FC236}">
                    <a16:creationId xmlns:a16="http://schemas.microsoft.com/office/drawing/2014/main" id="{14287C9C-0BA5-4E4E-8759-F776B50B8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" name="Line 160">
                <a:extLst>
                  <a:ext uri="{FF2B5EF4-FFF2-40B4-BE49-F238E27FC236}">
                    <a16:creationId xmlns:a16="http://schemas.microsoft.com/office/drawing/2014/main" id="{C9BDF215-3DD0-4C21-94A7-3F9454884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400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861912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Text Box 2"/>
          <p:cNvSpPr txBox="1">
            <a:spLocks noChangeArrowheads="1"/>
          </p:cNvSpPr>
          <p:nvPr/>
        </p:nvSpPr>
        <p:spPr bwMode="auto">
          <a:xfrm>
            <a:off x="695173" y="764704"/>
            <a:ext cx="40106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的阶乘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n!</a:t>
            </a:r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05928" name="Text Box 8" descr="信纸"/>
          <p:cNvSpPr txBox="1">
            <a:spLocks noChangeArrowheads="1"/>
          </p:cNvSpPr>
          <p:nvPr/>
        </p:nvSpPr>
        <p:spPr bwMode="auto">
          <a:xfrm>
            <a:off x="995603" y="3304351"/>
            <a:ext cx="4608512" cy="3051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>
                <a:solidFill>
                  <a:srgbClr val="CC0000"/>
                </a:solidFill>
              </a:rPr>
              <a:t>long factn (int n)</a:t>
            </a:r>
          </a:p>
          <a:p>
            <a:pPr marL="457200" indent="-457200"/>
            <a:r>
              <a:rPr lang="en-US" altLang="zh-CN" b="1"/>
              <a:t>{</a:t>
            </a:r>
          </a:p>
          <a:p>
            <a:pPr marL="457200" indent="-457200"/>
            <a:r>
              <a:rPr lang="en-US" altLang="zh-CN" b="1"/>
              <a:t>  long L = 1;</a:t>
            </a:r>
          </a:p>
          <a:p>
            <a:pPr marL="457200" indent="-457200"/>
            <a:r>
              <a:rPr lang="en-US" altLang="zh-CN" b="1"/>
              <a:t>  int i;</a:t>
            </a:r>
          </a:p>
          <a:p>
            <a:pPr marL="457200" indent="-457200"/>
            <a:r>
              <a:rPr lang="en-US" altLang="zh-CN" b="1"/>
              <a:t>  for (i = 1; i &lt;= n; i++)</a:t>
            </a:r>
          </a:p>
          <a:p>
            <a:pPr marL="457200" indent="-457200"/>
            <a:r>
              <a:rPr lang="en-US" altLang="zh-CN" b="1"/>
              <a:t>     L *= i;</a:t>
            </a:r>
          </a:p>
          <a:p>
            <a:pPr marL="457200" indent="-457200"/>
            <a:r>
              <a:rPr lang="en-US" altLang="zh-CN" b="1"/>
              <a:t>  return ( L );</a:t>
            </a:r>
          </a:p>
          <a:p>
            <a:pPr marL="457200" indent="-457200"/>
            <a:r>
              <a:rPr lang="en-US" altLang="zh-CN" b="1"/>
              <a:t>}</a:t>
            </a:r>
          </a:p>
        </p:txBody>
      </p:sp>
      <p:sp>
        <p:nvSpPr>
          <p:cNvPr id="1105929" name="Rectangle 9"/>
          <p:cNvSpPr>
            <a:spLocks noChangeArrowheads="1"/>
          </p:cNvSpPr>
          <p:nvPr/>
        </p:nvSpPr>
        <p:spPr bwMode="auto">
          <a:xfrm>
            <a:off x="995603" y="1381889"/>
            <a:ext cx="4850540" cy="156966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b="1" u="sng" dirty="0">
                <a:solidFill>
                  <a:srgbClr val="C00000"/>
                </a:solidFill>
                <a:ea typeface="楷体" pitchFamily="49" charset="-122"/>
              </a:rPr>
              <a:t> </a:t>
            </a:r>
            <a:r>
              <a:rPr lang="zh-CN" altLang="en-US" b="1" u="sng" dirty="0">
                <a:solidFill>
                  <a:srgbClr val="C00000"/>
                </a:solidFill>
                <a:ea typeface="楷体" pitchFamily="49" charset="-122"/>
              </a:rPr>
              <a:t>方法一：利用循环</a:t>
            </a:r>
          </a:p>
          <a:p>
            <a:r>
              <a:rPr lang="zh-CN" altLang="en-US" b="1" dirty="0">
                <a:ea typeface="楷体" pitchFamily="49" charset="-122"/>
              </a:rPr>
              <a:t>        因为</a:t>
            </a:r>
            <a:r>
              <a:rPr lang="en-US" altLang="zh-CN" b="1" dirty="0">
                <a:ea typeface="楷体" pitchFamily="49" charset="-122"/>
              </a:rPr>
              <a:t>n! = n * (n-1) * (n-2) * </a:t>
            </a:r>
            <a:r>
              <a:rPr lang="en-US" altLang="zh-CN" b="1" dirty="0">
                <a:latin typeface="+mn-ea"/>
              </a:rPr>
              <a:t>…</a:t>
            </a:r>
            <a:r>
              <a:rPr lang="en-US" altLang="zh-CN" b="1" dirty="0">
                <a:ea typeface="楷体" pitchFamily="49" charset="-122"/>
              </a:rPr>
              <a:t> * 2 * 1</a:t>
            </a:r>
            <a:r>
              <a:rPr lang="zh-CN" altLang="en-US" b="1" dirty="0">
                <a:ea typeface="楷体" pitchFamily="49" charset="-122"/>
              </a:rPr>
              <a:t>，我们完全可以用循环语句来编写这个非递归函数</a:t>
            </a:r>
            <a:r>
              <a:rPr lang="en-US" altLang="zh-CN" b="1" dirty="0" err="1">
                <a:ea typeface="楷体" pitchFamily="49" charset="-122"/>
              </a:rPr>
              <a:t>factn</a:t>
            </a:r>
            <a:r>
              <a:rPr lang="zh-CN" altLang="en-US" b="1" dirty="0">
                <a:ea typeface="楷体" pitchFamily="49" charset="-122"/>
              </a:rPr>
              <a:t>：</a:t>
            </a:r>
          </a:p>
        </p:txBody>
      </p:sp>
      <p:grpSp>
        <p:nvGrpSpPr>
          <p:cNvPr id="1105937" name="Group 17"/>
          <p:cNvGrpSpPr>
            <a:grpSpLocks/>
          </p:cNvGrpSpPr>
          <p:nvPr/>
        </p:nvGrpSpPr>
        <p:grpSpPr bwMode="auto">
          <a:xfrm>
            <a:off x="6240016" y="1381889"/>
            <a:ext cx="4643437" cy="1797050"/>
            <a:chOff x="2742" y="1806"/>
            <a:chExt cx="2925" cy="1132"/>
          </a:xfrm>
          <a:noFill/>
          <a:effectLst/>
        </p:grpSpPr>
        <p:sp>
          <p:nvSpPr>
            <p:cNvPr id="1105936" name="Rectangle 16"/>
            <p:cNvSpPr>
              <a:spLocks noChangeArrowheads="1"/>
            </p:cNvSpPr>
            <p:nvPr/>
          </p:nvSpPr>
          <p:spPr bwMode="auto">
            <a:xfrm>
              <a:off x="2742" y="1806"/>
              <a:ext cx="2925" cy="1132"/>
            </a:xfrm>
            <a:prstGeom prst="rect">
              <a:avLst/>
            </a:prstGeom>
            <a:grpFill/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930" name="Text Box 10"/>
            <p:cNvSpPr txBox="1">
              <a:spLocks noChangeArrowheads="1"/>
            </p:cNvSpPr>
            <p:nvPr/>
          </p:nvSpPr>
          <p:spPr bwMode="auto">
            <a:xfrm>
              <a:off x="2764" y="1814"/>
              <a:ext cx="1769" cy="2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方法二：利用递归</a:t>
              </a:r>
            </a:p>
          </p:txBody>
        </p:sp>
        <p:grpSp>
          <p:nvGrpSpPr>
            <p:cNvPr id="1105935" name="Group 15"/>
            <p:cNvGrpSpPr>
              <a:grpSpLocks/>
            </p:cNvGrpSpPr>
            <p:nvPr/>
          </p:nvGrpSpPr>
          <p:grpSpPr bwMode="auto">
            <a:xfrm>
              <a:off x="2925" y="2124"/>
              <a:ext cx="2722" cy="661"/>
              <a:chOff x="2925" y="2124"/>
              <a:chExt cx="2722" cy="661"/>
            </a:xfrm>
            <a:grpFill/>
          </p:grpSpPr>
          <p:sp>
            <p:nvSpPr>
              <p:cNvPr id="1105931" name="Text Box 11"/>
              <p:cNvSpPr txBox="1">
                <a:spLocks noChangeArrowheads="1"/>
              </p:cNvSpPr>
              <p:nvPr/>
            </p:nvSpPr>
            <p:spPr bwMode="auto">
              <a:xfrm>
                <a:off x="2925" y="2296"/>
                <a:ext cx="590" cy="2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ea typeface="楷体_GB2312" pitchFamily="49" charset="-122"/>
                  </a:rPr>
                  <a:t>n! = </a:t>
                </a:r>
              </a:p>
            </p:txBody>
          </p:sp>
          <p:sp>
            <p:nvSpPr>
              <p:cNvPr id="1105932" name="Text Box 12"/>
              <p:cNvSpPr txBox="1">
                <a:spLocks noChangeArrowheads="1"/>
              </p:cNvSpPr>
              <p:nvPr/>
            </p:nvSpPr>
            <p:spPr bwMode="auto">
              <a:xfrm>
                <a:off x="3498" y="2124"/>
                <a:ext cx="2149" cy="29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+mn-lt"/>
                    <a:ea typeface="楷体" pitchFamily="49" charset="-122"/>
                  </a:rPr>
                  <a:t>1                     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当</a:t>
                </a:r>
                <a:r>
                  <a:rPr lang="en-US" altLang="zh-CN" b="1" dirty="0">
                    <a:latin typeface="+mn-lt"/>
                    <a:ea typeface="楷体" pitchFamily="49" charset="-122"/>
                  </a:rPr>
                  <a:t>n = 1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时 </a:t>
                </a:r>
              </a:p>
            </p:txBody>
          </p:sp>
          <p:sp>
            <p:nvSpPr>
              <p:cNvPr id="1105933" name="Text Box 13"/>
              <p:cNvSpPr txBox="1">
                <a:spLocks noChangeArrowheads="1"/>
              </p:cNvSpPr>
              <p:nvPr/>
            </p:nvSpPr>
            <p:spPr bwMode="auto">
              <a:xfrm>
                <a:off x="3515" y="2494"/>
                <a:ext cx="2132" cy="29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+mn-lt"/>
                    <a:ea typeface="楷体" pitchFamily="49" charset="-122"/>
                  </a:rPr>
                  <a:t>n * (n - 1)!     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当</a:t>
                </a:r>
                <a:r>
                  <a:rPr lang="en-US" altLang="zh-CN" b="1" dirty="0">
                    <a:latin typeface="+mn-lt"/>
                    <a:ea typeface="楷体" pitchFamily="49" charset="-122"/>
                  </a:rPr>
                  <a:t>n &gt; 1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时 </a:t>
                </a:r>
              </a:p>
            </p:txBody>
          </p:sp>
          <p:sp>
            <p:nvSpPr>
              <p:cNvPr id="1105934" name="AutoShape 14"/>
              <p:cNvSpPr>
                <a:spLocks/>
              </p:cNvSpPr>
              <p:nvPr/>
            </p:nvSpPr>
            <p:spPr bwMode="auto">
              <a:xfrm>
                <a:off x="3379" y="2233"/>
                <a:ext cx="91" cy="453"/>
              </a:xfrm>
              <a:prstGeom prst="leftBrace">
                <a:avLst>
                  <a:gd name="adj1" fmla="val 41484"/>
                  <a:gd name="adj2" fmla="val 50000"/>
                </a:avLst>
              </a:prstGeom>
              <a:grpFill/>
              <a:ln w="25400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05938" name="Text Box 18" descr="信纸"/>
          <p:cNvSpPr txBox="1">
            <a:spLocks noChangeArrowheads="1"/>
          </p:cNvSpPr>
          <p:nvPr/>
        </p:nvSpPr>
        <p:spPr bwMode="auto">
          <a:xfrm>
            <a:off x="6274941" y="3304351"/>
            <a:ext cx="4608686" cy="3051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00000"/>
                </a:solidFill>
              </a:rPr>
              <a:t>long </a:t>
            </a:r>
            <a:r>
              <a:rPr lang="en-US" altLang="zh-CN" b="1" dirty="0" err="1">
                <a:solidFill>
                  <a:srgbClr val="C00000"/>
                </a:solidFill>
              </a:rPr>
              <a:t>factn</a:t>
            </a:r>
            <a:r>
              <a:rPr lang="en-US" altLang="zh-CN" b="1" dirty="0">
                <a:solidFill>
                  <a:srgbClr val="C00000"/>
                </a:solidFill>
              </a:rPr>
              <a:t> (</a:t>
            </a:r>
            <a:r>
              <a:rPr lang="en-US" altLang="zh-CN" b="1" dirty="0" err="1">
                <a:solidFill>
                  <a:srgbClr val="C00000"/>
                </a:solidFill>
              </a:rPr>
              <a:t>int</a:t>
            </a:r>
            <a:r>
              <a:rPr lang="en-US" altLang="zh-CN" b="1" dirty="0">
                <a:solidFill>
                  <a:srgbClr val="C00000"/>
                </a:solidFill>
              </a:rPr>
              <a:t> n) 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  long L;</a:t>
            </a:r>
          </a:p>
          <a:p>
            <a:pPr marL="457200" indent="-457200"/>
            <a:r>
              <a:rPr lang="en-US" altLang="zh-CN" b="1" dirty="0"/>
              <a:t>    if (n == 1)</a:t>
            </a:r>
          </a:p>
          <a:p>
            <a:pPr marL="457200" indent="-457200"/>
            <a:r>
              <a:rPr lang="en-US" altLang="zh-CN" b="1" dirty="0"/>
              <a:t>        return (1);</a:t>
            </a:r>
          </a:p>
          <a:p>
            <a:pPr marL="457200" indent="-457200"/>
            <a:r>
              <a:rPr lang="en-US" altLang="zh-CN" b="1" dirty="0"/>
              <a:t>    L = n * fact (n-1);</a:t>
            </a:r>
          </a:p>
          <a:p>
            <a:pPr marL="457200" indent="-457200"/>
            <a:r>
              <a:rPr lang="en-US" altLang="zh-CN" b="1" dirty="0"/>
              <a:t>    return (L);</a:t>
            </a:r>
          </a:p>
          <a:p>
            <a:pPr marL="457200" indent="-457200"/>
            <a:r>
              <a:rPr lang="en-US" altLang="zh-CN" b="1" dirty="0"/>
              <a:t>  }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193CDFA9-1DEF-4DE6-9B94-8EA91E028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8D5880-37E6-47F7-B45C-FC4473320409}"/>
              </a:ext>
            </a:extLst>
          </p:cNvPr>
          <p:cNvSpPr txBox="1"/>
          <p:nvPr/>
        </p:nvSpPr>
        <p:spPr>
          <a:xfrm>
            <a:off x="8760296" y="459910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递归结束条件</a:t>
            </a: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BE53A8D1-1457-4866-A4C1-2D5EF88E456D}"/>
              </a:ext>
            </a:extLst>
          </p:cNvPr>
          <p:cNvSpPr/>
          <p:nvPr/>
        </p:nvSpPr>
        <p:spPr bwMode="auto">
          <a:xfrm>
            <a:off x="8400256" y="4581128"/>
            <a:ext cx="216024" cy="576064"/>
          </a:xfrm>
          <a:prstGeom prst="rightBrace">
            <a:avLst/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CA9C124B-515C-423E-BADE-C5364F79B62B}"/>
              </a:ext>
            </a:extLst>
          </p:cNvPr>
          <p:cNvSpPr/>
          <p:nvPr/>
        </p:nvSpPr>
        <p:spPr bwMode="auto">
          <a:xfrm>
            <a:off x="7251253" y="2159764"/>
            <a:ext cx="188913" cy="549156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6678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5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5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5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05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05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2" grpId="0" build="p" autoUpdateAnimBg="0"/>
      <p:bldP spid="1105928" grpId="0" animBg="1" autoUpdateAnimBg="0"/>
      <p:bldP spid="1105929" grpId="0"/>
      <p:bldP spid="1105938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">
            <a:extLst>
              <a:ext uri="{FF2B5EF4-FFF2-40B4-BE49-F238E27FC236}">
                <a16:creationId xmlns:a16="http://schemas.microsoft.com/office/drawing/2014/main" id="{0BAE25B3-84CD-4495-BECC-CDC5D68AD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106960" name="Text Box 16" descr="信纸"/>
          <p:cNvSpPr txBox="1">
            <a:spLocks noChangeArrowheads="1"/>
          </p:cNvSpPr>
          <p:nvPr/>
        </p:nvSpPr>
        <p:spPr bwMode="auto">
          <a:xfrm>
            <a:off x="5159896" y="620688"/>
            <a:ext cx="2016125" cy="1958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 L = </a:t>
            </a:r>
            <a:r>
              <a:rPr lang="en-US" altLang="zh-CN" sz="2000" b="1" dirty="0" err="1">
                <a:solidFill>
                  <a:srgbClr val="C01920"/>
                </a:solidFill>
              </a:rPr>
              <a:t>factn</a:t>
            </a:r>
            <a:r>
              <a:rPr lang="en-US" altLang="zh-CN" sz="2000" b="1" dirty="0">
                <a:solidFill>
                  <a:srgbClr val="C01920"/>
                </a:solidFill>
              </a:rPr>
              <a:t>(4);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2" name="Text Box 18" descr="信纸"/>
          <p:cNvSpPr txBox="1">
            <a:spLocks noChangeArrowheads="1"/>
          </p:cNvSpPr>
          <p:nvPr/>
        </p:nvSpPr>
        <p:spPr bwMode="auto">
          <a:xfrm>
            <a:off x="1127448" y="3028951"/>
            <a:ext cx="1914525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(4)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L = 4*</a:t>
            </a:r>
            <a:r>
              <a:rPr lang="en-US" altLang="zh-CN" sz="2000" b="1" dirty="0" err="1">
                <a:solidFill>
                  <a:srgbClr val="CC0000"/>
                </a:solidFill>
              </a:rPr>
              <a:t>factn</a:t>
            </a:r>
            <a:r>
              <a:rPr lang="en-US" altLang="zh-CN" sz="2000" b="1" dirty="0">
                <a:solidFill>
                  <a:srgbClr val="CC0000"/>
                </a:solidFill>
              </a:rPr>
              <a:t>(3)</a:t>
            </a:r>
            <a:r>
              <a:rPr lang="en-US" altLang="zh-CN" sz="2000" b="1" dirty="0"/>
              <a:t>;</a:t>
            </a:r>
          </a:p>
          <a:p>
            <a:pPr marL="457200" indent="-457200"/>
            <a:r>
              <a:rPr lang="en-US" altLang="zh-CN" sz="2000" b="1" dirty="0"/>
              <a:t>  return (L);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3" name="Text Box 19" descr="信纸"/>
          <p:cNvSpPr txBox="1">
            <a:spLocks noChangeArrowheads="1"/>
          </p:cNvSpPr>
          <p:nvPr/>
        </p:nvSpPr>
        <p:spPr bwMode="auto">
          <a:xfrm>
            <a:off x="4040956" y="3486151"/>
            <a:ext cx="1912937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(3)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L = 3*</a:t>
            </a:r>
            <a:r>
              <a:rPr lang="en-US" altLang="zh-CN" sz="2000" b="1" dirty="0" err="1">
                <a:solidFill>
                  <a:srgbClr val="CC0000"/>
                </a:solidFill>
              </a:rPr>
              <a:t>factn</a:t>
            </a:r>
            <a:r>
              <a:rPr lang="en-US" altLang="zh-CN" sz="2000" b="1" dirty="0">
                <a:solidFill>
                  <a:srgbClr val="CC0000"/>
                </a:solidFill>
              </a:rPr>
              <a:t>(2)</a:t>
            </a:r>
            <a:r>
              <a:rPr lang="en-US" altLang="zh-CN" sz="2000" b="1" dirty="0"/>
              <a:t>;</a:t>
            </a:r>
          </a:p>
          <a:p>
            <a:pPr marL="457200" indent="-457200"/>
            <a:r>
              <a:rPr lang="en-US" altLang="zh-CN" sz="2000" b="1" dirty="0"/>
              <a:t>  return (L);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4" name="Text Box 20" descr="信纸"/>
          <p:cNvSpPr txBox="1">
            <a:spLocks noChangeArrowheads="1"/>
          </p:cNvSpPr>
          <p:nvPr/>
        </p:nvSpPr>
        <p:spPr bwMode="auto">
          <a:xfrm>
            <a:off x="6775351" y="3971926"/>
            <a:ext cx="1912937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(2)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L = 2*</a:t>
            </a:r>
            <a:r>
              <a:rPr lang="en-US" altLang="zh-CN" sz="2000" b="1" dirty="0" err="1">
                <a:solidFill>
                  <a:srgbClr val="CC0000"/>
                </a:solidFill>
              </a:rPr>
              <a:t>factn</a:t>
            </a:r>
            <a:r>
              <a:rPr lang="en-US" altLang="zh-CN" sz="2000" b="1" dirty="0">
                <a:solidFill>
                  <a:srgbClr val="CC0000"/>
                </a:solidFill>
              </a:rPr>
              <a:t>(1)</a:t>
            </a:r>
            <a:r>
              <a:rPr lang="en-US" altLang="zh-CN" sz="2000" b="1" dirty="0"/>
              <a:t>;</a:t>
            </a:r>
          </a:p>
          <a:p>
            <a:pPr marL="457200" indent="-457200"/>
            <a:r>
              <a:rPr lang="en-US" altLang="zh-CN" sz="2000" b="1" dirty="0"/>
              <a:t>  return (L);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5" name="Text Box 21" descr="信纸"/>
          <p:cNvSpPr txBox="1">
            <a:spLocks noChangeArrowheads="1"/>
          </p:cNvSpPr>
          <p:nvPr/>
        </p:nvSpPr>
        <p:spPr bwMode="auto">
          <a:xfrm>
            <a:off x="9660309" y="4443414"/>
            <a:ext cx="1692275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(1)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/>
              <a:t>  return (1);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6" name="Line 22"/>
          <p:cNvSpPr>
            <a:spLocks noChangeShapeType="1"/>
          </p:cNvSpPr>
          <p:nvPr/>
        </p:nvSpPr>
        <p:spPr bwMode="auto">
          <a:xfrm flipV="1">
            <a:off x="2699593" y="3645024"/>
            <a:ext cx="1380184" cy="696016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3" name="Line 29"/>
          <p:cNvSpPr>
            <a:spLocks noChangeShapeType="1"/>
          </p:cNvSpPr>
          <p:nvPr/>
        </p:nvSpPr>
        <p:spPr bwMode="auto">
          <a:xfrm flipV="1">
            <a:off x="5320480" y="4221088"/>
            <a:ext cx="1495600" cy="619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4" name="Line 30"/>
          <p:cNvSpPr>
            <a:spLocks noChangeShapeType="1"/>
          </p:cNvSpPr>
          <p:nvPr/>
        </p:nvSpPr>
        <p:spPr bwMode="auto">
          <a:xfrm flipV="1">
            <a:off x="8040216" y="4725144"/>
            <a:ext cx="1656184" cy="57569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8" name="Line 34"/>
          <p:cNvSpPr>
            <a:spLocks noChangeShapeType="1"/>
          </p:cNvSpPr>
          <p:nvPr/>
        </p:nvSpPr>
        <p:spPr bwMode="auto">
          <a:xfrm flipH="1">
            <a:off x="2567607" y="1844824"/>
            <a:ext cx="3312367" cy="1368151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106984" name="Group 40"/>
          <p:cNvGrpSpPr>
            <a:grpSpLocks/>
          </p:cNvGrpSpPr>
          <p:nvPr/>
        </p:nvGrpSpPr>
        <p:grpSpPr bwMode="auto">
          <a:xfrm>
            <a:off x="8147816" y="5516564"/>
            <a:ext cx="1692274" cy="730250"/>
            <a:chOff x="4344" y="3475"/>
            <a:chExt cx="1066" cy="460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5" name="Line 31"/>
            <p:cNvSpPr>
              <a:spLocks noChangeShapeType="1"/>
            </p:cNvSpPr>
            <p:nvPr/>
          </p:nvSpPr>
          <p:spPr bwMode="auto">
            <a:xfrm flipH="1" flipV="1">
              <a:off x="4412" y="3475"/>
              <a:ext cx="998" cy="453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0" name="Text Box 36"/>
            <p:cNvSpPr txBox="1">
              <a:spLocks noChangeArrowheads="1"/>
            </p:cNvSpPr>
            <p:nvPr/>
          </p:nvSpPr>
          <p:spPr bwMode="auto">
            <a:xfrm>
              <a:off x="4344" y="3702"/>
              <a:ext cx="525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1</a:t>
              </a:r>
            </a:p>
          </p:txBody>
        </p:sp>
      </p:grpSp>
      <p:grpSp>
        <p:nvGrpSpPr>
          <p:cNvPr id="1106985" name="Group 41"/>
          <p:cNvGrpSpPr>
            <a:grpSpLocks/>
          </p:cNvGrpSpPr>
          <p:nvPr/>
        </p:nvGrpSpPr>
        <p:grpSpPr bwMode="auto">
          <a:xfrm>
            <a:off x="5363344" y="5070476"/>
            <a:ext cx="1597025" cy="773113"/>
            <a:chOff x="2590" y="3194"/>
            <a:chExt cx="1006" cy="487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6" name="Line 32"/>
            <p:cNvSpPr>
              <a:spLocks noChangeShapeType="1"/>
            </p:cNvSpPr>
            <p:nvPr/>
          </p:nvSpPr>
          <p:spPr bwMode="auto">
            <a:xfrm flipH="1" flipV="1">
              <a:off x="2590" y="3194"/>
              <a:ext cx="1006" cy="417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1" name="Text Box 37"/>
            <p:cNvSpPr txBox="1">
              <a:spLocks noChangeArrowheads="1"/>
            </p:cNvSpPr>
            <p:nvPr/>
          </p:nvSpPr>
          <p:spPr bwMode="auto">
            <a:xfrm>
              <a:off x="2610" y="3448"/>
              <a:ext cx="525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2</a:t>
              </a:r>
            </a:p>
          </p:txBody>
        </p:sp>
      </p:grpSp>
      <p:grpSp>
        <p:nvGrpSpPr>
          <p:cNvPr id="1106986" name="Group 42"/>
          <p:cNvGrpSpPr>
            <a:grpSpLocks/>
          </p:cNvGrpSpPr>
          <p:nvPr/>
        </p:nvGrpSpPr>
        <p:grpSpPr bwMode="auto">
          <a:xfrm>
            <a:off x="2567755" y="4581523"/>
            <a:ext cx="1655763" cy="787399"/>
            <a:chOff x="829" y="2886"/>
            <a:chExt cx="1043" cy="496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7" name="Line 33"/>
            <p:cNvSpPr>
              <a:spLocks noChangeShapeType="1"/>
            </p:cNvSpPr>
            <p:nvPr/>
          </p:nvSpPr>
          <p:spPr bwMode="auto">
            <a:xfrm flipH="1" flipV="1">
              <a:off x="829" y="2886"/>
              <a:ext cx="1043" cy="417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2" name="Text Box 38"/>
            <p:cNvSpPr txBox="1">
              <a:spLocks noChangeArrowheads="1"/>
            </p:cNvSpPr>
            <p:nvPr/>
          </p:nvSpPr>
          <p:spPr bwMode="auto">
            <a:xfrm>
              <a:off x="881" y="3149"/>
              <a:ext cx="525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6</a:t>
              </a:r>
            </a:p>
          </p:txBody>
        </p:sp>
      </p:grpSp>
      <p:grpSp>
        <p:nvGrpSpPr>
          <p:cNvPr id="1106987" name="Group 43"/>
          <p:cNvGrpSpPr>
            <a:grpSpLocks/>
          </p:cNvGrpSpPr>
          <p:nvPr/>
        </p:nvGrpSpPr>
        <p:grpSpPr bwMode="auto">
          <a:xfrm>
            <a:off x="1847031" y="1916113"/>
            <a:ext cx="4321175" cy="2808288"/>
            <a:chOff x="375" y="1207"/>
            <a:chExt cx="2722" cy="1769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9" name="Line 35"/>
            <p:cNvSpPr>
              <a:spLocks noChangeShapeType="1"/>
            </p:cNvSpPr>
            <p:nvPr/>
          </p:nvSpPr>
          <p:spPr bwMode="auto">
            <a:xfrm flipV="1">
              <a:off x="375" y="1207"/>
              <a:ext cx="2722" cy="1769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3" name="Text Box 39"/>
            <p:cNvSpPr txBox="1">
              <a:spLocks noChangeArrowheads="1"/>
            </p:cNvSpPr>
            <p:nvPr/>
          </p:nvSpPr>
          <p:spPr bwMode="auto">
            <a:xfrm>
              <a:off x="2200" y="1842"/>
              <a:ext cx="589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24</a:t>
              </a:r>
            </a:p>
          </p:txBody>
        </p:sp>
      </p:grpSp>
      <p:sp>
        <p:nvSpPr>
          <p:cNvPr id="27" name="Text Box 2">
            <a:extLst>
              <a:ext uri="{FF2B5EF4-FFF2-40B4-BE49-F238E27FC236}">
                <a16:creationId xmlns:a16="http://schemas.microsoft.com/office/drawing/2014/main" id="{5DB79500-1177-4A44-8D2B-0EEACAE89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283" y="889414"/>
            <a:ext cx="3672210" cy="457200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递归调用执行情况如下：</a:t>
            </a:r>
          </a:p>
        </p:txBody>
      </p:sp>
    </p:spTree>
    <p:extLst>
      <p:ext uri="{BB962C8B-B14F-4D97-AF65-F5344CB8AC3E}">
        <p14:creationId xmlns:p14="http://schemas.microsoft.com/office/powerpoint/2010/main" val="322672556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69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06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1069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106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06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106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06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106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06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106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106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06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1106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60" grpId="0" animBg="1"/>
      <p:bldP spid="1106962" grpId="0" animBg="1"/>
      <p:bldP spid="1106963" grpId="0" animBg="1"/>
      <p:bldP spid="1106964" grpId="0" animBg="1"/>
      <p:bldP spid="1106965" grpId="0" animBg="1"/>
      <p:bldP spid="1106966" grpId="0" animBg="1"/>
      <p:bldP spid="1106973" grpId="0" animBg="1"/>
      <p:bldP spid="1106974" grpId="0" animBg="1"/>
      <p:bldP spid="110697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C320D5-3B63-4A6B-90E6-6CFD542F0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F23D90-CC28-4418-99F9-23FA492C9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571600"/>
            <a:ext cx="5486400" cy="16859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374833C-14A2-4A84-946C-E26FC8C8F36E}"/>
              </a:ext>
            </a:extLst>
          </p:cNvPr>
          <p:cNvSpPr txBox="1"/>
          <p:nvPr/>
        </p:nvSpPr>
        <p:spPr>
          <a:xfrm>
            <a:off x="479376" y="1109935"/>
            <a:ext cx="5541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数楼梯：</a:t>
            </a:r>
            <a:r>
              <a:rPr lang="en-US" altLang="zh-CN" sz="1800" b="1" dirty="0"/>
              <a:t>https://www.luogu.com.cn/problem/P1255</a:t>
            </a:r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CA077C-0339-4B58-9190-880BC597D572}"/>
              </a:ext>
            </a:extLst>
          </p:cNvPr>
          <p:cNvSpPr txBox="1"/>
          <p:nvPr/>
        </p:nvSpPr>
        <p:spPr>
          <a:xfrm>
            <a:off x="484462" y="327822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/>
              <a:t>解题思路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F220F-3383-443D-8AB7-2D230A1FD9FD}"/>
              </a:ext>
            </a:extLst>
          </p:cNvPr>
          <p:cNvSpPr txBox="1"/>
          <p:nvPr/>
        </p:nvSpPr>
        <p:spPr>
          <a:xfrm>
            <a:off x="1005942" y="3738327"/>
            <a:ext cx="9770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递归定义：</a:t>
            </a:r>
            <a:r>
              <a:rPr lang="zh-CN" altLang="en-US" sz="1800" dirty="0"/>
              <a:t>设</a:t>
            </a:r>
            <a:r>
              <a:rPr lang="en-US" altLang="zh-CN" sz="1800" dirty="0"/>
              <a:t>f(N) </a:t>
            </a:r>
            <a:r>
              <a:rPr lang="zh-CN" altLang="en-US" sz="1800" dirty="0"/>
              <a:t>是上到</a:t>
            </a:r>
            <a:r>
              <a:rPr lang="en-US" altLang="zh-CN" sz="1800" dirty="0"/>
              <a:t>N</a:t>
            </a:r>
            <a:r>
              <a:rPr lang="zh-CN" altLang="en-US" sz="1800" dirty="0"/>
              <a:t>阶的台阶总共有多少种走法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22DA48-2D21-42D9-9996-822BF486A026}"/>
              </a:ext>
            </a:extLst>
          </p:cNvPr>
          <p:cNvSpPr txBox="1"/>
          <p:nvPr/>
        </p:nvSpPr>
        <p:spPr>
          <a:xfrm>
            <a:off x="978047" y="5269985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结束条件：</a:t>
            </a:r>
            <a:r>
              <a:rPr lang="zh-CN" altLang="en-US" sz="1800" dirty="0"/>
              <a:t>当台阶</a:t>
            </a:r>
            <a:r>
              <a:rPr lang="en-US" altLang="zh-CN" sz="1800" dirty="0"/>
              <a:t>N</a:t>
            </a:r>
            <a:r>
              <a:rPr lang="zh-CN" altLang="en-US" sz="1800" dirty="0"/>
              <a:t>小于等于</a:t>
            </a:r>
            <a:r>
              <a:rPr lang="en-US" altLang="zh-CN" sz="1800" dirty="0"/>
              <a:t>2</a:t>
            </a:r>
            <a:r>
              <a:rPr lang="zh-CN" altLang="en-US" sz="1800" dirty="0"/>
              <a:t>时，</a:t>
            </a:r>
            <a:r>
              <a:rPr lang="en-US" altLang="zh-CN" sz="1800" dirty="0"/>
              <a:t>f(N) = N</a:t>
            </a:r>
            <a:endParaRPr lang="zh-CN" altLang="en-US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D9F8DA-856E-4315-9535-F1E98D163A45}"/>
              </a:ext>
            </a:extLst>
          </p:cNvPr>
          <p:cNvSpPr txBox="1"/>
          <p:nvPr/>
        </p:nvSpPr>
        <p:spPr>
          <a:xfrm>
            <a:off x="1005942" y="4265295"/>
            <a:ext cx="10634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求解思路：</a:t>
            </a:r>
            <a:r>
              <a:rPr lang="zh-CN" altLang="en-US" sz="1800" dirty="0"/>
              <a:t>走</a:t>
            </a:r>
            <a:r>
              <a:rPr lang="en-US" altLang="zh-CN" sz="1800" dirty="0"/>
              <a:t>1</a:t>
            </a:r>
            <a:r>
              <a:rPr lang="zh-CN" altLang="en-US" sz="1800" dirty="0"/>
              <a:t>次上到</a:t>
            </a:r>
            <a:r>
              <a:rPr lang="en-US" altLang="zh-CN" sz="1800" dirty="0"/>
              <a:t>N</a:t>
            </a:r>
            <a:r>
              <a:rPr lang="zh-CN" altLang="en-US" sz="1800" dirty="0"/>
              <a:t>阶，剩余</a:t>
            </a:r>
            <a:r>
              <a:rPr lang="en-US" altLang="zh-CN" sz="1800" dirty="0"/>
              <a:t>N-1</a:t>
            </a:r>
            <a:r>
              <a:rPr lang="zh-CN" altLang="en-US" sz="1800" dirty="0"/>
              <a:t>阶台阶，即</a:t>
            </a:r>
            <a:r>
              <a:rPr lang="en-US" altLang="zh-CN" sz="1800" dirty="0"/>
              <a:t>f(N-1)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en-US" altLang="zh-CN" sz="1800" dirty="0"/>
              <a:t>                    </a:t>
            </a:r>
            <a:r>
              <a:rPr lang="zh-CN" altLang="en-US" sz="1800" dirty="0"/>
              <a:t>走</a:t>
            </a:r>
            <a:r>
              <a:rPr lang="en-US" altLang="zh-CN" sz="1800" dirty="0"/>
              <a:t>2</a:t>
            </a:r>
            <a:r>
              <a:rPr lang="zh-CN" altLang="en-US" sz="1800" dirty="0"/>
              <a:t>次上到</a:t>
            </a:r>
            <a:r>
              <a:rPr lang="en-US" altLang="zh-CN" sz="1800" dirty="0"/>
              <a:t>N</a:t>
            </a:r>
            <a:r>
              <a:rPr lang="zh-CN" altLang="en-US" sz="1800" dirty="0"/>
              <a:t>阶，剩余</a:t>
            </a:r>
            <a:r>
              <a:rPr lang="en-US" altLang="zh-CN" sz="1800" dirty="0"/>
              <a:t>N-2</a:t>
            </a:r>
            <a:r>
              <a:rPr lang="zh-CN" altLang="en-US" sz="1800" dirty="0"/>
              <a:t>阶台阶，即</a:t>
            </a:r>
            <a:r>
              <a:rPr lang="en-US" altLang="zh-CN" sz="1800" dirty="0"/>
              <a:t>f(N-2)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en-US" altLang="zh-CN" sz="1800" dirty="0"/>
              <a:t>                    </a:t>
            </a:r>
            <a:r>
              <a:rPr lang="zh-CN" altLang="en-US" sz="1800" dirty="0"/>
              <a:t>所以</a:t>
            </a:r>
            <a:r>
              <a:rPr lang="en-US" altLang="zh-CN" sz="1800" dirty="0"/>
              <a:t>f(N)= f(N-1)+f(N-2). </a:t>
            </a:r>
            <a:endParaRPr lang="zh-CN" altLang="en-US" sz="18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6FD9C75-4564-45DF-BCFE-6A811F5AE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846" y="1122388"/>
            <a:ext cx="4402357" cy="406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75611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E4144E0-073E-4167-B25C-A473F9B1C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55D63C-B1EB-4321-A46B-1B6C754CE42A}"/>
              </a:ext>
            </a:extLst>
          </p:cNvPr>
          <p:cNvSpPr txBox="1"/>
          <p:nvPr/>
        </p:nvSpPr>
        <p:spPr>
          <a:xfrm>
            <a:off x="551384" y="1052736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递归求解思路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92DA15-CF65-4ED3-BBE5-9865593577AE}"/>
              </a:ext>
            </a:extLst>
          </p:cNvPr>
          <p:cNvSpPr txBox="1"/>
          <p:nvPr/>
        </p:nvSpPr>
        <p:spPr>
          <a:xfrm>
            <a:off x="1847528" y="2073698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1.</a:t>
            </a:r>
            <a:r>
              <a:rPr lang="zh-CN" altLang="en-US" sz="1800" b="1" dirty="0"/>
              <a:t>明确递归部分的意义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31CA8C-25E3-43FD-BA0A-D517376269DB}"/>
              </a:ext>
            </a:extLst>
          </p:cNvPr>
          <p:cNvSpPr txBox="1"/>
          <p:nvPr/>
        </p:nvSpPr>
        <p:spPr>
          <a:xfrm>
            <a:off x="1847528" y="2784486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2.</a:t>
            </a:r>
            <a:r>
              <a:rPr lang="zh-CN" altLang="en-US" sz="1800" b="1" dirty="0"/>
              <a:t>寻找递归结束条件，避免死循环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1265D5-83F7-41C3-B6A1-859ADCED4998}"/>
              </a:ext>
            </a:extLst>
          </p:cNvPr>
          <p:cNvSpPr txBox="1"/>
          <p:nvPr/>
        </p:nvSpPr>
        <p:spPr>
          <a:xfrm>
            <a:off x="1847528" y="3501008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3.</a:t>
            </a:r>
            <a:r>
              <a:rPr lang="zh-CN" altLang="en-US" sz="1800" b="1" dirty="0"/>
              <a:t>找出函数的递归表达式，缩小问题规模</a:t>
            </a:r>
          </a:p>
        </p:txBody>
      </p:sp>
    </p:spTree>
    <p:extLst>
      <p:ext uri="{BB962C8B-B14F-4D97-AF65-F5344CB8AC3E}">
        <p14:creationId xmlns:p14="http://schemas.microsoft.com/office/powerpoint/2010/main" val="2115151381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DC940A-9E53-41D0-9026-DA13F9570DD1}"/>
              </a:ext>
            </a:extLst>
          </p:cNvPr>
          <p:cNvSpPr txBox="1"/>
          <p:nvPr/>
        </p:nvSpPr>
        <p:spPr>
          <a:xfrm>
            <a:off x="4960112" y="2967335"/>
            <a:ext cx="2271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73205347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7" name="Rectangle 3"/>
          <p:cNvSpPr>
            <a:spLocks noChangeArrowheads="1"/>
          </p:cNvSpPr>
          <p:nvPr/>
        </p:nvSpPr>
        <p:spPr bwMode="auto">
          <a:xfrm>
            <a:off x="766724" y="883568"/>
            <a:ext cx="54732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、作用域和生存期的基本概念</a:t>
            </a:r>
          </a:p>
        </p:txBody>
      </p:sp>
      <p:sp>
        <p:nvSpPr>
          <p:cNvPr id="1060872" name="Rectangle 8"/>
          <p:cNvSpPr>
            <a:spLocks noChangeArrowheads="1"/>
          </p:cNvSpPr>
          <p:nvPr/>
        </p:nvSpPr>
        <p:spPr bwMode="auto">
          <a:xfrm>
            <a:off x="727112" y="1482873"/>
            <a:ext cx="1120153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变量的作用域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即变量的作用</a:t>
            </a:r>
            <a:r>
              <a:rPr lang="zh-CN" altLang="en-US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范围</a:t>
            </a:r>
            <a:r>
              <a:rPr lang="zh-CN" altLang="en-US" b="1" dirty="0">
                <a:latin typeface="+mn-lt"/>
                <a:ea typeface="楷体" pitchFamily="49" charset="-122"/>
              </a:rPr>
              <a:t>（或有效范围）。表现为变量有的可以在整个程序或其它程序中进行引用，有的则只能在局部范围内引用。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按其作用域范围可分为两种：即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全局变量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0873" name="Rectangle 9"/>
          <p:cNvSpPr>
            <a:spLocks noChangeArrowheads="1"/>
          </p:cNvSpPr>
          <p:nvPr/>
        </p:nvSpPr>
        <p:spPr bwMode="auto">
          <a:xfrm>
            <a:off x="727112" y="3356123"/>
            <a:ext cx="1100136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变量的生存期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变量从被生成到被撤消的这段时间。实际上就是变量占用内存的</a:t>
            </a:r>
            <a:r>
              <a:rPr lang="zh-CN" altLang="en-US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时间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按其生存期可分为两种：即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动态变量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静态变量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 </a:t>
            </a:r>
          </a:p>
        </p:txBody>
      </p:sp>
      <p:sp>
        <p:nvSpPr>
          <p:cNvPr id="1060874" name="Rectangle 10"/>
          <p:cNvSpPr>
            <a:spLocks noChangeArrowheads="1"/>
          </p:cNvSpPr>
          <p:nvPr/>
        </p:nvSpPr>
        <p:spPr bwMode="auto">
          <a:xfrm>
            <a:off x="1042686" y="4869160"/>
            <a:ext cx="10370219" cy="1411288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n w="1905"/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sz="2800" b="1" dirty="0">
                <a:ln w="1905"/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变量只能在其生存期内被引用，变量的作用域直接影响变量的生存期。</a:t>
            </a:r>
            <a:r>
              <a:rPr lang="zh-CN" altLang="en-US" sz="2800" b="1" dirty="0">
                <a:ln w="1905"/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作用域和生存期是从空间和时间的角度来体现变量的特性。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986B203-8379-41FC-8C55-5F0E5B3A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60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60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60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60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608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7" grpId="0"/>
      <p:bldP spid="10608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9" name="Rectangle 7"/>
          <p:cNvSpPr>
            <a:spLocks noChangeArrowheads="1"/>
          </p:cNvSpPr>
          <p:nvPr/>
        </p:nvSpPr>
        <p:spPr bwMode="auto">
          <a:xfrm>
            <a:off x="1182648" y="1750164"/>
            <a:ext cx="1045796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在函数内作定义说明的变量，也称为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内部变量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仅限于函数内，离开函数后不可再引用。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生存期</a:t>
            </a:r>
          </a:p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从函数被调用的时刻到函数返回调用处的时刻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（静态局部变量除外）。</a:t>
            </a:r>
          </a:p>
        </p:txBody>
      </p:sp>
      <p:sp>
        <p:nvSpPr>
          <p:cNvPr id="1062915" name="Rectangle 3"/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  <p:sp>
        <p:nvSpPr>
          <p:cNvPr id="1062922" name="Rectangle 10" descr="信纸"/>
          <p:cNvSpPr>
            <a:spLocks noChangeArrowheads="1"/>
          </p:cNvSpPr>
          <p:nvPr/>
        </p:nvSpPr>
        <p:spPr bwMode="auto">
          <a:xfrm>
            <a:off x="2819400" y="1740976"/>
            <a:ext cx="6696075" cy="414655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ea typeface="楷体_GB2312" pitchFamily="49" charset="-122"/>
              </a:rPr>
              <a:t>int f1 (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 x, int y </a:t>
            </a:r>
            <a:r>
              <a:rPr lang="en-US" altLang="zh-CN" b="1" dirty="0"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 z;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z = x &gt; y ? x : y;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(z);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b="1" dirty="0">
              <a:ea typeface="楷体_GB2312" pitchFamily="49" charset="-122"/>
            </a:endParaRP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void f2 (  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("%d\n",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ea typeface="楷体_GB2312" pitchFamily="49" charset="-122"/>
              </a:rPr>
              <a:t> 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</p:txBody>
      </p:sp>
      <p:sp>
        <p:nvSpPr>
          <p:cNvPr id="1062923" name="Oval 11"/>
          <p:cNvSpPr>
            <a:spLocks noChangeArrowheads="1"/>
          </p:cNvSpPr>
          <p:nvPr/>
        </p:nvSpPr>
        <p:spPr bwMode="auto">
          <a:xfrm>
            <a:off x="3774339" y="1754743"/>
            <a:ext cx="1482725" cy="460375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2924" name="Oval 12"/>
          <p:cNvSpPr>
            <a:spLocks noChangeArrowheads="1"/>
          </p:cNvSpPr>
          <p:nvPr/>
        </p:nvSpPr>
        <p:spPr bwMode="auto">
          <a:xfrm>
            <a:off x="2933700" y="2533139"/>
            <a:ext cx="936625" cy="431800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2934" name="Group 22"/>
          <p:cNvGrpSpPr>
            <a:grpSpLocks/>
          </p:cNvGrpSpPr>
          <p:nvPr/>
        </p:nvGrpSpPr>
        <p:grpSpPr bwMode="auto">
          <a:xfrm>
            <a:off x="3827462" y="1885439"/>
            <a:ext cx="4464050" cy="792162"/>
            <a:chOff x="1383" y="1661"/>
            <a:chExt cx="2812" cy="499"/>
          </a:xfrm>
        </p:grpSpPr>
        <p:sp>
          <p:nvSpPr>
            <p:cNvPr id="1062926" name="AutoShape 14"/>
            <p:cNvSpPr>
              <a:spLocks/>
            </p:cNvSpPr>
            <p:nvPr/>
          </p:nvSpPr>
          <p:spPr bwMode="auto">
            <a:xfrm>
              <a:off x="3198" y="1661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55565"/>
                <a:gd name="adj5" fmla="val 85023"/>
                <a:gd name="adj6" fmla="val -107824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algn="ctr"/>
              <a:r>
                <a:rPr lang="zh-CN" altLang="en-US" sz="1800" b="1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r>
                <a:rPr lang="zh-CN" altLang="en-US" sz="180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</a:t>
              </a:r>
            </a:p>
          </p:txBody>
        </p:sp>
        <p:sp>
          <p:nvSpPr>
            <p:cNvPr id="1062927" name="Line 15"/>
            <p:cNvSpPr>
              <a:spLocks noChangeShapeType="1"/>
            </p:cNvSpPr>
            <p:nvPr/>
          </p:nvSpPr>
          <p:spPr bwMode="auto">
            <a:xfrm flipV="1">
              <a:off x="1383" y="1842"/>
              <a:ext cx="1815" cy="318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62935" name="Group 23"/>
          <p:cNvGrpSpPr>
            <a:grpSpLocks/>
          </p:cNvGrpSpPr>
          <p:nvPr/>
        </p:nvGrpSpPr>
        <p:grpSpPr bwMode="auto">
          <a:xfrm>
            <a:off x="5556250" y="1885440"/>
            <a:ext cx="1858963" cy="2016125"/>
            <a:chOff x="2472" y="1661"/>
            <a:chExt cx="1171" cy="1270"/>
          </a:xfrm>
        </p:grpSpPr>
        <p:sp>
          <p:nvSpPr>
            <p:cNvPr id="1062928" name="AutoShape 16"/>
            <p:cNvSpPr>
              <a:spLocks/>
            </p:cNvSpPr>
            <p:nvPr/>
          </p:nvSpPr>
          <p:spPr bwMode="auto">
            <a:xfrm>
              <a:off x="2472" y="1661"/>
              <a:ext cx="136" cy="1270"/>
            </a:xfrm>
            <a:prstGeom prst="rightBrace">
              <a:avLst>
                <a:gd name="adj1" fmla="val 77819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62929" name="Text Box 17"/>
            <p:cNvSpPr txBox="1">
              <a:spLocks noChangeArrowheads="1"/>
            </p:cNvSpPr>
            <p:nvPr/>
          </p:nvSpPr>
          <p:spPr bwMode="auto">
            <a:xfrm>
              <a:off x="2600" y="2097"/>
              <a:ext cx="1043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x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y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z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2930" name="Oval 18"/>
          <p:cNvSpPr>
            <a:spLocks noChangeArrowheads="1"/>
          </p:cNvSpPr>
          <p:nvPr/>
        </p:nvSpPr>
        <p:spPr bwMode="auto">
          <a:xfrm>
            <a:off x="5153024" y="5125527"/>
            <a:ext cx="287338" cy="360363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2933" name="Group 21"/>
          <p:cNvGrpSpPr>
            <a:grpSpLocks/>
          </p:cNvGrpSpPr>
          <p:nvPr/>
        </p:nvGrpSpPr>
        <p:grpSpPr bwMode="auto">
          <a:xfrm>
            <a:off x="5340350" y="3830127"/>
            <a:ext cx="3457575" cy="1368425"/>
            <a:chOff x="2336" y="2886"/>
            <a:chExt cx="2178" cy="862"/>
          </a:xfrm>
        </p:grpSpPr>
        <p:sp>
          <p:nvSpPr>
            <p:cNvPr id="1062931" name="AutoShape 19"/>
            <p:cNvSpPr>
              <a:spLocks noChangeArrowheads="1"/>
            </p:cNvSpPr>
            <p:nvPr/>
          </p:nvSpPr>
          <p:spPr bwMode="auto">
            <a:xfrm>
              <a:off x="2699" y="2886"/>
              <a:ext cx="1815" cy="862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引用错误！</a:t>
              </a:r>
            </a:p>
          </p:txBody>
        </p:sp>
        <p:sp>
          <p:nvSpPr>
            <p:cNvPr id="1062932" name="Line 20"/>
            <p:cNvSpPr>
              <a:spLocks noChangeShapeType="1"/>
            </p:cNvSpPr>
            <p:nvPr/>
          </p:nvSpPr>
          <p:spPr bwMode="auto">
            <a:xfrm flipV="1">
              <a:off x="2336" y="3475"/>
              <a:ext cx="408" cy="227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id="{4B9295C0-6EBC-4E24-9B00-955BA298F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62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629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629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629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62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062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62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62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1062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062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62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5" grpId="0"/>
      <p:bldP spid="1062922" grpId="0" animBg="1"/>
      <p:bldP spid="1062923" grpId="0" animBg="1"/>
      <p:bldP spid="1062924" grpId="0" animBg="1"/>
      <p:bldP spid="10629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3" name="Rectangle 23"/>
          <p:cNvSpPr>
            <a:spLocks noChangeArrowheads="1"/>
          </p:cNvSpPr>
          <p:nvPr/>
        </p:nvSpPr>
        <p:spPr bwMode="auto">
          <a:xfrm>
            <a:off x="1199456" y="1599183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4984" name="Rectangle 24"/>
          <p:cNvSpPr>
            <a:spLocks noChangeArrowheads="1"/>
          </p:cNvSpPr>
          <p:nvPr/>
        </p:nvSpPr>
        <p:spPr bwMode="auto">
          <a:xfrm>
            <a:off x="566698" y="2309971"/>
            <a:ext cx="110739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(1)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主函数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main( )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中定义的变量也是局部变量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，它只能在主函数中使用，其它函数不能使用。同时，主函数中也不能使用其它函数中定义的局部变量。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4985" name="Rectangle 25" descr="信纸"/>
          <p:cNvSpPr>
            <a:spLocks noChangeArrowheads="1"/>
          </p:cNvSpPr>
          <p:nvPr/>
        </p:nvSpPr>
        <p:spPr bwMode="auto">
          <a:xfrm>
            <a:off x="2856309" y="1586671"/>
            <a:ext cx="6696075" cy="526297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f3 (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x);</a:t>
            </a:r>
          </a:p>
          <a:p>
            <a:pPr marL="457200" indent="-457200"/>
            <a:r>
              <a:rPr lang="en-US" altLang="zh-CN" b="1" dirty="0" err="1">
                <a:solidFill>
                  <a:srgbClr val="CC0099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ea typeface="楷体_GB2312" pitchFamily="49" charset="-122"/>
              </a:rPr>
              <a:t> = 2,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b</a:t>
            </a:r>
            <a:r>
              <a:rPr lang="en-US" altLang="zh-CN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b = a + y ;  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("%d\n", b);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0; 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f3 (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x 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y</a:t>
            </a:r>
            <a:r>
              <a:rPr lang="en-US" altLang="zh-CN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y = a + 5;  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( y 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</p:txBody>
      </p:sp>
      <p:sp>
        <p:nvSpPr>
          <p:cNvPr id="1064987" name="Rectangle 27"/>
          <p:cNvSpPr>
            <a:spLocks noChangeArrowheads="1"/>
          </p:cNvSpPr>
          <p:nvPr/>
        </p:nvSpPr>
        <p:spPr bwMode="auto">
          <a:xfrm>
            <a:off x="3072209" y="2778883"/>
            <a:ext cx="1584325" cy="34607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4989" name="AutoShape 29"/>
          <p:cNvSpPr>
            <a:spLocks/>
          </p:cNvSpPr>
          <p:nvPr/>
        </p:nvSpPr>
        <p:spPr bwMode="auto">
          <a:xfrm>
            <a:off x="6529784" y="1886708"/>
            <a:ext cx="1582737" cy="360363"/>
          </a:xfrm>
          <a:prstGeom prst="borderCallout2">
            <a:avLst>
              <a:gd name="adj1" fmla="val 31718"/>
              <a:gd name="adj2" fmla="val -4815"/>
              <a:gd name="adj3" fmla="val 31718"/>
              <a:gd name="adj4" fmla="val -79741"/>
              <a:gd name="adj5" fmla="val 246255"/>
              <a:gd name="adj6" fmla="val -15697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65002" name="Group 42"/>
          <p:cNvGrpSpPr>
            <a:grpSpLocks/>
          </p:cNvGrpSpPr>
          <p:nvPr/>
        </p:nvGrpSpPr>
        <p:grpSpPr bwMode="auto">
          <a:xfrm>
            <a:off x="6123383" y="2232783"/>
            <a:ext cx="1682750" cy="1857375"/>
            <a:chOff x="2336" y="1516"/>
            <a:chExt cx="1060" cy="1170"/>
          </a:xfrm>
        </p:grpSpPr>
        <p:sp>
          <p:nvSpPr>
            <p:cNvPr id="1065000" name="AutoShape 40"/>
            <p:cNvSpPr>
              <a:spLocks/>
            </p:cNvSpPr>
            <p:nvPr/>
          </p:nvSpPr>
          <p:spPr bwMode="auto">
            <a:xfrm>
              <a:off x="2336" y="1516"/>
              <a:ext cx="181" cy="1170"/>
            </a:xfrm>
            <a:prstGeom prst="rightBrace">
              <a:avLst>
                <a:gd name="adj1" fmla="val 53867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65001" name="Text Box 41"/>
            <p:cNvSpPr txBox="1">
              <a:spLocks noChangeArrowheads="1"/>
            </p:cNvSpPr>
            <p:nvPr/>
          </p:nvSpPr>
          <p:spPr bwMode="auto">
            <a:xfrm>
              <a:off x="2525" y="1871"/>
              <a:ext cx="87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a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b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grpSp>
        <p:nvGrpSpPr>
          <p:cNvPr id="1065003" name="Group 43"/>
          <p:cNvGrpSpPr>
            <a:grpSpLocks/>
          </p:cNvGrpSpPr>
          <p:nvPr/>
        </p:nvGrpSpPr>
        <p:grpSpPr bwMode="auto">
          <a:xfrm>
            <a:off x="6107941" y="4773686"/>
            <a:ext cx="1682750" cy="1857375"/>
            <a:chOff x="2336" y="1516"/>
            <a:chExt cx="1060" cy="1170"/>
          </a:xfrm>
        </p:grpSpPr>
        <p:sp>
          <p:nvSpPr>
            <p:cNvPr id="1065004" name="AutoShape 44"/>
            <p:cNvSpPr>
              <a:spLocks/>
            </p:cNvSpPr>
            <p:nvPr/>
          </p:nvSpPr>
          <p:spPr bwMode="auto">
            <a:xfrm>
              <a:off x="2336" y="1516"/>
              <a:ext cx="181" cy="1170"/>
            </a:xfrm>
            <a:prstGeom prst="rightBrace">
              <a:avLst>
                <a:gd name="adj1" fmla="val 53867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65005" name="Text Box 45"/>
            <p:cNvSpPr txBox="1">
              <a:spLocks noChangeArrowheads="1"/>
            </p:cNvSpPr>
            <p:nvPr/>
          </p:nvSpPr>
          <p:spPr bwMode="auto">
            <a:xfrm>
              <a:off x="2525" y="1871"/>
              <a:ext cx="87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x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y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5006" name="Oval 46"/>
          <p:cNvSpPr>
            <a:spLocks noChangeArrowheads="1"/>
          </p:cNvSpPr>
          <p:nvPr/>
        </p:nvSpPr>
        <p:spPr bwMode="auto">
          <a:xfrm>
            <a:off x="3821942" y="4587949"/>
            <a:ext cx="720725" cy="388937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07" name="Oval 47"/>
          <p:cNvSpPr>
            <a:spLocks noChangeArrowheads="1"/>
          </p:cNvSpPr>
          <p:nvPr/>
        </p:nvSpPr>
        <p:spPr bwMode="auto">
          <a:xfrm>
            <a:off x="3001205" y="5292798"/>
            <a:ext cx="865187" cy="419100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24" name="Group 64"/>
          <p:cNvGrpSpPr>
            <a:grpSpLocks/>
          </p:cNvGrpSpPr>
          <p:nvPr/>
        </p:nvGrpSpPr>
        <p:grpSpPr bwMode="auto">
          <a:xfrm>
            <a:off x="4355342" y="4373636"/>
            <a:ext cx="3700463" cy="360363"/>
            <a:chOff x="1474" y="2642"/>
            <a:chExt cx="2331" cy="227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065008" name="AutoShape 48"/>
            <p:cNvSpPr>
              <a:spLocks/>
            </p:cNvSpPr>
            <p:nvPr/>
          </p:nvSpPr>
          <p:spPr bwMode="auto">
            <a:xfrm>
              <a:off x="2808" y="2642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85356"/>
                <a:gd name="adj5" fmla="val 281500"/>
                <a:gd name="adj6" fmla="val -168204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pPr algn="ctr"/>
              <a:r>
                <a:rPr lang="zh-CN" altLang="en-US" sz="1800" b="1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r>
                <a:rPr lang="zh-CN" altLang="en-US" sz="180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</a:t>
              </a:r>
            </a:p>
          </p:txBody>
        </p:sp>
        <p:sp>
          <p:nvSpPr>
            <p:cNvPr id="1065009" name="Line 49"/>
            <p:cNvSpPr>
              <a:spLocks noChangeShapeType="1"/>
            </p:cNvSpPr>
            <p:nvPr/>
          </p:nvSpPr>
          <p:spPr bwMode="auto">
            <a:xfrm>
              <a:off x="1474" y="2795"/>
              <a:ext cx="1306" cy="9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65011" name="Oval 51"/>
          <p:cNvSpPr>
            <a:spLocks noChangeArrowheads="1"/>
          </p:cNvSpPr>
          <p:nvPr/>
        </p:nvSpPr>
        <p:spPr bwMode="auto">
          <a:xfrm>
            <a:off x="3994545" y="3150358"/>
            <a:ext cx="317500" cy="377825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12" name="Oval 52"/>
          <p:cNvSpPr>
            <a:spLocks noChangeArrowheads="1"/>
          </p:cNvSpPr>
          <p:nvPr/>
        </p:nvSpPr>
        <p:spPr bwMode="auto">
          <a:xfrm>
            <a:off x="3505595" y="5674805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22" name="Group 62"/>
          <p:cNvGrpSpPr>
            <a:grpSpLocks/>
          </p:cNvGrpSpPr>
          <p:nvPr/>
        </p:nvGrpSpPr>
        <p:grpSpPr bwMode="auto">
          <a:xfrm>
            <a:off x="4297758" y="2693158"/>
            <a:ext cx="1898650" cy="792163"/>
            <a:chOff x="1429" y="1806"/>
            <a:chExt cx="1196" cy="499"/>
          </a:xfrm>
        </p:grpSpPr>
        <p:sp>
          <p:nvSpPr>
            <p:cNvPr id="1065014" name="AutoShape 54"/>
            <p:cNvSpPr>
              <a:spLocks noChangeArrowheads="1"/>
            </p:cNvSpPr>
            <p:nvPr/>
          </p:nvSpPr>
          <p:spPr bwMode="auto">
            <a:xfrm>
              <a:off x="1718" y="180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5017" name="Line 57"/>
            <p:cNvSpPr>
              <a:spLocks noChangeShapeType="1"/>
            </p:cNvSpPr>
            <p:nvPr/>
          </p:nvSpPr>
          <p:spPr bwMode="auto">
            <a:xfrm flipV="1">
              <a:off x="1429" y="2151"/>
              <a:ext cx="272" cy="91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65025" name="Group 65"/>
          <p:cNvGrpSpPr>
            <a:grpSpLocks/>
          </p:cNvGrpSpPr>
          <p:nvPr/>
        </p:nvGrpSpPr>
        <p:grpSpPr bwMode="auto">
          <a:xfrm>
            <a:off x="3779079" y="5121348"/>
            <a:ext cx="2330450" cy="792162"/>
            <a:chOff x="1111" y="3113"/>
            <a:chExt cx="1468" cy="499"/>
          </a:xfrm>
        </p:grpSpPr>
        <p:sp>
          <p:nvSpPr>
            <p:cNvPr id="1065020" name="AutoShape 60"/>
            <p:cNvSpPr>
              <a:spLocks noChangeArrowheads="1"/>
            </p:cNvSpPr>
            <p:nvPr/>
          </p:nvSpPr>
          <p:spPr bwMode="auto">
            <a:xfrm>
              <a:off x="1672" y="3113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5021" name="Line 61"/>
            <p:cNvSpPr>
              <a:spLocks noChangeShapeType="1"/>
            </p:cNvSpPr>
            <p:nvPr/>
          </p:nvSpPr>
          <p:spPr bwMode="auto">
            <a:xfrm flipV="1">
              <a:off x="1111" y="3339"/>
              <a:ext cx="590" cy="18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29" name="Rectangle 4">
            <a:extLst>
              <a:ext uri="{FF2B5EF4-FFF2-40B4-BE49-F238E27FC236}">
                <a16:creationId xmlns:a16="http://schemas.microsoft.com/office/drawing/2014/main" id="{5C9116A5-980C-4613-86AC-A4947BD32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7E9FA323-9290-438C-A6DC-FE88AAC9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4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064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064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65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65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65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65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65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65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1065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500"/>
                                        <p:tgtEl>
                                          <p:spTgt spid="1065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1065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3" grpId="0"/>
      <p:bldP spid="1064985" grpId="0" animBg="1"/>
      <p:bldP spid="1064987" grpId="0" animBg="1"/>
      <p:bldP spid="1064989" grpId="0" animBg="1"/>
      <p:bldP spid="1065006" grpId="0" animBg="1"/>
      <p:bldP spid="1065007" grpId="0" animBg="1"/>
      <p:bldP spid="1065011" grpId="0" animBg="1"/>
      <p:bldP spid="1065012" grpId="0" animBg="1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3" name="Rectangle 5"/>
          <p:cNvSpPr>
            <a:spLocks noChangeArrowheads="1"/>
          </p:cNvSpPr>
          <p:nvPr/>
        </p:nvSpPr>
        <p:spPr bwMode="auto">
          <a:xfrm>
            <a:off x="1183125" y="1695037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7014" name="Rectangle 6"/>
          <p:cNvSpPr>
            <a:spLocks noChangeArrowheads="1"/>
          </p:cNvSpPr>
          <p:nvPr/>
        </p:nvSpPr>
        <p:spPr bwMode="auto">
          <a:xfrm>
            <a:off x="474051" y="2418644"/>
            <a:ext cx="1135639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(2)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形参变量属于被调用函数的局部变量；</a:t>
            </a:r>
            <a:r>
              <a:rPr lang="zh-CN" altLang="en-US" b="1" dirty="0">
                <a:latin typeface="+mn-lt"/>
                <a:ea typeface="楷体" pitchFamily="49" charset="-122"/>
              </a:rPr>
              <a:t>实参变量则属于全局变量或调用函数的局部变量。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tabLst>
                <a:tab pos="457200" algn="l"/>
              </a:tabLst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(3)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允许在不同的函数中使用相同的变量名</a:t>
            </a:r>
            <a:r>
              <a:rPr lang="zh-CN" altLang="en-US" b="1" dirty="0">
                <a:latin typeface="+mn-lt"/>
                <a:ea typeface="楷体" pitchFamily="49" charset="-122"/>
              </a:rPr>
              <a:t>，它们代表不同的对象，分配不同的单元，互不干扰，也不会发生混淆。 </a:t>
            </a:r>
          </a:p>
        </p:txBody>
      </p:sp>
      <p:sp>
        <p:nvSpPr>
          <p:cNvPr id="1067037" name="Rectangle 29" descr="信纸"/>
          <p:cNvSpPr>
            <a:spLocks noChangeArrowheads="1"/>
          </p:cNvSpPr>
          <p:nvPr/>
        </p:nvSpPr>
        <p:spPr bwMode="auto">
          <a:xfrm>
            <a:off x="1583100" y="2142621"/>
            <a:ext cx="5616575" cy="4154984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/>
              <a:t>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</a:p>
          <a:p>
            <a:pPr marL="457200" indent="-457200"/>
            <a:r>
              <a:rPr lang="en-US" altLang="zh-CN" b="1" dirty="0"/>
              <a:t>void </a:t>
            </a:r>
            <a:r>
              <a:rPr lang="en-US" altLang="zh-CN" b="1" dirty="0" err="1"/>
              <a:t>subf</a:t>
            </a:r>
            <a:r>
              <a:rPr lang="en-US" altLang="zh-CN" b="1" dirty="0"/>
              <a:t> ( );</a:t>
            </a: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 )</a:t>
            </a:r>
          </a:p>
          <a:p>
            <a:pPr marL="457200" indent="-457200"/>
            <a:r>
              <a:rPr lang="en-US" altLang="zh-CN" b="1" dirty="0"/>
              <a:t>{                                   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 a, b;</a:t>
            </a:r>
            <a:r>
              <a:rPr lang="en-US" altLang="zh-CN" b="1" dirty="0"/>
              <a:t>                              </a:t>
            </a:r>
          </a:p>
          <a:p>
            <a:pPr marL="457200" indent="-457200"/>
            <a:r>
              <a:rPr lang="en-US" altLang="zh-CN" b="1" dirty="0"/>
              <a:t>  a=3, b=4;                           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("main: a = %d, b = %d\n", a, b); 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</a:rPr>
              <a:t>  </a:t>
            </a:r>
            <a:r>
              <a:rPr lang="en-US" altLang="zh-CN" b="1" dirty="0" err="1">
                <a:solidFill>
                  <a:srgbClr val="7030A0"/>
                </a:solidFill>
              </a:rPr>
              <a:t>subf</a:t>
            </a:r>
            <a:r>
              <a:rPr lang="en-US" altLang="zh-CN" b="1" dirty="0">
                <a:solidFill>
                  <a:srgbClr val="7030A0"/>
                </a:solidFill>
              </a:rPr>
              <a:t> ( );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("main: a = %d, b = %d\n", a, b);</a:t>
            </a:r>
          </a:p>
          <a:p>
            <a:pPr marL="457200" indent="-457200"/>
            <a:r>
              <a:rPr lang="en-US" altLang="zh-CN" b="1" dirty="0"/>
              <a:t>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67038" name="Rectangle 30" descr="信纸"/>
          <p:cNvSpPr>
            <a:spLocks noChangeArrowheads="1"/>
          </p:cNvSpPr>
          <p:nvPr/>
        </p:nvSpPr>
        <p:spPr bwMode="auto">
          <a:xfrm>
            <a:off x="7559764" y="2132856"/>
            <a:ext cx="3960440" cy="268605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void </a:t>
            </a:r>
            <a:r>
              <a:rPr lang="en-US" altLang="zh-CN" b="1" dirty="0" err="1">
                <a:solidFill>
                  <a:srgbClr val="7030A0"/>
                </a:solidFill>
              </a:rPr>
              <a:t>subf</a:t>
            </a:r>
            <a:r>
              <a:rPr lang="en-US" altLang="zh-CN" b="1" dirty="0">
                <a:solidFill>
                  <a:srgbClr val="7030A0"/>
                </a:solidFill>
              </a:rPr>
              <a:t>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>
                <a:solidFill>
                  <a:srgbClr val="FF0000"/>
                </a:solidFill>
              </a:rPr>
              <a:t>   int a, b;</a:t>
            </a:r>
          </a:p>
          <a:p>
            <a:pPr marL="457200" indent="-457200"/>
            <a:r>
              <a:rPr lang="en-US" altLang="zh-CN" b="1" dirty="0"/>
              <a:t>   a = 6, b = 7;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</a:t>
            </a:r>
            <a:r>
              <a:rPr lang="en-US" altLang="zh-CN" b="1" dirty="0" err="1"/>
              <a:t>subf</a:t>
            </a:r>
            <a:r>
              <a:rPr lang="en-US" altLang="zh-CN" b="1" dirty="0"/>
              <a:t>: a = %d, </a:t>
            </a:r>
          </a:p>
          <a:p>
            <a:pPr marL="457200" indent="-457200"/>
            <a:r>
              <a:rPr lang="en-US" altLang="zh-CN" b="1" dirty="0"/>
              <a:t>                b = %d\n",</a:t>
            </a:r>
            <a:r>
              <a:rPr lang="en-US" altLang="zh-CN" b="1" dirty="0" err="1"/>
              <a:t>a,b</a:t>
            </a:r>
            <a:r>
              <a:rPr lang="en-US" altLang="zh-CN" b="1" dirty="0"/>
              <a:t>);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67039" name="Rectangle 31"/>
          <p:cNvSpPr>
            <a:spLocks noChangeArrowheads="1"/>
          </p:cNvSpPr>
          <p:nvPr/>
        </p:nvSpPr>
        <p:spPr bwMode="auto">
          <a:xfrm>
            <a:off x="7537644" y="4992013"/>
            <a:ext cx="3982559" cy="159067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main: a = 3, b = 4</a:t>
            </a:r>
          </a:p>
          <a:p>
            <a:r>
              <a:rPr lang="en-US" altLang="zh-CN" b="1" dirty="0" err="1">
                <a:solidFill>
                  <a:srgbClr val="002060"/>
                </a:solidFill>
              </a:rPr>
              <a:t>subf</a:t>
            </a:r>
            <a:r>
              <a:rPr lang="en-US" altLang="zh-CN" b="1" dirty="0">
                <a:solidFill>
                  <a:srgbClr val="002060"/>
                </a:solidFill>
              </a:rPr>
              <a:t>:  a = 6, b = 7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main: a = 3, b = 4</a:t>
            </a:r>
          </a:p>
        </p:txBody>
      </p:sp>
      <p:grpSp>
        <p:nvGrpSpPr>
          <p:cNvPr id="1067042" name="Group 34"/>
          <p:cNvGrpSpPr>
            <a:grpSpLocks/>
          </p:cNvGrpSpPr>
          <p:nvPr/>
        </p:nvGrpSpPr>
        <p:grpSpPr bwMode="auto">
          <a:xfrm>
            <a:off x="4462824" y="2722533"/>
            <a:ext cx="3384781" cy="360362"/>
            <a:chOff x="2154" y="1933"/>
            <a:chExt cx="2140" cy="227"/>
          </a:xfrm>
        </p:grpSpPr>
        <p:sp>
          <p:nvSpPr>
            <p:cNvPr id="1067040" name="AutoShape 32"/>
            <p:cNvSpPr>
              <a:spLocks/>
            </p:cNvSpPr>
            <p:nvPr/>
          </p:nvSpPr>
          <p:spPr bwMode="auto">
            <a:xfrm>
              <a:off x="2154" y="1933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56069"/>
                <a:gd name="adj5" fmla="val 275091"/>
                <a:gd name="adj6" fmla="val -102702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algn="ctr"/>
              <a:r>
                <a:rPr kumimoji="0"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变量名相同</a:t>
              </a:r>
              <a:r>
                <a:rPr kumimoji="0" lang="zh-CN" altLang="en-US" sz="1800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</a:t>
              </a:r>
              <a:endPara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067041" name="Line 33"/>
            <p:cNvSpPr>
              <a:spLocks noChangeShapeType="1"/>
            </p:cNvSpPr>
            <p:nvPr/>
          </p:nvSpPr>
          <p:spPr bwMode="auto">
            <a:xfrm>
              <a:off x="3152" y="2024"/>
              <a:ext cx="114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067043" name="Oval 35"/>
          <p:cNvSpPr>
            <a:spLocks noChangeArrowheads="1"/>
          </p:cNvSpPr>
          <p:nvPr/>
        </p:nvSpPr>
        <p:spPr bwMode="auto">
          <a:xfrm>
            <a:off x="1735356" y="3640545"/>
            <a:ext cx="1223962" cy="431800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7044" name="Oval 36"/>
          <p:cNvSpPr>
            <a:spLocks noChangeArrowheads="1"/>
          </p:cNvSpPr>
          <p:nvPr/>
        </p:nvSpPr>
        <p:spPr bwMode="auto">
          <a:xfrm>
            <a:off x="7808213" y="2903553"/>
            <a:ext cx="1223963" cy="431800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BB9CDF0-56C8-4D1C-923A-9B90C0629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E950AF3-066B-45A3-B57F-0EC578AC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7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0670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067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067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067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067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67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13" grpId="0"/>
      <p:bldP spid="1067037" grpId="0" animBg="1"/>
      <p:bldP spid="1067038" grpId="0" animBg="1"/>
      <p:bldP spid="1067039" grpId="0" animBg="1"/>
      <p:bldP spid="1067043" grpId="0" animBg="1"/>
      <p:bldP spid="1067044" grpId="0" animBg="1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5">
            <a:extLst>
              <a:ext uri="{FF2B5EF4-FFF2-40B4-BE49-F238E27FC236}">
                <a16:creationId xmlns:a16="http://schemas.microsoft.com/office/drawing/2014/main" id="{7B113575-E350-4E0A-AFD2-3D594A292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125" y="1695037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7100C63E-D89F-4303-B6B4-9AE5B7CA4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  <p:sp>
        <p:nvSpPr>
          <p:cNvPr id="1069062" name="Rectangle 6"/>
          <p:cNvSpPr>
            <a:spLocks noChangeArrowheads="1"/>
          </p:cNvSpPr>
          <p:nvPr/>
        </p:nvSpPr>
        <p:spPr bwMode="auto">
          <a:xfrm>
            <a:off x="539150" y="2463179"/>
            <a:ext cx="1129095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(4)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在复合语句中定义的变量也是局部变量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，其作用域只在复合语句范围内。其生存期是从复合语句被执行的时刻到复合语句执行完毕的时刻。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63" name="Rectangle 7" descr="信纸"/>
          <p:cNvSpPr>
            <a:spLocks noChangeArrowheads="1"/>
          </p:cNvSpPr>
          <p:nvPr/>
        </p:nvSpPr>
        <p:spPr bwMode="auto">
          <a:xfrm>
            <a:off x="1847579" y="1071547"/>
            <a:ext cx="8712917" cy="563231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/>
              <a:t>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b="1" dirty="0"/>
              <a:t>{ 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>
                <a:solidFill>
                  <a:srgbClr val="006600"/>
                </a:solidFill>
              </a:rPr>
              <a:t>int</a:t>
            </a:r>
            <a:r>
              <a:rPr lang="en-US" altLang="zh-CN" b="1" dirty="0">
                <a:solidFill>
                  <a:srgbClr val="006600"/>
                </a:solidFill>
              </a:rPr>
              <a:t> a = 2, b = 4;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{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</a:t>
            </a:r>
            <a:r>
              <a:rPr lang="en-US" altLang="zh-CN" b="1" dirty="0" err="1">
                <a:solidFill>
                  <a:srgbClr val="7030A0"/>
                </a:solidFill>
              </a:rPr>
              <a:t>int</a:t>
            </a:r>
            <a:r>
              <a:rPr lang="en-US" altLang="zh-CN" b="1" dirty="0">
                <a:solidFill>
                  <a:srgbClr val="7030A0"/>
                </a:solidFill>
              </a:rPr>
              <a:t> k, b;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k = a + 5;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b = a * 5;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</a:t>
            </a:r>
            <a:r>
              <a:rPr lang="en-US" altLang="zh-CN" b="1" dirty="0" err="1">
                <a:solidFill>
                  <a:srgbClr val="7030A0"/>
                </a:solidFill>
              </a:rPr>
              <a:t>printf</a:t>
            </a:r>
            <a:r>
              <a:rPr lang="en-US" altLang="zh-CN" b="1" dirty="0">
                <a:solidFill>
                  <a:srgbClr val="7030A0"/>
                </a:solidFill>
              </a:rPr>
              <a:t> ("k = %d\n", k);  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</a:t>
            </a:r>
            <a:r>
              <a:rPr lang="en-US" altLang="zh-CN" b="1" dirty="0" err="1">
                <a:solidFill>
                  <a:srgbClr val="7030A0"/>
                </a:solidFill>
              </a:rPr>
              <a:t>printf</a:t>
            </a:r>
            <a:r>
              <a:rPr lang="en-US" altLang="zh-CN" b="1" dirty="0">
                <a:solidFill>
                  <a:srgbClr val="7030A0"/>
                </a:solidFill>
              </a:rPr>
              <a:t> ("b = %d\n", b); 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}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("b = %d\n", b); </a:t>
            </a:r>
          </a:p>
          <a:p>
            <a:pPr marL="457200" indent="-457200"/>
            <a:r>
              <a:rPr lang="en-US" altLang="zh-CN" b="1" dirty="0"/>
              <a:t>  a = k + 2;</a:t>
            </a:r>
          </a:p>
          <a:p>
            <a:pPr marL="457200" indent="-457200"/>
            <a:r>
              <a:rPr lang="en-US" altLang="zh-CN" b="1" dirty="0"/>
              <a:t>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69071" name="Rectangle 15"/>
          <p:cNvSpPr>
            <a:spLocks noChangeArrowheads="1"/>
          </p:cNvSpPr>
          <p:nvPr/>
        </p:nvSpPr>
        <p:spPr bwMode="auto">
          <a:xfrm>
            <a:off x="2077766" y="2265347"/>
            <a:ext cx="2046288" cy="34607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9072" name="AutoShape 16"/>
          <p:cNvSpPr>
            <a:spLocks/>
          </p:cNvSpPr>
          <p:nvPr/>
        </p:nvSpPr>
        <p:spPr bwMode="auto">
          <a:xfrm>
            <a:off x="5535342" y="1373172"/>
            <a:ext cx="2333625" cy="360363"/>
          </a:xfrm>
          <a:prstGeom prst="borderCallout2">
            <a:avLst>
              <a:gd name="adj1" fmla="val 31718"/>
              <a:gd name="adj2" fmla="val -3264"/>
              <a:gd name="adj3" fmla="val 31718"/>
              <a:gd name="adj4" fmla="val -54083"/>
              <a:gd name="adj5" fmla="val 250222"/>
              <a:gd name="adj6" fmla="val -106463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main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中的局部变量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73" name="Rectangle 17"/>
          <p:cNvSpPr>
            <a:spLocks noChangeArrowheads="1"/>
          </p:cNvSpPr>
          <p:nvPr/>
        </p:nvSpPr>
        <p:spPr bwMode="auto">
          <a:xfrm>
            <a:off x="2307954" y="2995597"/>
            <a:ext cx="1154112" cy="3460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9074" name="AutoShape 18"/>
          <p:cNvSpPr>
            <a:spLocks/>
          </p:cNvSpPr>
          <p:nvPr/>
        </p:nvSpPr>
        <p:spPr bwMode="auto">
          <a:xfrm>
            <a:off x="4700317" y="2565384"/>
            <a:ext cx="2663825" cy="417512"/>
          </a:xfrm>
          <a:prstGeom prst="borderCallout2">
            <a:avLst>
              <a:gd name="adj1" fmla="val 27375"/>
              <a:gd name="adj2" fmla="val -2861"/>
              <a:gd name="adj3" fmla="val 27375"/>
              <a:gd name="adj4" fmla="val -24671"/>
              <a:gd name="adj5" fmla="val 137644"/>
              <a:gd name="adj6" fmla="val -47139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复合语句中的局部变量</a:t>
            </a:r>
            <a:r>
              <a:rPr lang="zh-CN" altLang="en-US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69083" name="Group 27"/>
          <p:cNvGrpSpPr>
            <a:grpSpLocks/>
          </p:cNvGrpSpPr>
          <p:nvPr/>
        </p:nvGrpSpPr>
        <p:grpSpPr bwMode="auto">
          <a:xfrm>
            <a:off x="2107930" y="2406635"/>
            <a:ext cx="6842125" cy="4078287"/>
            <a:chOff x="703" y="1751"/>
            <a:chExt cx="4310" cy="2341"/>
          </a:xfrm>
        </p:grpSpPr>
        <p:grpSp>
          <p:nvGrpSpPr>
            <p:cNvPr id="1069080" name="Group 24"/>
            <p:cNvGrpSpPr>
              <a:grpSpLocks/>
            </p:cNvGrpSpPr>
            <p:nvPr/>
          </p:nvGrpSpPr>
          <p:grpSpPr bwMode="auto">
            <a:xfrm>
              <a:off x="703" y="1751"/>
              <a:ext cx="3501" cy="2341"/>
              <a:chOff x="703" y="1751"/>
              <a:chExt cx="3501" cy="2341"/>
            </a:xfrm>
          </p:grpSpPr>
          <p:sp>
            <p:nvSpPr>
              <p:cNvPr id="1069077" name="Line 21"/>
              <p:cNvSpPr>
                <a:spLocks noChangeShapeType="1"/>
              </p:cNvSpPr>
              <p:nvPr/>
            </p:nvSpPr>
            <p:spPr bwMode="auto">
              <a:xfrm>
                <a:off x="4200" y="1752"/>
                <a:ext cx="0" cy="2335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78" name="Line 22"/>
              <p:cNvSpPr>
                <a:spLocks noChangeShapeType="1"/>
              </p:cNvSpPr>
              <p:nvPr/>
            </p:nvSpPr>
            <p:spPr bwMode="auto">
              <a:xfrm flipH="1">
                <a:off x="703" y="4092"/>
                <a:ext cx="349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79" name="Line 23"/>
              <p:cNvSpPr>
                <a:spLocks noChangeShapeType="1"/>
              </p:cNvSpPr>
              <p:nvPr/>
            </p:nvSpPr>
            <p:spPr bwMode="auto">
              <a:xfrm>
                <a:off x="1982" y="1751"/>
                <a:ext cx="2222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69081" name="Rectangle 25"/>
            <p:cNvSpPr>
              <a:spLocks noChangeArrowheads="1"/>
            </p:cNvSpPr>
            <p:nvPr/>
          </p:nvSpPr>
          <p:spPr bwMode="auto">
            <a:xfrm>
              <a:off x="4206" y="2472"/>
              <a:ext cx="807" cy="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 err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mian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中</a:t>
              </a:r>
            </a:p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a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b</a:t>
              </a:r>
            </a:p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的作用域 </a:t>
              </a:r>
            </a:p>
          </p:txBody>
        </p:sp>
      </p:grpSp>
      <p:grpSp>
        <p:nvGrpSpPr>
          <p:cNvPr id="1069089" name="Group 33"/>
          <p:cNvGrpSpPr>
            <a:grpSpLocks/>
          </p:cNvGrpSpPr>
          <p:nvPr/>
        </p:nvGrpSpPr>
        <p:grpSpPr bwMode="auto">
          <a:xfrm>
            <a:off x="2323830" y="3186097"/>
            <a:ext cx="5322887" cy="1814513"/>
            <a:chOff x="839" y="2242"/>
            <a:chExt cx="3353" cy="1143"/>
          </a:xfrm>
        </p:grpSpPr>
        <p:grpSp>
          <p:nvGrpSpPr>
            <p:cNvPr id="1069087" name="Group 31"/>
            <p:cNvGrpSpPr>
              <a:grpSpLocks/>
            </p:cNvGrpSpPr>
            <p:nvPr/>
          </p:nvGrpSpPr>
          <p:grpSpPr bwMode="auto">
            <a:xfrm>
              <a:off x="839" y="2242"/>
              <a:ext cx="2449" cy="1143"/>
              <a:chOff x="839" y="2296"/>
              <a:chExt cx="2449" cy="1089"/>
            </a:xfrm>
          </p:grpSpPr>
          <p:sp>
            <p:nvSpPr>
              <p:cNvPr id="1069084" name="Line 28"/>
              <p:cNvSpPr>
                <a:spLocks noChangeShapeType="1"/>
              </p:cNvSpPr>
              <p:nvPr/>
            </p:nvSpPr>
            <p:spPr bwMode="auto">
              <a:xfrm>
                <a:off x="1565" y="2296"/>
                <a:ext cx="1723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85" name="Line 29"/>
              <p:cNvSpPr>
                <a:spLocks noChangeShapeType="1"/>
              </p:cNvSpPr>
              <p:nvPr/>
            </p:nvSpPr>
            <p:spPr bwMode="auto">
              <a:xfrm>
                <a:off x="3288" y="2296"/>
                <a:ext cx="0" cy="1089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86" name="Line 30"/>
              <p:cNvSpPr>
                <a:spLocks noChangeShapeType="1"/>
              </p:cNvSpPr>
              <p:nvPr/>
            </p:nvSpPr>
            <p:spPr bwMode="auto">
              <a:xfrm flipH="1">
                <a:off x="839" y="3385"/>
                <a:ext cx="2449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69088" name="Rectangle 32"/>
            <p:cNvSpPr>
              <a:spLocks noChangeArrowheads="1"/>
            </p:cNvSpPr>
            <p:nvPr/>
          </p:nvSpPr>
          <p:spPr bwMode="auto">
            <a:xfrm>
              <a:off x="3271" y="2444"/>
              <a:ext cx="921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复合语句中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k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b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9091" name="AutoShape 35"/>
          <p:cNvSpPr>
            <a:spLocks/>
          </p:cNvSpPr>
          <p:nvPr/>
        </p:nvSpPr>
        <p:spPr bwMode="auto">
          <a:xfrm>
            <a:off x="8227742" y="4640247"/>
            <a:ext cx="1223963" cy="360363"/>
          </a:xfrm>
          <a:prstGeom prst="borderCallout2">
            <a:avLst>
              <a:gd name="adj1" fmla="val 31718"/>
              <a:gd name="adj2" fmla="val -6227"/>
              <a:gd name="adj3" fmla="val 31718"/>
              <a:gd name="adj4" fmla="val -117769"/>
              <a:gd name="adj5" fmla="val -96477"/>
              <a:gd name="adj6" fmla="val -232944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k = 7</a:t>
            </a:r>
            <a:r>
              <a:rPr lang="en-US" altLang="zh-CN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3" name="AutoShape 37"/>
          <p:cNvSpPr>
            <a:spLocks/>
          </p:cNvSpPr>
          <p:nvPr/>
        </p:nvSpPr>
        <p:spPr bwMode="auto">
          <a:xfrm>
            <a:off x="8229330" y="5170472"/>
            <a:ext cx="1366837" cy="360363"/>
          </a:xfrm>
          <a:prstGeom prst="borderCallout2">
            <a:avLst>
              <a:gd name="adj1" fmla="val 31718"/>
              <a:gd name="adj2" fmla="val -5574"/>
              <a:gd name="adj3" fmla="val 31718"/>
              <a:gd name="adj4" fmla="val -106968"/>
              <a:gd name="adj5" fmla="val -134801"/>
              <a:gd name="adj6" fmla="val -211616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b = 10</a:t>
            </a:r>
            <a:r>
              <a:rPr lang="en-US" altLang="zh-CN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4" name="AutoShape 38"/>
          <p:cNvSpPr>
            <a:spLocks/>
          </p:cNvSpPr>
          <p:nvPr/>
        </p:nvSpPr>
        <p:spPr bwMode="auto">
          <a:xfrm>
            <a:off x="8230916" y="5700697"/>
            <a:ext cx="1366838" cy="360363"/>
          </a:xfrm>
          <a:prstGeom prst="borderCallout2">
            <a:avLst>
              <a:gd name="adj1" fmla="val 31718"/>
              <a:gd name="adj2" fmla="val -5574"/>
              <a:gd name="adj3" fmla="val 31718"/>
              <a:gd name="adj4" fmla="val -114403"/>
              <a:gd name="adj5" fmla="val -96477"/>
              <a:gd name="adj6" fmla="val -226829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b = 4</a:t>
            </a:r>
            <a:r>
              <a:rPr lang="en-US" altLang="zh-CN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5" name="Oval 39"/>
          <p:cNvSpPr>
            <a:spLocks noChangeArrowheads="1"/>
          </p:cNvSpPr>
          <p:nvPr/>
        </p:nvSpPr>
        <p:spPr bwMode="auto">
          <a:xfrm>
            <a:off x="2511154" y="5557822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9099" name="Group 43"/>
          <p:cNvGrpSpPr>
            <a:grpSpLocks/>
          </p:cNvGrpSpPr>
          <p:nvPr/>
        </p:nvGrpSpPr>
        <p:grpSpPr bwMode="auto">
          <a:xfrm>
            <a:off x="2827067" y="5621322"/>
            <a:ext cx="2259013" cy="792163"/>
            <a:chOff x="1156" y="3776"/>
            <a:chExt cx="1423" cy="499"/>
          </a:xfrm>
        </p:grpSpPr>
        <p:sp>
          <p:nvSpPr>
            <p:cNvPr id="1069097" name="AutoShape 41"/>
            <p:cNvSpPr>
              <a:spLocks noChangeArrowheads="1"/>
            </p:cNvSpPr>
            <p:nvPr/>
          </p:nvSpPr>
          <p:spPr bwMode="auto">
            <a:xfrm>
              <a:off x="1672" y="377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9098" name="Line 42"/>
            <p:cNvSpPr>
              <a:spLocks noChangeShapeType="1"/>
            </p:cNvSpPr>
            <p:nvPr/>
          </p:nvSpPr>
          <p:spPr bwMode="auto">
            <a:xfrm>
              <a:off x="1156" y="3929"/>
              <a:ext cx="499" cy="19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Rectangle 4">
            <a:extLst>
              <a:ext uri="{FF2B5EF4-FFF2-40B4-BE49-F238E27FC236}">
                <a16:creationId xmlns:a16="http://schemas.microsoft.com/office/drawing/2014/main" id="{22F07A6F-F517-4272-B72A-4A2CA3983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9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069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069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" dur="500"/>
                                        <p:tgtEl>
                                          <p:spTgt spid="1069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69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69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1069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069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69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069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069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069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1069063" grpId="0" animBg="1"/>
      <p:bldP spid="1069071" grpId="0" animBg="1"/>
      <p:bldP spid="1069072" grpId="0" animBg="1"/>
      <p:bldP spid="1069073" grpId="0" animBg="1"/>
      <p:bldP spid="1069074" grpId="0" animBg="1"/>
      <p:bldP spid="1069091" grpId="0" animBg="1"/>
      <p:bldP spid="1069093" grpId="0" animBg="1"/>
      <p:bldP spid="1069094" grpId="0" animBg="1"/>
      <p:bldP spid="106909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>
            <a:extLst>
              <a:ext uri="{FF2B5EF4-FFF2-40B4-BE49-F238E27FC236}">
                <a16:creationId xmlns:a16="http://schemas.microsoft.com/office/drawing/2014/main" id="{1EDA2C6A-45E7-471C-8771-48EA46522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096811EC-20CA-4DE4-A911-F3C89F805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071110" name="Rectangle 6"/>
          <p:cNvSpPr>
            <a:spLocks noChangeArrowheads="1"/>
          </p:cNvSpPr>
          <p:nvPr/>
        </p:nvSpPr>
        <p:spPr bwMode="auto">
          <a:xfrm>
            <a:off x="710686" y="1693465"/>
            <a:ext cx="11073946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在函数外部作定义说明的变量，也称为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外部变量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。它不属于哪一个函数，而属于一个源程序文件。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 lvl="1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从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定义变量的位置开始</a:t>
            </a:r>
            <a:r>
              <a:rPr lang="zh-CN" altLang="en-US" b="1" dirty="0">
                <a:latin typeface="+mn-lt"/>
                <a:ea typeface="楷体" pitchFamily="49" charset="-122"/>
              </a:rPr>
              <a:t>到本源文件结束，及有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extern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  <a:r>
              <a:rPr lang="zh-CN" altLang="zh-CN" b="1" dirty="0">
                <a:latin typeface="+mn-lt"/>
                <a:ea typeface="楷体" pitchFamily="49" charset="-122"/>
              </a:rPr>
              <a:t>的其它源文件。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lvl="1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生存期</a:t>
            </a:r>
          </a:p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与程序相同。即从程序开始执行到程序终止的这段时间内，全局变量都有效。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1124" name="Rectangle 20" descr="信纸"/>
          <p:cNvSpPr>
            <a:spLocks noChangeArrowheads="1"/>
          </p:cNvSpPr>
          <p:nvPr/>
        </p:nvSpPr>
        <p:spPr bwMode="auto">
          <a:xfrm>
            <a:off x="1848274" y="2533283"/>
            <a:ext cx="2879725" cy="3787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math.h</a:t>
            </a:r>
            <a:r>
              <a:rPr lang="en-US" altLang="zh-CN" sz="2000" b="1" dirty="0"/>
              <a:t>&gt;</a:t>
            </a:r>
          </a:p>
          <a:p>
            <a:pPr marL="457200" indent="-457200"/>
            <a:r>
              <a:rPr lang="en-US" altLang="zh-CN" sz="2000" b="1" dirty="0" err="1"/>
              <a:t>int</a:t>
            </a:r>
            <a:r>
              <a:rPr lang="en-US" altLang="zh-CN" sz="2000" b="1" dirty="0"/>
              <a:t> sign ( );</a:t>
            </a:r>
          </a:p>
          <a:p>
            <a:pPr marL="457200" indent="-457200"/>
            <a:endParaRPr lang="en-US" altLang="zh-CN" sz="2000" b="1" dirty="0">
              <a:solidFill>
                <a:srgbClr val="002060"/>
              </a:solidFill>
            </a:endParaRPr>
          </a:p>
          <a:p>
            <a:pPr marL="457200" indent="-457200"/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计算数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的平方根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float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sqr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(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if ( n &gt; 0 )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    return (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sqrt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(n));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else    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   return (-1);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071125" name="Rectangle 21" descr="信纸"/>
          <p:cNvSpPr>
            <a:spLocks noChangeArrowheads="1"/>
          </p:cNvSpPr>
          <p:nvPr/>
        </p:nvSpPr>
        <p:spPr bwMode="auto">
          <a:xfrm>
            <a:off x="4901035" y="172670"/>
            <a:ext cx="5329238" cy="655564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float n = 0;</a:t>
            </a:r>
          </a:p>
          <a:p>
            <a:pPr marL="457200" indent="-457200"/>
            <a:endParaRPr lang="en-US" altLang="zh-CN" sz="2000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s;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float t;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scanf</a:t>
            </a:r>
            <a:r>
              <a:rPr lang="en-US" altLang="zh-CN" sz="2000" b="1" dirty="0">
                <a:ea typeface="楷体_GB2312" pitchFamily="49" charset="-122"/>
              </a:rPr>
              <a:t> ("%f", &amp;n);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s = sign ( 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取平方根号</a:t>
            </a: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t = </a:t>
            </a:r>
            <a:r>
              <a:rPr lang="en-US" altLang="zh-CN" sz="2000" b="1" dirty="0" err="1">
                <a:ea typeface="楷体_GB2312" pitchFamily="49" charset="-122"/>
              </a:rPr>
              <a:t>sqr</a:t>
            </a:r>
            <a:r>
              <a:rPr lang="en-US" altLang="zh-CN" sz="2000" b="1" dirty="0">
                <a:ea typeface="楷体_GB2312" pitchFamily="49" charset="-122"/>
              </a:rPr>
              <a:t> ( );   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("s = %d  t = %f ", s, t);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取数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的符号</a:t>
            </a:r>
          </a:p>
          <a:p>
            <a:pPr marL="457200" indent="-457200"/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sign (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r = 0;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if (n &gt; 0)  r = 1;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if (n &lt; 0)  r = -1;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return ( r 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071126" name="Rectangle 22"/>
          <p:cNvSpPr>
            <a:spLocks noChangeArrowheads="1"/>
          </p:cNvSpPr>
          <p:nvPr/>
        </p:nvSpPr>
        <p:spPr bwMode="auto">
          <a:xfrm>
            <a:off x="4959773" y="229820"/>
            <a:ext cx="1382712" cy="3460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27" name="AutoShape 23"/>
          <p:cNvSpPr>
            <a:spLocks/>
          </p:cNvSpPr>
          <p:nvPr/>
        </p:nvSpPr>
        <p:spPr bwMode="auto">
          <a:xfrm>
            <a:off x="7148935" y="472708"/>
            <a:ext cx="2089150" cy="720725"/>
          </a:xfrm>
          <a:prstGeom prst="borderCallout2">
            <a:avLst>
              <a:gd name="adj1" fmla="val 15861"/>
              <a:gd name="adj2" fmla="val -3648"/>
              <a:gd name="adj3" fmla="val 15861"/>
              <a:gd name="adj4" fmla="val -21278"/>
              <a:gd name="adj5" fmla="val -3523"/>
              <a:gd name="adj6" fmla="val -3936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定义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全局变量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，并赋初值</a:t>
            </a:r>
          </a:p>
        </p:txBody>
      </p:sp>
      <p:sp>
        <p:nvSpPr>
          <p:cNvPr id="1071128" name="Rectangle 24"/>
          <p:cNvSpPr>
            <a:spLocks noChangeArrowheads="1"/>
          </p:cNvSpPr>
          <p:nvPr/>
        </p:nvSpPr>
        <p:spPr bwMode="auto">
          <a:xfrm>
            <a:off x="5089949" y="1517283"/>
            <a:ext cx="892175" cy="541337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29" name="AutoShape 25"/>
          <p:cNvSpPr>
            <a:spLocks/>
          </p:cNvSpPr>
          <p:nvPr/>
        </p:nvSpPr>
        <p:spPr bwMode="auto">
          <a:xfrm>
            <a:off x="7782348" y="1310908"/>
            <a:ext cx="1295400" cy="433387"/>
          </a:xfrm>
          <a:prstGeom prst="borderCallout2">
            <a:avLst>
              <a:gd name="adj1" fmla="val 26375"/>
              <a:gd name="adj2" fmla="val -5884"/>
              <a:gd name="adj3" fmla="val 26375"/>
              <a:gd name="adj4" fmla="val -72426"/>
              <a:gd name="adj5" fmla="val 107694"/>
              <a:gd name="adj6" fmla="val -14093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</a:t>
            </a:r>
          </a:p>
        </p:txBody>
      </p:sp>
      <p:grpSp>
        <p:nvGrpSpPr>
          <p:cNvPr id="1071137" name="Group 33"/>
          <p:cNvGrpSpPr>
            <a:grpSpLocks/>
          </p:cNvGrpSpPr>
          <p:nvPr/>
        </p:nvGrpSpPr>
        <p:grpSpPr bwMode="auto">
          <a:xfrm>
            <a:off x="5189961" y="398094"/>
            <a:ext cx="4873683" cy="6143626"/>
            <a:chOff x="2472" y="434"/>
            <a:chExt cx="2962" cy="3693"/>
          </a:xfrm>
        </p:grpSpPr>
        <p:grpSp>
          <p:nvGrpSpPr>
            <p:cNvPr id="1071136" name="Group 32"/>
            <p:cNvGrpSpPr>
              <a:grpSpLocks/>
            </p:cNvGrpSpPr>
            <p:nvPr/>
          </p:nvGrpSpPr>
          <p:grpSpPr bwMode="auto">
            <a:xfrm>
              <a:off x="2472" y="434"/>
              <a:ext cx="2628" cy="3693"/>
              <a:chOff x="2472" y="434"/>
              <a:chExt cx="2628" cy="3693"/>
            </a:xfrm>
          </p:grpSpPr>
          <p:sp>
            <p:nvSpPr>
              <p:cNvPr id="1071132" name="Line 28"/>
              <p:cNvSpPr>
                <a:spLocks noChangeShapeType="1"/>
              </p:cNvSpPr>
              <p:nvPr/>
            </p:nvSpPr>
            <p:spPr bwMode="auto">
              <a:xfrm>
                <a:off x="5100" y="436"/>
                <a:ext cx="0" cy="36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33" name="Line 29"/>
              <p:cNvSpPr>
                <a:spLocks noChangeShapeType="1"/>
              </p:cNvSpPr>
              <p:nvPr/>
            </p:nvSpPr>
            <p:spPr bwMode="auto">
              <a:xfrm flipH="1">
                <a:off x="2472" y="4110"/>
                <a:ext cx="262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34" name="Line 30"/>
              <p:cNvSpPr>
                <a:spLocks noChangeShapeType="1"/>
              </p:cNvSpPr>
              <p:nvPr/>
            </p:nvSpPr>
            <p:spPr bwMode="auto">
              <a:xfrm>
                <a:off x="3199" y="434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35" name="Rectangle 31"/>
            <p:cNvSpPr>
              <a:spLocks noChangeArrowheads="1"/>
            </p:cNvSpPr>
            <p:nvPr/>
          </p:nvSpPr>
          <p:spPr bwMode="auto">
            <a:xfrm>
              <a:off x="5071" y="1296"/>
              <a:ext cx="363" cy="1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全局变量</a:t>
              </a:r>
              <a:endPara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  <a:p>
              <a:pPr algn="ctr"/>
              <a:r>
                <a:rPr lang="en-US" altLang="zh-CN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n</a:t>
              </a:r>
            </a:p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的作用域 </a:t>
              </a:r>
            </a:p>
          </p:txBody>
        </p:sp>
      </p:grpSp>
      <p:grpSp>
        <p:nvGrpSpPr>
          <p:cNvPr id="1071145" name="Group 41"/>
          <p:cNvGrpSpPr>
            <a:grpSpLocks/>
          </p:cNvGrpSpPr>
          <p:nvPr/>
        </p:nvGrpSpPr>
        <p:grpSpPr bwMode="auto">
          <a:xfrm>
            <a:off x="5129635" y="1857008"/>
            <a:ext cx="4395788" cy="1898631"/>
            <a:chOff x="2434" y="1353"/>
            <a:chExt cx="2769" cy="1034"/>
          </a:xfrm>
        </p:grpSpPr>
        <p:grpSp>
          <p:nvGrpSpPr>
            <p:cNvPr id="1071144" name="Group 40"/>
            <p:cNvGrpSpPr>
              <a:grpSpLocks/>
            </p:cNvGrpSpPr>
            <p:nvPr/>
          </p:nvGrpSpPr>
          <p:grpSpPr bwMode="auto">
            <a:xfrm>
              <a:off x="2434" y="1362"/>
              <a:ext cx="2184" cy="1025"/>
              <a:chOff x="2434" y="1362"/>
              <a:chExt cx="2184" cy="1025"/>
            </a:xfrm>
          </p:grpSpPr>
          <p:sp>
            <p:nvSpPr>
              <p:cNvPr id="1071140" name="Line 36"/>
              <p:cNvSpPr>
                <a:spLocks noChangeShapeType="1"/>
              </p:cNvSpPr>
              <p:nvPr/>
            </p:nvSpPr>
            <p:spPr bwMode="auto">
              <a:xfrm>
                <a:off x="2972" y="1362"/>
                <a:ext cx="1646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41" name="Line 37"/>
              <p:cNvSpPr>
                <a:spLocks noChangeShapeType="1"/>
              </p:cNvSpPr>
              <p:nvPr/>
            </p:nvSpPr>
            <p:spPr bwMode="auto">
              <a:xfrm>
                <a:off x="4613" y="1362"/>
                <a:ext cx="0" cy="102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42" name="Line 38"/>
              <p:cNvSpPr>
                <a:spLocks noChangeShapeType="1"/>
              </p:cNvSpPr>
              <p:nvPr/>
            </p:nvSpPr>
            <p:spPr bwMode="auto">
              <a:xfrm flipH="1">
                <a:off x="2434" y="2387"/>
                <a:ext cx="2179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43" name="Rectangle 39"/>
            <p:cNvSpPr>
              <a:spLocks noChangeArrowheads="1"/>
            </p:cNvSpPr>
            <p:nvPr/>
          </p:nvSpPr>
          <p:spPr bwMode="auto">
            <a:xfrm>
              <a:off x="4613" y="1353"/>
              <a:ext cx="590" cy="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endPara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  <a:p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s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t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1146" name="Rectangle 42"/>
          <p:cNvSpPr>
            <a:spLocks noChangeArrowheads="1"/>
          </p:cNvSpPr>
          <p:nvPr/>
        </p:nvSpPr>
        <p:spPr bwMode="auto">
          <a:xfrm>
            <a:off x="5118524" y="5100863"/>
            <a:ext cx="1006475" cy="325437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47" name="AutoShape 43"/>
          <p:cNvSpPr>
            <a:spLocks/>
          </p:cNvSpPr>
          <p:nvPr/>
        </p:nvSpPr>
        <p:spPr bwMode="auto">
          <a:xfrm>
            <a:off x="7782348" y="4475371"/>
            <a:ext cx="1295400" cy="433388"/>
          </a:xfrm>
          <a:prstGeom prst="borderCallout2">
            <a:avLst>
              <a:gd name="adj1" fmla="val 26375"/>
              <a:gd name="adj2" fmla="val -5884"/>
              <a:gd name="adj3" fmla="val 26375"/>
              <a:gd name="adj4" fmla="val -67769"/>
              <a:gd name="adj5" fmla="val 130037"/>
              <a:gd name="adj6" fmla="val -131370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</a:t>
            </a:r>
          </a:p>
        </p:txBody>
      </p:sp>
      <p:grpSp>
        <p:nvGrpSpPr>
          <p:cNvPr id="1071154" name="Group 50"/>
          <p:cNvGrpSpPr>
            <a:grpSpLocks/>
          </p:cNvGrpSpPr>
          <p:nvPr/>
        </p:nvGrpSpPr>
        <p:grpSpPr bwMode="auto">
          <a:xfrm>
            <a:off x="5516985" y="5181809"/>
            <a:ext cx="3906838" cy="1223962"/>
            <a:chOff x="2678" y="3285"/>
            <a:chExt cx="2461" cy="771"/>
          </a:xfrm>
        </p:grpSpPr>
        <p:grpSp>
          <p:nvGrpSpPr>
            <p:cNvPr id="1071149" name="Group 45"/>
            <p:cNvGrpSpPr>
              <a:grpSpLocks/>
            </p:cNvGrpSpPr>
            <p:nvPr/>
          </p:nvGrpSpPr>
          <p:grpSpPr bwMode="auto">
            <a:xfrm>
              <a:off x="2678" y="3285"/>
              <a:ext cx="1580" cy="771"/>
              <a:chOff x="2434" y="1362"/>
              <a:chExt cx="2184" cy="1025"/>
            </a:xfrm>
          </p:grpSpPr>
          <p:sp>
            <p:nvSpPr>
              <p:cNvPr id="1071150" name="Line 46"/>
              <p:cNvSpPr>
                <a:spLocks noChangeShapeType="1"/>
              </p:cNvSpPr>
              <p:nvPr/>
            </p:nvSpPr>
            <p:spPr bwMode="auto">
              <a:xfrm>
                <a:off x="2972" y="1362"/>
                <a:ext cx="1646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51" name="Line 47"/>
              <p:cNvSpPr>
                <a:spLocks noChangeShapeType="1"/>
              </p:cNvSpPr>
              <p:nvPr/>
            </p:nvSpPr>
            <p:spPr bwMode="auto">
              <a:xfrm>
                <a:off x="4613" y="1362"/>
                <a:ext cx="0" cy="102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52" name="Line 48"/>
              <p:cNvSpPr>
                <a:spLocks noChangeShapeType="1"/>
              </p:cNvSpPr>
              <p:nvPr/>
            </p:nvSpPr>
            <p:spPr bwMode="auto">
              <a:xfrm flipH="1">
                <a:off x="2434" y="2387"/>
                <a:ext cx="2179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53" name="Rectangle 49"/>
            <p:cNvSpPr>
              <a:spLocks noChangeArrowheads="1"/>
            </p:cNvSpPr>
            <p:nvPr/>
          </p:nvSpPr>
          <p:spPr bwMode="auto">
            <a:xfrm>
              <a:off x="4232" y="3439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r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1155" name="Oval 51"/>
          <p:cNvSpPr>
            <a:spLocks noChangeArrowheads="1"/>
          </p:cNvSpPr>
          <p:nvPr/>
        </p:nvSpPr>
        <p:spPr bwMode="auto">
          <a:xfrm>
            <a:off x="2413857" y="4698346"/>
            <a:ext cx="212725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1159" name="Group 55"/>
          <p:cNvGrpSpPr>
            <a:grpSpLocks/>
          </p:cNvGrpSpPr>
          <p:nvPr/>
        </p:nvGrpSpPr>
        <p:grpSpPr bwMode="auto">
          <a:xfrm>
            <a:off x="2582131" y="4104620"/>
            <a:ext cx="2116138" cy="792162"/>
            <a:chOff x="838" y="2795"/>
            <a:chExt cx="1333" cy="499"/>
          </a:xfrm>
        </p:grpSpPr>
        <p:sp>
          <p:nvSpPr>
            <p:cNvPr id="1071157" name="AutoShape 53"/>
            <p:cNvSpPr>
              <a:spLocks noChangeArrowheads="1"/>
            </p:cNvSpPr>
            <p:nvPr/>
          </p:nvSpPr>
          <p:spPr bwMode="auto">
            <a:xfrm>
              <a:off x="1264" y="2795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71158" name="Line 54"/>
            <p:cNvSpPr>
              <a:spLocks noChangeShapeType="1"/>
            </p:cNvSpPr>
            <p:nvPr/>
          </p:nvSpPr>
          <p:spPr bwMode="auto">
            <a:xfrm flipV="1">
              <a:off x="838" y="3031"/>
              <a:ext cx="454" cy="136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7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1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71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71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71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071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71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1071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1071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1071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9" dur="500"/>
                                        <p:tgtEl>
                                          <p:spTgt spid="1071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1071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9" dur="500"/>
                                        <p:tgtEl>
                                          <p:spTgt spid="1071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1071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1071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071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7" dur="500"/>
                                        <p:tgtEl>
                                          <p:spTgt spid="1071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071124" grpId="0" animBg="1"/>
      <p:bldP spid="1071125" grpId="0" animBg="1"/>
      <p:bldP spid="1071126" grpId="0" animBg="1"/>
      <p:bldP spid="1071127" grpId="0" animBg="1"/>
      <p:bldP spid="1071128" grpId="0" animBg="1"/>
      <p:bldP spid="1071129" grpId="0" animBg="1"/>
      <p:bldP spid="1071146" grpId="0" animBg="1"/>
      <p:bldP spid="1071147" grpId="0" animBg="1"/>
      <p:bldP spid="10711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157" name="Rectangle 5"/>
          <p:cNvSpPr>
            <a:spLocks noChangeArrowheads="1"/>
          </p:cNvSpPr>
          <p:nvPr/>
        </p:nvSpPr>
        <p:spPr bwMode="auto">
          <a:xfrm>
            <a:off x="1175924" y="1494779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3158" name="Rectangle 6"/>
          <p:cNvSpPr>
            <a:spLocks noChangeArrowheads="1"/>
          </p:cNvSpPr>
          <p:nvPr/>
        </p:nvSpPr>
        <p:spPr bwMode="auto">
          <a:xfrm>
            <a:off x="659568" y="1974203"/>
            <a:ext cx="631826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(1)  </a:t>
            </a:r>
            <a:r>
              <a:rPr lang="zh-CN" altLang="en-US" b="1" dirty="0">
                <a:latin typeface="+mn-lt"/>
                <a:ea typeface="楷体" pitchFamily="49" charset="-122"/>
              </a:rPr>
              <a:t>应尽量少使用全局变量。              </a:t>
            </a:r>
          </a:p>
        </p:txBody>
      </p:sp>
      <p:sp>
        <p:nvSpPr>
          <p:cNvPr id="1073181" name="Rectangle 29"/>
          <p:cNvSpPr>
            <a:spLocks noChangeArrowheads="1"/>
          </p:cNvSpPr>
          <p:nvPr/>
        </p:nvSpPr>
        <p:spPr bwMode="auto">
          <a:xfrm>
            <a:off x="1737162" y="2487119"/>
            <a:ext cx="81359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全局变量在程序全部执行过程中始终占用存储单元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降低了函数的独立性、通用性、可靠性及可移植性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降低程序清晰性，容易出错</a:t>
            </a:r>
          </a:p>
        </p:txBody>
      </p:sp>
      <p:sp>
        <p:nvSpPr>
          <p:cNvPr id="1073182" name="Rectangle 30"/>
          <p:cNvSpPr>
            <a:spLocks noChangeArrowheads="1"/>
          </p:cNvSpPr>
          <p:nvPr/>
        </p:nvSpPr>
        <p:spPr bwMode="auto">
          <a:xfrm>
            <a:off x="659568" y="3762137"/>
            <a:ext cx="106210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      (2)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若外部变量与局部变量同名，则外部变量被屏蔽</a:t>
            </a:r>
            <a:r>
              <a:rPr lang="zh-CN" altLang="en-US" b="1" dirty="0">
                <a:latin typeface="+mn-lt"/>
                <a:ea typeface="楷体" pitchFamily="49" charset="-122"/>
              </a:rPr>
              <a:t>。要引用全局变量，则必须在变量名前家上两个冒号“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::</a:t>
            </a:r>
            <a:r>
              <a:rPr lang="en-US" altLang="zh-CN" b="1" dirty="0">
                <a:latin typeface="+mn-lt"/>
                <a:ea typeface="楷体" pitchFamily="49" charset="-122"/>
              </a:rPr>
              <a:t>”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3183" name="Rectangle 31" descr="信纸"/>
          <p:cNvSpPr>
            <a:spLocks noChangeArrowheads="1"/>
          </p:cNvSpPr>
          <p:nvPr/>
        </p:nvSpPr>
        <p:spPr bwMode="auto">
          <a:xfrm>
            <a:off x="1546008" y="2472296"/>
            <a:ext cx="5314962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ea typeface="楷体_GB2312" pitchFamily="49" charset="-122"/>
              </a:rPr>
              <a:t>#include &lt;</a:t>
            </a:r>
            <a:r>
              <a:rPr lang="en-US" altLang="zh-CN" b="1" dirty="0" err="1">
                <a:ea typeface="楷体_GB2312" pitchFamily="49" charset="-122"/>
              </a:rPr>
              <a:t>stdio.h</a:t>
            </a:r>
            <a:r>
              <a:rPr lang="en-US" altLang="zh-CN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b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 a = 10;</a:t>
            </a:r>
            <a:r>
              <a:rPr lang="en-US" altLang="zh-CN" b="1" dirty="0">
                <a:ea typeface="楷体_GB2312" pitchFamily="49" charset="-122"/>
              </a:rPr>
              <a:t>      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</a:t>
            </a:r>
          </a:p>
          <a:p>
            <a:pPr marL="457200" indent="-457200"/>
            <a:endParaRPr lang="zh-CN" altLang="en-US" b="1" dirty="0">
              <a:ea typeface="楷体_GB2312" pitchFamily="49" charset="-122"/>
            </a:endParaRP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a = 100;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局部变量（与全局变量同名）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("local a = %d\n", a);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("global a = %d\n",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::a</a:t>
            </a:r>
            <a:r>
              <a:rPr lang="en-US" altLang="zh-CN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</p:txBody>
      </p:sp>
      <p:sp>
        <p:nvSpPr>
          <p:cNvPr id="1073184" name="Rectangle 32"/>
          <p:cNvSpPr>
            <a:spLocks noChangeArrowheads="1"/>
          </p:cNvSpPr>
          <p:nvPr/>
        </p:nvSpPr>
        <p:spPr bwMode="auto">
          <a:xfrm>
            <a:off x="7177405" y="5020368"/>
            <a:ext cx="2392175" cy="1225550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local a = 100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global a = 10</a:t>
            </a:r>
          </a:p>
        </p:txBody>
      </p:sp>
      <p:sp>
        <p:nvSpPr>
          <p:cNvPr id="1073186" name="Rectangle 34"/>
          <p:cNvSpPr>
            <a:spLocks noChangeArrowheads="1"/>
          </p:cNvSpPr>
          <p:nvPr/>
        </p:nvSpPr>
        <p:spPr bwMode="auto">
          <a:xfrm>
            <a:off x="1193396" y="3858658"/>
            <a:ext cx="7920880" cy="860425"/>
          </a:xfrm>
          <a:prstGeom prst="rect">
            <a:avLst/>
          </a:prstGeom>
          <a:gradFill flip="none" rotWithShape="1">
            <a:gsLst>
              <a:gs pos="47000">
                <a:srgbClr val="DDEEE0"/>
              </a:gs>
              <a:gs pos="86000">
                <a:schemeClr val="bg1"/>
              </a:gs>
              <a:gs pos="100000">
                <a:schemeClr val="bg1"/>
              </a:gs>
              <a:gs pos="0">
                <a:srgbClr val="BEDFC4"/>
              </a:gs>
            </a:gsLst>
            <a:lin ang="18900000" scaled="1"/>
            <a:tileRect/>
          </a:gradFill>
          <a:ln w="38100">
            <a:noFill/>
            <a:miter lim="800000"/>
            <a:headEnd/>
            <a:tailEnd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192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</a:t>
            </a:r>
            <a:r>
              <a:rPr lang="zh-CN" altLang="en-US" b="1" dirty="0">
                <a:solidFill>
                  <a:srgbClr val="C0192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局部变量与全局变量同名极易导致程序员犯逻辑错误。</a:t>
            </a:r>
            <a:endParaRPr lang="zh-CN" altLang="en-US" b="1" dirty="0">
              <a:solidFill>
                <a:srgbClr val="002060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ea typeface="隶书" pitchFamily="49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EBED15A-C7E0-4D90-A46A-78F7F2C9C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FE32A39-E6D7-4D8F-B2C2-A3687DC36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73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073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73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73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7" grpId="0"/>
      <p:bldP spid="1073182" grpId="0"/>
      <p:bldP spid="1073183" grpId="0" animBg="1"/>
      <p:bldP spid="1073184" grpId="0" animBg="1"/>
      <p:bldP spid="1073186" grpId="0" animBg="1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1224206" y="1555714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5206" name="Rectangle 6"/>
          <p:cNvSpPr>
            <a:spLocks noChangeArrowheads="1"/>
          </p:cNvSpPr>
          <p:nvPr/>
        </p:nvSpPr>
        <p:spPr bwMode="auto">
          <a:xfrm>
            <a:off x="678965" y="1975994"/>
            <a:ext cx="109616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(3)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全局变量定义必须在所有的函数之外，且只能定义一次，并可赋初始值。全局变量定义的一般形式为：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5212" name="Text Box 12"/>
          <p:cNvSpPr txBox="1">
            <a:spLocks noChangeArrowheads="1"/>
          </p:cNvSpPr>
          <p:nvPr/>
        </p:nvSpPr>
        <p:spPr bwMode="auto">
          <a:xfrm>
            <a:off x="479797" y="2855319"/>
            <a:ext cx="11232406" cy="592228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[extern]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类型说明符  全局变量名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1[ =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初始值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1],  ……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，全局变量名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n[ =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初始值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n]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75213" name="AutoShape 13"/>
          <p:cNvSpPr>
            <a:spLocks noChangeArrowheads="1"/>
          </p:cNvSpPr>
          <p:nvPr/>
        </p:nvSpPr>
        <p:spPr bwMode="auto">
          <a:xfrm>
            <a:off x="1271860" y="3854435"/>
            <a:ext cx="1441450" cy="431800"/>
          </a:xfrm>
          <a:prstGeom prst="wedgeRoundRectCallout">
            <a:avLst>
              <a:gd name="adj1" fmla="val -75551"/>
              <a:gd name="adj2" fmla="val -187500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1920"/>
                </a:solidFill>
                <a:ea typeface="隶书" pitchFamily="49" charset="-122"/>
              </a:rPr>
              <a:t>可缺省！</a:t>
            </a:r>
          </a:p>
        </p:txBody>
      </p:sp>
      <p:sp>
        <p:nvSpPr>
          <p:cNvPr id="1075214" name="Rectangle 14" descr="信纸"/>
          <p:cNvSpPr>
            <a:spLocks noChangeArrowheads="1"/>
          </p:cNvSpPr>
          <p:nvPr/>
        </p:nvSpPr>
        <p:spPr bwMode="auto">
          <a:xfrm>
            <a:off x="5760999" y="2884623"/>
            <a:ext cx="5159141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/>
              <a:t>char ch = 'Y'; </a:t>
            </a:r>
          </a:p>
          <a:p>
            <a:pPr marL="457200" indent="-457200"/>
            <a:r>
              <a:rPr lang="en-US" altLang="zh-CN" b="1"/>
              <a:t>void main ( )</a:t>
            </a:r>
          </a:p>
          <a:p>
            <a:pPr marL="457200" indent="-457200"/>
            <a:r>
              <a:rPr lang="en-US" altLang="zh-CN" b="1"/>
              <a:t>{</a:t>
            </a:r>
          </a:p>
          <a:p>
            <a:pPr marL="457200" indent="-457200"/>
            <a:r>
              <a:rPr lang="en-US" altLang="zh-CN" b="1"/>
              <a:t>  ……</a:t>
            </a:r>
          </a:p>
          <a:p>
            <a:pPr marL="457200" indent="-457200"/>
            <a:r>
              <a:rPr lang="en-US" altLang="zh-CN" b="1"/>
              <a:t>}</a:t>
            </a:r>
          </a:p>
          <a:p>
            <a:pPr marL="457200" indent="-457200"/>
            <a:r>
              <a:rPr lang="en-US" altLang="zh-CN" b="1"/>
              <a:t>char ch; </a:t>
            </a:r>
          </a:p>
          <a:p>
            <a:pPr marL="457200" indent="-457200"/>
            <a:r>
              <a:rPr lang="en-US" altLang="zh-CN" b="1"/>
              <a:t>void func ( )</a:t>
            </a:r>
          </a:p>
          <a:p>
            <a:pPr marL="457200" indent="-457200"/>
            <a:r>
              <a:rPr lang="en-US" altLang="zh-CN" b="1"/>
              <a:t>{</a:t>
            </a:r>
          </a:p>
          <a:p>
            <a:pPr marL="457200" indent="-457200"/>
            <a:r>
              <a:rPr lang="en-US" altLang="zh-CN" b="1"/>
              <a:t>  ……</a:t>
            </a:r>
          </a:p>
          <a:p>
            <a:pPr marL="457200" indent="-457200"/>
            <a:r>
              <a:rPr lang="en-US" altLang="zh-CN" b="1"/>
              <a:t>}</a:t>
            </a:r>
          </a:p>
        </p:txBody>
      </p:sp>
      <p:sp>
        <p:nvSpPr>
          <p:cNvPr id="1075215" name="Rectangle 15"/>
          <p:cNvSpPr>
            <a:spLocks noChangeArrowheads="1"/>
          </p:cNvSpPr>
          <p:nvPr/>
        </p:nvSpPr>
        <p:spPr bwMode="auto">
          <a:xfrm>
            <a:off x="5818148" y="2956059"/>
            <a:ext cx="1908773" cy="35268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16" name="AutoShape 16"/>
          <p:cNvSpPr>
            <a:spLocks/>
          </p:cNvSpPr>
          <p:nvPr/>
        </p:nvSpPr>
        <p:spPr bwMode="auto">
          <a:xfrm>
            <a:off x="8513723" y="3318011"/>
            <a:ext cx="2119127" cy="424154"/>
          </a:xfrm>
          <a:prstGeom prst="borderCallout2">
            <a:avLst>
              <a:gd name="adj1" fmla="val 26375"/>
              <a:gd name="adj2" fmla="val -3528"/>
              <a:gd name="adj3" fmla="val 26375"/>
              <a:gd name="adj4" fmla="val -18454"/>
              <a:gd name="adj5" fmla="val -14287"/>
              <a:gd name="adj6" fmla="val -3389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定义全局变量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endParaRPr lang="en-US" altLang="zh-CN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75217" name="Oval 17"/>
          <p:cNvSpPr>
            <a:spLocks noChangeArrowheads="1"/>
          </p:cNvSpPr>
          <p:nvPr/>
        </p:nvSpPr>
        <p:spPr bwMode="auto">
          <a:xfrm>
            <a:off x="5789573" y="4813434"/>
            <a:ext cx="1271476" cy="35268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endParaRPr lang="zh-CN" altLang="zh-CN">
              <a:solidFill>
                <a:srgbClr val="CC0000"/>
              </a:solidFill>
            </a:endParaRPr>
          </a:p>
        </p:txBody>
      </p:sp>
      <p:grpSp>
        <p:nvGrpSpPr>
          <p:cNvPr id="1075221" name="Group 21"/>
          <p:cNvGrpSpPr>
            <a:grpSpLocks/>
          </p:cNvGrpSpPr>
          <p:nvPr/>
        </p:nvGrpSpPr>
        <p:grpSpPr bwMode="auto">
          <a:xfrm>
            <a:off x="7056398" y="4324484"/>
            <a:ext cx="3970248" cy="1831787"/>
            <a:chOff x="3016" y="2523"/>
            <a:chExt cx="2548" cy="1179"/>
          </a:xfrm>
        </p:grpSpPr>
        <p:sp>
          <p:nvSpPr>
            <p:cNvPr id="1075219" name="AutoShape 19"/>
            <p:cNvSpPr>
              <a:spLocks noChangeArrowheads="1"/>
            </p:cNvSpPr>
            <p:nvPr/>
          </p:nvSpPr>
          <p:spPr bwMode="auto">
            <a:xfrm>
              <a:off x="3315" y="2523"/>
              <a:ext cx="2249" cy="117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错误！</a:t>
              </a:r>
            </a:p>
            <a:p>
              <a:pPr algn="ctr"/>
              <a:r>
                <a:rPr lang="en-US" altLang="zh-CN" sz="2000" b="1" dirty="0" err="1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ch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只能定义一次</a:t>
              </a:r>
            </a:p>
          </p:txBody>
        </p:sp>
        <p:sp>
          <p:nvSpPr>
            <p:cNvPr id="1075220" name="Line 20"/>
            <p:cNvSpPr>
              <a:spLocks noChangeShapeType="1"/>
            </p:cNvSpPr>
            <p:nvPr/>
          </p:nvSpPr>
          <p:spPr bwMode="auto">
            <a:xfrm flipV="1">
              <a:off x="3016" y="2759"/>
              <a:ext cx="454" cy="136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75222" name="Rectangle 22"/>
          <p:cNvSpPr>
            <a:spLocks noChangeArrowheads="1"/>
          </p:cNvSpPr>
          <p:nvPr/>
        </p:nvSpPr>
        <p:spPr bwMode="auto">
          <a:xfrm>
            <a:off x="2063031" y="4538935"/>
            <a:ext cx="2171700" cy="86042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ea typeface="隶书" pitchFamily="49" charset="-122"/>
              </a:rPr>
              <a:t>例：</a:t>
            </a:r>
          </a:p>
          <a:p>
            <a:r>
              <a:rPr lang="en-US" altLang="zh-CN" b="1" dirty="0"/>
              <a:t>int a = 2, b = 4; </a:t>
            </a:r>
          </a:p>
        </p:txBody>
      </p:sp>
      <p:sp>
        <p:nvSpPr>
          <p:cNvPr id="1075223" name="Rectangle 23"/>
          <p:cNvSpPr>
            <a:spLocks noChangeArrowheads="1"/>
          </p:cNvSpPr>
          <p:nvPr/>
        </p:nvSpPr>
        <p:spPr bwMode="auto">
          <a:xfrm>
            <a:off x="1721719" y="6097215"/>
            <a:ext cx="3006725" cy="46166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extern </a:t>
            </a:r>
            <a:r>
              <a:rPr lang="en-US" altLang="zh-CN" b="1" dirty="0"/>
              <a:t>int a = 2, b = 4; </a:t>
            </a:r>
          </a:p>
        </p:txBody>
      </p:sp>
      <p:sp>
        <p:nvSpPr>
          <p:cNvPr id="1075224" name="AutoShape 24"/>
          <p:cNvSpPr>
            <a:spLocks noChangeArrowheads="1"/>
          </p:cNvSpPr>
          <p:nvPr/>
        </p:nvSpPr>
        <p:spPr bwMode="auto">
          <a:xfrm>
            <a:off x="2940919" y="5483498"/>
            <a:ext cx="288925" cy="504825"/>
          </a:xfrm>
          <a:prstGeom prst="upDownArrow">
            <a:avLst>
              <a:gd name="adj1" fmla="val 50000"/>
              <a:gd name="adj2" fmla="val 34945"/>
            </a:avLst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52F6B65C-783E-4196-B8BB-D810F4D76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8B55BE58-738D-48B3-A241-A6FA1AE25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5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5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75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75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75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75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75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75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075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75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075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05" grpId="0"/>
      <p:bldP spid="1075212" grpId="0" animBg="1"/>
      <p:bldP spid="1075213" grpId="0" animBg="1"/>
      <p:bldP spid="1075214" grpId="0" animBg="1"/>
      <p:bldP spid="1075215" grpId="0" animBg="1"/>
      <p:bldP spid="1075216" grpId="0" animBg="1"/>
      <p:bldP spid="1075217" grpId="0" animBg="1"/>
      <p:bldP spid="1075222" grpId="0" animBg="1"/>
      <p:bldP spid="1075223" grpId="0" animBg="1"/>
      <p:bldP spid="1075224" grpId="0" animBg="1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254" name="Rectangle 6"/>
          <p:cNvSpPr>
            <a:spLocks noChangeArrowheads="1"/>
          </p:cNvSpPr>
          <p:nvPr/>
        </p:nvSpPr>
        <p:spPr bwMode="auto">
          <a:xfrm>
            <a:off x="695400" y="2033814"/>
            <a:ext cx="110622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(4)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对全局变量进行说明，可扩展全局变量的作用域。全局变量说明的一般形式为： </a:t>
            </a:r>
          </a:p>
        </p:txBody>
      </p:sp>
      <p:sp>
        <p:nvSpPr>
          <p:cNvPr id="1077267" name="Text Box 19"/>
          <p:cNvSpPr txBox="1">
            <a:spLocks noChangeArrowheads="1"/>
          </p:cNvSpPr>
          <p:nvPr/>
        </p:nvSpPr>
        <p:spPr bwMode="auto">
          <a:xfrm>
            <a:off x="1461332" y="2970438"/>
            <a:ext cx="9648230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extern 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类型说明符  全局变量名</a:t>
            </a: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1, …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，全局变量名</a:t>
            </a: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77268" name="AutoShape 20"/>
          <p:cNvSpPr>
            <a:spLocks noChangeArrowheads="1"/>
          </p:cNvSpPr>
          <p:nvPr/>
        </p:nvSpPr>
        <p:spPr bwMode="auto">
          <a:xfrm>
            <a:off x="2755962" y="3802559"/>
            <a:ext cx="1728788" cy="431800"/>
          </a:xfrm>
          <a:prstGeom prst="wedgeRoundRectCallout">
            <a:avLst>
              <a:gd name="adj1" fmla="val -84069"/>
              <a:gd name="adj2" fmla="val -11360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01920"/>
                </a:solidFill>
                <a:ea typeface="隶书" pitchFamily="49" charset="-122"/>
              </a:rPr>
              <a:t>不可缺省！</a:t>
            </a:r>
          </a:p>
        </p:txBody>
      </p:sp>
      <p:sp>
        <p:nvSpPr>
          <p:cNvPr id="1077269" name="AutoShape 21"/>
          <p:cNvSpPr>
            <a:spLocks noChangeArrowheads="1"/>
          </p:cNvSpPr>
          <p:nvPr/>
        </p:nvSpPr>
        <p:spPr bwMode="auto">
          <a:xfrm>
            <a:off x="5835712" y="3861296"/>
            <a:ext cx="1944688" cy="431800"/>
          </a:xfrm>
          <a:prstGeom prst="wedgeRoundRectCallout">
            <a:avLst>
              <a:gd name="adj1" fmla="val -73185"/>
              <a:gd name="adj2" fmla="val -12977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01920"/>
                </a:solidFill>
                <a:ea typeface="隶书" pitchFamily="49" charset="-122"/>
              </a:rPr>
              <a:t>不可赋初值！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F60FF2E-D40A-41AA-BADF-E136B2E4E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065" y="1416161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3992B1C5-6658-4021-9CDD-CFA6C0DB0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F5F87DBC-2D78-4734-AA26-E5FE27560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077270" name="Rectangle 22" descr="信纸"/>
          <p:cNvSpPr>
            <a:spLocks noChangeArrowheads="1"/>
          </p:cNvSpPr>
          <p:nvPr/>
        </p:nvSpPr>
        <p:spPr bwMode="auto">
          <a:xfrm>
            <a:off x="1893254" y="836712"/>
            <a:ext cx="7731138" cy="5921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gx</a:t>
            </a:r>
            <a:r>
              <a:rPr lang="en-US" altLang="zh-CN" sz="2000" b="1" dirty="0"/>
              <a:t> ( ), </a:t>
            </a:r>
            <a:r>
              <a:rPr lang="en-US" altLang="zh-CN" sz="2000" b="1" dirty="0" err="1"/>
              <a:t>gy</a:t>
            </a:r>
            <a:r>
              <a:rPr lang="en-US" altLang="zh-CN" sz="2000" b="1" dirty="0"/>
              <a:t> ( );</a:t>
            </a:r>
          </a:p>
          <a:p>
            <a:pPr marL="457200" indent="-457200"/>
            <a:r>
              <a:rPr lang="en-US" altLang="zh-CN" sz="2000" b="1" dirty="0">
                <a:solidFill>
                  <a:srgbClr val="CC0000"/>
                </a:solidFill>
              </a:rPr>
              <a:t>void main ( )</a:t>
            </a:r>
          </a:p>
          <a:p>
            <a:pPr marL="457200" indent="-457200"/>
            <a:r>
              <a:rPr lang="en-US" altLang="zh-CN" sz="2000" b="1" dirty="0"/>
              <a:t>{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extern  </a:t>
            </a:r>
            <a:r>
              <a:rPr lang="en-US" altLang="zh-CN" sz="2000" b="1" dirty="0"/>
              <a:t>int x, y;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("1: x = %d\ty = %d\n", x, y);</a:t>
            </a:r>
          </a:p>
          <a:p>
            <a:pPr marL="457200" indent="-457200"/>
            <a:r>
              <a:rPr lang="en-US" altLang="zh-CN" sz="2000" b="1" dirty="0"/>
              <a:t>  y = 246;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gx</a:t>
            </a:r>
            <a:r>
              <a:rPr lang="en-US" altLang="zh-CN" sz="2000" b="1" dirty="0"/>
              <a:t> ( );  </a:t>
            </a:r>
            <a:r>
              <a:rPr lang="en-US" altLang="zh-CN" sz="2000" b="1" dirty="0" err="1"/>
              <a:t>gy</a:t>
            </a:r>
            <a:r>
              <a:rPr lang="en-US" altLang="zh-CN" sz="2000" b="1" dirty="0"/>
              <a:t> ( 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extern</a:t>
            </a:r>
            <a:r>
              <a:rPr lang="en-US" altLang="zh-CN" sz="2000" b="1" dirty="0"/>
              <a:t> int x, y;</a:t>
            </a:r>
          </a:p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gx</a:t>
            </a:r>
            <a:r>
              <a:rPr lang="en-US" altLang="zh-CN" sz="2000" b="1" dirty="0"/>
              <a:t> ( )</a:t>
            </a:r>
          </a:p>
          <a:p>
            <a:pPr marL="457200" indent="-457200"/>
            <a:r>
              <a:rPr lang="en-US" altLang="zh-CN" sz="2000" b="1" dirty="0"/>
              <a:t>{   </a:t>
            </a:r>
          </a:p>
          <a:p>
            <a:pPr marL="457200" indent="-457200"/>
            <a:r>
              <a:rPr lang="en-US" altLang="zh-CN" sz="2000" b="1" dirty="0"/>
              <a:t>  x = 135;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("2: x = %d\ty = %d\n", x, y);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rgbClr val="C00000"/>
                </a:solidFill>
              </a:rPr>
              <a:t>int x = 0, y = 0;</a:t>
            </a:r>
          </a:p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gy</a:t>
            </a:r>
            <a:r>
              <a:rPr lang="en-US" altLang="zh-CN" sz="2000" b="1" dirty="0"/>
              <a:t> ( 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("3: x=%d\ty=%d\n", x, y);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077271" name="Rectangle 23"/>
          <p:cNvSpPr>
            <a:spLocks noChangeArrowheads="1"/>
          </p:cNvSpPr>
          <p:nvPr/>
        </p:nvSpPr>
        <p:spPr bwMode="auto">
          <a:xfrm>
            <a:off x="1909526" y="5157192"/>
            <a:ext cx="1728788" cy="287337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72" name="AutoShape 24"/>
          <p:cNvSpPr>
            <a:spLocks/>
          </p:cNvSpPr>
          <p:nvPr/>
        </p:nvSpPr>
        <p:spPr bwMode="auto">
          <a:xfrm>
            <a:off x="4789252" y="4991621"/>
            <a:ext cx="1800225" cy="433388"/>
          </a:xfrm>
          <a:prstGeom prst="borderCallout2">
            <a:avLst>
              <a:gd name="adj1" fmla="val 26375"/>
              <a:gd name="adj2" fmla="val -4231"/>
              <a:gd name="adj3" fmla="val 26375"/>
              <a:gd name="adj4" fmla="val -30245"/>
              <a:gd name="adj5" fmla="val 79120"/>
              <a:gd name="adj6" fmla="val -6278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全局变量定义</a:t>
            </a:r>
          </a:p>
        </p:txBody>
      </p:sp>
      <p:grpSp>
        <p:nvGrpSpPr>
          <p:cNvPr id="1077280" name="Group 32"/>
          <p:cNvGrpSpPr>
            <a:grpSpLocks/>
          </p:cNvGrpSpPr>
          <p:nvPr/>
        </p:nvGrpSpPr>
        <p:grpSpPr bwMode="auto">
          <a:xfrm>
            <a:off x="2073039" y="5482160"/>
            <a:ext cx="5224462" cy="1150937"/>
            <a:chOff x="851" y="3285"/>
            <a:chExt cx="3291" cy="725"/>
          </a:xfrm>
        </p:grpSpPr>
        <p:grpSp>
          <p:nvGrpSpPr>
            <p:cNvPr id="1077279" name="Group 31"/>
            <p:cNvGrpSpPr>
              <a:grpSpLocks/>
            </p:cNvGrpSpPr>
            <p:nvPr/>
          </p:nvGrpSpPr>
          <p:grpSpPr bwMode="auto">
            <a:xfrm>
              <a:off x="851" y="3285"/>
              <a:ext cx="2403" cy="725"/>
              <a:chOff x="851" y="3285"/>
              <a:chExt cx="2403" cy="725"/>
            </a:xfrm>
          </p:grpSpPr>
          <p:sp>
            <p:nvSpPr>
              <p:cNvPr id="1077275" name="Line 27"/>
              <p:cNvSpPr>
                <a:spLocks noChangeShapeType="1"/>
              </p:cNvSpPr>
              <p:nvPr/>
            </p:nvSpPr>
            <p:spPr bwMode="auto">
              <a:xfrm>
                <a:off x="1850" y="3285"/>
                <a:ext cx="1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76" name="Line 28"/>
              <p:cNvSpPr>
                <a:spLocks noChangeShapeType="1"/>
              </p:cNvSpPr>
              <p:nvPr/>
            </p:nvSpPr>
            <p:spPr bwMode="auto">
              <a:xfrm>
                <a:off x="3249" y="328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77" name="Line 29"/>
              <p:cNvSpPr>
                <a:spLocks noChangeShapeType="1"/>
              </p:cNvSpPr>
              <p:nvPr/>
            </p:nvSpPr>
            <p:spPr bwMode="auto">
              <a:xfrm flipH="1">
                <a:off x="851" y="3993"/>
                <a:ext cx="2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78" name="Rectangle 30"/>
            <p:cNvSpPr>
              <a:spLocks noChangeArrowheads="1"/>
            </p:cNvSpPr>
            <p:nvPr/>
          </p:nvSpPr>
          <p:spPr bwMode="auto">
            <a:xfrm>
              <a:off x="3235" y="3412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未说明前</a:t>
              </a:r>
            </a:p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281" name="Rectangle 33"/>
          <p:cNvSpPr>
            <a:spLocks noChangeArrowheads="1"/>
          </p:cNvSpPr>
          <p:nvPr/>
        </p:nvSpPr>
        <p:spPr bwMode="auto">
          <a:xfrm>
            <a:off x="1909526" y="3343642"/>
            <a:ext cx="1728788" cy="287338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077282" name="AutoShape 34"/>
          <p:cNvSpPr>
            <a:spLocks/>
          </p:cNvSpPr>
          <p:nvPr/>
        </p:nvSpPr>
        <p:spPr bwMode="auto">
          <a:xfrm>
            <a:off x="4486040" y="3233688"/>
            <a:ext cx="1743075" cy="433388"/>
          </a:xfrm>
          <a:prstGeom prst="borderCallout2">
            <a:avLst>
              <a:gd name="adj1" fmla="val 26375"/>
              <a:gd name="adj2" fmla="val -4370"/>
              <a:gd name="adj3" fmla="val 26375"/>
              <a:gd name="adj4" fmla="val -23769"/>
              <a:gd name="adj5" fmla="val 53481"/>
              <a:gd name="adj6" fmla="val -4808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全局变量说明</a:t>
            </a:r>
          </a:p>
        </p:txBody>
      </p:sp>
      <p:grpSp>
        <p:nvGrpSpPr>
          <p:cNvPr id="1077290" name="Group 42"/>
          <p:cNvGrpSpPr>
            <a:grpSpLocks/>
          </p:cNvGrpSpPr>
          <p:nvPr/>
        </p:nvGrpSpPr>
        <p:grpSpPr bwMode="auto">
          <a:xfrm>
            <a:off x="2071452" y="3552776"/>
            <a:ext cx="6143625" cy="3109912"/>
            <a:chOff x="850" y="2115"/>
            <a:chExt cx="3870" cy="1959"/>
          </a:xfrm>
        </p:grpSpPr>
        <p:grpSp>
          <p:nvGrpSpPr>
            <p:cNvPr id="1077289" name="Group 41"/>
            <p:cNvGrpSpPr>
              <a:grpSpLocks/>
            </p:cNvGrpSpPr>
            <p:nvPr/>
          </p:nvGrpSpPr>
          <p:grpSpPr bwMode="auto">
            <a:xfrm>
              <a:off x="850" y="2115"/>
              <a:ext cx="3130" cy="1959"/>
              <a:chOff x="850" y="2115"/>
              <a:chExt cx="3130" cy="1959"/>
            </a:xfrm>
          </p:grpSpPr>
          <p:sp>
            <p:nvSpPr>
              <p:cNvPr id="1077285" name="Line 37"/>
              <p:cNvSpPr>
                <a:spLocks noChangeShapeType="1"/>
              </p:cNvSpPr>
              <p:nvPr/>
            </p:nvSpPr>
            <p:spPr bwMode="auto">
              <a:xfrm>
                <a:off x="1832" y="2115"/>
                <a:ext cx="2145" cy="671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86" name="Line 38"/>
              <p:cNvSpPr>
                <a:spLocks noChangeShapeType="1"/>
              </p:cNvSpPr>
              <p:nvPr/>
            </p:nvSpPr>
            <p:spPr bwMode="auto">
              <a:xfrm>
                <a:off x="3980" y="2790"/>
                <a:ext cx="0" cy="127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87" name="Line 39"/>
              <p:cNvSpPr>
                <a:spLocks noChangeShapeType="1"/>
              </p:cNvSpPr>
              <p:nvPr/>
            </p:nvSpPr>
            <p:spPr bwMode="auto">
              <a:xfrm flipH="1">
                <a:off x="850" y="4074"/>
                <a:ext cx="3130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88" name="Rectangle 40"/>
            <p:cNvSpPr>
              <a:spLocks noChangeArrowheads="1"/>
            </p:cNvSpPr>
            <p:nvPr/>
          </p:nvSpPr>
          <p:spPr bwMode="auto">
            <a:xfrm>
              <a:off x="3960" y="2878"/>
              <a:ext cx="76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说明后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291" name="Rectangle 43"/>
          <p:cNvSpPr>
            <a:spLocks noChangeArrowheads="1"/>
          </p:cNvSpPr>
          <p:nvPr/>
        </p:nvSpPr>
        <p:spPr bwMode="auto">
          <a:xfrm>
            <a:off x="2053990" y="1816467"/>
            <a:ext cx="1728787" cy="287338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92" name="AutoShape 44"/>
          <p:cNvSpPr>
            <a:spLocks/>
          </p:cNvSpPr>
          <p:nvPr/>
        </p:nvSpPr>
        <p:spPr bwMode="auto">
          <a:xfrm>
            <a:off x="4473340" y="1306463"/>
            <a:ext cx="1743075" cy="433388"/>
          </a:xfrm>
          <a:prstGeom prst="borderCallout2">
            <a:avLst>
              <a:gd name="adj1" fmla="val 26375"/>
              <a:gd name="adj2" fmla="val -4370"/>
              <a:gd name="adj3" fmla="val 26375"/>
              <a:gd name="adj4" fmla="val -25593"/>
              <a:gd name="adj5" fmla="val 124176"/>
              <a:gd name="adj6" fmla="val -52093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全局变量说明</a:t>
            </a:r>
          </a:p>
        </p:txBody>
      </p:sp>
      <p:grpSp>
        <p:nvGrpSpPr>
          <p:cNvPr id="1077300" name="Group 52"/>
          <p:cNvGrpSpPr>
            <a:grpSpLocks/>
          </p:cNvGrpSpPr>
          <p:nvPr/>
        </p:nvGrpSpPr>
        <p:grpSpPr bwMode="auto">
          <a:xfrm>
            <a:off x="2120665" y="2011313"/>
            <a:ext cx="5938837" cy="1150938"/>
            <a:chOff x="881" y="1144"/>
            <a:chExt cx="3741" cy="725"/>
          </a:xfrm>
        </p:grpSpPr>
        <p:grpSp>
          <p:nvGrpSpPr>
            <p:cNvPr id="1077299" name="Group 51"/>
            <p:cNvGrpSpPr>
              <a:grpSpLocks/>
            </p:cNvGrpSpPr>
            <p:nvPr/>
          </p:nvGrpSpPr>
          <p:grpSpPr bwMode="auto">
            <a:xfrm>
              <a:off x="881" y="1144"/>
              <a:ext cx="2834" cy="725"/>
              <a:chOff x="881" y="1144"/>
              <a:chExt cx="2834" cy="725"/>
            </a:xfrm>
          </p:grpSpPr>
          <p:sp>
            <p:nvSpPr>
              <p:cNvPr id="1077295" name="Line 47"/>
              <p:cNvSpPr>
                <a:spLocks noChangeShapeType="1"/>
              </p:cNvSpPr>
              <p:nvPr/>
            </p:nvSpPr>
            <p:spPr bwMode="auto">
              <a:xfrm>
                <a:off x="1930" y="1144"/>
                <a:ext cx="1777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96" name="Line 48"/>
              <p:cNvSpPr>
                <a:spLocks noChangeShapeType="1"/>
              </p:cNvSpPr>
              <p:nvPr/>
            </p:nvSpPr>
            <p:spPr bwMode="auto">
              <a:xfrm>
                <a:off x="3702" y="1144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97" name="Line 49"/>
              <p:cNvSpPr>
                <a:spLocks noChangeShapeType="1"/>
              </p:cNvSpPr>
              <p:nvPr/>
            </p:nvSpPr>
            <p:spPr bwMode="auto">
              <a:xfrm flipH="1">
                <a:off x="881" y="1869"/>
                <a:ext cx="2834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98" name="Rectangle 50"/>
            <p:cNvSpPr>
              <a:spLocks noChangeArrowheads="1"/>
            </p:cNvSpPr>
            <p:nvPr/>
          </p:nvSpPr>
          <p:spPr bwMode="auto">
            <a:xfrm>
              <a:off x="3715" y="1262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说明后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301" name="Rectangle 53"/>
          <p:cNvSpPr>
            <a:spLocks noChangeArrowheads="1"/>
          </p:cNvSpPr>
          <p:nvPr/>
        </p:nvSpPr>
        <p:spPr bwMode="auto">
          <a:xfrm>
            <a:off x="8472264" y="5114875"/>
            <a:ext cx="2663825" cy="147002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zh-CN" altLang="en-US" b="1" dirty="0">
                <a:solidFill>
                  <a:srgbClr val="00206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</a:rPr>
              <a:t>1: x = 0           y = 0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 2: x = 135       y = 246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 3: x = 135       y = 246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7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77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77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77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77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77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077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077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77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1077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1077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1077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1077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0773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267" grpId="0" animBg="1"/>
      <p:bldP spid="1077268" grpId="0" animBg="1"/>
      <p:bldP spid="1077269" grpId="0" animBg="1"/>
      <p:bldP spid="36" grpId="0"/>
      <p:bldP spid="37" grpId="0"/>
      <p:bldP spid="1077270" grpId="0" animBg="1"/>
      <p:bldP spid="1077271" grpId="0" animBg="1"/>
      <p:bldP spid="1077272" grpId="0" animBg="1"/>
      <p:bldP spid="1077281" grpId="0" animBg="1"/>
      <p:bldP spid="1077282" grpId="0" animBg="1"/>
      <p:bldP spid="1077291" grpId="0" animBg="1"/>
      <p:bldP spid="1077292" grpId="0" animBg="1"/>
      <p:bldP spid="107730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302" name="Rectangle 6"/>
          <p:cNvSpPr>
            <a:spLocks noChangeArrowheads="1"/>
          </p:cNvSpPr>
          <p:nvPr/>
        </p:nvSpPr>
        <p:spPr bwMode="auto">
          <a:xfrm>
            <a:off x="983432" y="2376204"/>
            <a:ext cx="667545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(5)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全局变量定义与全局变量的说明的区分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5668BC8-B397-4BFA-8798-C030B2F94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335" y="1645587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F7D6D1B-6E9B-41EE-94BA-E14F21628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E2E3CBF-D3F6-4CB5-8576-684F9B0DF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079315" name="Rectangle 19" descr="信纸"/>
          <p:cNvSpPr>
            <a:spLocks noChangeArrowheads="1"/>
          </p:cNvSpPr>
          <p:nvPr/>
        </p:nvSpPr>
        <p:spPr bwMode="auto">
          <a:xfrm>
            <a:off x="1775520" y="1556792"/>
            <a:ext cx="7488686" cy="48768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01920"/>
                </a:solidFill>
              </a:rPr>
              <a:t>extern </a:t>
            </a:r>
            <a:r>
              <a:rPr lang="en-US" altLang="zh-CN" b="1" dirty="0" err="1">
                <a:solidFill>
                  <a:srgbClr val="C01920"/>
                </a:solidFill>
              </a:rPr>
              <a:t>int</a:t>
            </a:r>
            <a:r>
              <a:rPr lang="en-US" altLang="zh-CN" b="1" dirty="0">
                <a:solidFill>
                  <a:srgbClr val="C01920"/>
                </a:solidFill>
              </a:rPr>
              <a:t> a; </a:t>
            </a:r>
          </a:p>
          <a:p>
            <a:pPr marL="457200" indent="-457200"/>
            <a:endParaRPr lang="en-US" altLang="zh-CN" b="1" dirty="0"/>
          </a:p>
          <a:p>
            <a:pPr marL="457200" indent="-457200"/>
            <a:r>
              <a:rPr lang="en-US" altLang="zh-CN" b="1" dirty="0"/>
              <a:t>void func1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……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引用变量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lang="en-US" altLang="zh-CN" b="1" dirty="0"/>
              <a:t>}</a:t>
            </a:r>
          </a:p>
          <a:p>
            <a:pPr marL="457200" indent="-457200"/>
            <a:endParaRPr lang="en-US" altLang="zh-CN" b="1" dirty="0"/>
          </a:p>
          <a:p>
            <a:pPr marL="457200" indent="-457200"/>
            <a:r>
              <a:rPr lang="en-US" altLang="zh-CN" b="1" dirty="0">
                <a:solidFill>
                  <a:srgbClr val="C01920"/>
                </a:solidFill>
              </a:rPr>
              <a:t>extern </a:t>
            </a:r>
            <a:r>
              <a:rPr lang="en-US" altLang="zh-CN" b="1" dirty="0" err="1">
                <a:solidFill>
                  <a:srgbClr val="C01920"/>
                </a:solidFill>
              </a:rPr>
              <a:t>int</a:t>
            </a:r>
            <a:r>
              <a:rPr lang="en-US" altLang="zh-CN" b="1" dirty="0">
                <a:solidFill>
                  <a:srgbClr val="C01920"/>
                </a:solidFill>
              </a:rPr>
              <a:t> a = 2;</a:t>
            </a:r>
          </a:p>
          <a:p>
            <a:pPr marL="457200" indent="-457200"/>
            <a:r>
              <a:rPr lang="en-US" altLang="zh-CN" b="1" dirty="0"/>
              <a:t> </a:t>
            </a:r>
          </a:p>
          <a:p>
            <a:pPr marL="457200" indent="-457200"/>
            <a:r>
              <a:rPr lang="en-US" altLang="zh-CN" b="1" dirty="0"/>
              <a:t>void func2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……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引用变量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79316" name="AutoShape 20"/>
          <p:cNvSpPr>
            <a:spLocks noChangeArrowheads="1"/>
          </p:cNvSpPr>
          <p:nvPr/>
        </p:nvSpPr>
        <p:spPr bwMode="auto">
          <a:xfrm>
            <a:off x="5605966" y="2348954"/>
            <a:ext cx="3240088" cy="1584325"/>
          </a:xfrm>
          <a:prstGeom prst="cloudCallout">
            <a:avLst>
              <a:gd name="adj1" fmla="val -98019"/>
              <a:gd name="adj2" fmla="val 61855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C0000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1920"/>
                </a:solidFill>
                <a:ea typeface="隶书" pitchFamily="49" charset="-122"/>
              </a:rPr>
              <a:t>谁是定义？</a:t>
            </a:r>
          </a:p>
          <a:p>
            <a:pPr algn="ctr"/>
            <a:r>
              <a:rPr lang="zh-CN" altLang="en-US" sz="2800" b="1" dirty="0">
                <a:solidFill>
                  <a:srgbClr val="C01920"/>
                </a:solidFill>
                <a:ea typeface="隶书" pitchFamily="49" charset="-122"/>
              </a:rPr>
              <a:t>谁是说明？</a:t>
            </a:r>
          </a:p>
        </p:txBody>
      </p:sp>
      <p:sp>
        <p:nvSpPr>
          <p:cNvPr id="1079317" name="Rectangle 21"/>
          <p:cNvSpPr>
            <a:spLocks noChangeArrowheads="1"/>
          </p:cNvSpPr>
          <p:nvPr/>
        </p:nvSpPr>
        <p:spPr bwMode="auto">
          <a:xfrm>
            <a:off x="1848546" y="4220617"/>
            <a:ext cx="2232025" cy="360362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9318" name="AutoShape 22"/>
          <p:cNvSpPr>
            <a:spLocks/>
          </p:cNvSpPr>
          <p:nvPr/>
        </p:nvSpPr>
        <p:spPr bwMode="auto">
          <a:xfrm>
            <a:off x="5233095" y="5012780"/>
            <a:ext cx="1871662" cy="792163"/>
          </a:xfrm>
          <a:prstGeom prst="borderCallout2">
            <a:avLst>
              <a:gd name="adj1" fmla="val 14431"/>
              <a:gd name="adj2" fmla="val -4069"/>
              <a:gd name="adj3" fmla="val 14431"/>
              <a:gd name="adj4" fmla="val -30111"/>
              <a:gd name="adj5" fmla="val -72944"/>
              <a:gd name="adj6" fmla="val -6285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全局变量定义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(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因为赋了初值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)</a:t>
            </a:r>
          </a:p>
        </p:txBody>
      </p:sp>
      <p:sp>
        <p:nvSpPr>
          <p:cNvPr id="1079319" name="Rectangle 23"/>
          <p:cNvSpPr>
            <a:spLocks noChangeArrowheads="1"/>
          </p:cNvSpPr>
          <p:nvPr/>
        </p:nvSpPr>
        <p:spPr bwMode="auto">
          <a:xfrm>
            <a:off x="1832671" y="1656805"/>
            <a:ext cx="2232025" cy="360363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9320" name="AutoShape 24"/>
          <p:cNvSpPr>
            <a:spLocks/>
          </p:cNvSpPr>
          <p:nvPr/>
        </p:nvSpPr>
        <p:spPr bwMode="auto">
          <a:xfrm>
            <a:off x="5233095" y="2348954"/>
            <a:ext cx="1871662" cy="431800"/>
          </a:xfrm>
          <a:prstGeom prst="borderCallout2">
            <a:avLst>
              <a:gd name="adj1" fmla="val 26472"/>
              <a:gd name="adj2" fmla="val -4069"/>
              <a:gd name="adj3" fmla="val 26472"/>
              <a:gd name="adj4" fmla="val -30111"/>
              <a:gd name="adj5" fmla="val -133824"/>
              <a:gd name="adj6" fmla="val -6285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全局变量说明</a:t>
            </a:r>
          </a:p>
        </p:txBody>
      </p:sp>
      <p:sp>
        <p:nvSpPr>
          <p:cNvPr id="1079321" name="Rectangle 25"/>
          <p:cNvSpPr>
            <a:spLocks noChangeArrowheads="1"/>
          </p:cNvSpPr>
          <p:nvPr/>
        </p:nvSpPr>
        <p:spPr bwMode="auto">
          <a:xfrm>
            <a:off x="7608021" y="4597057"/>
            <a:ext cx="4126427" cy="156966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注意：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两者中有且只能有一个对变量</a:t>
            </a:r>
            <a:r>
              <a:rPr lang="en-US" altLang="zh-CN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赋初始值，不能都对变量</a:t>
            </a:r>
            <a:r>
              <a:rPr lang="en-US" altLang="zh-CN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赋初始值或都不赋值，否则编译错！</a:t>
            </a:r>
            <a:r>
              <a:rPr lang="zh-CN" altLang="en-US" dirty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9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79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079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1079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079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79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79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79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079315" grpId="0" animBg="1"/>
      <p:bldP spid="1079316" grpId="0" animBg="1"/>
      <p:bldP spid="1079317" grpId="0" animBg="1"/>
      <p:bldP spid="1079318" grpId="0" animBg="1"/>
      <p:bldP spid="1079319" grpId="0" animBg="1"/>
      <p:bldP spid="1079320" grpId="0" animBg="1"/>
      <p:bldP spid="10793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54" name="Rectangle 10"/>
          <p:cNvSpPr>
            <a:spLocks noChangeArrowheads="1"/>
          </p:cNvSpPr>
          <p:nvPr/>
        </p:nvSpPr>
        <p:spPr bwMode="auto">
          <a:xfrm>
            <a:off x="822286" y="1700808"/>
            <a:ext cx="10890338" cy="452431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变量是对程序中数据的存储空间的抽象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变量的属性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　　①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数据类型：</a:t>
            </a:r>
            <a:r>
              <a:rPr lang="zh-CN" altLang="en-US" b="1" dirty="0">
                <a:latin typeface="+mn-lt"/>
                <a:ea typeface="楷体" pitchFamily="49" charset="-122"/>
              </a:rPr>
              <a:t>变量所持有的数据的性质（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楷体" pitchFamily="49" charset="-122"/>
              </a:rPr>
              <a:t>操作属性</a:t>
            </a:r>
            <a:r>
              <a:rPr lang="zh-CN" altLang="en-US" b="1" dirty="0">
                <a:latin typeface="+mn-lt"/>
                <a:ea typeface="楷体" pitchFamily="49" charset="-122"/>
              </a:rPr>
              <a:t>）。规定了它们的取值范围和可参与的运算</a:t>
            </a:r>
            <a:r>
              <a:rPr lang="zh-CN" altLang="en-US" dirty="0">
                <a:latin typeface="+mn-lt"/>
                <a:ea typeface="楷体" pitchFamily="49" charset="-122"/>
              </a:rPr>
              <a:t> 。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　　②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存储类型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 </a:t>
            </a:r>
            <a:r>
              <a:rPr lang="zh-CN" altLang="en-US" b="1" dirty="0">
                <a:latin typeface="+mn-lt"/>
                <a:ea typeface="楷体" pitchFamily="49" charset="-122"/>
              </a:rPr>
              <a:t>规定了变量占用内存空间的方式，也称为存储方式。分为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静态存储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动态存储</a:t>
            </a:r>
            <a:r>
              <a:rPr lang="zh-CN" altLang="en-US" b="1" dirty="0">
                <a:latin typeface="+mn-lt"/>
                <a:ea typeface="楷体" pitchFamily="49" charset="-122"/>
              </a:rPr>
              <a:t>两种</a:t>
            </a:r>
            <a:r>
              <a:rPr lang="zh-CN" altLang="en-US" dirty="0">
                <a:latin typeface="+mn-lt"/>
                <a:ea typeface="楷体" pitchFamily="49" charset="-122"/>
              </a:rPr>
              <a:t> 。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静态存储类型的变量</a:t>
            </a:r>
            <a:r>
              <a:rPr lang="zh-CN" altLang="en-US" b="1" dirty="0">
                <a:latin typeface="+mn-lt"/>
                <a:ea typeface="楷体" pitchFamily="49" charset="-122"/>
              </a:rPr>
              <a:t>是指在程序运行期间由系统分配固定的内存单元，并一直保持不变，直至整个程序结束，内存空间才被释放。前面所介绍的全局变量即属于此类存储方式。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　　</a:t>
            </a: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动态存储类型的变量</a:t>
            </a:r>
            <a:r>
              <a:rPr lang="zh-CN" altLang="en-US" b="1" dirty="0">
                <a:latin typeface="+mn-lt"/>
                <a:ea typeface="楷体" pitchFamily="49" charset="-122"/>
              </a:rPr>
              <a:t>是在程序运行期间根据需要进行动态分配内存单元，使用完毕立即释放。典型的例子是函数的形式参数即属于此类存储方式。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941E3A3-4E08-444A-9FAE-EACE5E10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7DA0B2D-4B34-46C0-8849-6EF06C963FF9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292BE19-8828-4D2D-A821-69FAE82CC47C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4250677B-980D-4313-BB07-D6B7FF452701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F14F57C4-0A6A-4D3C-85C3-AB90465F2764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585A2143-E3A8-4660-AE75-8BAA7841B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概述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1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1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697271" y="1010717"/>
            <a:ext cx="111062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　　一个</a:t>
            </a:r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latin typeface="+mn-lt"/>
                <a:ea typeface="楷体" pitchFamily="49" charset="-122"/>
              </a:rPr>
              <a:t>语言程序在执行时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内存被分为两大块</a:t>
            </a:r>
            <a:r>
              <a:rPr lang="zh-CN" altLang="en-US" b="1" dirty="0">
                <a:latin typeface="+mn-lt"/>
                <a:ea typeface="楷体" pitchFamily="49" charset="-122"/>
              </a:rPr>
              <a:t>：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一块是系统区</a:t>
            </a:r>
            <a:r>
              <a:rPr lang="zh-CN" altLang="en-US" b="1" dirty="0">
                <a:latin typeface="+mn-lt"/>
                <a:ea typeface="楷体" pitchFamily="49" charset="-122"/>
              </a:rPr>
              <a:t>，用于存放操作系统等内容，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另一块是用户区</a:t>
            </a:r>
            <a:r>
              <a:rPr lang="zh-CN" altLang="en-US" b="1" dirty="0">
                <a:latin typeface="+mn-lt"/>
                <a:ea typeface="楷体" pitchFamily="49" charset="-122"/>
              </a:rPr>
              <a:t>，用来存放被执行的用户程序及数据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127452" name="Group 28"/>
          <p:cNvGrpSpPr>
            <a:grpSpLocks/>
          </p:cNvGrpSpPr>
          <p:nvPr/>
        </p:nvGrpSpPr>
        <p:grpSpPr bwMode="auto">
          <a:xfrm>
            <a:off x="4853955" y="2349078"/>
            <a:ext cx="3184525" cy="3024188"/>
            <a:chOff x="657" y="981"/>
            <a:chExt cx="2006" cy="1905"/>
          </a:xfrm>
        </p:grpSpPr>
        <p:grpSp>
          <p:nvGrpSpPr>
            <p:cNvPr id="1127436" name="Group 12"/>
            <p:cNvGrpSpPr>
              <a:grpSpLocks/>
            </p:cNvGrpSpPr>
            <p:nvPr/>
          </p:nvGrpSpPr>
          <p:grpSpPr bwMode="auto">
            <a:xfrm>
              <a:off x="657" y="981"/>
              <a:ext cx="1155" cy="1905"/>
              <a:chOff x="5577" y="10488"/>
              <a:chExt cx="1800" cy="2496"/>
            </a:xfrm>
          </p:grpSpPr>
          <p:sp>
            <p:nvSpPr>
              <p:cNvPr id="1127437" name="AutoShape 13"/>
              <p:cNvSpPr>
                <a:spLocks noChangeArrowheads="1"/>
              </p:cNvSpPr>
              <p:nvPr/>
            </p:nvSpPr>
            <p:spPr bwMode="auto">
              <a:xfrm>
                <a:off x="5577" y="10488"/>
                <a:ext cx="1800" cy="2496"/>
              </a:xfrm>
              <a:prstGeom prst="foldedCorner">
                <a:avLst>
                  <a:gd name="adj" fmla="val 13745"/>
                </a:avLst>
              </a:prstGeom>
              <a:gradFill rotWithShape="1">
                <a:gsLst>
                  <a:gs pos="0">
                    <a:srgbClr val="F0E5B7"/>
                  </a:gs>
                  <a:gs pos="100000">
                    <a:srgbClr val="FFFFFF"/>
                  </a:gs>
                </a:gsLst>
                <a:lin ang="5400000" scaled="1"/>
              </a:gradFill>
              <a:ln w="38100">
                <a:solidFill>
                  <a:srgbClr val="BD6368"/>
                </a:solidFill>
                <a:round/>
                <a:headEnd type="none" w="lg" len="lg"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lIns="90000" tIns="46800" rIns="90000" bIns="46800" anchor="ctr"/>
              <a:lstStyle/>
              <a:p>
                <a:pPr algn="ctr"/>
                <a:endParaRPr lang="zh-CN" altLang="zh-CN" dirty="0">
                  <a:latin typeface="楷体" pitchFamily="49" charset="-122"/>
                  <a:ea typeface="楷体" pitchFamily="49" charset="-122"/>
                </a:endParaRPr>
              </a:p>
            </p:txBody>
          </p:sp>
          <p:sp>
            <p:nvSpPr>
              <p:cNvPr id="1127438" name="Line 14"/>
              <p:cNvSpPr>
                <a:spLocks noChangeShapeType="1"/>
              </p:cNvSpPr>
              <p:nvPr/>
            </p:nvSpPr>
            <p:spPr bwMode="auto">
              <a:xfrm>
                <a:off x="5577" y="11343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39" name="Line 15"/>
              <p:cNvSpPr>
                <a:spLocks noChangeShapeType="1"/>
              </p:cNvSpPr>
              <p:nvPr/>
            </p:nvSpPr>
            <p:spPr bwMode="auto">
              <a:xfrm>
                <a:off x="5577" y="11688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prstDash val="dash"/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0" name="Line 16"/>
              <p:cNvSpPr>
                <a:spLocks noChangeShapeType="1"/>
              </p:cNvSpPr>
              <p:nvPr/>
            </p:nvSpPr>
            <p:spPr bwMode="auto">
              <a:xfrm>
                <a:off x="5577" y="12405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1" name="Line 17"/>
              <p:cNvSpPr>
                <a:spLocks noChangeShapeType="1"/>
              </p:cNvSpPr>
              <p:nvPr/>
            </p:nvSpPr>
            <p:spPr bwMode="auto">
              <a:xfrm>
                <a:off x="5577" y="12048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prstDash val="dash"/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443" name="Text Box 19"/>
            <p:cNvSpPr txBox="1">
              <a:spLocks noChangeArrowheads="1"/>
            </p:cNvSpPr>
            <p:nvPr/>
          </p:nvSpPr>
          <p:spPr bwMode="auto">
            <a:xfrm>
              <a:off x="814" y="1617"/>
              <a:ext cx="1003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隶书" pitchFamily="49" charset="-122"/>
                  <a:ea typeface="隶书" pitchFamily="49" charset="-122"/>
                </a:rPr>
                <a:t>程 序 区</a:t>
              </a:r>
            </a:p>
          </p:txBody>
        </p:sp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793" y="1897"/>
              <a:ext cx="997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7030A0"/>
                  </a:solidFill>
                  <a:latin typeface="隶书" pitchFamily="49" charset="-122"/>
                  <a:ea typeface="隶书" pitchFamily="49" charset="-122"/>
                </a:rPr>
                <a:t>静态存储区</a:t>
              </a:r>
            </a:p>
          </p:txBody>
        </p:sp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793" y="2169"/>
              <a:ext cx="944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隶书" pitchFamily="49" charset="-122"/>
                  <a:ea typeface="隶书" pitchFamily="49" charset="-122"/>
                </a:rPr>
                <a:t>动态存储区</a:t>
              </a:r>
            </a:p>
          </p:txBody>
        </p:sp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757" y="1132"/>
              <a:ext cx="951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2060"/>
                  </a:solidFill>
                  <a:latin typeface="隶书" pitchFamily="49" charset="-122"/>
                  <a:ea typeface="隶书" pitchFamily="49" charset="-122"/>
                </a:rPr>
                <a:t>操作系统等</a:t>
              </a:r>
            </a:p>
          </p:txBody>
        </p:sp>
        <p:sp>
          <p:nvSpPr>
            <p:cNvPr id="1127448" name="AutoShape 24"/>
            <p:cNvSpPr>
              <a:spLocks/>
            </p:cNvSpPr>
            <p:nvPr/>
          </p:nvSpPr>
          <p:spPr bwMode="auto">
            <a:xfrm>
              <a:off x="1866" y="1018"/>
              <a:ext cx="115" cy="593"/>
            </a:xfrm>
            <a:prstGeom prst="rightBrace">
              <a:avLst>
                <a:gd name="adj1" fmla="val 42971"/>
                <a:gd name="adj2" fmla="val 50000"/>
              </a:avLst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49" name="Text Box 25"/>
            <p:cNvSpPr txBox="1">
              <a:spLocks noChangeArrowheads="1"/>
            </p:cNvSpPr>
            <p:nvPr/>
          </p:nvSpPr>
          <p:spPr bwMode="auto">
            <a:xfrm>
              <a:off x="1897" y="1146"/>
              <a:ext cx="766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000" b="1">
                  <a:solidFill>
                    <a:srgbClr val="002060"/>
                  </a:solidFill>
                  <a:latin typeface="隶书" pitchFamily="49" charset="-122"/>
                  <a:ea typeface="隶书" pitchFamily="49" charset="-122"/>
                </a:rPr>
                <a:t>系统区</a:t>
              </a:r>
            </a:p>
          </p:txBody>
        </p:sp>
        <p:sp>
          <p:nvSpPr>
            <p:cNvPr id="1127450" name="AutoShape 26"/>
            <p:cNvSpPr>
              <a:spLocks/>
            </p:cNvSpPr>
            <p:nvPr/>
          </p:nvSpPr>
          <p:spPr bwMode="auto">
            <a:xfrm>
              <a:off x="1866" y="1682"/>
              <a:ext cx="115" cy="739"/>
            </a:xfrm>
            <a:prstGeom prst="rightBrace">
              <a:avLst>
                <a:gd name="adj1" fmla="val 53551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51" name="Text Box 27"/>
            <p:cNvSpPr txBox="1">
              <a:spLocks noChangeArrowheads="1"/>
            </p:cNvSpPr>
            <p:nvPr/>
          </p:nvSpPr>
          <p:spPr bwMode="auto">
            <a:xfrm>
              <a:off x="1933" y="1895"/>
              <a:ext cx="72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000" b="1" dirty="0">
                  <a:solidFill>
                    <a:srgbClr val="C01920"/>
                  </a:solidFill>
                  <a:latin typeface="隶书" pitchFamily="49" charset="-122"/>
                  <a:ea typeface="隶书" pitchFamily="49" charset="-122"/>
                </a:rPr>
                <a:t>用户区</a:t>
              </a:r>
            </a:p>
          </p:txBody>
        </p:sp>
      </p:grpSp>
      <p:grpSp>
        <p:nvGrpSpPr>
          <p:cNvPr id="1127459" name="Group 35"/>
          <p:cNvGrpSpPr>
            <a:grpSpLocks/>
          </p:cNvGrpSpPr>
          <p:nvPr/>
        </p:nvGrpSpPr>
        <p:grpSpPr bwMode="auto">
          <a:xfrm>
            <a:off x="5071442" y="1772816"/>
            <a:ext cx="5688013" cy="1987550"/>
            <a:chOff x="2064" y="935"/>
            <a:chExt cx="3583" cy="1252"/>
          </a:xfrm>
        </p:grpSpPr>
        <p:sp>
          <p:nvSpPr>
            <p:cNvPr id="1127453" name="Oval 29"/>
            <p:cNvSpPr>
              <a:spLocks noChangeArrowheads="1"/>
            </p:cNvSpPr>
            <p:nvPr/>
          </p:nvSpPr>
          <p:spPr bwMode="auto">
            <a:xfrm>
              <a:off x="2064" y="1961"/>
              <a:ext cx="861" cy="22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4" name="AutoShape 30"/>
            <p:cNvSpPr>
              <a:spLocks/>
            </p:cNvSpPr>
            <p:nvPr/>
          </p:nvSpPr>
          <p:spPr bwMode="auto">
            <a:xfrm>
              <a:off x="4150" y="935"/>
              <a:ext cx="1497" cy="499"/>
            </a:xfrm>
            <a:prstGeom prst="borderCallout2">
              <a:avLst>
                <a:gd name="adj1" fmla="val 14431"/>
                <a:gd name="adj2" fmla="val -3208"/>
                <a:gd name="adj3" fmla="val 14431"/>
                <a:gd name="adj4" fmla="val -43819"/>
                <a:gd name="adj5" fmla="val 216032"/>
                <a:gd name="adj6" fmla="val -85838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>
                  <a:latin typeface="+mn-lt"/>
                  <a:ea typeface="楷体" pitchFamily="49" charset="-122"/>
                </a:rPr>
                <a:t>用来存放</a:t>
              </a:r>
              <a:r>
                <a:rPr lang="en-US" altLang="zh-CN" sz="2000" b="1">
                  <a:latin typeface="+mn-lt"/>
                  <a:ea typeface="楷体" pitchFamily="49" charset="-122"/>
                </a:rPr>
                <a:t>C</a:t>
              </a:r>
              <a:r>
                <a:rPr lang="zh-CN" altLang="en-US" sz="2000" b="1">
                  <a:latin typeface="+mn-lt"/>
                  <a:ea typeface="楷体" pitchFamily="49" charset="-122"/>
                </a:rPr>
                <a:t>语言程序运行代码</a:t>
              </a:r>
              <a:r>
                <a:rPr lang="zh-CN" altLang="en-US">
                  <a:latin typeface="+mn-lt"/>
                  <a:ea typeface="楷体" pitchFamily="49" charset="-122"/>
                </a:rPr>
                <a:t>。</a:t>
              </a:r>
            </a:p>
          </p:txBody>
        </p:sp>
      </p:grpSp>
      <p:grpSp>
        <p:nvGrpSpPr>
          <p:cNvPr id="1127460" name="Group 36"/>
          <p:cNvGrpSpPr>
            <a:grpSpLocks/>
          </p:cNvGrpSpPr>
          <p:nvPr/>
        </p:nvGrpSpPr>
        <p:grpSpPr bwMode="auto">
          <a:xfrm>
            <a:off x="5015880" y="3831805"/>
            <a:ext cx="6192839" cy="2620963"/>
            <a:chOff x="2029" y="2232"/>
            <a:chExt cx="3901" cy="1651"/>
          </a:xfrm>
        </p:grpSpPr>
        <p:sp>
          <p:nvSpPr>
            <p:cNvPr id="1127455" name="Oval 31"/>
            <p:cNvSpPr>
              <a:spLocks noChangeArrowheads="1"/>
            </p:cNvSpPr>
            <p:nvPr/>
          </p:nvSpPr>
          <p:spPr bwMode="auto">
            <a:xfrm>
              <a:off x="2029" y="2232"/>
              <a:ext cx="978" cy="226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6" name="AutoShape 32"/>
            <p:cNvSpPr>
              <a:spLocks/>
            </p:cNvSpPr>
            <p:nvPr/>
          </p:nvSpPr>
          <p:spPr bwMode="auto">
            <a:xfrm>
              <a:off x="3413" y="2477"/>
              <a:ext cx="2517" cy="1406"/>
            </a:xfrm>
            <a:prstGeom prst="borderCallout2">
              <a:avLst>
                <a:gd name="adj1" fmla="val 5120"/>
                <a:gd name="adj2" fmla="val -1907"/>
                <a:gd name="adj3" fmla="val 5120"/>
                <a:gd name="adj4" fmla="val -6278"/>
                <a:gd name="adj5" fmla="val -7062"/>
                <a:gd name="adj6" fmla="val -18668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7030A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用来存放变量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，在这个区域中存储的变量被称作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静态变量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。在程序开始执行时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全局变量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全部放在静态存储区中，程序执行完毕就释放。在程序执行过程中它们占据固定的存储单元，而不是动态地进行分配和释放。</a:t>
              </a:r>
            </a:p>
          </p:txBody>
        </p:sp>
      </p:grpSp>
      <p:grpSp>
        <p:nvGrpSpPr>
          <p:cNvPr id="1127461" name="Group 37"/>
          <p:cNvGrpSpPr>
            <a:grpSpLocks/>
          </p:cNvGrpSpPr>
          <p:nvPr/>
        </p:nvGrpSpPr>
        <p:grpSpPr bwMode="auto">
          <a:xfrm>
            <a:off x="1614315" y="1772818"/>
            <a:ext cx="5010612" cy="3888902"/>
            <a:chOff x="340" y="935"/>
            <a:chExt cx="2698" cy="2949"/>
          </a:xfrm>
        </p:grpSpPr>
        <p:sp>
          <p:nvSpPr>
            <p:cNvPr id="1127457" name="Oval 33"/>
            <p:cNvSpPr>
              <a:spLocks noChangeArrowheads="1"/>
            </p:cNvSpPr>
            <p:nvPr/>
          </p:nvSpPr>
          <p:spPr bwMode="auto">
            <a:xfrm>
              <a:off x="2131" y="2863"/>
              <a:ext cx="907" cy="212"/>
            </a:xfrm>
            <a:prstGeom prst="ellipse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27458" name="AutoShape 34"/>
            <p:cNvSpPr>
              <a:spLocks/>
            </p:cNvSpPr>
            <p:nvPr/>
          </p:nvSpPr>
          <p:spPr bwMode="auto">
            <a:xfrm>
              <a:off x="340" y="935"/>
              <a:ext cx="1497" cy="2949"/>
            </a:xfrm>
            <a:prstGeom prst="borderCallout2">
              <a:avLst>
                <a:gd name="adj1" fmla="val 2440"/>
                <a:gd name="adj2" fmla="val 103208"/>
                <a:gd name="adj3" fmla="val 2440"/>
                <a:gd name="adj4" fmla="val 120843"/>
                <a:gd name="adj5" fmla="val 65285"/>
                <a:gd name="adj6" fmla="val 141557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用来存放变量以及进行函数调用时的现场信息和函数返回地址等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，在这个区域存储的变量称之为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动态变量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，如形参变量、函数体内部定义的动态局部变量。对于存放于动态存储区的变量，是在函数调用开始时才分配动态存储空间，函数运行结束时释放这些空间。</a:t>
              </a:r>
              <a:r>
                <a:rPr lang="zh-CN" altLang="en-US" sz="2000" dirty="0">
                  <a:latin typeface="+mn-lt"/>
                  <a:ea typeface="楷体" pitchFamily="49" charset="-122"/>
                </a:rPr>
                <a:t> </a:t>
              </a:r>
            </a:p>
          </p:txBody>
        </p:sp>
      </p:grpSp>
      <p:sp>
        <p:nvSpPr>
          <p:cNvPr id="30" name="Rectangle 4">
            <a:extLst>
              <a:ext uri="{FF2B5EF4-FFF2-40B4-BE49-F238E27FC236}">
                <a16:creationId xmlns:a16="http://schemas.microsoft.com/office/drawing/2014/main" id="{D394E626-AADF-4B18-98A5-C361303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27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500"/>
                                        <p:tgtEl>
                                          <p:spTgt spid="1127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12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127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9" name="Rectangle 3"/>
          <p:cNvSpPr>
            <a:spLocks noChangeArrowheads="1"/>
          </p:cNvSpPr>
          <p:nvPr/>
        </p:nvSpPr>
        <p:spPr bwMode="auto">
          <a:xfrm>
            <a:off x="1431826" y="1140078"/>
            <a:ext cx="7256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在Ｃ语言中，对变量的存储类型说明有以下四种：</a:t>
            </a:r>
          </a:p>
        </p:txBody>
      </p:sp>
      <p:sp>
        <p:nvSpPr>
          <p:cNvPr id="1125380" name="Rectangle 4"/>
          <p:cNvSpPr>
            <a:spLocks noChangeArrowheads="1"/>
          </p:cNvSpPr>
          <p:nvPr/>
        </p:nvSpPr>
        <p:spPr bwMode="auto">
          <a:xfrm>
            <a:off x="1532741" y="1722648"/>
            <a:ext cx="325610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auto---------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自动型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register-----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寄存器型</a:t>
            </a:r>
          </a:p>
          <a:p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  -------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静态型</a:t>
            </a:r>
          </a:p>
          <a:p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extern-------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外部型</a:t>
            </a:r>
          </a:p>
        </p:txBody>
      </p:sp>
      <p:sp>
        <p:nvSpPr>
          <p:cNvPr id="1125387" name="Text Box 11"/>
          <p:cNvSpPr txBox="1">
            <a:spLocks noChangeArrowheads="1"/>
          </p:cNvSpPr>
          <p:nvPr/>
        </p:nvSpPr>
        <p:spPr bwMode="auto">
          <a:xfrm>
            <a:off x="2135560" y="5845701"/>
            <a:ext cx="8439338" cy="48895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[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存储类型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]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数据类型   变量名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…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125388" name="Text Box 12"/>
          <p:cNvSpPr txBox="1">
            <a:spLocks noChangeArrowheads="1"/>
          </p:cNvSpPr>
          <p:nvPr/>
        </p:nvSpPr>
        <p:spPr bwMode="auto">
          <a:xfrm>
            <a:off x="1431826" y="5214684"/>
            <a:ext cx="3887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变量定义的完整形式应为：</a:t>
            </a:r>
            <a:r>
              <a:rPr lang="zh-CN" altLang="en-US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25389" name="Rectangle 13" descr="信纸"/>
          <p:cNvSpPr>
            <a:spLocks noChangeArrowheads="1"/>
          </p:cNvSpPr>
          <p:nvPr/>
        </p:nvSpPr>
        <p:spPr bwMode="auto">
          <a:xfrm>
            <a:off x="4439816" y="2886048"/>
            <a:ext cx="7200900" cy="195580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例如：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auto char c1, c2;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//c1, c2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为自动字符变量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register </a:t>
            </a:r>
            <a:r>
              <a:rPr lang="en-US" altLang="zh-CN" b="1" dirty="0" err="1">
                <a:ea typeface="楷体_GB2312" pitchFamily="49" charset="-122"/>
              </a:rPr>
              <a:t>i</a:t>
            </a:r>
            <a:r>
              <a:rPr lang="en-US" altLang="zh-CN" b="1" dirty="0">
                <a:ea typeface="楷体_GB2312" pitchFamily="49" charset="-122"/>
              </a:rPr>
              <a:t>;         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为寄存器型变量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static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a, b;</a:t>
            </a: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//a, b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为静态整型变量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extern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x, y;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//x, y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为外部整型变量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8BDF835-8556-4824-AB8C-B283C3B28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25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25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125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/>
      <p:bldP spid="1125387" grpId="0" animBg="1"/>
      <p:bldP spid="1125388" grpId="0"/>
      <p:bldP spid="112538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5" name="Rectangle 3"/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、自动变量（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auto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83406" name="Text Box 14"/>
          <p:cNvSpPr txBox="1">
            <a:spLocks noChangeArrowheads="1"/>
          </p:cNvSpPr>
          <p:nvPr/>
        </p:nvSpPr>
        <p:spPr bwMode="auto">
          <a:xfrm>
            <a:off x="1683395" y="1957614"/>
            <a:ext cx="8301037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[auto]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数据类型说明符   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83409" name="Text Box 17"/>
          <p:cNvSpPr txBox="1">
            <a:spLocks noChangeArrowheads="1"/>
          </p:cNvSpPr>
          <p:nvPr/>
        </p:nvSpPr>
        <p:spPr bwMode="auto">
          <a:xfrm>
            <a:off x="1182648" y="1424215"/>
            <a:ext cx="1728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定义格式</a:t>
            </a:r>
          </a:p>
        </p:txBody>
      </p:sp>
      <p:sp>
        <p:nvSpPr>
          <p:cNvPr id="1083410" name="Text Box 18"/>
          <p:cNvSpPr txBox="1">
            <a:spLocks noChangeArrowheads="1"/>
          </p:cNvSpPr>
          <p:nvPr/>
        </p:nvSpPr>
        <p:spPr bwMode="auto">
          <a:xfrm>
            <a:off x="1182648" y="2575151"/>
            <a:ext cx="172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83411" name="Rectangle 19"/>
          <p:cNvSpPr>
            <a:spLocks noChangeArrowheads="1"/>
          </p:cNvSpPr>
          <p:nvPr/>
        </p:nvSpPr>
        <p:spPr bwMode="auto">
          <a:xfrm>
            <a:off x="1399119" y="2958043"/>
            <a:ext cx="103855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存储类型说明符</a:t>
            </a:r>
            <a:r>
              <a:rPr lang="en-US" altLang="zh-CN" b="1" dirty="0">
                <a:latin typeface="+mn-lt"/>
                <a:ea typeface="楷体" pitchFamily="49" charset="-122"/>
              </a:rPr>
              <a:t>auto</a:t>
            </a:r>
            <a:r>
              <a:rPr lang="zh-CN" altLang="en-US" b="1" dirty="0">
                <a:latin typeface="+mn-lt"/>
                <a:ea typeface="楷体" pitchFamily="49" charset="-122"/>
              </a:rPr>
              <a:t>可以省略。</a:t>
            </a:r>
          </a:p>
          <a:p>
            <a:pPr>
              <a:buClr>
                <a:srgbClr val="CC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自动变量只能在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函数内</a:t>
            </a:r>
            <a:r>
              <a:rPr lang="zh-CN" altLang="en-US" b="1" dirty="0">
                <a:latin typeface="+mn-lt"/>
                <a:ea typeface="楷体" pitchFamily="49" charset="-122"/>
              </a:rPr>
              <a:t>或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复合语句中</a:t>
            </a:r>
            <a:r>
              <a:rPr lang="zh-CN" altLang="en-US" b="1" dirty="0">
                <a:latin typeface="+mn-lt"/>
                <a:ea typeface="楷体" pitchFamily="49" charset="-122"/>
              </a:rPr>
              <a:t>定义，它属于局部变量。 </a:t>
            </a:r>
          </a:p>
        </p:txBody>
      </p:sp>
      <p:sp>
        <p:nvSpPr>
          <p:cNvPr id="1083412" name="Rectangle 20" descr="信纸"/>
          <p:cNvSpPr>
            <a:spLocks noChangeArrowheads="1"/>
          </p:cNvSpPr>
          <p:nvPr/>
        </p:nvSpPr>
        <p:spPr bwMode="auto">
          <a:xfrm>
            <a:off x="2207568" y="3961085"/>
            <a:ext cx="3167062" cy="19558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/>
              <a:t>void </a:t>
            </a:r>
            <a:r>
              <a:rPr lang="en-US" altLang="zh-CN" b="1" dirty="0" err="1"/>
              <a:t>func</a:t>
            </a:r>
            <a:r>
              <a:rPr lang="en-US" altLang="zh-CN" b="1" dirty="0"/>
              <a:t> ( )</a:t>
            </a:r>
          </a:p>
          <a:p>
            <a:pPr marL="457200" indent="-457200"/>
            <a:r>
              <a:rPr lang="en-US" altLang="zh-CN" b="1" dirty="0"/>
              <a:t>{  </a:t>
            </a:r>
          </a:p>
          <a:p>
            <a:pPr marL="457200" indent="-457200"/>
            <a:r>
              <a:rPr lang="en-US" altLang="zh-CN" b="1" dirty="0">
                <a:solidFill>
                  <a:srgbClr val="C00000"/>
                </a:solidFill>
              </a:rPr>
              <a:t>   int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, j, k;   </a:t>
            </a:r>
          </a:p>
          <a:p>
            <a:pPr marL="457200" indent="-457200"/>
            <a:r>
              <a:rPr lang="en-US" altLang="zh-CN" b="1" dirty="0"/>
              <a:t>   ……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83413" name="AutoShape 21"/>
          <p:cNvSpPr>
            <a:spLocks noChangeArrowheads="1"/>
          </p:cNvSpPr>
          <p:nvPr/>
        </p:nvSpPr>
        <p:spPr bwMode="auto">
          <a:xfrm>
            <a:off x="2562244" y="5981578"/>
            <a:ext cx="2879725" cy="431800"/>
          </a:xfrm>
          <a:prstGeom prst="wedgeRoundRectCallout">
            <a:avLst>
              <a:gd name="adj1" fmla="val -19688"/>
              <a:gd name="adj2" fmla="val -264787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等价于 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auto int </a:t>
            </a:r>
            <a:r>
              <a:rPr lang="en-US" altLang="zh-CN" sz="2000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, j, k;</a:t>
            </a:r>
          </a:p>
        </p:txBody>
      </p:sp>
      <p:sp>
        <p:nvSpPr>
          <p:cNvPr id="1083418" name="Rectangle 26" descr="信纸"/>
          <p:cNvSpPr>
            <a:spLocks noChangeArrowheads="1"/>
          </p:cNvSpPr>
          <p:nvPr/>
        </p:nvSpPr>
        <p:spPr bwMode="auto">
          <a:xfrm>
            <a:off x="6509693" y="3928244"/>
            <a:ext cx="3167062" cy="19558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00000"/>
                </a:solidFill>
              </a:rPr>
              <a:t>auto int k; </a:t>
            </a:r>
          </a:p>
          <a:p>
            <a:pPr marL="457200" indent="-457200"/>
            <a:r>
              <a:rPr lang="en-US" altLang="zh-CN" b="1" dirty="0"/>
              <a:t>void </a:t>
            </a:r>
            <a:r>
              <a:rPr lang="en-US" altLang="zh-CN" b="1" dirty="0" err="1"/>
              <a:t>func</a:t>
            </a:r>
            <a:r>
              <a:rPr lang="en-US" altLang="zh-CN" b="1" dirty="0"/>
              <a:t>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 ……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grpSp>
        <p:nvGrpSpPr>
          <p:cNvPr id="1083422" name="Group 30"/>
          <p:cNvGrpSpPr>
            <a:grpSpLocks/>
          </p:cNvGrpSpPr>
          <p:nvPr/>
        </p:nvGrpSpPr>
        <p:grpSpPr bwMode="auto">
          <a:xfrm>
            <a:off x="8022580" y="4187007"/>
            <a:ext cx="2038350" cy="792163"/>
            <a:chOff x="3969" y="2504"/>
            <a:chExt cx="1284" cy="499"/>
          </a:xfrm>
        </p:grpSpPr>
        <p:sp>
          <p:nvSpPr>
            <p:cNvPr id="1083420" name="AutoShape 28"/>
            <p:cNvSpPr>
              <a:spLocks noChangeArrowheads="1"/>
            </p:cNvSpPr>
            <p:nvPr/>
          </p:nvSpPr>
          <p:spPr bwMode="auto">
            <a:xfrm>
              <a:off x="4377" y="2504"/>
              <a:ext cx="876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83421" name="Line 29"/>
            <p:cNvSpPr>
              <a:spLocks noChangeShapeType="1"/>
            </p:cNvSpPr>
            <p:nvPr/>
          </p:nvSpPr>
          <p:spPr bwMode="auto">
            <a:xfrm>
              <a:off x="3969" y="2568"/>
              <a:ext cx="408" cy="13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</p:grpSp>
      <p:sp>
        <p:nvSpPr>
          <p:cNvPr id="1083423" name="AutoShape 31"/>
          <p:cNvSpPr>
            <a:spLocks noChangeArrowheads="1"/>
          </p:cNvSpPr>
          <p:nvPr/>
        </p:nvSpPr>
        <p:spPr bwMode="auto">
          <a:xfrm>
            <a:off x="6528657" y="5973321"/>
            <a:ext cx="3401219" cy="481509"/>
          </a:xfrm>
          <a:prstGeom prst="wedgeRoundRectCallout">
            <a:avLst>
              <a:gd name="adj1" fmla="val -38451"/>
              <a:gd name="adj2" fmla="val -376666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自动变量不可定义在函数外</a:t>
            </a:r>
            <a:r>
              <a:rPr lang="zh-CN" altLang="en-US" sz="20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83425" name="Rectangle 33"/>
          <p:cNvSpPr>
            <a:spLocks noChangeArrowheads="1"/>
          </p:cNvSpPr>
          <p:nvPr/>
        </p:nvSpPr>
        <p:spPr bwMode="auto">
          <a:xfrm>
            <a:off x="1360325" y="3767286"/>
            <a:ext cx="9416195" cy="268605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2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a typeface="隶书" pitchFamily="49" charset="-122"/>
              </a:rPr>
              <a:t>        </a:t>
            </a:r>
            <a:r>
              <a:rPr lang="zh-CN" altLang="en-US" b="1" dirty="0">
                <a:ln w="1905"/>
                <a:solidFill>
                  <a:srgbClr val="C01920"/>
                </a:solidFill>
                <a:ea typeface="隶书" pitchFamily="49" charset="-122"/>
              </a:rPr>
              <a:t>注意：</a:t>
            </a:r>
            <a:r>
              <a:rPr lang="zh-CN" altLang="en-US" b="1" dirty="0">
                <a:ln w="1905"/>
                <a:ea typeface="隶书" pitchFamily="49" charset="-122"/>
              </a:rPr>
              <a:t>在函数外部定义的没有带存储类型说明符的全局变量是外部变量，属于静态存储类型。</a:t>
            </a:r>
          </a:p>
          <a:p>
            <a:r>
              <a:rPr lang="zh-CN" altLang="en-US" b="1" dirty="0">
                <a:ln w="1905"/>
                <a:solidFill>
                  <a:srgbClr val="C01920"/>
                </a:solidFill>
                <a:ea typeface="隶书" pitchFamily="49" charset="-122"/>
              </a:rPr>
              <a:t>   如：</a:t>
            </a:r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int k;           </a:t>
            </a:r>
            <a:r>
              <a:rPr lang="en-US" altLang="zh-CN" sz="2000" b="1" dirty="0">
                <a:ln w="1905"/>
                <a:solidFill>
                  <a:srgbClr val="002060"/>
                </a:solidFill>
                <a:latin typeface="+mn-lt"/>
                <a:ea typeface="楷体" pitchFamily="49" charset="-122"/>
              </a:rPr>
              <a:t>//k</a:t>
            </a:r>
            <a:r>
              <a:rPr lang="zh-CN" altLang="en-US" sz="2000" b="1" dirty="0">
                <a:ln w="1905"/>
                <a:solidFill>
                  <a:srgbClr val="002060"/>
                </a:solidFill>
                <a:latin typeface="+mn-lt"/>
                <a:ea typeface="楷体" pitchFamily="49" charset="-122"/>
              </a:rPr>
              <a:t>为外部变量，属静态存储类型</a:t>
            </a:r>
          </a:p>
          <a:p>
            <a:r>
              <a:rPr lang="zh-CN" altLang="en-US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</a:t>
            </a:r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void </a:t>
            </a:r>
            <a:r>
              <a:rPr lang="en-US" altLang="zh-CN" b="1" dirty="0" err="1">
                <a:ln w="1905"/>
                <a:solidFill>
                  <a:srgbClr val="7030A0"/>
                </a:solidFill>
                <a:ea typeface="隶书" pitchFamily="49" charset="-122"/>
              </a:rPr>
              <a:t>func</a:t>
            </a:r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( )</a:t>
            </a:r>
          </a:p>
          <a:p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{</a:t>
            </a:r>
          </a:p>
          <a:p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   ……</a:t>
            </a:r>
          </a:p>
          <a:p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}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8BC4642B-5927-4CC3-9617-FB505D66C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83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83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83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83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83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1083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083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/>
      <p:bldP spid="1083406" grpId="0" animBg="1"/>
      <p:bldP spid="1083409" grpId="0"/>
      <p:bldP spid="1083410" grpId="0"/>
      <p:bldP spid="1083412" grpId="0" animBg="1"/>
      <p:bldP spid="1083413" grpId="0" animBg="1"/>
      <p:bldP spid="1083418" grpId="0" animBg="1"/>
      <p:bldP spid="1083423" grpId="0" animBg="1"/>
      <p:bldP spid="10834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8" name="Rectangle 18"/>
          <p:cNvSpPr>
            <a:spLocks noChangeArrowheads="1"/>
          </p:cNvSpPr>
          <p:nvPr/>
        </p:nvSpPr>
        <p:spPr bwMode="auto">
          <a:xfrm>
            <a:off x="764237" y="1570865"/>
            <a:ext cx="1080437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外部变量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全局变量</a:t>
            </a:r>
            <a:r>
              <a:rPr lang="zh-CN" altLang="en-US" b="1" dirty="0">
                <a:latin typeface="+mn-lt"/>
                <a:ea typeface="楷体" pitchFamily="49" charset="-122"/>
              </a:rPr>
              <a:t>是对同一类变量的两种不同角度的提法。全局变是从它的作用域提出的，外部变量从它的存储方式提出的，表示了它的生存期。它属于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静态存储类型</a:t>
            </a:r>
            <a:r>
              <a:rPr lang="zh-CN" altLang="en-US" b="1" dirty="0"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85459" name="Text Box 19"/>
          <p:cNvSpPr txBox="1">
            <a:spLocks noChangeArrowheads="1"/>
          </p:cNvSpPr>
          <p:nvPr/>
        </p:nvSpPr>
        <p:spPr bwMode="auto">
          <a:xfrm>
            <a:off x="1066951" y="2739312"/>
            <a:ext cx="46730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引用其它文件中的外部变量</a:t>
            </a:r>
          </a:p>
        </p:txBody>
      </p:sp>
      <p:sp>
        <p:nvSpPr>
          <p:cNvPr id="1085460" name="Rectangle 20" descr="信纸"/>
          <p:cNvSpPr>
            <a:spLocks noChangeArrowheads="1"/>
          </p:cNvSpPr>
          <p:nvPr/>
        </p:nvSpPr>
        <p:spPr bwMode="auto">
          <a:xfrm>
            <a:off x="1590703" y="2108262"/>
            <a:ext cx="4198936" cy="452431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zh-CN" altLang="en-US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原文件</a:t>
            </a:r>
            <a:r>
              <a:rPr lang="en-US" altLang="zh-CN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prg1.cpp</a:t>
            </a:r>
          </a:p>
          <a:p>
            <a:pPr marL="457200" indent="-457200"/>
            <a:r>
              <a:rPr lang="en-US" altLang="zh-CN" b="1" dirty="0" err="1">
                <a:solidFill>
                  <a:srgbClr val="C01920"/>
                </a:solidFill>
              </a:rPr>
              <a:t>int</a:t>
            </a:r>
            <a:r>
              <a:rPr lang="en-US" altLang="zh-CN" b="1" dirty="0">
                <a:solidFill>
                  <a:srgbClr val="C01920"/>
                </a:solidFill>
              </a:rPr>
              <a:t> a, b;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外部变量定义</a:t>
            </a:r>
          </a:p>
          <a:p>
            <a:pPr marL="457200" indent="-457200"/>
            <a:r>
              <a:rPr lang="en-US" altLang="zh-CN" b="1" dirty="0" err="1"/>
              <a:t>int</a:t>
            </a:r>
            <a:r>
              <a:rPr lang="en-US" altLang="zh-CN" b="1" dirty="0"/>
              <a:t> max ( );   </a:t>
            </a:r>
            <a:r>
              <a:rPr lang="en-US" altLang="zh-CN" sz="1800" b="1" dirty="0">
                <a:solidFill>
                  <a:srgbClr val="002060"/>
                </a:solidFill>
                <a:ea typeface="楷体_GB2312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外部函数声明</a:t>
            </a:r>
          </a:p>
          <a:p>
            <a:pPr marL="457200" indent="-457200"/>
            <a:endParaRPr lang="zh-CN" altLang="en-US" b="1" dirty="0"/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 )</a:t>
            </a:r>
          </a:p>
          <a:p>
            <a:pPr marL="457200" indent="-457200"/>
            <a:r>
              <a:rPr lang="en-US" altLang="zh-CN" b="1" dirty="0"/>
              <a:t>{  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int</a:t>
            </a:r>
            <a:r>
              <a:rPr lang="en-US" altLang="zh-CN" b="1" dirty="0"/>
              <a:t> c;  </a:t>
            </a:r>
          </a:p>
          <a:p>
            <a:pPr marL="457200" indent="-457200"/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b="1" dirty="0"/>
              <a:t>a = 4, b = 5; </a:t>
            </a:r>
          </a:p>
          <a:p>
            <a:pPr marL="457200" indent="-457200"/>
            <a:r>
              <a:rPr lang="en-US" altLang="zh-CN" b="1" dirty="0"/>
              <a:t>   c = max ( );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("max = %d\n", c); </a:t>
            </a:r>
          </a:p>
          <a:p>
            <a:pPr marL="457200" indent="-457200"/>
            <a:r>
              <a:rPr lang="en-US" altLang="zh-CN" b="1" dirty="0"/>
              <a:t> 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85461" name="Rectangle 21" descr="信纸"/>
          <p:cNvSpPr>
            <a:spLocks noChangeArrowheads="1"/>
          </p:cNvSpPr>
          <p:nvPr/>
        </p:nvSpPr>
        <p:spPr bwMode="auto">
          <a:xfrm>
            <a:off x="6559875" y="2108261"/>
            <a:ext cx="4608512" cy="268605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zh-CN" altLang="en-US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原文件</a:t>
            </a:r>
            <a:r>
              <a:rPr lang="en-US" altLang="zh-CN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prg2.cpp</a:t>
            </a:r>
          </a:p>
          <a:p>
            <a:pPr marL="457200" indent="-457200"/>
            <a:r>
              <a:rPr kumimoji="0" lang="en-US" altLang="zh-CN" b="1" dirty="0">
                <a:solidFill>
                  <a:srgbClr val="C01920"/>
                </a:solidFill>
              </a:rPr>
              <a:t>extern </a:t>
            </a:r>
            <a:r>
              <a:rPr kumimoji="0" lang="en-US" altLang="zh-CN" b="1" dirty="0" err="1">
                <a:solidFill>
                  <a:srgbClr val="C01920"/>
                </a:solidFill>
              </a:rPr>
              <a:t>i</a:t>
            </a:r>
            <a:r>
              <a:rPr lang="en-US" altLang="zh-CN" b="1" dirty="0" err="1">
                <a:solidFill>
                  <a:srgbClr val="C01920"/>
                </a:solidFill>
              </a:rPr>
              <a:t>nt</a:t>
            </a:r>
            <a:r>
              <a:rPr lang="en-US" altLang="zh-CN" b="1" dirty="0">
                <a:solidFill>
                  <a:srgbClr val="C01920"/>
                </a:solidFill>
              </a:rPr>
              <a:t> a, b;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外部变量说明</a:t>
            </a:r>
          </a:p>
          <a:p>
            <a:pPr marL="457200" indent="-457200"/>
            <a:endParaRPr lang="zh-CN" altLang="en-US" b="1" dirty="0"/>
          </a:p>
          <a:p>
            <a:pPr marL="457200" indent="-457200"/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</a:rPr>
              <a:t>int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 max (  )</a:t>
            </a:r>
          </a:p>
          <a:p>
            <a:pPr marL="457200" indent="-457200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{  </a:t>
            </a:r>
          </a:p>
          <a:p>
            <a:pPr marL="457200" indent="-457200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   return (a &gt; b ? a : b); </a:t>
            </a:r>
          </a:p>
          <a:p>
            <a:pPr marL="457200" indent="-457200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085462" name="Text Box 22"/>
          <p:cNvSpPr txBox="1">
            <a:spLocks noChangeArrowheads="1"/>
          </p:cNvSpPr>
          <p:nvPr/>
        </p:nvSpPr>
        <p:spPr bwMode="auto">
          <a:xfrm>
            <a:off x="6104039" y="6039084"/>
            <a:ext cx="2832100" cy="461665"/>
          </a:xfrm>
          <a:prstGeom prst="rect">
            <a:avLst/>
          </a:prstGeom>
          <a:gradFill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</a:gradFill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01920"/>
                </a:solidFill>
                <a:latin typeface="+mn-lt"/>
                <a:ea typeface="隶书" pitchFamily="49" charset="-122"/>
              </a:rPr>
              <a:t>编译、链接、运行</a:t>
            </a:r>
          </a:p>
        </p:txBody>
      </p:sp>
      <p:sp>
        <p:nvSpPr>
          <p:cNvPr id="1085463" name="AutoShape 23"/>
          <p:cNvSpPr>
            <a:spLocks noChangeArrowheads="1"/>
          </p:cNvSpPr>
          <p:nvPr/>
        </p:nvSpPr>
        <p:spPr bwMode="auto">
          <a:xfrm rot="1963348">
            <a:off x="4722344" y="5095159"/>
            <a:ext cx="2506182" cy="3587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BEDFC4"/>
              </a:gs>
              <a:gs pos="100000">
                <a:srgbClr val="00FFFF">
                  <a:gamma/>
                  <a:shade val="57647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4" name="AutoShape 24"/>
          <p:cNvSpPr>
            <a:spLocks noChangeArrowheads="1"/>
          </p:cNvSpPr>
          <p:nvPr/>
        </p:nvSpPr>
        <p:spPr bwMode="auto">
          <a:xfrm rot="7551307">
            <a:off x="6768614" y="5076649"/>
            <a:ext cx="1739026" cy="3587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BEDFC4"/>
              </a:gs>
              <a:gs pos="100000">
                <a:srgbClr val="00FFFF">
                  <a:gamma/>
                  <a:shade val="60784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6" name="Rectangle 26"/>
          <p:cNvSpPr>
            <a:spLocks noChangeArrowheads="1"/>
          </p:cNvSpPr>
          <p:nvPr/>
        </p:nvSpPr>
        <p:spPr bwMode="auto">
          <a:xfrm>
            <a:off x="9296179" y="5124585"/>
            <a:ext cx="1871663" cy="800100"/>
          </a:xfrm>
          <a:prstGeom prst="rect">
            <a:avLst/>
          </a:prstGeom>
          <a:gradFill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zh-CN" altLang="en-US" b="1" dirty="0">
                <a:solidFill>
                  <a:srgbClr val="C0192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</a:rPr>
              <a:t>max = 5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4F375759-7279-4685-B9B4-23EE79D92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24FF328-6A2F-4BE9-AFE7-29DA2440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、外部变量（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extern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85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8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85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85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85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854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85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85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58" grpId="0"/>
      <p:bldP spid="1085459" grpId="0" build="p" autoUpdateAnimBg="0"/>
      <p:bldP spid="1085460" grpId="0" animBg="1"/>
      <p:bldP spid="1085461" grpId="0" animBg="1"/>
      <p:bldP spid="1085462" grpId="0" animBg="1"/>
      <p:bldP spid="1085463" grpId="0" animBg="1"/>
      <p:bldP spid="1085464" grpId="0" animBg="1"/>
      <p:bldP spid="1085466" grpId="0" animBg="1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502" name="Text Box 14"/>
          <p:cNvSpPr txBox="1">
            <a:spLocks noChangeArrowheads="1"/>
          </p:cNvSpPr>
          <p:nvPr/>
        </p:nvSpPr>
        <p:spPr bwMode="auto">
          <a:xfrm>
            <a:off x="1182574" y="1484784"/>
            <a:ext cx="417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静态变量与静态存储类型</a:t>
            </a:r>
          </a:p>
        </p:txBody>
      </p:sp>
      <p:sp>
        <p:nvSpPr>
          <p:cNvPr id="1087503" name="Rectangle 15"/>
          <p:cNvSpPr>
            <a:spLocks noChangeArrowheads="1"/>
          </p:cNvSpPr>
          <p:nvPr/>
        </p:nvSpPr>
        <p:spPr bwMode="auto">
          <a:xfrm>
            <a:off x="1415480" y="1918065"/>
            <a:ext cx="10268554" cy="2930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静态变量的类型说明符是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静态变量属于静态存储类型。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静态存储类型的变量不一定就是静态变量。例如外 部变量虽属于静态存储类型但不一定是静态变量，必须由</a:t>
            </a:r>
            <a:r>
              <a:rPr lang="en-US" altLang="zh-CN" b="1" dirty="0"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加以定义后才能成为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静态外部变量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，或称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静态全局变量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自动变量可以用</a:t>
            </a:r>
            <a:r>
              <a:rPr lang="en-US" altLang="zh-CN" b="1" dirty="0"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定义它为静态自动变量，或称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，从而成为静态存储方式。  </a:t>
            </a:r>
          </a:p>
        </p:txBody>
      </p:sp>
      <p:sp>
        <p:nvSpPr>
          <p:cNvPr id="1087504" name="Text Box 16"/>
          <p:cNvSpPr txBox="1">
            <a:spLocks noChangeArrowheads="1"/>
          </p:cNvSpPr>
          <p:nvPr/>
        </p:nvSpPr>
        <p:spPr bwMode="auto">
          <a:xfrm>
            <a:off x="1182574" y="5002519"/>
            <a:ext cx="417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静态局部变量</a:t>
            </a:r>
          </a:p>
        </p:txBody>
      </p:sp>
      <p:sp>
        <p:nvSpPr>
          <p:cNvPr id="1087505" name="Rectangle 17"/>
          <p:cNvSpPr>
            <a:spLocks noChangeArrowheads="1"/>
          </p:cNvSpPr>
          <p:nvPr/>
        </p:nvSpPr>
        <p:spPr bwMode="auto">
          <a:xfrm>
            <a:off x="1185626" y="5442422"/>
            <a:ext cx="7558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latin typeface="+mn-lt"/>
                <a:ea typeface="楷体" pitchFamily="49" charset="-122"/>
              </a:rPr>
              <a:t>在局部变量的说明前加上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就构成静态局部变量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87506" name="Rectangle 18" descr="信纸"/>
          <p:cNvSpPr>
            <a:spLocks noChangeArrowheads="1"/>
          </p:cNvSpPr>
          <p:nvPr/>
        </p:nvSpPr>
        <p:spPr bwMode="auto">
          <a:xfrm>
            <a:off x="5735960" y="5058247"/>
            <a:ext cx="5813514" cy="122555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CC0000"/>
                </a:solidFill>
                <a:ea typeface="隶书" pitchFamily="49" charset="-122"/>
              </a:rPr>
              <a:t>例如：</a:t>
            </a:r>
          </a:p>
          <a:p>
            <a:pPr marL="457200" indent="-457200"/>
            <a:r>
              <a:rPr lang="zh-CN" altLang="en-US" b="1" dirty="0"/>
              <a:t>  </a:t>
            </a:r>
            <a:r>
              <a:rPr lang="en-US" altLang="zh-CN" b="1" dirty="0">
                <a:solidFill>
                  <a:srgbClr val="CC0000"/>
                </a:solidFill>
              </a:rPr>
              <a:t>static</a:t>
            </a:r>
            <a:r>
              <a:rPr lang="en-US" altLang="zh-CN" b="1" dirty="0"/>
              <a:t> </a:t>
            </a:r>
            <a:r>
              <a:rPr lang="en-US" altLang="zh-CN" b="1" dirty="0" err="1"/>
              <a:t>int</a:t>
            </a:r>
            <a:r>
              <a:rPr lang="en-US" altLang="zh-CN" b="1" dirty="0"/>
              <a:t> a, b;</a:t>
            </a:r>
          </a:p>
          <a:p>
            <a:pPr marL="457200" indent="-457200"/>
            <a:r>
              <a:rPr lang="en-US" altLang="zh-CN" b="1" dirty="0">
                <a:solidFill>
                  <a:srgbClr val="CC0000"/>
                </a:solidFill>
              </a:rPr>
              <a:t>  static</a:t>
            </a:r>
            <a:r>
              <a:rPr lang="en-US" altLang="zh-CN" b="1" dirty="0"/>
              <a:t> float array[5] = {1, 2, 3, 4, 5}</a:t>
            </a:r>
            <a:r>
              <a:rPr lang="zh-CN" altLang="en-US" b="1" dirty="0"/>
              <a:t>；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47FFF6-003E-4FA1-981E-CFD877219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F2B5617-9FE3-4373-A30D-A2E158D4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0875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0875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502" grpId="0"/>
      <p:bldP spid="1087504" grpId="0"/>
      <p:bldP spid="1087505" grpId="0"/>
      <p:bldP spid="1087506" grpId="0" animBg="1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48" name="Rectangle 12"/>
          <p:cNvSpPr>
            <a:spLocks noChangeArrowheads="1"/>
          </p:cNvSpPr>
          <p:nvPr/>
        </p:nvSpPr>
        <p:spPr bwMode="auto">
          <a:xfrm>
            <a:off x="1325057" y="2248091"/>
            <a:ext cx="10663326" cy="211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静态局部变量与自动变量均属于局部变量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静态局部变量生存期</a:t>
            </a:r>
            <a:r>
              <a:rPr lang="zh-CN" altLang="en-US" b="1" dirty="0">
                <a:latin typeface="+mn-lt"/>
                <a:ea typeface="楷体" pitchFamily="49" charset="-122"/>
              </a:rPr>
              <a:t>长，</a:t>
            </a:r>
            <a:r>
              <a:rPr lang="zh-CN" altLang="zh-CN" b="1" dirty="0">
                <a:latin typeface="+mn-lt"/>
                <a:ea typeface="楷体" pitchFamily="49" charset="-122"/>
              </a:rPr>
              <a:t>为整个源程序。自动变量生存期短。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静态局部变量的生存期虽然为整个源程序，但是其作用域仍与自动变量相同 </a:t>
            </a:r>
          </a:p>
        </p:txBody>
      </p:sp>
      <p:sp>
        <p:nvSpPr>
          <p:cNvPr id="1089549" name="Rectangle 13" descr="信纸"/>
          <p:cNvSpPr>
            <a:spLocks noChangeArrowheads="1"/>
          </p:cNvSpPr>
          <p:nvPr/>
        </p:nvSpPr>
        <p:spPr bwMode="auto">
          <a:xfrm>
            <a:off x="1991544" y="2350581"/>
            <a:ext cx="6440154" cy="4092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func</a:t>
            </a:r>
            <a:r>
              <a:rPr lang="en-US" altLang="zh-CN" sz="2000" b="1" dirty="0"/>
              <a:t> ( 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  <a:r>
              <a:rPr lang="en-US" altLang="zh-CN" sz="2000" b="1" dirty="0"/>
              <a:t> 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a; </a:t>
            </a:r>
          </a:p>
          <a:p>
            <a:pPr marL="457200" indent="-457200"/>
            <a:r>
              <a:rPr lang="en-US" altLang="zh-CN" sz="2000" b="1" dirty="0"/>
              <a:t>  a = s + 5; </a:t>
            </a:r>
          </a:p>
          <a:p>
            <a:pPr marL="457200" indent="-457200"/>
            <a:r>
              <a:rPr lang="en-US" altLang="zh-CN" sz="2000" b="1" dirty="0"/>
              <a:t>  ……                                    </a:t>
            </a:r>
          </a:p>
          <a:p>
            <a:pPr marL="457200" indent="-457200"/>
            <a:r>
              <a:rPr lang="en-US" altLang="zh-CN" sz="2000" b="1" dirty="0"/>
              <a:t>}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void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func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( 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 static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s;  </a:t>
            </a:r>
          </a:p>
          <a:p>
            <a:pPr marL="457200" indent="-457200"/>
            <a:r>
              <a:rPr lang="en-US" altLang="zh-CN" sz="2000" b="1" dirty="0"/>
              <a:t>   ……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089550" name="Rectangle 14"/>
          <p:cNvSpPr>
            <a:spLocks noChangeArrowheads="1"/>
          </p:cNvSpPr>
          <p:nvPr/>
        </p:nvSpPr>
        <p:spPr bwMode="auto">
          <a:xfrm>
            <a:off x="2190288" y="5446092"/>
            <a:ext cx="1512888" cy="360363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9551" name="AutoShape 15"/>
          <p:cNvSpPr>
            <a:spLocks/>
          </p:cNvSpPr>
          <p:nvPr/>
        </p:nvSpPr>
        <p:spPr bwMode="auto">
          <a:xfrm>
            <a:off x="4782677" y="4420567"/>
            <a:ext cx="1368425" cy="792163"/>
          </a:xfrm>
          <a:prstGeom prst="borderCallout2">
            <a:avLst>
              <a:gd name="adj1" fmla="val 14431"/>
              <a:gd name="adj2" fmla="val -5569"/>
              <a:gd name="adj3" fmla="val 14431"/>
              <a:gd name="adj4" fmla="val -54060"/>
              <a:gd name="adj5" fmla="val 126454"/>
              <a:gd name="adj6" fmla="val -115315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01920"/>
                </a:solidFill>
                <a:latin typeface="+mn-lt"/>
                <a:ea typeface="楷体" pitchFamily="49" charset="-122"/>
              </a:rPr>
              <a:t>定义静态局部变量</a:t>
            </a:r>
            <a:r>
              <a:rPr lang="en-US" altLang="zh-CN" sz="2000" b="1">
                <a:solidFill>
                  <a:srgbClr val="C01920"/>
                </a:solidFill>
                <a:latin typeface="+mn-lt"/>
                <a:ea typeface="楷体" pitchFamily="49" charset="-122"/>
              </a:rPr>
              <a:t>s</a:t>
            </a:r>
          </a:p>
        </p:txBody>
      </p:sp>
      <p:sp>
        <p:nvSpPr>
          <p:cNvPr id="1089552" name="Oval 16"/>
          <p:cNvSpPr>
            <a:spLocks noChangeArrowheads="1"/>
          </p:cNvSpPr>
          <p:nvPr/>
        </p:nvSpPr>
        <p:spPr bwMode="auto">
          <a:xfrm>
            <a:off x="2522077" y="3647455"/>
            <a:ext cx="244475" cy="358775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89553" name="Group 17"/>
          <p:cNvGrpSpPr>
            <a:grpSpLocks/>
          </p:cNvGrpSpPr>
          <p:nvPr/>
        </p:nvGrpSpPr>
        <p:grpSpPr bwMode="auto">
          <a:xfrm>
            <a:off x="2737977" y="3098179"/>
            <a:ext cx="2116137" cy="792162"/>
            <a:chOff x="838" y="2795"/>
            <a:chExt cx="1333" cy="499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</p:grpSpPr>
        <p:sp>
          <p:nvSpPr>
            <p:cNvPr id="1089554" name="AutoShape 18"/>
            <p:cNvSpPr>
              <a:spLocks noChangeArrowheads="1"/>
            </p:cNvSpPr>
            <p:nvPr/>
          </p:nvSpPr>
          <p:spPr bwMode="auto">
            <a:xfrm>
              <a:off x="1264" y="2795"/>
              <a:ext cx="907" cy="499"/>
            </a:xfrm>
            <a:prstGeom prst="irregularSeal1">
              <a:avLst/>
            </a:prstGeom>
            <a:grpFill/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89555" name="Line 19"/>
            <p:cNvSpPr>
              <a:spLocks noChangeShapeType="1"/>
            </p:cNvSpPr>
            <p:nvPr/>
          </p:nvSpPr>
          <p:spPr bwMode="auto">
            <a:xfrm flipV="1">
              <a:off x="838" y="3031"/>
              <a:ext cx="454" cy="136"/>
            </a:xfrm>
            <a:prstGeom prst="line">
              <a:avLst/>
            </a:prstGeom>
            <a:grp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1920"/>
                </a:solidFill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89562" name="Group 26"/>
          <p:cNvGrpSpPr>
            <a:grpSpLocks/>
          </p:cNvGrpSpPr>
          <p:nvPr/>
        </p:nvGrpSpPr>
        <p:grpSpPr bwMode="auto">
          <a:xfrm>
            <a:off x="2152189" y="5590555"/>
            <a:ext cx="5224463" cy="731837"/>
            <a:chOff x="860" y="3657"/>
            <a:chExt cx="3291" cy="461"/>
          </a:xfrm>
        </p:grpSpPr>
        <p:grpSp>
          <p:nvGrpSpPr>
            <p:cNvPr id="1089557" name="Group 21"/>
            <p:cNvGrpSpPr>
              <a:grpSpLocks/>
            </p:cNvGrpSpPr>
            <p:nvPr/>
          </p:nvGrpSpPr>
          <p:grpSpPr bwMode="auto">
            <a:xfrm>
              <a:off x="860" y="3657"/>
              <a:ext cx="2403" cy="461"/>
              <a:chOff x="851" y="3285"/>
              <a:chExt cx="2403" cy="725"/>
            </a:xfrm>
          </p:grpSpPr>
          <p:sp>
            <p:nvSpPr>
              <p:cNvPr id="1089558" name="Line 22"/>
              <p:cNvSpPr>
                <a:spLocks noChangeShapeType="1"/>
              </p:cNvSpPr>
              <p:nvPr/>
            </p:nvSpPr>
            <p:spPr bwMode="auto">
              <a:xfrm>
                <a:off x="1850" y="3285"/>
                <a:ext cx="1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089559" name="Line 23"/>
              <p:cNvSpPr>
                <a:spLocks noChangeShapeType="1"/>
              </p:cNvSpPr>
              <p:nvPr/>
            </p:nvSpPr>
            <p:spPr bwMode="auto">
              <a:xfrm>
                <a:off x="3249" y="328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560" name="Line 24"/>
              <p:cNvSpPr>
                <a:spLocks noChangeShapeType="1"/>
              </p:cNvSpPr>
              <p:nvPr/>
            </p:nvSpPr>
            <p:spPr bwMode="auto">
              <a:xfrm flipH="1">
                <a:off x="851" y="3993"/>
                <a:ext cx="2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89561" name="Rectangle 25"/>
            <p:cNvSpPr>
              <a:spLocks noChangeArrowheads="1"/>
            </p:cNvSpPr>
            <p:nvPr/>
          </p:nvSpPr>
          <p:spPr bwMode="auto">
            <a:xfrm>
              <a:off x="3244" y="3729"/>
              <a:ext cx="9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s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20" name="Text Box 14">
            <a:extLst>
              <a:ext uri="{FF2B5EF4-FFF2-40B4-BE49-F238E27FC236}">
                <a16:creationId xmlns:a16="http://schemas.microsoft.com/office/drawing/2014/main" id="{5CAF5962-22E5-42CE-BA39-7D3FAC79A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574" y="1484784"/>
            <a:ext cx="496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静态局部变量与自动变量之比较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B6567066-CD9D-45F5-AF0C-AE00395E3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81B001E-7948-41D3-8561-6F9649B3B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89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0895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089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089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89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89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549" grpId="0" animBg="1"/>
      <p:bldP spid="1089550" grpId="0" animBg="1"/>
      <p:bldP spid="1089551" grpId="0" animBg="1"/>
      <p:bldP spid="1089552" grpId="0" animBg="1"/>
      <p:bldP spid="20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90" name="Rectangle 6"/>
          <p:cNvSpPr>
            <a:spLocks noChangeArrowheads="1"/>
          </p:cNvSpPr>
          <p:nvPr/>
        </p:nvSpPr>
        <p:spPr bwMode="auto">
          <a:xfrm>
            <a:off x="1271464" y="2060735"/>
            <a:ext cx="8318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静态局部变量若在定义时未赋初值，则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系统自动赋初值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0</a:t>
            </a:r>
          </a:p>
          <a:p>
            <a:pPr>
              <a:buClr>
                <a:srgbClr val="C01920"/>
              </a:buClr>
              <a:buFont typeface="Wingdings" pitchFamily="2" charset="2"/>
              <a:buChar char="l"/>
            </a:pPr>
            <a:endParaRPr lang="en-US" altLang="zh-CN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en-US" b="1" dirty="0">
                <a:latin typeface="+mn-lt"/>
                <a:ea typeface="楷体" pitchFamily="49" charset="-122"/>
              </a:rPr>
              <a:t>静态局部变量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赋初值只一次</a:t>
            </a:r>
            <a:r>
              <a:rPr lang="zh-CN" altLang="en-US" b="1" dirty="0">
                <a:latin typeface="+mn-lt"/>
                <a:ea typeface="楷体" pitchFamily="49" charset="-122"/>
              </a:rPr>
              <a:t>，而自动变量赋初值可能多次</a:t>
            </a:r>
          </a:p>
        </p:txBody>
      </p:sp>
      <p:sp>
        <p:nvSpPr>
          <p:cNvPr id="1091605" name="Rectangle 21" descr="信纸"/>
          <p:cNvSpPr>
            <a:spLocks noChangeArrowheads="1"/>
          </p:cNvSpPr>
          <p:nvPr/>
        </p:nvSpPr>
        <p:spPr bwMode="auto">
          <a:xfrm>
            <a:off x="6643812" y="1500188"/>
            <a:ext cx="4608000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函数说明</a:t>
            </a: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&lt;= 5;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++)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函数调用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函数定义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static </a:t>
            </a:r>
            <a:r>
              <a:rPr lang="en-US" altLang="zh-CN" sz="2000" b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 j =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++j;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j);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91608" name="Rectangle 24"/>
          <p:cNvSpPr>
            <a:spLocks noChangeArrowheads="1"/>
          </p:cNvSpPr>
          <p:nvPr/>
        </p:nvSpPr>
        <p:spPr bwMode="auto">
          <a:xfrm>
            <a:off x="6945438" y="5180934"/>
            <a:ext cx="1584325" cy="360363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609" name="AutoShape 25"/>
          <p:cNvSpPr>
            <a:spLocks/>
          </p:cNvSpPr>
          <p:nvPr/>
        </p:nvSpPr>
        <p:spPr bwMode="auto">
          <a:xfrm>
            <a:off x="9059988" y="5021940"/>
            <a:ext cx="1368425" cy="433387"/>
          </a:xfrm>
          <a:prstGeom prst="borderCallout2">
            <a:avLst>
              <a:gd name="adj1" fmla="val 26375"/>
              <a:gd name="adj2" fmla="val -5569"/>
              <a:gd name="adj3" fmla="val 26375"/>
              <a:gd name="adj4" fmla="val -20069"/>
              <a:gd name="adj5" fmla="val 77657"/>
              <a:gd name="adj6" fmla="val -38398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静态变量</a:t>
            </a:r>
            <a:endParaRPr lang="zh-CN" altLang="en-US" sz="2000" b="1">
              <a:solidFill>
                <a:schemeClr val="accent2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91611" name="Rectangle 27"/>
          <p:cNvSpPr>
            <a:spLocks noChangeArrowheads="1"/>
          </p:cNvSpPr>
          <p:nvPr/>
        </p:nvSpPr>
        <p:spPr bwMode="auto">
          <a:xfrm>
            <a:off x="9170577" y="5829328"/>
            <a:ext cx="1871662" cy="8001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1 2 3 4 5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D58CF5D7-A131-48C6-9F13-AA9F2B7B4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574" y="1484784"/>
            <a:ext cx="496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静态局部变量与自动变量之比较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B89F6F4-6EA2-4286-B918-774346A41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F9E57F2-6F4F-42C0-B8B5-CA90D2D0F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91604" name="Rectangle 20" descr="信纸"/>
          <p:cNvSpPr>
            <a:spLocks noChangeArrowheads="1"/>
          </p:cNvSpPr>
          <p:nvPr/>
        </p:nvSpPr>
        <p:spPr bwMode="auto">
          <a:xfrm>
            <a:off x="1415480" y="1508586"/>
            <a:ext cx="4608884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函数说明</a:t>
            </a: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&lt;= 5;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++)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函数调用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函数定义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auto </a:t>
            </a:r>
            <a:r>
              <a:rPr lang="en-US" altLang="zh-CN" sz="2000" b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 j =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++j;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j);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91606" name="Rectangle 22"/>
          <p:cNvSpPr>
            <a:spLocks noChangeArrowheads="1"/>
          </p:cNvSpPr>
          <p:nvPr/>
        </p:nvSpPr>
        <p:spPr bwMode="auto">
          <a:xfrm>
            <a:off x="1692920" y="5216846"/>
            <a:ext cx="1512888" cy="360362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607" name="AutoShape 23"/>
          <p:cNvSpPr>
            <a:spLocks/>
          </p:cNvSpPr>
          <p:nvPr/>
        </p:nvSpPr>
        <p:spPr bwMode="auto">
          <a:xfrm>
            <a:off x="3864621" y="5008883"/>
            <a:ext cx="1368425" cy="433388"/>
          </a:xfrm>
          <a:prstGeom prst="borderCallout2">
            <a:avLst>
              <a:gd name="adj1" fmla="val 26375"/>
              <a:gd name="adj2" fmla="val -5569"/>
              <a:gd name="adj3" fmla="val 26375"/>
              <a:gd name="adj4" fmla="val -24593"/>
              <a:gd name="adj5" fmla="val 93773"/>
              <a:gd name="adj6" fmla="val -48491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自动变量</a:t>
            </a:r>
            <a:endParaRPr lang="zh-CN" altLang="en-US" sz="2000" b="1">
              <a:solidFill>
                <a:schemeClr val="accent2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91610" name="Rectangle 26"/>
          <p:cNvSpPr>
            <a:spLocks noChangeArrowheads="1"/>
          </p:cNvSpPr>
          <p:nvPr/>
        </p:nvSpPr>
        <p:spPr bwMode="auto">
          <a:xfrm>
            <a:off x="3936306" y="5869260"/>
            <a:ext cx="1871662" cy="8001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1 1 1 1 1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1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1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91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1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091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91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091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091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91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1091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605" grpId="0" animBg="1"/>
      <p:bldP spid="1091608" grpId="0" animBg="1"/>
      <p:bldP spid="1091609" grpId="0" animBg="1"/>
      <p:bldP spid="1091611" grpId="0" animBg="1"/>
      <p:bldP spid="15" grpId="0"/>
      <p:bldP spid="17" grpId="0"/>
      <p:bldP spid="1091604" grpId="0" animBg="1"/>
      <p:bldP spid="1091606" grpId="0" animBg="1"/>
      <p:bldP spid="1091607" grpId="0" animBg="1"/>
      <p:bldP spid="10916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8" name="Rectangle 6"/>
          <p:cNvSpPr>
            <a:spLocks noChangeArrowheads="1"/>
          </p:cNvSpPr>
          <p:nvPr/>
        </p:nvSpPr>
        <p:spPr bwMode="auto">
          <a:xfrm>
            <a:off x="832937" y="1918901"/>
            <a:ext cx="1052612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全局变量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latin typeface="+mn-lt"/>
                <a:ea typeface="楷体" pitchFamily="49" charset="-122"/>
              </a:rPr>
              <a:t>外部变量</a:t>
            </a:r>
            <a:r>
              <a:rPr lang="en-US" altLang="zh-CN" b="1" dirty="0"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latin typeface="+mn-lt"/>
                <a:ea typeface="楷体" pitchFamily="49" charset="-122"/>
              </a:rPr>
              <a:t>的说明之前再冠以</a:t>
            </a:r>
            <a:r>
              <a:rPr lang="en-US" altLang="zh-CN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就构成了</a:t>
            </a:r>
            <a:r>
              <a:rPr lang="zh-CN" altLang="en-US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静态全局变量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 全局变量改变为静态变量后是改变了它的作用域，限制了它的使用范围。当一个源程序由多个源文件组成时，非静态的全局变量可通过外部变量说明使其在整个源程序中都有效。而</a:t>
            </a:r>
            <a:r>
              <a:rPr lang="zh-CN" altLang="en-US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静态全局变量只在定义该变量的源文件内有效</a:t>
            </a:r>
            <a:r>
              <a:rPr lang="zh-CN" altLang="en-US" b="1" dirty="0">
                <a:latin typeface="+mn-lt"/>
                <a:ea typeface="楷体" pitchFamily="49" charset="-122"/>
              </a:rPr>
              <a:t>，在同一源程序的其它源文件中不能通过外部变量说明来使用它。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7" name="Rectangle 15" descr="信纸"/>
          <p:cNvSpPr>
            <a:spLocks noChangeArrowheads="1"/>
          </p:cNvSpPr>
          <p:nvPr/>
        </p:nvSpPr>
        <p:spPr bwMode="auto">
          <a:xfrm>
            <a:off x="1775968" y="3093025"/>
            <a:ext cx="4032000" cy="3051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 algn="ctr"/>
            <a:r>
              <a:rPr lang="en-US" altLang="zh-CN" b="1" u="sng" dirty="0">
                <a:solidFill>
                  <a:srgbClr val="C01920"/>
                </a:solidFill>
                <a:latin typeface="+mn-lt"/>
                <a:ea typeface="楷体" pitchFamily="49" charset="-122"/>
              </a:rPr>
              <a:t>prg1.cpp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</a:t>
            </a:r>
          </a:p>
          <a:p>
            <a:pPr marL="457200" indent="-457200" algn="ctr"/>
            <a:r>
              <a:rPr lang="en-US" altLang="zh-CN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latin typeface="+mn-lt"/>
                <a:ea typeface="楷体" pitchFamily="49" charset="-122"/>
              </a:rPr>
              <a:t>                         </a:t>
            </a:r>
          </a:p>
          <a:p>
            <a:pPr marL="457200" indent="-457200"/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b;      </a:t>
            </a:r>
          </a:p>
          <a:p>
            <a:pPr marL="457200" indent="-457200"/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static char 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; </a:t>
            </a:r>
          </a:p>
          <a:p>
            <a:pPr marL="457200" indent="-457200"/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{                                 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  ……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}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8" name="Rectangle 16" descr="信纸"/>
          <p:cNvSpPr>
            <a:spLocks noChangeArrowheads="1"/>
          </p:cNvSpPr>
          <p:nvPr/>
        </p:nvSpPr>
        <p:spPr bwMode="auto">
          <a:xfrm>
            <a:off x="6672138" y="3118316"/>
            <a:ext cx="4032374" cy="30469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en-US" altLang="zh-CN" b="1" u="sng" dirty="0">
                <a:solidFill>
                  <a:srgbClr val="C01920"/>
                </a:solidFill>
                <a:latin typeface="+mn-lt"/>
                <a:ea typeface="楷体" pitchFamily="49" charset="-122"/>
              </a:rPr>
              <a:t>prg2.cpp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</a:t>
            </a:r>
          </a:p>
          <a:p>
            <a:pPr marL="457200" indent="-457200" algn="ctr"/>
            <a:r>
              <a:rPr lang="en-US" altLang="zh-CN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latin typeface="+mn-lt"/>
                <a:ea typeface="楷体" pitchFamily="49" charset="-122"/>
              </a:rPr>
              <a:t>                        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extern int a, b;      </a:t>
            </a:r>
          </a:p>
          <a:p>
            <a:pPr marL="457200" indent="-457200"/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extern char 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;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int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func</a:t>
            </a:r>
            <a:r>
              <a:rPr lang="en-US" altLang="zh-CN" b="1" dirty="0">
                <a:latin typeface="+mn-lt"/>
                <a:ea typeface="楷体" pitchFamily="49" charset="-122"/>
              </a:rPr>
              <a:t> (int x, int y )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{                                 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  ……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}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9" name="Rectangle 17"/>
          <p:cNvSpPr>
            <a:spLocks noChangeArrowheads="1"/>
          </p:cNvSpPr>
          <p:nvPr/>
        </p:nvSpPr>
        <p:spPr bwMode="auto">
          <a:xfrm>
            <a:off x="1823594" y="3885188"/>
            <a:ext cx="1512887" cy="35718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650" name="AutoShape 18"/>
          <p:cNvSpPr>
            <a:spLocks/>
          </p:cNvSpPr>
          <p:nvPr/>
        </p:nvSpPr>
        <p:spPr bwMode="auto">
          <a:xfrm>
            <a:off x="4081019" y="3562432"/>
            <a:ext cx="1368425" cy="720725"/>
          </a:xfrm>
          <a:prstGeom prst="borderCallout2">
            <a:avLst>
              <a:gd name="adj1" fmla="val 15861"/>
              <a:gd name="adj2" fmla="val -5569"/>
              <a:gd name="adj3" fmla="val 15861"/>
              <a:gd name="adj4" fmla="val -37472"/>
              <a:gd name="adj5" fmla="val 55709"/>
              <a:gd name="adj6" fmla="val -53263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外部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全局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变量定义</a:t>
            </a:r>
          </a:p>
        </p:txBody>
      </p:sp>
      <p:sp>
        <p:nvSpPr>
          <p:cNvPr id="1093651" name="Rectangle 19"/>
          <p:cNvSpPr>
            <a:spLocks noChangeArrowheads="1"/>
          </p:cNvSpPr>
          <p:nvPr/>
        </p:nvSpPr>
        <p:spPr bwMode="auto">
          <a:xfrm>
            <a:off x="1839469" y="4301113"/>
            <a:ext cx="1881187" cy="35718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652" name="AutoShape 20"/>
          <p:cNvSpPr>
            <a:spLocks/>
          </p:cNvSpPr>
          <p:nvPr/>
        </p:nvSpPr>
        <p:spPr bwMode="auto">
          <a:xfrm>
            <a:off x="4082606" y="5053588"/>
            <a:ext cx="1368425" cy="720725"/>
          </a:xfrm>
          <a:prstGeom prst="borderCallout2">
            <a:avLst>
              <a:gd name="adj1" fmla="val 15861"/>
              <a:gd name="adj2" fmla="val -5569"/>
              <a:gd name="adj3" fmla="val 15861"/>
              <a:gd name="adj4" fmla="val -19606"/>
              <a:gd name="adj5" fmla="val -54407"/>
              <a:gd name="adj6" fmla="val -37472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静态全局变量定义</a:t>
            </a:r>
          </a:p>
        </p:txBody>
      </p:sp>
      <p:sp>
        <p:nvSpPr>
          <p:cNvPr id="1093653" name="Rectangle 21"/>
          <p:cNvSpPr>
            <a:spLocks noChangeArrowheads="1"/>
          </p:cNvSpPr>
          <p:nvPr/>
        </p:nvSpPr>
        <p:spPr bwMode="auto">
          <a:xfrm>
            <a:off x="6745162" y="4297828"/>
            <a:ext cx="2087562" cy="357188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93657" name="Group 25"/>
          <p:cNvGrpSpPr>
            <a:grpSpLocks/>
          </p:cNvGrpSpPr>
          <p:nvPr/>
        </p:nvGrpSpPr>
        <p:grpSpPr bwMode="auto">
          <a:xfrm>
            <a:off x="8832304" y="3573065"/>
            <a:ext cx="1655763" cy="1008063"/>
            <a:chOff x="4422" y="2296"/>
            <a:chExt cx="1043" cy="635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093655" name="AutoShape 23"/>
            <p:cNvSpPr>
              <a:spLocks noChangeArrowheads="1"/>
            </p:cNvSpPr>
            <p:nvPr/>
          </p:nvSpPr>
          <p:spPr bwMode="auto">
            <a:xfrm>
              <a:off x="4558" y="2296"/>
              <a:ext cx="907" cy="499"/>
            </a:xfrm>
            <a:prstGeom prst="irregularSeal1">
              <a:avLst/>
            </a:prstGeom>
            <a:grpFill/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93656" name="Line 24"/>
            <p:cNvSpPr>
              <a:spLocks noChangeShapeType="1"/>
            </p:cNvSpPr>
            <p:nvPr/>
          </p:nvSpPr>
          <p:spPr bwMode="auto">
            <a:xfrm flipV="1">
              <a:off x="4422" y="2659"/>
              <a:ext cx="363" cy="272"/>
            </a:xfrm>
            <a:prstGeom prst="line">
              <a:avLst/>
            </a:prstGeom>
            <a:grp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7" name="Text Box 14">
            <a:extLst>
              <a:ext uri="{FF2B5EF4-FFF2-40B4-BE49-F238E27FC236}">
                <a16:creationId xmlns:a16="http://schemas.microsoft.com/office/drawing/2014/main" id="{CEB3983E-B97F-4AF5-8233-5CD4AE46F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574" y="1484784"/>
            <a:ext cx="496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静态全局变量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B630BACA-5AF3-42EE-86C0-4C8CE224B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4AF5914-E2FF-40B6-9B02-9D146CF1D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3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3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93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3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0936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93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093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093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93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1093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3647" grpId="0" animBg="1"/>
      <p:bldP spid="1093648" grpId="0" animBg="1"/>
      <p:bldP spid="1093649" grpId="0" animBg="1"/>
      <p:bldP spid="1093650" grpId="0" animBg="1"/>
      <p:bldP spid="1093651" grpId="0" animBg="1"/>
      <p:bldP spid="1093652" grpId="0" animBg="1"/>
      <p:bldP spid="1093653" grpId="0" animBg="1"/>
      <p:bldP spid="17" grpId="0"/>
      <p:bldP spid="1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5" name="Rectangle 7"/>
          <p:cNvSpPr>
            <a:spLocks noChangeArrowheads="1"/>
          </p:cNvSpPr>
          <p:nvPr/>
        </p:nvSpPr>
        <p:spPr bwMode="auto">
          <a:xfrm>
            <a:off x="839788" y="1904977"/>
            <a:ext cx="1072300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这种变量存放在</a:t>
            </a:r>
            <a:r>
              <a:rPr lang="en-US" altLang="zh-CN" b="1" dirty="0"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latin typeface="+mn-lt"/>
                <a:ea typeface="楷体" pitchFamily="49" charset="-122"/>
              </a:rPr>
              <a:t>的寄存器中，使用时，不需要访问内存，而直接从寄存器中读写，这样可提高效率。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寄存器变量的说明符是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register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，属于动态存储类型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7739" name="Rectangle 11" descr="信纸"/>
          <p:cNvSpPr>
            <a:spLocks noChangeArrowheads="1"/>
          </p:cNvSpPr>
          <p:nvPr/>
        </p:nvSpPr>
        <p:spPr bwMode="auto">
          <a:xfrm>
            <a:off x="983432" y="2689807"/>
            <a:ext cx="4859337" cy="30469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C00000"/>
                </a:solidFill>
              </a:rPr>
              <a:t>register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, s = 0;</a:t>
            </a:r>
          </a:p>
          <a:p>
            <a:pPr marL="457200" indent="-457200"/>
            <a:r>
              <a:rPr lang="en-US" altLang="zh-CN" b="1" dirty="0"/>
              <a:t>   for (</a:t>
            </a:r>
            <a:r>
              <a:rPr lang="en-US" altLang="zh-CN" b="1" dirty="0" err="1"/>
              <a:t>i</a:t>
            </a:r>
            <a:r>
              <a:rPr lang="en-US" altLang="zh-CN" b="1" dirty="0"/>
              <a:t> = 1; </a:t>
            </a:r>
            <a:r>
              <a:rPr lang="en-US" altLang="zh-CN" b="1" dirty="0" err="1"/>
              <a:t>i</a:t>
            </a:r>
            <a:r>
              <a:rPr lang="en-US" altLang="zh-CN" b="1" dirty="0"/>
              <a:t> &lt;= 100; </a:t>
            </a:r>
            <a:r>
              <a:rPr lang="en-US" altLang="zh-CN" b="1" dirty="0" err="1"/>
              <a:t>i</a:t>
            </a:r>
            <a:r>
              <a:rPr lang="en-US" altLang="zh-CN" b="1" dirty="0"/>
              <a:t>++)</a:t>
            </a:r>
          </a:p>
          <a:p>
            <a:pPr marL="457200" indent="-457200"/>
            <a:r>
              <a:rPr lang="en-US" altLang="zh-CN" b="1" dirty="0"/>
              <a:t>      s = s +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("s = %d\n", s);</a:t>
            </a:r>
          </a:p>
          <a:p>
            <a:pPr marL="457200" indent="-457200"/>
            <a:r>
              <a:rPr lang="en-US" altLang="zh-CN" b="1" dirty="0"/>
              <a:t> 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97740" name="Rectangle 12"/>
          <p:cNvSpPr>
            <a:spLocks noChangeArrowheads="1"/>
          </p:cNvSpPr>
          <p:nvPr/>
        </p:nvSpPr>
        <p:spPr bwMode="auto">
          <a:xfrm>
            <a:off x="4765054" y="5004784"/>
            <a:ext cx="6947570" cy="156966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zh-CN" altLang="en-US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几点说明：</a:t>
            </a:r>
            <a:endParaRPr lang="zh-CN" altLang="en-US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pPr marL="360363" indent="-360363">
              <a:buClr>
                <a:srgbClr val="C01920"/>
              </a:buClr>
              <a:buFont typeface="Wingdings" pitchFamily="2" charset="2"/>
              <a:buChar char="u"/>
              <a:tabLst>
                <a:tab pos="457200" algn="l"/>
              </a:tabLst>
            </a:pPr>
            <a:r>
              <a:rPr lang="zh-CN" altLang="en-US" b="1" dirty="0">
                <a:latin typeface="+mn-lt"/>
                <a:ea typeface="楷体" pitchFamily="49" charset="-122"/>
              </a:rPr>
              <a:t>只有局部自动变量和形式参数才可以定义为寄存器变量。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01920"/>
              </a:buClr>
              <a:buFont typeface="Wingdings" pitchFamily="2" charset="2"/>
              <a:buChar char="u"/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register</a:t>
            </a:r>
            <a:r>
              <a:rPr lang="zh-CN" altLang="en-US" b="1" dirty="0">
                <a:latin typeface="+mn-lt"/>
                <a:ea typeface="楷体" pitchFamily="49" charset="-122"/>
              </a:rPr>
              <a:t>修饰符是过时的修饰。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0050E13-A756-4090-B7CF-5B51E00F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A92B5B1-D3A0-4EC8-910D-BA3DBAC3F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、寄存器变量（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register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97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97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9" grpId="0" animBg="1"/>
      <p:bldP spid="1097740" grpId="0" animBg="1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43" name="Rectangle 7"/>
          <p:cNvSpPr>
            <a:spLocks noChangeArrowheads="1"/>
          </p:cNvSpPr>
          <p:nvPr/>
        </p:nvSpPr>
        <p:spPr bwMode="auto">
          <a:xfrm>
            <a:off x="899497" y="2058260"/>
            <a:ext cx="48244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、内部函数</a:t>
            </a:r>
          </a:p>
        </p:txBody>
      </p:sp>
      <p:sp>
        <p:nvSpPr>
          <p:cNvPr id="1115174" name="Rectangle 38"/>
          <p:cNvSpPr>
            <a:spLocks noChangeArrowheads="1"/>
          </p:cNvSpPr>
          <p:nvPr/>
        </p:nvSpPr>
        <p:spPr bwMode="auto">
          <a:xfrm>
            <a:off x="510560" y="932723"/>
            <a:ext cx="1134608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函数一旦定义后就可被其它函数调用。但当一个源程序由多个源文件组成时， 在一个源文件中定义的函数能否被其它源文件中的函数调用呢？为此，Ｃ语言又把函数分为两类：</a:t>
            </a:r>
          </a:p>
        </p:txBody>
      </p:sp>
      <p:sp>
        <p:nvSpPr>
          <p:cNvPr id="1115175" name="Rectangle 39"/>
          <p:cNvSpPr>
            <a:spLocks noChangeArrowheads="1"/>
          </p:cNvSpPr>
          <p:nvPr/>
        </p:nvSpPr>
        <p:spPr bwMode="auto">
          <a:xfrm>
            <a:off x="502622" y="2958043"/>
            <a:ext cx="112100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如果在一个源文件中定义的函数只能被本文件中的函数调用，而不能被同一源程序其它文件中的函数调用，这种函数称为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内部函数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zh-CN" altLang="en-US" dirty="0">
              <a:latin typeface="+mn-lt"/>
              <a:ea typeface="楷体" pitchFamily="49" charset="-122"/>
            </a:endParaRPr>
          </a:p>
        </p:txBody>
      </p:sp>
      <p:sp>
        <p:nvSpPr>
          <p:cNvPr id="1115176" name="Rectangle 40"/>
          <p:cNvSpPr>
            <a:spLocks noChangeArrowheads="1"/>
          </p:cNvSpPr>
          <p:nvPr/>
        </p:nvSpPr>
        <p:spPr bwMode="auto">
          <a:xfrm>
            <a:off x="1199579" y="2539752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定义</a:t>
            </a:r>
          </a:p>
        </p:txBody>
      </p:sp>
      <p:sp>
        <p:nvSpPr>
          <p:cNvPr id="1115177" name="Rectangle 41"/>
          <p:cNvSpPr>
            <a:spLocks noChangeArrowheads="1"/>
          </p:cNvSpPr>
          <p:nvPr/>
        </p:nvSpPr>
        <p:spPr bwMode="auto">
          <a:xfrm>
            <a:off x="1186835" y="3716338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b="1">
                <a:solidFill>
                  <a:srgbClr val="C00000"/>
                </a:solidFill>
                <a:latin typeface="+mn-lt"/>
                <a:ea typeface="楷体" pitchFamily="49" charset="-122"/>
              </a:rPr>
              <a:t>一般形式</a:t>
            </a:r>
          </a:p>
        </p:txBody>
      </p:sp>
      <p:sp>
        <p:nvSpPr>
          <p:cNvPr id="1115178" name="Text Box 42"/>
          <p:cNvSpPr txBox="1">
            <a:spLocks noChangeArrowheads="1"/>
          </p:cNvSpPr>
          <p:nvPr/>
        </p:nvSpPr>
        <p:spPr bwMode="auto">
          <a:xfrm>
            <a:off x="1186834" y="4249738"/>
            <a:ext cx="9301654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static  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隶书" pitchFamily="49" charset="-122"/>
              </a:rPr>
              <a:t>类型说明符   函数名（形参表）</a:t>
            </a:r>
          </a:p>
        </p:txBody>
      </p:sp>
      <p:sp>
        <p:nvSpPr>
          <p:cNvPr id="1115179" name="Rectangle 43" descr="信纸"/>
          <p:cNvSpPr>
            <a:spLocks noChangeArrowheads="1"/>
          </p:cNvSpPr>
          <p:nvPr/>
        </p:nvSpPr>
        <p:spPr bwMode="auto">
          <a:xfrm>
            <a:off x="1343472" y="4895889"/>
            <a:ext cx="4104456" cy="16541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C0000"/>
                </a:solidFill>
                <a:ea typeface="隶书" pitchFamily="49" charset="-122"/>
              </a:rPr>
              <a:t>例如：</a:t>
            </a:r>
          </a:p>
          <a:p>
            <a:r>
              <a:rPr lang="en-US" altLang="zh-CN" sz="2000" b="1" dirty="0">
                <a:solidFill>
                  <a:srgbClr val="C00000"/>
                </a:solidFill>
              </a:rPr>
              <a:t>static </a:t>
            </a:r>
            <a:r>
              <a:rPr lang="en-US" altLang="zh-CN" sz="2000" b="1" dirty="0"/>
              <a:t>int </a:t>
            </a:r>
            <a:r>
              <a:rPr lang="en-US" altLang="zh-CN" sz="2000" b="1" dirty="0" err="1"/>
              <a:t>func</a:t>
            </a:r>
            <a:r>
              <a:rPr lang="en-US" altLang="zh-CN" sz="2000" b="1" dirty="0"/>
              <a:t> (int a, int b)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return (a &gt; b ? a : b);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115180" name="Rectangle 44"/>
          <p:cNvSpPr>
            <a:spLocks noChangeArrowheads="1"/>
          </p:cNvSpPr>
          <p:nvPr/>
        </p:nvSpPr>
        <p:spPr bwMode="auto">
          <a:xfrm>
            <a:off x="5663952" y="4934319"/>
            <a:ext cx="4824536" cy="1631216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内部函数也称为</a:t>
            </a:r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静态函数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。但此处静态</a:t>
            </a:r>
            <a:r>
              <a:rPr lang="en-US" altLang="zh-CN" sz="2000" b="1" dirty="0">
                <a:ea typeface="隶书" pitchFamily="49" charset="-122"/>
              </a:rPr>
              <a:t>static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的含义已不是指存储类型，而是指</a:t>
            </a:r>
            <a:r>
              <a:rPr lang="zh-CN" altLang="en-US" sz="20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对函数的作用域只局限于本文件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。因此在不同的源文件中定义同名的静态函数不会引起混淆。</a:t>
            </a:r>
          </a:p>
        </p:txBody>
      </p:sp>
      <p:sp>
        <p:nvSpPr>
          <p:cNvPr id="14" name="Rectangle 43" descr="信纸"/>
          <p:cNvSpPr>
            <a:spLocks noChangeArrowheads="1"/>
          </p:cNvSpPr>
          <p:nvPr/>
        </p:nvSpPr>
        <p:spPr bwMode="auto">
          <a:xfrm>
            <a:off x="899497" y="4892924"/>
            <a:ext cx="10136506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使用内部函数的好处是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不同的开发者可以分别编写不同的函数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而不必担心所使用的函数是否会与其他源文件中的函数同名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因为内部函数只可以在所在的源文件中进行使用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所以即使不同源文件有相同的函数名字也没有关系。</a:t>
            </a:r>
            <a:endParaRPr lang="zh-CN" altLang="en-US" b="1" dirty="0">
              <a:solidFill>
                <a:schemeClr val="tx2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CE3ECB01-3BFC-43D1-AB10-7C8514A12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8.7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函数的作用域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5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15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115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115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115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43" grpId="0"/>
      <p:bldP spid="1115174" grpId="0"/>
      <p:bldP spid="1115175" grpId="0"/>
      <p:bldP spid="1115176" grpId="0"/>
      <p:bldP spid="1115177" grpId="0"/>
      <p:bldP spid="1115178" grpId="0" animBg="1"/>
      <p:bldP spid="1115179" grpId="0" animBg="1" autoUpdateAnimBg="0"/>
      <p:bldP spid="1115180" grpId="0" animBg="1"/>
      <p:bldP spid="14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6" name="Rectangle 6"/>
          <p:cNvSpPr>
            <a:spLocks noChangeArrowheads="1"/>
          </p:cNvSpPr>
          <p:nvPr/>
        </p:nvSpPr>
        <p:spPr bwMode="auto">
          <a:xfrm>
            <a:off x="881521" y="861827"/>
            <a:ext cx="48244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、外部函数</a:t>
            </a:r>
          </a:p>
        </p:txBody>
      </p:sp>
      <p:sp>
        <p:nvSpPr>
          <p:cNvPr id="1116168" name="Rectangle 8"/>
          <p:cNvSpPr>
            <a:spLocks noChangeArrowheads="1"/>
          </p:cNvSpPr>
          <p:nvPr/>
        </p:nvSpPr>
        <p:spPr bwMode="auto">
          <a:xfrm>
            <a:off x="1386685" y="1412776"/>
            <a:ext cx="7885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外部函数在整个源程序中都有效，其定义的一般形式为： </a:t>
            </a:r>
          </a:p>
        </p:txBody>
      </p:sp>
      <p:sp>
        <p:nvSpPr>
          <p:cNvPr id="1116171" name="Text Box 11"/>
          <p:cNvSpPr txBox="1">
            <a:spLocks noChangeArrowheads="1"/>
          </p:cNvSpPr>
          <p:nvPr/>
        </p:nvSpPr>
        <p:spPr bwMode="auto">
          <a:xfrm>
            <a:off x="2387996" y="1988840"/>
            <a:ext cx="7272337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solidFill>
                  <a:srgbClr val="C00000"/>
                </a:solidFill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dirty="0"/>
              <a:t>extern   </a:t>
            </a:r>
            <a:r>
              <a:rPr lang="zh-CN" altLang="en-US" dirty="0"/>
              <a:t>类型说明符   函数名（形参表）</a:t>
            </a:r>
          </a:p>
        </p:txBody>
      </p:sp>
      <p:sp>
        <p:nvSpPr>
          <p:cNvPr id="1116175" name="AutoShape 15"/>
          <p:cNvSpPr>
            <a:spLocks noChangeArrowheads="1"/>
          </p:cNvSpPr>
          <p:nvPr/>
        </p:nvSpPr>
        <p:spPr bwMode="auto">
          <a:xfrm>
            <a:off x="5024882" y="873622"/>
            <a:ext cx="2952750" cy="431800"/>
          </a:xfrm>
          <a:prstGeom prst="wedgeRoundRectCallout">
            <a:avLst>
              <a:gd name="adj1" fmla="val -90106"/>
              <a:gd name="adj2" fmla="val 239704"/>
              <a:gd name="adj3" fmla="val 16667"/>
            </a:avLst>
          </a:prstGeom>
          <a:gradFill flip="none"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  <a:tileRect t="-100000" r="-100000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缺省时，隐含为</a:t>
            </a:r>
            <a:r>
              <a:rPr lang="en-US" altLang="zh-CN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extern</a:t>
            </a:r>
          </a:p>
        </p:txBody>
      </p:sp>
      <p:sp>
        <p:nvSpPr>
          <p:cNvPr id="1116176" name="Rectangle 16" descr="信纸"/>
          <p:cNvSpPr>
            <a:spLocks noChangeArrowheads="1"/>
          </p:cNvSpPr>
          <p:nvPr/>
        </p:nvSpPr>
        <p:spPr bwMode="auto">
          <a:xfrm>
            <a:off x="1562943" y="3062915"/>
            <a:ext cx="3311525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r>
              <a:rPr kumimoji="0" lang="en-US" altLang="zh-CN" sz="2000" b="1" dirty="0">
                <a:solidFill>
                  <a:srgbClr val="CC0000"/>
                </a:solidFill>
                <a:ea typeface="隶书" pitchFamily="49" charset="-122"/>
              </a:rPr>
              <a:t>          prg1.cpp</a:t>
            </a:r>
          </a:p>
          <a:p>
            <a:r>
              <a:rPr lang="en-US" altLang="zh-CN" sz="2000" b="1" dirty="0"/>
              <a:t>extern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func2 ( );</a:t>
            </a:r>
          </a:p>
          <a:p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func2 ( );</a:t>
            </a:r>
          </a:p>
          <a:p>
            <a:r>
              <a:rPr lang="en-US" altLang="zh-CN" sz="2000" b="1" dirty="0"/>
              <a:t>  return 0;</a:t>
            </a:r>
          </a:p>
          <a:p>
            <a:r>
              <a:rPr lang="en-US" altLang="zh-CN" sz="2000" b="1" dirty="0"/>
              <a:t>}</a:t>
            </a:r>
          </a:p>
          <a:p>
            <a:endParaRPr lang="en-US" altLang="zh-CN" sz="2000" b="1" dirty="0"/>
          </a:p>
          <a:p>
            <a:r>
              <a:rPr lang="en-US" altLang="zh-CN" sz="2000" b="1" dirty="0" err="1"/>
              <a:t>int</a:t>
            </a:r>
            <a:r>
              <a:rPr lang="en-US" altLang="zh-CN" sz="2000" b="1" dirty="0"/>
              <a:t> func1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b)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 return (a &gt; b ? a : b);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116177" name="Rectangle 17" descr="信纸"/>
          <p:cNvSpPr>
            <a:spLocks noChangeArrowheads="1"/>
          </p:cNvSpPr>
          <p:nvPr/>
        </p:nvSpPr>
        <p:spPr bwMode="auto">
          <a:xfrm>
            <a:off x="7899821" y="3377931"/>
            <a:ext cx="3370263" cy="2873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>
            <a:spAutoFit/>
          </a:bodyPr>
          <a:lstStyle/>
          <a:p>
            <a:r>
              <a:rPr kumimoji="0" lang="en-US" altLang="zh-CN" sz="2000" b="1" dirty="0">
                <a:solidFill>
                  <a:srgbClr val="CC0000"/>
                </a:solidFill>
                <a:ea typeface="隶书" pitchFamily="49" charset="-122"/>
              </a:rPr>
              <a:t>              prg2.cpp</a:t>
            </a:r>
          </a:p>
          <a:p>
            <a:r>
              <a:rPr lang="en-US" altLang="zh-CN" sz="2000" b="1" dirty="0"/>
              <a:t>extern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func1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b);</a:t>
            </a:r>
          </a:p>
          <a:p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static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int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func2 ( 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y, z;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(“%</a:t>
            </a:r>
            <a:r>
              <a:rPr lang="en-US" altLang="zh-CN" sz="2000" b="1" dirty="0" err="1"/>
              <a:t>d%d</a:t>
            </a:r>
            <a:r>
              <a:rPr lang="en-US" altLang="zh-CN" sz="2000" b="1" dirty="0"/>
              <a:t>”, &amp;x, &amp;y);</a:t>
            </a:r>
          </a:p>
          <a:p>
            <a:r>
              <a:rPr lang="en-US" altLang="zh-CN" sz="2000" b="1" dirty="0"/>
              <a:t>   z = func1 (x, y);</a:t>
            </a:r>
          </a:p>
          <a:p>
            <a:r>
              <a:rPr lang="en-US" altLang="zh-CN" sz="2000" b="1" dirty="0"/>
              <a:t>   return (z);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116178" name="Rectangle 18"/>
          <p:cNvSpPr>
            <a:spLocks noChangeArrowheads="1"/>
          </p:cNvSpPr>
          <p:nvPr/>
        </p:nvSpPr>
        <p:spPr bwMode="auto">
          <a:xfrm>
            <a:off x="1662906" y="3501703"/>
            <a:ext cx="2160587" cy="28733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79" name="AutoShape 19"/>
          <p:cNvSpPr>
            <a:spLocks/>
          </p:cNvSpPr>
          <p:nvPr/>
        </p:nvSpPr>
        <p:spPr bwMode="auto">
          <a:xfrm>
            <a:off x="7971258" y="2442892"/>
            <a:ext cx="1835150" cy="719138"/>
          </a:xfrm>
          <a:prstGeom prst="borderCallout2">
            <a:avLst>
              <a:gd name="adj1" fmla="val 15894"/>
              <a:gd name="adj2" fmla="val 104153"/>
              <a:gd name="adj3" fmla="val 15894"/>
              <a:gd name="adj4" fmla="val 120588"/>
              <a:gd name="adj5" fmla="val 183222"/>
              <a:gd name="adj6" fmla="val 141523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外部函数说明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正确</a:t>
            </a:r>
          </a:p>
        </p:txBody>
      </p:sp>
      <p:grpSp>
        <p:nvGrpSpPr>
          <p:cNvPr id="1116183" name="Group 23"/>
          <p:cNvGrpSpPr>
            <a:grpSpLocks/>
          </p:cNvGrpSpPr>
          <p:nvPr/>
        </p:nvGrpSpPr>
        <p:grpSpPr bwMode="auto">
          <a:xfrm>
            <a:off x="3823543" y="2298132"/>
            <a:ext cx="3744914" cy="1584325"/>
            <a:chOff x="1138" y="1371"/>
            <a:chExt cx="2359" cy="998"/>
          </a:xfr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6181" name="AutoShape 21"/>
            <p:cNvSpPr>
              <a:spLocks noChangeArrowheads="1"/>
            </p:cNvSpPr>
            <p:nvPr/>
          </p:nvSpPr>
          <p:spPr bwMode="auto">
            <a:xfrm>
              <a:off x="1800" y="1371"/>
              <a:ext cx="1697" cy="998"/>
            </a:xfrm>
            <a:prstGeom prst="irregularSeal1">
              <a:avLst/>
            </a:prstGeom>
            <a:grpFill/>
            <a:ln w="28575">
              <a:solidFill>
                <a:srgbClr val="C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外部函数说明</a:t>
              </a:r>
            </a:p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116182" name="Line 22"/>
            <p:cNvSpPr>
              <a:spLocks noChangeShapeType="1"/>
            </p:cNvSpPr>
            <p:nvPr/>
          </p:nvSpPr>
          <p:spPr bwMode="auto">
            <a:xfrm flipV="1">
              <a:off x="1138" y="2033"/>
              <a:ext cx="926" cy="154"/>
            </a:xfrm>
            <a:prstGeom prst="line">
              <a:avLst/>
            </a:prstGeom>
            <a:grpFill/>
            <a:ln w="19050">
              <a:solidFill>
                <a:srgbClr val="C0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16184" name="Rectangle 24"/>
          <p:cNvSpPr>
            <a:spLocks noChangeArrowheads="1"/>
          </p:cNvSpPr>
          <p:nvPr/>
        </p:nvSpPr>
        <p:spPr bwMode="auto">
          <a:xfrm>
            <a:off x="1703512" y="4355778"/>
            <a:ext cx="1108075" cy="3079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16188" name="Group 28"/>
          <p:cNvGrpSpPr>
            <a:grpSpLocks/>
          </p:cNvGrpSpPr>
          <p:nvPr/>
        </p:nvGrpSpPr>
        <p:grpSpPr bwMode="auto">
          <a:xfrm>
            <a:off x="2811586" y="3789040"/>
            <a:ext cx="1873250" cy="874713"/>
            <a:chOff x="1292" y="2380"/>
            <a:chExt cx="1180" cy="551"/>
          </a:xfr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6186" name="AutoShape 26"/>
            <p:cNvSpPr>
              <a:spLocks noChangeArrowheads="1"/>
            </p:cNvSpPr>
            <p:nvPr/>
          </p:nvSpPr>
          <p:spPr bwMode="auto">
            <a:xfrm>
              <a:off x="1559" y="2380"/>
              <a:ext cx="913" cy="551"/>
            </a:xfrm>
            <a:prstGeom prst="irregularSeal1">
              <a:avLst/>
            </a:prstGeom>
            <a:grpFill/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116187" name="Line 27"/>
            <p:cNvSpPr>
              <a:spLocks noChangeShapeType="1"/>
            </p:cNvSpPr>
            <p:nvPr/>
          </p:nvSpPr>
          <p:spPr bwMode="auto">
            <a:xfrm flipV="1">
              <a:off x="1292" y="2750"/>
              <a:ext cx="454" cy="136"/>
            </a:xfrm>
            <a:prstGeom prst="line">
              <a:avLst/>
            </a:prstGeom>
            <a:grp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16189" name="Rectangle 29"/>
          <p:cNvSpPr>
            <a:spLocks noChangeArrowheads="1"/>
          </p:cNvSpPr>
          <p:nvPr/>
        </p:nvSpPr>
        <p:spPr bwMode="auto">
          <a:xfrm>
            <a:off x="7971691" y="3767735"/>
            <a:ext cx="3168650" cy="288925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0" name="Rectangle 30"/>
          <p:cNvSpPr>
            <a:spLocks noChangeArrowheads="1"/>
          </p:cNvSpPr>
          <p:nvPr/>
        </p:nvSpPr>
        <p:spPr bwMode="auto">
          <a:xfrm>
            <a:off x="7971259" y="4098656"/>
            <a:ext cx="2016125" cy="3079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1" name="AutoShape 31"/>
          <p:cNvSpPr>
            <a:spLocks/>
          </p:cNvSpPr>
          <p:nvPr/>
        </p:nvSpPr>
        <p:spPr bwMode="auto">
          <a:xfrm>
            <a:off x="5551908" y="4962255"/>
            <a:ext cx="1835150" cy="431800"/>
          </a:xfrm>
          <a:prstGeom prst="borderCallout2">
            <a:avLst>
              <a:gd name="adj1" fmla="val 26472"/>
              <a:gd name="adj2" fmla="val 104153"/>
              <a:gd name="adj3" fmla="val 26472"/>
              <a:gd name="adj4" fmla="val 115139"/>
              <a:gd name="adj5" fmla="val -157722"/>
              <a:gd name="adj6" fmla="val 129583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内部函数定义    </a:t>
            </a:r>
          </a:p>
        </p:txBody>
      </p:sp>
      <p:sp>
        <p:nvSpPr>
          <p:cNvPr id="1116192" name="Rectangle 32"/>
          <p:cNvSpPr>
            <a:spLocks noChangeArrowheads="1"/>
          </p:cNvSpPr>
          <p:nvPr/>
        </p:nvSpPr>
        <p:spPr bwMode="auto">
          <a:xfrm>
            <a:off x="8101434" y="5300393"/>
            <a:ext cx="2016125" cy="3079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3" name="AutoShape 33"/>
          <p:cNvSpPr>
            <a:spLocks/>
          </p:cNvSpPr>
          <p:nvPr/>
        </p:nvSpPr>
        <p:spPr bwMode="auto">
          <a:xfrm>
            <a:off x="5782095" y="6292580"/>
            <a:ext cx="1835150" cy="431800"/>
          </a:xfrm>
          <a:prstGeom prst="borderCallout2">
            <a:avLst>
              <a:gd name="adj1" fmla="val 26472"/>
              <a:gd name="adj2" fmla="val 104153"/>
              <a:gd name="adj3" fmla="val 26472"/>
              <a:gd name="adj4" fmla="val 115139"/>
              <a:gd name="adj5" fmla="val -157722"/>
              <a:gd name="adj6" fmla="val 129583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引用外部函数    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FDF1DF45-B0BE-445A-B063-72EA42AA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8.7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函数的作用域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16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6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16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16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16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116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116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116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116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116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1116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116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1116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116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1116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66" grpId="0"/>
      <p:bldP spid="1116168" grpId="0"/>
      <p:bldP spid="1116171" grpId="0" animBg="1"/>
      <p:bldP spid="1116175" grpId="0" animBg="1"/>
      <p:bldP spid="1116176" grpId="0" animBg="1" autoUpdateAnimBg="0"/>
      <p:bldP spid="1116177" grpId="0" animBg="1" autoUpdateAnimBg="0"/>
      <p:bldP spid="1116178" grpId="0" animBg="1"/>
      <p:bldP spid="1116179" grpId="0" animBg="1"/>
      <p:bldP spid="1116184" grpId="0" animBg="1"/>
      <p:bldP spid="1116189" grpId="0" animBg="1"/>
      <p:bldP spid="1116190" grpId="0" animBg="1"/>
      <p:bldP spid="1116191" grpId="0" animBg="1"/>
      <p:bldP spid="1116192" grpId="0" animBg="1"/>
      <p:bldP spid="111619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8908" y="1406966"/>
            <a:ext cx="52927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求浮点数的绝对值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fabs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61456" y="1940639"/>
            <a:ext cx="9463136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</a:rPr>
              <a:t>double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</a:rPr>
              <a:t>fabs</a:t>
            </a:r>
            <a:r>
              <a:rPr lang="en-US" altLang="zh-CN" b="1" dirty="0">
                <a:ea typeface="隶书" pitchFamily="49" charset="-122"/>
              </a:rPr>
              <a:t>( double x );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math.h</a:t>
            </a:r>
            <a:endParaRPr lang="zh-CN" altLang="zh-CN" sz="2000" b="1" dirty="0">
              <a:solidFill>
                <a:srgbClr val="CC0099"/>
              </a:solidFill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计算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a typeface="隶书" pitchFamily="49" charset="-122"/>
              </a:rPr>
              <a:t>返值：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返回浮点数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37" name="矩形 36"/>
          <p:cNvSpPr/>
          <p:nvPr/>
        </p:nvSpPr>
        <p:spPr>
          <a:xfrm>
            <a:off x="1967480" y="3284985"/>
            <a:ext cx="9457112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double a = -3.14,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fabs</a:t>
            </a:r>
            <a:r>
              <a:rPr lang="en-US" altLang="zh-CN" b="1" dirty="0">
                <a:latin typeface="+mn-lt"/>
                <a:ea typeface="楷体" pitchFamily="49" charset="-122"/>
              </a:rPr>
              <a:t>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将浮点型变量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3.14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19112" y="4581129"/>
            <a:ext cx="7656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整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数的绝对值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abs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CB17.12</a:t>
            </a:r>
            <a:r>
              <a:rPr lang="zh-CN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下没有该函数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1960000" y="5157193"/>
            <a:ext cx="946459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b="1">
                <a:ea typeface="隶书" pitchFamily="49" charset="-122"/>
              </a:defRPr>
            </a:lvl1pPr>
          </a:lstStyle>
          <a:p>
            <a:r>
              <a:rPr lang="zh-CN" altLang="en-US" dirty="0"/>
              <a:t>格式：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int  </a:t>
            </a:r>
            <a:r>
              <a:rPr lang="en-US" altLang="zh-CN" dirty="0">
                <a:solidFill>
                  <a:srgbClr val="C00000"/>
                </a:solidFill>
                <a:sym typeface="Wingdings" pitchFamily="2" charset="2"/>
              </a:rPr>
              <a:t>abs</a:t>
            </a:r>
            <a:r>
              <a:rPr lang="en-US" altLang="zh-CN" dirty="0">
                <a:sym typeface="Wingdings" pitchFamily="2" charset="2"/>
              </a:rPr>
              <a:t>( int </a:t>
            </a:r>
            <a:r>
              <a:rPr lang="en-US" altLang="zh-CN" dirty="0" err="1">
                <a:sym typeface="Wingdings" pitchFamily="2" charset="2"/>
              </a:rPr>
              <a:t>i</a:t>
            </a:r>
            <a:r>
              <a:rPr lang="en-US" altLang="zh-CN" dirty="0">
                <a:sym typeface="Wingdings" pitchFamily="2" charset="2"/>
              </a:rPr>
              <a:t> );                    </a:t>
            </a:r>
            <a:r>
              <a:rPr lang="en-US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//</a:t>
            </a:r>
            <a:r>
              <a:rPr lang="zh-CN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应包含的</a:t>
            </a:r>
            <a:r>
              <a:rPr lang="en-US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.h</a:t>
            </a:r>
            <a:r>
              <a:rPr lang="zh-CN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文件为</a:t>
            </a:r>
            <a:r>
              <a:rPr lang="en-US" altLang="zh-CN" sz="2000" dirty="0" err="1">
                <a:solidFill>
                  <a:srgbClr val="CF0D9E"/>
                </a:solidFill>
                <a:latin typeface="+mn-lt"/>
                <a:sym typeface="Wingdings" pitchFamily="2" charset="2"/>
              </a:rPr>
              <a:t>math.h</a:t>
            </a:r>
            <a:endParaRPr lang="zh-CN" altLang="zh-CN" sz="2000" dirty="0">
              <a:solidFill>
                <a:srgbClr val="CF0D9E"/>
              </a:solidFill>
              <a:latin typeface="+mn-lt"/>
            </a:endParaRPr>
          </a:p>
          <a:p>
            <a:r>
              <a:rPr lang="zh-CN" altLang="zh-CN" dirty="0"/>
              <a:t>功能：</a:t>
            </a:r>
            <a:r>
              <a:rPr lang="zh-CN" altLang="en-US" dirty="0">
                <a:sym typeface="Wingdings" pitchFamily="2" charset="2"/>
              </a:rPr>
              <a:t>计算整</a:t>
            </a:r>
            <a:r>
              <a:rPr lang="zh-CN" altLang="zh-CN" dirty="0">
                <a:sym typeface="Wingdings" pitchFamily="2" charset="2"/>
              </a:rPr>
              <a:t>数</a:t>
            </a:r>
            <a:r>
              <a:rPr lang="en-US" altLang="zh-CN" dirty="0" err="1">
                <a:sym typeface="Wingdings" pitchFamily="2" charset="2"/>
              </a:rPr>
              <a:t>i</a:t>
            </a:r>
            <a:r>
              <a:rPr lang="zh-CN" altLang="zh-CN" dirty="0">
                <a:sym typeface="Wingdings" pitchFamily="2" charset="2"/>
              </a:rPr>
              <a:t>的绝对值</a:t>
            </a:r>
          </a:p>
          <a:p>
            <a:r>
              <a:rPr lang="zh-CN" altLang="zh-CN" dirty="0"/>
              <a:t>返值：</a:t>
            </a:r>
            <a:r>
              <a:rPr lang="zh-CN" altLang="zh-CN" dirty="0">
                <a:sym typeface="Wingdings" pitchFamily="2" charset="2"/>
              </a:rPr>
              <a:t>返回</a:t>
            </a:r>
            <a:r>
              <a:rPr lang="zh-CN" altLang="en-US" dirty="0">
                <a:sym typeface="Wingdings" pitchFamily="2" charset="2"/>
              </a:rPr>
              <a:t>整</a:t>
            </a:r>
            <a:r>
              <a:rPr lang="zh-CN" altLang="zh-CN" dirty="0">
                <a:sym typeface="Wingdings" pitchFamily="2" charset="2"/>
              </a:rPr>
              <a:t>数</a:t>
            </a:r>
            <a:r>
              <a:rPr lang="en-US" altLang="zh-CN" dirty="0">
                <a:sym typeface="Wingdings" pitchFamily="2" charset="2"/>
              </a:rPr>
              <a:t>x</a:t>
            </a:r>
            <a:r>
              <a:rPr lang="zh-CN" altLang="zh-CN" dirty="0">
                <a:sym typeface="Wingdings" pitchFamily="2" charset="2"/>
              </a:rPr>
              <a:t>的绝对值</a:t>
            </a:r>
          </a:p>
        </p:txBody>
      </p:sp>
      <p:sp>
        <p:nvSpPr>
          <p:cNvPr id="41" name="矩形 40"/>
          <p:cNvSpPr/>
          <p:nvPr/>
        </p:nvSpPr>
        <p:spPr>
          <a:xfrm>
            <a:off x="1967480" y="5123814"/>
            <a:ext cx="9505056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 = -3,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abs(a);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将整型变量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A20CE9C-57CD-4202-ABDA-227B2DB4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  <p:bldP spid="39" grpId="0"/>
      <p:bldP spid="40" grpId="0" animBg="1"/>
      <p:bldP spid="4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55440" y="1311151"/>
            <a:ext cx="7800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长整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数的绝对值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labs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r>
              <a:rPr lang="zh-CN" altLang="en-US" sz="2000" b="1" dirty="0">
                <a:solidFill>
                  <a:srgbClr val="C00000"/>
                </a:solidFill>
                <a:ea typeface="楷体" pitchFamily="49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ea typeface="楷体" pitchFamily="49" charset="-122"/>
              </a:rPr>
              <a:t>CB17.12</a:t>
            </a:r>
            <a:r>
              <a:rPr lang="zh-CN" altLang="zh-CN" sz="2000" b="1" dirty="0">
                <a:solidFill>
                  <a:srgbClr val="C00000"/>
                </a:solidFill>
                <a:ea typeface="楷体" pitchFamily="49" charset="-122"/>
              </a:rPr>
              <a:t>下没有该函数</a:t>
            </a:r>
            <a:r>
              <a:rPr lang="zh-CN" altLang="en-US" sz="2000" b="1" dirty="0">
                <a:solidFill>
                  <a:srgbClr val="C00000"/>
                </a:solidFill>
                <a:ea typeface="楷体" pitchFamily="49" charset="-122"/>
              </a:rPr>
              <a:t>）</a:t>
            </a:r>
            <a:endParaRPr lang="zh-CN" altLang="en-US" sz="20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028076" y="3164775"/>
            <a:ext cx="978560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long a = -123456789L,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labs(a);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将长整型变量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123456789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79524" y="4489956"/>
            <a:ext cx="4560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平方根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sqrt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2057291" y="5108991"/>
            <a:ext cx="977668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sqrt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double x );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计算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的平方根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返值：返回浮点数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的平方根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035556" y="1796623"/>
            <a:ext cx="978560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labs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long 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i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 );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计算长整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a typeface="隶书" pitchFamily="49" charset="-122"/>
              </a:rPr>
              <a:t>返值：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返回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长整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15" name="矩形 14"/>
          <p:cNvSpPr/>
          <p:nvPr/>
        </p:nvSpPr>
        <p:spPr>
          <a:xfrm>
            <a:off x="2052539" y="5108991"/>
            <a:ext cx="977668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double a =1.44,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sqrt</a:t>
            </a:r>
            <a:r>
              <a:rPr lang="en-US" altLang="zh-CN" b="1" dirty="0">
                <a:latin typeface="+mn-lt"/>
                <a:ea typeface="楷体" pitchFamily="49" charset="-122"/>
              </a:rPr>
              <a:t>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将浮点型变量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的平方根赋给变量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1.200000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68712B1-DDFA-4A63-88AB-BC560259D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EE92F27-92AD-4621-B752-449943441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39" grpId="0"/>
      <p:bldP spid="40" grpId="0" animBg="1"/>
      <p:bldP spid="14" grpId="0" animBg="1"/>
      <p:bldP spid="15" grpId="0" animBg="1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31355" y="1287344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上限整数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ceil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96238" y="3147262"/>
            <a:ext cx="982900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double a 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a = ceil(1.23);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2.000000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ceil(-1.23);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-1.000000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00606" y="1772816"/>
            <a:ext cx="982463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ceil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double x );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求出不小于浮点数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的最小整数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返值：该整数的双精度实数</a:t>
            </a:r>
          </a:p>
        </p:txBody>
      </p:sp>
      <p:sp>
        <p:nvSpPr>
          <p:cNvPr id="12" name="矩形 11"/>
          <p:cNvSpPr/>
          <p:nvPr/>
        </p:nvSpPr>
        <p:spPr>
          <a:xfrm>
            <a:off x="1031355" y="4815736"/>
            <a:ext cx="7800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下限整数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floor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600606" y="5301208"/>
            <a:ext cx="982463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floor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double x );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求出不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大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于浮点数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的最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大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整数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返值：该整数的双精度实数</a:t>
            </a:r>
          </a:p>
        </p:txBody>
      </p:sp>
      <p:sp>
        <p:nvSpPr>
          <p:cNvPr id="13" name="矩形 12"/>
          <p:cNvSpPr/>
          <p:nvPr/>
        </p:nvSpPr>
        <p:spPr>
          <a:xfrm>
            <a:off x="1558925" y="5255042"/>
            <a:ext cx="9865096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double a 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a = floor(1.23);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floor(-1.23);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-2.000000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74E73AF-877C-42D3-B291-7FC88FA72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6D2CA93-B14B-4EC4-B782-7F05860C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14" grpId="0" animBg="1"/>
      <p:bldP spid="12" grpId="0"/>
      <p:bldP spid="16" grpId="0" animBg="1"/>
      <p:bldP spid="13" grpId="0" animBg="1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55440" y="1615326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x</a:t>
            </a:r>
            <a:r>
              <a:rPr lang="en-US" altLang="zh-CN" baseline="30000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y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power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90580" y="3861048"/>
            <a:ext cx="9745144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double a 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pow</a:t>
            </a:r>
            <a:r>
              <a:rPr lang="en-US" altLang="zh-CN" b="1" dirty="0">
                <a:latin typeface="+mn-lt"/>
                <a:ea typeface="楷体" pitchFamily="49" charset="-122"/>
              </a:rPr>
              <a:t>(2, 3);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8.000000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b = power(2, 3.2);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8.189587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583100" y="2362816"/>
            <a:ext cx="975262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b="1">
                <a:ea typeface="隶书" pitchFamily="49" charset="-122"/>
              </a:defRPr>
            </a:lvl1pPr>
          </a:lstStyle>
          <a:p>
            <a:r>
              <a:rPr lang="zh-CN" altLang="en-US" dirty="0"/>
              <a:t>格式：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double  </a:t>
            </a:r>
            <a:r>
              <a:rPr lang="en-US" altLang="zh-CN" dirty="0">
                <a:solidFill>
                  <a:srgbClr val="C01920"/>
                </a:solidFill>
                <a:sym typeface="Wingdings" pitchFamily="2" charset="2"/>
              </a:rPr>
              <a:t>pow</a:t>
            </a:r>
            <a:r>
              <a:rPr lang="en-US" altLang="zh-CN" dirty="0">
                <a:sym typeface="Wingdings" pitchFamily="2" charset="2"/>
              </a:rPr>
              <a:t>( double x, double y );        </a:t>
            </a:r>
            <a:r>
              <a:rPr lang="en-US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//</a:t>
            </a:r>
            <a:r>
              <a:rPr lang="zh-CN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应包含的</a:t>
            </a:r>
            <a:r>
              <a:rPr lang="en-US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.h</a:t>
            </a:r>
            <a:r>
              <a:rPr lang="zh-CN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文件为</a:t>
            </a:r>
            <a:r>
              <a:rPr lang="en-US" altLang="zh-CN" sz="2000" dirty="0" err="1">
                <a:solidFill>
                  <a:srgbClr val="CC0099"/>
                </a:solidFill>
                <a:latin typeface="+mn-lt"/>
                <a:sym typeface="Wingdings" pitchFamily="2" charset="2"/>
              </a:rPr>
              <a:t>math.h</a:t>
            </a:r>
            <a:endParaRPr lang="zh-CN" altLang="zh-CN" sz="2000" dirty="0">
              <a:solidFill>
                <a:srgbClr val="CC0099"/>
              </a:solidFill>
              <a:latin typeface="+mn-lt"/>
            </a:endParaRPr>
          </a:p>
          <a:p>
            <a:r>
              <a:rPr lang="zh-CN" altLang="zh-CN" dirty="0"/>
              <a:t>功能：</a:t>
            </a:r>
            <a:r>
              <a:rPr lang="zh-CN" altLang="zh-CN" dirty="0">
                <a:sym typeface="Wingdings" pitchFamily="2" charset="2"/>
              </a:rPr>
              <a:t>求</a:t>
            </a:r>
            <a:r>
              <a:rPr lang="en-US" altLang="zh-CN" dirty="0">
                <a:sym typeface="Wingdings" pitchFamily="2" charset="2"/>
              </a:rPr>
              <a:t>x</a:t>
            </a:r>
            <a:r>
              <a:rPr lang="zh-CN" altLang="zh-CN" dirty="0">
                <a:sym typeface="Wingdings" pitchFamily="2" charset="2"/>
              </a:rPr>
              <a:t>的</a:t>
            </a:r>
            <a:r>
              <a:rPr lang="en-US" altLang="zh-CN" dirty="0">
                <a:sym typeface="Wingdings" pitchFamily="2" charset="2"/>
              </a:rPr>
              <a:t>y</a:t>
            </a:r>
            <a:r>
              <a:rPr lang="zh-CN" altLang="zh-CN" dirty="0">
                <a:sym typeface="Wingdings" pitchFamily="2" charset="2"/>
              </a:rPr>
              <a:t>次方</a:t>
            </a:r>
          </a:p>
          <a:p>
            <a:r>
              <a:rPr lang="zh-CN" altLang="zh-CN" dirty="0">
                <a:sym typeface="Wingdings" pitchFamily="2" charset="2"/>
              </a:rPr>
              <a:t>返值：</a:t>
            </a:r>
            <a:r>
              <a:rPr lang="en-US" altLang="zh-CN" dirty="0" err="1">
                <a:sym typeface="Wingdings" pitchFamily="2" charset="2"/>
              </a:rPr>
              <a:t>xy</a:t>
            </a:r>
            <a:r>
              <a:rPr lang="zh-CN" altLang="zh-CN" dirty="0">
                <a:sym typeface="Wingdings" pitchFamily="2" charset="2"/>
              </a:rPr>
              <a:t>的双精度实数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78C8152-9CA9-47D6-87A0-3B96C7F3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5E06CC0-6EDC-4156-8681-BBB68B86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14" grpId="0" animBg="1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39416" y="980728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35" name="矩形 34"/>
          <p:cNvSpPr/>
          <p:nvPr/>
        </p:nvSpPr>
        <p:spPr>
          <a:xfrm>
            <a:off x="1018908" y="1581270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检查字符是否为字母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isalpha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2114943"/>
            <a:ext cx="941519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isalpha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是否为字母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9720" y="3591014"/>
            <a:ext cx="9432864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0x61, ch3 = 0x39; 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zh-CN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//ch2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 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//ch3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FD09ED9-ED05-4525-BF45-E39C22486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58715" y="1509262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大写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isupper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2042935"/>
            <a:ext cx="947516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</a:rPr>
              <a:t>：</a:t>
            </a:r>
            <a:r>
              <a:rPr lang="en-US" altLang="zh-CN" dirty="0">
                <a:solidFill>
                  <a:srgbClr val="CC0099"/>
                </a:solidFill>
              </a:rPr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isupper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int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大写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字母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5448" y="3519006"/>
            <a:ext cx="9457112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0x61, ch3 = 0x39;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码，不是大写字母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27DDD6-5E7F-4294-A564-224CF1F7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19C4DC-3F59-4C69-B9BF-99E7830A5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455167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小写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islower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2042935"/>
            <a:ext cx="9403160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islower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小写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字母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43416" y="3519006"/>
            <a:ext cx="940916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0x61, ch3 = 0x39;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7CBF873-BCE4-4CB9-9C63-EA4C4C4EE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EBD2B98-EFDF-4E74-8656-84049529F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437254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数字字符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isdigit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73304" y="1970927"/>
            <a:ext cx="9523296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isdigit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数字字符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79512" y="3446998"/>
            <a:ext cx="951708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'0', ch2 = 0x61, ch3 = 0x39;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码，不是数字字符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是数字字符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E2CC16F-79E1-4B4D-B37F-60F6035E8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BAD304B-4236-455E-B3E5-761A311F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724" y="1442142"/>
            <a:ext cx="78387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）检查字符是否为字母或数字字符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isalnum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1975815"/>
            <a:ext cx="947516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isalnum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字母或数字字符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1544" y="3446998"/>
            <a:ext cx="940916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'0', ch2 = 0x61, ch3 = 0x20;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是数字字符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码，是字母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0x20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是空格字符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 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码，不是字母和数字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3FD55C2-8576-4586-BE47-190381AEF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550BE57-DA62-4D1B-BA68-B3CE7EE0C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527175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）将字符转换为小写字母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tolower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73304" y="2186609"/>
            <a:ext cx="930727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tolower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将字符转换为小写字母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是字母，则返回其对应的小写字母，否则返回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1544" y="3672314"/>
            <a:ext cx="9289032" cy="249299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0x62, ch3 = '8', c1, c2, c3;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c1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小写字母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'a'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c2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小写字母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 //ch2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c3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数字字符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 //ch3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不是字母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DAF1C2D-AC87-4F5B-97DE-23F15A214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AF2C282-4504-4436-BB99-BA451995C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599183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）将字符转换为大写字母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toupper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2228671"/>
            <a:ext cx="9487200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toupper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将字符转换为大写字母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是字母，则返回其对应的大写字母，否则返回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31752" y="3672314"/>
            <a:ext cx="9492840" cy="249299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0x62, ch3 = '8', c1, c2, c3;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c1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大写字母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'A'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c2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大写字母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//ch2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是小写字符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c3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数字字符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//ch3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不是字母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09FF5CB-C003-45D0-8FA6-ED43372D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3116800-6D94-409A-BD26-8D6560E28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527175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）检查字符是否为控制字符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iscntrl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2241383"/>
            <a:ext cx="934318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iscntrl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检查字符是否为控制字符（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ASCII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码在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0~31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之间）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5448" y="3722256"/>
            <a:ext cx="9325128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0x0d, ch2 = 0x62;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iscntrl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，是控制字符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	</a:t>
            </a:r>
            <a:endParaRPr lang="zh-CN" altLang="en-US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iscntrl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，不是控制字符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47A1C41-FB46-4566-81F7-2645F163C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FFFD148-ECF3-47C8-A044-EA3C4E67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1" name="Rectangle 1"/>
          <p:cNvSpPr>
            <a:spLocks noChangeArrowheads="1"/>
          </p:cNvSpPr>
          <p:nvPr/>
        </p:nvSpPr>
        <p:spPr bwMode="auto">
          <a:xfrm>
            <a:off x="407368" y="1196752"/>
            <a:ext cx="48033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/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字符处理函数的应用。</a:t>
            </a:r>
          </a:p>
        </p:txBody>
      </p:sp>
      <p:sp>
        <p:nvSpPr>
          <p:cNvPr id="9" name="矩形 8"/>
          <p:cNvSpPr/>
          <p:nvPr/>
        </p:nvSpPr>
        <p:spPr>
          <a:xfrm>
            <a:off x="859458" y="1894180"/>
            <a:ext cx="4228430" cy="30469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下面的程序是充分利用字符处理函数判断输入字符的种类（种类包括：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控制字符、数字字符、大写字母、小写字母及其它字符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），如果字符是大写字母，则输出其小写字母，如果是小写字母，则输出其大写字母。 </a:t>
            </a:r>
          </a:p>
        </p:txBody>
      </p:sp>
      <p:sp>
        <p:nvSpPr>
          <p:cNvPr id="10" name="Rectangle 20" descr="信纸"/>
          <p:cNvSpPr>
            <a:spLocks noChangeArrowheads="1"/>
          </p:cNvSpPr>
          <p:nvPr/>
        </p:nvSpPr>
        <p:spPr bwMode="auto">
          <a:xfrm>
            <a:off x="5499228" y="142853"/>
            <a:ext cx="6429420" cy="655564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a typeface="楷体_GB2312" pitchFamily="49" charset="-122"/>
              </a:rPr>
              <a:t>stdio.h</a:t>
            </a:r>
            <a:r>
              <a:rPr kumimoji="0"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a typeface="楷体_GB2312" pitchFamily="49" charset="-122"/>
              </a:rPr>
              <a:t>conio.h</a:t>
            </a:r>
            <a:r>
              <a:rPr kumimoji="0"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a typeface="楷体_GB2312" pitchFamily="49" charset="-122"/>
              </a:rPr>
              <a:t>ctype.h</a:t>
            </a:r>
            <a:r>
              <a:rPr kumimoji="0"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main(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char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("Enter a character: 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a typeface="楷体_GB2312" pitchFamily="49" charset="-122"/>
              </a:rPr>
              <a:t>getche</a:t>
            </a:r>
            <a:r>
              <a:rPr kumimoji="0" lang="en-US" altLang="zh-CN" sz="2000" b="1" dirty="0">
                <a:ea typeface="楷体_GB2312" pitchFamily="49" charset="-122"/>
              </a:rPr>
              <a:t>( );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iscntrl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控制字符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a control character\n");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isdigit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数字字符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a digit\n");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isupper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{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大写字母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("The character is a capital letter\n");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("lower letter is %c\n", 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tolower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));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islower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{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小写字母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a lower letter\n");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("capital letter is %c\n", 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toupper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));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other character\n");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BE1CA01-D599-4D52-B3DA-90D3A20E6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19536" y="5373216"/>
            <a:ext cx="943304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strlwr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中的大写字母换成小写字母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12822" y="5234982"/>
            <a:ext cx="942868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"Ab123cD";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strlwr</a:t>
            </a:r>
            <a:r>
              <a:rPr lang="en-US" altLang="zh-CN" b="1" dirty="0">
                <a:latin typeface="+mn-lt"/>
                <a:ea typeface="楷体" pitchFamily="49" charset="-122"/>
              </a:rPr>
              <a:t>(str);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中的大写字母换成小写字母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 = 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ab123cd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19326" y="889556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31355" y="1412776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）转换为大写字符串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strupr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61456" y="1916832"/>
            <a:ext cx="939112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strupr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中的小写字母换成大写字母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48606" y="3212976"/>
            <a:ext cx="9392896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"ab123cd";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strupr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中的小写字母换成大写字母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AB123CD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18505" y="4797152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）转换为小写字符串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strlwr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8FBB706-6C70-4004-B502-8BB9BA9D1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490497" grpId="0"/>
      <p:bldP spid="35" grpId="0"/>
      <p:bldP spid="36" grpId="0" animBg="1"/>
      <p:bldP spid="37" grpId="0" animBg="1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41286" y="5150986"/>
            <a:ext cx="9499128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sz="2000" b="1" dirty="0" err="1">
                <a:solidFill>
                  <a:srgbClr val="C01920"/>
                </a:solidFill>
                <a:ea typeface="隶书" pitchFamily="49" charset="-122"/>
                <a:sym typeface="Wingdings" pitchFamily="2" charset="2"/>
              </a:rPr>
              <a:t>strchr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c);  </a:t>
            </a:r>
            <a:r>
              <a:rPr lang="en-US" altLang="zh-CN" sz="2000" b="1" dirty="0"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18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18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在字符串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中从前往后查找第一次出现字符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c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位置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NULL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9554" y="1399059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）设置字符串中的字符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strset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13724" y="1940639"/>
            <a:ext cx="951151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1920"/>
                </a:solidFill>
                <a:ea typeface="隶书" pitchFamily="49" charset="-122"/>
                <a:sym typeface="Wingdings" pitchFamily="2" charset="2"/>
              </a:rPr>
              <a:t>strset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char *str, int c);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中的所有字符都置换为字符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c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24550" y="3079220"/>
            <a:ext cx="950068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"ABCD";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strset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'0');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中的所有字符都设置为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'0'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0000</a:t>
            </a:r>
            <a:endParaRPr lang="zh-CN" altLang="en-US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704" y="4725144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）字符串中查找某字符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strchr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941286" y="5148027"/>
            <a:ext cx="951708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"ABCDC";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str+2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61034" y="5138500"/>
            <a:ext cx="9505056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利用</a:t>
            </a:r>
            <a:r>
              <a:rPr lang="en-US" altLang="zh-CN" b="1" dirty="0" err="1">
                <a:solidFill>
                  <a:srgbClr val="FF0000"/>
                </a:solidFill>
                <a:ea typeface="隶书" pitchFamily="49" charset="-122"/>
                <a:sym typeface="Wingdings" pitchFamily="2" charset="2"/>
              </a:rPr>
              <a:t>strchr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函数可以有效判定某字符</a:t>
            </a:r>
            <a:r>
              <a:rPr lang="en-US" altLang="en-US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是否在字符串</a:t>
            </a:r>
            <a:r>
              <a:rPr lang="en-US" altLang="en-US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中存在，其方法为：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if 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latin typeface="+mn-lt"/>
                <a:ea typeface="楷体" pitchFamily="49" charset="-122"/>
              </a:rPr>
              <a:t>) != NULL)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字符串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中找到了字符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</a:t>
            </a:r>
            <a:r>
              <a:rPr lang="en-US" altLang="zh-CN" b="1" dirty="0">
                <a:ea typeface="楷体" pitchFamily="49" charset="-122"/>
              </a:rPr>
              <a:t>{     …</a:t>
            </a:r>
            <a:r>
              <a:rPr lang="zh-CN" altLang="en-US" b="1" dirty="0">
                <a:ea typeface="楷体" pitchFamily="49" charset="-122"/>
              </a:rPr>
              <a:t>    </a:t>
            </a:r>
            <a:r>
              <a:rPr lang="en-US" altLang="zh-CN" b="1" dirty="0">
                <a:ea typeface="楷体" pitchFamily="49" charset="-122"/>
              </a:rPr>
              <a:t>}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9C3DCBE-1D3F-4487-A263-0BDEF84E7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26" y="889556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3D02F17-DE5F-45D9-82A9-3C260688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 animBg="1"/>
      <p:bldP spid="37" grpId="0" animBg="1"/>
      <p:bldP spid="9" grpId="0"/>
      <p:bldP spid="11" grpId="0" animBg="1"/>
      <p:bldP spid="12" grpId="0" animBg="1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06069" y="4803328"/>
            <a:ext cx="9439336" cy="187743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strstr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*str1, const char *str2);   </a:t>
            </a:r>
          </a:p>
          <a:p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      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在主串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中查找子串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第一次出现的位置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NULL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。如果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为空串，则返回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首地址。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96282" y="1444489"/>
            <a:ext cx="769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）字符串中反向查找某字符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strrchr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890452" y="1916832"/>
            <a:ext cx="9439506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strrchr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c);           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18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18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在字符串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中从末尾往前查找第一次出现字符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c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位置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893763" indent="-893763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NULL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2196" y="2707914"/>
            <a:ext cx="943304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"ABCDCE";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str+4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98879" y="4365104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）字符串中查找子串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strstr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919663" y="5111105"/>
            <a:ext cx="944508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"abc123def123";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"123");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str+3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"1234");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2866" y="5096326"/>
            <a:ext cx="9445080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/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      利用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strstr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函数可以有效判定某字符串</a:t>
            </a:r>
            <a:r>
              <a:rPr lang="en-US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中是否包含子串</a:t>
            </a:r>
            <a:r>
              <a:rPr lang="en-US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，其方法为：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if 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latin typeface="+mn-lt"/>
                <a:ea typeface="楷体" pitchFamily="49" charset="-122"/>
              </a:rPr>
              <a:t>(str1, str2) != NULL)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字符串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包含子串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str2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{     …</a:t>
            </a:r>
            <a:r>
              <a:rPr lang="zh-CN" altLang="en-US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>
                <a:latin typeface="+mn-lt"/>
                <a:ea typeface="楷体" pitchFamily="49" charset="-122"/>
              </a:rPr>
              <a:t>}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EC909A8-EB99-4E2B-BC60-C432F334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26" y="889556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1724948-2711-42B2-BA73-F9DFB6801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 animBg="1"/>
      <p:bldP spid="37" grpId="0" animBg="1"/>
      <p:bldP spid="9" grpId="0"/>
      <p:bldP spid="11" grpId="0" animBg="1"/>
      <p:bldP spid="12" grpId="0" animBg="1"/>
      <p:bldP spid="1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35" name="矩形 34"/>
          <p:cNvSpPr/>
          <p:nvPr/>
        </p:nvSpPr>
        <p:spPr>
          <a:xfrm>
            <a:off x="1001870" y="1556792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字符串转换为双精度浮点数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atof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2386" y="2104980"/>
            <a:ext cx="9331152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atof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所对应的双精度浮点数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实际上是无法转换成双精度浮点数的，那么返回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9536" y="4030612"/>
            <a:ext cx="9332908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  <a:r>
              <a:rPr lang="en-US" altLang="zh-CN" b="1" dirty="0">
                <a:latin typeface="+mn-lt"/>
                <a:ea typeface="楷体" pitchFamily="49" charset="-122"/>
              </a:rPr>
              <a:t>double a;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("123");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123.000000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("1.23");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1.230000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("1e2");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100.000000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("1.2a"); 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1.200000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37C137C-0922-4828-8C96-FF529D2A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01480" y="2404045"/>
            <a:ext cx="945110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atol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所对应的长整型数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实际上是无法转换成长整型数的，那么返回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971709" y="4154304"/>
            <a:ext cx="9452883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  <a:r>
              <a:rPr lang="en-US" altLang="zh-CN" b="1" dirty="0">
                <a:latin typeface="+mn-lt"/>
                <a:ea typeface="楷体" pitchFamily="49" charset="-122"/>
              </a:rPr>
              <a:t>long a;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("123");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123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("12.3");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=12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 ");  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</a:t>
            </a: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058" y="1628801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字符串转换为长整型数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atol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A932F17-1D20-4221-A9B1-5FD73327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8A42052-4B17-46A9-AEAB-09B2DC925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004214" y="2250737"/>
            <a:ext cx="9319120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long </a:t>
            </a:r>
            <a:r>
              <a:rPr lang="en-US" altLang="zh-CN" sz="2000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atoi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所对应的整型数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实际上是无法转换成整型数的，那么返回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991544" y="4000996"/>
            <a:ext cx="9320874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("123");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123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("12.3");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=12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 ");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8816" y="1527175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字符串转换为整型数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atoi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99FBE75-E51D-4562-9639-45263D133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05E1DFF-7977-4F6C-985A-B071C0215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61456" y="1844824"/>
            <a:ext cx="9474668" cy="187743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 *</a:t>
            </a:r>
            <a:r>
              <a:rPr lang="en-US" altLang="zh-CN" sz="2000" b="1" dirty="0" err="1">
                <a:solidFill>
                  <a:srgbClr val="C01920"/>
                </a:solidFill>
                <a:ea typeface="隶书" pitchFamily="49" charset="-122"/>
                <a:sym typeface="Wingdings" pitchFamily="2" charset="2"/>
              </a:rPr>
              <a:t>ultoa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unsigned long value,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radix);</a:t>
            </a:r>
          </a:p>
          <a:p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pPr marL="985838" indent="-985838"/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将无符号长整型数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value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转换成用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radix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进制表示的字符串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。进制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radix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必须在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2~36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之间。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的首地址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。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61456" y="3766388"/>
            <a:ext cx="9476452" cy="3046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[10];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16);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十六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"a0"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a typeface="楷体" pitchFamily="49" charset="-122"/>
              </a:rPr>
              <a:t>"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十六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进制字符串为</a:t>
            </a:r>
            <a:r>
              <a:rPr lang="en-US" altLang="zh-CN" b="1" dirty="0">
                <a:latin typeface="+mn-lt"/>
                <a:ea typeface="楷体" pitchFamily="49" charset="-122"/>
              </a:rPr>
              <a:t>: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</a:t>
            </a:r>
            <a:r>
              <a:rPr lang="zh-CN" altLang="zh-CN" b="1" dirty="0">
                <a:latin typeface="+mn-lt"/>
                <a:ea typeface="楷体" pitchFamily="49" charset="-122"/>
              </a:rPr>
              <a:t>　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a0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8);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八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"240"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a typeface="楷体" pitchFamily="49" charset="-122"/>
              </a:rPr>
              <a:t>"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八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进制字符串为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: </a:t>
            </a:r>
            <a:r>
              <a:rPr lang="en-US" altLang="zh-CN" b="1" dirty="0">
                <a:latin typeface="+mn-lt"/>
                <a:ea typeface="楷体" pitchFamily="49" charset="-122"/>
              </a:rPr>
              <a:t>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</a:t>
            </a:r>
            <a:r>
              <a:rPr lang="zh-CN" altLang="zh-CN" b="1" dirty="0">
                <a:latin typeface="+mn-lt"/>
                <a:ea typeface="楷体" pitchFamily="49" charset="-122"/>
              </a:rPr>
              <a:t>　 </a:t>
            </a:r>
            <a:r>
              <a:rPr lang="en-US" altLang="zh-CN" b="1" dirty="0">
                <a:latin typeface="+mn-lt"/>
                <a:ea typeface="楷体" pitchFamily="49" charset="-122"/>
              </a:rPr>
              <a:t>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240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5);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五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"1120"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a typeface="楷体" pitchFamily="49" charset="-122"/>
              </a:rPr>
              <a:t>"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五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进制字符串为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: </a:t>
            </a:r>
            <a:r>
              <a:rPr lang="en-US" altLang="zh-CN" b="1" dirty="0">
                <a:latin typeface="+mn-lt"/>
                <a:ea typeface="楷体" pitchFamily="49" charset="-122"/>
              </a:rPr>
              <a:t>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</a:t>
            </a:r>
            <a:r>
              <a:rPr lang="zh-CN" altLang="zh-CN" b="1" dirty="0">
                <a:latin typeface="+mn-lt"/>
                <a:ea typeface="楷体" pitchFamily="49" charset="-122"/>
              </a:rPr>
              <a:t>　 </a:t>
            </a:r>
            <a:r>
              <a:rPr lang="en-US" altLang="zh-CN" b="1" dirty="0">
                <a:latin typeface="+mn-lt"/>
                <a:ea typeface="楷体" pitchFamily="49" charset="-122"/>
              </a:rPr>
              <a:t>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1120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2993" y="1412777"/>
            <a:ext cx="813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无符号长整型数转换成任意进制的字符串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ultoa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CCA9540-718A-41BA-947B-BC0136F9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9EF4B7B-F771-4BB2-B32C-AFF49C00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865437" y="1844824"/>
            <a:ext cx="9570669" cy="187743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sprintf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(char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const char *format,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args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zh-CN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…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</a:t>
            </a:r>
          </a:p>
          <a:p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stdio.h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pPr marL="985838" indent="-985838"/>
            <a:r>
              <a:rPr lang="zh-CN" altLang="zh-CN" b="1" dirty="0">
                <a:ea typeface="隶书" pitchFamily="49" charset="-122"/>
              </a:rPr>
              <a:t>功能：将输出表列</a:t>
            </a:r>
            <a:r>
              <a:rPr lang="en-US" altLang="zh-CN" b="1" dirty="0" err="1">
                <a:ea typeface="隶书" pitchFamily="49" charset="-122"/>
              </a:rPr>
              <a:t>args</a:t>
            </a:r>
            <a:r>
              <a:rPr lang="zh-CN" altLang="zh-CN" b="1" dirty="0">
                <a:ea typeface="隶书" pitchFamily="49" charset="-122"/>
              </a:rPr>
              <a:t>的值按</a:t>
            </a:r>
            <a:r>
              <a:rPr lang="en-US" altLang="zh-CN" b="1" dirty="0">
                <a:ea typeface="隶书" pitchFamily="49" charset="-122"/>
              </a:rPr>
              <a:t>format</a:t>
            </a:r>
            <a:r>
              <a:rPr lang="zh-CN" altLang="zh-CN" b="1" dirty="0">
                <a:ea typeface="隶书" pitchFamily="49" charset="-122"/>
              </a:rPr>
              <a:t>规定的格式输出到字符串</a:t>
            </a:r>
            <a:r>
              <a:rPr lang="en-US" altLang="zh-CN" b="1" dirty="0" err="1">
                <a:ea typeface="隶书" pitchFamily="49" charset="-122"/>
              </a:rPr>
              <a:t>str</a:t>
            </a:r>
            <a:r>
              <a:rPr lang="zh-CN" altLang="zh-CN" b="1" dirty="0">
                <a:ea typeface="隶书" pitchFamily="49" charset="-122"/>
              </a:rPr>
              <a:t>中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zh-CN" b="1" dirty="0">
                <a:ea typeface="隶书" pitchFamily="49" charset="-122"/>
              </a:rPr>
              <a:t>如果格式字符串转换成功，而且结果也成功保存到数组</a:t>
            </a:r>
            <a:r>
              <a:rPr lang="en-US" altLang="zh-CN" b="1" dirty="0" err="1">
                <a:ea typeface="隶书" pitchFamily="49" charset="-122"/>
              </a:rPr>
              <a:t>str</a:t>
            </a:r>
            <a:r>
              <a:rPr lang="zh-CN" altLang="zh-CN" b="1" dirty="0">
                <a:ea typeface="隶书" pitchFamily="49" charset="-122"/>
              </a:rPr>
              <a:t>当中，则返回保存到数组当中的字符个数，否则，返回一个负整数。 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528" y="3811012"/>
            <a:ext cx="9572471" cy="3046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[10];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 = 123;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"%08d", a);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存放字符串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"00000123"</a:t>
            </a:r>
            <a:endParaRPr lang="zh-CN" altLang="zh-CN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00000123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"%-8d", a);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存放字符串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"123</a:t>
            </a:r>
            <a:r>
              <a:rPr lang="zh-CN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□□□□□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" 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（□：表示空格）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123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□□□□□</a:t>
            </a:r>
          </a:p>
        </p:txBody>
      </p:sp>
      <p:sp>
        <p:nvSpPr>
          <p:cNvPr id="9" name="矩形 8"/>
          <p:cNvSpPr/>
          <p:nvPr/>
        </p:nvSpPr>
        <p:spPr>
          <a:xfrm>
            <a:off x="983432" y="1383159"/>
            <a:ext cx="813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格式化字符串转换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sprintf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545E166-435D-44A7-B79E-CDAEB4E5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36712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276DD2C-7B9B-43B3-A39B-9BA6DBD4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4">
            <a:extLst>
              <a:ext uri="{FF2B5EF4-FFF2-40B4-BE49-F238E27FC236}">
                <a16:creationId xmlns:a16="http://schemas.microsoft.com/office/drawing/2014/main" id="{51853D6B-044C-4029-8875-F9812F65F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8.9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函数的封装 </a:t>
            </a: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8352800" y="2760202"/>
            <a:ext cx="2519362" cy="574675"/>
            <a:chOff x="3107" y="1979"/>
            <a:chExt cx="1587" cy="362"/>
          </a:xfrm>
        </p:grpSpPr>
        <p:sp>
          <p:nvSpPr>
            <p:cNvPr id="1129506" name="Oval 34"/>
            <p:cNvSpPr>
              <a:spLocks noChangeArrowheads="1"/>
            </p:cNvSpPr>
            <p:nvPr/>
          </p:nvSpPr>
          <p:spPr bwMode="auto">
            <a:xfrm>
              <a:off x="3107" y="1979"/>
              <a:ext cx="635" cy="362"/>
            </a:xfrm>
            <a:prstGeom prst="ellips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8" name="Line 36"/>
            <p:cNvSpPr>
              <a:spLocks noChangeShapeType="1"/>
            </p:cNvSpPr>
            <p:nvPr/>
          </p:nvSpPr>
          <p:spPr bwMode="auto">
            <a:xfrm>
              <a:off x="3742" y="2160"/>
              <a:ext cx="952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5587375" y="3334876"/>
            <a:ext cx="5357812" cy="2089150"/>
            <a:chOff x="1365" y="2341"/>
            <a:chExt cx="3375" cy="1316"/>
          </a:xfrm>
        </p:grpSpPr>
        <p:sp>
          <p:nvSpPr>
            <p:cNvPr id="1129504" name="Oval 32"/>
            <p:cNvSpPr>
              <a:spLocks noChangeArrowheads="1"/>
            </p:cNvSpPr>
            <p:nvPr/>
          </p:nvSpPr>
          <p:spPr bwMode="auto">
            <a:xfrm>
              <a:off x="1365" y="3339"/>
              <a:ext cx="1134" cy="318"/>
            </a:xfrm>
            <a:prstGeom prst="ellips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29509" name="Line 37"/>
            <p:cNvSpPr>
              <a:spLocks noChangeShapeType="1"/>
            </p:cNvSpPr>
            <p:nvPr/>
          </p:nvSpPr>
          <p:spPr bwMode="auto">
            <a:xfrm flipV="1">
              <a:off x="2517" y="2341"/>
              <a:ext cx="2223" cy="1134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29510" name="Picture 38" descr="j030525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2998475">
            <a:off x="11023766" y="2153813"/>
            <a:ext cx="1138238" cy="1828800"/>
          </a:xfrm>
          <a:prstGeom prst="rect">
            <a:avLst/>
          </a:prstGeom>
          <a:noFill/>
        </p:spPr>
      </p:pic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896812" y="829801"/>
            <a:ext cx="5975350" cy="1930400"/>
            <a:chOff x="930" y="763"/>
            <a:chExt cx="3764" cy="1216"/>
          </a:xfrm>
        </p:grpSpPr>
        <p:sp>
          <p:nvSpPr>
            <p:cNvPr id="1129503" name="Oval 31"/>
            <p:cNvSpPr>
              <a:spLocks noChangeArrowheads="1"/>
            </p:cNvSpPr>
            <p:nvPr/>
          </p:nvSpPr>
          <p:spPr bwMode="auto">
            <a:xfrm>
              <a:off x="930" y="763"/>
              <a:ext cx="2086" cy="454"/>
            </a:xfrm>
            <a:prstGeom prst="ellips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7" name="Line 35"/>
            <p:cNvSpPr>
              <a:spLocks noChangeShapeType="1"/>
            </p:cNvSpPr>
            <p:nvPr/>
          </p:nvSpPr>
          <p:spPr bwMode="auto">
            <a:xfrm>
              <a:off x="3016" y="981"/>
              <a:ext cx="1678" cy="998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4018925" y="959976"/>
            <a:ext cx="5486400" cy="4356100"/>
            <a:chOff x="377" y="845"/>
            <a:chExt cx="3456" cy="2744"/>
          </a:xfrm>
        </p:grpSpPr>
        <p:sp>
          <p:nvSpPr>
            <p:cNvPr id="1129490" name="AutoShape 18"/>
            <p:cNvSpPr>
              <a:spLocks noChangeArrowheads="1"/>
            </p:cNvSpPr>
            <p:nvPr/>
          </p:nvSpPr>
          <p:spPr bwMode="auto">
            <a:xfrm>
              <a:off x="839" y="1480"/>
              <a:ext cx="2268" cy="1270"/>
            </a:xfrm>
            <a:prstGeom prst="roundRect">
              <a:avLst>
                <a:gd name="adj" fmla="val 16667"/>
              </a:avLst>
            </a:prstGeom>
            <a:noFill/>
            <a:ln w="952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129491" name="Text Box 19"/>
            <p:cNvSpPr txBox="1">
              <a:spLocks noChangeArrowheads="1"/>
            </p:cNvSpPr>
            <p:nvPr/>
          </p:nvSpPr>
          <p:spPr bwMode="auto">
            <a:xfrm>
              <a:off x="1292" y="1933"/>
              <a:ext cx="13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+mn-lt"/>
                  <a:ea typeface="隶书" pitchFamily="49" charset="-122"/>
                </a:rPr>
                <a:t>Ｂ</a:t>
              </a:r>
              <a:r>
                <a:rPr lang="en-US" altLang="zh-CN" sz="2800" b="1" dirty="0">
                  <a:latin typeface="+mn-lt"/>
                  <a:ea typeface="隶书" pitchFamily="49" charset="-122"/>
                </a:rPr>
                <a:t>lack Box</a:t>
              </a:r>
            </a:p>
          </p:txBody>
        </p:sp>
        <p:sp>
          <p:nvSpPr>
            <p:cNvPr id="1129492" name="Line 20"/>
            <p:cNvSpPr>
              <a:spLocks noChangeShapeType="1"/>
            </p:cNvSpPr>
            <p:nvPr/>
          </p:nvSpPr>
          <p:spPr bwMode="auto">
            <a:xfrm>
              <a:off x="1338" y="1162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29494" name="Line 22"/>
            <p:cNvSpPr>
              <a:spLocks noChangeShapeType="1"/>
            </p:cNvSpPr>
            <p:nvPr/>
          </p:nvSpPr>
          <p:spPr bwMode="auto">
            <a:xfrm>
              <a:off x="1791" y="1162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29495" name="Line 23"/>
            <p:cNvSpPr>
              <a:spLocks noChangeShapeType="1"/>
            </p:cNvSpPr>
            <p:nvPr/>
          </p:nvSpPr>
          <p:spPr bwMode="auto">
            <a:xfrm>
              <a:off x="2517" y="1162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29496" name="Text Box 24"/>
            <p:cNvSpPr txBox="1">
              <a:spLocks noChangeArrowheads="1"/>
            </p:cNvSpPr>
            <p:nvPr/>
          </p:nvSpPr>
          <p:spPr bwMode="auto">
            <a:xfrm>
              <a:off x="2018" y="1026"/>
              <a:ext cx="4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0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…</a:t>
              </a:r>
            </a:p>
          </p:txBody>
        </p:sp>
        <p:sp>
          <p:nvSpPr>
            <p:cNvPr id="1129497" name="Text Box 25"/>
            <p:cNvSpPr txBox="1">
              <a:spLocks noChangeArrowheads="1"/>
            </p:cNvSpPr>
            <p:nvPr/>
          </p:nvSpPr>
          <p:spPr bwMode="auto">
            <a:xfrm>
              <a:off x="1020" y="845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1</a:t>
              </a:r>
            </a:p>
          </p:txBody>
        </p:sp>
        <p:sp>
          <p:nvSpPr>
            <p:cNvPr id="1129498" name="Text Box 26"/>
            <p:cNvSpPr txBox="1">
              <a:spLocks noChangeArrowheads="1"/>
            </p:cNvSpPr>
            <p:nvPr/>
          </p:nvSpPr>
          <p:spPr bwMode="auto">
            <a:xfrm>
              <a:off x="1556" y="854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2</a:t>
              </a:r>
            </a:p>
          </p:txBody>
        </p:sp>
        <p:sp>
          <p:nvSpPr>
            <p:cNvPr id="1129499" name="Text Box 27"/>
            <p:cNvSpPr txBox="1">
              <a:spLocks noChangeArrowheads="1"/>
            </p:cNvSpPr>
            <p:nvPr/>
          </p:nvSpPr>
          <p:spPr bwMode="auto">
            <a:xfrm>
              <a:off x="2263" y="863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n</a:t>
              </a:r>
            </a:p>
          </p:txBody>
        </p:sp>
        <p:sp>
          <p:nvSpPr>
            <p:cNvPr id="1129501" name="Line 29"/>
            <p:cNvSpPr>
              <a:spLocks noChangeShapeType="1"/>
            </p:cNvSpPr>
            <p:nvPr/>
          </p:nvSpPr>
          <p:spPr bwMode="auto">
            <a:xfrm>
              <a:off x="1882" y="2750"/>
              <a:ext cx="0" cy="589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502" name="Text Box 30"/>
            <p:cNvSpPr txBox="1">
              <a:spLocks noChangeArrowheads="1"/>
            </p:cNvSpPr>
            <p:nvPr/>
          </p:nvSpPr>
          <p:spPr bwMode="auto">
            <a:xfrm>
              <a:off x="1610" y="3339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返回值</a:t>
              </a:r>
            </a:p>
          </p:txBody>
        </p:sp>
        <p:sp>
          <p:nvSpPr>
            <p:cNvPr id="1129505" name="Text Box 33"/>
            <p:cNvSpPr txBox="1">
              <a:spLocks noChangeArrowheads="1"/>
            </p:cNvSpPr>
            <p:nvPr/>
          </p:nvSpPr>
          <p:spPr bwMode="auto">
            <a:xfrm>
              <a:off x="3198" y="2024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功能</a:t>
              </a:r>
            </a:p>
          </p:txBody>
        </p:sp>
        <p:sp>
          <p:nvSpPr>
            <p:cNvPr id="1129511" name="AutoShape 39"/>
            <p:cNvSpPr>
              <a:spLocks/>
            </p:cNvSpPr>
            <p:nvPr/>
          </p:nvSpPr>
          <p:spPr bwMode="auto">
            <a:xfrm>
              <a:off x="612" y="890"/>
              <a:ext cx="181" cy="2585"/>
            </a:xfrm>
            <a:prstGeom prst="leftBrace">
              <a:avLst>
                <a:gd name="adj1" fmla="val 119015"/>
                <a:gd name="adj2" fmla="val 50000"/>
              </a:avLst>
            </a:prstGeom>
            <a:noFill/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512" name="Text Box 40"/>
            <p:cNvSpPr txBox="1">
              <a:spLocks noChangeArrowheads="1"/>
            </p:cNvSpPr>
            <p:nvPr/>
          </p:nvSpPr>
          <p:spPr bwMode="auto">
            <a:xfrm>
              <a:off x="377" y="1888"/>
              <a:ext cx="317" cy="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函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数</a:t>
              </a:r>
            </a:p>
          </p:txBody>
        </p:sp>
      </p:grpSp>
      <p:sp>
        <p:nvSpPr>
          <p:cNvPr id="1129513" name="Rectangle 41"/>
          <p:cNvSpPr>
            <a:spLocks noChangeArrowheads="1"/>
          </p:cNvSpPr>
          <p:nvPr/>
        </p:nvSpPr>
        <p:spPr bwMode="auto">
          <a:xfrm>
            <a:off x="683887" y="1530424"/>
            <a:ext cx="3168352" cy="378565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+mn-lt"/>
                <a:ea typeface="楷体" pitchFamily="49" charset="-122"/>
              </a:rPr>
              <a:t>　　函数的封装使外界对函数的影响仅限于几个参数。函数的设计者可以专心于参数的处理和函数的实现，完全不必关心调用者是什么。而函数对外界的影响也仅限于一个返回值和指针、数组类型的参数。 </a:t>
            </a:r>
          </a:p>
        </p:txBody>
      </p:sp>
      <p:sp>
        <p:nvSpPr>
          <p:cNvPr id="1129514" name="Rectangle 42"/>
          <p:cNvSpPr>
            <a:spLocks noChangeArrowheads="1"/>
          </p:cNvSpPr>
          <p:nvPr/>
        </p:nvSpPr>
        <p:spPr bwMode="auto">
          <a:xfrm>
            <a:off x="4655840" y="200488"/>
            <a:ext cx="6997843" cy="46166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ea typeface="隶书" pitchFamily="49" charset="-122"/>
              </a:rPr>
              <a:t>函数的参数和返回值的设计是封装中的关键一步！</a:t>
            </a:r>
            <a:r>
              <a:rPr lang="zh-CN" altLang="en-US" dirty="0">
                <a:solidFill>
                  <a:srgbClr val="C01920"/>
                </a:solidFill>
              </a:rPr>
              <a:t> </a:t>
            </a:r>
          </a:p>
        </p:txBody>
      </p:sp>
      <p:sp>
        <p:nvSpPr>
          <p:cNvPr id="1129515" name="Rectangle 43"/>
          <p:cNvSpPr>
            <a:spLocks noChangeArrowheads="1"/>
          </p:cNvSpPr>
          <p:nvPr/>
        </p:nvSpPr>
        <p:spPr bwMode="auto">
          <a:xfrm>
            <a:off x="467131" y="5505259"/>
            <a:ext cx="11161240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+mn-lt"/>
                <a:ea typeface="楷体" pitchFamily="49" charset="-122"/>
              </a:rPr>
              <a:t>　　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尽可能少用全局变量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，除非一个变量的值经常被程序中多个模块和函数使用，而且它的类型固定（随着程序的升级不会改变），并只有很有限的几个地方需要修改它，才非常适合定义为全局变量。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9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29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29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29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513" grpId="0" animBg="1"/>
      <p:bldP spid="1129514" grpId="0" animBg="1"/>
      <p:bldP spid="112951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192" name="Rectangle 8"/>
          <p:cNvSpPr>
            <a:spLocks noChangeArrowheads="1"/>
          </p:cNvSpPr>
          <p:nvPr/>
        </p:nvSpPr>
        <p:spPr bwMode="auto">
          <a:xfrm>
            <a:off x="826472" y="807095"/>
            <a:ext cx="55996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1】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对两个任意长度的大整数求和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1055440" y="1443539"/>
            <a:ext cx="10657184" cy="2308324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b="1" u="sng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设计思想：</a:t>
            </a:r>
            <a:endParaRPr lang="en-US" altLang="zh-CN" b="1" u="sng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b="1" u="sng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a typeface="楷体" pitchFamily="49" charset="-122"/>
              </a:rPr>
              <a:t>        </a:t>
            </a:r>
            <a:r>
              <a:rPr lang="zh-CN" altLang="en-US" b="1" dirty="0">
                <a:ln w="1905"/>
                <a:solidFill>
                  <a:schemeClr val="tx1"/>
                </a:solidFill>
                <a:ea typeface="楷体" pitchFamily="49" charset="-122"/>
              </a:rPr>
              <a:t>由于</a:t>
            </a:r>
            <a:r>
              <a:rPr lang="en-US" altLang="zh-CN" b="1" dirty="0">
                <a:ln w="1905"/>
                <a:solidFill>
                  <a:schemeClr val="tx1"/>
                </a:solidFill>
                <a:ea typeface="楷体" pitchFamily="49" charset="-122"/>
              </a:rPr>
              <a:t>C</a:t>
            </a:r>
            <a:r>
              <a:rPr lang="zh-CN" altLang="en-US" b="1" dirty="0">
                <a:ln w="1905"/>
                <a:solidFill>
                  <a:schemeClr val="tx1"/>
                </a:solidFill>
                <a:ea typeface="楷体" pitchFamily="49" charset="-122"/>
              </a:rPr>
              <a:t>语言中对于整型数据来说都有其数据表示范围，当某个整数超出整型数据表示范围时，将无法用一个整型变量来存储它的，更不用说对这样的两个数进行求和了，为了解决这个问题，我们可以用数字字符串的形式来表示它们，然后通过对数字字符串进行相加就可以实现任意长度的大整数求和。 </a:t>
            </a:r>
          </a:p>
        </p:txBody>
      </p:sp>
      <p:grpSp>
        <p:nvGrpSpPr>
          <p:cNvPr id="1117231" name="Group 47"/>
          <p:cNvGrpSpPr>
            <a:grpSpLocks/>
          </p:cNvGrpSpPr>
          <p:nvPr/>
        </p:nvGrpSpPr>
        <p:grpSpPr bwMode="auto">
          <a:xfrm>
            <a:off x="2999656" y="4076477"/>
            <a:ext cx="6984776" cy="1728787"/>
            <a:chOff x="703" y="2523"/>
            <a:chExt cx="3674" cy="1089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7230" name="Rectangle 46"/>
            <p:cNvSpPr>
              <a:spLocks noChangeArrowheads="1"/>
            </p:cNvSpPr>
            <p:nvPr/>
          </p:nvSpPr>
          <p:spPr bwMode="auto">
            <a:xfrm>
              <a:off x="703" y="2523"/>
              <a:ext cx="3674" cy="1089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17229" name="Group 45"/>
            <p:cNvGrpSpPr>
              <a:grpSpLocks/>
            </p:cNvGrpSpPr>
            <p:nvPr/>
          </p:nvGrpSpPr>
          <p:grpSpPr bwMode="auto">
            <a:xfrm>
              <a:off x="1004" y="2544"/>
              <a:ext cx="3053" cy="979"/>
              <a:chOff x="820" y="2488"/>
              <a:chExt cx="3053" cy="979"/>
            </a:xfrm>
          </p:grpSpPr>
          <p:sp>
            <p:nvSpPr>
              <p:cNvPr id="1117223" name="Text Box 39"/>
              <p:cNvSpPr txBox="1">
                <a:spLocks noChangeArrowheads="1"/>
              </p:cNvSpPr>
              <p:nvPr/>
            </p:nvSpPr>
            <p:spPr bwMode="auto">
              <a:xfrm>
                <a:off x="1338" y="2523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002060"/>
                    </a:solidFill>
                  </a:rPr>
                  <a:t>“</a:t>
                </a:r>
                <a:r>
                  <a:rPr lang="en-US" altLang="zh-CN" b="1" dirty="0"/>
                  <a:t>22222222222222222222</a:t>
                </a:r>
                <a:r>
                  <a:rPr lang="en-US" altLang="zh-CN" b="1" dirty="0">
                    <a:solidFill>
                      <a:srgbClr val="002060"/>
                    </a:solidFill>
                  </a:rPr>
                  <a:t>”</a:t>
                </a:r>
              </a:p>
            </p:txBody>
          </p:sp>
          <p:sp>
            <p:nvSpPr>
              <p:cNvPr id="1117224" name="Text Box 40"/>
              <p:cNvSpPr txBox="1">
                <a:spLocks noChangeArrowheads="1"/>
              </p:cNvSpPr>
              <p:nvPr/>
            </p:nvSpPr>
            <p:spPr bwMode="auto">
              <a:xfrm>
                <a:off x="1330" y="2795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002060"/>
                    </a:solidFill>
                  </a:rPr>
                  <a:t>“</a:t>
                </a:r>
                <a:r>
                  <a:rPr lang="en-US" altLang="zh-CN" b="1" dirty="0"/>
                  <a:t>33333333333333333333</a:t>
                </a:r>
                <a:r>
                  <a:rPr lang="en-US" altLang="zh-CN" b="1" dirty="0">
                    <a:solidFill>
                      <a:srgbClr val="002060"/>
                    </a:solidFill>
                  </a:rPr>
                  <a:t>”</a:t>
                </a:r>
              </a:p>
            </p:txBody>
          </p:sp>
          <p:sp>
            <p:nvSpPr>
              <p:cNvPr id="1117225" name="Text Box 41"/>
              <p:cNvSpPr txBox="1">
                <a:spLocks noChangeArrowheads="1"/>
              </p:cNvSpPr>
              <p:nvPr/>
            </p:nvSpPr>
            <p:spPr bwMode="auto">
              <a:xfrm>
                <a:off x="975" y="2779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/>
                  <a:t>＋</a:t>
                </a:r>
              </a:p>
            </p:txBody>
          </p:sp>
          <p:sp>
            <p:nvSpPr>
              <p:cNvPr id="1117226" name="Line 42"/>
              <p:cNvSpPr>
                <a:spLocks noChangeShapeType="1"/>
              </p:cNvSpPr>
              <p:nvPr/>
            </p:nvSpPr>
            <p:spPr bwMode="auto">
              <a:xfrm>
                <a:off x="833" y="3142"/>
                <a:ext cx="30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7227" name="Text Box 43"/>
              <p:cNvSpPr txBox="1">
                <a:spLocks noChangeArrowheads="1"/>
              </p:cNvSpPr>
              <p:nvPr/>
            </p:nvSpPr>
            <p:spPr bwMode="auto">
              <a:xfrm>
                <a:off x="1338" y="3179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002060"/>
                    </a:solidFill>
                  </a:rPr>
                  <a:t>“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55555555555555555555</a:t>
                </a:r>
                <a:r>
                  <a:rPr lang="en-US" altLang="zh-CN" b="1" dirty="0">
                    <a:solidFill>
                      <a:srgbClr val="002060"/>
                    </a:solidFill>
                  </a:rPr>
                  <a:t>”</a:t>
                </a:r>
              </a:p>
            </p:txBody>
          </p:sp>
          <p:sp>
            <p:nvSpPr>
              <p:cNvPr id="1117228" name="Text Box 44"/>
              <p:cNvSpPr txBox="1">
                <a:spLocks noChangeArrowheads="1"/>
              </p:cNvSpPr>
              <p:nvPr/>
            </p:nvSpPr>
            <p:spPr bwMode="auto">
              <a:xfrm>
                <a:off x="820" y="2488"/>
                <a:ext cx="59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C00000"/>
                    </a:solidFill>
                    <a:ea typeface="隶书" pitchFamily="49" charset="-122"/>
                  </a:rPr>
                  <a:t>如：</a:t>
                </a:r>
              </a:p>
            </p:txBody>
          </p:sp>
        </p:grpSp>
      </p:grpSp>
      <p:sp>
        <p:nvSpPr>
          <p:cNvPr id="17" name="Rectangle 4">
            <a:extLst>
              <a:ext uri="{FF2B5EF4-FFF2-40B4-BE49-F238E27FC236}">
                <a16:creationId xmlns:a16="http://schemas.microsoft.com/office/drawing/2014/main" id="{80393602-2113-4801-B5E4-32706071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7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7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92" grpId="0"/>
      <p:bldP spid="11172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67408" y="908720"/>
            <a:ext cx="5832475" cy="4092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/>
              <a:t>#include &lt;</a:t>
            </a:r>
            <a:r>
              <a:rPr kumimoji="0" lang="en-US" altLang="zh-CN" sz="2000" b="1" dirty="0" err="1"/>
              <a:t>stdio.h</a:t>
            </a:r>
            <a:r>
              <a:rPr kumimoji="0" lang="en-US" altLang="zh-CN" sz="2000" b="1" dirty="0"/>
              <a:t>&gt;</a:t>
            </a:r>
          </a:p>
          <a:p>
            <a:pPr marL="457200" indent="-457200"/>
            <a:r>
              <a:rPr kumimoji="0" lang="en-US" altLang="zh-CN" sz="2000" b="1" dirty="0"/>
              <a:t>#include &lt;</a:t>
            </a:r>
            <a:r>
              <a:rPr kumimoji="0" lang="en-US" altLang="zh-CN" sz="2000" b="1" dirty="0" err="1"/>
              <a:t>conio.h</a:t>
            </a:r>
            <a:r>
              <a:rPr kumimoji="0" lang="en-US" altLang="zh-CN" sz="2000" b="1" dirty="0"/>
              <a:t>&gt;</a:t>
            </a:r>
          </a:p>
          <a:p>
            <a:pPr marL="457200" indent="-457200"/>
            <a:r>
              <a:rPr kumimoji="0" lang="en-US" altLang="zh-CN" sz="2000" b="1" dirty="0"/>
              <a:t>#include &lt;</a:t>
            </a:r>
            <a:r>
              <a:rPr kumimoji="0" lang="en-US" altLang="zh-CN" sz="2000" b="1" dirty="0" err="1"/>
              <a:t>string.h</a:t>
            </a:r>
            <a:r>
              <a:rPr kumimoji="0" lang="en-US" altLang="zh-CN" sz="2000" b="1" dirty="0"/>
              <a:t>&gt;</a:t>
            </a:r>
          </a:p>
          <a:p>
            <a:pPr marL="457200" indent="-457200"/>
            <a:endParaRPr kumimoji="0" lang="en-US" altLang="zh-CN" sz="2000" b="1" dirty="0"/>
          </a:p>
          <a:p>
            <a:pPr marL="457200" indent="-457200"/>
            <a:r>
              <a:rPr kumimoji="0" lang="en-US" altLang="zh-CN" sz="2000" b="1" dirty="0"/>
              <a:t>#define N  20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数字字符的个数</a:t>
            </a:r>
          </a:p>
          <a:p>
            <a:pPr marL="457200" indent="-457200"/>
            <a:endParaRPr kumimoji="0" lang="zh-CN" altLang="en-US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beep ( 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GetNumberStr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s[ ]);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AddNumberStr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a[ ], char b[ ], char c[ ]);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char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AddChar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ch1, char ch2);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LeftTrim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str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[ ]);</a:t>
            </a:r>
          </a:p>
          <a:p>
            <a:pPr marL="457200" indent="-457200"/>
            <a:endParaRPr kumimoji="0" lang="en-US" altLang="zh-CN" sz="2000" b="1" dirty="0">
              <a:solidFill>
                <a:srgbClr val="CC0099"/>
              </a:solidFill>
            </a:endParaRPr>
          </a:p>
          <a:p>
            <a:pPr marL="457200" indent="-457200"/>
            <a:r>
              <a:rPr kumimoji="0" lang="en-US" altLang="zh-CN" sz="2000" b="1" dirty="0" err="1"/>
              <a:t>int</a:t>
            </a:r>
            <a:r>
              <a:rPr kumimoji="0" lang="en-US" altLang="zh-CN" sz="2000" b="1" dirty="0"/>
              <a:t> tag = 0;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进位标志，全局变量</a:t>
            </a:r>
          </a:p>
        </p:txBody>
      </p:sp>
      <p:sp>
        <p:nvSpPr>
          <p:cNvPr id="1118227" name="Rectangle 19" descr="信纸"/>
          <p:cNvSpPr>
            <a:spLocks noChangeArrowheads="1"/>
          </p:cNvSpPr>
          <p:nvPr/>
        </p:nvSpPr>
        <p:spPr bwMode="auto">
          <a:xfrm>
            <a:off x="6528543" y="1888371"/>
            <a:ext cx="5472113" cy="470898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char a[N+1] = {0}, b[N+1] = {0}, c[N+2];</a:t>
            </a:r>
          </a:p>
          <a:p>
            <a:pPr marL="457200" indent="-457200"/>
            <a:endParaRPr kumimoji="0"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("a = 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while (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(a) == 0)     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输入被加数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ea typeface="楷体_GB2312" pitchFamily="49" charset="-122"/>
              </a:rPr>
              <a:t> (a);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("\</a:t>
            </a:r>
            <a:r>
              <a:rPr kumimoji="0" lang="en-US" altLang="zh-CN" sz="2000" b="1" dirty="0" err="1">
                <a:ea typeface="楷体_GB2312" pitchFamily="49" charset="-122"/>
              </a:rPr>
              <a:t>nb</a:t>
            </a:r>
            <a:r>
              <a:rPr kumimoji="0" lang="en-US" altLang="zh-CN" sz="2000" b="1" dirty="0">
                <a:ea typeface="楷体_GB2312" pitchFamily="49" charset="-122"/>
              </a:rPr>
              <a:t> = 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while (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(b) == 0)     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输入加数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ea typeface="楷体_GB2312" pitchFamily="49" charset="-122"/>
              </a:rPr>
              <a:t> (b);</a:t>
            </a:r>
          </a:p>
          <a:p>
            <a:pPr marL="457200" indent="-457200"/>
            <a:endParaRPr kumimoji="0"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AddNumberStr</a:t>
            </a:r>
            <a:r>
              <a:rPr kumimoji="0"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(a, b, c);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计算和数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("\</a:t>
            </a:r>
            <a:r>
              <a:rPr kumimoji="0" lang="en-US" altLang="zh-CN" sz="2000" b="1" dirty="0" err="1">
                <a:ea typeface="楷体_GB2312" pitchFamily="49" charset="-122"/>
              </a:rPr>
              <a:t>na</a:t>
            </a:r>
            <a:r>
              <a:rPr kumimoji="0" lang="en-US" altLang="zh-CN" sz="2000" b="1" dirty="0">
                <a:ea typeface="楷体_GB2312" pitchFamily="49" charset="-122"/>
              </a:rPr>
              <a:t> + b = %s \n", c);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显示计算结果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CFEAB7-43D5-4D5D-8C86-B5A2F895B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8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1118227" grpId="0" animBg="1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>
            <a:extLst>
              <a:ext uri="{FF2B5EF4-FFF2-40B4-BE49-F238E27FC236}">
                <a16:creationId xmlns:a16="http://schemas.microsoft.com/office/drawing/2014/main" id="{521D48E3-4F3E-4204-AC46-72AE0B1DB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9237" name="Rectangle 5" descr="信纸"/>
          <p:cNvSpPr>
            <a:spLocks noChangeArrowheads="1"/>
          </p:cNvSpPr>
          <p:nvPr/>
        </p:nvSpPr>
        <p:spPr bwMode="auto">
          <a:xfrm>
            <a:off x="946875" y="161926"/>
            <a:ext cx="5329237" cy="6530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读取数字字符串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(char s[ ])</a:t>
            </a:r>
            <a:endParaRPr kumimoji="0" lang="en-US" altLang="zh-CN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= 0;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char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while ( 1 )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a typeface="楷体_GB2312" pitchFamily="49" charset="-122"/>
              </a:rPr>
              <a:t>getch</a:t>
            </a:r>
            <a:r>
              <a:rPr kumimoji="0" lang="en-US" altLang="zh-CN" sz="2000" b="1" dirty="0">
                <a:ea typeface="楷体_GB2312" pitchFamily="49" charset="-122"/>
              </a:rPr>
              <a:t> ( );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读取输入的字符，不显示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== '\r')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回车符，退出</a:t>
            </a:r>
            <a:r>
              <a:rPr kumimoji="0" lang="zh-CN" altLang="en-US" sz="18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    </a:t>
            </a:r>
            <a:r>
              <a:rPr kumimoji="0" lang="en-US" altLang="zh-CN" sz="2000" b="1" dirty="0">
                <a:ea typeface="楷体_GB2312" pitchFamily="49" charset="-122"/>
              </a:rPr>
              <a:t>break;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== '\b')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退格符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if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&gt; 0) 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("%c %c",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,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--;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else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 beep ( 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continue;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}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//if</a:t>
            </a:r>
          </a:p>
        </p:txBody>
      </p:sp>
      <p:sp>
        <p:nvSpPr>
          <p:cNvPr id="1119239" name="Rectangle 7" descr="信纸"/>
          <p:cNvSpPr>
            <a:spLocks noChangeArrowheads="1"/>
          </p:cNvSpPr>
          <p:nvPr/>
        </p:nvSpPr>
        <p:spPr bwMode="auto">
          <a:xfrm>
            <a:off x="6863453" y="1918892"/>
            <a:ext cx="4537075" cy="47625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dirty="0"/>
              <a:t>     </a:t>
            </a:r>
            <a:r>
              <a:rPr kumimoji="0" lang="en-US" altLang="zh-CN" sz="2000" b="1" dirty="0">
                <a:ea typeface="楷体_GB2312" pitchFamily="49" charset="-122"/>
              </a:rPr>
              <a:t>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&lt; '0' ||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&gt; '9')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非数字字符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beep ( 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continue;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if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&lt; N)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("%c",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s[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++] =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else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beep ( 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}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//while (1)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s[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] = '\0';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  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B98FA8-61CC-4555-881B-B26EDB50FDFE}"/>
              </a:ext>
            </a:extLst>
          </p:cNvPr>
          <p:cNvGrpSpPr/>
          <p:nvPr/>
        </p:nvGrpSpPr>
        <p:grpSpPr>
          <a:xfrm>
            <a:off x="7588290" y="1135900"/>
            <a:ext cx="2900198" cy="1250676"/>
            <a:chOff x="7588290" y="1135900"/>
            <a:chExt cx="2900198" cy="1250676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3277D138-52DA-4B0D-BBB0-7E517B6441EE}"/>
                </a:ext>
              </a:extLst>
            </p:cNvPr>
            <p:cNvSpPr/>
            <p:nvPr/>
          </p:nvSpPr>
          <p:spPr bwMode="auto">
            <a:xfrm>
              <a:off x="7588290" y="1966527"/>
              <a:ext cx="1911964" cy="420049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" name="标注: 线形 2">
              <a:extLst>
                <a:ext uri="{FF2B5EF4-FFF2-40B4-BE49-F238E27FC236}">
                  <a16:creationId xmlns:a16="http://schemas.microsoft.com/office/drawing/2014/main" id="{469F4ED5-B01B-4CC2-BE95-D07FFC69651C}"/>
                </a:ext>
              </a:extLst>
            </p:cNvPr>
            <p:cNvSpPr/>
            <p:nvPr/>
          </p:nvSpPr>
          <p:spPr bwMode="auto">
            <a:xfrm>
              <a:off x="8832304" y="1135900"/>
              <a:ext cx="1656184" cy="553751"/>
            </a:xfrm>
            <a:prstGeom prst="borderCallout1">
              <a:avLst>
                <a:gd name="adj1" fmla="val 18750"/>
                <a:gd name="adj2" fmla="val -8333"/>
                <a:gd name="adj3" fmla="val 141218"/>
                <a:gd name="adj4" fmla="val -34308"/>
              </a:avLst>
            </a:prstGeom>
            <a:gradFill flip="none" rotWithShape="1">
              <a:gsLst>
                <a:gs pos="0">
                  <a:srgbClr val="BEDFC4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!</a:t>
              </a:r>
              <a:r>
                <a:rPr lang="en-US" altLang="zh-CN" b="1" dirty="0" err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isdigit</a:t>
              </a: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(</a:t>
              </a:r>
              <a:r>
                <a:rPr lang="en-US" altLang="zh-CN" b="1" dirty="0" err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ch</a:t>
              </a: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)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215A40D-55F4-44A8-9D2B-C741501E534E}"/>
              </a:ext>
            </a:extLst>
          </p:cNvPr>
          <p:cNvSpPr txBox="1"/>
          <p:nvPr/>
        </p:nvSpPr>
        <p:spPr>
          <a:xfrm>
            <a:off x="2329271" y="5073124"/>
            <a:ext cx="716694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452_</a:t>
            </a:r>
            <a:endParaRPr lang="zh-CN" altLang="en-US" sz="2000" b="1" dirty="0">
              <a:solidFill>
                <a:srgbClr val="C0192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7C96AB-1410-477B-AA71-0FC54E9135C9}"/>
              </a:ext>
            </a:extLst>
          </p:cNvPr>
          <p:cNvSpPr txBox="1"/>
          <p:nvPr/>
        </p:nvSpPr>
        <p:spPr>
          <a:xfrm>
            <a:off x="3307566" y="5073124"/>
            <a:ext cx="716400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</a:t>
            </a:r>
            <a:r>
              <a:rPr lang="en-US" altLang="zh-CN" sz="2000" b="1" u="sng" dirty="0">
                <a:solidFill>
                  <a:srgbClr val="C01920"/>
                </a:solidFill>
              </a:rPr>
              <a:t>2</a:t>
            </a:r>
            <a:endParaRPr lang="zh-CN" altLang="en-US" sz="2000" b="1" u="sng" dirty="0">
              <a:solidFill>
                <a:srgbClr val="C0192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AA7BE1-8F4C-4DAA-BC27-E681298655FF}"/>
              </a:ext>
            </a:extLst>
          </p:cNvPr>
          <p:cNvSpPr txBox="1"/>
          <p:nvPr/>
        </p:nvSpPr>
        <p:spPr>
          <a:xfrm>
            <a:off x="4307819" y="5075245"/>
            <a:ext cx="716694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 _</a:t>
            </a:r>
            <a:r>
              <a:rPr lang="en-US" altLang="zh-CN" sz="2000" b="1" u="sng" dirty="0">
                <a:solidFill>
                  <a:srgbClr val="C01920"/>
                </a:solidFill>
              </a:rPr>
              <a:t> </a:t>
            </a:r>
            <a:endParaRPr lang="zh-CN" altLang="en-US" sz="2000" b="1" u="sng" dirty="0">
              <a:solidFill>
                <a:srgbClr val="C0192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CC1CD6-9326-41C2-AD3B-C37D5A49C7D9}"/>
              </a:ext>
            </a:extLst>
          </p:cNvPr>
          <p:cNvSpPr txBox="1"/>
          <p:nvPr/>
        </p:nvSpPr>
        <p:spPr>
          <a:xfrm>
            <a:off x="5307298" y="5085184"/>
            <a:ext cx="716694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45_</a:t>
            </a:r>
            <a:r>
              <a:rPr lang="en-US" altLang="zh-CN" sz="2000" b="1" u="sng" dirty="0">
                <a:solidFill>
                  <a:srgbClr val="C01920"/>
                </a:solidFill>
              </a:rPr>
              <a:t> </a:t>
            </a:r>
            <a:endParaRPr lang="zh-CN" altLang="en-US" sz="2000" b="1" u="sng" dirty="0">
              <a:solidFill>
                <a:srgbClr val="C0192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FEA05F0-96B4-4371-8729-7C9C49B413E1}"/>
              </a:ext>
            </a:extLst>
          </p:cNvPr>
          <p:cNvCxnSpPr>
            <a:stCxn id="5" idx="3"/>
            <a:endCxn id="11" idx="1"/>
          </p:cNvCxnSpPr>
          <p:nvPr/>
        </p:nvCxnSpPr>
        <p:spPr bwMode="auto">
          <a:xfrm>
            <a:off x="3045965" y="527317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D467DEF-8E84-41E9-B276-6C34E554E710}"/>
              </a:ext>
            </a:extLst>
          </p:cNvPr>
          <p:cNvCxnSpPr/>
          <p:nvPr/>
        </p:nvCxnSpPr>
        <p:spPr bwMode="auto">
          <a:xfrm>
            <a:off x="4044138" y="529126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9B9D88C-0D93-4626-8C80-598E14EC6805}"/>
              </a:ext>
            </a:extLst>
          </p:cNvPr>
          <p:cNvCxnSpPr/>
          <p:nvPr/>
        </p:nvCxnSpPr>
        <p:spPr bwMode="auto">
          <a:xfrm>
            <a:off x="5035758" y="529126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39B780A-A46C-4F67-9946-D2A8152A3BF4}"/>
              </a:ext>
            </a:extLst>
          </p:cNvPr>
          <p:cNvSpPr/>
          <p:nvPr/>
        </p:nvSpPr>
        <p:spPr bwMode="auto">
          <a:xfrm>
            <a:off x="1609191" y="4469364"/>
            <a:ext cx="2952328" cy="36391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9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9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237" grpId="0" animBg="1" autoUpdateAnimBg="0"/>
      <p:bldP spid="1119239" grpId="0" animBg="1" autoUpdateAnimBg="0"/>
      <p:bldP spid="5" grpId="0" animBg="1"/>
      <p:bldP spid="11" grpId="0" animBg="1"/>
      <p:bldP spid="12" grpId="0" animBg="1"/>
      <p:bldP spid="13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59598DA9-2C9F-443D-9B98-0AD7EDBC5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20261" name="Rectangle 5" descr="信纸"/>
          <p:cNvSpPr>
            <a:spLocks noChangeArrowheads="1"/>
          </p:cNvSpPr>
          <p:nvPr/>
        </p:nvSpPr>
        <p:spPr bwMode="auto">
          <a:xfrm>
            <a:off x="4583498" y="404814"/>
            <a:ext cx="6912918" cy="6226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计算两个数字字符串之和，放在</a:t>
            </a:r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c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AddNumberStr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(char a[ ], char b[ ], char c[ ])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a typeface="楷体_GB2312" pitchFamily="49" charset="-122"/>
              </a:rPr>
              <a:t>i,j,k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memset</a:t>
            </a:r>
            <a:r>
              <a:rPr kumimoji="0" lang="en-US" altLang="zh-CN" sz="2000" b="1" dirty="0">
                <a:ea typeface="楷体_GB2312" pitchFamily="49" charset="-122"/>
              </a:rPr>
              <a:t> (c, ' ', N+2);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全部清空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(a) - 1;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j = 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(b) - 1;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k = N;</a:t>
            </a:r>
          </a:p>
          <a:p>
            <a:pPr marL="457200" indent="-457200"/>
            <a:r>
              <a:rPr kumimoji="0"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将被加数与加数按照从右向左的顺序相加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>
                <a:ea typeface="楷体_GB2312" pitchFamily="49" charset="-122"/>
              </a:rPr>
              <a:t>while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&gt;= 0 &amp;&amp; j &gt;= 0)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c[k--] = </a:t>
            </a:r>
            <a:r>
              <a:rPr kumimoji="0" lang="en-US" altLang="zh-CN" sz="2000" b="1" dirty="0" err="1"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a typeface="楷体_GB2312" pitchFamily="49" charset="-122"/>
              </a:rPr>
              <a:t> (a[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--], b[j--]);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while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&gt;= 0)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被加数没有加完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 </a:t>
            </a:r>
            <a:r>
              <a:rPr kumimoji="0" lang="en-US" altLang="zh-CN" sz="2000" b="1" dirty="0">
                <a:ea typeface="楷体_GB2312" pitchFamily="49" charset="-122"/>
              </a:rPr>
              <a:t>c[k--] = </a:t>
            </a:r>
            <a:r>
              <a:rPr kumimoji="0" lang="en-US" altLang="zh-CN" sz="2000" b="1" dirty="0" err="1"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a typeface="楷体_GB2312" pitchFamily="49" charset="-122"/>
              </a:rPr>
              <a:t> (a[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--], '0');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while (j &gt;= 0)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加数没有加完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c[k--] = </a:t>
            </a:r>
            <a:r>
              <a:rPr kumimoji="0" lang="en-US" altLang="zh-CN" sz="2000" b="1" dirty="0" err="1"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a typeface="楷体_GB2312" pitchFamily="49" charset="-122"/>
              </a:rPr>
              <a:t> (b[j--], '0');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if (tag == 1)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最后有进位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,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将其放在和数的最高位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 </a:t>
            </a:r>
            <a:r>
              <a:rPr kumimoji="0" lang="en-US" altLang="zh-CN" sz="2000" b="1" dirty="0">
                <a:ea typeface="楷体_GB2312" pitchFamily="49" charset="-122"/>
              </a:rPr>
              <a:t>c[k] = '1';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c[N+1] = '\0';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LeftTrim</a:t>
            </a:r>
            <a:r>
              <a:rPr kumimoji="0" lang="en-US" altLang="zh-CN" sz="2000" b="1" dirty="0">
                <a:ea typeface="楷体_GB2312" pitchFamily="49" charset="-122"/>
              </a:rPr>
              <a:t> (c);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去掉字符串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左边的空格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120263" name="Rectangle 7" descr="信纸"/>
          <p:cNvSpPr>
            <a:spLocks noChangeArrowheads="1"/>
          </p:cNvSpPr>
          <p:nvPr/>
        </p:nvSpPr>
        <p:spPr bwMode="auto">
          <a:xfrm>
            <a:off x="943867" y="1124744"/>
            <a:ext cx="2952254" cy="1654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响铃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beep (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("\07");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0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0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61" grpId="0" animBg="1" autoUpdateAnimBg="0"/>
      <p:bldP spid="1120263" grpId="0" animBg="1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77926A37-E0F7-4D21-8D31-49346807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21285" name="Rectangle 5" descr="信纸"/>
          <p:cNvSpPr>
            <a:spLocks noChangeArrowheads="1"/>
          </p:cNvSpPr>
          <p:nvPr/>
        </p:nvSpPr>
        <p:spPr bwMode="auto">
          <a:xfrm>
            <a:off x="715321" y="819993"/>
            <a:ext cx="6192837" cy="5921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计算两个数字字符之和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char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(char ch1, char ch2)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char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两数字字符所对应的数字与进位相加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 (ch1-0x30 + ch2-0x30) + tag;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&gt;= 10)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结果大于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tag = 1;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有进位</a:t>
            </a:r>
          </a:p>
          <a:p>
            <a:pPr marL="457200" indent="-457200"/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将个位数减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后加上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0x30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转换成其数字字符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return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- 10 + 0x30);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else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结果小于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tag = 0;  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没进位</a:t>
            </a:r>
          </a:p>
          <a:p>
            <a:pPr marL="457200" indent="-457200"/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将和数加上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0x30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转换成其数字字符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return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+ 0x30);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121287" name="Rectangle 7" descr="信纸"/>
          <p:cNvSpPr>
            <a:spLocks noChangeArrowheads="1"/>
          </p:cNvSpPr>
          <p:nvPr/>
        </p:nvSpPr>
        <p:spPr bwMode="auto">
          <a:xfrm>
            <a:off x="7249641" y="1868537"/>
            <a:ext cx="4176464" cy="2568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去掉字符串左边的空格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LeftTrim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(char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查找第一个非空格字符的位置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>
                <a:ea typeface="楷体_GB2312" pitchFamily="49" charset="-122"/>
              </a:rPr>
              <a:t>for(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= 0; </a:t>
            </a:r>
            <a:r>
              <a:rPr kumimoji="0" lang="en-US" altLang="zh-CN" sz="2000" b="1" dirty="0" err="1"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ea typeface="楷体_GB2312" pitchFamily="49" charset="-122"/>
              </a:rPr>
              <a:t>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] = = ' ';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++) 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strcpy</a:t>
            </a:r>
            <a:r>
              <a:rPr kumimoji="0" lang="en-US" altLang="zh-CN" sz="2000" b="1" dirty="0">
                <a:ea typeface="楷体_GB2312" pitchFamily="49" charset="-122"/>
              </a:rPr>
              <a:t> (</a:t>
            </a:r>
            <a:r>
              <a:rPr kumimoji="0" lang="en-US" altLang="zh-CN" sz="2000" b="1" dirty="0" err="1"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ea typeface="楷体_GB2312" pitchFamily="49" charset="-122"/>
              </a:rPr>
              <a:t>, </a:t>
            </a:r>
            <a:r>
              <a:rPr kumimoji="0" lang="en-US" altLang="zh-CN" sz="2000" b="1" dirty="0" err="1">
                <a:ea typeface="楷体_GB2312" pitchFamily="49" charset="-122"/>
              </a:rPr>
              <a:t>str+i</a:t>
            </a:r>
            <a:r>
              <a:rPr kumimoji="0"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}</a:t>
            </a:r>
          </a:p>
        </p:txBody>
      </p:sp>
      <p:sp>
        <p:nvSpPr>
          <p:cNvPr id="1121288" name="Text Box 8"/>
          <p:cNvSpPr txBox="1">
            <a:spLocks noChangeArrowheads="1"/>
          </p:cNvSpPr>
          <p:nvPr/>
        </p:nvSpPr>
        <p:spPr bwMode="auto">
          <a:xfrm>
            <a:off x="7248128" y="4869160"/>
            <a:ext cx="4177977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/>
              <a:t>a = 12345678901234567890</a:t>
            </a:r>
            <a:r>
              <a:rPr lang="en-US" altLang="en-US" sz="2000" b="1" dirty="0">
                <a:latin typeface="+mj-ea"/>
                <a:ea typeface="+mj-ea"/>
              </a:rPr>
              <a:t>↙</a:t>
            </a:r>
            <a:r>
              <a:rPr lang="en-US" altLang="zh-CN" sz="2000" b="1" dirty="0"/>
              <a:t>        </a:t>
            </a:r>
          </a:p>
          <a:p>
            <a:r>
              <a:rPr lang="en-US" altLang="zh-CN" sz="2000" b="1" dirty="0"/>
              <a:t>b = 99999999992222222222</a:t>
            </a:r>
            <a:r>
              <a:rPr lang="en-US" altLang="zh-CN" sz="2000" b="1" dirty="0"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a + b = 112345678893456790112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1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1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1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285" grpId="0" animBg="1" autoUpdateAnimBg="0"/>
      <p:bldP spid="1121287" grpId="0" animBg="1" autoUpdateAnimBg="0"/>
      <p:bldP spid="1121288" grpId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192" name="Rectangle 8"/>
          <p:cNvSpPr>
            <a:spLocks noChangeArrowheads="1"/>
          </p:cNvSpPr>
          <p:nvPr/>
        </p:nvSpPr>
        <p:spPr bwMode="auto">
          <a:xfrm>
            <a:off x="479376" y="908720"/>
            <a:ext cx="1108923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通过键盘输入一段英文（包含空格、逗号、句号及英文字母），然后分离出单词，并以每个单词出现的次数从高到低输出单词及其次数，次数相同的单词以其对应字符串大小升序输出。 </a:t>
            </a:r>
          </a:p>
        </p:txBody>
      </p:sp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839416" y="2287900"/>
            <a:ext cx="10801200" cy="4093428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000" b="1" u="sng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设计思想：</a:t>
            </a:r>
            <a:r>
              <a:rPr lang="zh-CN" altLang="en-US" sz="20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000" b="1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000" b="1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根据题目要求，主要完成三项功能：</a:t>
            </a:r>
          </a:p>
          <a:p>
            <a:r>
              <a:rPr lang="en-US" altLang="zh-CN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         </a:t>
            </a:r>
            <a:r>
              <a:rPr lang="en-US" altLang="zh-CN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、通过键盘输入     一段英文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。因为输入的短文中只能包含空格、逗号、句号及英文字母，所以不能简单地用库函数</a:t>
            </a:r>
            <a:r>
              <a:rPr 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gets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或</a:t>
            </a:r>
            <a:r>
              <a:rPr lang="en-US" sz="2000" b="1" dirty="0" err="1">
                <a:ln w="1905"/>
                <a:solidFill>
                  <a:schemeClr val="tx1"/>
                </a:solidFill>
                <a:ea typeface="楷体" pitchFamily="49" charset="-122"/>
              </a:rPr>
              <a:t>scanf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来完成。参照例</a:t>
            </a:r>
            <a:r>
              <a:rPr 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中用于读取数字字符串的自定义函数</a:t>
            </a:r>
            <a:r>
              <a:rPr lang="en-US" sz="2000" b="1" dirty="0" err="1">
                <a:ln w="1905"/>
                <a:solidFill>
                  <a:schemeClr val="tx1"/>
                </a:solidFill>
                <a:ea typeface="楷体" pitchFamily="49" charset="-122"/>
              </a:rPr>
              <a:t>GetNumberStr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的方法，可以自定义一个读取英文短文的函数</a:t>
            </a:r>
            <a:r>
              <a:rPr lang="en-US" sz="2000" b="1" dirty="0" err="1">
                <a:ln w="1905"/>
                <a:solidFill>
                  <a:srgbClr val="C00000"/>
                </a:solidFill>
                <a:ea typeface="楷体" pitchFamily="49" charset="-122"/>
              </a:rPr>
              <a:t>GetPassage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，读取的英文短文存储在事先定义的字符数组中。</a:t>
            </a:r>
            <a:r>
              <a:rPr lang="en-US" sz="2000" b="1" dirty="0">
                <a:ln w="1905"/>
                <a:solidFill>
                  <a:schemeClr val="tx1"/>
                </a:solidFill>
              </a:rPr>
              <a:t> </a:t>
            </a:r>
          </a:p>
          <a:p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         </a:t>
            </a:r>
            <a:r>
              <a:rPr lang="en-US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2</a:t>
            </a:r>
            <a:r>
              <a:rPr lang="zh-CN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、对输入的英文短文进行单词分离并计数。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这里面又有两个主要问题要解决：</a:t>
            </a:r>
          </a:p>
          <a:p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       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 </a:t>
            </a:r>
            <a:r>
              <a:rPr lang="en-US" altLang="zh-CN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(</a:t>
            </a:r>
            <a:r>
              <a:rPr lang="en-US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1)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如何分离单词？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单词分解可以对短文字符串中的字符从头到尾进行逐一扫描，如果当前扫描到的字符不是字母，则继续往后扫描，直到扫描到第一个字母，则说明是一个新单词开始，此时可以边扫描边提取单词，直到扫描到的非字母字符，表示该单词提取完毕。提取的单词串可以用一个字符数组来存储。后面单词的提取方法均以此法进行，直到整个短文串扫描完为止。单词分离可以自定义一个函数</a:t>
            </a:r>
            <a:r>
              <a:rPr lang="en-US" altLang="en-US" sz="2000" b="1" dirty="0" err="1">
                <a:ln w="1905"/>
                <a:solidFill>
                  <a:srgbClr val="C00000"/>
                </a:solidFill>
                <a:ea typeface="楷体" pitchFamily="49" charset="-122"/>
              </a:rPr>
              <a:t>WordSepa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BF0139-86DD-4F7F-894C-F0CD06B7D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7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7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7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7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523676" y="896235"/>
            <a:ext cx="11320990" cy="1631216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         (2)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分离的单词如何保存并计数？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可以定义一个字符串数组（即字符型二维数组），该数组的每一行的第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列开始存放单词串，第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0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列用于存放该单词出现的次数，其存储结构如下图所示。每次分离出单词，首先在字符串数组中进行单词查找，如果找到，则只将单词计数加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即可，如果找不到，则将该单词添加到字符串数组中，其单词计数置为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。单词保存及计数可以自定义一个函数</a:t>
            </a:r>
            <a:r>
              <a:rPr lang="en-US" altLang="en-US" sz="2000" b="1" dirty="0" err="1">
                <a:ln w="1905"/>
                <a:solidFill>
                  <a:srgbClr val="C01920"/>
                </a:solidFill>
                <a:ea typeface="楷体" pitchFamily="49" charset="-122"/>
              </a:rPr>
              <a:t>SaveWord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</a:t>
            </a: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861039"/>
              </p:ext>
            </p:extLst>
          </p:nvPr>
        </p:nvGraphicFramePr>
        <p:xfrm>
          <a:off x="3968038" y="2785005"/>
          <a:ext cx="6096000" cy="2225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solidFill>
                          <a:srgbClr val="00206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1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'G'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'r'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'n'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4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'i'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's'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2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'o'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'n'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ea"/>
                          <a:ea typeface="+mj-ea"/>
                          <a:cs typeface="Times New Roman"/>
                        </a:rPr>
                        <a:t>︙</a:t>
                      </a:r>
                      <a:endParaRPr lang="zh-CN" sz="1800" b="1" kern="100" dirty="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2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'l'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'f'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't'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44133"/>
              </p:ext>
            </p:extLst>
          </p:nvPr>
        </p:nvGraphicFramePr>
        <p:xfrm>
          <a:off x="2205858" y="3156049"/>
          <a:ext cx="11430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word[0]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word[1]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word[2]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Times New Roman"/>
                        </a:rPr>
                        <a:t>︙</a:t>
                      </a:r>
                      <a:endParaRPr lang="zh-CN" altLang="en-US" sz="1800" b="1" kern="1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word[49]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3362720" y="3356509"/>
            <a:ext cx="585358" cy="1474078"/>
            <a:chOff x="2014086" y="3357562"/>
            <a:chExt cx="585358" cy="1474078"/>
          </a:xfrm>
        </p:grpSpPr>
        <p:cxnSp>
          <p:nvCxnSpPr>
            <p:cNvPr id="33" name="直接箭头连接符 32"/>
            <p:cNvCxnSpPr/>
            <p:nvPr/>
          </p:nvCxnSpPr>
          <p:spPr bwMode="auto">
            <a:xfrm>
              <a:off x="2027940" y="3357562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>
              <a:off x="2014086" y="3720091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2014086" y="4085796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>
              <a:off x="2014086" y="4830052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pSp>
        <p:nvGrpSpPr>
          <p:cNvPr id="45" name="组合 44"/>
          <p:cNvGrpSpPr/>
          <p:nvPr/>
        </p:nvGrpSpPr>
        <p:grpSpPr>
          <a:xfrm>
            <a:off x="4063246" y="3182737"/>
            <a:ext cx="3786214" cy="2470454"/>
            <a:chOff x="2714612" y="2840454"/>
            <a:chExt cx="3786214" cy="2470454"/>
          </a:xfrm>
        </p:grpSpPr>
        <p:sp>
          <p:nvSpPr>
            <p:cNvPr id="38" name="椭圆 37"/>
            <p:cNvSpPr/>
            <p:nvPr/>
          </p:nvSpPr>
          <p:spPr bwMode="auto">
            <a:xfrm>
              <a:off x="2714612" y="2840454"/>
              <a:ext cx="357190" cy="1857388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线形标注 2 39"/>
            <p:cNvSpPr/>
            <p:nvPr/>
          </p:nvSpPr>
          <p:spPr bwMode="auto">
            <a:xfrm>
              <a:off x="3643306" y="4882280"/>
              <a:ext cx="2857520" cy="42862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58582"/>
                <a:gd name="adj6" fmla="val -24070"/>
              </a:avLst>
            </a:prstGeom>
            <a:gradFill flip="none" rotWithShape="1">
              <a:gsLst>
                <a:gs pos="0">
                  <a:srgbClr val="CFCFD1"/>
                </a:gs>
                <a:gs pos="100000">
                  <a:schemeClr val="bg1">
                    <a:lumMod val="9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单词出现的次数</a:t>
              </a:r>
              <a:r>
                <a:rPr 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word[</a:t>
              </a:r>
              <a:r>
                <a:rPr lang="en-US" sz="1800" b="1" dirty="0" err="1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i</a:t>
              </a:r>
              <a:r>
                <a:rPr 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][0]</a:t>
              </a:r>
              <a:endPara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43" name="Rectangle 38"/>
          <p:cNvSpPr>
            <a:spLocks noChangeArrowheads="1"/>
          </p:cNvSpPr>
          <p:nvPr/>
        </p:nvSpPr>
        <p:spPr bwMode="auto">
          <a:xfrm>
            <a:off x="413355" y="5661248"/>
            <a:ext cx="11365289" cy="1015663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         3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、对单词进行排序。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本排序是双关键字排序，单词出现的次数是第一关键字，降序排列；单词串是第二关键字，当单词出现次数相同时，按照单词串升序排列。排序算法可采用选择排序或冒泡排序来实现。单词排序可以自定义一个函数</a:t>
            </a:r>
            <a:r>
              <a:rPr lang="en-US" altLang="en-US" sz="2000" b="1" dirty="0" err="1">
                <a:ln w="1905"/>
                <a:solidFill>
                  <a:srgbClr val="C01920"/>
                </a:solidFill>
                <a:ea typeface="楷体" pitchFamily="49" charset="-122"/>
              </a:rPr>
              <a:t>SortWord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</a:t>
            </a:r>
          </a:p>
        </p:txBody>
      </p:sp>
      <p:sp>
        <p:nvSpPr>
          <p:cNvPr id="44" name="矩形 43"/>
          <p:cNvSpPr/>
          <p:nvPr/>
        </p:nvSpPr>
        <p:spPr>
          <a:xfrm>
            <a:off x="4063246" y="2221914"/>
            <a:ext cx="5000660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定义字符串数组：</a:t>
            </a:r>
            <a:r>
              <a:rPr lang="en-US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char word[50][20] = {0};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5033FFB-70B5-4005-8902-E74916D4F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222" grpId="0"/>
      <p:bldP spid="43" grpId="0"/>
      <p:bldP spid="4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D8EFECD4-2C61-41EE-8396-FF68FFA46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67736" y="142852"/>
            <a:ext cx="6336376" cy="646330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conio.h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ctype.h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string.h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#define N  200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beep( 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]);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], char word[ ][20]);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], char word[ ][20]);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 ][20]);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main(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text[N+1], word[50][20] = {0};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(text);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(text, 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  <a:endParaRPr kumimoji="0" lang="zh-CN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18227" name="Rectangle 19" descr="信纸"/>
          <p:cNvSpPr>
            <a:spLocks noChangeArrowheads="1"/>
          </p:cNvSpPr>
          <p:nvPr/>
        </p:nvSpPr>
        <p:spPr bwMode="auto">
          <a:xfrm>
            <a:off x="7608168" y="5157192"/>
            <a:ext cx="2880320" cy="147732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响铃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beep(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("\07");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8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1118227" grpId="0" animBg="1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740C85E0-BE33-4F77-8461-348818204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88164" y="323333"/>
            <a:ext cx="4803780" cy="618630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读取英文短文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[])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while ( 1 )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 ); 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读取输入的字符，不显示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'\r') 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回车符，退出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break;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'\b')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退格符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&gt; 0)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{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("%c %c",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--;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else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beep 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  //if</a:t>
            </a:r>
          </a:p>
        </p:txBody>
      </p: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5951984" y="1977360"/>
            <a:ext cx="5832475" cy="452431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(!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','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'.'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 ')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非字母、逗号、句号、空格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beep(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&lt; N)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字母、逗号、句号、空格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("%c",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++]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else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beep 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  //while (1)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= '\0';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  <a:endParaRPr kumimoji="0" lang="zh-CN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7" grpId="0" animBg="1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B40E26D-C8C3-4CCD-841F-81BF51C70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88164" y="893033"/>
            <a:ext cx="5019804" cy="563231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单词分解       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[], 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  <a:endParaRPr kumimoji="0" lang="en-US" altLang="zh-CN" sz="1800" b="1" dirty="0" err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  int i, j;</a:t>
            </a:r>
          </a:p>
          <a:p>
            <a:pPr marL="457200" indent="-457200"/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[20];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!= '\0';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(!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j =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while(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[j++] = str[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++];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[j] = '\0';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6399298" y="57561"/>
            <a:ext cx="5361270" cy="6740307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单词保存</a:t>
            </a:r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[], 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stricmp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]+1) == 0)</a:t>
            </a:r>
            <a:endParaRPr kumimoji="0"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找到了单词</a:t>
            </a:r>
            <a:endParaRPr kumimoji="0" lang="en-US" altLang="zh-CN" sz="1600" b="1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][0]++; 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return;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}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没有找到单词，加入到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word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strcpy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= 1;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显示单词及出现的次数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sorting statistics</a:t>
            </a:r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：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("%s(%d) ",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("\n");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7" grpId="0" animBg="1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6AD74EC4-A94B-4F30-A455-378A96565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734730" y="365678"/>
            <a:ext cx="5289262" cy="618630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单词排序（采用选择排序）。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</a:rPr>
              <a:t>SortWord</a:t>
            </a:r>
            <a:r>
              <a:rPr kumimoji="0" lang="en-US" altLang="zh-CN" sz="1800" b="1" dirty="0">
                <a:solidFill>
                  <a:srgbClr val="C00000"/>
                </a:solidFill>
              </a:rPr>
              <a:t>(char word[][20]) 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int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, j, k;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char temp[20];</a:t>
            </a:r>
          </a:p>
          <a:p>
            <a:pPr marL="457200" indent="-457200"/>
            <a:endParaRPr kumimoji="0" lang="en-US" altLang="zh-CN" sz="1800" b="1" dirty="0"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for(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 = 0; word[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][0] &gt; 0;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k =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for(j = i+1; word[j][0] &gt; 0; j++)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if ((word[j][0] &gt; word[k][0]) || 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    (word[j][0] == word[k][0] &amp;&amp;                                     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        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stricmp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(word[j]+1,word[k]+1) &lt; 0))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     k = j;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if (k !=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{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(temp, word[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]);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(word[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], word[k]);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   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(word[k], temp);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}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}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}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80F7BE6E-B17E-4B29-B2D0-CFEFA2D15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024" y="4524796"/>
            <a:ext cx="5616624" cy="2000548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/>
              <a:t>Green is on the left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Red is on the Right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the right is afraid of water, the left is afraid of insects.</a:t>
            </a:r>
          </a:p>
          <a:p>
            <a:r>
              <a:rPr kumimoji="0" lang="en-US" altLang="zh-CN" sz="2000" b="1" dirty="0">
                <a:solidFill>
                  <a:srgbClr val="002060"/>
                </a:solidFill>
              </a:rPr>
              <a:t>Word sorting statistics</a:t>
            </a:r>
            <a:r>
              <a:rPr kumimoji="0" lang="zh-CN" altLang="en-US" sz="2000" b="1" dirty="0">
                <a:solidFill>
                  <a:srgbClr val="002060"/>
                </a:solidFill>
              </a:rPr>
              <a:t>： </a:t>
            </a:r>
            <a:r>
              <a:rPr lang="en-US" altLang="zh-CN" sz="2000" b="1" dirty="0">
                <a:solidFill>
                  <a:srgbClr val="C00000"/>
                </a:solidFill>
              </a:rPr>
              <a:t>is(4)  the(4) afraid(2)  left(2)  of(2)  on(2)  right(2) Green(1)  insects(1)  Red(1)  water(1)  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312" name="Rectangle 8"/>
          <p:cNvSpPr>
            <a:spLocks noChangeArrowheads="1"/>
          </p:cNvSpPr>
          <p:nvPr/>
        </p:nvSpPr>
        <p:spPr bwMode="auto">
          <a:xfrm>
            <a:off x="1415274" y="1428916"/>
            <a:ext cx="10225342" cy="2936188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标准库函数：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系统提供的函数；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用户自定义函数：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由用户自己定义的函数；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有返回值的函数：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向调用者返回函数值，应说明函数类型（即返回值的类型）；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无返回值的函数：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不返回函数值，说明为空（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void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）类型；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有参函数：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主调函数向被调函数传送数据；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无参函数：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主调函数与被调函数间无数据传送；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只能在本源文件中使用的函数；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外部函数：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可在整个源程序中使用的函数。</a:t>
            </a:r>
          </a:p>
        </p:txBody>
      </p:sp>
      <p:sp>
        <p:nvSpPr>
          <p:cNvPr id="1122313" name="Rectangle 9"/>
          <p:cNvSpPr>
            <a:spLocks noChangeArrowheads="1"/>
          </p:cNvSpPr>
          <p:nvPr/>
        </p:nvSpPr>
        <p:spPr bwMode="auto">
          <a:xfrm>
            <a:off x="856635" y="875060"/>
            <a:ext cx="2176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、函数的分类</a:t>
            </a:r>
          </a:p>
        </p:txBody>
      </p:sp>
      <p:sp>
        <p:nvSpPr>
          <p:cNvPr id="1122314" name="Rectangle 10"/>
          <p:cNvSpPr>
            <a:spLocks noChangeArrowheads="1"/>
          </p:cNvSpPr>
          <p:nvPr/>
        </p:nvSpPr>
        <p:spPr bwMode="auto">
          <a:xfrm>
            <a:off x="856635" y="4434373"/>
            <a:ext cx="34339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、函数定义的一般形式</a:t>
            </a:r>
          </a:p>
        </p:txBody>
      </p:sp>
      <p:sp>
        <p:nvSpPr>
          <p:cNvPr id="1122315" name="Text Box 11"/>
          <p:cNvSpPr txBox="1">
            <a:spLocks noChangeArrowheads="1"/>
          </p:cNvSpPr>
          <p:nvPr/>
        </p:nvSpPr>
        <p:spPr bwMode="auto">
          <a:xfrm>
            <a:off x="1400695" y="4941986"/>
            <a:ext cx="10239921" cy="50323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[extern/static]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类型说明符  函数名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([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形参列表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])  {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声明部分   执行部分  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}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67397" y="5529398"/>
            <a:ext cx="5586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3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、函数说明的一般形式 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400676" y="6004260"/>
            <a:ext cx="5703436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[extern]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类型说明符  函数名（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[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形参列表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]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）；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隶书" pitchFamily="49" charset="-122"/>
              </a:rPr>
              <a:t> </a:t>
            </a:r>
            <a:endParaRPr lang="zh-CN" altLang="en-US" sz="2000" b="1" dirty="0">
              <a:solidFill>
                <a:srgbClr val="C01920"/>
              </a:solidFill>
              <a:latin typeface="+mn-lt"/>
              <a:ea typeface="隶书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104113" y="5527182"/>
            <a:ext cx="475252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4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、函数调用的一般形式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8040216" y="6002228"/>
            <a:ext cx="3600400" cy="50323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函数名（</a:t>
            </a:r>
            <a:r>
              <a:rPr lang="en-US" altLang="zh-CN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[</a:t>
            </a:r>
            <a:r>
              <a:rPr lang="zh-CN" altLang="en-US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实参列表</a:t>
            </a:r>
            <a:r>
              <a:rPr lang="en-US" altLang="zh-CN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]</a:t>
            </a:r>
            <a:r>
              <a:rPr lang="zh-CN" altLang="en-US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）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D88BAD11-E6C2-42EB-A92D-132A40DDC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22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122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2312" grpId="0" animBg="1"/>
      <p:bldP spid="1122313" grpId="0"/>
      <p:bldP spid="1122314" grpId="0"/>
      <p:bldP spid="1122315" grpId="0" animBg="1"/>
      <p:bldP spid="10" grpId="0"/>
      <p:bldP spid="11" grpId="0" animBg="1"/>
      <p:bldP spid="12" grpId="0"/>
      <p:bldP spid="1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41" name="Rectangle 13"/>
          <p:cNvSpPr>
            <a:spLocks noChangeArrowheads="1"/>
          </p:cNvSpPr>
          <p:nvPr/>
        </p:nvSpPr>
        <p:spPr bwMode="auto">
          <a:xfrm>
            <a:off x="578854" y="930664"/>
            <a:ext cx="11133770" cy="5090624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函数的参数分为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形参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实参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两种，形参出现在函数定义中，实参出现在函数调用中，发生函数调用时，将把实参的值传送给形参。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函数的值是指函数的返回值，它是在函数中由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语句返回的。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函数调用时参数的传递方式有两种：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传值调用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传址调用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450850" lvl="1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Ｃ语言中，不允许函数嵌套定义，但允许函数的嵌套调用和函数的递归调用。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0850" lvl="1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可从三个方面对变量分类，即变量的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，变量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作用域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和变量的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存储类型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变量的作用域是指变量在程序中的有效范围，分为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局部变量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全局变量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。局部变量和形参的作用域是函数内部，全局变量的作用域是整个文件。但可以通过声明一个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extern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的全局变量扩展全局变量的作用域，也可以通过定义一个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static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的全局变量限制这种扩展。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变量的存储类型是指变量在内存中的存储方式，分为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静态存储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动态存储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，表示了变量的生存期。动态存储类型的变量有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auto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型、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register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型，静态存储类型的变量有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extern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型、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static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型。静态的局部变量只能被赋一次初值，并且生存期与全局变量相同，但作用域仍是函数内部。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当小作用域内的变量名与大作用域内的变量名同名时，在小作用域内引用这个变量时，遵从最小作用域原则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2504145-2D11-4866-A9B0-A9DD84A1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17369</TotalTime>
  <Words>23647</Words>
  <Application>Microsoft Office PowerPoint</Application>
  <PresentationFormat>宽屏</PresentationFormat>
  <Paragraphs>3127</Paragraphs>
  <Slides>83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2" baseType="lpstr">
      <vt:lpstr>楷体</vt:lpstr>
      <vt:lpstr>楷体_GB2312</vt:lpstr>
      <vt:lpstr>隶书</vt:lpstr>
      <vt:lpstr>思源黑体 CN Heavy</vt:lpstr>
      <vt:lpstr>宋体</vt:lpstr>
      <vt:lpstr>Arial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王锦鸿</cp:lastModifiedBy>
  <cp:revision>1299</cp:revision>
  <dcterms:created xsi:type="dcterms:W3CDTF">1999-05-31T10:27:02Z</dcterms:created>
  <dcterms:modified xsi:type="dcterms:W3CDTF">2024-06-04T08:23:36Z</dcterms:modified>
</cp:coreProperties>
</file>