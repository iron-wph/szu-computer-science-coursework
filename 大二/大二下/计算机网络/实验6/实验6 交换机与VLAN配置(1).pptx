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9144000" cy="6858000" type="screen4x3"/>
  <p:notesSz cx="9144000" cy="6858000"/>
  <p:defaultTextStyle>
    <a:defPPr>
      <a:defRPr lang="en-US"/>
    </a:defPPr>
    <a:lvl1pPr marL="0" algn="l" defTabSz="457200">
      <a:defRPr sz="1800">
        <a:solidFill>
          <a:schemeClr val="tx1"/>
        </a:solidFill>
        <a:latin typeface="+mn-lt"/>
        <a:ea typeface="+mn-ea"/>
        <a:cs typeface="+mn-cs"/>
      </a:defRPr>
    </a:lvl1pPr>
    <a:lvl2pPr marL="457200" algn="l" defTabSz="457200">
      <a:defRPr sz="1800">
        <a:solidFill>
          <a:schemeClr val="tx1"/>
        </a:solidFill>
        <a:latin typeface="+mn-lt"/>
        <a:ea typeface="+mn-ea"/>
        <a:cs typeface="+mn-cs"/>
      </a:defRPr>
    </a:lvl2pPr>
    <a:lvl3pPr marL="914400" algn="l" defTabSz="457200">
      <a:defRPr sz="1800">
        <a:solidFill>
          <a:schemeClr val="tx1"/>
        </a:solidFill>
        <a:latin typeface="+mn-lt"/>
        <a:ea typeface="+mn-ea"/>
        <a:cs typeface="+mn-cs"/>
      </a:defRPr>
    </a:lvl3pPr>
    <a:lvl4pPr marL="1371600" algn="l" defTabSz="457200">
      <a:defRPr sz="1800">
        <a:solidFill>
          <a:schemeClr val="tx1"/>
        </a:solidFill>
        <a:latin typeface="+mn-lt"/>
        <a:ea typeface="+mn-ea"/>
        <a:cs typeface="+mn-cs"/>
      </a:defRPr>
    </a:lvl4pPr>
    <a:lvl5pPr marL="1828800" algn="l" defTabSz="457200">
      <a:defRPr sz="1800">
        <a:solidFill>
          <a:schemeClr val="tx1"/>
        </a:solidFill>
        <a:latin typeface="+mn-lt"/>
        <a:ea typeface="+mn-ea"/>
        <a:cs typeface="+mn-cs"/>
      </a:defRPr>
    </a:lvl5pPr>
    <a:lvl6pPr marL="2286000" algn="l" defTabSz="457200">
      <a:defRPr sz="1800">
        <a:solidFill>
          <a:schemeClr val="tx1"/>
        </a:solidFill>
        <a:latin typeface="+mn-lt"/>
        <a:ea typeface="+mn-ea"/>
        <a:cs typeface="+mn-cs"/>
      </a:defRPr>
    </a:lvl6pPr>
    <a:lvl7pPr marL="2743200" algn="l" defTabSz="457200">
      <a:defRPr sz="1800">
        <a:solidFill>
          <a:schemeClr val="tx1"/>
        </a:solidFill>
        <a:latin typeface="+mn-lt"/>
        <a:ea typeface="+mn-ea"/>
        <a:cs typeface="+mn-cs"/>
      </a:defRPr>
    </a:lvl7pPr>
    <a:lvl8pPr marL="3200400" algn="l" defTabSz="457200">
      <a:defRPr sz="1800">
        <a:solidFill>
          <a:schemeClr val="tx1"/>
        </a:solidFill>
        <a:latin typeface="+mn-lt"/>
        <a:ea typeface="+mn-ea"/>
        <a:cs typeface="+mn-cs"/>
      </a:defRPr>
    </a:lvl8pPr>
    <a:lvl9pPr marL="3657600" algn="l" defTabSz="4572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288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1522" y="67"/>
      </p:cViewPr>
      <p:guideLst>
        <p:guide pos="288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pic>
        <p:nvPicPr>
          <p:cNvPr id="13" name="Picture 12"/>
          <p:cNvPicPr>
            <a:picLocks noChangeAspect="1"/>
          </p:cNvPicPr>
          <p:nvPr/>
        </p:nvPicPr>
        <p:blipFill>
          <a:blip r:embed="rId2"/>
          <a:stretch/>
        </p:blipFill>
        <p:spPr bwMode="auto">
          <a:xfrm>
            <a:off x="0" y="0"/>
            <a:ext cx="9144000" cy="1003300"/>
          </a:xfrm>
          <a:prstGeom prst="rect">
            <a:avLst/>
          </a:prstGeom>
        </p:spPr>
      </p:pic>
      <p:sp>
        <p:nvSpPr>
          <p:cNvPr id="7" name="Rectangle 6"/>
          <p:cNvSpPr/>
          <p:nvPr/>
        </p:nvSpPr>
        <p:spPr bwMode="auto">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bwMode="auto">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bwMode="auto">
          <a:xfrm>
            <a:off x="597090" y="791570"/>
            <a:ext cx="7949821" cy="3297872"/>
          </a:xfrm>
        </p:spPr>
        <p:txBody>
          <a:bodyPr anchor="ctr">
            <a:normAutofit/>
          </a:bodyPr>
          <a:lstStyle>
            <a:lvl1pPr algn="ctr">
              <a:lnSpc>
                <a:spcPct val="85000"/>
              </a:lnSpc>
              <a:defRPr sz="4800" spc="-50">
                <a:solidFill>
                  <a:schemeClr val="tx1">
                    <a:lumMod val="85000"/>
                    <a:lumOff val="15000"/>
                  </a:schemeClr>
                </a:solidFill>
              </a:defRPr>
            </a:lvl1pPr>
          </a:lstStyle>
          <a:p>
            <a:pPr>
              <a:defRPr/>
            </a:pPr>
            <a:r>
              <a:rPr lang="en-US"/>
              <a:t>Click to edit Master title style</a:t>
            </a:r>
          </a:p>
        </p:txBody>
      </p:sp>
      <p:sp>
        <p:nvSpPr>
          <p:cNvPr id="3" name="Subtitle 2"/>
          <p:cNvSpPr>
            <a:spLocks noGrp="1"/>
          </p:cNvSpPr>
          <p:nvPr>
            <p:ph type="subTitle" idx="1"/>
          </p:nvPr>
        </p:nvSpPr>
        <p:spPr bwMode="auto">
          <a:xfrm>
            <a:off x="586854" y="4199913"/>
            <a:ext cx="7970292" cy="1398708"/>
          </a:xfrm>
        </p:spPr>
        <p:txBody>
          <a:bodyPr lIns="91440" rIns="91440">
            <a:normAutofit/>
          </a:bodyPr>
          <a:lstStyle>
            <a:lvl1pPr marL="0" indent="0" algn="ctr">
              <a:lnSpc>
                <a:spcPct val="100000"/>
              </a:lnSpc>
              <a:buNone/>
              <a:defRPr sz="2000" cap="all" spc="20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a:defRPr/>
            </a:pPr>
            <a:r>
              <a:rPr lang="en-US"/>
              <a:t>Click to edit Master subtitle style</a:t>
            </a:r>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a:t>
            </a:fld>
            <a:endParaRPr lang="en-US"/>
          </a:p>
        </p:txBody>
      </p:sp>
      <p:cxnSp>
        <p:nvCxnSpPr>
          <p:cNvPr id="9" name="Straight Connector 8"/>
          <p:cNvCxnSpPr>
            <a:cxnSpLocks/>
          </p:cNvCxnSpPr>
          <p:nvPr/>
        </p:nvCxnSpPr>
        <p:spPr bwMode="auto">
          <a:xfrm>
            <a:off x="586854" y="4091924"/>
            <a:ext cx="7970292"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582895" y="286605"/>
            <a:ext cx="7964423" cy="719233"/>
          </a:xfrm>
        </p:spPr>
        <p:txBody>
          <a:bodyPr/>
          <a:lstStyle/>
          <a:p>
            <a:pPr>
              <a:defRPr/>
            </a:pPr>
            <a:r>
              <a:rPr lang="en-US"/>
              <a:t>Click to edit Master title style</a:t>
            </a:r>
          </a:p>
        </p:txBody>
      </p:sp>
      <p:sp>
        <p:nvSpPr>
          <p:cNvPr id="3" name="Content Placeholder 2"/>
          <p:cNvSpPr>
            <a:spLocks noGrp="1"/>
          </p:cNvSpPr>
          <p:nvPr>
            <p:ph idx="1"/>
          </p:nvPr>
        </p:nvSpPr>
        <p:spPr bwMode="auto">
          <a:xfrm>
            <a:off x="582894" y="1121666"/>
            <a:ext cx="7964424" cy="5086142"/>
          </a:xfrm>
        </p:spPr>
        <p:txBody>
          <a:bodyPr>
            <a:normAutofit/>
          </a:bodyPr>
          <a:lstStyle>
            <a:lvl1pPr>
              <a:defRPr sz="2800"/>
            </a:lvl1pPr>
            <a:lvl2pPr marL="444500" indent="-263525">
              <a:buFont typeface="Wingdings"/>
              <a:buChar char="§"/>
              <a:defRPr sz="2400"/>
            </a:lvl2pPr>
            <a:lvl3pPr marL="627063" indent="-269875">
              <a:buFont typeface="Wingdings"/>
              <a:buChar char="§"/>
              <a:defRPr sz="2400"/>
            </a:lvl3pPr>
            <a:lvl4pPr marL="808038" indent="-269875">
              <a:buFont typeface="Wingdings"/>
              <a:buChar char="§"/>
              <a:defRPr sz="2000"/>
            </a:lvl4pPr>
            <a:lvl5pPr marL="982663" indent="-261938">
              <a:buFont typeface="Wingdings"/>
              <a:buChar char="§"/>
              <a:defRPr sz="2000"/>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a:t>
            </a:fld>
            <a:endParaRPr lang="en-US"/>
          </a:p>
        </p:txBody>
      </p:sp>
      <p:cxnSp>
        <p:nvCxnSpPr>
          <p:cNvPr id="7" name="Straight Connector 6"/>
          <p:cNvCxnSpPr>
            <a:cxnSpLocks/>
          </p:cNvCxnSpPr>
          <p:nvPr/>
        </p:nvCxnSpPr>
        <p:spPr bwMode="auto">
          <a:xfrm flipV="1">
            <a:off x="582895" y="1005839"/>
            <a:ext cx="7964423" cy="486"/>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cxnSpLocks/>
          </p:cNvCxnSpPr>
          <p:nvPr/>
        </p:nvCxnSpPr>
        <p:spPr bwMode="auto">
          <a:xfrm flipV="1">
            <a:off x="582895" y="1005839"/>
            <a:ext cx="7964423" cy="486"/>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p:nvCxnSpPr>
        <p:spPr bwMode="auto">
          <a:xfrm flipV="1">
            <a:off x="582895" y="1005839"/>
            <a:ext cx="7964423" cy="486"/>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bg>
      <p:bgPr>
        <a:solidFill>
          <a:schemeClr val="bg1"/>
        </a:solidFill>
        <a:effectLst/>
      </p:bgPr>
    </p:bg>
    <p:spTree>
      <p:nvGrpSpPr>
        <p:cNvPr id="1" name=""/>
        <p:cNvGrpSpPr/>
        <p:nvPr/>
      </p:nvGrpSpPr>
      <p:grpSpPr bwMode="auto">
        <a:xfrm>
          <a:off x="0" y="0"/>
          <a:ext cx="0" cy="0"/>
          <a:chOff x="0" y="0"/>
          <a:chExt cx="0" cy="0"/>
        </a:xfrm>
      </p:grpSpPr>
      <p:sp>
        <p:nvSpPr>
          <p:cNvPr id="7" name="Rectangle 6"/>
          <p:cNvSpPr/>
          <p:nvPr/>
        </p:nvSpPr>
        <p:spPr bwMode="auto">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bwMode="auto">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auto">
          <a:xfrm>
            <a:off x="586854" y="758952"/>
            <a:ext cx="7970292" cy="3330494"/>
          </a:xfrm>
        </p:spPr>
        <p:txBody>
          <a:bodyPr anchor="ctr" anchorCtr="0">
            <a:normAutofit/>
          </a:bodyPr>
          <a:lstStyle>
            <a:lvl1pPr algn="ctr" defTabSz="914400">
              <a:lnSpc>
                <a:spcPct val="85000"/>
              </a:lnSpc>
              <a:spcBef>
                <a:spcPts val="0"/>
              </a:spcBef>
              <a:buNone/>
              <a:defRPr lang="en-US" sz="4800" spc="-50">
                <a:solidFill>
                  <a:schemeClr val="tx1">
                    <a:lumMod val="85000"/>
                    <a:lumOff val="15000"/>
                  </a:schemeClr>
                </a:solidFill>
                <a:latin typeface="+mj-lt"/>
                <a:ea typeface="+mj-ea"/>
                <a:cs typeface="+mj-cs"/>
              </a:defRPr>
            </a:lvl1pPr>
          </a:lstStyle>
          <a:p>
            <a:pPr>
              <a:defRPr/>
            </a:pPr>
            <a:r>
              <a:rPr lang="en-US"/>
              <a:t>Click to edit Master title style</a:t>
            </a:r>
          </a:p>
        </p:txBody>
      </p:sp>
      <p:sp>
        <p:nvSpPr>
          <p:cNvPr id="3" name="Text Placeholder 2"/>
          <p:cNvSpPr>
            <a:spLocks noGrp="1"/>
          </p:cNvSpPr>
          <p:nvPr>
            <p:ph type="body" idx="1"/>
          </p:nvPr>
        </p:nvSpPr>
        <p:spPr bwMode="auto">
          <a:xfrm>
            <a:off x="586854" y="4212451"/>
            <a:ext cx="7970292" cy="1383678"/>
          </a:xfrm>
        </p:spPr>
        <p:txBody>
          <a:bodyPr lIns="91440" rIns="91440" anchor="t" anchorCtr="0">
            <a:normAutofit/>
          </a:bodyPr>
          <a:lstStyle>
            <a:lvl1pPr marL="0" indent="0" algn="ctr">
              <a:buNone/>
              <a:defRPr sz="2000" cap="all" spc="20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a:t>
            </a:fld>
            <a:endParaRPr lang="en-US"/>
          </a:p>
        </p:txBody>
      </p:sp>
      <p:cxnSp>
        <p:nvCxnSpPr>
          <p:cNvPr id="10" name="Straight Connector 9"/>
          <p:cNvCxnSpPr>
            <a:cxnSpLocks/>
          </p:cNvCxnSpPr>
          <p:nvPr/>
        </p:nvCxnSpPr>
        <p:spPr bwMode="auto">
          <a:xfrm>
            <a:off x="586854" y="4091924"/>
            <a:ext cx="7970292"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cxnSpLocks/>
          </p:cNvCxnSpPr>
          <p:nvPr/>
        </p:nvCxnSpPr>
        <p:spPr bwMode="auto">
          <a:xfrm>
            <a:off x="586854" y="4091924"/>
            <a:ext cx="7970292"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2"/>
          <a:stretch/>
        </p:blipFill>
        <p:spPr bwMode="auto">
          <a:xfrm>
            <a:off x="0" y="0"/>
            <a:ext cx="9144000" cy="1003300"/>
          </a:xfrm>
          <a:prstGeom prst="rect">
            <a:avLst/>
          </a:prstGeom>
        </p:spPr>
      </p:pic>
      <p:cxnSp>
        <p:nvCxnSpPr>
          <p:cNvPr id="12" name="Straight Connector 11"/>
          <p:cNvCxnSpPr>
            <a:cxnSpLocks/>
          </p:cNvCxnSpPr>
          <p:nvPr/>
        </p:nvCxnSpPr>
        <p:spPr bwMode="auto">
          <a:xfrm>
            <a:off x="586854" y="4091924"/>
            <a:ext cx="7970292"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8" name="Title 7"/>
          <p:cNvSpPr>
            <a:spLocks noGrp="1"/>
          </p:cNvSpPr>
          <p:nvPr>
            <p:ph type="title"/>
          </p:nvPr>
        </p:nvSpPr>
        <p:spPr bwMode="auto">
          <a:xfrm>
            <a:off x="583200" y="286606"/>
            <a:ext cx="7936848" cy="718261"/>
          </a:xfrm>
        </p:spPr>
        <p:txBody>
          <a:bodyPr/>
          <a:lstStyle/>
          <a:p>
            <a:pPr>
              <a:defRPr/>
            </a:pPr>
            <a:r>
              <a:rPr lang="en-US"/>
              <a:t>Click to edit Master title style</a:t>
            </a:r>
          </a:p>
        </p:txBody>
      </p:sp>
      <p:sp>
        <p:nvSpPr>
          <p:cNvPr id="3" name="Content Placeholder 2"/>
          <p:cNvSpPr>
            <a:spLocks noGrp="1"/>
          </p:cNvSpPr>
          <p:nvPr>
            <p:ph sz="half" idx="1"/>
          </p:nvPr>
        </p:nvSpPr>
        <p:spPr bwMode="auto">
          <a:xfrm>
            <a:off x="597313" y="1108368"/>
            <a:ext cx="3922704" cy="497764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Content Placeholder 3"/>
          <p:cNvSpPr>
            <a:spLocks noGrp="1"/>
          </p:cNvSpPr>
          <p:nvPr>
            <p:ph sz="half" idx="2"/>
          </p:nvPr>
        </p:nvSpPr>
        <p:spPr bwMode="auto">
          <a:xfrm>
            <a:off x="4657177" y="1108368"/>
            <a:ext cx="3876984" cy="4981050"/>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5" name="Date Placeholder 4"/>
          <p:cNvSpPr>
            <a:spLocks noGrp="1"/>
          </p:cNvSpPr>
          <p:nvPr>
            <p:ph type="dt" sz="half" idx="10"/>
          </p:nvPr>
        </p:nvSpPr>
        <p:spPr bwMode="auto"/>
        <p:txBody>
          <a:bodyPr/>
          <a:lstStyle>
            <a:lvl1pPr>
              <a:defRPr sz="1400"/>
            </a:lvl1pPr>
          </a:lstStyle>
          <a:p>
            <a:pPr>
              <a:defRPr/>
            </a:pPr>
            <a:r>
              <a:rPr lang="en-US"/>
              <a:t>3/1/2020</a:t>
            </a:r>
            <a:endParaRPr/>
          </a:p>
        </p:txBody>
      </p:sp>
      <p:sp>
        <p:nvSpPr>
          <p:cNvPr id="6" name="Footer Placeholder 5"/>
          <p:cNvSpPr>
            <a:spLocks noGrp="1"/>
          </p:cNvSpPr>
          <p:nvPr>
            <p:ph type="ftr" sz="quarter" idx="11"/>
          </p:nvPr>
        </p:nvSpPr>
        <p:spPr bwMode="auto"/>
        <p:txBody>
          <a:bodyPr/>
          <a:lstStyle>
            <a:lvl1pPr>
              <a:defRPr sz="1400"/>
            </a:lvl1pPr>
          </a:lstStyle>
          <a:p>
            <a:pPr>
              <a:defRPr/>
            </a:pPr>
            <a:r>
              <a:rPr lang="zh-CN"/>
              <a:t>计算机网络实验</a:t>
            </a:r>
            <a:endParaRPr lang="en-US"/>
          </a:p>
        </p:txBody>
      </p:sp>
      <p:sp>
        <p:nvSpPr>
          <p:cNvPr id="7" name="Slide Number Placeholder 6"/>
          <p:cNvSpPr>
            <a:spLocks noGrp="1"/>
          </p:cNvSpPr>
          <p:nvPr>
            <p:ph type="sldNum" sz="quarter" idx="12"/>
          </p:nvPr>
        </p:nvSpPr>
        <p:spPr bwMode="auto"/>
        <p:txBody>
          <a:bodyPr/>
          <a:lstStyle>
            <a:lvl1pPr>
              <a:defRPr sz="1400"/>
            </a:lvl1pPr>
          </a:lstStyle>
          <a:p>
            <a:pPr>
              <a:defRPr/>
            </a:pPr>
            <a:fld id="{0ECDF2DC-913F-4A16-9C18-8900B299D998}" type="slidenum">
              <a:rPr lang="en-US"/>
              <a:t>‹#›</a:t>
            </a:fld>
            <a:endParaRPr lang="en-US"/>
          </a:p>
        </p:txBody>
      </p:sp>
      <p:cxnSp>
        <p:nvCxnSpPr>
          <p:cNvPr id="9" name="Straight Connector 8"/>
          <p:cNvCxnSpPr>
            <a:cxnSpLocks/>
          </p:cNvCxnSpPr>
          <p:nvPr/>
        </p:nvCxnSpPr>
        <p:spPr bwMode="auto">
          <a:xfrm flipV="1">
            <a:off x="576001" y="1005839"/>
            <a:ext cx="7964423" cy="486"/>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cxnSpLocks/>
          </p:cNvCxnSpPr>
          <p:nvPr/>
        </p:nvCxnSpPr>
        <p:spPr bwMode="auto">
          <a:xfrm flipV="1">
            <a:off x="576001" y="1005839"/>
            <a:ext cx="7964423" cy="486"/>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p:nvCxnSpPr>
        <p:spPr bwMode="auto">
          <a:xfrm flipV="1">
            <a:off x="576001" y="1005839"/>
            <a:ext cx="7964423" cy="486"/>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0" name="Title 9"/>
          <p:cNvSpPr>
            <a:spLocks noGrp="1"/>
          </p:cNvSpPr>
          <p:nvPr>
            <p:ph type="title"/>
          </p:nvPr>
        </p:nvSpPr>
        <p:spPr bwMode="auto">
          <a:xfrm>
            <a:off x="583200" y="286606"/>
            <a:ext cx="7936848" cy="717289"/>
          </a:xfrm>
        </p:spPr>
        <p:txBody>
          <a:bodyPr/>
          <a:lstStyle/>
          <a:p>
            <a:pPr>
              <a:defRPr/>
            </a:pPr>
            <a:r>
              <a:rPr lang="en-US"/>
              <a:t>Click to edit Master title style</a:t>
            </a:r>
          </a:p>
        </p:txBody>
      </p:sp>
      <p:sp>
        <p:nvSpPr>
          <p:cNvPr id="3" name="Text Placeholder 2"/>
          <p:cNvSpPr>
            <a:spLocks noGrp="1"/>
          </p:cNvSpPr>
          <p:nvPr>
            <p:ph type="body" idx="1"/>
          </p:nvPr>
        </p:nvSpPr>
        <p:spPr bwMode="auto">
          <a:xfrm>
            <a:off x="597313" y="1123676"/>
            <a:ext cx="3922704" cy="736282"/>
          </a:xfrm>
        </p:spPr>
        <p:txBody>
          <a:bodyPr lIns="91440" rIns="91440" anchor="ctr">
            <a:normAutofit/>
          </a:bodyPr>
          <a:lstStyle>
            <a:lvl1pPr marL="0" indent="0">
              <a:buNone/>
              <a:defRPr sz="2000" b="0" cap="all">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4" name="Content Placeholder 3"/>
          <p:cNvSpPr>
            <a:spLocks noGrp="1"/>
          </p:cNvSpPr>
          <p:nvPr>
            <p:ph sz="half" idx="2"/>
          </p:nvPr>
        </p:nvSpPr>
        <p:spPr bwMode="auto">
          <a:xfrm>
            <a:off x="597313" y="1977309"/>
            <a:ext cx="3922704" cy="4272237"/>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5" name="Text Placeholder 4"/>
          <p:cNvSpPr>
            <a:spLocks noGrp="1"/>
          </p:cNvSpPr>
          <p:nvPr>
            <p:ph type="body" sz="quarter" idx="3"/>
          </p:nvPr>
        </p:nvSpPr>
        <p:spPr bwMode="auto">
          <a:xfrm>
            <a:off x="4657177" y="1123676"/>
            <a:ext cx="3876984" cy="736282"/>
          </a:xfrm>
        </p:spPr>
        <p:txBody>
          <a:bodyPr lIns="91440" rIns="91440" anchor="ctr">
            <a:normAutofit/>
          </a:bodyPr>
          <a:lstStyle>
            <a:lvl1pPr marL="0" indent="0">
              <a:buNone/>
              <a:defRPr sz="2000" b="0" cap="all">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 name="Content Placeholder 5"/>
          <p:cNvSpPr>
            <a:spLocks noGrp="1"/>
          </p:cNvSpPr>
          <p:nvPr>
            <p:ph sz="quarter" idx="4"/>
          </p:nvPr>
        </p:nvSpPr>
        <p:spPr bwMode="auto">
          <a:xfrm>
            <a:off x="4657177" y="1977309"/>
            <a:ext cx="3876984" cy="4272237"/>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7" name="Date Placeholder 6"/>
          <p:cNvSpPr>
            <a:spLocks noGrp="1"/>
          </p:cNvSpPr>
          <p:nvPr>
            <p:ph type="dt" sz="half" idx="10"/>
          </p:nvPr>
        </p:nvSpPr>
        <p:spPr bwMode="auto"/>
        <p:txBody>
          <a:bodyPr/>
          <a:lstStyle/>
          <a:p>
            <a:pPr>
              <a:defRPr/>
            </a:pPr>
            <a:r>
              <a:rPr lang="en-US"/>
              <a:t>3/1/2020</a:t>
            </a:r>
            <a:endParaRPr/>
          </a:p>
        </p:txBody>
      </p:sp>
      <p:sp>
        <p:nvSpPr>
          <p:cNvPr id="8" name="Footer Placeholder 7"/>
          <p:cNvSpPr>
            <a:spLocks noGrp="1"/>
          </p:cNvSpPr>
          <p:nvPr>
            <p:ph type="ftr" sz="quarter" idx="11"/>
          </p:nvPr>
        </p:nvSpPr>
        <p:spPr bwMode="auto"/>
        <p:txBody>
          <a:bodyPr/>
          <a:lstStyle/>
          <a:p>
            <a:pPr>
              <a:defRPr/>
            </a:pPr>
            <a:r>
              <a:rPr lang="zh-CN"/>
              <a:t>计算机网络实验</a:t>
            </a:r>
            <a:endParaRPr lang="en-US"/>
          </a:p>
        </p:txBody>
      </p:sp>
      <p:sp>
        <p:nvSpPr>
          <p:cNvPr id="9" name="Slide Number Placeholder 8"/>
          <p:cNvSpPr>
            <a:spLocks noGrp="1"/>
          </p:cNvSpPr>
          <p:nvPr>
            <p:ph type="sldNum" sz="quarter" idx="12"/>
          </p:nvPr>
        </p:nvSpPr>
        <p:spPr bwMode="auto"/>
        <p:txBody>
          <a:bodyPr/>
          <a:lstStyle/>
          <a:p>
            <a:pPr>
              <a:defRPr/>
            </a:pPr>
            <a:fld id="{0ECDF2DC-913F-4A16-9C18-8900B299D998}" type="slidenum">
              <a:rPr lang="en-US"/>
              <a:t>‹#›</a:t>
            </a:fld>
            <a:endParaRPr lang="en-US"/>
          </a:p>
        </p:txBody>
      </p:sp>
      <p:cxnSp>
        <p:nvCxnSpPr>
          <p:cNvPr id="11" name="Straight Connector 10"/>
          <p:cNvCxnSpPr>
            <a:cxnSpLocks/>
          </p:cNvCxnSpPr>
          <p:nvPr/>
        </p:nvCxnSpPr>
        <p:spPr bwMode="auto">
          <a:xfrm flipV="1">
            <a:off x="576001" y="1005839"/>
            <a:ext cx="7964423" cy="486"/>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cxnSpLocks/>
          </p:cNvCxnSpPr>
          <p:nvPr/>
        </p:nvCxnSpPr>
        <p:spPr bwMode="auto">
          <a:xfrm flipV="1">
            <a:off x="576001" y="1005839"/>
            <a:ext cx="7964423" cy="486"/>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cxnSpLocks/>
          </p:cNvCxnSpPr>
          <p:nvPr/>
        </p:nvCxnSpPr>
        <p:spPr bwMode="auto">
          <a:xfrm flipV="1">
            <a:off x="576001" y="1005839"/>
            <a:ext cx="7964423" cy="486"/>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582264" y="286605"/>
            <a:ext cx="7964423" cy="719233"/>
          </a:xfrm>
        </p:spPr>
        <p:txBody>
          <a:bodyPr/>
          <a:lstStyle/>
          <a:p>
            <a:pPr>
              <a:defRPr/>
            </a:pPr>
            <a:r>
              <a:rPr lang="en-US"/>
              <a:t>Click to edit Master title style</a:t>
            </a:r>
          </a:p>
        </p:txBody>
      </p:sp>
      <p:sp>
        <p:nvSpPr>
          <p:cNvPr id="3" name="Date Placeholder 2"/>
          <p:cNvSpPr>
            <a:spLocks noGrp="1"/>
          </p:cNvSpPr>
          <p:nvPr>
            <p:ph type="dt" sz="half" idx="10"/>
          </p:nvPr>
        </p:nvSpPr>
        <p:spPr bwMode="auto"/>
        <p:txBody>
          <a:bodyPr/>
          <a:lstStyle/>
          <a:p>
            <a:pPr>
              <a:defRPr/>
            </a:pPr>
            <a:r>
              <a:rPr lang="en-US"/>
              <a:t>3/1/2020</a:t>
            </a:r>
            <a:endParaRPr/>
          </a:p>
        </p:txBody>
      </p:sp>
      <p:sp>
        <p:nvSpPr>
          <p:cNvPr id="4" name="Footer Placeholder 3"/>
          <p:cNvSpPr>
            <a:spLocks noGrp="1"/>
          </p:cNvSpPr>
          <p:nvPr>
            <p:ph type="ftr" sz="quarter" idx="11"/>
          </p:nvPr>
        </p:nvSpPr>
        <p:spPr bwMode="auto"/>
        <p:txBody>
          <a:bodyPr/>
          <a:lstStyle/>
          <a:p>
            <a:pPr>
              <a:defRPr/>
            </a:pPr>
            <a:r>
              <a:rPr lang="zh-CN"/>
              <a:t>计算机网络实验</a:t>
            </a:r>
            <a:endParaRPr lang="en-US"/>
          </a:p>
        </p:txBody>
      </p:sp>
      <p:sp>
        <p:nvSpPr>
          <p:cNvPr id="5" name="Slide Number Placeholder 4"/>
          <p:cNvSpPr>
            <a:spLocks noGrp="1"/>
          </p:cNvSpPr>
          <p:nvPr>
            <p:ph type="sldNum" sz="quarter" idx="12"/>
          </p:nvPr>
        </p:nvSpPr>
        <p:spPr bwMode="auto"/>
        <p:txBody>
          <a:bodyPr/>
          <a:lstStyle/>
          <a:p>
            <a:pPr>
              <a:defRPr/>
            </a:pPr>
            <a:fld id="{0ECDF2DC-913F-4A16-9C18-8900B299D998}" type="slidenum">
              <a:rPr lang="en-US"/>
              <a:t>‹#›</a:t>
            </a:fld>
            <a:endParaRPr lang="en-US"/>
          </a:p>
        </p:txBody>
      </p:sp>
      <p:cxnSp>
        <p:nvCxnSpPr>
          <p:cNvPr id="6" name="Straight Connector 5"/>
          <p:cNvCxnSpPr>
            <a:cxnSpLocks/>
          </p:cNvCxnSpPr>
          <p:nvPr/>
        </p:nvCxnSpPr>
        <p:spPr bwMode="auto">
          <a:xfrm flipV="1">
            <a:off x="576001" y="1005839"/>
            <a:ext cx="7964423" cy="486"/>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cxnSpLocks/>
          </p:cNvCxnSpPr>
          <p:nvPr/>
        </p:nvCxnSpPr>
        <p:spPr bwMode="auto">
          <a:xfrm flipV="1">
            <a:off x="576001" y="1005839"/>
            <a:ext cx="7964423" cy="486"/>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cxnSpLocks/>
          </p:cNvCxnSpPr>
          <p:nvPr/>
        </p:nvCxnSpPr>
        <p:spPr bwMode="auto">
          <a:xfrm flipV="1">
            <a:off x="576001" y="1005839"/>
            <a:ext cx="7964423" cy="486"/>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5" name="Rectangle 4"/>
          <p:cNvSpPr/>
          <p:nvPr/>
        </p:nvSpPr>
        <p:spPr bwMode="auto">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bwMode="auto">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bwMode="auto"/>
        <p:txBody>
          <a:bodyPr/>
          <a:lstStyle/>
          <a:p>
            <a:pPr>
              <a:defRPr/>
            </a:pPr>
            <a:r>
              <a:rPr lang="en-US"/>
              <a:t>3/1/2020</a:t>
            </a:r>
            <a:endParaRPr/>
          </a:p>
        </p:txBody>
      </p:sp>
      <p:sp>
        <p:nvSpPr>
          <p:cNvPr id="8" name="Footer Placeholder 7"/>
          <p:cNvSpPr>
            <a:spLocks noGrp="1"/>
          </p:cNvSpPr>
          <p:nvPr>
            <p:ph type="ftr" sz="quarter" idx="11"/>
          </p:nvPr>
        </p:nvSpPr>
        <p:spPr bwMode="auto"/>
        <p:txBody>
          <a:bodyPr/>
          <a:lstStyle>
            <a:lvl1pPr>
              <a:defRPr>
                <a:solidFill>
                  <a:srgbClr val="FFFFFF"/>
                </a:solidFill>
              </a:defRPr>
            </a:lvl1pPr>
          </a:lstStyle>
          <a:p>
            <a:pPr>
              <a:defRPr/>
            </a:pPr>
            <a:r>
              <a:rPr lang="zh-CN"/>
              <a:t>计算机网络实验</a:t>
            </a:r>
            <a:endParaRPr lang="en-US"/>
          </a:p>
        </p:txBody>
      </p:sp>
      <p:sp>
        <p:nvSpPr>
          <p:cNvPr id="9" name="Slide Number Placeholder 8"/>
          <p:cNvSpPr>
            <a:spLocks noGrp="1"/>
          </p:cNvSpPr>
          <p:nvPr>
            <p:ph type="sldNum" sz="quarter" idx="12"/>
          </p:nvPr>
        </p:nvSpPr>
        <p:spPr bwMode="auto"/>
        <p:txBody>
          <a:bodyPr/>
          <a:lstStyle/>
          <a:p>
            <a:pPr>
              <a:defRPr/>
            </a:pPr>
            <a:fld id="{0ECDF2DC-913F-4A16-9C18-8900B299D998}"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8" name="Rectangle 7"/>
          <p:cNvSpPr/>
          <p:nvPr/>
        </p:nvSpPr>
        <p:spPr bwMode="auto">
          <a:xfrm>
            <a:off x="14"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bwMode="auto">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auto">
          <a:xfrm>
            <a:off x="342900" y="594358"/>
            <a:ext cx="2400300" cy="2286000"/>
          </a:xfrm>
        </p:spPr>
        <p:txBody>
          <a:bodyPr anchor="b">
            <a:normAutofit/>
          </a:bodyPr>
          <a:lstStyle>
            <a:lvl1pPr>
              <a:defRPr sz="3600" b="0">
                <a:solidFill>
                  <a:srgbClr val="FFFFFF"/>
                </a:solidFill>
              </a:defRPr>
            </a:lvl1pPr>
          </a:lstStyle>
          <a:p>
            <a:pPr>
              <a:defRPr/>
            </a:pPr>
            <a:r>
              <a:rPr lang="en-US"/>
              <a:t>Click to edit Master title style</a:t>
            </a:r>
          </a:p>
        </p:txBody>
      </p:sp>
      <p:sp>
        <p:nvSpPr>
          <p:cNvPr id="3" name="Content Placeholder 2"/>
          <p:cNvSpPr>
            <a:spLocks noGrp="1"/>
          </p:cNvSpPr>
          <p:nvPr>
            <p:ph idx="1"/>
          </p:nvPr>
        </p:nvSpPr>
        <p:spPr bwMode="auto">
          <a:xfrm>
            <a:off x="3460238" y="731520"/>
            <a:ext cx="5009393" cy="5257800"/>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Text Placeholder 3"/>
          <p:cNvSpPr>
            <a:spLocks noGrp="1"/>
          </p:cNvSpPr>
          <p:nvPr>
            <p:ph type="body" sz="half" idx="2"/>
          </p:nvPr>
        </p:nvSpPr>
        <p:spPr bwMode="auto">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5" name="Date Placeholder 4"/>
          <p:cNvSpPr>
            <a:spLocks noGrp="1"/>
          </p:cNvSpPr>
          <p:nvPr>
            <p:ph type="dt" sz="half" idx="10"/>
          </p:nvPr>
        </p:nvSpPr>
        <p:spPr bwMode="auto">
          <a:xfrm>
            <a:off x="349135" y="6459788"/>
            <a:ext cx="1963883" cy="365125"/>
          </a:xfrm>
        </p:spPr>
        <p:txBody>
          <a:bodyPr/>
          <a:lstStyle>
            <a:lvl1pPr algn="l">
              <a:defRPr/>
            </a:lvl1pPr>
          </a:lstStyle>
          <a:p>
            <a:pPr>
              <a:defRPr/>
            </a:pPr>
            <a:r>
              <a:rPr lang="en-US"/>
              <a:t>3/1/2020</a:t>
            </a:r>
            <a:endParaRPr/>
          </a:p>
        </p:txBody>
      </p:sp>
      <p:sp>
        <p:nvSpPr>
          <p:cNvPr id="6" name="Footer Placeholder 5"/>
          <p:cNvSpPr>
            <a:spLocks noGrp="1"/>
          </p:cNvSpPr>
          <p:nvPr>
            <p:ph type="ftr" sz="quarter" idx="11"/>
          </p:nvPr>
        </p:nvSpPr>
        <p:spPr bwMode="auto">
          <a:xfrm>
            <a:off x="3600450" y="6459788"/>
            <a:ext cx="3486150" cy="365125"/>
          </a:xfrm>
        </p:spPr>
        <p:txBody>
          <a:bodyPr/>
          <a:lstStyle>
            <a:lvl1pPr algn="l">
              <a:defRPr>
                <a:solidFill>
                  <a:schemeClr val="tx2"/>
                </a:solidFill>
              </a:defRPr>
            </a:lvl1pPr>
          </a:lstStyle>
          <a:p>
            <a:pPr>
              <a:defRPr/>
            </a:pPr>
            <a:r>
              <a:rPr lang="zh-CN"/>
              <a:t>计算机网络实验</a:t>
            </a:r>
            <a:endParaRPr lang="en-US"/>
          </a:p>
        </p:txBody>
      </p:sp>
      <p:sp>
        <p:nvSpPr>
          <p:cNvPr id="7" name="Slide Number Placeholder 6"/>
          <p:cNvSpPr>
            <a:spLocks noGrp="1"/>
          </p:cNvSpPr>
          <p:nvPr>
            <p:ph type="sldNum" sz="quarter" idx="12"/>
          </p:nvPr>
        </p:nvSpPr>
        <p:spPr bwMode="auto"/>
        <p:txBody>
          <a:bodyPr/>
          <a:lstStyle>
            <a:lvl1pPr>
              <a:defRPr>
                <a:solidFill>
                  <a:schemeClr val="tx2"/>
                </a:solidFill>
              </a:defRPr>
            </a:lvl1pPr>
          </a:lstStyle>
          <a:p>
            <a:pPr>
              <a:defRPr/>
            </a:pPr>
            <a:fld id="{0ECDF2DC-913F-4A16-9C18-8900B299D998}"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8" name="Rectangle 7"/>
          <p:cNvSpPr/>
          <p:nvPr/>
        </p:nvSpPr>
        <p:spPr bwMode="auto">
          <a:xfrm>
            <a:off x="1"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bwMode="auto">
          <a:xfrm>
            <a:off x="13"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auto">
          <a:xfrm>
            <a:off x="822960" y="5074920"/>
            <a:ext cx="7589520" cy="822960"/>
          </a:xfrm>
        </p:spPr>
        <p:txBody>
          <a:bodyPr tIns="0" bIns="0" anchor="b">
            <a:noAutofit/>
          </a:bodyPr>
          <a:lstStyle>
            <a:lvl1pPr>
              <a:defRPr sz="3600" b="0">
                <a:solidFill>
                  <a:srgbClr val="FFFFFF"/>
                </a:solidFill>
              </a:defRPr>
            </a:lvl1pPr>
          </a:lstStyle>
          <a:p>
            <a:pPr>
              <a:defRPr/>
            </a:pPr>
            <a:r>
              <a:rPr lang="en-US"/>
              <a:t>Click to edit Master title style</a:t>
            </a:r>
          </a:p>
        </p:txBody>
      </p:sp>
      <p:sp>
        <p:nvSpPr>
          <p:cNvPr id="3" name="Picture Placeholder 2"/>
          <p:cNvSpPr>
            <a:spLocks noGrp="1" noChangeAspect="1"/>
          </p:cNvSpPr>
          <p:nvPr>
            <p:ph type="pic" idx="1"/>
          </p:nvPr>
        </p:nvSpPr>
        <p:spPr bwMode="auto">
          <a:xfrm>
            <a:off x="13" y="0"/>
            <a:ext cx="9143989" cy="4915076"/>
          </a:xfrm>
          <a:prstGeom prst="rect">
            <a:avLst/>
          </a:prstGeom>
          <a:blipFill>
            <a:blip r:embed="rId2"/>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p>
        </p:txBody>
      </p:sp>
      <p:sp>
        <p:nvSpPr>
          <p:cNvPr id="4" name="Text Placeholder 3"/>
          <p:cNvSpPr>
            <a:spLocks noGrp="1"/>
          </p:cNvSpPr>
          <p:nvPr>
            <p:ph type="body" sz="half" idx="2"/>
          </p:nvPr>
        </p:nvSpPr>
        <p:spPr bwMode="auto">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r>
              <a:rPr lang="en-US"/>
              <a:t>3/1/2020</a:t>
            </a:r>
            <a:endParaRPr/>
          </a:p>
        </p:txBody>
      </p:sp>
      <p:sp>
        <p:nvSpPr>
          <p:cNvPr id="6" name="Footer Placeholder 5"/>
          <p:cNvSpPr>
            <a:spLocks noGrp="1"/>
          </p:cNvSpPr>
          <p:nvPr>
            <p:ph type="ftr" sz="quarter" idx="11"/>
          </p:nvPr>
        </p:nvSpPr>
        <p:spPr bwMode="auto"/>
        <p:txBody>
          <a:bodyPr/>
          <a:lstStyle/>
          <a:p>
            <a:pPr>
              <a:defRPr/>
            </a:pPr>
            <a:r>
              <a:rPr lang="zh-CN"/>
              <a:t>计算机网络实验</a:t>
            </a:r>
            <a:endParaRPr lang="en-US"/>
          </a:p>
        </p:txBody>
      </p:sp>
      <p:sp>
        <p:nvSpPr>
          <p:cNvPr id="7" name="Slide Number Placeholder 6"/>
          <p:cNvSpPr>
            <a:spLocks noGrp="1"/>
          </p:cNvSpPr>
          <p:nvPr>
            <p:ph type="sldNum" sz="quarter" idx="12"/>
          </p:nvPr>
        </p:nvSpPr>
        <p:spPr bwMode="auto"/>
        <p:txBody>
          <a:bodyPr/>
          <a:lstStyle/>
          <a:p>
            <a:pPr>
              <a:defRPr/>
            </a:pPr>
            <a:fld id="{0ECDF2DC-913F-4A16-9C18-8900B299D998}"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583200" y="286605"/>
            <a:ext cx="7964423" cy="719233"/>
          </a:xfrm>
        </p:spPr>
        <p:txBody>
          <a:bodyPr/>
          <a:lstStyle/>
          <a:p>
            <a:pPr>
              <a:defRPr/>
            </a:pPr>
            <a:r>
              <a:rPr lang="en-US"/>
              <a:t>Click to edit Master title style</a:t>
            </a:r>
          </a:p>
        </p:txBody>
      </p:sp>
      <p:sp>
        <p:nvSpPr>
          <p:cNvPr id="3" name="Vertical Text Placeholder 2"/>
          <p:cNvSpPr>
            <a:spLocks noGrp="1"/>
          </p:cNvSpPr>
          <p:nvPr>
            <p:ph type="body" orient="vert" idx="1"/>
          </p:nvPr>
        </p:nvSpPr>
        <p:spPr bwMode="auto">
          <a:xfrm>
            <a:off x="576000" y="1121666"/>
            <a:ext cx="7964424" cy="4747428"/>
          </a:xfrm>
        </p:spPr>
        <p:txBody>
          <a:bodyPr vert="eaVert" lIns="45720" tIns="0" rIns="45720" bIns="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7" name="Rectangle 6"/>
          <p:cNvSpPr/>
          <p:nvPr/>
        </p:nvSpPr>
        <p:spPr bwMode="auto">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bwMode="auto">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bwMode="auto">
          <a:xfrm>
            <a:off x="6543676" y="414781"/>
            <a:ext cx="1971675" cy="5757421"/>
          </a:xfrm>
        </p:spPr>
        <p:txBody>
          <a:bodyPr vert="eaVert"/>
          <a:lstStyle/>
          <a:p>
            <a:pPr>
              <a:defRPr/>
            </a:pPr>
            <a:r>
              <a:rPr lang="en-US"/>
              <a:t>Click to edit Master title style</a:t>
            </a:r>
          </a:p>
        </p:txBody>
      </p:sp>
      <p:sp>
        <p:nvSpPr>
          <p:cNvPr id="3" name="Vertical Text Placeholder 2"/>
          <p:cNvSpPr>
            <a:spLocks noGrp="1"/>
          </p:cNvSpPr>
          <p:nvPr>
            <p:ph type="body" orient="vert" idx="1"/>
          </p:nvPr>
        </p:nvSpPr>
        <p:spPr bwMode="auto">
          <a:xfrm>
            <a:off x="628650" y="414779"/>
            <a:ext cx="5800725" cy="5757420"/>
          </a:xfrm>
        </p:spPr>
        <p:txBody>
          <a:bodyPr vert="eaVert" lIns="45720" tIns="0" rIns="45720" bIns="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bwMode="auto">
        <a:xfrm>
          <a:off x="0" y="0"/>
          <a:ext cx="0" cy="0"/>
          <a:chOff x="0" y="0"/>
          <a:chExt cx="0" cy="0"/>
        </a:xfrm>
      </p:grpSpPr>
      <p:pic>
        <p:nvPicPr>
          <p:cNvPr id="13" name="Picture 12"/>
          <p:cNvPicPr>
            <a:picLocks noChangeAspect="1"/>
          </p:cNvPicPr>
          <p:nvPr/>
        </p:nvPicPr>
        <p:blipFill>
          <a:blip r:embed="rId13"/>
          <a:stretch/>
        </p:blipFill>
        <p:spPr bwMode="auto">
          <a:xfrm>
            <a:off x="0" y="0"/>
            <a:ext cx="9144000" cy="1003300"/>
          </a:xfrm>
          <a:prstGeom prst="rect">
            <a:avLst/>
          </a:prstGeom>
        </p:spPr>
      </p:pic>
      <p:sp>
        <p:nvSpPr>
          <p:cNvPr id="7" name="Rectangle 6"/>
          <p:cNvSpPr/>
          <p:nvPr/>
        </p:nvSpPr>
        <p:spPr bwMode="auto">
          <a:xfrm>
            <a:off x="1"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bwMode="auto">
          <a:xfrm>
            <a:off x="1" y="6334317"/>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bwMode="auto">
          <a:xfrm>
            <a:off x="576001" y="286605"/>
            <a:ext cx="7964423" cy="719233"/>
          </a:xfrm>
          <a:prstGeom prst="rect">
            <a:avLst/>
          </a:prstGeom>
        </p:spPr>
        <p:txBody>
          <a:bodyPr vert="horz" lIns="91440" tIns="45720" rIns="91440" bIns="45720" rtlCol="0" anchor="b">
            <a:normAutofit/>
          </a:bodyPr>
          <a:lstStyle/>
          <a:p>
            <a:pPr>
              <a:defRPr/>
            </a:pPr>
            <a:r>
              <a:rPr lang="en-US"/>
              <a:t>Click to edit Master title style</a:t>
            </a:r>
          </a:p>
        </p:txBody>
      </p:sp>
      <p:sp>
        <p:nvSpPr>
          <p:cNvPr id="3" name="Text Placeholder 2"/>
          <p:cNvSpPr>
            <a:spLocks noGrp="1"/>
          </p:cNvSpPr>
          <p:nvPr>
            <p:ph type="body" idx="1"/>
          </p:nvPr>
        </p:nvSpPr>
        <p:spPr bwMode="auto">
          <a:xfrm>
            <a:off x="576000" y="1121666"/>
            <a:ext cx="7964424" cy="5093504"/>
          </a:xfrm>
          <a:prstGeom prst="rect">
            <a:avLst/>
          </a:prstGeom>
        </p:spPr>
        <p:txBody>
          <a:bodyPr vert="horz" lIns="0" tIns="45720" rIns="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sz="2000" b="0" i="0" u="none" strike="noStrike" cap="none" spc="0">
              <a:ln>
                <a:noFill/>
              </a:ln>
              <a:solidFill>
                <a:srgbClr val="000000">
                  <a:lumMod val="75000"/>
                  <a:lumOff val="25000"/>
                </a:srgbClr>
              </a:solidFill>
              <a:latin typeface="+mn-lt"/>
              <a:ea typeface="+mn-ea"/>
              <a:cs typeface="+mn-cs"/>
            </a:endParaRPr>
          </a:p>
        </p:txBody>
      </p:sp>
      <p:sp>
        <p:nvSpPr>
          <p:cNvPr id="4" name="Date Placeholder 3"/>
          <p:cNvSpPr>
            <a:spLocks noGrp="1"/>
          </p:cNvSpPr>
          <p:nvPr>
            <p:ph type="dt" sz="half" idx="2"/>
          </p:nvPr>
        </p:nvSpPr>
        <p:spPr bwMode="auto">
          <a:xfrm>
            <a:off x="822962" y="6459788"/>
            <a:ext cx="1854203" cy="365125"/>
          </a:xfrm>
          <a:prstGeom prst="rect">
            <a:avLst/>
          </a:prstGeom>
        </p:spPr>
        <p:txBody>
          <a:bodyPr vert="horz" lIns="91440" tIns="45720" rIns="91440" bIns="45720" rtlCol="0" anchor="ctr"/>
          <a:lstStyle>
            <a:lvl1pPr algn="l">
              <a:defRPr sz="1400">
                <a:solidFill>
                  <a:srgbClr val="FFFFFF"/>
                </a:solidFill>
              </a:defRPr>
            </a:lvl1pPr>
          </a:lstStyle>
          <a:p>
            <a:pPr>
              <a:defRPr/>
            </a:pPr>
            <a:r>
              <a:rPr lang="en-US"/>
              <a:t>3/1/2020</a:t>
            </a:r>
            <a:endParaRPr/>
          </a:p>
        </p:txBody>
      </p:sp>
      <p:sp>
        <p:nvSpPr>
          <p:cNvPr id="5" name="Footer Placeholder 4"/>
          <p:cNvSpPr>
            <a:spLocks noGrp="1"/>
          </p:cNvSpPr>
          <p:nvPr>
            <p:ph type="ftr" sz="quarter" idx="3"/>
          </p:nvPr>
        </p:nvSpPr>
        <p:spPr bwMode="auto">
          <a:xfrm>
            <a:off x="2764640" y="6459788"/>
            <a:ext cx="3617103" cy="365125"/>
          </a:xfrm>
          <a:prstGeom prst="rect">
            <a:avLst/>
          </a:prstGeom>
        </p:spPr>
        <p:txBody>
          <a:bodyPr vert="horz" lIns="91440" tIns="45720" rIns="91440" bIns="45720" rtlCol="0" anchor="ctr"/>
          <a:lstStyle>
            <a:lvl1pPr algn="ctr">
              <a:defRPr sz="1400" cap="all">
                <a:solidFill>
                  <a:srgbClr val="FFFFFF"/>
                </a:solidFill>
              </a:defRPr>
            </a:lvl1pPr>
          </a:lstStyle>
          <a:p>
            <a:pPr>
              <a:defRPr/>
            </a:pPr>
            <a:r>
              <a:rPr lang="zh-CN"/>
              <a:t>计算机网络实验</a:t>
            </a:r>
            <a:endParaRPr lang="en-US"/>
          </a:p>
        </p:txBody>
      </p:sp>
      <p:sp>
        <p:nvSpPr>
          <p:cNvPr id="6" name="Slide Number Placeholder 5"/>
          <p:cNvSpPr>
            <a:spLocks noGrp="1"/>
          </p:cNvSpPr>
          <p:nvPr>
            <p:ph type="sldNum" sz="quarter" idx="4"/>
          </p:nvPr>
        </p:nvSpPr>
        <p:spPr bwMode="auto">
          <a:xfrm>
            <a:off x="7425345" y="6459788"/>
            <a:ext cx="984019" cy="365125"/>
          </a:xfrm>
          <a:prstGeom prst="rect">
            <a:avLst/>
          </a:prstGeom>
        </p:spPr>
        <p:txBody>
          <a:bodyPr vert="horz" lIns="91440" tIns="45720" rIns="91440" bIns="45720" rtlCol="0" anchor="ctr"/>
          <a:lstStyle>
            <a:lvl1pPr algn="r">
              <a:defRPr sz="1400">
                <a:solidFill>
                  <a:srgbClr val="FFFFFF"/>
                </a:solidFill>
              </a:defRPr>
            </a:lvl1pPr>
          </a:lstStyle>
          <a:p>
            <a:pPr>
              <a:defRPr/>
            </a:pPr>
            <a:fld id="{0ECDF2DC-913F-4A16-9C18-8900B299D998}" type="slidenum">
              <a:rPr lang="en-US"/>
              <a:t>‹#›</a:t>
            </a:fld>
            <a:endParaRPr lang="en-US"/>
          </a:p>
        </p:txBody>
      </p:sp>
      <p:sp>
        <p:nvSpPr>
          <p:cNvPr id="10" name="Rectangle 9"/>
          <p:cNvSpPr/>
          <p:nvPr/>
        </p:nvSpPr>
        <p:spPr bwMode="auto">
          <a:xfrm>
            <a:off x="1"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bwMode="auto">
          <a:xfrm>
            <a:off x="1"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a:lnSpc>
          <a:spcPct val="85000"/>
        </a:lnSpc>
        <a:spcBef>
          <a:spcPts val="0"/>
        </a:spcBef>
        <a:buNone/>
        <a:defRPr sz="4200" spc="-50">
          <a:solidFill>
            <a:schemeClr val="tx1">
              <a:lumMod val="75000"/>
              <a:lumOff val="25000"/>
            </a:schemeClr>
          </a:solidFill>
          <a:latin typeface="+mj-lt"/>
          <a:ea typeface="+mj-ea"/>
          <a:cs typeface="+mj-cs"/>
        </a:defRPr>
      </a:lvl1pPr>
    </p:titleStyle>
    <p:bodyStyle>
      <a:lvl1pPr marL="269875" indent="-269875" algn="l" defTabSz="914400">
        <a:lnSpc>
          <a:spcPct val="90000"/>
        </a:lnSpc>
        <a:spcBef>
          <a:spcPts val="1200"/>
        </a:spcBef>
        <a:spcAft>
          <a:spcPts val="200"/>
        </a:spcAft>
        <a:buClr>
          <a:schemeClr val="accent1"/>
        </a:buClr>
        <a:buSzPct val="100000"/>
        <a:buFont typeface="Wingdings"/>
        <a:buChar char="§"/>
        <a:defRPr sz="2800">
          <a:solidFill>
            <a:schemeClr val="tx1">
              <a:lumMod val="75000"/>
              <a:lumOff val="25000"/>
            </a:schemeClr>
          </a:solidFill>
          <a:latin typeface="+mn-lt"/>
          <a:ea typeface="+mn-ea"/>
          <a:cs typeface="+mn-cs"/>
        </a:defRPr>
      </a:lvl1pPr>
      <a:lvl2pPr marL="444500" marR="0" indent="-263525" algn="l" defTabSz="914400">
        <a:lnSpc>
          <a:spcPct val="90000"/>
        </a:lnSpc>
        <a:spcBef>
          <a:spcPts val="200"/>
        </a:spcBef>
        <a:spcAft>
          <a:spcPts val="400"/>
        </a:spcAft>
        <a:buClr>
          <a:srgbClr val="3DA3ED"/>
        </a:buClr>
        <a:buSzTx/>
        <a:buFont typeface="Wingdings"/>
        <a:buChar char="§"/>
        <a:defRPr sz="2400">
          <a:solidFill>
            <a:schemeClr val="tx1">
              <a:lumMod val="75000"/>
              <a:lumOff val="25000"/>
            </a:schemeClr>
          </a:solidFill>
          <a:latin typeface="+mn-lt"/>
          <a:ea typeface="+mn-ea"/>
          <a:cs typeface="+mn-cs"/>
        </a:defRPr>
      </a:lvl2pPr>
      <a:lvl3pPr marL="627063" marR="0" indent="-269875" algn="l" defTabSz="914400">
        <a:lnSpc>
          <a:spcPct val="90000"/>
        </a:lnSpc>
        <a:spcBef>
          <a:spcPts val="200"/>
        </a:spcBef>
        <a:spcAft>
          <a:spcPts val="400"/>
        </a:spcAft>
        <a:buClr>
          <a:srgbClr val="3DA3ED"/>
        </a:buClr>
        <a:buSzTx/>
        <a:buFont typeface="Wingdings"/>
        <a:buChar char="§"/>
        <a:defRPr sz="2000">
          <a:solidFill>
            <a:schemeClr val="tx1">
              <a:lumMod val="75000"/>
              <a:lumOff val="25000"/>
            </a:schemeClr>
          </a:solidFill>
          <a:latin typeface="+mn-lt"/>
          <a:ea typeface="+mn-ea"/>
          <a:cs typeface="+mn-cs"/>
        </a:defRPr>
      </a:lvl3pPr>
      <a:lvl4pPr marL="808038" marR="0" indent="-269875" algn="l" defTabSz="914400">
        <a:lnSpc>
          <a:spcPct val="90000"/>
        </a:lnSpc>
        <a:spcBef>
          <a:spcPts val="200"/>
        </a:spcBef>
        <a:spcAft>
          <a:spcPts val="400"/>
        </a:spcAft>
        <a:buClr>
          <a:srgbClr val="3DA3ED"/>
        </a:buClr>
        <a:buSzTx/>
        <a:buFont typeface="Wingdings"/>
        <a:buChar char="§"/>
        <a:defRPr sz="2000">
          <a:solidFill>
            <a:schemeClr val="tx1">
              <a:lumMod val="75000"/>
              <a:lumOff val="25000"/>
            </a:schemeClr>
          </a:solidFill>
          <a:latin typeface="+mn-lt"/>
          <a:ea typeface="+mn-ea"/>
          <a:cs typeface="+mn-cs"/>
        </a:defRPr>
      </a:lvl4pPr>
      <a:lvl5pPr marL="982663" marR="0" indent="-261938" algn="l" defTabSz="914400">
        <a:lnSpc>
          <a:spcPct val="90000"/>
        </a:lnSpc>
        <a:spcBef>
          <a:spcPts val="200"/>
        </a:spcBef>
        <a:spcAft>
          <a:spcPts val="400"/>
        </a:spcAft>
        <a:buClr>
          <a:srgbClr val="3DA3ED"/>
        </a:buClr>
        <a:buSzTx/>
        <a:buFont typeface="Wingdings"/>
        <a:buChar char="§"/>
        <a:defRPr sz="2000">
          <a:solidFill>
            <a:schemeClr val="tx1">
              <a:lumMod val="75000"/>
              <a:lumOff val="25000"/>
            </a:schemeClr>
          </a:solidFill>
          <a:latin typeface="+mn-lt"/>
          <a:ea typeface="+mn-ea"/>
          <a:cs typeface="+mn-cs"/>
        </a:defRPr>
      </a:lvl5pPr>
      <a:lvl6pPr marL="1100000" indent="-228600" algn="l" defTabSz="914400">
        <a:lnSpc>
          <a:spcPct val="90000"/>
        </a:lnSpc>
        <a:spcBef>
          <a:spcPts val="200"/>
        </a:spcBef>
        <a:spcAft>
          <a:spcPts val="400"/>
        </a:spcAft>
        <a:buClr>
          <a:schemeClr val="accent1"/>
        </a:buClr>
        <a:buFont typeface="Calibri"/>
        <a:buChar char="◦"/>
        <a:defRPr sz="1400">
          <a:solidFill>
            <a:schemeClr val="tx1">
              <a:lumMod val="75000"/>
              <a:lumOff val="25000"/>
            </a:schemeClr>
          </a:solidFill>
          <a:latin typeface="+mn-lt"/>
          <a:ea typeface="+mn-ea"/>
          <a:cs typeface="+mn-cs"/>
        </a:defRPr>
      </a:lvl6pPr>
      <a:lvl7pPr marL="1300000" indent="-228600" algn="l" defTabSz="914400">
        <a:lnSpc>
          <a:spcPct val="90000"/>
        </a:lnSpc>
        <a:spcBef>
          <a:spcPts val="200"/>
        </a:spcBef>
        <a:spcAft>
          <a:spcPts val="400"/>
        </a:spcAft>
        <a:buClr>
          <a:schemeClr val="accent1"/>
        </a:buClr>
        <a:buFont typeface="Calibri"/>
        <a:buChar char="◦"/>
        <a:defRPr sz="1400">
          <a:solidFill>
            <a:schemeClr val="tx1">
              <a:lumMod val="75000"/>
              <a:lumOff val="25000"/>
            </a:schemeClr>
          </a:solidFill>
          <a:latin typeface="+mn-lt"/>
          <a:ea typeface="+mn-ea"/>
          <a:cs typeface="+mn-cs"/>
        </a:defRPr>
      </a:lvl7pPr>
      <a:lvl8pPr marL="1500000" indent="-228600" algn="l" defTabSz="914400">
        <a:lnSpc>
          <a:spcPct val="90000"/>
        </a:lnSpc>
        <a:spcBef>
          <a:spcPts val="200"/>
        </a:spcBef>
        <a:spcAft>
          <a:spcPts val="400"/>
        </a:spcAft>
        <a:buClr>
          <a:schemeClr val="accent1"/>
        </a:buClr>
        <a:buFont typeface="Calibri"/>
        <a:buChar char="◦"/>
        <a:defRPr sz="1400">
          <a:solidFill>
            <a:schemeClr val="tx1">
              <a:lumMod val="75000"/>
              <a:lumOff val="25000"/>
            </a:schemeClr>
          </a:solidFill>
          <a:latin typeface="+mn-lt"/>
          <a:ea typeface="+mn-ea"/>
          <a:cs typeface="+mn-cs"/>
        </a:defRPr>
      </a:lvl8pPr>
      <a:lvl9pPr marL="1700000" indent="-228600" algn="l" defTabSz="914400">
        <a:lnSpc>
          <a:spcPct val="90000"/>
        </a:lnSpc>
        <a:spcBef>
          <a:spcPts val="200"/>
        </a:spcBef>
        <a:spcAft>
          <a:spcPts val="400"/>
        </a:spcAft>
        <a:buClr>
          <a:schemeClr val="accent1"/>
        </a:buClr>
        <a:buFont typeface="Calibri"/>
        <a:buChar char="◦"/>
        <a:defRPr sz="1400">
          <a:solidFill>
            <a:schemeClr val="tx1">
              <a:lumMod val="75000"/>
              <a:lumOff val="25000"/>
            </a:schemeClr>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Title 3"/>
          <p:cNvSpPr>
            <a:spLocks noGrp="1"/>
          </p:cNvSpPr>
          <p:nvPr>
            <p:ph type="ctrTitle"/>
          </p:nvPr>
        </p:nvSpPr>
        <p:spPr bwMode="auto"/>
        <p:txBody>
          <a:bodyPr/>
          <a:lstStyle/>
          <a:p>
            <a:pPr>
              <a:spcAft>
                <a:spcPts val="0"/>
              </a:spcAft>
              <a:defRPr/>
            </a:pPr>
            <a:r>
              <a:rPr lang="zh-CN" dirty="0"/>
              <a:t>计算机网络</a:t>
            </a:r>
            <a:br>
              <a:rPr lang="en-US" dirty="0"/>
            </a:br>
            <a:br>
              <a:rPr lang="en-US" dirty="0"/>
            </a:br>
            <a:r>
              <a:rPr lang="zh-CN" dirty="0"/>
              <a:t>实验六 交换机与</a:t>
            </a:r>
            <a:r>
              <a:rPr lang="en-US" dirty="0"/>
              <a:t>VLAN</a:t>
            </a:r>
            <a:r>
              <a:rPr lang="zh-CN" dirty="0"/>
              <a:t>配置</a:t>
            </a:r>
            <a:endParaRPr lang="en-US" dirty="0"/>
          </a:p>
        </p:txBody>
      </p:sp>
      <p:sp>
        <p:nvSpPr>
          <p:cNvPr id="5" name="Subtitle 4"/>
          <p:cNvSpPr>
            <a:spLocks noGrp="1"/>
          </p:cNvSpPr>
          <p:nvPr>
            <p:ph type="subTitle" idx="1"/>
          </p:nvPr>
        </p:nvSpPr>
        <p:spPr bwMode="auto"/>
        <p:txBody>
          <a:bodyPr vertOverflow="overflow" horzOverflow="overflow" vert="horz" wrap="square" lIns="91440" tIns="45720" rIns="91440" bIns="45720" numCol="1" spcCol="0" rtlCol="0" fromWordArt="0" anchor="t" anchorCtr="0" forceAA="0" compatLnSpc="0">
            <a:normAutofit/>
          </a:bodyPr>
          <a:lstStyle/>
          <a:p>
            <a:pPr>
              <a:spcBef>
                <a:spcPts val="0"/>
              </a:spcBef>
              <a:defRPr/>
            </a:pPr>
            <a:r>
              <a:rPr lang="zh-CN"/>
              <a:t>计算机与软件学院</a:t>
            </a:r>
            <a:endParaRPr lang="en-US"/>
          </a:p>
          <a:p>
            <a:pPr>
              <a:spcBef>
                <a:spcPts val="0"/>
              </a:spcBef>
              <a:defRPr/>
            </a:pPr>
            <a:r>
              <a:rPr lang="zh-CN"/>
              <a:t>深圳大学</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zh-CN"/>
              <a:t>实验</a:t>
            </a:r>
            <a:r>
              <a:rPr lang="zh-CN" sz="4200" b="0" i="0" u="none" strike="noStrike" cap="none" spc="-49">
                <a:solidFill>
                  <a:schemeClr val="tx1">
                    <a:lumMod val="75000"/>
                    <a:lumOff val="25000"/>
                  </a:schemeClr>
                </a:solidFill>
                <a:latin typeface="+mj-lt"/>
                <a:ea typeface="+mj-ea"/>
                <a:cs typeface="+mj-cs"/>
              </a:rPr>
              <a:t>六</a:t>
            </a:r>
            <a:r>
              <a:rPr lang="zh-CN"/>
              <a:t> 交换机与</a:t>
            </a:r>
            <a:r>
              <a:rPr lang="en-US"/>
              <a:t>VLAN</a:t>
            </a:r>
            <a:r>
              <a:rPr lang="zh-CN"/>
              <a:t>配置</a:t>
            </a:r>
            <a:endParaRPr lang="en-US"/>
          </a:p>
        </p:txBody>
      </p:sp>
      <p:sp>
        <p:nvSpPr>
          <p:cNvPr id="3075" name="Rectangle 3"/>
          <p:cNvSpPr>
            <a:spLocks noGrp="1" noChangeArrowheads="1"/>
          </p:cNvSpPr>
          <p:nvPr>
            <p:ph idx="1"/>
          </p:nvPr>
        </p:nvSpPr>
        <p:spPr bwMode="auto"/>
        <p:txBody>
          <a:bodyPr>
            <a:noAutofit/>
          </a:bodyPr>
          <a:lstStyle/>
          <a:p>
            <a:pPr>
              <a:lnSpc>
                <a:spcPct val="90000"/>
              </a:lnSpc>
              <a:defRPr/>
            </a:pPr>
            <a:r>
              <a:rPr lang="zh-CN" sz="2800" dirty="0"/>
              <a:t>实验目的</a:t>
            </a:r>
            <a:endParaRPr dirty="0"/>
          </a:p>
          <a:p>
            <a:pPr lvl="1">
              <a:defRPr/>
            </a:pPr>
            <a:r>
              <a:rPr lang="zh-CN" sz="2400" dirty="0"/>
              <a:t>了解</a:t>
            </a:r>
            <a:r>
              <a:rPr lang="en-US" sz="2400" dirty="0" err="1"/>
              <a:t>Quidway</a:t>
            </a:r>
            <a:r>
              <a:rPr lang="en-US" sz="2400" dirty="0"/>
              <a:t> S</a:t>
            </a:r>
            <a:r>
              <a:rPr lang="zh-CN" sz="2400" dirty="0"/>
              <a:t>系列交换机的基本功能。</a:t>
            </a:r>
            <a:endParaRPr dirty="0"/>
          </a:p>
          <a:p>
            <a:pPr lvl="1">
              <a:defRPr/>
            </a:pPr>
            <a:r>
              <a:rPr lang="zh-CN" dirty="0"/>
              <a:t>了解交换机和</a:t>
            </a:r>
            <a:r>
              <a:rPr lang="en-US" dirty="0"/>
              <a:t>VLAN</a:t>
            </a:r>
            <a:r>
              <a:rPr lang="zh-CN" dirty="0"/>
              <a:t>的配置方法。</a:t>
            </a:r>
            <a:endParaRPr lang="en-US" dirty="0"/>
          </a:p>
          <a:p>
            <a:pPr>
              <a:lnSpc>
                <a:spcPct val="90000"/>
              </a:lnSpc>
              <a:defRPr/>
            </a:pPr>
            <a:endParaRPr lang="en-US" sz="2800" dirty="0"/>
          </a:p>
          <a:p>
            <a:pPr>
              <a:lnSpc>
                <a:spcPct val="90000"/>
              </a:lnSpc>
              <a:defRPr/>
            </a:pPr>
            <a:r>
              <a:rPr lang="zh-CN" sz="2800" dirty="0"/>
              <a:t>实验环境</a:t>
            </a:r>
            <a:endParaRPr dirty="0"/>
          </a:p>
          <a:p>
            <a:pPr lvl="1">
              <a:defRPr/>
            </a:pPr>
            <a:r>
              <a:rPr lang="en-US" sz="2400" dirty="0" err="1"/>
              <a:t>Quidway</a:t>
            </a:r>
            <a:r>
              <a:rPr lang="en-US" sz="2400" dirty="0"/>
              <a:t> S5700</a:t>
            </a:r>
            <a:r>
              <a:rPr lang="zh-CN" sz="2400" dirty="0"/>
              <a:t>交换机两台，</a:t>
            </a:r>
            <a:r>
              <a:rPr lang="en-US" sz="2400" dirty="0"/>
              <a:t>PC</a:t>
            </a:r>
            <a:r>
              <a:rPr lang="zh-CN" sz="2400" dirty="0"/>
              <a:t>机四台，</a:t>
            </a:r>
            <a:r>
              <a:rPr lang="en-US" sz="2400" dirty="0"/>
              <a:t>Console</a:t>
            </a:r>
            <a:r>
              <a:rPr lang="zh-CN" sz="2400" dirty="0"/>
              <a:t>线缆一条，网线若干。</a:t>
            </a:r>
            <a:endParaRPr lang="en-US" sz="2400" dirty="0"/>
          </a:p>
        </p:txBody>
      </p:sp>
      <p:sp>
        <p:nvSpPr>
          <p:cNvPr id="3" name="Date Placeholder 2"/>
          <p:cNvSpPr>
            <a:spLocks noGrp="1"/>
          </p:cNvSpPr>
          <p:nvPr>
            <p:ph type="dt" sz="half" idx="10"/>
          </p:nvPr>
        </p:nvSpPr>
        <p:spPr bwMode="auto"/>
        <p:txBody>
          <a:bodyPr/>
          <a:lstStyle/>
          <a:p>
            <a:pPr>
              <a:defRPr/>
            </a:pPr>
            <a:r>
              <a:rPr lang="en-US"/>
              <a:t>3/1/2020</a:t>
            </a:r>
            <a:endParaRPr/>
          </a:p>
        </p:txBody>
      </p:sp>
      <p:sp>
        <p:nvSpPr>
          <p:cNvPr id="4" name="Footer Placeholder 3"/>
          <p:cNvSpPr>
            <a:spLocks noGrp="1"/>
          </p:cNvSpPr>
          <p:nvPr>
            <p:ph type="ftr" sz="quarter" idx="11"/>
          </p:nvPr>
        </p:nvSpPr>
        <p:spPr bwMode="auto"/>
        <p:txBody>
          <a:bodyPr/>
          <a:lstStyle/>
          <a:p>
            <a:pPr>
              <a:defRPr/>
            </a:pPr>
            <a:r>
              <a:rPr lang="zh-CN"/>
              <a:t>计算机网络实验</a:t>
            </a:r>
            <a:endParaRPr lang="en-US"/>
          </a:p>
        </p:txBody>
      </p:sp>
      <p:sp>
        <p:nvSpPr>
          <p:cNvPr id="5" name="Slide Number Placeholder 4"/>
          <p:cNvSpPr>
            <a:spLocks noGrp="1"/>
          </p:cNvSpPr>
          <p:nvPr>
            <p:ph type="sldNum" sz="quarter" idx="12"/>
          </p:nvPr>
        </p:nvSpPr>
        <p:spPr bwMode="auto"/>
        <p:txBody>
          <a:bodyPr/>
          <a:lstStyle/>
          <a:p>
            <a:pPr>
              <a:defRPr/>
            </a:pPr>
            <a:fld id="{0ECDF2DC-913F-4A16-9C18-8900B299D998}" type="slidenum">
              <a:rPr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p:cNvSpPr>
            <a:spLocks noGrp="1"/>
          </p:cNvSpPr>
          <p:nvPr>
            <p:ph type="title"/>
          </p:nvPr>
        </p:nvSpPr>
        <p:spPr bwMode="auto"/>
        <p:txBody>
          <a:bodyPr/>
          <a:lstStyle/>
          <a:p>
            <a:pPr>
              <a:defRPr/>
            </a:pPr>
            <a:r>
              <a:rPr lang="zh-CN" dirty="0"/>
              <a:t>实验内容</a:t>
            </a:r>
            <a:endParaRPr lang="en-US" dirty="0"/>
          </a:p>
        </p:txBody>
      </p:sp>
      <p:sp>
        <p:nvSpPr>
          <p:cNvPr id="2" name="Content Placeholder 1"/>
          <p:cNvSpPr>
            <a:spLocks noGrp="1"/>
          </p:cNvSpPr>
          <p:nvPr>
            <p:ph idx="1"/>
          </p:nvPr>
        </p:nvSpPr>
        <p:spPr bwMode="auto"/>
        <p:txBody>
          <a:bodyPr/>
          <a:lstStyle/>
          <a:p>
            <a:pPr marL="514350" indent="-514350">
              <a:buFont typeface="+mj-lt"/>
              <a:buAutoNum type="arabicPeriod"/>
              <a:defRPr/>
            </a:pPr>
            <a:r>
              <a:rPr lang="zh-CN" dirty="0"/>
              <a:t>登录交换机</a:t>
            </a:r>
            <a:endParaRPr dirty="0"/>
          </a:p>
          <a:p>
            <a:pPr marL="514350" indent="-514350">
              <a:buFont typeface="+mj-lt"/>
              <a:buAutoNum type="arabicPeriod"/>
              <a:defRPr/>
            </a:pPr>
            <a:r>
              <a:rPr lang="zh-CN" dirty="0"/>
              <a:t>连接双节点网络</a:t>
            </a:r>
            <a:endParaRPr dirty="0"/>
          </a:p>
          <a:p>
            <a:pPr marL="514350" indent="-514350">
              <a:buFont typeface="+mj-lt"/>
              <a:buAutoNum type="arabicPeriod"/>
              <a:defRPr/>
            </a:pPr>
            <a:r>
              <a:rPr lang="zh-CN" dirty="0"/>
              <a:t>配置双节点网络</a:t>
            </a:r>
            <a:r>
              <a:rPr lang="en-US" dirty="0"/>
              <a:t>VLAN</a:t>
            </a:r>
            <a:endParaRPr dirty="0"/>
          </a:p>
          <a:p>
            <a:pPr marL="514350" indent="-514350">
              <a:buFont typeface="+mj-lt"/>
              <a:buAutoNum type="arabicPeriod"/>
              <a:defRPr/>
            </a:pPr>
            <a:r>
              <a:rPr lang="zh-CN" dirty="0"/>
              <a:t>配置四节点网络</a:t>
            </a:r>
            <a:r>
              <a:rPr lang="en-US" dirty="0"/>
              <a:t>VLAN</a:t>
            </a:r>
            <a:endParaRPr dirty="0"/>
          </a:p>
          <a:p>
            <a:pPr>
              <a:defRPr/>
            </a:pPr>
            <a:endParaRPr lang="en-US" dirty="0"/>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zh-CN" dirty="0"/>
              <a:t>实验任务要求</a:t>
            </a:r>
            <a:endParaRPr lang="en-US" dirty="0"/>
          </a:p>
        </p:txBody>
      </p:sp>
      <p:sp>
        <p:nvSpPr>
          <p:cNvPr id="3" name="Content Placeholder 2"/>
          <p:cNvSpPr>
            <a:spLocks noGrp="1"/>
          </p:cNvSpPr>
          <p:nvPr>
            <p:ph idx="1"/>
          </p:nvPr>
        </p:nvSpPr>
        <p:spPr bwMode="auto"/>
        <p:txBody>
          <a:bodyPr/>
          <a:lstStyle/>
          <a:p>
            <a:pPr>
              <a:defRPr/>
            </a:pPr>
            <a:r>
              <a:rPr lang="zh-CN" dirty="0"/>
              <a:t>请参考本讲义学习</a:t>
            </a:r>
            <a:r>
              <a:rPr lang="en-US" dirty="0" err="1"/>
              <a:t>Quidway</a:t>
            </a:r>
            <a:r>
              <a:rPr lang="zh-CN" dirty="0"/>
              <a:t>交换机的使用方法</a:t>
            </a:r>
            <a:endParaRPr dirty="0"/>
          </a:p>
          <a:p>
            <a:pPr>
              <a:defRPr/>
            </a:pPr>
            <a:r>
              <a:rPr lang="zh-CN" dirty="0"/>
              <a:t>理解</a:t>
            </a:r>
            <a:r>
              <a:rPr lang="en-US" dirty="0"/>
              <a:t>VLAN</a:t>
            </a:r>
            <a:r>
              <a:rPr lang="zh-CN" dirty="0"/>
              <a:t>的原理</a:t>
            </a:r>
            <a:endParaRPr dirty="0"/>
          </a:p>
          <a:p>
            <a:pPr>
              <a:defRPr/>
            </a:pPr>
            <a:r>
              <a:rPr lang="zh-CN" dirty="0"/>
              <a:t>掌握</a:t>
            </a:r>
            <a:r>
              <a:rPr lang="en-US" dirty="0"/>
              <a:t>VLAN</a:t>
            </a:r>
            <a:r>
              <a:rPr lang="zh-CN" dirty="0"/>
              <a:t>的配置方法</a:t>
            </a:r>
            <a:endParaRPr dirty="0"/>
          </a:p>
          <a:p>
            <a:pPr>
              <a:defRPr/>
            </a:pPr>
            <a:r>
              <a:rPr lang="zh-CN" dirty="0"/>
              <a:t>理解</a:t>
            </a:r>
            <a:r>
              <a:rPr lang="en-US" b="1" dirty="0"/>
              <a:t>Trunk</a:t>
            </a:r>
            <a:r>
              <a:rPr lang="zh-CN" b="1" dirty="0"/>
              <a:t>接口与</a:t>
            </a:r>
            <a:r>
              <a:rPr lang="en-US" b="1" dirty="0"/>
              <a:t>Access</a:t>
            </a:r>
            <a:r>
              <a:rPr lang="zh-CN" b="1" dirty="0"/>
              <a:t>接口</a:t>
            </a:r>
            <a:r>
              <a:rPr lang="zh-CN" dirty="0"/>
              <a:t>的区别</a:t>
            </a:r>
            <a:endParaRPr dirty="0"/>
          </a:p>
          <a:p>
            <a:pPr>
              <a:defRPr/>
            </a:pPr>
            <a:r>
              <a:rPr lang="zh-CN" dirty="0"/>
              <a:t>掌握用交换机搭建小型网络的技能</a:t>
            </a:r>
            <a:endParaRPr dirty="0"/>
          </a:p>
          <a:p>
            <a:pPr>
              <a:defRPr/>
            </a:pPr>
            <a:r>
              <a:rPr lang="zh-CN" dirty="0"/>
              <a:t>依照步骤完成实验内容</a:t>
            </a:r>
            <a:r>
              <a:rPr lang="en-US" dirty="0"/>
              <a:t>1—4</a:t>
            </a:r>
            <a:endParaRPr dirty="0"/>
          </a:p>
          <a:p>
            <a:pPr>
              <a:defRPr/>
            </a:pPr>
            <a:r>
              <a:rPr lang="zh-CN" dirty="0"/>
              <a:t>对实验结果截图</a:t>
            </a:r>
            <a:endParaRPr dirty="0"/>
          </a:p>
          <a:p>
            <a:pPr>
              <a:defRPr/>
            </a:pPr>
            <a:r>
              <a:rPr lang="zh-CN" dirty="0"/>
              <a:t>撰写实验报告</a:t>
            </a:r>
            <a:endParaRPr dirty="0"/>
          </a:p>
          <a:p>
            <a:pPr>
              <a:defRPr/>
            </a:pPr>
            <a:endParaRPr lang="en-US" dirty="0"/>
          </a:p>
        </p:txBody>
      </p:sp>
      <p:sp>
        <p:nvSpPr>
          <p:cNvPr id="5" name="Date Placeholder 4"/>
          <p:cNvSpPr>
            <a:spLocks noGrp="1"/>
          </p:cNvSpPr>
          <p:nvPr>
            <p:ph type="dt" sz="half" idx="10"/>
          </p:nvPr>
        </p:nvSpPr>
        <p:spPr bwMode="auto"/>
        <p:txBody>
          <a:bodyPr/>
          <a:lstStyle/>
          <a:p>
            <a:pPr>
              <a:defRPr/>
            </a:pPr>
            <a:r>
              <a:rPr lang="en-US"/>
              <a:t>3/1/2020</a:t>
            </a:r>
            <a:endParaRPr/>
          </a:p>
        </p:txBody>
      </p:sp>
      <p:sp>
        <p:nvSpPr>
          <p:cNvPr id="6" name="Footer Placeholder 5"/>
          <p:cNvSpPr>
            <a:spLocks noGrp="1"/>
          </p:cNvSpPr>
          <p:nvPr>
            <p:ph type="ftr" sz="quarter" idx="11"/>
          </p:nvPr>
        </p:nvSpPr>
        <p:spPr bwMode="auto"/>
        <p:txBody>
          <a:bodyPr/>
          <a:lstStyle/>
          <a:p>
            <a:pPr>
              <a:defRPr/>
            </a:pPr>
            <a:r>
              <a:rPr lang="zh-CN"/>
              <a:t>计算机网络实验</a:t>
            </a:r>
            <a:endParaRPr lang="en-US"/>
          </a:p>
        </p:txBody>
      </p:sp>
      <p:sp>
        <p:nvSpPr>
          <p:cNvPr id="7" name="Slide Number Placeholder 6"/>
          <p:cNvSpPr>
            <a:spLocks noGrp="1"/>
          </p:cNvSpPr>
          <p:nvPr>
            <p:ph type="sldNum" sz="quarter" idx="12"/>
          </p:nvPr>
        </p:nvSpPr>
        <p:spPr bwMode="auto"/>
        <p:txBody>
          <a:bodyPr/>
          <a:lstStyle/>
          <a:p>
            <a:pPr>
              <a:defRPr/>
            </a:pPr>
            <a:fld id="{554D46A6-7336-4199-AC73-BAD4954AE5E0}" type="slidenum">
              <a:rPr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zh-CN" dirty="0"/>
              <a:t>实验报告撰写要求</a:t>
            </a:r>
            <a:endParaRPr lang="en-US" dirty="0"/>
          </a:p>
        </p:txBody>
      </p:sp>
      <p:sp>
        <p:nvSpPr>
          <p:cNvPr id="3" name="Content Placeholder 2"/>
          <p:cNvSpPr>
            <a:spLocks noGrp="1"/>
          </p:cNvSpPr>
          <p:nvPr>
            <p:ph idx="1"/>
          </p:nvPr>
        </p:nvSpPr>
        <p:spPr bwMode="auto"/>
        <p:txBody>
          <a:bodyPr/>
          <a:lstStyle/>
          <a:p>
            <a:pPr marL="382588" lvl="1" indent="-182563">
              <a:defRPr/>
            </a:pPr>
            <a:r>
              <a:rPr lang="zh-CN" dirty="0"/>
              <a:t>使用教务处制作的实验报告模板</a:t>
            </a:r>
            <a:endParaRPr lang="en-US" dirty="0"/>
          </a:p>
          <a:p>
            <a:pPr marL="382588" lvl="1" indent="-182563">
              <a:defRPr/>
            </a:pPr>
            <a:r>
              <a:rPr lang="zh-CN" dirty="0"/>
              <a:t>注意按进度填写实验时间和实验报告提交时间</a:t>
            </a:r>
            <a:endParaRPr lang="en-US" dirty="0"/>
          </a:p>
          <a:p>
            <a:pPr marL="382588" lvl="1" indent="-182563">
              <a:defRPr/>
            </a:pPr>
            <a:r>
              <a:rPr lang="zh-CN" dirty="0"/>
              <a:t>填写模板中的每一部分</a:t>
            </a:r>
            <a:endParaRPr lang="en-US" dirty="0"/>
          </a:p>
          <a:p>
            <a:pPr marL="382588" lvl="1" indent="-182563">
              <a:defRPr/>
            </a:pPr>
            <a:r>
              <a:rPr lang="zh-CN" dirty="0"/>
              <a:t>填写实验步骤时，做到条理清晰</a:t>
            </a:r>
            <a:endParaRPr lang="en-US" dirty="0"/>
          </a:p>
          <a:p>
            <a:pPr marL="382588" lvl="1" indent="-182563">
              <a:defRPr/>
            </a:pPr>
            <a:r>
              <a:rPr lang="zh-CN" dirty="0"/>
              <a:t>注意截图清晰、美观</a:t>
            </a:r>
            <a:endParaRPr lang="en-US" dirty="0"/>
          </a:p>
          <a:p>
            <a:pPr marL="382588" lvl="1" indent="-182563">
              <a:defRPr/>
            </a:pPr>
            <a:r>
              <a:rPr lang="zh-CN" dirty="0">
                <a:highlight>
                  <a:srgbClr val="FFFF00"/>
                </a:highlight>
              </a:rPr>
              <a:t>对于实验操作返回结果的解释为加分项，解释地越详细越好</a:t>
            </a:r>
            <a:endParaRPr lang="en-US" dirty="0">
              <a:highlight>
                <a:srgbClr val="FFFF00"/>
              </a:highlight>
            </a:endParaRPr>
          </a:p>
          <a:p>
            <a:pPr marL="382588" lvl="1" indent="-182563">
              <a:defRPr/>
            </a:pPr>
            <a:r>
              <a:rPr lang="zh-CN" dirty="0"/>
              <a:t>禁止抄袭实验报告，抄袭的实验报告都记为</a:t>
            </a:r>
            <a:r>
              <a:rPr lang="en-US" dirty="0"/>
              <a:t>0</a:t>
            </a:r>
            <a:r>
              <a:rPr lang="zh-CN" dirty="0"/>
              <a:t>分</a:t>
            </a:r>
            <a:endParaRPr lang="en-US" dirty="0"/>
          </a:p>
          <a:p>
            <a:pPr>
              <a:defRPr/>
            </a:pPr>
            <a:endParaRPr lang="en-US" dirty="0"/>
          </a:p>
        </p:txBody>
      </p:sp>
      <p:sp>
        <p:nvSpPr>
          <p:cNvPr id="4" name="Date Placeholder 3"/>
          <p:cNvSpPr>
            <a:spLocks noGrp="1"/>
          </p:cNvSpPr>
          <p:nvPr>
            <p:ph type="dt" sz="half" idx="10"/>
          </p:nvPr>
        </p:nvSpPr>
        <p:spPr bwMode="auto"/>
        <p:txBody>
          <a:bodyPr/>
          <a:lstStyle/>
          <a:p>
            <a:pPr>
              <a:defRPr/>
            </a:pPr>
            <a:r>
              <a:rPr lang="en-US" dirty="0"/>
              <a:t>3/1/2020</a:t>
            </a:r>
            <a:endParaRPr dirty="0"/>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7D2EED56-5130-434B-A1B8-8BD1EA48AA1F}" type="slidenum">
              <a:rPr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p:cNvSpPr>
            <a:spLocks noGrp="1"/>
          </p:cNvSpPr>
          <p:nvPr>
            <p:ph type="title"/>
          </p:nvPr>
        </p:nvSpPr>
        <p:spPr bwMode="auto"/>
        <p:txBody>
          <a:bodyPr/>
          <a:lstStyle/>
          <a:p>
            <a:pPr>
              <a:defRPr/>
            </a:pPr>
            <a:r>
              <a:rPr lang="zh-CN"/>
              <a:t>实验内容</a:t>
            </a:r>
            <a:endParaRPr lang="en-US"/>
          </a:p>
        </p:txBody>
      </p:sp>
      <p:sp>
        <p:nvSpPr>
          <p:cNvPr id="2" name="Content Placeholder 1"/>
          <p:cNvSpPr>
            <a:spLocks noGrp="1"/>
          </p:cNvSpPr>
          <p:nvPr>
            <p:ph idx="1"/>
          </p:nvPr>
        </p:nvSpPr>
        <p:spPr bwMode="auto"/>
        <p:txBody>
          <a:bodyPr/>
          <a:lstStyle/>
          <a:p>
            <a:pPr marL="514350" indent="-514350">
              <a:buFont typeface="+mj-lt"/>
              <a:buAutoNum type="arabicPeriod"/>
              <a:defRPr/>
            </a:pPr>
            <a:r>
              <a:rPr lang="zh-CN">
                <a:solidFill>
                  <a:schemeClr val="accent2"/>
                </a:solidFill>
              </a:rPr>
              <a:t>登录交换机</a:t>
            </a:r>
            <a:endParaRPr/>
          </a:p>
          <a:p>
            <a:pPr marL="514350" indent="-514350">
              <a:buFont typeface="+mj-lt"/>
              <a:buAutoNum type="arabicPeriod"/>
              <a:defRPr/>
            </a:pPr>
            <a:r>
              <a:rPr lang="zh-CN"/>
              <a:t>连接双节点网络</a:t>
            </a:r>
            <a:endParaRPr/>
          </a:p>
          <a:p>
            <a:pPr marL="514350" indent="-514350">
              <a:buFont typeface="+mj-lt"/>
              <a:buAutoNum type="arabicPeriod"/>
              <a:defRPr/>
            </a:pPr>
            <a:r>
              <a:rPr lang="zh-CN"/>
              <a:t>配置双节点网络</a:t>
            </a:r>
            <a:r>
              <a:rPr lang="en-US"/>
              <a:t>VLAN</a:t>
            </a:r>
            <a:endParaRPr/>
          </a:p>
          <a:p>
            <a:pPr marL="514350" indent="-514350">
              <a:buFont typeface="+mj-lt"/>
              <a:buAutoNum type="arabicPeriod"/>
              <a:defRPr/>
            </a:pPr>
            <a:r>
              <a:rPr lang="zh-CN"/>
              <a:t>配置四节点网络</a:t>
            </a:r>
            <a:r>
              <a:rPr lang="en-US"/>
              <a:t>VLAN</a:t>
            </a:r>
            <a:endParaRPr/>
          </a:p>
          <a:p>
            <a:pPr>
              <a:defRPr/>
            </a:pPr>
            <a:endParaRPr lang="en-US"/>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defRPr/>
            </a:pPr>
            <a:r>
              <a:rPr lang="en-US" dirty="0"/>
              <a:t>1. </a:t>
            </a:r>
            <a:r>
              <a:rPr lang="zh-CN" dirty="0"/>
              <a:t>登录交换机</a:t>
            </a:r>
            <a:endParaRPr lang="en-US" dirty="0"/>
          </a:p>
        </p:txBody>
      </p:sp>
      <p:sp>
        <p:nvSpPr>
          <p:cNvPr id="3" name="Content Placeholder 2"/>
          <p:cNvSpPr>
            <a:spLocks noGrp="1"/>
          </p:cNvSpPr>
          <p:nvPr>
            <p:ph idx="1"/>
          </p:nvPr>
        </p:nvSpPr>
        <p:spPr bwMode="auto"/>
        <p:txBody>
          <a:bodyPr>
            <a:normAutofit/>
          </a:bodyPr>
          <a:lstStyle/>
          <a:p>
            <a:pPr marL="447675" lvl="1" indent="-358775">
              <a:buFont typeface="+mj-lt"/>
              <a:buAutoNum type="arabicParenR"/>
              <a:defRPr/>
            </a:pPr>
            <a:r>
              <a:rPr lang="zh-CN" sz="2400"/>
              <a:t>了解交换机面板（如下图），确保电源指示灯亮。</a:t>
            </a:r>
            <a:endParaRPr lang="en-US" sz="2400"/>
          </a:p>
          <a:p>
            <a:pPr marL="447675" lvl="1" indent="-358775">
              <a:buFont typeface="+mj-lt"/>
              <a:buAutoNum type="arabicParenR"/>
              <a:defRPr/>
            </a:pPr>
            <a:r>
              <a:rPr lang="zh-CN" sz="2400"/>
              <a:t>将主机的</a:t>
            </a:r>
            <a:r>
              <a:rPr lang="zh-CN" sz="2400">
                <a:solidFill>
                  <a:srgbClr val="C00000"/>
                </a:solidFill>
              </a:rPr>
              <a:t>串口</a:t>
            </a:r>
            <a:r>
              <a:rPr lang="zh-CN" sz="2400"/>
              <a:t>连接到交换机的</a:t>
            </a:r>
            <a:r>
              <a:rPr lang="en-US" sz="2400"/>
              <a:t>Console</a:t>
            </a:r>
            <a:r>
              <a:rPr lang="zh-CN" sz="2400"/>
              <a:t>口。</a:t>
            </a:r>
            <a:endParaRPr lang="en-US" sz="2400"/>
          </a:p>
          <a:p>
            <a:pPr marL="447675" lvl="2" indent="-358775">
              <a:defRPr/>
            </a:pPr>
            <a:r>
              <a:rPr lang="zh-CN" sz="2000"/>
              <a:t>用户将通过这条线路管理交换机。</a:t>
            </a:r>
            <a:endParaRPr lang="en-US" sz="2000"/>
          </a:p>
        </p:txBody>
      </p:sp>
      <p:sp>
        <p:nvSpPr>
          <p:cNvPr id="26" name="Date Placeholder 25"/>
          <p:cNvSpPr>
            <a:spLocks noGrp="1"/>
          </p:cNvSpPr>
          <p:nvPr>
            <p:ph type="dt" sz="half" idx="10"/>
          </p:nvPr>
        </p:nvSpPr>
        <p:spPr bwMode="auto"/>
        <p:txBody>
          <a:bodyPr/>
          <a:lstStyle/>
          <a:p>
            <a:pPr>
              <a:defRPr/>
            </a:pPr>
            <a:r>
              <a:rPr lang="en-US"/>
              <a:t>3/1/2020</a:t>
            </a:r>
            <a:endParaRPr/>
          </a:p>
        </p:txBody>
      </p:sp>
      <p:sp>
        <p:nvSpPr>
          <p:cNvPr id="27" name="Footer Placeholder 26"/>
          <p:cNvSpPr>
            <a:spLocks noGrp="1"/>
          </p:cNvSpPr>
          <p:nvPr>
            <p:ph type="ftr" sz="quarter" idx="11"/>
          </p:nvPr>
        </p:nvSpPr>
        <p:spPr bwMode="auto"/>
        <p:txBody>
          <a:bodyPr/>
          <a:lstStyle/>
          <a:p>
            <a:pPr>
              <a:defRPr/>
            </a:pPr>
            <a:r>
              <a:rPr lang="zh-CN"/>
              <a:t>计算机网络实验</a:t>
            </a:r>
            <a:endParaRPr lang="en-US"/>
          </a:p>
        </p:txBody>
      </p:sp>
      <p:sp>
        <p:nvSpPr>
          <p:cNvPr id="28" name="Slide Number Placeholder 27"/>
          <p:cNvSpPr>
            <a:spLocks noGrp="1"/>
          </p:cNvSpPr>
          <p:nvPr>
            <p:ph type="sldNum" sz="quarter" idx="12"/>
          </p:nvPr>
        </p:nvSpPr>
        <p:spPr bwMode="auto"/>
        <p:txBody>
          <a:bodyPr/>
          <a:lstStyle/>
          <a:p>
            <a:pPr>
              <a:defRPr/>
            </a:pPr>
            <a:fld id="{0ECDF2DC-913F-4A16-9C18-8900B299D998}" type="slidenum">
              <a:rPr lang="en-US"/>
              <a:t>7</a:t>
            </a:fld>
            <a:endParaRPr lang="en-US"/>
          </a:p>
        </p:txBody>
      </p:sp>
      <p:pic>
        <p:nvPicPr>
          <p:cNvPr id="15" name="Graphic 14"/>
          <p:cNvPicPr>
            <a:picLocks noChangeAspect="1"/>
          </p:cNvPicPr>
          <p:nvPr/>
        </p:nvPicPr>
        <p:blipFill>
          <a:blip r:embed="rId2"/>
          <a:stretch/>
        </p:blipFill>
        <p:spPr bwMode="auto">
          <a:xfrm>
            <a:off x="914397" y="3717571"/>
            <a:ext cx="10788741" cy="1683690"/>
          </a:xfrm>
          <a:prstGeom prst="rect">
            <a:avLst/>
          </a:prstGeom>
        </p:spPr>
      </p:pic>
      <p:grpSp>
        <p:nvGrpSpPr>
          <p:cNvPr id="62" name="Group 61"/>
          <p:cNvGrpSpPr/>
          <p:nvPr/>
        </p:nvGrpSpPr>
        <p:grpSpPr bwMode="auto">
          <a:xfrm>
            <a:off x="890843" y="2794746"/>
            <a:ext cx="7225246" cy="3418218"/>
            <a:chOff x="890843" y="2794746"/>
            <a:chExt cx="7225246" cy="3418218"/>
          </a:xfrm>
        </p:grpSpPr>
        <p:sp>
          <p:nvSpPr>
            <p:cNvPr id="8" name="Rectangle 7"/>
            <p:cNvSpPr/>
            <p:nvPr/>
          </p:nvSpPr>
          <p:spPr bwMode="auto">
            <a:xfrm>
              <a:off x="946933" y="4230493"/>
              <a:ext cx="2201002" cy="837857"/>
            </a:xfrm>
            <a:prstGeom prst="rect">
              <a:avLst/>
            </a:prstGeom>
            <a:noFill/>
            <a:ln w="19050" cap="flat" cmpd="sng" algn="ctr">
              <a:solidFill>
                <a:srgbClr val="C00000"/>
              </a:solidFill>
              <a:prstDash val="solid"/>
              <a:round/>
              <a:headEnd type="none" w="med" len="med"/>
              <a:tailEnd type="none" w="med" len="med"/>
            </a:ln>
          </p:spPr>
          <p:style>
            <a:lnRef idx="0">
              <a:srgbClr val="000000"/>
            </a:lnRef>
            <a:fillRef idx="0">
              <a:srgbClr val="000000"/>
            </a:fillRef>
            <a:effectRef idx="0">
              <a:srgbClr val="000000"/>
            </a:effectRef>
            <a:fontRef idx="minor">
              <a:schemeClr val="accent3"/>
            </a:fontRef>
          </p:style>
          <p:txBody>
            <a:bodyPr rtlCol="0" anchor="ctr"/>
            <a:lstStyle/>
            <a:p>
              <a:pPr algn="ctr">
                <a:defRPr/>
              </a:pPr>
              <a:endParaRPr lang="en-US" sz="2400" baseline="-25000"/>
            </a:p>
          </p:txBody>
        </p:sp>
        <p:cxnSp>
          <p:nvCxnSpPr>
            <p:cNvPr id="10" name="Straight Connector 9"/>
            <p:cNvCxnSpPr>
              <a:cxnSpLocks/>
              <a:stCxn id="8" idx="2"/>
              <a:endCxn id="11" idx="0"/>
            </p:cNvCxnSpPr>
            <p:nvPr/>
          </p:nvCxnSpPr>
          <p:spPr bwMode="auto">
            <a:xfrm flipH="1">
              <a:off x="2047196" y="5068350"/>
              <a:ext cx="238" cy="43672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bwMode="auto">
            <a:xfrm>
              <a:off x="890843" y="5505079"/>
              <a:ext cx="2312706" cy="70788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defRPr/>
              </a:pPr>
              <a:r>
                <a:rPr lang="zh-CN" sz="2000"/>
                <a:t>以太网接口</a:t>
              </a:r>
              <a:r>
                <a:rPr lang="en-US" sz="2000"/>
                <a:t>(</a:t>
              </a:r>
              <a:r>
                <a:rPr lang="zh-CN" sz="2000"/>
                <a:t>支持</a:t>
              </a:r>
              <a:r>
                <a:rPr lang="en-US" sz="2000"/>
                <a:t>10Mbps</a:t>
              </a:r>
              <a:r>
                <a:rPr lang="zh-CN" sz="2000"/>
                <a:t>或</a:t>
              </a:r>
              <a:r>
                <a:rPr lang="en-US" sz="2000"/>
                <a:t>100Mbps)</a:t>
              </a:r>
            </a:p>
          </p:txBody>
        </p:sp>
        <p:sp>
          <p:nvSpPr>
            <p:cNvPr id="12" name="Rectangle 11"/>
            <p:cNvSpPr/>
            <p:nvPr/>
          </p:nvSpPr>
          <p:spPr bwMode="auto">
            <a:xfrm>
              <a:off x="5177249" y="4349540"/>
              <a:ext cx="721411" cy="837857"/>
            </a:xfrm>
            <a:prstGeom prst="rect">
              <a:avLst/>
            </a:prstGeom>
            <a:noFill/>
            <a:ln w="19050" cap="flat" cmpd="sng" algn="ctr">
              <a:solidFill>
                <a:srgbClr val="C00000"/>
              </a:solidFill>
              <a:prstDash val="solid"/>
              <a:round/>
              <a:headEnd type="none" w="med" len="med"/>
              <a:tailEnd type="none" w="med" len="med"/>
            </a:ln>
          </p:spPr>
          <p:style>
            <a:lnRef idx="0">
              <a:srgbClr val="000000"/>
            </a:lnRef>
            <a:fillRef idx="0">
              <a:srgbClr val="000000"/>
            </a:fillRef>
            <a:effectRef idx="0">
              <a:srgbClr val="000000"/>
            </a:effectRef>
            <a:fontRef idx="minor">
              <a:schemeClr val="accent3"/>
            </a:fontRef>
          </p:style>
          <p:txBody>
            <a:bodyPr rtlCol="0" anchor="ctr"/>
            <a:lstStyle/>
            <a:p>
              <a:pPr algn="ctr">
                <a:defRPr/>
              </a:pPr>
              <a:endParaRPr lang="en-US" sz="2400" baseline="-25000"/>
            </a:p>
          </p:txBody>
        </p:sp>
        <p:cxnSp>
          <p:nvCxnSpPr>
            <p:cNvPr id="13" name="Straight Connector 12"/>
            <p:cNvCxnSpPr>
              <a:cxnSpLocks/>
              <a:stCxn id="12" idx="2"/>
              <a:endCxn id="14" idx="0"/>
            </p:cNvCxnSpPr>
            <p:nvPr/>
          </p:nvCxnSpPr>
          <p:spPr bwMode="auto">
            <a:xfrm flipH="1">
              <a:off x="5536849" y="5187397"/>
              <a:ext cx="1106" cy="31768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bwMode="auto">
            <a:xfrm>
              <a:off x="4868389" y="5505079"/>
              <a:ext cx="1336919" cy="40011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defRPr/>
              </a:pPr>
              <a:r>
                <a:rPr lang="en-US" sz="2000"/>
                <a:t>Console</a:t>
              </a:r>
              <a:r>
                <a:rPr lang="zh-CN" sz="2000"/>
                <a:t>口</a:t>
              </a:r>
              <a:endParaRPr lang="en-US" sz="2000"/>
            </a:p>
          </p:txBody>
        </p:sp>
        <p:sp>
          <p:nvSpPr>
            <p:cNvPr id="25" name="Rectangle 24"/>
            <p:cNvSpPr/>
            <p:nvPr/>
          </p:nvSpPr>
          <p:spPr bwMode="auto">
            <a:xfrm>
              <a:off x="946933" y="3794728"/>
              <a:ext cx="2201002" cy="351158"/>
            </a:xfrm>
            <a:prstGeom prst="rect">
              <a:avLst/>
            </a:prstGeom>
            <a:noFill/>
            <a:ln w="19050" cap="flat" cmpd="sng" algn="ctr">
              <a:solidFill>
                <a:srgbClr val="C00000"/>
              </a:solidFill>
              <a:prstDash val="solid"/>
              <a:round/>
              <a:headEnd type="none" w="med" len="med"/>
              <a:tailEnd type="none" w="med" len="med"/>
            </a:ln>
          </p:spPr>
          <p:style>
            <a:lnRef idx="0">
              <a:srgbClr val="000000"/>
            </a:lnRef>
            <a:fillRef idx="0">
              <a:srgbClr val="000000"/>
            </a:fillRef>
            <a:effectRef idx="0">
              <a:srgbClr val="000000"/>
            </a:effectRef>
            <a:fontRef idx="minor">
              <a:schemeClr val="accent3"/>
            </a:fontRef>
          </p:style>
          <p:txBody>
            <a:bodyPr rtlCol="0" anchor="ctr"/>
            <a:lstStyle/>
            <a:p>
              <a:pPr algn="ctr">
                <a:defRPr/>
              </a:pPr>
              <a:endParaRPr lang="en-US" sz="2400" baseline="-25000"/>
            </a:p>
          </p:txBody>
        </p:sp>
        <p:cxnSp>
          <p:nvCxnSpPr>
            <p:cNvPr id="29" name="Straight Connector 28"/>
            <p:cNvCxnSpPr>
              <a:cxnSpLocks/>
              <a:stCxn id="25" idx="0"/>
            </p:cNvCxnSpPr>
            <p:nvPr/>
          </p:nvCxnSpPr>
          <p:spPr bwMode="auto">
            <a:xfrm flipV="1">
              <a:off x="2047434" y="3441076"/>
              <a:ext cx="0" cy="35365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46" name="Rectangle 45"/>
            <p:cNvSpPr/>
            <p:nvPr/>
          </p:nvSpPr>
          <p:spPr bwMode="auto">
            <a:xfrm>
              <a:off x="7003310" y="4774820"/>
              <a:ext cx="482158" cy="233362"/>
            </a:xfrm>
            <a:prstGeom prst="rect">
              <a:avLst/>
            </a:prstGeom>
            <a:noFill/>
            <a:ln w="19050" cap="flat" cmpd="sng" algn="ctr">
              <a:solidFill>
                <a:srgbClr val="C00000"/>
              </a:solidFill>
              <a:prstDash val="solid"/>
              <a:round/>
              <a:headEnd type="none" w="med" len="med"/>
              <a:tailEnd type="none" w="med" len="med"/>
            </a:ln>
          </p:spPr>
          <p:style>
            <a:lnRef idx="0">
              <a:srgbClr val="000000"/>
            </a:lnRef>
            <a:fillRef idx="0">
              <a:srgbClr val="000000"/>
            </a:fillRef>
            <a:effectRef idx="0">
              <a:srgbClr val="000000"/>
            </a:effectRef>
            <a:fontRef idx="minor">
              <a:schemeClr val="accent3"/>
            </a:fontRef>
          </p:style>
          <p:txBody>
            <a:bodyPr rtlCol="0" anchor="ctr"/>
            <a:lstStyle/>
            <a:p>
              <a:pPr algn="ctr">
                <a:defRPr/>
              </a:pPr>
              <a:endParaRPr lang="en-US" sz="2400" baseline="-25000"/>
            </a:p>
          </p:txBody>
        </p:sp>
        <p:cxnSp>
          <p:nvCxnSpPr>
            <p:cNvPr id="47" name="Straight Connector 46"/>
            <p:cNvCxnSpPr>
              <a:cxnSpLocks/>
              <a:stCxn id="46" idx="2"/>
              <a:endCxn id="48" idx="0"/>
            </p:cNvCxnSpPr>
            <p:nvPr/>
          </p:nvCxnSpPr>
          <p:spPr bwMode="auto">
            <a:xfrm>
              <a:off x="7244389" y="5008182"/>
              <a:ext cx="4527" cy="496897"/>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bwMode="auto">
            <a:xfrm>
              <a:off x="6381743" y="5505079"/>
              <a:ext cx="1734346" cy="40011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defRPr/>
              </a:pPr>
              <a:r>
                <a:rPr lang="zh-CN" sz="2000"/>
                <a:t>电源指示灯亮</a:t>
              </a:r>
              <a:endParaRPr lang="en-US" sz="2000"/>
            </a:p>
          </p:txBody>
        </p:sp>
        <p:grpSp>
          <p:nvGrpSpPr>
            <p:cNvPr id="61" name="Group 60"/>
            <p:cNvGrpSpPr/>
            <p:nvPr/>
          </p:nvGrpSpPr>
          <p:grpSpPr bwMode="auto">
            <a:xfrm>
              <a:off x="946932" y="2794746"/>
              <a:ext cx="5157476" cy="646331"/>
              <a:chOff x="946932" y="2668624"/>
              <a:chExt cx="5157476" cy="646331"/>
            </a:xfrm>
          </p:grpSpPr>
          <p:sp>
            <p:nvSpPr>
              <p:cNvPr id="30" name="TextBox 29"/>
              <p:cNvSpPr txBox="1"/>
              <p:nvPr/>
            </p:nvSpPr>
            <p:spPr bwMode="auto">
              <a:xfrm>
                <a:off x="946932" y="2668624"/>
                <a:ext cx="5157476"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defRPr/>
                </a:pPr>
                <a:r>
                  <a:rPr lang="zh-CN"/>
                  <a:t>数字</a:t>
                </a:r>
                <a:r>
                  <a:rPr lang="en-US"/>
                  <a:t>(</a:t>
                </a:r>
                <a:r>
                  <a:rPr lang="zh-CN"/>
                  <a:t>共</a:t>
                </a:r>
                <a:r>
                  <a:rPr lang="en-US"/>
                  <a:t>24</a:t>
                </a:r>
                <a:r>
                  <a:rPr lang="zh-CN"/>
                  <a:t>个</a:t>
                </a:r>
                <a:r>
                  <a:rPr lang="en-US"/>
                  <a:t>)</a:t>
                </a:r>
                <a:r>
                  <a:rPr lang="zh-CN"/>
                  <a:t>是接口编号，三角是网口指示灯，接上网线后会亮。  对应上排接口，  对应下排接口。</a:t>
                </a:r>
                <a:endParaRPr lang="en-US"/>
              </a:p>
            </p:txBody>
          </p:sp>
          <p:sp>
            <p:nvSpPr>
              <p:cNvPr id="59" name="Isosceles Triangle 58"/>
              <p:cNvSpPr/>
              <p:nvPr/>
            </p:nvSpPr>
            <p:spPr bwMode="auto">
              <a:xfrm>
                <a:off x="2594373" y="3067076"/>
                <a:ext cx="138737" cy="119601"/>
              </a:xfrm>
              <a:prstGeom prst="triangle">
                <a:avLst>
                  <a:gd name="adj" fmla="val 50000"/>
                </a:avLst>
              </a:prstGeom>
              <a:noFill/>
              <a:ln w="9525" cap="flat" cmpd="sng" algn="ctr">
                <a:solidFill>
                  <a:schemeClr val="dk1"/>
                </a:solidFill>
                <a:prstDash val="solid"/>
                <a:round/>
                <a:headEnd type="none" w="med" len="med"/>
                <a:tailEnd type="none" w="med" len="med"/>
              </a:ln>
            </p:spPr>
            <p:style>
              <a:lnRef idx="0">
                <a:srgbClr val="000000"/>
              </a:lnRef>
              <a:fillRef idx="0">
                <a:srgbClr val="000000"/>
              </a:fillRef>
              <a:effectRef idx="0">
                <a:srgbClr val="000000"/>
              </a:effectRef>
              <a:fontRef idx="minor">
                <a:schemeClr val="dk1"/>
              </a:fontRef>
            </p:style>
            <p:txBody>
              <a:bodyPr rtlCol="0" anchor="ctr"/>
              <a:lstStyle/>
              <a:p>
                <a:pPr algn="ctr">
                  <a:defRPr/>
                </a:pPr>
                <a:endParaRPr lang="en-US"/>
              </a:p>
            </p:txBody>
          </p:sp>
          <p:sp>
            <p:nvSpPr>
              <p:cNvPr id="60" name="Isosceles Triangle 59"/>
              <p:cNvSpPr/>
              <p:nvPr/>
            </p:nvSpPr>
            <p:spPr bwMode="auto">
              <a:xfrm flipV="1">
                <a:off x="4287045" y="3067076"/>
                <a:ext cx="138737" cy="119601"/>
              </a:xfrm>
              <a:prstGeom prst="triangle">
                <a:avLst>
                  <a:gd name="adj" fmla="val 50000"/>
                </a:avLst>
              </a:prstGeom>
              <a:noFill/>
              <a:ln w="9525" cap="flat" cmpd="sng" algn="ctr">
                <a:solidFill>
                  <a:schemeClr val="dk1"/>
                </a:solidFill>
                <a:prstDash val="solid"/>
                <a:round/>
                <a:headEnd type="none" w="med" len="med"/>
                <a:tailEnd type="none" w="med" len="med"/>
              </a:ln>
            </p:spPr>
            <p:style>
              <a:lnRef idx="0">
                <a:srgbClr val="000000"/>
              </a:lnRef>
              <a:fillRef idx="0">
                <a:srgbClr val="000000"/>
              </a:fillRef>
              <a:effectRef idx="0">
                <a:srgbClr val="000000"/>
              </a:effectRef>
              <a:fontRef idx="minor">
                <a:schemeClr val="dk1"/>
              </a:fontRef>
            </p:style>
            <p:txBody>
              <a:bodyPr rtlCol="0" anchor="ctr"/>
              <a:lstStyle/>
              <a:p>
                <a:pPr algn="ctr">
                  <a:defRPr/>
                </a:pPr>
                <a:endParaRPr lang="en-US"/>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dirty="0"/>
              <a:t>1. </a:t>
            </a:r>
            <a:r>
              <a:rPr lang="zh-CN" dirty="0"/>
              <a:t>登录交换机</a:t>
            </a:r>
            <a:endParaRPr lang="en-US" dirty="0"/>
          </a:p>
        </p:txBody>
      </p:sp>
      <p:sp>
        <p:nvSpPr>
          <p:cNvPr id="3" name="Content Placeholder 2"/>
          <p:cNvSpPr>
            <a:spLocks noGrp="1"/>
          </p:cNvSpPr>
          <p:nvPr>
            <p:ph idx="1"/>
          </p:nvPr>
        </p:nvSpPr>
        <p:spPr bwMode="auto"/>
        <p:txBody>
          <a:bodyPr/>
          <a:lstStyle/>
          <a:p>
            <a:pPr marL="447675" lvl="1" indent="-358775">
              <a:buFont typeface="+mj-lt"/>
              <a:buAutoNum type="arabicParenR" startAt="3"/>
              <a:defRPr/>
            </a:pPr>
            <a:r>
              <a:rPr lang="zh-CN" dirty="0"/>
              <a:t>主机连接交换机。</a:t>
            </a:r>
            <a:endParaRPr lang="en-US" dirty="0"/>
          </a:p>
          <a:p>
            <a:pPr marL="447675" lvl="2" indent="-358775">
              <a:defRPr/>
            </a:pPr>
            <a:r>
              <a:rPr lang="zh-CN" dirty="0"/>
              <a:t>运行开始</a:t>
            </a:r>
            <a:r>
              <a:rPr lang="en-US" dirty="0"/>
              <a:t>—&gt;</a:t>
            </a:r>
            <a:r>
              <a:rPr lang="zh-CN" dirty="0"/>
              <a:t>程序</a:t>
            </a:r>
            <a:r>
              <a:rPr lang="en-US" dirty="0"/>
              <a:t>—&gt;</a:t>
            </a:r>
            <a:r>
              <a:rPr lang="zh-CN" dirty="0"/>
              <a:t>附件</a:t>
            </a:r>
            <a:r>
              <a:rPr lang="en-US" dirty="0"/>
              <a:t>—&gt;</a:t>
            </a:r>
            <a:r>
              <a:rPr lang="zh-CN" dirty="0"/>
              <a:t>通讯</a:t>
            </a:r>
            <a:r>
              <a:rPr lang="en-US" dirty="0"/>
              <a:t>—&gt;</a:t>
            </a:r>
            <a:r>
              <a:rPr lang="zh-CN" dirty="0"/>
              <a:t>超级终端，依次弹出如下界面，使用默认设置即可。</a:t>
            </a:r>
            <a:endParaRPr lang="en-US" dirty="0"/>
          </a:p>
          <a:p>
            <a:pPr marL="447675" lvl="2" indent="-358775">
              <a:defRPr/>
            </a:pPr>
            <a:endParaRPr lang="en-US" dirty="0"/>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8</a:t>
            </a:fld>
            <a:endParaRPr lang="en-US"/>
          </a:p>
        </p:txBody>
      </p:sp>
      <p:pic>
        <p:nvPicPr>
          <p:cNvPr id="1026" name="图片 1" descr="IMG_256"/>
          <p:cNvPicPr>
            <a:picLocks noChangeAspect="1" noChangeArrowheads="1"/>
          </p:cNvPicPr>
          <p:nvPr/>
        </p:nvPicPr>
        <p:blipFill>
          <a:blip r:embed="rId2"/>
          <a:stretch/>
        </p:blipFill>
        <p:spPr bwMode="auto">
          <a:xfrm>
            <a:off x="694478" y="3436332"/>
            <a:ext cx="2426478" cy="2159649"/>
          </a:xfrm>
          <a:prstGeom prst="rect">
            <a:avLst/>
          </a:prstGeom>
          <a:noFill/>
          <a:ln>
            <a:noFill/>
          </a:ln>
          <a:effectLst/>
        </p:spPr>
      </p:pic>
      <p:pic>
        <p:nvPicPr>
          <p:cNvPr id="1027" name="图片 4" descr="ACD35C514C7268F873DB8FC393297D1D"/>
          <p:cNvPicPr>
            <a:picLocks noChangeAspect="1" noChangeArrowheads="1"/>
          </p:cNvPicPr>
          <p:nvPr/>
        </p:nvPicPr>
        <p:blipFill>
          <a:blip r:embed="rId3"/>
          <a:stretch/>
        </p:blipFill>
        <p:spPr bwMode="auto">
          <a:xfrm>
            <a:off x="3473101" y="3436332"/>
            <a:ext cx="2519591" cy="2159649"/>
          </a:xfrm>
          <a:prstGeom prst="rect">
            <a:avLst/>
          </a:prstGeom>
          <a:noFill/>
          <a:ln>
            <a:noFill/>
          </a:ln>
          <a:effectLst/>
        </p:spPr>
      </p:pic>
      <p:pic>
        <p:nvPicPr>
          <p:cNvPr id="7" name="图片 2"/>
          <p:cNvPicPr>
            <a:picLocks noChangeAspect="1" noChangeArrowheads="1"/>
          </p:cNvPicPr>
          <p:nvPr/>
        </p:nvPicPr>
        <p:blipFill>
          <a:blip r:embed="rId4"/>
          <a:srcRect l="7017" t="6131" r="6061" b="3503"/>
          <a:stretch/>
        </p:blipFill>
        <p:spPr bwMode="auto">
          <a:xfrm>
            <a:off x="6344838" y="3429001"/>
            <a:ext cx="1985662" cy="2166980"/>
          </a:xfrm>
          <a:prstGeom prst="rect">
            <a:avLst/>
          </a:prstGeom>
          <a:noFill/>
          <a:ln>
            <a:noFill/>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1. </a:t>
            </a:r>
            <a:r>
              <a:rPr lang="zh-CN"/>
              <a:t>登录交换机</a:t>
            </a:r>
            <a:endParaRPr lang="en-US"/>
          </a:p>
        </p:txBody>
      </p:sp>
      <p:sp>
        <p:nvSpPr>
          <p:cNvPr id="3" name="Content Placeholder 2"/>
          <p:cNvSpPr>
            <a:spLocks noGrp="1"/>
          </p:cNvSpPr>
          <p:nvPr>
            <p:ph idx="1"/>
          </p:nvPr>
        </p:nvSpPr>
        <p:spPr bwMode="auto"/>
        <p:txBody>
          <a:bodyPr/>
          <a:lstStyle/>
          <a:p>
            <a:pPr marL="447675" lvl="1" indent="-358775">
              <a:buFont typeface="+mj-lt"/>
              <a:buAutoNum type="arabicParenR" startAt="3"/>
              <a:defRPr/>
            </a:pPr>
            <a:r>
              <a:rPr lang="zh-CN"/>
              <a:t>主机连接交换机。</a:t>
            </a:r>
            <a:endParaRPr lang="en-US"/>
          </a:p>
          <a:p>
            <a:pPr marL="447675" lvl="2" indent="-358775">
              <a:defRPr/>
            </a:pPr>
            <a:r>
              <a:rPr lang="zh-CN"/>
              <a:t>运行开始</a:t>
            </a:r>
            <a:r>
              <a:rPr lang="en-US"/>
              <a:t>-&gt;</a:t>
            </a:r>
            <a:r>
              <a:rPr lang="zh-CN"/>
              <a:t>程序</a:t>
            </a:r>
            <a:r>
              <a:rPr lang="en-US"/>
              <a:t>-&gt;</a:t>
            </a:r>
            <a:r>
              <a:rPr lang="zh-CN"/>
              <a:t>附件</a:t>
            </a:r>
            <a:r>
              <a:rPr lang="en-US"/>
              <a:t>-&gt;</a:t>
            </a:r>
            <a:r>
              <a:rPr lang="zh-CN"/>
              <a:t>通讯</a:t>
            </a:r>
            <a:r>
              <a:rPr lang="en-US"/>
              <a:t>-&gt;</a:t>
            </a:r>
            <a:r>
              <a:rPr lang="zh-CN"/>
              <a:t>超级终端，依次弹出如下界面，使用默认设置即可。</a:t>
            </a:r>
            <a:endParaRPr lang="en-US"/>
          </a:p>
          <a:p>
            <a:pPr marL="447675" lvl="2" indent="-358775">
              <a:defRPr/>
            </a:pPr>
            <a:r>
              <a:rPr lang="zh-CN"/>
              <a:t>出现提示符</a:t>
            </a:r>
            <a:r>
              <a:rPr lang="en-US">
                <a:latin typeface="Courier New"/>
                <a:cs typeface="Courier New"/>
              </a:rPr>
              <a:t>&lt;Quidway&gt; </a:t>
            </a:r>
            <a:r>
              <a:rPr lang="zh-CN"/>
              <a:t>，则代表登录成功。</a:t>
            </a:r>
            <a:endParaRPr lang="en-US"/>
          </a:p>
        </p:txBody>
      </p:sp>
      <p:sp>
        <p:nvSpPr>
          <p:cNvPr id="11" name="Date Placeholder 10"/>
          <p:cNvSpPr>
            <a:spLocks noGrp="1"/>
          </p:cNvSpPr>
          <p:nvPr>
            <p:ph type="dt" sz="half" idx="10"/>
          </p:nvPr>
        </p:nvSpPr>
        <p:spPr bwMode="auto"/>
        <p:txBody>
          <a:bodyPr/>
          <a:lstStyle/>
          <a:p>
            <a:pPr>
              <a:defRPr/>
            </a:pPr>
            <a:r>
              <a:rPr lang="en-US"/>
              <a:t>3/1/2020</a:t>
            </a:r>
            <a:endParaRPr/>
          </a:p>
        </p:txBody>
      </p:sp>
      <p:sp>
        <p:nvSpPr>
          <p:cNvPr id="12" name="Footer Placeholder 11"/>
          <p:cNvSpPr>
            <a:spLocks noGrp="1"/>
          </p:cNvSpPr>
          <p:nvPr>
            <p:ph type="ftr" sz="quarter" idx="11"/>
          </p:nvPr>
        </p:nvSpPr>
        <p:spPr bwMode="auto"/>
        <p:txBody>
          <a:bodyPr/>
          <a:lstStyle/>
          <a:p>
            <a:pPr>
              <a:defRPr/>
            </a:pPr>
            <a:r>
              <a:rPr lang="zh-CN"/>
              <a:t>计算机网络实验</a:t>
            </a:r>
            <a:endParaRPr lang="en-US"/>
          </a:p>
        </p:txBody>
      </p:sp>
      <p:sp>
        <p:nvSpPr>
          <p:cNvPr id="13" name="Slide Number Placeholder 12"/>
          <p:cNvSpPr>
            <a:spLocks noGrp="1"/>
          </p:cNvSpPr>
          <p:nvPr>
            <p:ph type="sldNum" sz="quarter" idx="12"/>
          </p:nvPr>
        </p:nvSpPr>
        <p:spPr bwMode="auto"/>
        <p:txBody>
          <a:bodyPr/>
          <a:lstStyle/>
          <a:p>
            <a:pPr>
              <a:defRPr/>
            </a:pPr>
            <a:fld id="{0ECDF2DC-913F-4A16-9C18-8900B299D998}" type="slidenum">
              <a:rPr lang="en-US"/>
              <a:t>9</a:t>
            </a:fld>
            <a:endParaRPr lang="en-US"/>
          </a:p>
        </p:txBody>
      </p:sp>
      <p:pic>
        <p:nvPicPr>
          <p:cNvPr id="10" name="Picture 9"/>
          <p:cNvPicPr>
            <a:picLocks noChangeAspect="1"/>
          </p:cNvPicPr>
          <p:nvPr/>
        </p:nvPicPr>
        <p:blipFill>
          <a:blip r:embed="rId2"/>
          <a:stretch/>
        </p:blipFill>
        <p:spPr bwMode="auto">
          <a:xfrm>
            <a:off x="1846824" y="2932205"/>
            <a:ext cx="5450352" cy="322516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1. </a:t>
            </a:r>
            <a:r>
              <a:rPr lang="zh-CN"/>
              <a:t>登录交换机</a:t>
            </a:r>
            <a:endParaRPr lang="en-US"/>
          </a:p>
        </p:txBody>
      </p:sp>
      <p:sp>
        <p:nvSpPr>
          <p:cNvPr id="3" name="Content Placeholder 2"/>
          <p:cNvSpPr>
            <a:spLocks noGrp="1"/>
          </p:cNvSpPr>
          <p:nvPr>
            <p:ph idx="1"/>
          </p:nvPr>
        </p:nvSpPr>
        <p:spPr bwMode="auto"/>
        <p:txBody>
          <a:bodyPr/>
          <a:lstStyle/>
          <a:p>
            <a:pPr marL="447675" lvl="1" indent="-358775">
              <a:buFont typeface="+mj-lt"/>
              <a:buAutoNum type="arabicParenR" startAt="4"/>
              <a:defRPr/>
            </a:pPr>
            <a:r>
              <a:rPr lang="zh-CN"/>
              <a:t>了解</a:t>
            </a:r>
            <a:r>
              <a:rPr lang="en-US"/>
              <a:t>Quidway</a:t>
            </a:r>
            <a:r>
              <a:rPr lang="zh-CN"/>
              <a:t>交换机的界面。</a:t>
            </a:r>
            <a:endParaRPr lang="en-US"/>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10</a:t>
            </a:fld>
            <a:endParaRPr lang="en-US"/>
          </a:p>
        </p:txBody>
      </p:sp>
      <p:grpSp>
        <p:nvGrpSpPr>
          <p:cNvPr id="32" name="Group 31"/>
          <p:cNvGrpSpPr/>
          <p:nvPr/>
        </p:nvGrpSpPr>
        <p:grpSpPr bwMode="auto">
          <a:xfrm>
            <a:off x="3251157" y="1812202"/>
            <a:ext cx="2731690" cy="960026"/>
            <a:chOff x="3682999" y="1828799"/>
            <a:chExt cx="2731690" cy="960026"/>
          </a:xfrm>
        </p:grpSpPr>
        <p:sp>
          <p:nvSpPr>
            <p:cNvPr id="33" name="TextBox 32"/>
            <p:cNvSpPr txBox="1"/>
            <p:nvPr/>
          </p:nvSpPr>
          <p:spPr bwMode="auto">
            <a:xfrm>
              <a:off x="3682999" y="1828799"/>
              <a:ext cx="2710800" cy="369332"/>
            </a:xfrm>
            <a:prstGeom prst="rect">
              <a:avLst/>
            </a:prstGeom>
            <a:solidFill>
              <a:schemeClr val="accent1"/>
            </a:solidFill>
            <a:ln w="12700">
              <a:solidFill>
                <a:schemeClr val="accent1"/>
              </a:solidFill>
            </a:ln>
          </p:spPr>
          <p:style>
            <a:lnRef idx="0">
              <a:srgbClr val="000000"/>
            </a:lnRef>
            <a:fillRef idx="0">
              <a:srgbClr val="000000"/>
            </a:fillRef>
            <a:effectRef idx="0">
              <a:srgbClr val="000000"/>
            </a:effectRef>
            <a:fontRef idx="minor">
              <a:schemeClr val="lt1"/>
            </a:fontRef>
          </p:style>
          <p:txBody>
            <a:bodyPr wrap="square" rtlCol="0">
              <a:spAutoFit/>
            </a:bodyPr>
            <a:lstStyle/>
            <a:p>
              <a:pPr>
                <a:defRPr/>
              </a:pPr>
              <a:r>
                <a:rPr lang="zh-CN"/>
                <a:t>用户视图（登录后显示）</a:t>
              </a:r>
              <a:endParaRPr lang="en-US"/>
            </a:p>
          </p:txBody>
        </p:sp>
        <p:sp>
          <p:nvSpPr>
            <p:cNvPr id="34" name="TextBox 33"/>
            <p:cNvSpPr txBox="1"/>
            <p:nvPr/>
          </p:nvSpPr>
          <p:spPr bwMode="auto">
            <a:xfrm>
              <a:off x="3683000" y="2198131"/>
              <a:ext cx="2731689" cy="369332"/>
            </a:xfrm>
            <a:prstGeom prst="rect">
              <a:avLst/>
            </a:prstGeom>
            <a:noFill/>
          </p:spPr>
          <p:txBody>
            <a:bodyPr wrap="square" rtlCol="0">
              <a:spAutoFit/>
            </a:bodyPr>
            <a:lstStyle/>
            <a:p>
              <a:pPr>
                <a:defRPr/>
              </a:pPr>
              <a:r>
                <a:rPr lang="en-US">
                  <a:latin typeface="Courier New"/>
                  <a:cs typeface="Courier New"/>
                </a:rPr>
                <a:t>&lt;Quidway&gt;</a:t>
              </a:r>
              <a:endParaRPr/>
            </a:p>
          </p:txBody>
        </p:sp>
        <p:sp>
          <p:nvSpPr>
            <p:cNvPr id="35" name="Rectangle 12"/>
            <p:cNvSpPr/>
            <p:nvPr/>
          </p:nvSpPr>
          <p:spPr bwMode="auto">
            <a:xfrm>
              <a:off x="3683000" y="2198131"/>
              <a:ext cx="2709854" cy="590694"/>
            </a:xfrm>
            <a:custGeom>
              <a:avLst/>
              <a:gdLst>
                <a:gd name="connsiteX0" fmla="*/ 0 w 2709854"/>
                <a:gd name="connsiteY0" fmla="*/ 0 h 590694"/>
                <a:gd name="connsiteX1" fmla="*/ 2709854 w 2709854"/>
                <a:gd name="connsiteY1" fmla="*/ 0 h 590694"/>
                <a:gd name="connsiteX2" fmla="*/ 2709854 w 2709854"/>
                <a:gd name="connsiteY2" fmla="*/ 590694 h 590694"/>
                <a:gd name="connsiteX3" fmla="*/ 0 w 2709854"/>
                <a:gd name="connsiteY3" fmla="*/ 590694 h 590694"/>
                <a:gd name="connsiteX4" fmla="*/ 0 w 2709854"/>
                <a:gd name="connsiteY4" fmla="*/ 0 h 590694"/>
                <a:gd name="connsiteX0" fmla="*/ 0 w 2709854"/>
                <a:gd name="connsiteY0" fmla="*/ 0 h 590694"/>
                <a:gd name="connsiteX1" fmla="*/ 2709854 w 2709854"/>
                <a:gd name="connsiteY1" fmla="*/ 0 h 590694"/>
                <a:gd name="connsiteX2" fmla="*/ 2709854 w 2709854"/>
                <a:gd name="connsiteY2" fmla="*/ 590694 h 590694"/>
                <a:gd name="connsiteX3" fmla="*/ 0 w 2709854"/>
                <a:gd name="connsiteY3" fmla="*/ 590694 h 590694"/>
                <a:gd name="connsiteX4" fmla="*/ 0 w 2709854"/>
                <a:gd name="connsiteY4" fmla="*/ 0 h 590694"/>
                <a:gd name="connsiteX0" fmla="*/ 0 w 2709854"/>
                <a:gd name="connsiteY0" fmla="*/ 0 h 590694"/>
                <a:gd name="connsiteX1" fmla="*/ 2709854 w 2709854"/>
                <a:gd name="connsiteY1" fmla="*/ 0 h 590694"/>
                <a:gd name="connsiteX2" fmla="*/ 2709854 w 2709854"/>
                <a:gd name="connsiteY2" fmla="*/ 590694 h 590694"/>
                <a:gd name="connsiteX3" fmla="*/ 660434 w 2709854"/>
                <a:gd name="connsiteY3" fmla="*/ 587066 h 590694"/>
                <a:gd name="connsiteX4" fmla="*/ 0 w 2709854"/>
                <a:gd name="connsiteY4" fmla="*/ 590694 h 590694"/>
                <a:gd name="connsiteX5" fmla="*/ 0 w 2709854"/>
                <a:gd name="connsiteY5" fmla="*/ 0 h 590694"/>
                <a:gd name="connsiteX0" fmla="*/ 0 w 2709854"/>
                <a:gd name="connsiteY0" fmla="*/ 0 h 590694"/>
                <a:gd name="connsiteX1" fmla="*/ 2709854 w 2709854"/>
                <a:gd name="connsiteY1" fmla="*/ 0 h 590694"/>
                <a:gd name="connsiteX2" fmla="*/ 2709854 w 2709854"/>
                <a:gd name="connsiteY2" fmla="*/ 590694 h 590694"/>
                <a:gd name="connsiteX3" fmla="*/ 2125167 w 2709854"/>
                <a:gd name="connsiteY3" fmla="*/ 587066 h 590694"/>
                <a:gd name="connsiteX4" fmla="*/ 660434 w 2709854"/>
                <a:gd name="connsiteY4" fmla="*/ 587066 h 590694"/>
                <a:gd name="connsiteX5" fmla="*/ 0 w 2709854"/>
                <a:gd name="connsiteY5" fmla="*/ 590694 h 590694"/>
                <a:gd name="connsiteX6" fmla="*/ 0 w 2709854"/>
                <a:gd name="connsiteY6" fmla="*/ 0 h 590694"/>
                <a:gd name="connsiteX0" fmla="*/ 0 w 2709854"/>
                <a:gd name="connsiteY0" fmla="*/ 0 h 590694"/>
                <a:gd name="connsiteX1" fmla="*/ 2709854 w 2709854"/>
                <a:gd name="connsiteY1" fmla="*/ 0 h 590694"/>
                <a:gd name="connsiteX2" fmla="*/ 2709854 w 2709854"/>
                <a:gd name="connsiteY2" fmla="*/ 590694 h 590694"/>
                <a:gd name="connsiteX3" fmla="*/ 2125167 w 2709854"/>
                <a:gd name="connsiteY3" fmla="*/ 587066 h 590694"/>
                <a:gd name="connsiteX4" fmla="*/ 0 w 2709854"/>
                <a:gd name="connsiteY4" fmla="*/ 590694 h 590694"/>
                <a:gd name="connsiteX5" fmla="*/ 0 w 2709854"/>
                <a:gd name="connsiteY5" fmla="*/ 0 h 590694"/>
                <a:gd name="connsiteX0" fmla="*/ 0 w 2709854"/>
                <a:gd name="connsiteY0" fmla="*/ 0 h 590694"/>
                <a:gd name="connsiteX1" fmla="*/ 2709854 w 2709854"/>
                <a:gd name="connsiteY1" fmla="*/ 0 h 590694"/>
                <a:gd name="connsiteX2" fmla="*/ 2709854 w 2709854"/>
                <a:gd name="connsiteY2" fmla="*/ 590694 h 590694"/>
                <a:gd name="connsiteX3" fmla="*/ 0 w 2709854"/>
                <a:gd name="connsiteY3" fmla="*/ 590694 h 590694"/>
                <a:gd name="connsiteX4" fmla="*/ 0 w 2709854"/>
                <a:gd name="connsiteY4" fmla="*/ 0 h 590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854" h="590694" extrusionOk="0">
                  <a:moveTo>
                    <a:pt x="0" y="0"/>
                  </a:moveTo>
                  <a:lnTo>
                    <a:pt x="2709854" y="0"/>
                  </a:lnTo>
                  <a:lnTo>
                    <a:pt x="2709854" y="590694"/>
                  </a:lnTo>
                  <a:lnTo>
                    <a:pt x="0" y="590694"/>
                  </a:lnTo>
                  <a:lnTo>
                    <a:pt x="0" y="0"/>
                  </a:lnTo>
                  <a:close/>
                </a:path>
              </a:pathLst>
            </a:custGeom>
            <a:noFill/>
            <a:ln w="1270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en-US"/>
            </a:p>
          </p:txBody>
        </p:sp>
      </p:grpSp>
      <p:grpSp>
        <p:nvGrpSpPr>
          <p:cNvPr id="36" name="Group 35"/>
          <p:cNvGrpSpPr/>
          <p:nvPr/>
        </p:nvGrpSpPr>
        <p:grpSpPr bwMode="auto">
          <a:xfrm>
            <a:off x="3251158" y="3329358"/>
            <a:ext cx="2731689" cy="961903"/>
            <a:chOff x="3683000" y="3310714"/>
            <a:chExt cx="2731689" cy="961903"/>
          </a:xfrm>
        </p:grpSpPr>
        <p:sp>
          <p:nvSpPr>
            <p:cNvPr id="37" name="TextBox 36"/>
            <p:cNvSpPr txBox="1"/>
            <p:nvPr/>
          </p:nvSpPr>
          <p:spPr bwMode="auto">
            <a:xfrm>
              <a:off x="3683000" y="3310714"/>
              <a:ext cx="2710800" cy="369332"/>
            </a:xfrm>
            <a:prstGeom prst="rect">
              <a:avLst/>
            </a:prstGeom>
            <a:solidFill>
              <a:schemeClr val="accent2"/>
            </a:solidFill>
            <a:ln w="12700">
              <a:solidFill>
                <a:schemeClr val="accent2"/>
              </a:solidFill>
            </a:ln>
          </p:spPr>
          <p:style>
            <a:lnRef idx="0">
              <a:srgbClr val="000000"/>
            </a:lnRef>
            <a:fillRef idx="0">
              <a:srgbClr val="000000"/>
            </a:fillRef>
            <a:effectRef idx="0">
              <a:srgbClr val="000000"/>
            </a:effectRef>
            <a:fontRef idx="minor">
              <a:schemeClr val="lt1"/>
            </a:fontRef>
          </p:style>
          <p:txBody>
            <a:bodyPr wrap="none" rtlCol="0">
              <a:spAutoFit/>
            </a:bodyPr>
            <a:lstStyle/>
            <a:p>
              <a:pPr>
                <a:defRPr/>
              </a:pPr>
              <a:r>
                <a:rPr lang="zh-CN"/>
                <a:t>系统视图</a:t>
              </a:r>
              <a:endParaRPr lang="en-US"/>
            </a:p>
          </p:txBody>
        </p:sp>
        <p:sp>
          <p:nvSpPr>
            <p:cNvPr id="38" name="TextBox 37"/>
            <p:cNvSpPr txBox="1"/>
            <p:nvPr/>
          </p:nvSpPr>
          <p:spPr bwMode="auto">
            <a:xfrm>
              <a:off x="3683000" y="3681923"/>
              <a:ext cx="2731689" cy="369332"/>
            </a:xfrm>
            <a:prstGeom prst="rect">
              <a:avLst/>
            </a:prstGeom>
            <a:noFill/>
          </p:spPr>
          <p:txBody>
            <a:bodyPr wrap="square" rtlCol="0">
              <a:spAutoFit/>
            </a:bodyPr>
            <a:lstStyle/>
            <a:p>
              <a:pPr>
                <a:defRPr/>
              </a:pPr>
              <a:r>
                <a:rPr lang="en-US">
                  <a:latin typeface="Courier New"/>
                  <a:cs typeface="Courier New"/>
                </a:rPr>
                <a:t>[Quidway]</a:t>
              </a:r>
              <a:endParaRPr/>
            </a:p>
          </p:txBody>
        </p:sp>
        <p:sp>
          <p:nvSpPr>
            <p:cNvPr id="39" name="Rectangle 38"/>
            <p:cNvSpPr/>
            <p:nvPr/>
          </p:nvSpPr>
          <p:spPr bwMode="auto">
            <a:xfrm>
              <a:off x="3683000" y="3681923"/>
              <a:ext cx="2709854" cy="590694"/>
            </a:xfrm>
            <a:prstGeom prst="rect">
              <a:avLst/>
            </a:prstGeom>
            <a:noFill/>
            <a:ln w="12700" cap="flat" cmpd="sng" algn="ctr">
              <a:solidFill>
                <a:schemeClr val="accent2"/>
              </a:solidFill>
              <a:prstDash val="solid"/>
              <a:round/>
              <a:headEnd type="none" w="med" len="med"/>
              <a:tailEnd type="none" w="med" len="med"/>
            </a:ln>
          </p:spPr>
          <p:style>
            <a:lnRef idx="0">
              <a:srgbClr val="000000"/>
            </a:lnRef>
            <a:fillRef idx="0">
              <a:srgbClr val="000000"/>
            </a:fillRef>
            <a:effectRef idx="0">
              <a:srgbClr val="000000"/>
            </a:effectRef>
            <a:fontRef idx="minor">
              <a:schemeClr val="accent2"/>
            </a:fontRef>
          </p:style>
          <p:txBody>
            <a:bodyPr rtlCol="0" anchor="ctr"/>
            <a:lstStyle/>
            <a:p>
              <a:pPr algn="ctr">
                <a:defRPr/>
              </a:pPr>
              <a:endParaRPr lang="en-US"/>
            </a:p>
          </p:txBody>
        </p:sp>
      </p:grpSp>
      <p:grpSp>
        <p:nvGrpSpPr>
          <p:cNvPr id="40" name="Group 39"/>
          <p:cNvGrpSpPr/>
          <p:nvPr/>
        </p:nvGrpSpPr>
        <p:grpSpPr bwMode="auto">
          <a:xfrm>
            <a:off x="5108062" y="4914115"/>
            <a:ext cx="3617103" cy="960026"/>
            <a:chOff x="1211574" y="4921784"/>
            <a:chExt cx="3617103" cy="960026"/>
          </a:xfrm>
        </p:grpSpPr>
        <p:sp>
          <p:nvSpPr>
            <p:cNvPr id="41" name="TextBox 40"/>
            <p:cNvSpPr txBox="1"/>
            <p:nvPr/>
          </p:nvSpPr>
          <p:spPr bwMode="auto">
            <a:xfrm>
              <a:off x="1211575" y="4921784"/>
              <a:ext cx="3617102" cy="369332"/>
            </a:xfrm>
            <a:prstGeom prst="rect">
              <a:avLst/>
            </a:prstGeom>
            <a:solidFill>
              <a:schemeClr val="accent3"/>
            </a:solidFill>
            <a:ln w="12700">
              <a:solidFill>
                <a:schemeClr val="accent3"/>
              </a:solidFill>
            </a:ln>
          </p:spPr>
          <p:style>
            <a:lnRef idx="0">
              <a:srgbClr val="000000"/>
            </a:lnRef>
            <a:fillRef idx="0">
              <a:srgbClr val="000000"/>
            </a:fillRef>
            <a:effectRef idx="0">
              <a:srgbClr val="000000"/>
            </a:effectRef>
            <a:fontRef idx="minor">
              <a:schemeClr val="lt1"/>
            </a:fontRef>
          </p:style>
          <p:txBody>
            <a:bodyPr wrap="square" rtlCol="0">
              <a:spAutoFit/>
            </a:bodyPr>
            <a:lstStyle/>
            <a:p>
              <a:pPr>
                <a:defRPr/>
              </a:pPr>
              <a:r>
                <a:rPr lang="zh-CN"/>
                <a:t>接口视图</a:t>
              </a:r>
              <a:endParaRPr lang="en-US"/>
            </a:p>
          </p:txBody>
        </p:sp>
        <p:sp>
          <p:nvSpPr>
            <p:cNvPr id="42" name="TextBox 41"/>
            <p:cNvSpPr txBox="1"/>
            <p:nvPr/>
          </p:nvSpPr>
          <p:spPr bwMode="auto">
            <a:xfrm>
              <a:off x="1211575" y="5291116"/>
              <a:ext cx="3617103" cy="369332"/>
            </a:xfrm>
            <a:prstGeom prst="rect">
              <a:avLst/>
            </a:prstGeom>
            <a:noFill/>
          </p:spPr>
          <p:txBody>
            <a:bodyPr wrap="square" rtlCol="0">
              <a:spAutoFit/>
            </a:bodyPr>
            <a:lstStyle/>
            <a:p>
              <a:pPr>
                <a:defRPr/>
              </a:pPr>
              <a:r>
                <a:rPr lang="en-US">
                  <a:latin typeface="Courier New"/>
                  <a:cs typeface="Courier New"/>
                </a:rPr>
                <a:t>[Quidway-Ethernet1/0/1] </a:t>
              </a:r>
              <a:endParaRPr/>
            </a:p>
          </p:txBody>
        </p:sp>
        <p:sp>
          <p:nvSpPr>
            <p:cNvPr id="43" name="Rectangle 42"/>
            <p:cNvSpPr/>
            <p:nvPr/>
          </p:nvSpPr>
          <p:spPr bwMode="auto">
            <a:xfrm>
              <a:off x="1211574" y="5291116"/>
              <a:ext cx="3617103" cy="590694"/>
            </a:xfrm>
            <a:prstGeom prst="rect">
              <a:avLst/>
            </a:prstGeom>
            <a:noFill/>
            <a:ln w="12700" cap="flat" cmpd="sng" algn="ctr">
              <a:solidFill>
                <a:schemeClr val="accent3"/>
              </a:solidFill>
              <a:prstDash val="solid"/>
              <a:round/>
              <a:headEnd type="none" w="med" len="med"/>
              <a:tailEnd type="none" w="med" len="med"/>
            </a:ln>
          </p:spPr>
          <p:style>
            <a:lnRef idx="0">
              <a:srgbClr val="000000"/>
            </a:lnRef>
            <a:fillRef idx="0">
              <a:srgbClr val="000000"/>
            </a:fillRef>
            <a:effectRef idx="0">
              <a:srgbClr val="000000"/>
            </a:effectRef>
            <a:fontRef idx="minor">
              <a:schemeClr val="accent3"/>
            </a:fontRef>
          </p:style>
          <p:txBody>
            <a:bodyPr rtlCol="0" anchor="ctr"/>
            <a:lstStyle/>
            <a:p>
              <a:pPr algn="ctr">
                <a:defRPr/>
              </a:pPr>
              <a:endParaRPr lang="en-US"/>
            </a:p>
          </p:txBody>
        </p:sp>
      </p:grpSp>
      <p:grpSp>
        <p:nvGrpSpPr>
          <p:cNvPr id="44" name="Group 43"/>
          <p:cNvGrpSpPr/>
          <p:nvPr/>
        </p:nvGrpSpPr>
        <p:grpSpPr bwMode="auto">
          <a:xfrm>
            <a:off x="1187120" y="4906001"/>
            <a:ext cx="2731690" cy="964032"/>
            <a:chOff x="5464250" y="4917778"/>
            <a:chExt cx="2731690" cy="964032"/>
          </a:xfrm>
        </p:grpSpPr>
        <p:sp>
          <p:nvSpPr>
            <p:cNvPr id="45" name="TextBox 44"/>
            <p:cNvSpPr txBox="1"/>
            <p:nvPr/>
          </p:nvSpPr>
          <p:spPr bwMode="auto">
            <a:xfrm>
              <a:off x="5464250" y="4917778"/>
              <a:ext cx="2709854" cy="369332"/>
            </a:xfrm>
            <a:prstGeom prst="rect">
              <a:avLst/>
            </a:prstGeom>
            <a:solidFill>
              <a:schemeClr val="accent5"/>
            </a:solidFill>
            <a:ln w="12700">
              <a:solidFill>
                <a:schemeClr val="accent5"/>
              </a:solidFill>
            </a:ln>
          </p:spPr>
          <p:style>
            <a:lnRef idx="0">
              <a:srgbClr val="000000"/>
            </a:lnRef>
            <a:fillRef idx="0">
              <a:srgbClr val="000000"/>
            </a:fillRef>
            <a:effectRef idx="0">
              <a:srgbClr val="000000"/>
            </a:effectRef>
            <a:fontRef idx="minor">
              <a:schemeClr val="lt1"/>
            </a:fontRef>
          </p:style>
          <p:txBody>
            <a:bodyPr wrap="square" rtlCol="0">
              <a:spAutoFit/>
            </a:bodyPr>
            <a:lstStyle/>
            <a:p>
              <a:pPr>
                <a:defRPr/>
              </a:pPr>
              <a:r>
                <a:rPr lang="en-US"/>
                <a:t>VLAN</a:t>
              </a:r>
              <a:r>
                <a:rPr lang="zh-CN"/>
                <a:t>视图</a:t>
              </a:r>
              <a:endParaRPr lang="en-US"/>
            </a:p>
          </p:txBody>
        </p:sp>
        <p:sp>
          <p:nvSpPr>
            <p:cNvPr id="46" name="TextBox 45"/>
            <p:cNvSpPr txBox="1"/>
            <p:nvPr/>
          </p:nvSpPr>
          <p:spPr bwMode="auto">
            <a:xfrm>
              <a:off x="5464251" y="5291116"/>
              <a:ext cx="2731689" cy="369332"/>
            </a:xfrm>
            <a:prstGeom prst="rect">
              <a:avLst/>
            </a:prstGeom>
            <a:noFill/>
          </p:spPr>
          <p:txBody>
            <a:bodyPr wrap="square" rtlCol="0">
              <a:spAutoFit/>
            </a:bodyPr>
            <a:lstStyle/>
            <a:p>
              <a:pPr>
                <a:defRPr/>
              </a:pPr>
              <a:r>
                <a:rPr lang="en-US">
                  <a:solidFill>
                    <a:srgbClr val="000000"/>
                  </a:solidFill>
                  <a:latin typeface="CourierNewPSMT"/>
                </a:rPr>
                <a:t>[Quidway-vlan1]</a:t>
              </a:r>
              <a:endParaRPr lang="en-US"/>
            </a:p>
          </p:txBody>
        </p:sp>
        <p:sp>
          <p:nvSpPr>
            <p:cNvPr id="47" name="Rectangle 46"/>
            <p:cNvSpPr/>
            <p:nvPr/>
          </p:nvSpPr>
          <p:spPr bwMode="auto">
            <a:xfrm>
              <a:off x="5464251" y="5291116"/>
              <a:ext cx="2709854" cy="590694"/>
            </a:xfrm>
            <a:prstGeom prst="rect">
              <a:avLst/>
            </a:prstGeom>
            <a:noFill/>
            <a:ln w="12700" cap="flat" cmpd="sng" algn="ctr">
              <a:solidFill>
                <a:schemeClr val="accent5"/>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en-US"/>
            </a:p>
          </p:txBody>
        </p:sp>
      </p:grpSp>
      <p:cxnSp>
        <p:nvCxnSpPr>
          <p:cNvPr id="53" name="Straight Arrow Connector 52"/>
          <p:cNvCxnSpPr>
            <a:cxnSpLocks/>
          </p:cNvCxnSpPr>
          <p:nvPr/>
        </p:nvCxnSpPr>
        <p:spPr bwMode="auto">
          <a:xfrm>
            <a:off x="822962" y="1812202"/>
            <a:ext cx="0" cy="4056892"/>
          </a:xfrm>
          <a:prstGeom prst="straightConnector1">
            <a:avLst/>
          </a:prstGeom>
          <a:ln w="12700" cap="flat" cmpd="sng" algn="ctr">
            <a:solidFill>
              <a:schemeClr val="accent6"/>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sp>
        <p:nvSpPr>
          <p:cNvPr id="55" name="TextBox 54"/>
          <p:cNvSpPr txBox="1"/>
          <p:nvPr/>
        </p:nvSpPr>
        <p:spPr bwMode="auto">
          <a:xfrm>
            <a:off x="384396" y="2525113"/>
            <a:ext cx="373762" cy="1754326"/>
          </a:xfrm>
          <a:prstGeom prst="rect">
            <a:avLst/>
          </a:prstGeom>
          <a:noFill/>
        </p:spPr>
        <p:txBody>
          <a:bodyPr wrap="square" rtlCol="0">
            <a:spAutoFit/>
          </a:bodyPr>
          <a:lstStyle/>
          <a:p>
            <a:pPr>
              <a:defRPr/>
            </a:pPr>
            <a:r>
              <a:rPr lang="zh-CN"/>
              <a:t>权限由低到高</a:t>
            </a:r>
            <a:endParaRPr lang="en-US"/>
          </a:p>
        </p:txBody>
      </p:sp>
      <p:sp>
        <p:nvSpPr>
          <p:cNvPr id="56" name="Rectangle 55"/>
          <p:cNvSpPr/>
          <p:nvPr/>
        </p:nvSpPr>
        <p:spPr bwMode="auto">
          <a:xfrm>
            <a:off x="1043054" y="2752391"/>
            <a:ext cx="2208104" cy="646331"/>
          </a:xfrm>
          <a:prstGeom prst="rect">
            <a:avLst/>
          </a:prstGeom>
        </p:spPr>
        <p:txBody>
          <a:bodyPr wrap="square">
            <a:spAutoFit/>
          </a:bodyPr>
          <a:lstStyle/>
          <a:p>
            <a:pPr>
              <a:defRPr/>
            </a:pPr>
            <a:r>
              <a:rPr lang="zh-CN" b="1" i="1" u="sng">
                <a:solidFill>
                  <a:srgbClr val="C00000"/>
                </a:solidFill>
              </a:rPr>
              <a:t>注意：两种视图的提示符括号不同</a:t>
            </a:r>
            <a:r>
              <a:rPr lang="en-US" b="1" i="1" u="sng">
                <a:solidFill>
                  <a:srgbClr val="C00000"/>
                </a:solidFill>
              </a:rPr>
              <a:t>!</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1. </a:t>
            </a:r>
            <a:r>
              <a:rPr lang="zh-CN"/>
              <a:t>登录交换机</a:t>
            </a:r>
            <a:endParaRPr lang="en-US"/>
          </a:p>
        </p:txBody>
      </p:sp>
      <p:sp>
        <p:nvSpPr>
          <p:cNvPr id="3" name="Content Placeholder 2"/>
          <p:cNvSpPr>
            <a:spLocks noGrp="1"/>
          </p:cNvSpPr>
          <p:nvPr>
            <p:ph idx="1"/>
          </p:nvPr>
        </p:nvSpPr>
        <p:spPr bwMode="auto"/>
        <p:txBody>
          <a:bodyPr/>
          <a:lstStyle/>
          <a:p>
            <a:pPr marL="447675" lvl="1" indent="-358775">
              <a:buFont typeface="+mj-lt"/>
              <a:buAutoNum type="arabicParenR" startAt="5"/>
              <a:defRPr/>
            </a:pPr>
            <a:r>
              <a:rPr lang="zh-CN"/>
              <a:t>了解控制界面切换的指令。</a:t>
            </a:r>
            <a:endParaRPr lang="en-US"/>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11</a:t>
            </a:fld>
            <a:endParaRPr lang="en-US"/>
          </a:p>
        </p:txBody>
      </p:sp>
      <p:grpSp>
        <p:nvGrpSpPr>
          <p:cNvPr id="27" name="Group 26"/>
          <p:cNvGrpSpPr/>
          <p:nvPr/>
        </p:nvGrpSpPr>
        <p:grpSpPr bwMode="auto">
          <a:xfrm>
            <a:off x="3251157" y="1812202"/>
            <a:ext cx="2731690" cy="960026"/>
            <a:chOff x="3682999" y="1828799"/>
            <a:chExt cx="2731690" cy="960026"/>
          </a:xfrm>
        </p:grpSpPr>
        <p:sp>
          <p:nvSpPr>
            <p:cNvPr id="8" name="TextBox 7"/>
            <p:cNvSpPr txBox="1"/>
            <p:nvPr/>
          </p:nvSpPr>
          <p:spPr bwMode="auto">
            <a:xfrm>
              <a:off x="3682999" y="1828799"/>
              <a:ext cx="2710800" cy="369332"/>
            </a:xfrm>
            <a:prstGeom prst="rect">
              <a:avLst/>
            </a:prstGeom>
            <a:solidFill>
              <a:schemeClr val="accent1"/>
            </a:solidFill>
            <a:ln w="12700">
              <a:solidFill>
                <a:schemeClr val="accent1"/>
              </a:solidFill>
            </a:ln>
          </p:spPr>
          <p:style>
            <a:lnRef idx="0">
              <a:srgbClr val="000000"/>
            </a:lnRef>
            <a:fillRef idx="0">
              <a:srgbClr val="000000"/>
            </a:fillRef>
            <a:effectRef idx="0">
              <a:srgbClr val="000000"/>
            </a:effectRef>
            <a:fontRef idx="minor">
              <a:schemeClr val="lt1"/>
            </a:fontRef>
          </p:style>
          <p:txBody>
            <a:bodyPr wrap="square" rtlCol="0">
              <a:spAutoFit/>
            </a:bodyPr>
            <a:lstStyle/>
            <a:p>
              <a:pPr>
                <a:defRPr/>
              </a:pPr>
              <a:r>
                <a:rPr lang="zh-CN"/>
                <a:t>用户视图</a:t>
              </a:r>
              <a:endParaRPr lang="en-US"/>
            </a:p>
          </p:txBody>
        </p:sp>
        <p:sp>
          <p:nvSpPr>
            <p:cNvPr id="12" name="TextBox 11"/>
            <p:cNvSpPr txBox="1"/>
            <p:nvPr/>
          </p:nvSpPr>
          <p:spPr bwMode="auto">
            <a:xfrm>
              <a:off x="3683000" y="2198131"/>
              <a:ext cx="2731689" cy="369332"/>
            </a:xfrm>
            <a:prstGeom prst="rect">
              <a:avLst/>
            </a:prstGeom>
            <a:noFill/>
          </p:spPr>
          <p:txBody>
            <a:bodyPr wrap="square" rtlCol="0">
              <a:spAutoFit/>
            </a:bodyPr>
            <a:lstStyle/>
            <a:p>
              <a:pPr>
                <a:defRPr/>
              </a:pPr>
              <a:r>
                <a:rPr lang="en-US">
                  <a:latin typeface="Courier New"/>
                  <a:cs typeface="Courier New"/>
                </a:rPr>
                <a:t>&lt;Quidway&gt;</a:t>
              </a:r>
              <a:endParaRPr/>
            </a:p>
          </p:txBody>
        </p:sp>
        <p:sp>
          <p:nvSpPr>
            <p:cNvPr id="13" name="Rectangle 12"/>
            <p:cNvSpPr/>
            <p:nvPr/>
          </p:nvSpPr>
          <p:spPr bwMode="auto">
            <a:xfrm>
              <a:off x="3683000" y="2198131"/>
              <a:ext cx="2709854" cy="590694"/>
            </a:xfrm>
            <a:custGeom>
              <a:avLst/>
              <a:gdLst>
                <a:gd name="connsiteX0" fmla="*/ 0 w 2709854"/>
                <a:gd name="connsiteY0" fmla="*/ 0 h 590694"/>
                <a:gd name="connsiteX1" fmla="*/ 2709854 w 2709854"/>
                <a:gd name="connsiteY1" fmla="*/ 0 h 590694"/>
                <a:gd name="connsiteX2" fmla="*/ 2709854 w 2709854"/>
                <a:gd name="connsiteY2" fmla="*/ 590694 h 590694"/>
                <a:gd name="connsiteX3" fmla="*/ 0 w 2709854"/>
                <a:gd name="connsiteY3" fmla="*/ 590694 h 590694"/>
                <a:gd name="connsiteX4" fmla="*/ 0 w 2709854"/>
                <a:gd name="connsiteY4" fmla="*/ 0 h 590694"/>
                <a:gd name="connsiteX0" fmla="*/ 0 w 2709854"/>
                <a:gd name="connsiteY0" fmla="*/ 0 h 590694"/>
                <a:gd name="connsiteX1" fmla="*/ 2709854 w 2709854"/>
                <a:gd name="connsiteY1" fmla="*/ 0 h 590694"/>
                <a:gd name="connsiteX2" fmla="*/ 2709854 w 2709854"/>
                <a:gd name="connsiteY2" fmla="*/ 590694 h 590694"/>
                <a:gd name="connsiteX3" fmla="*/ 0 w 2709854"/>
                <a:gd name="connsiteY3" fmla="*/ 590694 h 590694"/>
                <a:gd name="connsiteX4" fmla="*/ 0 w 2709854"/>
                <a:gd name="connsiteY4" fmla="*/ 0 h 590694"/>
                <a:gd name="connsiteX0" fmla="*/ 0 w 2709854"/>
                <a:gd name="connsiteY0" fmla="*/ 0 h 590694"/>
                <a:gd name="connsiteX1" fmla="*/ 2709854 w 2709854"/>
                <a:gd name="connsiteY1" fmla="*/ 0 h 590694"/>
                <a:gd name="connsiteX2" fmla="*/ 2709854 w 2709854"/>
                <a:gd name="connsiteY2" fmla="*/ 590694 h 590694"/>
                <a:gd name="connsiteX3" fmla="*/ 660434 w 2709854"/>
                <a:gd name="connsiteY3" fmla="*/ 587066 h 590694"/>
                <a:gd name="connsiteX4" fmla="*/ 0 w 2709854"/>
                <a:gd name="connsiteY4" fmla="*/ 590694 h 590694"/>
                <a:gd name="connsiteX5" fmla="*/ 0 w 2709854"/>
                <a:gd name="connsiteY5" fmla="*/ 0 h 590694"/>
                <a:gd name="connsiteX0" fmla="*/ 0 w 2709854"/>
                <a:gd name="connsiteY0" fmla="*/ 0 h 590694"/>
                <a:gd name="connsiteX1" fmla="*/ 2709854 w 2709854"/>
                <a:gd name="connsiteY1" fmla="*/ 0 h 590694"/>
                <a:gd name="connsiteX2" fmla="*/ 2709854 w 2709854"/>
                <a:gd name="connsiteY2" fmla="*/ 590694 h 590694"/>
                <a:gd name="connsiteX3" fmla="*/ 2125167 w 2709854"/>
                <a:gd name="connsiteY3" fmla="*/ 587066 h 590694"/>
                <a:gd name="connsiteX4" fmla="*/ 660434 w 2709854"/>
                <a:gd name="connsiteY4" fmla="*/ 587066 h 590694"/>
                <a:gd name="connsiteX5" fmla="*/ 0 w 2709854"/>
                <a:gd name="connsiteY5" fmla="*/ 590694 h 590694"/>
                <a:gd name="connsiteX6" fmla="*/ 0 w 2709854"/>
                <a:gd name="connsiteY6" fmla="*/ 0 h 590694"/>
                <a:gd name="connsiteX0" fmla="*/ 0 w 2709854"/>
                <a:gd name="connsiteY0" fmla="*/ 0 h 590694"/>
                <a:gd name="connsiteX1" fmla="*/ 2709854 w 2709854"/>
                <a:gd name="connsiteY1" fmla="*/ 0 h 590694"/>
                <a:gd name="connsiteX2" fmla="*/ 2709854 w 2709854"/>
                <a:gd name="connsiteY2" fmla="*/ 590694 h 590694"/>
                <a:gd name="connsiteX3" fmla="*/ 2125167 w 2709854"/>
                <a:gd name="connsiteY3" fmla="*/ 587066 h 590694"/>
                <a:gd name="connsiteX4" fmla="*/ 0 w 2709854"/>
                <a:gd name="connsiteY4" fmla="*/ 590694 h 590694"/>
                <a:gd name="connsiteX5" fmla="*/ 0 w 2709854"/>
                <a:gd name="connsiteY5" fmla="*/ 0 h 590694"/>
                <a:gd name="connsiteX0" fmla="*/ 0 w 2709854"/>
                <a:gd name="connsiteY0" fmla="*/ 0 h 590694"/>
                <a:gd name="connsiteX1" fmla="*/ 2709854 w 2709854"/>
                <a:gd name="connsiteY1" fmla="*/ 0 h 590694"/>
                <a:gd name="connsiteX2" fmla="*/ 2709854 w 2709854"/>
                <a:gd name="connsiteY2" fmla="*/ 590694 h 590694"/>
                <a:gd name="connsiteX3" fmla="*/ 0 w 2709854"/>
                <a:gd name="connsiteY3" fmla="*/ 590694 h 590694"/>
                <a:gd name="connsiteX4" fmla="*/ 0 w 2709854"/>
                <a:gd name="connsiteY4" fmla="*/ 0 h 590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854" h="590694" extrusionOk="0">
                  <a:moveTo>
                    <a:pt x="0" y="0"/>
                  </a:moveTo>
                  <a:lnTo>
                    <a:pt x="2709854" y="0"/>
                  </a:lnTo>
                  <a:lnTo>
                    <a:pt x="2709854" y="590694"/>
                  </a:lnTo>
                  <a:lnTo>
                    <a:pt x="0" y="590694"/>
                  </a:lnTo>
                  <a:lnTo>
                    <a:pt x="0" y="0"/>
                  </a:lnTo>
                  <a:close/>
                </a:path>
              </a:pathLst>
            </a:custGeom>
            <a:noFill/>
            <a:ln w="1270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en-US"/>
            </a:p>
          </p:txBody>
        </p:sp>
      </p:grpSp>
      <p:grpSp>
        <p:nvGrpSpPr>
          <p:cNvPr id="28" name="Group 27"/>
          <p:cNvGrpSpPr/>
          <p:nvPr/>
        </p:nvGrpSpPr>
        <p:grpSpPr bwMode="auto">
          <a:xfrm>
            <a:off x="3251158" y="3329358"/>
            <a:ext cx="2731689" cy="961903"/>
            <a:chOff x="3683000" y="3310714"/>
            <a:chExt cx="2731689" cy="961903"/>
          </a:xfrm>
        </p:grpSpPr>
        <p:sp>
          <p:nvSpPr>
            <p:cNvPr id="9" name="TextBox 8"/>
            <p:cNvSpPr txBox="1"/>
            <p:nvPr/>
          </p:nvSpPr>
          <p:spPr bwMode="auto">
            <a:xfrm>
              <a:off x="3683000" y="3310714"/>
              <a:ext cx="2710800" cy="369332"/>
            </a:xfrm>
            <a:prstGeom prst="rect">
              <a:avLst/>
            </a:prstGeom>
            <a:solidFill>
              <a:schemeClr val="accent2"/>
            </a:solidFill>
            <a:ln w="12700">
              <a:solidFill>
                <a:schemeClr val="accent2"/>
              </a:solidFill>
            </a:ln>
          </p:spPr>
          <p:style>
            <a:lnRef idx="0">
              <a:srgbClr val="000000"/>
            </a:lnRef>
            <a:fillRef idx="0">
              <a:srgbClr val="000000"/>
            </a:fillRef>
            <a:effectRef idx="0">
              <a:srgbClr val="000000"/>
            </a:effectRef>
            <a:fontRef idx="minor">
              <a:schemeClr val="lt1"/>
            </a:fontRef>
          </p:style>
          <p:txBody>
            <a:bodyPr wrap="none" rtlCol="0">
              <a:spAutoFit/>
            </a:bodyPr>
            <a:lstStyle/>
            <a:p>
              <a:pPr>
                <a:defRPr/>
              </a:pPr>
              <a:r>
                <a:rPr lang="zh-CN"/>
                <a:t>系统视图</a:t>
              </a:r>
              <a:endParaRPr lang="en-US"/>
            </a:p>
          </p:txBody>
        </p:sp>
        <p:sp>
          <p:nvSpPr>
            <p:cNvPr id="17" name="TextBox 16"/>
            <p:cNvSpPr txBox="1"/>
            <p:nvPr/>
          </p:nvSpPr>
          <p:spPr bwMode="auto">
            <a:xfrm>
              <a:off x="3683000" y="3681923"/>
              <a:ext cx="2731689" cy="369332"/>
            </a:xfrm>
            <a:prstGeom prst="rect">
              <a:avLst/>
            </a:prstGeom>
            <a:noFill/>
          </p:spPr>
          <p:txBody>
            <a:bodyPr wrap="square" rtlCol="0">
              <a:spAutoFit/>
            </a:bodyPr>
            <a:lstStyle/>
            <a:p>
              <a:pPr>
                <a:defRPr/>
              </a:pPr>
              <a:r>
                <a:rPr lang="en-US">
                  <a:latin typeface="Courier New"/>
                  <a:cs typeface="Courier New"/>
                </a:rPr>
                <a:t>[Quidway]</a:t>
              </a:r>
              <a:endParaRPr/>
            </a:p>
          </p:txBody>
        </p:sp>
        <p:sp>
          <p:nvSpPr>
            <p:cNvPr id="18" name="Rectangle 17"/>
            <p:cNvSpPr/>
            <p:nvPr/>
          </p:nvSpPr>
          <p:spPr bwMode="auto">
            <a:xfrm>
              <a:off x="3683000" y="3681923"/>
              <a:ext cx="2709854" cy="590694"/>
            </a:xfrm>
            <a:prstGeom prst="rect">
              <a:avLst/>
            </a:prstGeom>
            <a:noFill/>
            <a:ln w="12700" cap="flat" cmpd="sng" algn="ctr">
              <a:solidFill>
                <a:schemeClr val="accent2"/>
              </a:solidFill>
              <a:prstDash val="solid"/>
              <a:round/>
              <a:headEnd type="none" w="med" len="med"/>
              <a:tailEnd type="none" w="med" len="med"/>
            </a:ln>
          </p:spPr>
          <p:style>
            <a:lnRef idx="0">
              <a:srgbClr val="000000"/>
            </a:lnRef>
            <a:fillRef idx="0">
              <a:srgbClr val="000000"/>
            </a:fillRef>
            <a:effectRef idx="0">
              <a:srgbClr val="000000"/>
            </a:effectRef>
            <a:fontRef idx="minor">
              <a:schemeClr val="accent2"/>
            </a:fontRef>
          </p:style>
          <p:txBody>
            <a:bodyPr rtlCol="0" anchor="ctr"/>
            <a:lstStyle/>
            <a:p>
              <a:pPr algn="ctr">
                <a:defRPr/>
              </a:pPr>
              <a:endParaRPr lang="en-US"/>
            </a:p>
          </p:txBody>
        </p:sp>
      </p:grpSp>
      <p:grpSp>
        <p:nvGrpSpPr>
          <p:cNvPr id="30" name="Group 29"/>
          <p:cNvGrpSpPr/>
          <p:nvPr/>
        </p:nvGrpSpPr>
        <p:grpSpPr bwMode="auto">
          <a:xfrm>
            <a:off x="5108062" y="4914115"/>
            <a:ext cx="3617103" cy="960026"/>
            <a:chOff x="1211574" y="4921784"/>
            <a:chExt cx="3617103" cy="960026"/>
          </a:xfrm>
        </p:grpSpPr>
        <p:sp>
          <p:nvSpPr>
            <p:cNvPr id="10" name="TextBox 9"/>
            <p:cNvSpPr txBox="1"/>
            <p:nvPr/>
          </p:nvSpPr>
          <p:spPr bwMode="auto">
            <a:xfrm>
              <a:off x="1211575" y="4921784"/>
              <a:ext cx="3617102" cy="369332"/>
            </a:xfrm>
            <a:prstGeom prst="rect">
              <a:avLst/>
            </a:prstGeom>
            <a:solidFill>
              <a:schemeClr val="accent3"/>
            </a:solidFill>
            <a:ln w="12700">
              <a:solidFill>
                <a:schemeClr val="accent3"/>
              </a:solidFill>
            </a:ln>
          </p:spPr>
          <p:style>
            <a:lnRef idx="0">
              <a:srgbClr val="000000"/>
            </a:lnRef>
            <a:fillRef idx="0">
              <a:srgbClr val="000000"/>
            </a:fillRef>
            <a:effectRef idx="0">
              <a:srgbClr val="000000"/>
            </a:effectRef>
            <a:fontRef idx="minor">
              <a:schemeClr val="lt1"/>
            </a:fontRef>
          </p:style>
          <p:txBody>
            <a:bodyPr wrap="square" rtlCol="0">
              <a:spAutoFit/>
            </a:bodyPr>
            <a:lstStyle/>
            <a:p>
              <a:pPr>
                <a:defRPr/>
              </a:pPr>
              <a:r>
                <a:rPr lang="zh-CN"/>
                <a:t>接口视图</a:t>
              </a:r>
              <a:endParaRPr lang="en-US"/>
            </a:p>
          </p:txBody>
        </p:sp>
        <p:sp>
          <p:nvSpPr>
            <p:cNvPr id="20" name="TextBox 19"/>
            <p:cNvSpPr txBox="1"/>
            <p:nvPr/>
          </p:nvSpPr>
          <p:spPr bwMode="auto">
            <a:xfrm>
              <a:off x="1211575" y="5291116"/>
              <a:ext cx="3617103" cy="369332"/>
            </a:xfrm>
            <a:prstGeom prst="rect">
              <a:avLst/>
            </a:prstGeom>
            <a:noFill/>
          </p:spPr>
          <p:txBody>
            <a:bodyPr wrap="square" rtlCol="0">
              <a:spAutoFit/>
            </a:bodyPr>
            <a:lstStyle/>
            <a:p>
              <a:pPr>
                <a:defRPr/>
              </a:pPr>
              <a:r>
                <a:rPr lang="en-US">
                  <a:latin typeface="Courier New"/>
                  <a:cs typeface="Courier New"/>
                </a:rPr>
                <a:t>[Quidway-Ethernet1/0/1] </a:t>
              </a:r>
              <a:endParaRPr/>
            </a:p>
          </p:txBody>
        </p:sp>
        <p:sp>
          <p:nvSpPr>
            <p:cNvPr id="21" name="Rectangle 20"/>
            <p:cNvSpPr/>
            <p:nvPr/>
          </p:nvSpPr>
          <p:spPr bwMode="auto">
            <a:xfrm>
              <a:off x="1211574" y="5291116"/>
              <a:ext cx="3617103" cy="590694"/>
            </a:xfrm>
            <a:prstGeom prst="rect">
              <a:avLst/>
            </a:prstGeom>
            <a:noFill/>
            <a:ln w="12700" cap="flat" cmpd="sng" algn="ctr">
              <a:solidFill>
                <a:schemeClr val="accent3"/>
              </a:solidFill>
              <a:prstDash val="solid"/>
              <a:round/>
              <a:headEnd type="none" w="med" len="med"/>
              <a:tailEnd type="none" w="med" len="med"/>
            </a:ln>
          </p:spPr>
          <p:style>
            <a:lnRef idx="0">
              <a:srgbClr val="000000"/>
            </a:lnRef>
            <a:fillRef idx="0">
              <a:srgbClr val="000000"/>
            </a:fillRef>
            <a:effectRef idx="0">
              <a:srgbClr val="000000"/>
            </a:effectRef>
            <a:fontRef idx="minor">
              <a:schemeClr val="accent3"/>
            </a:fontRef>
          </p:style>
          <p:txBody>
            <a:bodyPr rtlCol="0" anchor="ctr"/>
            <a:lstStyle/>
            <a:p>
              <a:pPr algn="ctr">
                <a:defRPr/>
              </a:pPr>
              <a:endParaRPr lang="en-US"/>
            </a:p>
          </p:txBody>
        </p:sp>
      </p:grpSp>
      <p:grpSp>
        <p:nvGrpSpPr>
          <p:cNvPr id="29" name="Group 28"/>
          <p:cNvGrpSpPr/>
          <p:nvPr/>
        </p:nvGrpSpPr>
        <p:grpSpPr bwMode="auto">
          <a:xfrm>
            <a:off x="1187120" y="4906001"/>
            <a:ext cx="2731690" cy="964032"/>
            <a:chOff x="5464250" y="4917778"/>
            <a:chExt cx="2731690" cy="964032"/>
          </a:xfrm>
        </p:grpSpPr>
        <p:sp>
          <p:nvSpPr>
            <p:cNvPr id="11" name="TextBox 10"/>
            <p:cNvSpPr txBox="1"/>
            <p:nvPr/>
          </p:nvSpPr>
          <p:spPr bwMode="auto">
            <a:xfrm>
              <a:off x="5464250" y="4917778"/>
              <a:ext cx="2709854" cy="369332"/>
            </a:xfrm>
            <a:prstGeom prst="rect">
              <a:avLst/>
            </a:prstGeom>
            <a:solidFill>
              <a:schemeClr val="accent5"/>
            </a:solidFill>
            <a:ln w="12700">
              <a:solidFill>
                <a:schemeClr val="accent5"/>
              </a:solidFill>
            </a:ln>
          </p:spPr>
          <p:style>
            <a:lnRef idx="0">
              <a:srgbClr val="000000"/>
            </a:lnRef>
            <a:fillRef idx="0">
              <a:srgbClr val="000000"/>
            </a:fillRef>
            <a:effectRef idx="0">
              <a:srgbClr val="000000"/>
            </a:effectRef>
            <a:fontRef idx="minor">
              <a:schemeClr val="lt1"/>
            </a:fontRef>
          </p:style>
          <p:txBody>
            <a:bodyPr wrap="square" rtlCol="0">
              <a:spAutoFit/>
            </a:bodyPr>
            <a:lstStyle/>
            <a:p>
              <a:pPr>
                <a:defRPr/>
              </a:pPr>
              <a:r>
                <a:rPr lang="en-US"/>
                <a:t>VLAN</a:t>
              </a:r>
              <a:r>
                <a:rPr lang="zh-CN"/>
                <a:t>视图</a:t>
              </a:r>
              <a:endParaRPr lang="en-US"/>
            </a:p>
          </p:txBody>
        </p:sp>
        <p:sp>
          <p:nvSpPr>
            <p:cNvPr id="24" name="TextBox 23"/>
            <p:cNvSpPr txBox="1"/>
            <p:nvPr/>
          </p:nvSpPr>
          <p:spPr bwMode="auto">
            <a:xfrm>
              <a:off x="5464251" y="5291116"/>
              <a:ext cx="2731689" cy="369332"/>
            </a:xfrm>
            <a:prstGeom prst="rect">
              <a:avLst/>
            </a:prstGeom>
            <a:noFill/>
          </p:spPr>
          <p:txBody>
            <a:bodyPr wrap="square" rtlCol="0">
              <a:spAutoFit/>
            </a:bodyPr>
            <a:lstStyle/>
            <a:p>
              <a:pPr>
                <a:defRPr/>
              </a:pPr>
              <a:r>
                <a:rPr lang="en-US">
                  <a:solidFill>
                    <a:srgbClr val="000000"/>
                  </a:solidFill>
                  <a:latin typeface="CourierNewPSMT"/>
                </a:rPr>
                <a:t>[Quidway-vlan1]</a:t>
              </a:r>
              <a:endParaRPr lang="en-US"/>
            </a:p>
          </p:txBody>
        </p:sp>
        <p:sp>
          <p:nvSpPr>
            <p:cNvPr id="25" name="Rectangle 24"/>
            <p:cNvSpPr/>
            <p:nvPr/>
          </p:nvSpPr>
          <p:spPr bwMode="auto">
            <a:xfrm>
              <a:off x="5464251" y="5291116"/>
              <a:ext cx="2709854" cy="590694"/>
            </a:xfrm>
            <a:prstGeom prst="rect">
              <a:avLst/>
            </a:prstGeom>
            <a:noFill/>
            <a:ln w="12700" cap="flat" cmpd="sng" algn="ctr">
              <a:solidFill>
                <a:schemeClr val="accent5"/>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en-US"/>
            </a:p>
          </p:txBody>
        </p:sp>
      </p:grpSp>
      <p:cxnSp>
        <p:nvCxnSpPr>
          <p:cNvPr id="31" name="Straight Arrow Connector 30"/>
          <p:cNvCxnSpPr>
            <a:cxnSpLocks/>
          </p:cNvCxnSpPr>
          <p:nvPr/>
        </p:nvCxnSpPr>
        <p:spPr bwMode="auto">
          <a:xfrm>
            <a:off x="3826925" y="2772228"/>
            <a:ext cx="0" cy="557130"/>
          </a:xfrm>
          <a:prstGeom prst="straightConnector1">
            <a:avLst/>
          </a:prstGeom>
          <a:ln w="28575">
            <a:headEnd type="none" w="med" len="med"/>
            <a:tailEnd type="arrow" w="med" len="med"/>
          </a:ln>
        </p:spPr>
        <p:style>
          <a:lnRef idx="2">
            <a:schemeClr val="accent6"/>
          </a:lnRef>
          <a:fillRef idx="0">
            <a:schemeClr val="accent6"/>
          </a:fillRef>
          <a:effectRef idx="1">
            <a:schemeClr val="accent6"/>
          </a:effectRef>
          <a:fontRef idx="minor">
            <a:schemeClr val="tx1"/>
          </a:fontRef>
        </p:style>
      </p:cxnSp>
      <p:cxnSp>
        <p:nvCxnSpPr>
          <p:cNvPr id="32" name="Straight Arrow Connector 31"/>
          <p:cNvCxnSpPr>
            <a:cxnSpLocks/>
          </p:cNvCxnSpPr>
          <p:nvPr/>
        </p:nvCxnSpPr>
        <p:spPr bwMode="auto">
          <a:xfrm flipV="1">
            <a:off x="5435591" y="2772228"/>
            <a:ext cx="0" cy="557130"/>
          </a:xfrm>
          <a:prstGeom prst="straightConnector1">
            <a:avLst/>
          </a:prstGeom>
          <a:ln w="28575">
            <a:headEnd type="none" w="med" len="med"/>
            <a:tailEnd type="arrow" w="med" len="med"/>
          </a:ln>
        </p:spPr>
        <p:style>
          <a:lnRef idx="2">
            <a:schemeClr val="accent6"/>
          </a:lnRef>
          <a:fillRef idx="0">
            <a:schemeClr val="accent6"/>
          </a:fillRef>
          <a:effectRef idx="1">
            <a:schemeClr val="accent6"/>
          </a:effectRef>
          <a:fontRef idx="minor">
            <a:schemeClr val="tx1"/>
          </a:fontRef>
        </p:style>
      </p:cxnSp>
      <p:sp>
        <p:nvSpPr>
          <p:cNvPr id="34" name="TextBox 33"/>
          <p:cNvSpPr txBox="1"/>
          <p:nvPr/>
        </p:nvSpPr>
        <p:spPr bwMode="auto">
          <a:xfrm>
            <a:off x="596521" y="2876993"/>
            <a:ext cx="3358186" cy="369332"/>
          </a:xfrm>
          <a:prstGeom prst="rect">
            <a:avLst/>
          </a:prstGeom>
          <a:noFill/>
        </p:spPr>
        <p:txBody>
          <a:bodyPr wrap="square" rtlCol="0">
            <a:spAutoFit/>
          </a:bodyPr>
          <a:lstStyle/>
          <a:p>
            <a:pPr>
              <a:defRPr/>
            </a:pPr>
            <a:r>
              <a:rPr lang="en-US">
                <a:latin typeface="Courier New"/>
                <a:cs typeface="Courier New"/>
              </a:rPr>
              <a:t>&lt;Quidway&gt; system-view</a:t>
            </a:r>
          </a:p>
        </p:txBody>
      </p:sp>
      <p:sp>
        <p:nvSpPr>
          <p:cNvPr id="35" name="TextBox 34"/>
          <p:cNvSpPr txBox="1"/>
          <p:nvPr/>
        </p:nvSpPr>
        <p:spPr bwMode="auto">
          <a:xfrm>
            <a:off x="5534577" y="2876993"/>
            <a:ext cx="3358186" cy="369332"/>
          </a:xfrm>
          <a:prstGeom prst="rect">
            <a:avLst/>
          </a:prstGeom>
          <a:noFill/>
        </p:spPr>
        <p:txBody>
          <a:bodyPr wrap="square" rtlCol="0">
            <a:spAutoFit/>
          </a:bodyPr>
          <a:lstStyle/>
          <a:p>
            <a:pPr>
              <a:defRPr/>
            </a:pPr>
            <a:r>
              <a:rPr lang="en-US">
                <a:latin typeface="Courier New"/>
                <a:cs typeface="Courier New"/>
              </a:rPr>
              <a:t>[Quidway] quit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1. </a:t>
            </a:r>
            <a:r>
              <a:rPr lang="zh-CN"/>
              <a:t>登录交换机</a:t>
            </a:r>
            <a:endParaRPr lang="en-US"/>
          </a:p>
        </p:txBody>
      </p:sp>
      <p:sp>
        <p:nvSpPr>
          <p:cNvPr id="32" name="Content Placeholder 2"/>
          <p:cNvSpPr>
            <a:spLocks noGrp="1"/>
          </p:cNvSpPr>
          <p:nvPr>
            <p:ph idx="1"/>
          </p:nvPr>
        </p:nvSpPr>
        <p:spPr bwMode="auto"/>
        <p:txBody>
          <a:bodyPr/>
          <a:lstStyle/>
          <a:p>
            <a:pPr marL="447675" lvl="1" indent="-358775">
              <a:buFont typeface="+mj-lt"/>
              <a:buAutoNum type="arabicParenR" startAt="5"/>
              <a:defRPr/>
            </a:pPr>
            <a:r>
              <a:rPr lang="zh-CN"/>
              <a:t>了解控制界面切换的指令。</a:t>
            </a:r>
            <a:endParaRPr lang="en-US"/>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12</a:t>
            </a:fld>
            <a:endParaRPr lang="en-US"/>
          </a:p>
        </p:txBody>
      </p:sp>
      <p:grpSp>
        <p:nvGrpSpPr>
          <p:cNvPr id="27" name="Group 26"/>
          <p:cNvGrpSpPr/>
          <p:nvPr/>
        </p:nvGrpSpPr>
        <p:grpSpPr bwMode="auto">
          <a:xfrm>
            <a:off x="3251157" y="1812202"/>
            <a:ext cx="2731690" cy="960026"/>
            <a:chOff x="3682999" y="1828799"/>
            <a:chExt cx="2731690" cy="960026"/>
          </a:xfrm>
        </p:grpSpPr>
        <p:sp>
          <p:nvSpPr>
            <p:cNvPr id="8" name="TextBox 7"/>
            <p:cNvSpPr txBox="1"/>
            <p:nvPr/>
          </p:nvSpPr>
          <p:spPr bwMode="auto">
            <a:xfrm>
              <a:off x="3682999" y="1828799"/>
              <a:ext cx="2710800" cy="369332"/>
            </a:xfrm>
            <a:prstGeom prst="rect">
              <a:avLst/>
            </a:prstGeom>
            <a:solidFill>
              <a:schemeClr val="accent1"/>
            </a:solidFill>
            <a:ln w="12700">
              <a:solidFill>
                <a:schemeClr val="accent1"/>
              </a:solidFill>
            </a:ln>
          </p:spPr>
          <p:style>
            <a:lnRef idx="0">
              <a:srgbClr val="000000"/>
            </a:lnRef>
            <a:fillRef idx="0">
              <a:srgbClr val="000000"/>
            </a:fillRef>
            <a:effectRef idx="0">
              <a:srgbClr val="000000"/>
            </a:effectRef>
            <a:fontRef idx="minor">
              <a:schemeClr val="lt1"/>
            </a:fontRef>
          </p:style>
          <p:txBody>
            <a:bodyPr wrap="square" rtlCol="0">
              <a:spAutoFit/>
            </a:bodyPr>
            <a:lstStyle/>
            <a:p>
              <a:pPr>
                <a:defRPr/>
              </a:pPr>
              <a:r>
                <a:rPr lang="zh-CN"/>
                <a:t>用户视图</a:t>
              </a:r>
              <a:endParaRPr lang="en-US"/>
            </a:p>
          </p:txBody>
        </p:sp>
        <p:sp>
          <p:nvSpPr>
            <p:cNvPr id="12" name="TextBox 11"/>
            <p:cNvSpPr txBox="1"/>
            <p:nvPr/>
          </p:nvSpPr>
          <p:spPr bwMode="auto">
            <a:xfrm>
              <a:off x="3683000" y="2198131"/>
              <a:ext cx="2731689" cy="369332"/>
            </a:xfrm>
            <a:prstGeom prst="rect">
              <a:avLst/>
            </a:prstGeom>
            <a:noFill/>
          </p:spPr>
          <p:txBody>
            <a:bodyPr wrap="square" rtlCol="0">
              <a:spAutoFit/>
            </a:bodyPr>
            <a:lstStyle/>
            <a:p>
              <a:pPr>
                <a:defRPr/>
              </a:pPr>
              <a:r>
                <a:rPr lang="en-US">
                  <a:latin typeface="Courier New"/>
                  <a:cs typeface="Courier New"/>
                </a:rPr>
                <a:t>&lt;Quidway&gt;</a:t>
              </a:r>
              <a:endParaRPr/>
            </a:p>
          </p:txBody>
        </p:sp>
        <p:sp>
          <p:nvSpPr>
            <p:cNvPr id="13" name="Rectangle 12"/>
            <p:cNvSpPr/>
            <p:nvPr/>
          </p:nvSpPr>
          <p:spPr bwMode="auto">
            <a:xfrm>
              <a:off x="3683000" y="2198131"/>
              <a:ext cx="2709854" cy="590694"/>
            </a:xfrm>
            <a:custGeom>
              <a:avLst/>
              <a:gdLst>
                <a:gd name="connsiteX0" fmla="*/ 0 w 2709854"/>
                <a:gd name="connsiteY0" fmla="*/ 0 h 590694"/>
                <a:gd name="connsiteX1" fmla="*/ 2709854 w 2709854"/>
                <a:gd name="connsiteY1" fmla="*/ 0 h 590694"/>
                <a:gd name="connsiteX2" fmla="*/ 2709854 w 2709854"/>
                <a:gd name="connsiteY2" fmla="*/ 590694 h 590694"/>
                <a:gd name="connsiteX3" fmla="*/ 0 w 2709854"/>
                <a:gd name="connsiteY3" fmla="*/ 590694 h 590694"/>
                <a:gd name="connsiteX4" fmla="*/ 0 w 2709854"/>
                <a:gd name="connsiteY4" fmla="*/ 0 h 590694"/>
                <a:gd name="connsiteX0" fmla="*/ 0 w 2709854"/>
                <a:gd name="connsiteY0" fmla="*/ 0 h 590694"/>
                <a:gd name="connsiteX1" fmla="*/ 2709854 w 2709854"/>
                <a:gd name="connsiteY1" fmla="*/ 0 h 590694"/>
                <a:gd name="connsiteX2" fmla="*/ 2709854 w 2709854"/>
                <a:gd name="connsiteY2" fmla="*/ 590694 h 590694"/>
                <a:gd name="connsiteX3" fmla="*/ 0 w 2709854"/>
                <a:gd name="connsiteY3" fmla="*/ 590694 h 590694"/>
                <a:gd name="connsiteX4" fmla="*/ 0 w 2709854"/>
                <a:gd name="connsiteY4" fmla="*/ 0 h 590694"/>
                <a:gd name="connsiteX0" fmla="*/ 0 w 2709854"/>
                <a:gd name="connsiteY0" fmla="*/ 0 h 590694"/>
                <a:gd name="connsiteX1" fmla="*/ 2709854 w 2709854"/>
                <a:gd name="connsiteY1" fmla="*/ 0 h 590694"/>
                <a:gd name="connsiteX2" fmla="*/ 2709854 w 2709854"/>
                <a:gd name="connsiteY2" fmla="*/ 590694 h 590694"/>
                <a:gd name="connsiteX3" fmla="*/ 660434 w 2709854"/>
                <a:gd name="connsiteY3" fmla="*/ 587066 h 590694"/>
                <a:gd name="connsiteX4" fmla="*/ 0 w 2709854"/>
                <a:gd name="connsiteY4" fmla="*/ 590694 h 590694"/>
                <a:gd name="connsiteX5" fmla="*/ 0 w 2709854"/>
                <a:gd name="connsiteY5" fmla="*/ 0 h 590694"/>
                <a:gd name="connsiteX0" fmla="*/ 0 w 2709854"/>
                <a:gd name="connsiteY0" fmla="*/ 0 h 590694"/>
                <a:gd name="connsiteX1" fmla="*/ 2709854 w 2709854"/>
                <a:gd name="connsiteY1" fmla="*/ 0 h 590694"/>
                <a:gd name="connsiteX2" fmla="*/ 2709854 w 2709854"/>
                <a:gd name="connsiteY2" fmla="*/ 590694 h 590694"/>
                <a:gd name="connsiteX3" fmla="*/ 2125167 w 2709854"/>
                <a:gd name="connsiteY3" fmla="*/ 587066 h 590694"/>
                <a:gd name="connsiteX4" fmla="*/ 660434 w 2709854"/>
                <a:gd name="connsiteY4" fmla="*/ 587066 h 590694"/>
                <a:gd name="connsiteX5" fmla="*/ 0 w 2709854"/>
                <a:gd name="connsiteY5" fmla="*/ 590694 h 590694"/>
                <a:gd name="connsiteX6" fmla="*/ 0 w 2709854"/>
                <a:gd name="connsiteY6" fmla="*/ 0 h 590694"/>
                <a:gd name="connsiteX0" fmla="*/ 0 w 2709854"/>
                <a:gd name="connsiteY0" fmla="*/ 0 h 590694"/>
                <a:gd name="connsiteX1" fmla="*/ 2709854 w 2709854"/>
                <a:gd name="connsiteY1" fmla="*/ 0 h 590694"/>
                <a:gd name="connsiteX2" fmla="*/ 2709854 w 2709854"/>
                <a:gd name="connsiteY2" fmla="*/ 590694 h 590694"/>
                <a:gd name="connsiteX3" fmla="*/ 2125167 w 2709854"/>
                <a:gd name="connsiteY3" fmla="*/ 587066 h 590694"/>
                <a:gd name="connsiteX4" fmla="*/ 0 w 2709854"/>
                <a:gd name="connsiteY4" fmla="*/ 590694 h 590694"/>
                <a:gd name="connsiteX5" fmla="*/ 0 w 2709854"/>
                <a:gd name="connsiteY5" fmla="*/ 0 h 590694"/>
                <a:gd name="connsiteX0" fmla="*/ 0 w 2709854"/>
                <a:gd name="connsiteY0" fmla="*/ 0 h 590694"/>
                <a:gd name="connsiteX1" fmla="*/ 2709854 w 2709854"/>
                <a:gd name="connsiteY1" fmla="*/ 0 h 590694"/>
                <a:gd name="connsiteX2" fmla="*/ 2709854 w 2709854"/>
                <a:gd name="connsiteY2" fmla="*/ 590694 h 590694"/>
                <a:gd name="connsiteX3" fmla="*/ 0 w 2709854"/>
                <a:gd name="connsiteY3" fmla="*/ 590694 h 590694"/>
                <a:gd name="connsiteX4" fmla="*/ 0 w 2709854"/>
                <a:gd name="connsiteY4" fmla="*/ 0 h 590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854" h="590694" extrusionOk="0">
                  <a:moveTo>
                    <a:pt x="0" y="0"/>
                  </a:moveTo>
                  <a:lnTo>
                    <a:pt x="2709854" y="0"/>
                  </a:lnTo>
                  <a:lnTo>
                    <a:pt x="2709854" y="590694"/>
                  </a:lnTo>
                  <a:lnTo>
                    <a:pt x="0" y="590694"/>
                  </a:lnTo>
                  <a:lnTo>
                    <a:pt x="0" y="0"/>
                  </a:lnTo>
                  <a:close/>
                </a:path>
              </a:pathLst>
            </a:custGeom>
            <a:noFill/>
            <a:ln w="1270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en-US"/>
            </a:p>
          </p:txBody>
        </p:sp>
      </p:grpSp>
      <p:grpSp>
        <p:nvGrpSpPr>
          <p:cNvPr id="28" name="Group 27"/>
          <p:cNvGrpSpPr/>
          <p:nvPr/>
        </p:nvGrpSpPr>
        <p:grpSpPr bwMode="auto">
          <a:xfrm>
            <a:off x="3251158" y="3329358"/>
            <a:ext cx="2731689" cy="961903"/>
            <a:chOff x="3683000" y="3310714"/>
            <a:chExt cx="2731689" cy="961903"/>
          </a:xfrm>
        </p:grpSpPr>
        <p:sp>
          <p:nvSpPr>
            <p:cNvPr id="9" name="TextBox 8"/>
            <p:cNvSpPr txBox="1"/>
            <p:nvPr/>
          </p:nvSpPr>
          <p:spPr bwMode="auto">
            <a:xfrm>
              <a:off x="3683000" y="3310714"/>
              <a:ext cx="2710800" cy="369332"/>
            </a:xfrm>
            <a:prstGeom prst="rect">
              <a:avLst/>
            </a:prstGeom>
            <a:solidFill>
              <a:schemeClr val="accent2"/>
            </a:solidFill>
            <a:ln w="12700">
              <a:solidFill>
                <a:schemeClr val="accent2"/>
              </a:solidFill>
            </a:ln>
          </p:spPr>
          <p:style>
            <a:lnRef idx="0">
              <a:srgbClr val="000000"/>
            </a:lnRef>
            <a:fillRef idx="0">
              <a:srgbClr val="000000"/>
            </a:fillRef>
            <a:effectRef idx="0">
              <a:srgbClr val="000000"/>
            </a:effectRef>
            <a:fontRef idx="minor">
              <a:schemeClr val="lt1"/>
            </a:fontRef>
          </p:style>
          <p:txBody>
            <a:bodyPr wrap="none" rtlCol="0">
              <a:spAutoFit/>
            </a:bodyPr>
            <a:lstStyle/>
            <a:p>
              <a:pPr>
                <a:defRPr/>
              </a:pPr>
              <a:r>
                <a:rPr lang="zh-CN"/>
                <a:t>系统视图</a:t>
              </a:r>
              <a:endParaRPr lang="en-US"/>
            </a:p>
          </p:txBody>
        </p:sp>
        <p:sp>
          <p:nvSpPr>
            <p:cNvPr id="17" name="TextBox 16"/>
            <p:cNvSpPr txBox="1"/>
            <p:nvPr/>
          </p:nvSpPr>
          <p:spPr bwMode="auto">
            <a:xfrm>
              <a:off x="3683000" y="3681923"/>
              <a:ext cx="2731689" cy="369332"/>
            </a:xfrm>
            <a:prstGeom prst="rect">
              <a:avLst/>
            </a:prstGeom>
            <a:noFill/>
          </p:spPr>
          <p:txBody>
            <a:bodyPr wrap="square" rtlCol="0">
              <a:spAutoFit/>
            </a:bodyPr>
            <a:lstStyle/>
            <a:p>
              <a:pPr>
                <a:defRPr/>
              </a:pPr>
              <a:r>
                <a:rPr lang="en-US">
                  <a:latin typeface="Courier New"/>
                  <a:cs typeface="Courier New"/>
                </a:rPr>
                <a:t>[Quidway]</a:t>
              </a:r>
              <a:endParaRPr/>
            </a:p>
          </p:txBody>
        </p:sp>
        <p:sp>
          <p:nvSpPr>
            <p:cNvPr id="18" name="Rectangle 17"/>
            <p:cNvSpPr/>
            <p:nvPr/>
          </p:nvSpPr>
          <p:spPr bwMode="auto">
            <a:xfrm>
              <a:off x="3683000" y="3681923"/>
              <a:ext cx="2709854" cy="590694"/>
            </a:xfrm>
            <a:prstGeom prst="rect">
              <a:avLst/>
            </a:prstGeom>
            <a:noFill/>
            <a:ln w="12700" cap="flat" cmpd="sng" algn="ctr">
              <a:solidFill>
                <a:schemeClr val="accent2"/>
              </a:solidFill>
              <a:prstDash val="solid"/>
              <a:round/>
              <a:headEnd type="none" w="med" len="med"/>
              <a:tailEnd type="none" w="med" len="med"/>
            </a:ln>
          </p:spPr>
          <p:style>
            <a:lnRef idx="0">
              <a:srgbClr val="000000"/>
            </a:lnRef>
            <a:fillRef idx="0">
              <a:srgbClr val="000000"/>
            </a:fillRef>
            <a:effectRef idx="0">
              <a:srgbClr val="000000"/>
            </a:effectRef>
            <a:fontRef idx="minor">
              <a:schemeClr val="accent2"/>
            </a:fontRef>
          </p:style>
          <p:txBody>
            <a:bodyPr rtlCol="0" anchor="ctr"/>
            <a:lstStyle/>
            <a:p>
              <a:pPr algn="ctr">
                <a:defRPr/>
              </a:pPr>
              <a:endParaRPr lang="en-US"/>
            </a:p>
          </p:txBody>
        </p:sp>
      </p:grpSp>
      <p:grpSp>
        <p:nvGrpSpPr>
          <p:cNvPr id="30" name="Group 29"/>
          <p:cNvGrpSpPr/>
          <p:nvPr/>
        </p:nvGrpSpPr>
        <p:grpSpPr bwMode="auto">
          <a:xfrm>
            <a:off x="5108062" y="4914115"/>
            <a:ext cx="3617103" cy="960026"/>
            <a:chOff x="1211574" y="4921784"/>
            <a:chExt cx="3617103" cy="960026"/>
          </a:xfrm>
        </p:grpSpPr>
        <p:sp>
          <p:nvSpPr>
            <p:cNvPr id="10" name="TextBox 9"/>
            <p:cNvSpPr txBox="1"/>
            <p:nvPr/>
          </p:nvSpPr>
          <p:spPr bwMode="auto">
            <a:xfrm>
              <a:off x="1211575" y="4921784"/>
              <a:ext cx="3617102" cy="369332"/>
            </a:xfrm>
            <a:prstGeom prst="rect">
              <a:avLst/>
            </a:prstGeom>
            <a:solidFill>
              <a:schemeClr val="accent3"/>
            </a:solidFill>
            <a:ln w="12700">
              <a:solidFill>
                <a:schemeClr val="accent3"/>
              </a:solidFill>
            </a:ln>
          </p:spPr>
          <p:style>
            <a:lnRef idx="0">
              <a:srgbClr val="000000"/>
            </a:lnRef>
            <a:fillRef idx="0">
              <a:srgbClr val="000000"/>
            </a:fillRef>
            <a:effectRef idx="0">
              <a:srgbClr val="000000"/>
            </a:effectRef>
            <a:fontRef idx="minor">
              <a:schemeClr val="lt1"/>
            </a:fontRef>
          </p:style>
          <p:txBody>
            <a:bodyPr wrap="square" rtlCol="0">
              <a:spAutoFit/>
            </a:bodyPr>
            <a:lstStyle/>
            <a:p>
              <a:pPr>
                <a:defRPr/>
              </a:pPr>
              <a:r>
                <a:rPr lang="zh-CN"/>
                <a:t>接口视图</a:t>
              </a:r>
              <a:endParaRPr lang="en-US"/>
            </a:p>
          </p:txBody>
        </p:sp>
        <p:sp>
          <p:nvSpPr>
            <p:cNvPr id="20" name="TextBox 19"/>
            <p:cNvSpPr txBox="1"/>
            <p:nvPr/>
          </p:nvSpPr>
          <p:spPr bwMode="auto">
            <a:xfrm>
              <a:off x="1211575" y="5291116"/>
              <a:ext cx="3617103" cy="369332"/>
            </a:xfrm>
            <a:prstGeom prst="rect">
              <a:avLst/>
            </a:prstGeom>
            <a:noFill/>
          </p:spPr>
          <p:txBody>
            <a:bodyPr wrap="square" rtlCol="0">
              <a:spAutoFit/>
            </a:bodyPr>
            <a:lstStyle/>
            <a:p>
              <a:pPr>
                <a:defRPr/>
              </a:pPr>
              <a:r>
                <a:rPr lang="en-US">
                  <a:latin typeface="Courier New"/>
                  <a:cs typeface="Courier New"/>
                </a:rPr>
                <a:t>[Quidway-Ethernet1/0/1] </a:t>
              </a:r>
              <a:endParaRPr/>
            </a:p>
          </p:txBody>
        </p:sp>
        <p:sp>
          <p:nvSpPr>
            <p:cNvPr id="21" name="Rectangle 20"/>
            <p:cNvSpPr/>
            <p:nvPr/>
          </p:nvSpPr>
          <p:spPr bwMode="auto">
            <a:xfrm>
              <a:off x="1211574" y="5291116"/>
              <a:ext cx="3617103" cy="590694"/>
            </a:xfrm>
            <a:prstGeom prst="rect">
              <a:avLst/>
            </a:prstGeom>
            <a:noFill/>
            <a:ln w="12700" cap="flat" cmpd="sng" algn="ctr">
              <a:solidFill>
                <a:schemeClr val="accent3"/>
              </a:solidFill>
              <a:prstDash val="solid"/>
              <a:round/>
              <a:headEnd type="none" w="med" len="med"/>
              <a:tailEnd type="none" w="med" len="med"/>
            </a:ln>
          </p:spPr>
          <p:style>
            <a:lnRef idx="0">
              <a:srgbClr val="000000"/>
            </a:lnRef>
            <a:fillRef idx="0">
              <a:srgbClr val="000000"/>
            </a:fillRef>
            <a:effectRef idx="0">
              <a:srgbClr val="000000"/>
            </a:effectRef>
            <a:fontRef idx="minor">
              <a:schemeClr val="accent3"/>
            </a:fontRef>
          </p:style>
          <p:txBody>
            <a:bodyPr rtlCol="0" anchor="ctr"/>
            <a:lstStyle/>
            <a:p>
              <a:pPr algn="ctr">
                <a:defRPr/>
              </a:pPr>
              <a:endParaRPr lang="en-US"/>
            </a:p>
          </p:txBody>
        </p:sp>
      </p:grpSp>
      <p:grpSp>
        <p:nvGrpSpPr>
          <p:cNvPr id="29" name="Group 28"/>
          <p:cNvGrpSpPr/>
          <p:nvPr/>
        </p:nvGrpSpPr>
        <p:grpSpPr bwMode="auto">
          <a:xfrm>
            <a:off x="1187120" y="4906001"/>
            <a:ext cx="2731690" cy="964032"/>
            <a:chOff x="5464250" y="4917778"/>
            <a:chExt cx="2731690" cy="964032"/>
          </a:xfrm>
        </p:grpSpPr>
        <p:sp>
          <p:nvSpPr>
            <p:cNvPr id="11" name="TextBox 10"/>
            <p:cNvSpPr txBox="1"/>
            <p:nvPr/>
          </p:nvSpPr>
          <p:spPr bwMode="auto">
            <a:xfrm>
              <a:off x="5464250" y="4917778"/>
              <a:ext cx="2709854" cy="369332"/>
            </a:xfrm>
            <a:prstGeom prst="rect">
              <a:avLst/>
            </a:prstGeom>
            <a:solidFill>
              <a:schemeClr val="accent5"/>
            </a:solidFill>
            <a:ln w="12700">
              <a:solidFill>
                <a:schemeClr val="accent5"/>
              </a:solidFill>
            </a:ln>
          </p:spPr>
          <p:style>
            <a:lnRef idx="0">
              <a:srgbClr val="000000"/>
            </a:lnRef>
            <a:fillRef idx="0">
              <a:srgbClr val="000000"/>
            </a:fillRef>
            <a:effectRef idx="0">
              <a:srgbClr val="000000"/>
            </a:effectRef>
            <a:fontRef idx="minor">
              <a:schemeClr val="lt1"/>
            </a:fontRef>
          </p:style>
          <p:txBody>
            <a:bodyPr wrap="square" rtlCol="0">
              <a:spAutoFit/>
            </a:bodyPr>
            <a:lstStyle/>
            <a:p>
              <a:pPr>
                <a:defRPr/>
              </a:pPr>
              <a:r>
                <a:rPr lang="en-US"/>
                <a:t>VLAN</a:t>
              </a:r>
              <a:r>
                <a:rPr lang="zh-CN"/>
                <a:t>视图</a:t>
              </a:r>
              <a:endParaRPr lang="en-US"/>
            </a:p>
          </p:txBody>
        </p:sp>
        <p:sp>
          <p:nvSpPr>
            <p:cNvPr id="24" name="TextBox 23"/>
            <p:cNvSpPr txBox="1"/>
            <p:nvPr/>
          </p:nvSpPr>
          <p:spPr bwMode="auto">
            <a:xfrm>
              <a:off x="5464251" y="5291116"/>
              <a:ext cx="2731689" cy="369332"/>
            </a:xfrm>
            <a:prstGeom prst="rect">
              <a:avLst/>
            </a:prstGeom>
            <a:noFill/>
          </p:spPr>
          <p:txBody>
            <a:bodyPr wrap="square" rtlCol="0">
              <a:spAutoFit/>
            </a:bodyPr>
            <a:lstStyle/>
            <a:p>
              <a:pPr>
                <a:defRPr/>
              </a:pPr>
              <a:r>
                <a:rPr lang="en-US">
                  <a:solidFill>
                    <a:srgbClr val="000000"/>
                  </a:solidFill>
                  <a:latin typeface="CourierNewPSMT"/>
                </a:rPr>
                <a:t>[Quidway-vlan1]</a:t>
              </a:r>
              <a:endParaRPr lang="en-US"/>
            </a:p>
          </p:txBody>
        </p:sp>
        <p:sp>
          <p:nvSpPr>
            <p:cNvPr id="25" name="Rectangle 24"/>
            <p:cNvSpPr/>
            <p:nvPr/>
          </p:nvSpPr>
          <p:spPr bwMode="auto">
            <a:xfrm>
              <a:off x="5464251" y="5291116"/>
              <a:ext cx="2709854" cy="590694"/>
            </a:xfrm>
            <a:prstGeom prst="rect">
              <a:avLst/>
            </a:prstGeom>
            <a:noFill/>
            <a:ln w="12700" cap="flat" cmpd="sng" algn="ctr">
              <a:solidFill>
                <a:schemeClr val="accent5"/>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en-US"/>
            </a:p>
          </p:txBody>
        </p:sp>
      </p:grpSp>
      <p:cxnSp>
        <p:nvCxnSpPr>
          <p:cNvPr id="33" name="Straight Arrow Connector 32"/>
          <p:cNvCxnSpPr>
            <a:cxnSpLocks/>
          </p:cNvCxnSpPr>
          <p:nvPr/>
        </p:nvCxnSpPr>
        <p:spPr bwMode="auto">
          <a:xfrm>
            <a:off x="3369716" y="4291261"/>
            <a:ext cx="0" cy="622854"/>
          </a:xfrm>
          <a:prstGeom prst="straightConnector1">
            <a:avLst/>
          </a:prstGeom>
          <a:ln w="28575">
            <a:headEnd type="none" w="med" len="med"/>
            <a:tailEnd type="arrow" w="med" len="med"/>
          </a:ln>
        </p:spPr>
        <p:style>
          <a:lnRef idx="2">
            <a:schemeClr val="accent6"/>
          </a:lnRef>
          <a:fillRef idx="0">
            <a:schemeClr val="accent6"/>
          </a:fillRef>
          <a:effectRef idx="1">
            <a:schemeClr val="accent6"/>
          </a:effectRef>
          <a:fontRef idx="minor">
            <a:schemeClr val="tx1"/>
          </a:fontRef>
        </p:style>
      </p:cxnSp>
      <p:sp>
        <p:nvSpPr>
          <p:cNvPr id="36" name="TextBox 35"/>
          <p:cNvSpPr txBox="1"/>
          <p:nvPr/>
        </p:nvSpPr>
        <p:spPr bwMode="auto">
          <a:xfrm>
            <a:off x="782005" y="4339475"/>
            <a:ext cx="2579253" cy="369332"/>
          </a:xfrm>
          <a:prstGeom prst="rect">
            <a:avLst/>
          </a:prstGeom>
          <a:noFill/>
        </p:spPr>
        <p:txBody>
          <a:bodyPr wrap="square" rtlCol="0">
            <a:spAutoFit/>
          </a:bodyPr>
          <a:lstStyle/>
          <a:p>
            <a:pPr>
              <a:defRPr/>
            </a:pPr>
            <a:r>
              <a:rPr lang="en-US">
                <a:latin typeface="Courier New"/>
                <a:cs typeface="Courier New"/>
              </a:rPr>
              <a:t>[Quidway] vlan 1</a:t>
            </a:r>
          </a:p>
        </p:txBody>
      </p:sp>
      <p:sp>
        <p:nvSpPr>
          <p:cNvPr id="37" name="TextBox 36"/>
          <p:cNvSpPr txBox="1"/>
          <p:nvPr/>
        </p:nvSpPr>
        <p:spPr bwMode="auto">
          <a:xfrm>
            <a:off x="3841044" y="4350000"/>
            <a:ext cx="3050812" cy="369332"/>
          </a:xfrm>
          <a:prstGeom prst="rect">
            <a:avLst/>
          </a:prstGeom>
          <a:noFill/>
        </p:spPr>
        <p:txBody>
          <a:bodyPr wrap="square" rtlCol="0">
            <a:spAutoFit/>
          </a:bodyPr>
          <a:lstStyle/>
          <a:p>
            <a:pPr>
              <a:defRPr/>
            </a:pPr>
            <a:r>
              <a:rPr lang="en-US">
                <a:solidFill>
                  <a:srgbClr val="000000"/>
                </a:solidFill>
                <a:latin typeface="CourierNewPSMT"/>
              </a:rPr>
              <a:t>[Quidway-vlan1] quit</a:t>
            </a:r>
            <a:endParaRPr lang="en-US"/>
          </a:p>
        </p:txBody>
      </p:sp>
      <p:cxnSp>
        <p:nvCxnSpPr>
          <p:cNvPr id="38" name="Straight Arrow Connector 37"/>
          <p:cNvCxnSpPr>
            <a:cxnSpLocks/>
          </p:cNvCxnSpPr>
          <p:nvPr/>
        </p:nvCxnSpPr>
        <p:spPr bwMode="auto">
          <a:xfrm flipV="1">
            <a:off x="3759191" y="4291261"/>
            <a:ext cx="0" cy="614740"/>
          </a:xfrm>
          <a:prstGeom prst="straightConnector1">
            <a:avLst/>
          </a:prstGeom>
          <a:ln w="28575">
            <a:headEnd type="none" w="med" len="med"/>
            <a:tailEnd type="arrow" w="med" len="med"/>
          </a:ln>
        </p:spPr>
        <p:style>
          <a:lnRef idx="2">
            <a:schemeClr val="accent6"/>
          </a:lnRef>
          <a:fillRef idx="0">
            <a:schemeClr val="accent6"/>
          </a:fillRef>
          <a:effectRef idx="1">
            <a:schemeClr val="accent6"/>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1. </a:t>
            </a:r>
            <a:r>
              <a:rPr lang="zh-CN"/>
              <a:t>登录交换机</a:t>
            </a:r>
            <a:endParaRPr lang="en-US"/>
          </a:p>
        </p:txBody>
      </p:sp>
      <p:sp>
        <p:nvSpPr>
          <p:cNvPr id="31" name="Content Placeholder 2"/>
          <p:cNvSpPr>
            <a:spLocks noGrp="1"/>
          </p:cNvSpPr>
          <p:nvPr>
            <p:ph idx="1"/>
          </p:nvPr>
        </p:nvSpPr>
        <p:spPr bwMode="auto"/>
        <p:txBody>
          <a:bodyPr/>
          <a:lstStyle/>
          <a:p>
            <a:pPr marL="447675" lvl="1" indent="-358775">
              <a:buFont typeface="+mj-lt"/>
              <a:buAutoNum type="arabicParenR" startAt="5"/>
              <a:defRPr/>
            </a:pPr>
            <a:r>
              <a:rPr lang="zh-CN"/>
              <a:t>了解控制界面切换的指令。</a:t>
            </a:r>
            <a:endParaRPr lang="en-US"/>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13</a:t>
            </a:fld>
            <a:endParaRPr lang="en-US"/>
          </a:p>
        </p:txBody>
      </p:sp>
      <p:grpSp>
        <p:nvGrpSpPr>
          <p:cNvPr id="27" name="Group 26"/>
          <p:cNvGrpSpPr/>
          <p:nvPr/>
        </p:nvGrpSpPr>
        <p:grpSpPr bwMode="auto">
          <a:xfrm>
            <a:off x="3251157" y="1812202"/>
            <a:ext cx="2731690" cy="960026"/>
            <a:chOff x="3682999" y="1828799"/>
            <a:chExt cx="2731690" cy="960026"/>
          </a:xfrm>
        </p:grpSpPr>
        <p:sp>
          <p:nvSpPr>
            <p:cNvPr id="8" name="TextBox 7"/>
            <p:cNvSpPr txBox="1"/>
            <p:nvPr/>
          </p:nvSpPr>
          <p:spPr bwMode="auto">
            <a:xfrm>
              <a:off x="3682999" y="1828799"/>
              <a:ext cx="2710800" cy="369332"/>
            </a:xfrm>
            <a:prstGeom prst="rect">
              <a:avLst/>
            </a:prstGeom>
            <a:solidFill>
              <a:schemeClr val="accent1"/>
            </a:solidFill>
            <a:ln w="12700">
              <a:solidFill>
                <a:schemeClr val="accent1"/>
              </a:solidFill>
            </a:ln>
          </p:spPr>
          <p:style>
            <a:lnRef idx="0">
              <a:srgbClr val="000000"/>
            </a:lnRef>
            <a:fillRef idx="0">
              <a:srgbClr val="000000"/>
            </a:fillRef>
            <a:effectRef idx="0">
              <a:srgbClr val="000000"/>
            </a:effectRef>
            <a:fontRef idx="minor">
              <a:schemeClr val="lt1"/>
            </a:fontRef>
          </p:style>
          <p:txBody>
            <a:bodyPr wrap="square" rtlCol="0">
              <a:spAutoFit/>
            </a:bodyPr>
            <a:lstStyle/>
            <a:p>
              <a:pPr>
                <a:defRPr/>
              </a:pPr>
              <a:r>
                <a:rPr lang="zh-CN"/>
                <a:t>用户视图</a:t>
              </a:r>
              <a:endParaRPr lang="en-US"/>
            </a:p>
          </p:txBody>
        </p:sp>
        <p:sp>
          <p:nvSpPr>
            <p:cNvPr id="12" name="TextBox 11"/>
            <p:cNvSpPr txBox="1"/>
            <p:nvPr/>
          </p:nvSpPr>
          <p:spPr bwMode="auto">
            <a:xfrm>
              <a:off x="3683000" y="2198131"/>
              <a:ext cx="2731689" cy="369332"/>
            </a:xfrm>
            <a:prstGeom prst="rect">
              <a:avLst/>
            </a:prstGeom>
            <a:noFill/>
          </p:spPr>
          <p:txBody>
            <a:bodyPr wrap="square" rtlCol="0">
              <a:spAutoFit/>
            </a:bodyPr>
            <a:lstStyle/>
            <a:p>
              <a:pPr>
                <a:defRPr/>
              </a:pPr>
              <a:r>
                <a:rPr lang="en-US">
                  <a:latin typeface="Courier New"/>
                  <a:cs typeface="Courier New"/>
                </a:rPr>
                <a:t>&lt;Quidway&gt;</a:t>
              </a:r>
              <a:endParaRPr/>
            </a:p>
          </p:txBody>
        </p:sp>
        <p:sp>
          <p:nvSpPr>
            <p:cNvPr id="13" name="Rectangle 12"/>
            <p:cNvSpPr/>
            <p:nvPr/>
          </p:nvSpPr>
          <p:spPr bwMode="auto">
            <a:xfrm>
              <a:off x="3683000" y="2198131"/>
              <a:ext cx="2709854" cy="590694"/>
            </a:xfrm>
            <a:custGeom>
              <a:avLst/>
              <a:gdLst>
                <a:gd name="connsiteX0" fmla="*/ 0 w 2709854"/>
                <a:gd name="connsiteY0" fmla="*/ 0 h 590694"/>
                <a:gd name="connsiteX1" fmla="*/ 2709854 w 2709854"/>
                <a:gd name="connsiteY1" fmla="*/ 0 h 590694"/>
                <a:gd name="connsiteX2" fmla="*/ 2709854 w 2709854"/>
                <a:gd name="connsiteY2" fmla="*/ 590694 h 590694"/>
                <a:gd name="connsiteX3" fmla="*/ 0 w 2709854"/>
                <a:gd name="connsiteY3" fmla="*/ 590694 h 590694"/>
                <a:gd name="connsiteX4" fmla="*/ 0 w 2709854"/>
                <a:gd name="connsiteY4" fmla="*/ 0 h 590694"/>
                <a:gd name="connsiteX0" fmla="*/ 0 w 2709854"/>
                <a:gd name="connsiteY0" fmla="*/ 0 h 590694"/>
                <a:gd name="connsiteX1" fmla="*/ 2709854 w 2709854"/>
                <a:gd name="connsiteY1" fmla="*/ 0 h 590694"/>
                <a:gd name="connsiteX2" fmla="*/ 2709854 w 2709854"/>
                <a:gd name="connsiteY2" fmla="*/ 590694 h 590694"/>
                <a:gd name="connsiteX3" fmla="*/ 0 w 2709854"/>
                <a:gd name="connsiteY3" fmla="*/ 590694 h 590694"/>
                <a:gd name="connsiteX4" fmla="*/ 0 w 2709854"/>
                <a:gd name="connsiteY4" fmla="*/ 0 h 590694"/>
                <a:gd name="connsiteX0" fmla="*/ 0 w 2709854"/>
                <a:gd name="connsiteY0" fmla="*/ 0 h 590694"/>
                <a:gd name="connsiteX1" fmla="*/ 2709854 w 2709854"/>
                <a:gd name="connsiteY1" fmla="*/ 0 h 590694"/>
                <a:gd name="connsiteX2" fmla="*/ 2709854 w 2709854"/>
                <a:gd name="connsiteY2" fmla="*/ 590694 h 590694"/>
                <a:gd name="connsiteX3" fmla="*/ 660434 w 2709854"/>
                <a:gd name="connsiteY3" fmla="*/ 587066 h 590694"/>
                <a:gd name="connsiteX4" fmla="*/ 0 w 2709854"/>
                <a:gd name="connsiteY4" fmla="*/ 590694 h 590694"/>
                <a:gd name="connsiteX5" fmla="*/ 0 w 2709854"/>
                <a:gd name="connsiteY5" fmla="*/ 0 h 590694"/>
                <a:gd name="connsiteX0" fmla="*/ 0 w 2709854"/>
                <a:gd name="connsiteY0" fmla="*/ 0 h 590694"/>
                <a:gd name="connsiteX1" fmla="*/ 2709854 w 2709854"/>
                <a:gd name="connsiteY1" fmla="*/ 0 h 590694"/>
                <a:gd name="connsiteX2" fmla="*/ 2709854 w 2709854"/>
                <a:gd name="connsiteY2" fmla="*/ 590694 h 590694"/>
                <a:gd name="connsiteX3" fmla="*/ 2125167 w 2709854"/>
                <a:gd name="connsiteY3" fmla="*/ 587066 h 590694"/>
                <a:gd name="connsiteX4" fmla="*/ 660434 w 2709854"/>
                <a:gd name="connsiteY4" fmla="*/ 587066 h 590694"/>
                <a:gd name="connsiteX5" fmla="*/ 0 w 2709854"/>
                <a:gd name="connsiteY5" fmla="*/ 590694 h 590694"/>
                <a:gd name="connsiteX6" fmla="*/ 0 w 2709854"/>
                <a:gd name="connsiteY6" fmla="*/ 0 h 590694"/>
                <a:gd name="connsiteX0" fmla="*/ 0 w 2709854"/>
                <a:gd name="connsiteY0" fmla="*/ 0 h 590694"/>
                <a:gd name="connsiteX1" fmla="*/ 2709854 w 2709854"/>
                <a:gd name="connsiteY1" fmla="*/ 0 h 590694"/>
                <a:gd name="connsiteX2" fmla="*/ 2709854 w 2709854"/>
                <a:gd name="connsiteY2" fmla="*/ 590694 h 590694"/>
                <a:gd name="connsiteX3" fmla="*/ 2125167 w 2709854"/>
                <a:gd name="connsiteY3" fmla="*/ 587066 h 590694"/>
                <a:gd name="connsiteX4" fmla="*/ 0 w 2709854"/>
                <a:gd name="connsiteY4" fmla="*/ 590694 h 590694"/>
                <a:gd name="connsiteX5" fmla="*/ 0 w 2709854"/>
                <a:gd name="connsiteY5" fmla="*/ 0 h 590694"/>
                <a:gd name="connsiteX0" fmla="*/ 0 w 2709854"/>
                <a:gd name="connsiteY0" fmla="*/ 0 h 590694"/>
                <a:gd name="connsiteX1" fmla="*/ 2709854 w 2709854"/>
                <a:gd name="connsiteY1" fmla="*/ 0 h 590694"/>
                <a:gd name="connsiteX2" fmla="*/ 2709854 w 2709854"/>
                <a:gd name="connsiteY2" fmla="*/ 590694 h 590694"/>
                <a:gd name="connsiteX3" fmla="*/ 0 w 2709854"/>
                <a:gd name="connsiteY3" fmla="*/ 590694 h 590694"/>
                <a:gd name="connsiteX4" fmla="*/ 0 w 2709854"/>
                <a:gd name="connsiteY4" fmla="*/ 0 h 590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9854" h="590694" extrusionOk="0">
                  <a:moveTo>
                    <a:pt x="0" y="0"/>
                  </a:moveTo>
                  <a:lnTo>
                    <a:pt x="2709854" y="0"/>
                  </a:lnTo>
                  <a:lnTo>
                    <a:pt x="2709854" y="590694"/>
                  </a:lnTo>
                  <a:lnTo>
                    <a:pt x="0" y="590694"/>
                  </a:lnTo>
                  <a:lnTo>
                    <a:pt x="0" y="0"/>
                  </a:lnTo>
                  <a:close/>
                </a:path>
              </a:pathLst>
            </a:custGeom>
            <a:noFill/>
            <a:ln w="12700"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en-US"/>
            </a:p>
          </p:txBody>
        </p:sp>
      </p:grpSp>
      <p:grpSp>
        <p:nvGrpSpPr>
          <p:cNvPr id="28" name="Group 27"/>
          <p:cNvGrpSpPr/>
          <p:nvPr/>
        </p:nvGrpSpPr>
        <p:grpSpPr bwMode="auto">
          <a:xfrm>
            <a:off x="3251158" y="3329358"/>
            <a:ext cx="2731689" cy="961903"/>
            <a:chOff x="3683000" y="3310714"/>
            <a:chExt cx="2731689" cy="961903"/>
          </a:xfrm>
        </p:grpSpPr>
        <p:sp>
          <p:nvSpPr>
            <p:cNvPr id="9" name="TextBox 8"/>
            <p:cNvSpPr txBox="1"/>
            <p:nvPr/>
          </p:nvSpPr>
          <p:spPr bwMode="auto">
            <a:xfrm>
              <a:off x="3683000" y="3310714"/>
              <a:ext cx="2710800" cy="369332"/>
            </a:xfrm>
            <a:prstGeom prst="rect">
              <a:avLst/>
            </a:prstGeom>
            <a:solidFill>
              <a:schemeClr val="accent2"/>
            </a:solidFill>
            <a:ln w="12700">
              <a:solidFill>
                <a:schemeClr val="accent2"/>
              </a:solidFill>
            </a:ln>
          </p:spPr>
          <p:style>
            <a:lnRef idx="0">
              <a:srgbClr val="000000"/>
            </a:lnRef>
            <a:fillRef idx="0">
              <a:srgbClr val="000000"/>
            </a:fillRef>
            <a:effectRef idx="0">
              <a:srgbClr val="000000"/>
            </a:effectRef>
            <a:fontRef idx="minor">
              <a:schemeClr val="lt1"/>
            </a:fontRef>
          </p:style>
          <p:txBody>
            <a:bodyPr wrap="none" rtlCol="0">
              <a:spAutoFit/>
            </a:bodyPr>
            <a:lstStyle/>
            <a:p>
              <a:pPr>
                <a:defRPr/>
              </a:pPr>
              <a:r>
                <a:rPr lang="zh-CN"/>
                <a:t>系统视图</a:t>
              </a:r>
              <a:endParaRPr lang="en-US"/>
            </a:p>
          </p:txBody>
        </p:sp>
        <p:sp>
          <p:nvSpPr>
            <p:cNvPr id="17" name="TextBox 16"/>
            <p:cNvSpPr txBox="1"/>
            <p:nvPr/>
          </p:nvSpPr>
          <p:spPr bwMode="auto">
            <a:xfrm>
              <a:off x="3683000" y="3681923"/>
              <a:ext cx="2731689" cy="369332"/>
            </a:xfrm>
            <a:prstGeom prst="rect">
              <a:avLst/>
            </a:prstGeom>
            <a:noFill/>
          </p:spPr>
          <p:txBody>
            <a:bodyPr wrap="square" rtlCol="0">
              <a:spAutoFit/>
            </a:bodyPr>
            <a:lstStyle/>
            <a:p>
              <a:pPr>
                <a:defRPr/>
              </a:pPr>
              <a:r>
                <a:rPr lang="en-US">
                  <a:latin typeface="Courier New"/>
                  <a:cs typeface="Courier New"/>
                </a:rPr>
                <a:t>[Quidway]</a:t>
              </a:r>
              <a:endParaRPr/>
            </a:p>
          </p:txBody>
        </p:sp>
        <p:sp>
          <p:nvSpPr>
            <p:cNvPr id="18" name="Rectangle 17"/>
            <p:cNvSpPr/>
            <p:nvPr/>
          </p:nvSpPr>
          <p:spPr bwMode="auto">
            <a:xfrm>
              <a:off x="3683000" y="3681923"/>
              <a:ext cx="2709854" cy="590694"/>
            </a:xfrm>
            <a:prstGeom prst="rect">
              <a:avLst/>
            </a:prstGeom>
            <a:noFill/>
            <a:ln w="12700" cap="flat" cmpd="sng" algn="ctr">
              <a:solidFill>
                <a:schemeClr val="accent2"/>
              </a:solidFill>
              <a:prstDash val="solid"/>
              <a:round/>
              <a:headEnd type="none" w="med" len="med"/>
              <a:tailEnd type="none" w="med" len="med"/>
            </a:ln>
          </p:spPr>
          <p:style>
            <a:lnRef idx="0">
              <a:srgbClr val="000000"/>
            </a:lnRef>
            <a:fillRef idx="0">
              <a:srgbClr val="000000"/>
            </a:fillRef>
            <a:effectRef idx="0">
              <a:srgbClr val="000000"/>
            </a:effectRef>
            <a:fontRef idx="minor">
              <a:schemeClr val="accent2"/>
            </a:fontRef>
          </p:style>
          <p:txBody>
            <a:bodyPr rtlCol="0" anchor="ctr"/>
            <a:lstStyle/>
            <a:p>
              <a:pPr algn="ctr">
                <a:defRPr/>
              </a:pPr>
              <a:endParaRPr lang="en-US"/>
            </a:p>
          </p:txBody>
        </p:sp>
      </p:grpSp>
      <p:grpSp>
        <p:nvGrpSpPr>
          <p:cNvPr id="30" name="Group 29"/>
          <p:cNvGrpSpPr/>
          <p:nvPr/>
        </p:nvGrpSpPr>
        <p:grpSpPr bwMode="auto">
          <a:xfrm>
            <a:off x="5108062" y="4914115"/>
            <a:ext cx="3617103" cy="960026"/>
            <a:chOff x="1211574" y="4921784"/>
            <a:chExt cx="3617103" cy="960026"/>
          </a:xfrm>
        </p:grpSpPr>
        <p:sp>
          <p:nvSpPr>
            <p:cNvPr id="10" name="TextBox 9"/>
            <p:cNvSpPr txBox="1"/>
            <p:nvPr/>
          </p:nvSpPr>
          <p:spPr bwMode="auto">
            <a:xfrm>
              <a:off x="1211575" y="4921784"/>
              <a:ext cx="3617102" cy="369332"/>
            </a:xfrm>
            <a:prstGeom prst="rect">
              <a:avLst/>
            </a:prstGeom>
            <a:solidFill>
              <a:schemeClr val="accent3"/>
            </a:solidFill>
            <a:ln w="12700">
              <a:solidFill>
                <a:schemeClr val="accent3"/>
              </a:solidFill>
            </a:ln>
          </p:spPr>
          <p:style>
            <a:lnRef idx="0">
              <a:srgbClr val="000000"/>
            </a:lnRef>
            <a:fillRef idx="0">
              <a:srgbClr val="000000"/>
            </a:fillRef>
            <a:effectRef idx="0">
              <a:srgbClr val="000000"/>
            </a:effectRef>
            <a:fontRef idx="minor">
              <a:schemeClr val="lt1"/>
            </a:fontRef>
          </p:style>
          <p:txBody>
            <a:bodyPr wrap="square" rtlCol="0">
              <a:spAutoFit/>
            </a:bodyPr>
            <a:lstStyle/>
            <a:p>
              <a:pPr>
                <a:defRPr/>
              </a:pPr>
              <a:r>
                <a:rPr lang="zh-CN"/>
                <a:t>接口视图</a:t>
              </a:r>
              <a:endParaRPr lang="en-US"/>
            </a:p>
          </p:txBody>
        </p:sp>
        <p:sp>
          <p:nvSpPr>
            <p:cNvPr id="20" name="TextBox 19"/>
            <p:cNvSpPr txBox="1"/>
            <p:nvPr/>
          </p:nvSpPr>
          <p:spPr bwMode="auto">
            <a:xfrm>
              <a:off x="1211575" y="5291116"/>
              <a:ext cx="3617103" cy="369332"/>
            </a:xfrm>
            <a:prstGeom prst="rect">
              <a:avLst/>
            </a:prstGeom>
            <a:noFill/>
          </p:spPr>
          <p:txBody>
            <a:bodyPr wrap="square" rtlCol="0">
              <a:spAutoFit/>
            </a:bodyPr>
            <a:lstStyle/>
            <a:p>
              <a:pPr>
                <a:defRPr/>
              </a:pPr>
              <a:r>
                <a:rPr lang="en-US">
                  <a:latin typeface="Courier New"/>
                  <a:cs typeface="Courier New"/>
                </a:rPr>
                <a:t>[Quidway-Ethernet1/0/1] </a:t>
              </a:r>
              <a:endParaRPr/>
            </a:p>
          </p:txBody>
        </p:sp>
        <p:sp>
          <p:nvSpPr>
            <p:cNvPr id="21" name="Rectangle 20"/>
            <p:cNvSpPr/>
            <p:nvPr/>
          </p:nvSpPr>
          <p:spPr bwMode="auto">
            <a:xfrm>
              <a:off x="1211574" y="5291116"/>
              <a:ext cx="3617103" cy="590694"/>
            </a:xfrm>
            <a:prstGeom prst="rect">
              <a:avLst/>
            </a:prstGeom>
            <a:noFill/>
            <a:ln w="12700" cap="flat" cmpd="sng" algn="ctr">
              <a:solidFill>
                <a:schemeClr val="accent3"/>
              </a:solidFill>
              <a:prstDash val="solid"/>
              <a:round/>
              <a:headEnd type="none" w="med" len="med"/>
              <a:tailEnd type="none" w="med" len="med"/>
            </a:ln>
          </p:spPr>
          <p:style>
            <a:lnRef idx="0">
              <a:srgbClr val="000000"/>
            </a:lnRef>
            <a:fillRef idx="0">
              <a:srgbClr val="000000"/>
            </a:fillRef>
            <a:effectRef idx="0">
              <a:srgbClr val="000000"/>
            </a:effectRef>
            <a:fontRef idx="minor">
              <a:schemeClr val="accent3"/>
            </a:fontRef>
          </p:style>
          <p:txBody>
            <a:bodyPr rtlCol="0" anchor="ctr"/>
            <a:lstStyle/>
            <a:p>
              <a:pPr algn="ctr">
                <a:defRPr/>
              </a:pPr>
              <a:endParaRPr lang="en-US"/>
            </a:p>
          </p:txBody>
        </p:sp>
      </p:grpSp>
      <p:grpSp>
        <p:nvGrpSpPr>
          <p:cNvPr id="29" name="Group 28"/>
          <p:cNvGrpSpPr/>
          <p:nvPr/>
        </p:nvGrpSpPr>
        <p:grpSpPr bwMode="auto">
          <a:xfrm>
            <a:off x="1187120" y="4906001"/>
            <a:ext cx="2731690" cy="964032"/>
            <a:chOff x="5464250" y="4917778"/>
            <a:chExt cx="2731690" cy="964032"/>
          </a:xfrm>
        </p:grpSpPr>
        <p:sp>
          <p:nvSpPr>
            <p:cNvPr id="11" name="TextBox 10"/>
            <p:cNvSpPr txBox="1"/>
            <p:nvPr/>
          </p:nvSpPr>
          <p:spPr bwMode="auto">
            <a:xfrm>
              <a:off x="5464250" y="4917778"/>
              <a:ext cx="2709854" cy="369332"/>
            </a:xfrm>
            <a:prstGeom prst="rect">
              <a:avLst/>
            </a:prstGeom>
            <a:solidFill>
              <a:schemeClr val="accent5"/>
            </a:solidFill>
            <a:ln w="12700">
              <a:solidFill>
                <a:schemeClr val="accent5"/>
              </a:solidFill>
            </a:ln>
          </p:spPr>
          <p:style>
            <a:lnRef idx="0">
              <a:srgbClr val="000000"/>
            </a:lnRef>
            <a:fillRef idx="0">
              <a:srgbClr val="000000"/>
            </a:fillRef>
            <a:effectRef idx="0">
              <a:srgbClr val="000000"/>
            </a:effectRef>
            <a:fontRef idx="minor">
              <a:schemeClr val="lt1"/>
            </a:fontRef>
          </p:style>
          <p:txBody>
            <a:bodyPr wrap="square" rtlCol="0">
              <a:spAutoFit/>
            </a:bodyPr>
            <a:lstStyle/>
            <a:p>
              <a:pPr>
                <a:defRPr/>
              </a:pPr>
              <a:r>
                <a:rPr lang="en-US"/>
                <a:t>VLAN</a:t>
              </a:r>
              <a:r>
                <a:rPr lang="zh-CN"/>
                <a:t>视图</a:t>
              </a:r>
              <a:endParaRPr lang="en-US"/>
            </a:p>
          </p:txBody>
        </p:sp>
        <p:sp>
          <p:nvSpPr>
            <p:cNvPr id="24" name="TextBox 23"/>
            <p:cNvSpPr txBox="1"/>
            <p:nvPr/>
          </p:nvSpPr>
          <p:spPr bwMode="auto">
            <a:xfrm>
              <a:off x="5464251" y="5291116"/>
              <a:ext cx="2731689" cy="369332"/>
            </a:xfrm>
            <a:prstGeom prst="rect">
              <a:avLst/>
            </a:prstGeom>
            <a:noFill/>
          </p:spPr>
          <p:txBody>
            <a:bodyPr wrap="square" rtlCol="0">
              <a:spAutoFit/>
            </a:bodyPr>
            <a:lstStyle/>
            <a:p>
              <a:pPr>
                <a:defRPr/>
              </a:pPr>
              <a:r>
                <a:rPr lang="en-US">
                  <a:solidFill>
                    <a:srgbClr val="000000"/>
                  </a:solidFill>
                  <a:latin typeface="CourierNewPSMT"/>
                </a:rPr>
                <a:t>[Quidway-vlan1]</a:t>
              </a:r>
              <a:endParaRPr lang="en-US"/>
            </a:p>
          </p:txBody>
        </p:sp>
        <p:sp>
          <p:nvSpPr>
            <p:cNvPr id="25" name="Rectangle 24"/>
            <p:cNvSpPr/>
            <p:nvPr/>
          </p:nvSpPr>
          <p:spPr bwMode="auto">
            <a:xfrm>
              <a:off x="5464251" y="5291116"/>
              <a:ext cx="2709854" cy="590694"/>
            </a:xfrm>
            <a:prstGeom prst="rect">
              <a:avLst/>
            </a:prstGeom>
            <a:noFill/>
            <a:ln w="12700" cap="flat" cmpd="sng" algn="ctr">
              <a:solidFill>
                <a:schemeClr val="accent5"/>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en-US"/>
            </a:p>
          </p:txBody>
        </p:sp>
      </p:grpSp>
      <p:cxnSp>
        <p:nvCxnSpPr>
          <p:cNvPr id="33" name="Straight Arrow Connector 32"/>
          <p:cNvCxnSpPr>
            <a:cxnSpLocks/>
          </p:cNvCxnSpPr>
          <p:nvPr/>
        </p:nvCxnSpPr>
        <p:spPr bwMode="auto">
          <a:xfrm>
            <a:off x="5283188" y="4291261"/>
            <a:ext cx="0" cy="622854"/>
          </a:xfrm>
          <a:prstGeom prst="straightConnector1">
            <a:avLst/>
          </a:prstGeom>
          <a:ln w="28575">
            <a:headEnd type="none" w="med" len="med"/>
            <a:tailEnd type="arrow" w="med" len="med"/>
          </a:ln>
        </p:spPr>
        <p:style>
          <a:lnRef idx="2">
            <a:schemeClr val="accent6"/>
          </a:lnRef>
          <a:fillRef idx="0">
            <a:schemeClr val="accent6"/>
          </a:fillRef>
          <a:effectRef idx="1">
            <a:schemeClr val="accent6"/>
          </a:effectRef>
          <a:fontRef idx="minor">
            <a:schemeClr val="tx1"/>
          </a:fontRef>
        </p:style>
      </p:cxnSp>
      <p:sp>
        <p:nvSpPr>
          <p:cNvPr id="36" name="TextBox 35"/>
          <p:cNvSpPr txBox="1"/>
          <p:nvPr/>
        </p:nvSpPr>
        <p:spPr bwMode="auto">
          <a:xfrm>
            <a:off x="1219199" y="4354199"/>
            <a:ext cx="4080442" cy="323165"/>
          </a:xfrm>
          <a:prstGeom prst="rect">
            <a:avLst/>
          </a:prstGeom>
          <a:noFill/>
        </p:spPr>
        <p:txBody>
          <a:bodyPr wrap="square" rtlCol="0">
            <a:spAutoFit/>
          </a:bodyPr>
          <a:lstStyle/>
          <a:p>
            <a:pPr>
              <a:defRPr/>
            </a:pPr>
            <a:r>
              <a:rPr lang="en-US" sz="1500">
                <a:latin typeface="Courier New"/>
                <a:cs typeface="Courier New"/>
              </a:rPr>
              <a:t>[Quidway] interface Ethernet1/0/1</a:t>
            </a:r>
            <a:endParaRPr/>
          </a:p>
        </p:txBody>
      </p:sp>
      <p:sp>
        <p:nvSpPr>
          <p:cNvPr id="37" name="TextBox 36"/>
          <p:cNvSpPr txBox="1"/>
          <p:nvPr/>
        </p:nvSpPr>
        <p:spPr bwMode="auto">
          <a:xfrm>
            <a:off x="5614810" y="4348371"/>
            <a:ext cx="3444515" cy="323165"/>
          </a:xfrm>
          <a:prstGeom prst="rect">
            <a:avLst/>
          </a:prstGeom>
          <a:noFill/>
        </p:spPr>
        <p:txBody>
          <a:bodyPr wrap="square" rtlCol="0">
            <a:spAutoFit/>
          </a:bodyPr>
          <a:lstStyle/>
          <a:p>
            <a:pPr>
              <a:defRPr/>
            </a:pPr>
            <a:r>
              <a:rPr lang="en-US" sz="1500">
                <a:solidFill>
                  <a:srgbClr val="000000"/>
                </a:solidFill>
                <a:latin typeface="CourierNewPSMT"/>
              </a:rPr>
              <a:t>[Quidway-Ethernet1/0/1] quit</a:t>
            </a:r>
            <a:endParaRPr lang="en-US" sz="1500"/>
          </a:p>
        </p:txBody>
      </p:sp>
      <p:cxnSp>
        <p:nvCxnSpPr>
          <p:cNvPr id="38" name="Straight Arrow Connector 37"/>
          <p:cNvCxnSpPr>
            <a:cxnSpLocks/>
          </p:cNvCxnSpPr>
          <p:nvPr/>
        </p:nvCxnSpPr>
        <p:spPr bwMode="auto">
          <a:xfrm flipV="1">
            <a:off x="5672663" y="4291261"/>
            <a:ext cx="0" cy="614740"/>
          </a:xfrm>
          <a:prstGeom prst="straightConnector1">
            <a:avLst/>
          </a:prstGeom>
          <a:ln w="28575">
            <a:headEnd type="none" w="med" len="med"/>
            <a:tailEnd type="arrow" w="med" len="med"/>
          </a:ln>
        </p:spPr>
        <p:style>
          <a:lnRef idx="2">
            <a:schemeClr val="accent6"/>
          </a:lnRef>
          <a:fillRef idx="0">
            <a:schemeClr val="accent6"/>
          </a:fillRef>
          <a:effectRef idx="1">
            <a:schemeClr val="accent6"/>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p:cNvSpPr>
            <a:spLocks noGrp="1"/>
          </p:cNvSpPr>
          <p:nvPr>
            <p:ph type="title"/>
          </p:nvPr>
        </p:nvSpPr>
        <p:spPr bwMode="auto"/>
        <p:txBody>
          <a:bodyPr/>
          <a:lstStyle/>
          <a:p>
            <a:pPr>
              <a:defRPr/>
            </a:pPr>
            <a:r>
              <a:rPr lang="zh-CN"/>
              <a:t>实验内容</a:t>
            </a:r>
            <a:endParaRPr lang="en-US"/>
          </a:p>
        </p:txBody>
      </p:sp>
      <p:sp>
        <p:nvSpPr>
          <p:cNvPr id="2" name="Content Placeholder 1"/>
          <p:cNvSpPr>
            <a:spLocks noGrp="1"/>
          </p:cNvSpPr>
          <p:nvPr>
            <p:ph idx="1"/>
          </p:nvPr>
        </p:nvSpPr>
        <p:spPr bwMode="auto"/>
        <p:txBody>
          <a:bodyPr/>
          <a:lstStyle/>
          <a:p>
            <a:pPr marL="514350" indent="-514350">
              <a:buFont typeface="+mj-lt"/>
              <a:buAutoNum type="arabicPeriod"/>
              <a:defRPr/>
            </a:pPr>
            <a:r>
              <a:rPr lang="zh-CN"/>
              <a:t>登录交换机</a:t>
            </a:r>
            <a:endParaRPr/>
          </a:p>
          <a:p>
            <a:pPr marL="514350" indent="-514350">
              <a:buFont typeface="+mj-lt"/>
              <a:buAutoNum type="arabicPeriod"/>
              <a:defRPr/>
            </a:pPr>
            <a:r>
              <a:rPr lang="zh-CN">
                <a:solidFill>
                  <a:schemeClr val="accent2"/>
                </a:solidFill>
              </a:rPr>
              <a:t>连接双节点网络</a:t>
            </a:r>
            <a:endParaRPr/>
          </a:p>
          <a:p>
            <a:pPr marL="514350" indent="-514350">
              <a:buFont typeface="+mj-lt"/>
              <a:buAutoNum type="arabicPeriod"/>
              <a:defRPr/>
            </a:pPr>
            <a:r>
              <a:rPr lang="zh-CN"/>
              <a:t>配置双节点网络</a:t>
            </a:r>
            <a:r>
              <a:rPr lang="en-US"/>
              <a:t>VLAN</a:t>
            </a:r>
            <a:endParaRPr/>
          </a:p>
          <a:p>
            <a:pPr marL="514350" indent="-514350">
              <a:buFont typeface="+mj-lt"/>
              <a:buAutoNum type="arabicPeriod"/>
              <a:defRPr/>
            </a:pPr>
            <a:r>
              <a:rPr lang="zh-CN"/>
              <a:t>配置四节点网络</a:t>
            </a:r>
            <a:r>
              <a:rPr lang="en-US"/>
              <a:t>VLAN</a:t>
            </a:r>
            <a:endParaRPr/>
          </a:p>
          <a:p>
            <a:pPr>
              <a:defRPr/>
            </a:pPr>
            <a:endParaRPr lang="en-US"/>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dirty="0"/>
              <a:t>2. </a:t>
            </a:r>
            <a:r>
              <a:rPr lang="zh-CN" dirty="0"/>
              <a:t>连接双节点网络</a:t>
            </a:r>
            <a:endParaRPr lang="en-US" dirty="0"/>
          </a:p>
        </p:txBody>
      </p:sp>
      <p:sp>
        <p:nvSpPr>
          <p:cNvPr id="3" name="Content Placeholder 2"/>
          <p:cNvSpPr>
            <a:spLocks noGrp="1"/>
          </p:cNvSpPr>
          <p:nvPr>
            <p:ph idx="1"/>
          </p:nvPr>
        </p:nvSpPr>
        <p:spPr bwMode="auto"/>
        <p:txBody>
          <a:bodyPr/>
          <a:lstStyle/>
          <a:p>
            <a:pPr marL="447675" lvl="1" indent="-358775">
              <a:buFont typeface="+mj-lt"/>
              <a:buAutoNum type="arabicParenR"/>
              <a:defRPr/>
            </a:pPr>
            <a:r>
              <a:rPr lang="zh-CN" dirty="0"/>
              <a:t>将两台主机的网口用网线分别与交换机的两个网口相连。</a:t>
            </a:r>
            <a:endParaRPr lang="en-US" dirty="0"/>
          </a:p>
          <a:p>
            <a:pPr marL="447675" lvl="2" indent="-358775">
              <a:defRPr/>
            </a:pPr>
            <a:r>
              <a:rPr lang="zh-CN" i="1" u="sng" dirty="0">
                <a:solidFill>
                  <a:srgbClr val="C00000"/>
                </a:solidFill>
              </a:rPr>
              <a:t>注意：交换机网口的名称未必与下图中（</a:t>
            </a:r>
            <a:r>
              <a:rPr lang="en-US" i="1" u="sng" dirty="0">
                <a:solidFill>
                  <a:srgbClr val="C00000"/>
                </a:solidFill>
              </a:rPr>
              <a:t>Ethernet1/0/3 </a:t>
            </a:r>
            <a:r>
              <a:rPr lang="zh-CN" i="1" u="sng" dirty="0">
                <a:solidFill>
                  <a:srgbClr val="C00000"/>
                </a:solidFill>
              </a:rPr>
              <a:t>与</a:t>
            </a:r>
            <a:r>
              <a:rPr lang="en-US" i="1" u="sng" dirty="0">
                <a:solidFill>
                  <a:srgbClr val="C00000"/>
                </a:solidFill>
              </a:rPr>
              <a:t>Ethernet1/0/4</a:t>
            </a:r>
            <a:r>
              <a:rPr lang="zh-CN" i="1" u="sng" dirty="0">
                <a:solidFill>
                  <a:srgbClr val="C00000"/>
                </a:solidFill>
              </a:rPr>
              <a:t>）一样。</a:t>
            </a:r>
            <a:endParaRPr lang="en-US" i="1" u="sng" dirty="0">
              <a:solidFill>
                <a:srgbClr val="C00000"/>
              </a:solidFill>
            </a:endParaRPr>
          </a:p>
          <a:p>
            <a:pPr marL="447675" lvl="2" indent="-358775">
              <a:defRPr/>
            </a:pPr>
            <a:r>
              <a:rPr lang="zh-CN" i="1" u="sng" dirty="0">
                <a:solidFill>
                  <a:srgbClr val="C00000"/>
                </a:solidFill>
              </a:rPr>
              <a:t>你如何知道交换机某个网口的名称呢？其中一种方法是在该网口插拔网线时，观察交换机视图里的显示信息。</a:t>
            </a:r>
            <a:endParaRPr lang="en-US" i="1" u="sng" dirty="0">
              <a:solidFill>
                <a:srgbClr val="C00000"/>
              </a:solidFill>
            </a:endParaRPr>
          </a:p>
          <a:p>
            <a:pPr marL="447675" lvl="2" indent="-358775">
              <a:defRPr/>
            </a:pPr>
            <a:endParaRPr lang="en-US" u="sng" dirty="0">
              <a:solidFill>
                <a:srgbClr val="C00000"/>
              </a:solidFill>
            </a:endParaRPr>
          </a:p>
        </p:txBody>
      </p:sp>
      <p:sp>
        <p:nvSpPr>
          <p:cNvPr id="334" name="Date Placeholder 333"/>
          <p:cNvSpPr>
            <a:spLocks noGrp="1"/>
          </p:cNvSpPr>
          <p:nvPr>
            <p:ph type="dt" sz="half" idx="10"/>
          </p:nvPr>
        </p:nvSpPr>
        <p:spPr bwMode="auto"/>
        <p:txBody>
          <a:bodyPr/>
          <a:lstStyle/>
          <a:p>
            <a:pPr>
              <a:defRPr/>
            </a:pPr>
            <a:r>
              <a:rPr lang="en-US" dirty="0"/>
              <a:t>3/1/2020</a:t>
            </a:r>
            <a:endParaRPr dirty="0"/>
          </a:p>
        </p:txBody>
      </p:sp>
      <p:sp>
        <p:nvSpPr>
          <p:cNvPr id="335" name="Footer Placeholder 334"/>
          <p:cNvSpPr>
            <a:spLocks noGrp="1"/>
          </p:cNvSpPr>
          <p:nvPr>
            <p:ph type="ftr" sz="quarter" idx="11"/>
          </p:nvPr>
        </p:nvSpPr>
        <p:spPr bwMode="auto"/>
        <p:txBody>
          <a:bodyPr/>
          <a:lstStyle/>
          <a:p>
            <a:pPr>
              <a:defRPr/>
            </a:pPr>
            <a:r>
              <a:rPr lang="zh-CN" dirty="0"/>
              <a:t>计算机网络实验</a:t>
            </a:r>
            <a:endParaRPr lang="en-US" dirty="0"/>
          </a:p>
        </p:txBody>
      </p:sp>
      <p:sp>
        <p:nvSpPr>
          <p:cNvPr id="336" name="Slide Number Placeholder 335"/>
          <p:cNvSpPr>
            <a:spLocks noGrp="1"/>
          </p:cNvSpPr>
          <p:nvPr>
            <p:ph type="sldNum" sz="quarter" idx="12"/>
          </p:nvPr>
        </p:nvSpPr>
        <p:spPr bwMode="auto"/>
        <p:txBody>
          <a:bodyPr/>
          <a:lstStyle/>
          <a:p>
            <a:pPr>
              <a:defRPr/>
            </a:pPr>
            <a:fld id="{0ECDF2DC-913F-4A16-9C18-8900B299D998}" type="slidenum">
              <a:rPr lang="en-US"/>
              <a:t>15</a:t>
            </a:fld>
            <a:endParaRPr lang="en-US"/>
          </a:p>
        </p:txBody>
      </p:sp>
      <p:grpSp>
        <p:nvGrpSpPr>
          <p:cNvPr id="145" name="Group 144"/>
          <p:cNvGrpSpPr/>
          <p:nvPr/>
        </p:nvGrpSpPr>
        <p:grpSpPr bwMode="auto">
          <a:xfrm>
            <a:off x="2140497" y="3420000"/>
            <a:ext cx="4291897" cy="2751432"/>
            <a:chOff x="2140497" y="3290348"/>
            <a:chExt cx="4291897" cy="2751432"/>
          </a:xfrm>
        </p:grpSpPr>
        <p:grpSp>
          <p:nvGrpSpPr>
            <p:cNvPr id="146" name="Group 145"/>
            <p:cNvGrpSpPr/>
            <p:nvPr/>
          </p:nvGrpSpPr>
          <p:grpSpPr bwMode="auto">
            <a:xfrm>
              <a:off x="2647144" y="4839730"/>
              <a:ext cx="1061526" cy="823469"/>
              <a:chOff x="1136203" y="4520619"/>
              <a:chExt cx="1419428" cy="1013448"/>
            </a:xfrm>
          </p:grpSpPr>
          <p:grpSp>
            <p:nvGrpSpPr>
              <p:cNvPr id="200" name="Group 950"/>
              <p:cNvGrpSpPr/>
              <p:nvPr/>
            </p:nvGrpSpPr>
            <p:grpSpPr bwMode="auto">
              <a:xfrm>
                <a:off x="2039815" y="4520619"/>
                <a:ext cx="515816" cy="969179"/>
                <a:chOff x="4140" y="429"/>
                <a:chExt cx="1425" cy="2396"/>
              </a:xfrm>
            </p:grpSpPr>
            <p:sp>
              <p:nvSpPr>
                <p:cNvPr id="204"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205"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06"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207"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208"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209" name="Group 956"/>
                <p:cNvGrpSpPr/>
                <p:nvPr/>
              </p:nvGrpSpPr>
              <p:grpSpPr bwMode="auto">
                <a:xfrm>
                  <a:off x="4749" y="668"/>
                  <a:ext cx="581" cy="145"/>
                  <a:chOff x="614" y="2568"/>
                  <a:chExt cx="725" cy="139"/>
                </a:xfrm>
              </p:grpSpPr>
              <p:sp>
                <p:nvSpPr>
                  <p:cNvPr id="234"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35"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210"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211" name="Group 960"/>
                <p:cNvGrpSpPr/>
                <p:nvPr/>
              </p:nvGrpSpPr>
              <p:grpSpPr bwMode="auto">
                <a:xfrm>
                  <a:off x="4747" y="994"/>
                  <a:ext cx="581" cy="134"/>
                  <a:chOff x="614" y="2568"/>
                  <a:chExt cx="725" cy="139"/>
                </a:xfrm>
              </p:grpSpPr>
              <p:sp>
                <p:nvSpPr>
                  <p:cNvPr id="232"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33"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212"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13"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214" name="Group 965"/>
                <p:cNvGrpSpPr/>
                <p:nvPr/>
              </p:nvGrpSpPr>
              <p:grpSpPr bwMode="auto">
                <a:xfrm>
                  <a:off x="4735" y="1627"/>
                  <a:ext cx="582" cy="151"/>
                  <a:chOff x="614" y="2568"/>
                  <a:chExt cx="725" cy="139"/>
                </a:xfrm>
              </p:grpSpPr>
              <p:sp>
                <p:nvSpPr>
                  <p:cNvPr id="230"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31"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215"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grpSp>
              <p:nvGrpSpPr>
                <p:cNvPr id="216" name="Group 969"/>
                <p:cNvGrpSpPr/>
                <p:nvPr/>
              </p:nvGrpSpPr>
              <p:grpSpPr bwMode="auto">
                <a:xfrm>
                  <a:off x="4739" y="1327"/>
                  <a:ext cx="582" cy="139"/>
                  <a:chOff x="614" y="2568"/>
                  <a:chExt cx="725" cy="139"/>
                </a:xfrm>
              </p:grpSpPr>
              <p:sp>
                <p:nvSpPr>
                  <p:cNvPr id="228"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29"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217"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18"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219"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220"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21"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222"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23"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24"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25"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800" b="0" i="0" u="sng" strike="noStrike" cap="none" spc="0">
                    <a:ln>
                      <a:noFill/>
                    </a:ln>
                    <a:solidFill>
                      <a:srgbClr val="FF0000"/>
                    </a:solidFill>
                    <a:latin typeface="+mn-lt"/>
                    <a:ea typeface="MS PGothic"/>
                    <a:cs typeface="Arial"/>
                  </a:endParaRPr>
                </a:p>
              </p:txBody>
            </p:sp>
            <p:sp>
              <p:nvSpPr>
                <p:cNvPr id="226"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27"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grpSp>
            <p:nvGrpSpPr>
              <p:cNvPr id="201" name="Group 590"/>
              <p:cNvGrpSpPr/>
              <p:nvPr/>
            </p:nvGrpSpPr>
            <p:grpSpPr bwMode="auto">
              <a:xfrm flipH="1">
                <a:off x="1136203" y="4624876"/>
                <a:ext cx="948819" cy="909191"/>
                <a:chOff x="2839" y="3501"/>
                <a:chExt cx="755" cy="803"/>
              </a:xfrm>
            </p:grpSpPr>
            <p:pic>
              <p:nvPicPr>
                <p:cNvPr id="202"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203"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u="sng"/>
                </a:p>
              </p:txBody>
            </p:sp>
          </p:grpSp>
        </p:grpSp>
        <p:grpSp>
          <p:nvGrpSpPr>
            <p:cNvPr id="147" name="Group 146"/>
            <p:cNvGrpSpPr/>
            <p:nvPr/>
          </p:nvGrpSpPr>
          <p:grpSpPr bwMode="auto">
            <a:xfrm>
              <a:off x="4351760" y="4831496"/>
              <a:ext cx="1061526" cy="831703"/>
              <a:chOff x="1136203" y="4520619"/>
              <a:chExt cx="1419428" cy="1013448"/>
            </a:xfrm>
          </p:grpSpPr>
          <p:grpSp>
            <p:nvGrpSpPr>
              <p:cNvPr id="164" name="Group 950"/>
              <p:cNvGrpSpPr/>
              <p:nvPr/>
            </p:nvGrpSpPr>
            <p:grpSpPr bwMode="auto">
              <a:xfrm>
                <a:off x="2039815" y="4520619"/>
                <a:ext cx="515816" cy="969179"/>
                <a:chOff x="4140" y="429"/>
                <a:chExt cx="1425" cy="2396"/>
              </a:xfrm>
            </p:grpSpPr>
            <p:sp>
              <p:nvSpPr>
                <p:cNvPr id="168"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69"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70"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71"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72"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173" name="Group 956"/>
                <p:cNvGrpSpPr/>
                <p:nvPr/>
              </p:nvGrpSpPr>
              <p:grpSpPr bwMode="auto">
                <a:xfrm>
                  <a:off x="4749" y="668"/>
                  <a:ext cx="581" cy="145"/>
                  <a:chOff x="614" y="2568"/>
                  <a:chExt cx="725" cy="139"/>
                </a:xfrm>
              </p:grpSpPr>
              <p:sp>
                <p:nvSpPr>
                  <p:cNvPr id="198"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99"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74"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175" name="Group 960"/>
                <p:cNvGrpSpPr/>
                <p:nvPr/>
              </p:nvGrpSpPr>
              <p:grpSpPr bwMode="auto">
                <a:xfrm>
                  <a:off x="4747" y="994"/>
                  <a:ext cx="581" cy="134"/>
                  <a:chOff x="614" y="2568"/>
                  <a:chExt cx="725" cy="139"/>
                </a:xfrm>
              </p:grpSpPr>
              <p:sp>
                <p:nvSpPr>
                  <p:cNvPr id="196"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97"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76"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77"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178" name="Group 965"/>
                <p:cNvGrpSpPr/>
                <p:nvPr/>
              </p:nvGrpSpPr>
              <p:grpSpPr bwMode="auto">
                <a:xfrm>
                  <a:off x="4735" y="1627"/>
                  <a:ext cx="582" cy="151"/>
                  <a:chOff x="614" y="2568"/>
                  <a:chExt cx="725" cy="139"/>
                </a:xfrm>
              </p:grpSpPr>
              <p:sp>
                <p:nvSpPr>
                  <p:cNvPr id="194"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95"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79"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grpSp>
              <p:nvGrpSpPr>
                <p:cNvPr id="180" name="Group 969"/>
                <p:cNvGrpSpPr/>
                <p:nvPr/>
              </p:nvGrpSpPr>
              <p:grpSpPr bwMode="auto">
                <a:xfrm>
                  <a:off x="4739" y="1327"/>
                  <a:ext cx="582" cy="139"/>
                  <a:chOff x="614" y="2568"/>
                  <a:chExt cx="725" cy="139"/>
                </a:xfrm>
              </p:grpSpPr>
              <p:sp>
                <p:nvSpPr>
                  <p:cNvPr id="192"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93"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81"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2"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83"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84"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5"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86"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7"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8"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9"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800" b="0" i="0" u="sng" strike="noStrike" cap="none" spc="0">
                    <a:ln>
                      <a:noFill/>
                    </a:ln>
                    <a:solidFill>
                      <a:srgbClr val="FF0000"/>
                    </a:solidFill>
                    <a:latin typeface="+mn-lt"/>
                    <a:ea typeface="MS PGothic"/>
                    <a:cs typeface="Arial"/>
                  </a:endParaRPr>
                </a:p>
              </p:txBody>
            </p:sp>
            <p:sp>
              <p:nvSpPr>
                <p:cNvPr id="190"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91"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grpSp>
            <p:nvGrpSpPr>
              <p:cNvPr id="165" name="Group 590"/>
              <p:cNvGrpSpPr/>
              <p:nvPr/>
            </p:nvGrpSpPr>
            <p:grpSpPr bwMode="auto">
              <a:xfrm flipH="1">
                <a:off x="1136203" y="4624876"/>
                <a:ext cx="948819" cy="909191"/>
                <a:chOff x="2839" y="3501"/>
                <a:chExt cx="755" cy="803"/>
              </a:xfrm>
            </p:grpSpPr>
            <p:pic>
              <p:nvPicPr>
                <p:cNvPr id="166"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67"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u="sng"/>
                </a:p>
              </p:txBody>
            </p:sp>
          </p:grpSp>
        </p:grpSp>
        <p:cxnSp>
          <p:nvCxnSpPr>
            <p:cNvPr id="148" name="Straight Connector 147"/>
            <p:cNvCxnSpPr>
              <a:cxnSpLocks/>
              <a:stCxn id="205" idx="0"/>
              <a:endCxn id="157" idx="1"/>
            </p:cNvCxnSpPr>
            <p:nvPr/>
          </p:nvCxnSpPr>
          <p:spPr bwMode="auto">
            <a:xfrm flipV="1">
              <a:off x="3483443" y="3924349"/>
              <a:ext cx="374980" cy="915381"/>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149" name="Straight Connector 148"/>
            <p:cNvCxnSpPr>
              <a:cxnSpLocks/>
              <a:stCxn id="169" idx="0"/>
              <a:endCxn id="157" idx="3"/>
            </p:cNvCxnSpPr>
            <p:nvPr/>
          </p:nvCxnSpPr>
          <p:spPr bwMode="auto">
            <a:xfrm flipH="1" flipV="1">
              <a:off x="4723453" y="3924349"/>
              <a:ext cx="464605" cy="907147"/>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grpSp>
          <p:nvGrpSpPr>
            <p:cNvPr id="150" name="Group 149"/>
            <p:cNvGrpSpPr/>
            <p:nvPr/>
          </p:nvGrpSpPr>
          <p:grpSpPr bwMode="auto">
            <a:xfrm>
              <a:off x="3858423" y="3290348"/>
              <a:ext cx="868153" cy="794009"/>
              <a:chOff x="3668110" y="2448910"/>
              <a:chExt cx="3794234" cy="2165130"/>
            </a:xfrm>
          </p:grpSpPr>
          <p:sp>
            <p:nvSpPr>
              <p:cNvPr id="157" name="Rectangle 156"/>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8"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nvGrpSpPr>
              <p:cNvPr id="159" name="Group 158"/>
              <p:cNvGrpSpPr/>
              <p:nvPr/>
            </p:nvGrpSpPr>
            <p:grpSpPr bwMode="auto">
              <a:xfrm>
                <a:off x="3941378" y="2603243"/>
                <a:ext cx="3202060" cy="1066110"/>
                <a:chOff x="7939341" y="3037317"/>
                <a:chExt cx="897649" cy="353919"/>
              </a:xfrm>
            </p:grpSpPr>
            <p:sp>
              <p:nvSpPr>
                <p:cNvPr id="160"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1"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2"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3"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sp>
          <p:nvSpPr>
            <p:cNvPr id="151" name="Rectangle 150"/>
            <p:cNvSpPr/>
            <p:nvPr/>
          </p:nvSpPr>
          <p:spPr bwMode="auto">
            <a:xfrm>
              <a:off x="2140497" y="3805425"/>
              <a:ext cx="1532086" cy="369332"/>
            </a:xfrm>
            <a:prstGeom prst="rect">
              <a:avLst/>
            </a:prstGeom>
            <a:grpFill/>
          </p:spPr>
          <p:txBody>
            <a:bodyPr wrap="none">
              <a:spAutoFit/>
            </a:bodyPr>
            <a:lstStyle/>
            <a:p>
              <a:pPr>
                <a:defRPr/>
              </a:pPr>
              <a:r>
                <a:rPr lang="en-US">
                  <a:ea typeface="宋体"/>
                  <a:cs typeface="Courier New"/>
                </a:rPr>
                <a:t>Ethernet1/0/3</a:t>
              </a:r>
              <a:endParaRPr lang="en-US"/>
            </a:p>
          </p:txBody>
        </p:sp>
        <p:sp>
          <p:nvSpPr>
            <p:cNvPr id="152" name="Rectangle 151"/>
            <p:cNvSpPr/>
            <p:nvPr/>
          </p:nvSpPr>
          <p:spPr bwMode="auto">
            <a:xfrm>
              <a:off x="4900308" y="3805425"/>
              <a:ext cx="1532086" cy="369332"/>
            </a:xfrm>
            <a:prstGeom prst="rect">
              <a:avLst/>
            </a:prstGeom>
            <a:grpFill/>
          </p:spPr>
          <p:txBody>
            <a:bodyPr wrap="none">
              <a:spAutoFit/>
            </a:bodyPr>
            <a:lstStyle/>
            <a:p>
              <a:pPr>
                <a:defRPr/>
              </a:pPr>
              <a:r>
                <a:rPr lang="en-US">
                  <a:ea typeface="宋体"/>
                  <a:cs typeface="Courier New"/>
                </a:rPr>
                <a:t>Ethernet1/0/4</a:t>
              </a:r>
              <a:endParaRPr lang="en-US"/>
            </a:p>
          </p:txBody>
        </p:sp>
        <p:sp>
          <p:nvSpPr>
            <p:cNvPr id="153" name="Rectangle 152"/>
            <p:cNvSpPr/>
            <p:nvPr/>
          </p:nvSpPr>
          <p:spPr bwMode="auto">
            <a:xfrm>
              <a:off x="3246536" y="5657521"/>
              <a:ext cx="521297" cy="369332"/>
            </a:xfrm>
            <a:prstGeom prst="rect">
              <a:avLst/>
            </a:prstGeom>
            <a:grpFill/>
          </p:spPr>
          <p:txBody>
            <a:bodyPr wrap="none">
              <a:spAutoFit/>
            </a:bodyPr>
            <a:lstStyle/>
            <a:p>
              <a:pPr>
                <a:defRPr/>
              </a:pPr>
              <a:r>
                <a:rPr lang="en-US">
                  <a:ea typeface="宋体"/>
                  <a:cs typeface="Courier New"/>
                </a:rPr>
                <a:t>pc1</a:t>
              </a:r>
              <a:endParaRPr lang="en-US"/>
            </a:p>
          </p:txBody>
        </p:sp>
        <p:sp>
          <p:nvSpPr>
            <p:cNvPr id="154" name="Rectangle 153"/>
            <p:cNvSpPr/>
            <p:nvPr/>
          </p:nvSpPr>
          <p:spPr bwMode="auto">
            <a:xfrm>
              <a:off x="5025651" y="5672448"/>
              <a:ext cx="521297" cy="369332"/>
            </a:xfrm>
            <a:prstGeom prst="rect">
              <a:avLst/>
            </a:prstGeom>
            <a:grpFill/>
          </p:spPr>
          <p:txBody>
            <a:bodyPr wrap="none">
              <a:spAutoFit/>
            </a:bodyPr>
            <a:lstStyle/>
            <a:p>
              <a:pPr>
                <a:defRPr/>
              </a:pPr>
              <a:r>
                <a:rPr lang="en-US">
                  <a:ea typeface="宋体"/>
                  <a:cs typeface="Courier New"/>
                </a:rPr>
                <a:t>pc2</a:t>
              </a:r>
              <a:endParaRPr lang="en-U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582895" y="258030"/>
            <a:ext cx="7964423" cy="719233"/>
          </a:xfrm>
        </p:spPr>
        <p:txBody>
          <a:bodyPr/>
          <a:lstStyle/>
          <a:p>
            <a:pPr>
              <a:defRPr/>
            </a:pPr>
            <a:r>
              <a:rPr lang="en-US"/>
              <a:t>2. </a:t>
            </a:r>
            <a:r>
              <a:rPr lang="zh-CN"/>
              <a:t>连接双节点网络</a:t>
            </a:r>
            <a:endParaRPr lang="en-US"/>
          </a:p>
        </p:txBody>
      </p:sp>
      <p:sp>
        <p:nvSpPr>
          <p:cNvPr id="3" name="Content Placeholder 2"/>
          <p:cNvSpPr>
            <a:spLocks noGrp="1"/>
          </p:cNvSpPr>
          <p:nvPr>
            <p:ph idx="1"/>
          </p:nvPr>
        </p:nvSpPr>
        <p:spPr bwMode="auto"/>
        <p:txBody>
          <a:bodyPr/>
          <a:lstStyle/>
          <a:p>
            <a:pPr marL="447675" lvl="1" indent="-358775">
              <a:buFont typeface="+mj-lt"/>
              <a:buAutoNum type="arabicParenR" startAt="2"/>
              <a:defRPr/>
            </a:pPr>
            <a:r>
              <a:rPr lang="zh-CN" dirty="0"/>
              <a:t>为两台主机设置</a:t>
            </a:r>
            <a:r>
              <a:rPr lang="zh-CN" dirty="0">
                <a:solidFill>
                  <a:srgbClr val="C00000"/>
                </a:solidFill>
              </a:rPr>
              <a:t>同一网段的</a:t>
            </a:r>
            <a:r>
              <a:rPr lang="en-US" dirty="0"/>
              <a:t>IP</a:t>
            </a:r>
            <a:r>
              <a:rPr lang="zh-CN" dirty="0"/>
              <a:t>地址。</a:t>
            </a:r>
            <a:endParaRPr lang="en-US" dirty="0"/>
          </a:p>
          <a:p>
            <a:pPr marL="447675" lvl="2" indent="-358775">
              <a:defRPr/>
            </a:pPr>
            <a:r>
              <a:rPr lang="zh-CN" dirty="0"/>
              <a:t>这是为了在</a:t>
            </a:r>
            <a:r>
              <a:rPr lang="en-US" dirty="0"/>
              <a:t>VLAN</a:t>
            </a:r>
            <a:r>
              <a:rPr lang="zh-CN" dirty="0"/>
              <a:t>配置完成以后检测配置是否成功。</a:t>
            </a:r>
            <a:endParaRPr lang="en-US" dirty="0"/>
          </a:p>
          <a:p>
            <a:pPr marL="447675" lvl="2" indent="-358775">
              <a:defRPr/>
            </a:pPr>
            <a:r>
              <a:rPr lang="zh-CN" dirty="0"/>
              <a:t>我们通常使用私有地址，例如为设置</a:t>
            </a:r>
            <a:r>
              <a:rPr lang="en-US" dirty="0"/>
              <a:t>pc1</a:t>
            </a:r>
            <a:r>
              <a:rPr lang="zh-CN" dirty="0"/>
              <a:t>的</a:t>
            </a:r>
            <a:r>
              <a:rPr lang="en-US" dirty="0"/>
              <a:t>IP</a:t>
            </a:r>
            <a:r>
              <a:rPr lang="zh-CN" dirty="0"/>
              <a:t>地址为</a:t>
            </a:r>
            <a:r>
              <a:rPr lang="en-US" dirty="0"/>
              <a:t>192.168.1.11</a:t>
            </a:r>
            <a:r>
              <a:rPr lang="zh-CN" dirty="0"/>
              <a:t>，</a:t>
            </a:r>
            <a:r>
              <a:rPr lang="en-US" dirty="0"/>
              <a:t>pc2</a:t>
            </a:r>
            <a:r>
              <a:rPr lang="zh-CN" dirty="0"/>
              <a:t>的</a:t>
            </a:r>
            <a:r>
              <a:rPr lang="en-US" dirty="0"/>
              <a:t>IP</a:t>
            </a:r>
            <a:r>
              <a:rPr lang="zh-CN" dirty="0"/>
              <a:t>地址为</a:t>
            </a:r>
            <a:r>
              <a:rPr lang="en-US" dirty="0"/>
              <a:t>192.168.1.12</a:t>
            </a:r>
            <a:r>
              <a:rPr lang="zh-CN" dirty="0"/>
              <a:t>，网络掩码均为</a:t>
            </a:r>
            <a:r>
              <a:rPr lang="en-US" dirty="0"/>
              <a:t>255.255.255.0</a:t>
            </a:r>
            <a:r>
              <a:rPr lang="zh-CN" dirty="0"/>
              <a:t>。</a:t>
            </a:r>
            <a:endParaRPr lang="en-US" dirty="0"/>
          </a:p>
          <a:p>
            <a:pPr marL="447675" lvl="2" indent="-358775">
              <a:defRPr/>
            </a:pPr>
            <a:endParaRPr lang="en-US" dirty="0"/>
          </a:p>
        </p:txBody>
      </p:sp>
      <p:sp>
        <p:nvSpPr>
          <p:cNvPr id="5" name="Date Placeholder 4"/>
          <p:cNvSpPr>
            <a:spLocks noGrp="1"/>
          </p:cNvSpPr>
          <p:nvPr>
            <p:ph type="dt" sz="half" idx="10"/>
          </p:nvPr>
        </p:nvSpPr>
        <p:spPr bwMode="auto"/>
        <p:txBody>
          <a:bodyPr/>
          <a:lstStyle/>
          <a:p>
            <a:pPr>
              <a:defRPr/>
            </a:pPr>
            <a:r>
              <a:rPr lang="en-US" dirty="0"/>
              <a:t>3/1/2020</a:t>
            </a:r>
            <a:endParaRPr dirty="0"/>
          </a:p>
        </p:txBody>
      </p:sp>
      <p:sp>
        <p:nvSpPr>
          <p:cNvPr id="6" name="Footer Placeholder 5"/>
          <p:cNvSpPr>
            <a:spLocks noGrp="1"/>
          </p:cNvSpPr>
          <p:nvPr>
            <p:ph type="ftr" sz="quarter" idx="11"/>
          </p:nvPr>
        </p:nvSpPr>
        <p:spPr bwMode="auto"/>
        <p:txBody>
          <a:bodyPr/>
          <a:lstStyle/>
          <a:p>
            <a:pPr>
              <a:defRPr/>
            </a:pPr>
            <a:r>
              <a:rPr lang="zh-CN"/>
              <a:t>计算机网络实验</a:t>
            </a:r>
            <a:endParaRPr lang="en-US"/>
          </a:p>
        </p:txBody>
      </p:sp>
      <p:sp>
        <p:nvSpPr>
          <p:cNvPr id="7" name="Slide Number Placeholder 6"/>
          <p:cNvSpPr>
            <a:spLocks noGrp="1"/>
          </p:cNvSpPr>
          <p:nvPr>
            <p:ph type="sldNum" sz="quarter" idx="12"/>
          </p:nvPr>
        </p:nvSpPr>
        <p:spPr bwMode="auto"/>
        <p:txBody>
          <a:bodyPr/>
          <a:lstStyle/>
          <a:p>
            <a:pPr>
              <a:defRPr/>
            </a:pPr>
            <a:fld id="{0ECDF2DC-913F-4A16-9C18-8900B299D998}" type="slidenum">
              <a:rPr lang="en-US"/>
              <a:t>16</a:t>
            </a:fld>
            <a:endParaRPr lang="en-US"/>
          </a:p>
        </p:txBody>
      </p:sp>
      <p:grpSp>
        <p:nvGrpSpPr>
          <p:cNvPr id="4" name="Group 3"/>
          <p:cNvGrpSpPr/>
          <p:nvPr/>
        </p:nvGrpSpPr>
        <p:grpSpPr bwMode="auto">
          <a:xfrm>
            <a:off x="2140497" y="3420000"/>
            <a:ext cx="4291897" cy="2976706"/>
            <a:chOff x="2140497" y="3290348"/>
            <a:chExt cx="4291897" cy="2976706"/>
          </a:xfrm>
        </p:grpSpPr>
        <p:grpSp>
          <p:nvGrpSpPr>
            <p:cNvPr id="78" name="Group 77"/>
            <p:cNvGrpSpPr/>
            <p:nvPr/>
          </p:nvGrpSpPr>
          <p:grpSpPr bwMode="auto">
            <a:xfrm>
              <a:off x="2647144" y="4839730"/>
              <a:ext cx="1061526" cy="823469"/>
              <a:chOff x="1136203" y="4520619"/>
              <a:chExt cx="1419428" cy="1013448"/>
            </a:xfrm>
          </p:grpSpPr>
          <p:grpSp>
            <p:nvGrpSpPr>
              <p:cNvPr id="42" name="Group 950"/>
              <p:cNvGrpSpPr/>
              <p:nvPr/>
            </p:nvGrpSpPr>
            <p:grpSpPr bwMode="auto">
              <a:xfrm>
                <a:off x="2039815" y="4520619"/>
                <a:ext cx="515816" cy="969179"/>
                <a:chOff x="4140" y="429"/>
                <a:chExt cx="1425" cy="2396"/>
              </a:xfrm>
            </p:grpSpPr>
            <p:sp>
              <p:nvSpPr>
                <p:cNvPr id="43"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44"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45"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46"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47"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48" name="Group 956"/>
                <p:cNvGrpSpPr/>
                <p:nvPr/>
              </p:nvGrpSpPr>
              <p:grpSpPr bwMode="auto">
                <a:xfrm>
                  <a:off x="4749" y="668"/>
                  <a:ext cx="581" cy="145"/>
                  <a:chOff x="614" y="2568"/>
                  <a:chExt cx="725" cy="139"/>
                </a:xfrm>
              </p:grpSpPr>
              <p:sp>
                <p:nvSpPr>
                  <p:cNvPr id="73"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74"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49"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50" name="Group 960"/>
                <p:cNvGrpSpPr/>
                <p:nvPr/>
              </p:nvGrpSpPr>
              <p:grpSpPr bwMode="auto">
                <a:xfrm>
                  <a:off x="4747" y="994"/>
                  <a:ext cx="581" cy="134"/>
                  <a:chOff x="614" y="2568"/>
                  <a:chExt cx="725" cy="139"/>
                </a:xfrm>
              </p:grpSpPr>
              <p:sp>
                <p:nvSpPr>
                  <p:cNvPr id="71"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72"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51"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52"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53" name="Group 965"/>
                <p:cNvGrpSpPr/>
                <p:nvPr/>
              </p:nvGrpSpPr>
              <p:grpSpPr bwMode="auto">
                <a:xfrm>
                  <a:off x="4735" y="1627"/>
                  <a:ext cx="582" cy="151"/>
                  <a:chOff x="614" y="2568"/>
                  <a:chExt cx="725" cy="139"/>
                </a:xfrm>
              </p:grpSpPr>
              <p:sp>
                <p:nvSpPr>
                  <p:cNvPr id="69"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70"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54"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grpSp>
              <p:nvGrpSpPr>
                <p:cNvPr id="55" name="Group 969"/>
                <p:cNvGrpSpPr/>
                <p:nvPr/>
              </p:nvGrpSpPr>
              <p:grpSpPr bwMode="auto">
                <a:xfrm>
                  <a:off x="4739" y="1327"/>
                  <a:ext cx="582" cy="139"/>
                  <a:chOff x="614" y="2568"/>
                  <a:chExt cx="725" cy="139"/>
                </a:xfrm>
              </p:grpSpPr>
              <p:sp>
                <p:nvSpPr>
                  <p:cNvPr id="67"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68"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56"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57"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58"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59"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60"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61"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62"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63"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64"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800" b="0" i="0" u="sng" strike="noStrike" cap="none" spc="0">
                    <a:ln>
                      <a:noFill/>
                    </a:ln>
                    <a:solidFill>
                      <a:srgbClr val="FF0000"/>
                    </a:solidFill>
                    <a:latin typeface="+mn-lt"/>
                    <a:ea typeface="MS PGothic"/>
                    <a:cs typeface="Arial"/>
                  </a:endParaRPr>
                </a:p>
              </p:txBody>
            </p:sp>
            <p:sp>
              <p:nvSpPr>
                <p:cNvPr id="65"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66"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grpSp>
            <p:nvGrpSpPr>
              <p:cNvPr id="75" name="Group 590"/>
              <p:cNvGrpSpPr/>
              <p:nvPr/>
            </p:nvGrpSpPr>
            <p:grpSpPr bwMode="auto">
              <a:xfrm flipH="1">
                <a:off x="1136203" y="4624876"/>
                <a:ext cx="948819" cy="909191"/>
                <a:chOff x="2839" y="3501"/>
                <a:chExt cx="755" cy="803"/>
              </a:xfrm>
            </p:grpSpPr>
            <p:pic>
              <p:nvPicPr>
                <p:cNvPr id="76"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77"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u="sng"/>
                </a:p>
              </p:txBody>
            </p:sp>
          </p:grpSp>
        </p:grpSp>
        <p:grpSp>
          <p:nvGrpSpPr>
            <p:cNvPr id="79" name="Group 78"/>
            <p:cNvGrpSpPr/>
            <p:nvPr/>
          </p:nvGrpSpPr>
          <p:grpSpPr bwMode="auto">
            <a:xfrm>
              <a:off x="4351760" y="4831496"/>
              <a:ext cx="1061526" cy="831703"/>
              <a:chOff x="1136203" y="4520619"/>
              <a:chExt cx="1419428" cy="1013448"/>
            </a:xfrm>
          </p:grpSpPr>
          <p:grpSp>
            <p:nvGrpSpPr>
              <p:cNvPr id="80" name="Group 950"/>
              <p:cNvGrpSpPr/>
              <p:nvPr/>
            </p:nvGrpSpPr>
            <p:grpSpPr bwMode="auto">
              <a:xfrm>
                <a:off x="2039815" y="4520619"/>
                <a:ext cx="515816" cy="969179"/>
                <a:chOff x="4140" y="429"/>
                <a:chExt cx="1425" cy="2396"/>
              </a:xfrm>
            </p:grpSpPr>
            <p:sp>
              <p:nvSpPr>
                <p:cNvPr id="84"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85"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86"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87"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88"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89" name="Group 956"/>
                <p:cNvGrpSpPr/>
                <p:nvPr/>
              </p:nvGrpSpPr>
              <p:grpSpPr bwMode="auto">
                <a:xfrm>
                  <a:off x="4749" y="668"/>
                  <a:ext cx="581" cy="145"/>
                  <a:chOff x="614" y="2568"/>
                  <a:chExt cx="725" cy="139"/>
                </a:xfrm>
              </p:grpSpPr>
              <p:sp>
                <p:nvSpPr>
                  <p:cNvPr id="114"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15"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90"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91" name="Group 960"/>
                <p:cNvGrpSpPr/>
                <p:nvPr/>
              </p:nvGrpSpPr>
              <p:grpSpPr bwMode="auto">
                <a:xfrm>
                  <a:off x="4747" y="994"/>
                  <a:ext cx="581" cy="134"/>
                  <a:chOff x="614" y="2568"/>
                  <a:chExt cx="725" cy="139"/>
                </a:xfrm>
              </p:grpSpPr>
              <p:sp>
                <p:nvSpPr>
                  <p:cNvPr id="112"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13"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92"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93"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94" name="Group 965"/>
                <p:cNvGrpSpPr/>
                <p:nvPr/>
              </p:nvGrpSpPr>
              <p:grpSpPr bwMode="auto">
                <a:xfrm>
                  <a:off x="4735" y="1627"/>
                  <a:ext cx="582" cy="151"/>
                  <a:chOff x="614" y="2568"/>
                  <a:chExt cx="725" cy="139"/>
                </a:xfrm>
              </p:grpSpPr>
              <p:sp>
                <p:nvSpPr>
                  <p:cNvPr id="110"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11"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95"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grpSp>
              <p:nvGrpSpPr>
                <p:cNvPr id="96" name="Group 969"/>
                <p:cNvGrpSpPr/>
                <p:nvPr/>
              </p:nvGrpSpPr>
              <p:grpSpPr bwMode="auto">
                <a:xfrm>
                  <a:off x="4739" y="1327"/>
                  <a:ext cx="582" cy="139"/>
                  <a:chOff x="614" y="2568"/>
                  <a:chExt cx="725" cy="139"/>
                </a:xfrm>
              </p:grpSpPr>
              <p:sp>
                <p:nvSpPr>
                  <p:cNvPr id="108"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09"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97"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98"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99"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00"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01"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02"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03"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04"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05"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800" b="0" i="0" u="sng" strike="noStrike" cap="none" spc="0">
                    <a:ln>
                      <a:noFill/>
                    </a:ln>
                    <a:solidFill>
                      <a:srgbClr val="FF0000"/>
                    </a:solidFill>
                    <a:latin typeface="+mn-lt"/>
                    <a:ea typeface="MS PGothic"/>
                    <a:cs typeface="Arial"/>
                  </a:endParaRPr>
                </a:p>
              </p:txBody>
            </p:sp>
            <p:sp>
              <p:nvSpPr>
                <p:cNvPr id="106"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07"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grpSp>
            <p:nvGrpSpPr>
              <p:cNvPr id="81" name="Group 590"/>
              <p:cNvGrpSpPr/>
              <p:nvPr/>
            </p:nvGrpSpPr>
            <p:grpSpPr bwMode="auto">
              <a:xfrm flipH="1">
                <a:off x="1136203" y="4624876"/>
                <a:ext cx="948819" cy="909191"/>
                <a:chOff x="2839" y="3501"/>
                <a:chExt cx="755" cy="803"/>
              </a:xfrm>
            </p:grpSpPr>
            <p:pic>
              <p:nvPicPr>
                <p:cNvPr id="82"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83"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u="sng"/>
                </a:p>
              </p:txBody>
            </p:sp>
          </p:grpSp>
        </p:grpSp>
        <p:cxnSp>
          <p:nvCxnSpPr>
            <p:cNvPr id="118" name="Straight Connector 117"/>
            <p:cNvCxnSpPr>
              <a:cxnSpLocks/>
              <a:stCxn id="44" idx="0"/>
              <a:endCxn id="123" idx="1"/>
            </p:cNvCxnSpPr>
            <p:nvPr/>
          </p:nvCxnSpPr>
          <p:spPr bwMode="auto">
            <a:xfrm flipV="1">
              <a:off x="3483443" y="3924349"/>
              <a:ext cx="374980" cy="915381"/>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119" name="Straight Connector 118"/>
            <p:cNvCxnSpPr>
              <a:cxnSpLocks/>
              <a:stCxn id="85" idx="0"/>
              <a:endCxn id="123" idx="3"/>
            </p:cNvCxnSpPr>
            <p:nvPr/>
          </p:nvCxnSpPr>
          <p:spPr bwMode="auto">
            <a:xfrm flipH="1" flipV="1">
              <a:off x="4723453" y="3924349"/>
              <a:ext cx="464605" cy="907147"/>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grpSp>
          <p:nvGrpSpPr>
            <p:cNvPr id="122" name="Group 121"/>
            <p:cNvGrpSpPr/>
            <p:nvPr/>
          </p:nvGrpSpPr>
          <p:grpSpPr bwMode="auto">
            <a:xfrm>
              <a:off x="3858423" y="3290348"/>
              <a:ext cx="868153" cy="794009"/>
              <a:chOff x="3668110" y="2448910"/>
              <a:chExt cx="3794234" cy="2165130"/>
            </a:xfrm>
          </p:grpSpPr>
          <p:sp>
            <p:nvSpPr>
              <p:cNvPr id="123" name="Rectangle 122"/>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4"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nvGrpSpPr>
              <p:cNvPr id="125" name="Group 124"/>
              <p:cNvGrpSpPr/>
              <p:nvPr/>
            </p:nvGrpSpPr>
            <p:grpSpPr bwMode="auto">
              <a:xfrm>
                <a:off x="3941378" y="2603243"/>
                <a:ext cx="3202060" cy="1066110"/>
                <a:chOff x="7939341" y="3037317"/>
                <a:chExt cx="897649" cy="353919"/>
              </a:xfrm>
            </p:grpSpPr>
            <p:sp>
              <p:nvSpPr>
                <p:cNvPr id="126"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7"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8"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9"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sp>
          <p:nvSpPr>
            <p:cNvPr id="137" name="Rectangle 136"/>
            <p:cNvSpPr/>
            <p:nvPr/>
          </p:nvSpPr>
          <p:spPr bwMode="auto">
            <a:xfrm>
              <a:off x="2140497" y="3805425"/>
              <a:ext cx="1532086" cy="369332"/>
            </a:xfrm>
            <a:prstGeom prst="rect">
              <a:avLst/>
            </a:prstGeom>
            <a:grpFill/>
          </p:spPr>
          <p:txBody>
            <a:bodyPr wrap="none">
              <a:spAutoFit/>
            </a:bodyPr>
            <a:lstStyle/>
            <a:p>
              <a:pPr>
                <a:defRPr/>
              </a:pPr>
              <a:r>
                <a:rPr lang="en-US">
                  <a:ea typeface="宋体"/>
                  <a:cs typeface="Courier New"/>
                </a:rPr>
                <a:t>Ethernet1/0/3</a:t>
              </a:r>
              <a:endParaRPr lang="en-US"/>
            </a:p>
          </p:txBody>
        </p:sp>
        <p:sp>
          <p:nvSpPr>
            <p:cNvPr id="141" name="Rectangle 140"/>
            <p:cNvSpPr/>
            <p:nvPr/>
          </p:nvSpPr>
          <p:spPr bwMode="auto">
            <a:xfrm>
              <a:off x="4900308" y="3805425"/>
              <a:ext cx="1532086" cy="369332"/>
            </a:xfrm>
            <a:prstGeom prst="rect">
              <a:avLst/>
            </a:prstGeom>
            <a:grpFill/>
          </p:spPr>
          <p:txBody>
            <a:bodyPr wrap="none">
              <a:spAutoFit/>
            </a:bodyPr>
            <a:lstStyle/>
            <a:p>
              <a:pPr>
                <a:defRPr/>
              </a:pPr>
              <a:r>
                <a:rPr lang="en-US">
                  <a:ea typeface="宋体"/>
                  <a:cs typeface="Courier New"/>
                </a:rPr>
                <a:t>Ethernet1/0/4</a:t>
              </a:r>
              <a:endParaRPr lang="en-US"/>
            </a:p>
          </p:txBody>
        </p:sp>
        <p:sp>
          <p:nvSpPr>
            <p:cNvPr id="142" name="Rectangle 141"/>
            <p:cNvSpPr/>
            <p:nvPr/>
          </p:nvSpPr>
          <p:spPr bwMode="auto">
            <a:xfrm>
              <a:off x="3246536" y="5657521"/>
              <a:ext cx="521297" cy="369332"/>
            </a:xfrm>
            <a:prstGeom prst="rect">
              <a:avLst/>
            </a:prstGeom>
            <a:grpFill/>
          </p:spPr>
          <p:txBody>
            <a:bodyPr wrap="none">
              <a:spAutoFit/>
            </a:bodyPr>
            <a:lstStyle/>
            <a:p>
              <a:pPr>
                <a:defRPr/>
              </a:pPr>
              <a:r>
                <a:rPr lang="en-US">
                  <a:ea typeface="宋体"/>
                  <a:cs typeface="Courier New"/>
                </a:rPr>
                <a:t>pc1</a:t>
              </a:r>
              <a:endParaRPr lang="en-US"/>
            </a:p>
          </p:txBody>
        </p:sp>
        <p:sp>
          <p:nvSpPr>
            <p:cNvPr id="143" name="Rectangle 142"/>
            <p:cNvSpPr/>
            <p:nvPr/>
          </p:nvSpPr>
          <p:spPr bwMode="auto">
            <a:xfrm>
              <a:off x="5025651" y="5672448"/>
              <a:ext cx="521297" cy="369332"/>
            </a:xfrm>
            <a:prstGeom prst="rect">
              <a:avLst/>
            </a:prstGeom>
            <a:grpFill/>
          </p:spPr>
          <p:txBody>
            <a:bodyPr wrap="none">
              <a:spAutoFit/>
            </a:bodyPr>
            <a:lstStyle/>
            <a:p>
              <a:pPr>
                <a:defRPr/>
              </a:pPr>
              <a:r>
                <a:rPr lang="en-US">
                  <a:ea typeface="宋体"/>
                  <a:cs typeface="Courier New"/>
                </a:rPr>
                <a:t>pc2</a:t>
              </a:r>
              <a:endParaRPr lang="en-US"/>
            </a:p>
          </p:txBody>
        </p:sp>
        <p:sp>
          <p:nvSpPr>
            <p:cNvPr id="116" name="Rectangle 115"/>
            <p:cNvSpPr/>
            <p:nvPr/>
          </p:nvSpPr>
          <p:spPr bwMode="auto">
            <a:xfrm>
              <a:off x="2743193" y="5897722"/>
              <a:ext cx="1734770" cy="369332"/>
            </a:xfrm>
            <a:prstGeom prst="rect">
              <a:avLst/>
            </a:prstGeom>
            <a:grpFill/>
          </p:spPr>
          <p:txBody>
            <a:bodyPr wrap="none">
              <a:spAutoFit/>
            </a:bodyPr>
            <a:lstStyle/>
            <a:p>
              <a:pPr>
                <a:defRPr/>
              </a:pPr>
              <a:r>
                <a:rPr lang="en-US"/>
                <a:t>192.168.1.11/24</a:t>
              </a:r>
            </a:p>
          </p:txBody>
        </p:sp>
        <p:sp>
          <p:nvSpPr>
            <p:cNvPr id="117" name="Rectangle 116"/>
            <p:cNvSpPr/>
            <p:nvPr/>
          </p:nvSpPr>
          <p:spPr bwMode="auto">
            <a:xfrm>
              <a:off x="4522308" y="5892181"/>
              <a:ext cx="1734770" cy="369332"/>
            </a:xfrm>
            <a:prstGeom prst="rect">
              <a:avLst/>
            </a:prstGeom>
            <a:grpFill/>
          </p:spPr>
          <p:txBody>
            <a:bodyPr wrap="none">
              <a:spAutoFit/>
            </a:bodyPr>
            <a:lstStyle/>
            <a:p>
              <a:pPr>
                <a:defRPr/>
              </a:pPr>
              <a:r>
                <a:rPr lang="en-US"/>
                <a:t>192.168.1.12/24</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2. </a:t>
            </a:r>
            <a:r>
              <a:rPr lang="zh-CN"/>
              <a:t>连接双节点网络</a:t>
            </a:r>
            <a:endParaRPr lang="en-US"/>
          </a:p>
        </p:txBody>
      </p:sp>
      <p:sp>
        <p:nvSpPr>
          <p:cNvPr id="3" name="Content Placeholder 2"/>
          <p:cNvSpPr>
            <a:spLocks noGrp="1"/>
          </p:cNvSpPr>
          <p:nvPr>
            <p:ph idx="1"/>
          </p:nvPr>
        </p:nvSpPr>
        <p:spPr bwMode="auto"/>
        <p:txBody>
          <a:bodyPr/>
          <a:lstStyle/>
          <a:p>
            <a:pPr marL="447675" lvl="1" indent="-358775">
              <a:buFont typeface="+mj-lt"/>
              <a:buAutoNum type="arabicParenR" startAt="2"/>
              <a:defRPr/>
            </a:pPr>
            <a:r>
              <a:rPr lang="zh-CN" dirty="0"/>
              <a:t>为两台主机设置</a:t>
            </a:r>
            <a:r>
              <a:rPr lang="zh-CN" dirty="0">
                <a:solidFill>
                  <a:srgbClr val="C00000"/>
                </a:solidFill>
              </a:rPr>
              <a:t>同一网段的</a:t>
            </a:r>
            <a:r>
              <a:rPr lang="en-US" dirty="0"/>
              <a:t>IP</a:t>
            </a:r>
            <a:r>
              <a:rPr lang="zh-CN" dirty="0"/>
              <a:t>地址。</a:t>
            </a:r>
            <a:endParaRPr lang="en-US" dirty="0"/>
          </a:p>
          <a:p>
            <a:pPr marL="447675" lvl="2" indent="-358775">
              <a:defRPr/>
            </a:pPr>
            <a:r>
              <a:rPr lang="zh-CN" dirty="0"/>
              <a:t>如何设置主机的</a:t>
            </a:r>
            <a:r>
              <a:rPr lang="en-US" dirty="0"/>
              <a:t>IP</a:t>
            </a:r>
            <a:r>
              <a:rPr lang="zh-CN" dirty="0"/>
              <a:t>地址呢？</a:t>
            </a:r>
            <a:endParaRPr lang="en-US" dirty="0"/>
          </a:p>
          <a:p>
            <a:pPr marL="454660" lvl="4" indent="0">
              <a:buNone/>
              <a:defRPr/>
            </a:pPr>
            <a:r>
              <a:rPr lang="en-US" dirty="0"/>
              <a:t>1</a:t>
            </a:r>
            <a:r>
              <a:rPr lang="zh-CN" dirty="0"/>
              <a:t>）控制面板</a:t>
            </a:r>
            <a:r>
              <a:rPr lang="en-US" dirty="0"/>
              <a:t>—&gt;</a:t>
            </a:r>
            <a:r>
              <a:rPr lang="zh-CN" dirty="0"/>
              <a:t>网络和</a:t>
            </a:r>
            <a:r>
              <a:rPr lang="en-US" dirty="0"/>
              <a:t>Internet —&gt;</a:t>
            </a:r>
            <a:r>
              <a:rPr lang="zh-CN" dirty="0"/>
              <a:t>网络连接</a:t>
            </a:r>
            <a:endParaRPr lang="en-US" dirty="0"/>
          </a:p>
          <a:p>
            <a:pPr marL="454660" lvl="4" indent="0">
              <a:buNone/>
              <a:defRPr/>
            </a:pPr>
            <a:r>
              <a:rPr lang="en-US" dirty="0"/>
              <a:t>2</a:t>
            </a:r>
            <a:r>
              <a:rPr lang="zh-CN" dirty="0"/>
              <a:t>）右键单击要设置的以太网接口，选择属性</a:t>
            </a:r>
            <a:endParaRPr lang="en-US" dirty="0"/>
          </a:p>
          <a:p>
            <a:pPr marL="454660" lvl="4" indent="0">
              <a:buNone/>
              <a:defRPr/>
            </a:pPr>
            <a:r>
              <a:rPr lang="en-US" dirty="0"/>
              <a:t>3</a:t>
            </a:r>
            <a:r>
              <a:rPr lang="zh-CN" dirty="0"/>
              <a:t>）</a:t>
            </a:r>
            <a:r>
              <a:rPr lang="en-US" dirty="0"/>
              <a:t>Internet</a:t>
            </a:r>
            <a:r>
              <a:rPr lang="zh-CN" dirty="0"/>
              <a:t>协议版本</a:t>
            </a:r>
            <a:r>
              <a:rPr lang="en-US" dirty="0"/>
              <a:t>4</a:t>
            </a:r>
            <a:r>
              <a:rPr lang="zh-CN" dirty="0"/>
              <a:t>（</a:t>
            </a:r>
            <a:r>
              <a:rPr lang="en-US" dirty="0"/>
              <a:t>TCP/IPv4</a:t>
            </a:r>
            <a:r>
              <a:rPr lang="zh-CN" dirty="0"/>
              <a:t>）</a:t>
            </a:r>
            <a:r>
              <a:rPr lang="en-US" dirty="0"/>
              <a:t> —&gt;</a:t>
            </a:r>
            <a:r>
              <a:rPr lang="zh-CN" dirty="0"/>
              <a:t>属性（见左图）</a:t>
            </a:r>
            <a:endParaRPr lang="en-US" dirty="0"/>
          </a:p>
          <a:p>
            <a:pPr marL="454660" lvl="4" indent="0">
              <a:buNone/>
              <a:defRPr/>
            </a:pPr>
            <a:r>
              <a:rPr lang="en-US" dirty="0"/>
              <a:t>4</a:t>
            </a:r>
            <a:r>
              <a:rPr lang="zh-CN" dirty="0"/>
              <a:t>）输入</a:t>
            </a:r>
            <a:r>
              <a:rPr lang="en-US" dirty="0"/>
              <a:t>IP</a:t>
            </a:r>
            <a:r>
              <a:rPr lang="zh-CN" dirty="0"/>
              <a:t>地址和子网掩码（见右图）</a:t>
            </a:r>
            <a:endParaRPr lang="en-US" dirty="0"/>
          </a:p>
          <a:p>
            <a:pPr marL="454660" lvl="4" indent="0">
              <a:buNone/>
              <a:defRPr/>
            </a:pPr>
            <a:r>
              <a:rPr lang="en-US" b="1" dirty="0">
                <a:solidFill>
                  <a:srgbClr val="C00000"/>
                </a:solidFill>
              </a:rPr>
              <a:t>5</a:t>
            </a:r>
            <a:r>
              <a:rPr lang="zh-CN" b="1" dirty="0">
                <a:solidFill>
                  <a:srgbClr val="C00000"/>
                </a:solidFill>
              </a:rPr>
              <a:t>）注意关闭防火墙</a:t>
            </a:r>
            <a:endParaRPr lang="en-US" b="1" dirty="0">
              <a:solidFill>
                <a:srgbClr val="C00000"/>
              </a:solidFill>
            </a:endParaRPr>
          </a:p>
          <a:p>
            <a:pPr marL="447675" lvl="2" indent="-358775">
              <a:defRPr/>
            </a:pPr>
            <a:endParaRPr lang="en-US" dirty="0"/>
          </a:p>
          <a:p>
            <a:pPr marL="447675" lvl="2" indent="-358775">
              <a:defRPr/>
            </a:pPr>
            <a:endParaRPr lang="en-US" dirty="0"/>
          </a:p>
          <a:p>
            <a:pPr marL="447675" lvl="2" indent="-358775">
              <a:defRPr/>
            </a:pPr>
            <a:endParaRPr lang="en-US" dirty="0"/>
          </a:p>
          <a:p>
            <a:pPr marL="447675" lvl="2" indent="-358775">
              <a:defRPr/>
            </a:pPr>
            <a:endParaRPr lang="en-US" dirty="0"/>
          </a:p>
          <a:p>
            <a:pPr marL="447675" lvl="2" indent="-358775">
              <a:defRPr/>
            </a:pPr>
            <a:endParaRPr lang="en-US" dirty="0"/>
          </a:p>
          <a:p>
            <a:pPr marL="447675" indent="-358775">
              <a:defRPr/>
            </a:pPr>
            <a:endParaRPr lang="en-US" dirty="0"/>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17</a:t>
            </a:fld>
            <a:endParaRPr lang="en-US"/>
          </a:p>
        </p:txBody>
      </p:sp>
      <p:pic>
        <p:nvPicPr>
          <p:cNvPr id="8" name="Picture 7"/>
          <p:cNvPicPr>
            <a:picLocks noChangeAspect="1"/>
          </p:cNvPicPr>
          <p:nvPr/>
        </p:nvPicPr>
        <p:blipFill>
          <a:blip r:embed="rId2"/>
          <a:stretch/>
        </p:blipFill>
        <p:spPr bwMode="auto">
          <a:xfrm>
            <a:off x="4979585" y="3722668"/>
            <a:ext cx="2016700" cy="2520000"/>
          </a:xfrm>
          <a:prstGeom prst="rect">
            <a:avLst/>
          </a:prstGeom>
        </p:spPr>
      </p:pic>
      <p:pic>
        <p:nvPicPr>
          <p:cNvPr id="9" name="Picture 8"/>
          <p:cNvPicPr>
            <a:picLocks noChangeAspect="1"/>
          </p:cNvPicPr>
          <p:nvPr/>
        </p:nvPicPr>
        <p:blipFill>
          <a:blip r:embed="rId3"/>
          <a:stretch/>
        </p:blipFill>
        <p:spPr bwMode="auto">
          <a:xfrm>
            <a:off x="1790666" y="3722668"/>
            <a:ext cx="1774430" cy="2520000"/>
          </a:xfrm>
          <a:prstGeom prst="rect">
            <a:avLst/>
          </a:prstGeom>
        </p:spPr>
      </p:pic>
      <p:sp>
        <p:nvSpPr>
          <p:cNvPr id="10" name="Rectangle 9"/>
          <p:cNvSpPr/>
          <p:nvPr/>
        </p:nvSpPr>
        <p:spPr bwMode="auto">
          <a:xfrm>
            <a:off x="1790666" y="4847684"/>
            <a:ext cx="1774430" cy="102687"/>
          </a:xfrm>
          <a:prstGeom prst="rect">
            <a:avLst/>
          </a:prstGeom>
          <a:noFill/>
          <a:ln w="19050" cap="flat" cmpd="sng" algn="ctr">
            <a:solidFill>
              <a:srgbClr val="C00000"/>
            </a:solidFill>
            <a:prstDash val="solid"/>
            <a:round/>
            <a:headEnd type="none" w="med" len="med"/>
            <a:tailEnd type="none" w="med" len="med"/>
          </a:ln>
        </p:spPr>
        <p:style>
          <a:lnRef idx="0">
            <a:srgbClr val="000000"/>
          </a:lnRef>
          <a:fillRef idx="0">
            <a:srgbClr val="000000"/>
          </a:fillRef>
          <a:effectRef idx="0">
            <a:srgbClr val="000000"/>
          </a:effectRef>
          <a:fontRef idx="minor">
            <a:schemeClr val="accent3"/>
          </a:fontRef>
        </p:style>
        <p:txBody>
          <a:bodyPr rtlCol="0" anchor="ctr"/>
          <a:lstStyle/>
          <a:p>
            <a:pPr algn="ctr">
              <a:defRPr/>
            </a:pPr>
            <a:endParaRPr lang="en-US" baseline="-25000"/>
          </a:p>
        </p:txBody>
      </p:sp>
      <p:sp>
        <p:nvSpPr>
          <p:cNvPr id="11" name="Rectangle 10"/>
          <p:cNvSpPr/>
          <p:nvPr/>
        </p:nvSpPr>
        <p:spPr bwMode="auto">
          <a:xfrm>
            <a:off x="2945753" y="5385499"/>
            <a:ext cx="547886" cy="149261"/>
          </a:xfrm>
          <a:prstGeom prst="rect">
            <a:avLst/>
          </a:prstGeom>
          <a:noFill/>
          <a:ln w="19050" cap="flat" cmpd="sng" algn="ctr">
            <a:solidFill>
              <a:srgbClr val="C00000"/>
            </a:solidFill>
            <a:prstDash val="solid"/>
            <a:round/>
            <a:headEnd type="none" w="med" len="med"/>
            <a:tailEnd type="none" w="med" len="med"/>
          </a:ln>
        </p:spPr>
        <p:style>
          <a:lnRef idx="0">
            <a:srgbClr val="000000"/>
          </a:lnRef>
          <a:fillRef idx="0">
            <a:srgbClr val="000000"/>
          </a:fillRef>
          <a:effectRef idx="0">
            <a:srgbClr val="000000"/>
          </a:effectRef>
          <a:fontRef idx="minor">
            <a:schemeClr val="accent3"/>
          </a:fontRef>
        </p:style>
        <p:txBody>
          <a:bodyPr rtlCol="0" anchor="ctr"/>
          <a:lstStyle/>
          <a:p>
            <a:pPr algn="ctr">
              <a:defRPr/>
            </a:pPr>
            <a:endParaRPr lang="en-US" baseline="-25000"/>
          </a:p>
        </p:txBody>
      </p:sp>
      <p:sp>
        <p:nvSpPr>
          <p:cNvPr id="12" name="Rectangle 11"/>
          <p:cNvSpPr/>
          <p:nvPr/>
        </p:nvSpPr>
        <p:spPr bwMode="auto">
          <a:xfrm>
            <a:off x="4979584" y="4522601"/>
            <a:ext cx="2016699" cy="604346"/>
          </a:xfrm>
          <a:prstGeom prst="rect">
            <a:avLst/>
          </a:prstGeom>
          <a:noFill/>
          <a:ln w="19050" cap="flat" cmpd="sng" algn="ctr">
            <a:solidFill>
              <a:srgbClr val="C00000"/>
            </a:solidFill>
            <a:prstDash val="solid"/>
            <a:round/>
            <a:headEnd type="none" w="med" len="med"/>
            <a:tailEnd type="none" w="med" len="med"/>
          </a:ln>
        </p:spPr>
        <p:style>
          <a:lnRef idx="0">
            <a:srgbClr val="000000"/>
          </a:lnRef>
          <a:fillRef idx="0">
            <a:srgbClr val="000000"/>
          </a:fillRef>
          <a:effectRef idx="0">
            <a:srgbClr val="000000"/>
          </a:effectRef>
          <a:fontRef idx="minor">
            <a:schemeClr val="accent3"/>
          </a:fontRef>
        </p:style>
        <p:txBody>
          <a:bodyPr rtlCol="0" anchor="ctr"/>
          <a:lstStyle/>
          <a:p>
            <a:pPr algn="ctr">
              <a:defRPr/>
            </a:pPr>
            <a:endParaRPr lang="en-US" baseline="-25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p:cNvSpPr>
            <a:spLocks noGrp="1"/>
          </p:cNvSpPr>
          <p:nvPr>
            <p:ph type="title"/>
          </p:nvPr>
        </p:nvSpPr>
        <p:spPr bwMode="auto"/>
        <p:txBody>
          <a:bodyPr/>
          <a:lstStyle/>
          <a:p>
            <a:pPr>
              <a:defRPr/>
            </a:pPr>
            <a:r>
              <a:rPr lang="zh-CN"/>
              <a:t>实验内容</a:t>
            </a:r>
            <a:endParaRPr lang="en-US"/>
          </a:p>
        </p:txBody>
      </p:sp>
      <p:sp>
        <p:nvSpPr>
          <p:cNvPr id="2" name="Content Placeholder 1"/>
          <p:cNvSpPr>
            <a:spLocks noGrp="1"/>
          </p:cNvSpPr>
          <p:nvPr>
            <p:ph idx="1"/>
          </p:nvPr>
        </p:nvSpPr>
        <p:spPr bwMode="auto"/>
        <p:txBody>
          <a:bodyPr/>
          <a:lstStyle/>
          <a:p>
            <a:pPr marL="514350" indent="-514350">
              <a:buFont typeface="+mj-lt"/>
              <a:buAutoNum type="arabicPeriod"/>
              <a:defRPr/>
            </a:pPr>
            <a:r>
              <a:rPr lang="zh-CN"/>
              <a:t>登录交换机</a:t>
            </a:r>
            <a:endParaRPr/>
          </a:p>
          <a:p>
            <a:pPr marL="514350" indent="-514350">
              <a:buFont typeface="+mj-lt"/>
              <a:buAutoNum type="arabicPeriod"/>
              <a:defRPr/>
            </a:pPr>
            <a:r>
              <a:rPr lang="zh-CN"/>
              <a:t>连接双节点网络</a:t>
            </a:r>
            <a:endParaRPr/>
          </a:p>
          <a:p>
            <a:pPr marL="514350" indent="-514350">
              <a:buFont typeface="+mj-lt"/>
              <a:buAutoNum type="arabicPeriod"/>
              <a:defRPr/>
            </a:pPr>
            <a:r>
              <a:rPr lang="zh-CN">
                <a:solidFill>
                  <a:schemeClr val="accent2"/>
                </a:solidFill>
              </a:rPr>
              <a:t>配置双节点网络</a:t>
            </a:r>
            <a:r>
              <a:rPr lang="en-US">
                <a:solidFill>
                  <a:schemeClr val="accent2"/>
                </a:solidFill>
              </a:rPr>
              <a:t>VLAN</a:t>
            </a:r>
            <a:endParaRPr/>
          </a:p>
          <a:p>
            <a:pPr marL="514350" indent="-514350">
              <a:buFont typeface="+mj-lt"/>
              <a:buAutoNum type="arabicPeriod"/>
              <a:defRPr/>
            </a:pPr>
            <a:r>
              <a:rPr lang="zh-CN"/>
              <a:t>配置四节点网络</a:t>
            </a:r>
            <a:r>
              <a:rPr lang="en-US"/>
              <a:t>VLAN</a:t>
            </a:r>
            <a:endParaRPr/>
          </a:p>
          <a:p>
            <a:pPr>
              <a:defRPr/>
            </a:pPr>
            <a:endParaRPr lang="en-US"/>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3. </a:t>
            </a:r>
            <a:r>
              <a:rPr lang="zh-CN"/>
              <a:t>配置双节点网络</a:t>
            </a:r>
            <a:r>
              <a:rPr lang="en-US"/>
              <a:t>VLAN </a:t>
            </a:r>
          </a:p>
        </p:txBody>
      </p:sp>
      <p:sp>
        <p:nvSpPr>
          <p:cNvPr id="3" name="Content Placeholder 2"/>
          <p:cNvSpPr>
            <a:spLocks noGrp="1"/>
          </p:cNvSpPr>
          <p:nvPr>
            <p:ph idx="1"/>
          </p:nvPr>
        </p:nvSpPr>
        <p:spPr bwMode="auto"/>
        <p:txBody>
          <a:bodyPr/>
          <a:lstStyle/>
          <a:p>
            <a:pPr marL="447675" lvl="1" indent="-358775">
              <a:defRPr/>
            </a:pPr>
            <a:r>
              <a:rPr lang="zh-CN" dirty="0"/>
              <a:t>要求：建立</a:t>
            </a:r>
            <a:r>
              <a:rPr lang="en-US" dirty="0"/>
              <a:t>VLAN2</a:t>
            </a:r>
            <a:r>
              <a:rPr lang="zh-CN" dirty="0"/>
              <a:t>、</a:t>
            </a:r>
            <a:r>
              <a:rPr lang="en-US" dirty="0"/>
              <a:t>VLAN3</a:t>
            </a:r>
            <a:r>
              <a:rPr lang="zh-CN" dirty="0"/>
              <a:t>，通过配置将端口</a:t>
            </a:r>
            <a:r>
              <a:rPr lang="en-US" dirty="0"/>
              <a:t>Ethernet1/0/3</a:t>
            </a:r>
            <a:r>
              <a:rPr lang="zh-CN" dirty="0"/>
              <a:t>包含到</a:t>
            </a:r>
            <a:r>
              <a:rPr lang="en-US" dirty="0"/>
              <a:t>VLAN2</a:t>
            </a:r>
            <a:r>
              <a:rPr lang="zh-CN" dirty="0"/>
              <a:t>中，将端口</a:t>
            </a:r>
            <a:r>
              <a:rPr lang="en-US" dirty="0"/>
              <a:t>Ethernet 1/0/4</a:t>
            </a:r>
            <a:r>
              <a:rPr lang="zh-CN" dirty="0"/>
              <a:t>包含到</a:t>
            </a:r>
            <a:r>
              <a:rPr lang="en-US" dirty="0"/>
              <a:t>VLAN3</a:t>
            </a:r>
            <a:r>
              <a:rPr lang="zh-CN" dirty="0"/>
              <a:t>中。</a:t>
            </a:r>
            <a:endParaRPr lang="en-US" dirty="0"/>
          </a:p>
          <a:p>
            <a:pPr marL="447675" lvl="1" indent="-358775">
              <a:defRPr/>
            </a:pPr>
            <a:r>
              <a:rPr lang="zh-CN" i="1" u="sng" dirty="0">
                <a:solidFill>
                  <a:srgbClr val="C00000"/>
                </a:solidFill>
              </a:rPr>
              <a:t>注意：</a:t>
            </a:r>
            <a:r>
              <a:rPr lang="en-US" i="1" u="sng" dirty="0">
                <a:solidFill>
                  <a:srgbClr val="C00000"/>
                </a:solidFill>
              </a:rPr>
              <a:t>VLAN 1</a:t>
            </a:r>
            <a:r>
              <a:rPr lang="zh-CN" i="1" u="sng" dirty="0">
                <a:solidFill>
                  <a:srgbClr val="C00000"/>
                </a:solidFill>
              </a:rPr>
              <a:t>是系统自带的</a:t>
            </a:r>
            <a:r>
              <a:rPr lang="en-US" i="1" u="sng" dirty="0">
                <a:solidFill>
                  <a:srgbClr val="C00000"/>
                </a:solidFill>
              </a:rPr>
              <a:t>VLAN</a:t>
            </a:r>
            <a:r>
              <a:rPr lang="zh-CN" i="1" u="sng" dirty="0">
                <a:solidFill>
                  <a:srgbClr val="C00000"/>
                </a:solidFill>
              </a:rPr>
              <a:t>，不需要创建，也不可以删除。</a:t>
            </a:r>
            <a:endParaRPr lang="en-US" i="1" u="sng" dirty="0">
              <a:solidFill>
                <a:srgbClr val="C00000"/>
              </a:solidFill>
            </a:endParaRPr>
          </a:p>
          <a:p>
            <a:pPr marL="447675" lvl="1" indent="-358775">
              <a:defRPr/>
            </a:pPr>
            <a:endParaRPr lang="en-US" dirty="0"/>
          </a:p>
        </p:txBody>
      </p:sp>
      <p:sp>
        <p:nvSpPr>
          <p:cNvPr id="7" name="Date Placeholder 6"/>
          <p:cNvSpPr>
            <a:spLocks noGrp="1"/>
          </p:cNvSpPr>
          <p:nvPr>
            <p:ph type="dt" sz="half" idx="10"/>
          </p:nvPr>
        </p:nvSpPr>
        <p:spPr bwMode="auto"/>
        <p:txBody>
          <a:bodyPr/>
          <a:lstStyle/>
          <a:p>
            <a:pPr>
              <a:defRPr/>
            </a:pPr>
            <a:r>
              <a:rPr lang="en-US"/>
              <a:t>3/1/2020</a:t>
            </a:r>
            <a:endParaRPr/>
          </a:p>
        </p:txBody>
      </p:sp>
      <p:sp>
        <p:nvSpPr>
          <p:cNvPr id="8" name="Footer Placeholder 7"/>
          <p:cNvSpPr>
            <a:spLocks noGrp="1"/>
          </p:cNvSpPr>
          <p:nvPr>
            <p:ph type="ftr" sz="quarter" idx="11"/>
          </p:nvPr>
        </p:nvSpPr>
        <p:spPr bwMode="auto"/>
        <p:txBody>
          <a:bodyPr/>
          <a:lstStyle/>
          <a:p>
            <a:pPr>
              <a:defRPr/>
            </a:pPr>
            <a:r>
              <a:rPr lang="zh-CN"/>
              <a:t>计算机网络实验</a:t>
            </a:r>
            <a:endParaRPr lang="en-US"/>
          </a:p>
        </p:txBody>
      </p:sp>
      <p:sp>
        <p:nvSpPr>
          <p:cNvPr id="9" name="Slide Number Placeholder 8"/>
          <p:cNvSpPr>
            <a:spLocks noGrp="1"/>
          </p:cNvSpPr>
          <p:nvPr>
            <p:ph type="sldNum" sz="quarter" idx="12"/>
          </p:nvPr>
        </p:nvSpPr>
        <p:spPr bwMode="auto"/>
        <p:txBody>
          <a:bodyPr/>
          <a:lstStyle/>
          <a:p>
            <a:pPr>
              <a:defRPr/>
            </a:pPr>
            <a:fld id="{0ECDF2DC-913F-4A16-9C18-8900B299D998}" type="slidenum">
              <a:rPr lang="en-US"/>
              <a:t>19</a:t>
            </a:fld>
            <a:endParaRPr lang="en-US"/>
          </a:p>
        </p:txBody>
      </p:sp>
      <p:grpSp>
        <p:nvGrpSpPr>
          <p:cNvPr id="6" name="Group 5"/>
          <p:cNvGrpSpPr/>
          <p:nvPr/>
        </p:nvGrpSpPr>
        <p:grpSpPr bwMode="auto">
          <a:xfrm>
            <a:off x="2140497" y="3420000"/>
            <a:ext cx="4291897" cy="2976706"/>
            <a:chOff x="2140497" y="3290348"/>
            <a:chExt cx="4291897" cy="2976706"/>
          </a:xfrm>
        </p:grpSpPr>
        <p:grpSp>
          <p:nvGrpSpPr>
            <p:cNvPr id="121" name="Group 120"/>
            <p:cNvGrpSpPr/>
            <p:nvPr/>
          </p:nvGrpSpPr>
          <p:grpSpPr bwMode="auto">
            <a:xfrm>
              <a:off x="2140497" y="3290348"/>
              <a:ext cx="4291897" cy="2976706"/>
              <a:chOff x="2140497" y="3290348"/>
              <a:chExt cx="4291897" cy="2976706"/>
            </a:xfrm>
          </p:grpSpPr>
          <p:grpSp>
            <p:nvGrpSpPr>
              <p:cNvPr id="130" name="Group 129"/>
              <p:cNvGrpSpPr/>
              <p:nvPr/>
            </p:nvGrpSpPr>
            <p:grpSpPr bwMode="auto">
              <a:xfrm>
                <a:off x="2647144" y="4839730"/>
                <a:ext cx="1061526" cy="823469"/>
                <a:chOff x="1136203" y="4520619"/>
                <a:chExt cx="1419428" cy="1013448"/>
              </a:xfrm>
            </p:grpSpPr>
            <p:grpSp>
              <p:nvGrpSpPr>
                <p:cNvPr id="190" name="Group 950"/>
                <p:cNvGrpSpPr/>
                <p:nvPr/>
              </p:nvGrpSpPr>
              <p:grpSpPr bwMode="auto">
                <a:xfrm>
                  <a:off x="2039815" y="4520619"/>
                  <a:ext cx="515816" cy="969179"/>
                  <a:chOff x="4140" y="429"/>
                  <a:chExt cx="1425" cy="2396"/>
                </a:xfrm>
              </p:grpSpPr>
              <p:sp>
                <p:nvSpPr>
                  <p:cNvPr id="194"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95"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96"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97"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98"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199" name="Group 956"/>
                  <p:cNvGrpSpPr/>
                  <p:nvPr/>
                </p:nvGrpSpPr>
                <p:grpSpPr bwMode="auto">
                  <a:xfrm>
                    <a:off x="4749" y="668"/>
                    <a:ext cx="581" cy="145"/>
                    <a:chOff x="614" y="2568"/>
                    <a:chExt cx="725" cy="139"/>
                  </a:xfrm>
                </p:grpSpPr>
                <p:sp>
                  <p:nvSpPr>
                    <p:cNvPr id="224"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25"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200"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201" name="Group 960"/>
                  <p:cNvGrpSpPr/>
                  <p:nvPr/>
                </p:nvGrpSpPr>
                <p:grpSpPr bwMode="auto">
                  <a:xfrm>
                    <a:off x="4747" y="994"/>
                    <a:ext cx="581" cy="134"/>
                    <a:chOff x="614" y="2568"/>
                    <a:chExt cx="725" cy="139"/>
                  </a:xfrm>
                </p:grpSpPr>
                <p:sp>
                  <p:nvSpPr>
                    <p:cNvPr id="222"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23"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202"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03"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204" name="Group 965"/>
                  <p:cNvGrpSpPr/>
                  <p:nvPr/>
                </p:nvGrpSpPr>
                <p:grpSpPr bwMode="auto">
                  <a:xfrm>
                    <a:off x="4735" y="1627"/>
                    <a:ext cx="582" cy="151"/>
                    <a:chOff x="614" y="2568"/>
                    <a:chExt cx="725" cy="139"/>
                  </a:xfrm>
                </p:grpSpPr>
                <p:sp>
                  <p:nvSpPr>
                    <p:cNvPr id="220"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21"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205"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grpSp>
                <p:nvGrpSpPr>
                  <p:cNvPr id="206" name="Group 969"/>
                  <p:cNvGrpSpPr/>
                  <p:nvPr/>
                </p:nvGrpSpPr>
                <p:grpSpPr bwMode="auto">
                  <a:xfrm>
                    <a:off x="4739" y="1327"/>
                    <a:ext cx="582" cy="139"/>
                    <a:chOff x="614" y="2568"/>
                    <a:chExt cx="725" cy="139"/>
                  </a:xfrm>
                </p:grpSpPr>
                <p:sp>
                  <p:nvSpPr>
                    <p:cNvPr id="218"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19"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207"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08"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209"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210"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11"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212"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13"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14"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15"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800" b="0" i="0" u="sng" strike="noStrike" cap="none" spc="0">
                      <a:ln>
                        <a:noFill/>
                      </a:ln>
                      <a:solidFill>
                        <a:srgbClr val="FF0000"/>
                      </a:solidFill>
                      <a:latin typeface="+mn-lt"/>
                      <a:ea typeface="MS PGothic"/>
                      <a:cs typeface="Arial"/>
                    </a:endParaRPr>
                  </a:p>
                </p:txBody>
              </p:sp>
              <p:sp>
                <p:nvSpPr>
                  <p:cNvPr id="216"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217"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grpSp>
              <p:nvGrpSpPr>
                <p:cNvPr id="191" name="Group 590"/>
                <p:cNvGrpSpPr/>
                <p:nvPr/>
              </p:nvGrpSpPr>
              <p:grpSpPr bwMode="auto">
                <a:xfrm flipH="1">
                  <a:off x="1136203" y="4624876"/>
                  <a:ext cx="948819" cy="909191"/>
                  <a:chOff x="2839" y="3501"/>
                  <a:chExt cx="755" cy="803"/>
                </a:xfrm>
              </p:grpSpPr>
              <p:pic>
                <p:nvPicPr>
                  <p:cNvPr id="192"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93"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u="sng"/>
                  </a:p>
                </p:txBody>
              </p:sp>
            </p:grpSp>
          </p:grpSp>
          <p:grpSp>
            <p:nvGrpSpPr>
              <p:cNvPr id="131" name="Group 130"/>
              <p:cNvGrpSpPr/>
              <p:nvPr/>
            </p:nvGrpSpPr>
            <p:grpSpPr bwMode="auto">
              <a:xfrm>
                <a:off x="4351760" y="4831496"/>
                <a:ext cx="1061526" cy="831703"/>
                <a:chOff x="1136203" y="4520619"/>
                <a:chExt cx="1419428" cy="1013448"/>
              </a:xfrm>
            </p:grpSpPr>
            <p:grpSp>
              <p:nvGrpSpPr>
                <p:cNvPr id="154" name="Group 950"/>
                <p:cNvGrpSpPr/>
                <p:nvPr/>
              </p:nvGrpSpPr>
              <p:grpSpPr bwMode="auto">
                <a:xfrm>
                  <a:off x="2039815" y="4520619"/>
                  <a:ext cx="515816" cy="969179"/>
                  <a:chOff x="4140" y="429"/>
                  <a:chExt cx="1425" cy="2396"/>
                </a:xfrm>
              </p:grpSpPr>
              <p:sp>
                <p:nvSpPr>
                  <p:cNvPr id="158"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59"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60"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61"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62"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163" name="Group 956"/>
                  <p:cNvGrpSpPr/>
                  <p:nvPr/>
                </p:nvGrpSpPr>
                <p:grpSpPr bwMode="auto">
                  <a:xfrm>
                    <a:off x="4749" y="668"/>
                    <a:ext cx="581" cy="145"/>
                    <a:chOff x="614" y="2568"/>
                    <a:chExt cx="725" cy="139"/>
                  </a:xfrm>
                </p:grpSpPr>
                <p:sp>
                  <p:nvSpPr>
                    <p:cNvPr id="188"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9"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64"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165" name="Group 960"/>
                  <p:cNvGrpSpPr/>
                  <p:nvPr/>
                </p:nvGrpSpPr>
                <p:grpSpPr bwMode="auto">
                  <a:xfrm>
                    <a:off x="4747" y="994"/>
                    <a:ext cx="581" cy="134"/>
                    <a:chOff x="614" y="2568"/>
                    <a:chExt cx="725" cy="139"/>
                  </a:xfrm>
                </p:grpSpPr>
                <p:sp>
                  <p:nvSpPr>
                    <p:cNvPr id="186"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7"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66"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67"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168" name="Group 965"/>
                  <p:cNvGrpSpPr/>
                  <p:nvPr/>
                </p:nvGrpSpPr>
                <p:grpSpPr bwMode="auto">
                  <a:xfrm>
                    <a:off x="4735" y="1627"/>
                    <a:ext cx="582" cy="151"/>
                    <a:chOff x="614" y="2568"/>
                    <a:chExt cx="725" cy="139"/>
                  </a:xfrm>
                </p:grpSpPr>
                <p:sp>
                  <p:nvSpPr>
                    <p:cNvPr id="184"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5"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69"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grpSp>
                <p:nvGrpSpPr>
                  <p:cNvPr id="170" name="Group 969"/>
                  <p:cNvGrpSpPr/>
                  <p:nvPr/>
                </p:nvGrpSpPr>
                <p:grpSpPr bwMode="auto">
                  <a:xfrm>
                    <a:off x="4739" y="1327"/>
                    <a:ext cx="582" cy="139"/>
                    <a:chOff x="614" y="2568"/>
                    <a:chExt cx="725" cy="139"/>
                  </a:xfrm>
                </p:grpSpPr>
                <p:sp>
                  <p:nvSpPr>
                    <p:cNvPr id="182"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3"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71"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72"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73"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74"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75"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76"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77"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78"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79"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800" b="0" i="0" u="sng" strike="noStrike" cap="none" spc="0">
                      <a:ln>
                        <a:noFill/>
                      </a:ln>
                      <a:solidFill>
                        <a:srgbClr val="FF0000"/>
                      </a:solidFill>
                      <a:latin typeface="+mn-lt"/>
                      <a:ea typeface="MS PGothic"/>
                      <a:cs typeface="Arial"/>
                    </a:endParaRPr>
                  </a:p>
                </p:txBody>
              </p:sp>
              <p:sp>
                <p:nvSpPr>
                  <p:cNvPr id="180"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1"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grpSp>
              <p:nvGrpSpPr>
                <p:cNvPr id="155" name="Group 590"/>
                <p:cNvGrpSpPr/>
                <p:nvPr/>
              </p:nvGrpSpPr>
              <p:grpSpPr bwMode="auto">
                <a:xfrm flipH="1">
                  <a:off x="1136203" y="4624876"/>
                  <a:ext cx="948819" cy="909191"/>
                  <a:chOff x="2839" y="3501"/>
                  <a:chExt cx="755" cy="803"/>
                </a:xfrm>
              </p:grpSpPr>
              <p:pic>
                <p:nvPicPr>
                  <p:cNvPr id="156"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57"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u="sng"/>
                  </a:p>
                </p:txBody>
              </p:sp>
            </p:grpSp>
          </p:grpSp>
          <p:cxnSp>
            <p:nvCxnSpPr>
              <p:cNvPr id="132" name="Straight Connector 131"/>
              <p:cNvCxnSpPr>
                <a:cxnSpLocks/>
                <a:stCxn id="195" idx="0"/>
                <a:endCxn id="147" idx="1"/>
              </p:cNvCxnSpPr>
              <p:nvPr/>
            </p:nvCxnSpPr>
            <p:spPr bwMode="auto">
              <a:xfrm flipV="1">
                <a:off x="3483443" y="3924349"/>
                <a:ext cx="374980" cy="915381"/>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133" name="Straight Connector 132"/>
              <p:cNvCxnSpPr>
                <a:cxnSpLocks/>
                <a:stCxn id="159" idx="0"/>
                <a:endCxn id="147" idx="3"/>
              </p:cNvCxnSpPr>
              <p:nvPr/>
            </p:nvCxnSpPr>
            <p:spPr bwMode="auto">
              <a:xfrm flipH="1" flipV="1">
                <a:off x="4723453" y="3924349"/>
                <a:ext cx="464605" cy="907147"/>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grpSp>
            <p:nvGrpSpPr>
              <p:cNvPr id="134" name="Group 133"/>
              <p:cNvGrpSpPr/>
              <p:nvPr/>
            </p:nvGrpSpPr>
            <p:grpSpPr bwMode="auto">
              <a:xfrm>
                <a:off x="3858423" y="3290348"/>
                <a:ext cx="868153" cy="794009"/>
                <a:chOff x="3668110" y="2448910"/>
                <a:chExt cx="3794234" cy="2165130"/>
              </a:xfrm>
            </p:grpSpPr>
            <p:sp>
              <p:nvSpPr>
                <p:cNvPr id="147" name="Rectangle 146"/>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8"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nvGrpSpPr>
                <p:cNvPr id="149" name="Group 148"/>
                <p:cNvGrpSpPr/>
                <p:nvPr/>
              </p:nvGrpSpPr>
              <p:grpSpPr bwMode="auto">
                <a:xfrm>
                  <a:off x="3941378" y="2603243"/>
                  <a:ext cx="3202060" cy="1066110"/>
                  <a:chOff x="7939341" y="3037317"/>
                  <a:chExt cx="897649" cy="353919"/>
                </a:xfrm>
              </p:grpSpPr>
              <p:sp>
                <p:nvSpPr>
                  <p:cNvPr id="150"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1"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2"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3"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sp>
            <p:nvSpPr>
              <p:cNvPr id="135" name="Rectangle 134"/>
              <p:cNvSpPr/>
              <p:nvPr/>
            </p:nvSpPr>
            <p:spPr bwMode="auto">
              <a:xfrm>
                <a:off x="2140497" y="3805425"/>
                <a:ext cx="1532086" cy="369332"/>
              </a:xfrm>
              <a:prstGeom prst="rect">
                <a:avLst/>
              </a:prstGeom>
              <a:grpFill/>
            </p:spPr>
            <p:txBody>
              <a:bodyPr wrap="none">
                <a:spAutoFit/>
              </a:bodyPr>
              <a:lstStyle/>
              <a:p>
                <a:pPr>
                  <a:defRPr/>
                </a:pPr>
                <a:r>
                  <a:rPr lang="en-US">
                    <a:ea typeface="宋体"/>
                    <a:cs typeface="Courier New"/>
                  </a:rPr>
                  <a:t>Ethernet1/0/3</a:t>
                </a:r>
                <a:endParaRPr lang="en-US"/>
              </a:p>
            </p:txBody>
          </p:sp>
          <p:sp>
            <p:nvSpPr>
              <p:cNvPr id="136" name="Rectangle 135"/>
              <p:cNvSpPr/>
              <p:nvPr/>
            </p:nvSpPr>
            <p:spPr bwMode="auto">
              <a:xfrm>
                <a:off x="4900308" y="3805425"/>
                <a:ext cx="1532086" cy="369332"/>
              </a:xfrm>
              <a:prstGeom prst="rect">
                <a:avLst/>
              </a:prstGeom>
              <a:grpFill/>
            </p:spPr>
            <p:txBody>
              <a:bodyPr wrap="none">
                <a:spAutoFit/>
              </a:bodyPr>
              <a:lstStyle/>
              <a:p>
                <a:pPr>
                  <a:defRPr/>
                </a:pPr>
                <a:r>
                  <a:rPr lang="en-US">
                    <a:ea typeface="宋体"/>
                    <a:cs typeface="Courier New"/>
                  </a:rPr>
                  <a:t>Ethernet1/0/4</a:t>
                </a:r>
                <a:endParaRPr lang="en-US"/>
              </a:p>
            </p:txBody>
          </p:sp>
          <p:sp>
            <p:nvSpPr>
              <p:cNvPr id="138" name="Rectangle 137"/>
              <p:cNvSpPr/>
              <p:nvPr/>
            </p:nvSpPr>
            <p:spPr bwMode="auto">
              <a:xfrm>
                <a:off x="3246536" y="5657521"/>
                <a:ext cx="521297" cy="369332"/>
              </a:xfrm>
              <a:prstGeom prst="rect">
                <a:avLst/>
              </a:prstGeom>
              <a:grpFill/>
            </p:spPr>
            <p:txBody>
              <a:bodyPr wrap="none">
                <a:spAutoFit/>
              </a:bodyPr>
              <a:lstStyle/>
              <a:p>
                <a:pPr>
                  <a:defRPr/>
                </a:pPr>
                <a:r>
                  <a:rPr lang="en-US">
                    <a:ea typeface="宋体"/>
                    <a:cs typeface="Courier New"/>
                  </a:rPr>
                  <a:t>pc1</a:t>
                </a:r>
                <a:endParaRPr lang="en-US"/>
              </a:p>
            </p:txBody>
          </p:sp>
          <p:sp>
            <p:nvSpPr>
              <p:cNvPr id="140" name="Rectangle 139"/>
              <p:cNvSpPr/>
              <p:nvPr/>
            </p:nvSpPr>
            <p:spPr bwMode="auto">
              <a:xfrm>
                <a:off x="5025651" y="5672448"/>
                <a:ext cx="521297" cy="369332"/>
              </a:xfrm>
              <a:prstGeom prst="rect">
                <a:avLst/>
              </a:prstGeom>
              <a:grpFill/>
            </p:spPr>
            <p:txBody>
              <a:bodyPr wrap="none">
                <a:spAutoFit/>
              </a:bodyPr>
              <a:lstStyle/>
              <a:p>
                <a:pPr>
                  <a:defRPr/>
                </a:pPr>
                <a:r>
                  <a:rPr lang="en-US">
                    <a:ea typeface="宋体"/>
                    <a:cs typeface="Courier New"/>
                  </a:rPr>
                  <a:t>pc2</a:t>
                </a:r>
                <a:endParaRPr lang="en-US"/>
              </a:p>
            </p:txBody>
          </p:sp>
          <p:sp>
            <p:nvSpPr>
              <p:cNvPr id="145" name="Rectangle 144"/>
              <p:cNvSpPr/>
              <p:nvPr/>
            </p:nvSpPr>
            <p:spPr bwMode="auto">
              <a:xfrm>
                <a:off x="2743193" y="5897722"/>
                <a:ext cx="1734770" cy="369332"/>
              </a:xfrm>
              <a:prstGeom prst="rect">
                <a:avLst/>
              </a:prstGeom>
              <a:grpFill/>
            </p:spPr>
            <p:txBody>
              <a:bodyPr wrap="none">
                <a:spAutoFit/>
              </a:bodyPr>
              <a:lstStyle/>
              <a:p>
                <a:pPr>
                  <a:defRPr/>
                </a:pPr>
                <a:r>
                  <a:rPr lang="en-US"/>
                  <a:t>192.168.1.11/24</a:t>
                </a:r>
              </a:p>
            </p:txBody>
          </p:sp>
          <p:sp>
            <p:nvSpPr>
              <p:cNvPr id="146" name="Rectangle 145"/>
              <p:cNvSpPr/>
              <p:nvPr/>
            </p:nvSpPr>
            <p:spPr bwMode="auto">
              <a:xfrm>
                <a:off x="4522308" y="5892181"/>
                <a:ext cx="1734770" cy="369332"/>
              </a:xfrm>
              <a:prstGeom prst="rect">
                <a:avLst/>
              </a:prstGeom>
              <a:grpFill/>
            </p:spPr>
            <p:txBody>
              <a:bodyPr wrap="none">
                <a:spAutoFit/>
              </a:bodyPr>
              <a:lstStyle/>
              <a:p>
                <a:pPr>
                  <a:defRPr/>
                </a:pPr>
                <a:r>
                  <a:rPr lang="en-US"/>
                  <a:t>192.168.1.12/24</a:t>
                </a:r>
              </a:p>
            </p:txBody>
          </p:sp>
        </p:grpSp>
        <p:sp>
          <p:nvSpPr>
            <p:cNvPr id="226" name="Oval 225"/>
            <p:cNvSpPr/>
            <p:nvPr/>
          </p:nvSpPr>
          <p:spPr bwMode="auto">
            <a:xfrm>
              <a:off x="3239677" y="4393500"/>
              <a:ext cx="728392" cy="256205"/>
            </a:xfrm>
            <a:prstGeom prst="ellipse">
              <a:avLst/>
            </a:prstGeom>
            <a:noFill/>
            <a:ln w="9525"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en-US"/>
            </a:p>
          </p:txBody>
        </p:sp>
        <p:sp>
          <p:nvSpPr>
            <p:cNvPr id="227" name="Oval 226"/>
            <p:cNvSpPr/>
            <p:nvPr/>
          </p:nvSpPr>
          <p:spPr bwMode="auto">
            <a:xfrm>
              <a:off x="4600370" y="4394968"/>
              <a:ext cx="728392" cy="256205"/>
            </a:xfrm>
            <a:prstGeom prst="ellipse">
              <a:avLst/>
            </a:prstGeom>
            <a:noFill/>
            <a:ln w="9525"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en-US"/>
            </a:p>
          </p:txBody>
        </p:sp>
        <p:sp>
          <p:nvSpPr>
            <p:cNvPr id="228" name="Rectangle 227"/>
            <p:cNvSpPr/>
            <p:nvPr/>
          </p:nvSpPr>
          <p:spPr bwMode="auto">
            <a:xfrm>
              <a:off x="2414162" y="4427547"/>
              <a:ext cx="813043" cy="369332"/>
            </a:xfrm>
            <a:prstGeom prst="rect">
              <a:avLst/>
            </a:prstGeom>
            <a:grpFill/>
          </p:spPr>
          <p:txBody>
            <a:bodyPr wrap="none">
              <a:spAutoFit/>
            </a:bodyPr>
            <a:lstStyle/>
            <a:p>
              <a:pPr>
                <a:defRPr/>
              </a:pPr>
              <a:r>
                <a:rPr lang="en-US">
                  <a:ea typeface="宋体"/>
                  <a:cs typeface="Courier New"/>
                </a:rPr>
                <a:t>VLAN2</a:t>
              </a:r>
              <a:endParaRPr lang="en-US"/>
            </a:p>
          </p:txBody>
        </p:sp>
        <p:sp>
          <p:nvSpPr>
            <p:cNvPr id="229" name="Rectangle 228"/>
            <p:cNvSpPr/>
            <p:nvPr/>
          </p:nvSpPr>
          <p:spPr bwMode="auto">
            <a:xfrm>
              <a:off x="5433875" y="4426591"/>
              <a:ext cx="813043" cy="369332"/>
            </a:xfrm>
            <a:prstGeom prst="rect">
              <a:avLst/>
            </a:prstGeom>
            <a:grpFill/>
          </p:spPr>
          <p:txBody>
            <a:bodyPr wrap="none">
              <a:spAutoFit/>
            </a:bodyPr>
            <a:lstStyle/>
            <a:p>
              <a:pPr>
                <a:defRPr/>
              </a:pPr>
              <a:r>
                <a:rPr lang="en-US">
                  <a:ea typeface="宋体"/>
                  <a:cs typeface="Courier New"/>
                </a:rPr>
                <a:t>VLAN3</a:t>
              </a:r>
              <a:endParaRPr lang="en-US"/>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3. </a:t>
            </a:r>
            <a:r>
              <a:rPr lang="zh-CN"/>
              <a:t>配置双节点网络</a:t>
            </a:r>
            <a:r>
              <a:rPr lang="en-US"/>
              <a:t>VLAN </a:t>
            </a:r>
          </a:p>
        </p:txBody>
      </p:sp>
      <p:sp>
        <p:nvSpPr>
          <p:cNvPr id="3" name="Content Placeholder 2"/>
          <p:cNvSpPr>
            <a:spLocks noGrp="1"/>
          </p:cNvSpPr>
          <p:nvPr>
            <p:ph idx="1"/>
          </p:nvPr>
        </p:nvSpPr>
        <p:spPr bwMode="auto"/>
        <p:txBody>
          <a:bodyPr>
            <a:normAutofit/>
          </a:bodyPr>
          <a:lstStyle/>
          <a:p>
            <a:pPr marL="447675" lvl="1" indent="-358775">
              <a:buFont typeface="+mj-lt"/>
              <a:buAutoNum type="arabicParenR"/>
              <a:defRPr/>
            </a:pPr>
            <a:r>
              <a:rPr lang="zh-CN" dirty="0"/>
              <a:t>进入系统视图。</a:t>
            </a:r>
            <a:endParaRPr lang="en-US" dirty="0"/>
          </a:p>
          <a:p>
            <a:pPr marL="447675" lvl="1" indent="-358775">
              <a:buNone/>
              <a:defRPr/>
            </a:pPr>
            <a:r>
              <a:rPr lang="en-US" sz="2000" dirty="0">
                <a:solidFill>
                  <a:srgbClr val="FFFF00"/>
                </a:solidFill>
                <a:highlight>
                  <a:srgbClr val="000000"/>
                </a:highlight>
                <a:latin typeface="Courier New"/>
                <a:cs typeface="Courier New"/>
              </a:rPr>
              <a:t>&lt;</a:t>
            </a:r>
            <a:r>
              <a:rPr lang="en-US" sz="2000" dirty="0" err="1">
                <a:solidFill>
                  <a:srgbClr val="FFFF00"/>
                </a:solidFill>
                <a:highlight>
                  <a:srgbClr val="000000"/>
                </a:highlight>
                <a:latin typeface="Courier New"/>
                <a:cs typeface="Courier New"/>
              </a:rPr>
              <a:t>Quidway</a:t>
            </a:r>
            <a:r>
              <a:rPr lang="en-US" sz="2000" dirty="0">
                <a:solidFill>
                  <a:srgbClr val="FFFF00"/>
                </a:solidFill>
                <a:highlight>
                  <a:srgbClr val="000000"/>
                </a:highlight>
                <a:latin typeface="Courier New"/>
                <a:cs typeface="Courier New"/>
              </a:rPr>
              <a:t>&gt; system-view</a:t>
            </a:r>
            <a:endParaRPr dirty="0"/>
          </a:p>
          <a:p>
            <a:pPr marL="447675" lvl="1" indent="-358775">
              <a:buNone/>
              <a:defRPr/>
            </a:pPr>
            <a:r>
              <a:rPr lang="en-US" sz="2000" dirty="0">
                <a:solidFill>
                  <a:srgbClr val="FFFF00"/>
                </a:solidFill>
                <a:highlight>
                  <a:srgbClr val="000000"/>
                </a:highlight>
                <a:latin typeface="Courier New"/>
                <a:cs typeface="Courier New"/>
              </a:rPr>
              <a:t>[</a:t>
            </a:r>
            <a:r>
              <a:rPr lang="en-US" sz="2000" dirty="0" err="1">
                <a:solidFill>
                  <a:srgbClr val="FFFF00"/>
                </a:solidFill>
                <a:highlight>
                  <a:srgbClr val="000000"/>
                </a:highlight>
                <a:latin typeface="Courier New"/>
                <a:cs typeface="Courier New"/>
              </a:rPr>
              <a:t>Quidway</a:t>
            </a:r>
            <a:r>
              <a:rPr lang="en-US" sz="2000" dirty="0">
                <a:solidFill>
                  <a:srgbClr val="FFFF00"/>
                </a:solidFill>
                <a:highlight>
                  <a:srgbClr val="000000"/>
                </a:highlight>
                <a:latin typeface="Courier New"/>
                <a:cs typeface="Courier New"/>
              </a:rPr>
              <a:t>]</a:t>
            </a:r>
            <a:endParaRPr dirty="0"/>
          </a:p>
          <a:p>
            <a:pPr marL="447675" lvl="1" indent="-358775">
              <a:buNone/>
              <a:defRPr/>
            </a:pPr>
            <a:endParaRPr lang="en-US" dirty="0"/>
          </a:p>
          <a:p>
            <a:pPr marL="447675" lvl="1" indent="-358775">
              <a:buFont typeface="+mj-lt"/>
              <a:buAutoNum type="arabicParenR" startAt="2"/>
              <a:defRPr/>
            </a:pPr>
            <a:r>
              <a:rPr lang="zh-CN" dirty="0"/>
              <a:t>显示交换机配置和端口信息。</a:t>
            </a:r>
            <a:endParaRPr lang="en-US" dirty="0"/>
          </a:p>
          <a:p>
            <a:pPr marL="447675" lvl="1" indent="-358775">
              <a:buNone/>
              <a:defRPr/>
            </a:pPr>
            <a:r>
              <a:rPr lang="en-US" sz="2000" dirty="0">
                <a:solidFill>
                  <a:srgbClr val="FFFF00"/>
                </a:solidFill>
                <a:highlight>
                  <a:srgbClr val="000000"/>
                </a:highlight>
                <a:latin typeface="Courier New"/>
                <a:ea typeface="宋体"/>
                <a:cs typeface="Courier New"/>
              </a:rPr>
              <a:t>[</a:t>
            </a:r>
            <a:r>
              <a:rPr lang="en-US" sz="2000" dirty="0" err="1">
                <a:solidFill>
                  <a:srgbClr val="FFFF00"/>
                </a:solidFill>
                <a:highlight>
                  <a:srgbClr val="000000"/>
                </a:highlight>
                <a:latin typeface="Courier New"/>
                <a:ea typeface="宋体"/>
                <a:cs typeface="Courier New"/>
              </a:rPr>
              <a:t>Quidway</a:t>
            </a:r>
            <a:r>
              <a:rPr lang="en-US" sz="2000" dirty="0">
                <a:solidFill>
                  <a:srgbClr val="FFFF00"/>
                </a:solidFill>
                <a:highlight>
                  <a:srgbClr val="000000"/>
                </a:highlight>
                <a:latin typeface="Courier New"/>
                <a:ea typeface="宋体"/>
                <a:cs typeface="Courier New"/>
              </a:rPr>
              <a:t>] display current-configuration</a:t>
            </a:r>
            <a:endParaRPr dirty="0"/>
          </a:p>
          <a:p>
            <a:pPr marL="447675" lvl="1" indent="-358775">
              <a:buNone/>
              <a:defRPr/>
            </a:pPr>
            <a:endParaRPr lang="en-US" sz="2000" dirty="0">
              <a:solidFill>
                <a:srgbClr val="FFFF00"/>
              </a:solidFill>
              <a:highlight>
                <a:srgbClr val="000000"/>
              </a:highlight>
              <a:latin typeface="Courier New"/>
              <a:ea typeface="宋体"/>
              <a:cs typeface="Courier New"/>
            </a:endParaRPr>
          </a:p>
          <a:p>
            <a:pPr marL="447675" lvl="1" indent="-358775">
              <a:buNone/>
              <a:defRPr/>
            </a:pPr>
            <a:r>
              <a:rPr lang="zh-CN" b="1" i="1" u="sng" dirty="0">
                <a:solidFill>
                  <a:srgbClr val="C00000"/>
                </a:solidFill>
              </a:rPr>
              <a:t>请查清楚端口号，再执行后续操作。</a:t>
            </a:r>
            <a:endParaRPr dirty="0"/>
          </a:p>
          <a:p>
            <a:pPr marL="447675" lvl="1" indent="-358775">
              <a:buNone/>
              <a:defRPr/>
            </a:pPr>
            <a:endParaRPr lang="en-US" dirty="0">
              <a:solidFill>
                <a:srgbClr val="FFFF00"/>
              </a:solidFill>
              <a:highlight>
                <a:srgbClr val="000000"/>
              </a:highlight>
            </a:endParaRPr>
          </a:p>
          <a:p>
            <a:pPr marL="447675" lvl="2" indent="-358775">
              <a:buNone/>
              <a:defRPr/>
            </a:pPr>
            <a:endParaRPr lang="en-US" dirty="0"/>
          </a:p>
        </p:txBody>
      </p:sp>
      <p:sp>
        <p:nvSpPr>
          <p:cNvPr id="14" name="Date Placeholder 13"/>
          <p:cNvSpPr>
            <a:spLocks noGrp="1"/>
          </p:cNvSpPr>
          <p:nvPr>
            <p:ph type="dt" sz="half" idx="10"/>
          </p:nvPr>
        </p:nvSpPr>
        <p:spPr bwMode="auto"/>
        <p:txBody>
          <a:bodyPr/>
          <a:lstStyle/>
          <a:p>
            <a:pPr>
              <a:defRPr/>
            </a:pPr>
            <a:r>
              <a:rPr lang="en-US" dirty="0"/>
              <a:t>3/1/2020</a:t>
            </a:r>
            <a:endParaRPr dirty="0"/>
          </a:p>
        </p:txBody>
      </p:sp>
      <p:sp>
        <p:nvSpPr>
          <p:cNvPr id="15" name="Footer Placeholder 14"/>
          <p:cNvSpPr>
            <a:spLocks noGrp="1"/>
          </p:cNvSpPr>
          <p:nvPr>
            <p:ph type="ftr" sz="quarter" idx="11"/>
          </p:nvPr>
        </p:nvSpPr>
        <p:spPr bwMode="auto"/>
        <p:txBody>
          <a:bodyPr/>
          <a:lstStyle/>
          <a:p>
            <a:pPr>
              <a:defRPr/>
            </a:pPr>
            <a:r>
              <a:rPr lang="zh-CN" dirty="0"/>
              <a:t>计算机网络实验</a:t>
            </a:r>
            <a:endParaRPr lang="en-US" dirty="0"/>
          </a:p>
        </p:txBody>
      </p:sp>
      <p:sp>
        <p:nvSpPr>
          <p:cNvPr id="16" name="Slide Number Placeholder 15"/>
          <p:cNvSpPr>
            <a:spLocks noGrp="1"/>
          </p:cNvSpPr>
          <p:nvPr>
            <p:ph type="sldNum" sz="quarter" idx="12"/>
          </p:nvPr>
        </p:nvSpPr>
        <p:spPr bwMode="auto"/>
        <p:txBody>
          <a:bodyPr/>
          <a:lstStyle/>
          <a:p>
            <a:pPr>
              <a:defRPr/>
            </a:pPr>
            <a:fld id="{0ECDF2DC-913F-4A16-9C18-8900B299D998}" type="slidenum">
              <a:rPr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3. </a:t>
            </a:r>
            <a:r>
              <a:rPr lang="zh-CN"/>
              <a:t>配置双节点网络</a:t>
            </a:r>
            <a:r>
              <a:rPr lang="en-US"/>
              <a:t>VLAN </a:t>
            </a:r>
          </a:p>
        </p:txBody>
      </p:sp>
      <p:sp>
        <p:nvSpPr>
          <p:cNvPr id="3" name="Content Placeholder 2"/>
          <p:cNvSpPr>
            <a:spLocks noGrp="1"/>
          </p:cNvSpPr>
          <p:nvPr>
            <p:ph idx="1"/>
          </p:nvPr>
        </p:nvSpPr>
        <p:spPr bwMode="auto"/>
        <p:txBody>
          <a:bodyPr>
            <a:noAutofit/>
          </a:bodyPr>
          <a:lstStyle/>
          <a:p>
            <a:pPr marL="447675" lvl="1" indent="-358775">
              <a:buFont typeface="+mj-lt"/>
              <a:buAutoNum type="arabicParenR" startAt="3"/>
              <a:defRPr/>
            </a:pPr>
            <a:r>
              <a:rPr lang="zh-CN" dirty="0"/>
              <a:t>进入接口</a:t>
            </a:r>
            <a:r>
              <a:rPr lang="en-US" dirty="0"/>
              <a:t>Ethernet 1/0/3</a:t>
            </a:r>
            <a:r>
              <a:rPr lang="zh-CN" dirty="0"/>
              <a:t>的界面</a:t>
            </a:r>
            <a:endParaRPr lang="en-US" dirty="0"/>
          </a:p>
          <a:p>
            <a:pPr marL="447675" lvl="2" indent="-358775">
              <a:buNone/>
              <a:defRPr/>
            </a:pPr>
            <a:r>
              <a:rPr lang="en-US" sz="2000" dirty="0">
                <a:solidFill>
                  <a:srgbClr val="FFFF00"/>
                </a:solidFill>
                <a:highlight>
                  <a:srgbClr val="000000"/>
                </a:highlight>
                <a:latin typeface="Courier New"/>
                <a:ea typeface="宋体"/>
                <a:cs typeface="Courier New"/>
              </a:rPr>
              <a:t>[</a:t>
            </a:r>
            <a:r>
              <a:rPr lang="en-US" sz="2000" dirty="0" err="1">
                <a:solidFill>
                  <a:srgbClr val="FFFF00"/>
                </a:solidFill>
                <a:highlight>
                  <a:srgbClr val="000000"/>
                </a:highlight>
                <a:latin typeface="Courier New"/>
                <a:ea typeface="宋体"/>
                <a:cs typeface="Courier New"/>
              </a:rPr>
              <a:t>Quidway</a:t>
            </a:r>
            <a:r>
              <a:rPr lang="en-US" sz="2000" dirty="0">
                <a:solidFill>
                  <a:srgbClr val="FFFF00"/>
                </a:solidFill>
                <a:highlight>
                  <a:srgbClr val="000000"/>
                </a:highlight>
                <a:latin typeface="Courier New"/>
                <a:ea typeface="宋体"/>
                <a:cs typeface="Courier New"/>
              </a:rPr>
              <a:t>] interface Ethernet 1/0/3</a:t>
            </a:r>
            <a:endParaRPr lang="en-US" sz="2400" dirty="0">
              <a:solidFill>
                <a:srgbClr val="FFFF00"/>
              </a:solidFill>
              <a:highlight>
                <a:srgbClr val="000000"/>
              </a:highlight>
            </a:endParaRPr>
          </a:p>
          <a:p>
            <a:pPr marL="447675" lvl="1" indent="-358775">
              <a:buFont typeface="+mj-lt"/>
              <a:buAutoNum type="arabicParenR" startAt="4"/>
              <a:defRPr/>
            </a:pPr>
            <a:r>
              <a:rPr lang="zh-CN" dirty="0"/>
              <a:t>将其配置为</a:t>
            </a:r>
            <a:r>
              <a:rPr lang="en-US" dirty="0"/>
              <a:t>Access</a:t>
            </a:r>
            <a:r>
              <a:rPr lang="zh-CN" dirty="0"/>
              <a:t>类型</a:t>
            </a:r>
            <a:endParaRPr dirty="0"/>
          </a:p>
          <a:p>
            <a:pPr marL="447675" lvl="2" indent="-358775">
              <a:buNone/>
              <a:defRPr/>
            </a:pPr>
            <a:r>
              <a:rPr lang="en-US" sz="2000" dirty="0">
                <a:solidFill>
                  <a:srgbClr val="FFFF00"/>
                </a:solidFill>
                <a:highlight>
                  <a:srgbClr val="000000"/>
                </a:highlight>
                <a:latin typeface="Courier New"/>
                <a:ea typeface="宋体"/>
                <a:cs typeface="Courier New"/>
              </a:rPr>
              <a:t>[Quidway-Ethernet1/0/3] port link-type access </a:t>
            </a:r>
            <a:endParaRPr dirty="0"/>
          </a:p>
          <a:p>
            <a:pPr marL="546100" lvl="1" indent="-457200">
              <a:buFont typeface="+mj-lt"/>
              <a:buAutoNum type="arabicParenR" startAt="5"/>
              <a:defRPr/>
            </a:pPr>
            <a:r>
              <a:rPr lang="zh-CN" dirty="0"/>
              <a:t>创建</a:t>
            </a:r>
            <a:r>
              <a:rPr lang="en-US" dirty="0"/>
              <a:t>VLAN 2</a:t>
            </a:r>
            <a:r>
              <a:rPr lang="zh-CN" dirty="0"/>
              <a:t>并进入视图。</a:t>
            </a:r>
            <a:endParaRPr lang="en-US" dirty="0"/>
          </a:p>
          <a:p>
            <a:pPr marL="447675" lvl="1" indent="-358775">
              <a:buNone/>
              <a:defRPr/>
            </a:pPr>
            <a:r>
              <a:rPr lang="en-US" sz="2400" dirty="0">
                <a:solidFill>
                  <a:srgbClr val="FFFF00"/>
                </a:solidFill>
                <a:highlight>
                  <a:srgbClr val="000000"/>
                </a:highlight>
                <a:latin typeface="Courier New"/>
                <a:ea typeface="宋体"/>
                <a:cs typeface="Courier New"/>
              </a:rPr>
              <a:t>[</a:t>
            </a:r>
            <a:r>
              <a:rPr lang="en-US" sz="2400" dirty="0" err="1">
                <a:solidFill>
                  <a:srgbClr val="FFFF00"/>
                </a:solidFill>
                <a:highlight>
                  <a:srgbClr val="000000"/>
                </a:highlight>
                <a:latin typeface="Courier New"/>
                <a:ea typeface="宋体"/>
                <a:cs typeface="Courier New"/>
              </a:rPr>
              <a:t>Quidway</a:t>
            </a:r>
            <a:r>
              <a:rPr lang="en-US" sz="2400" dirty="0">
                <a:solidFill>
                  <a:srgbClr val="FFFF00"/>
                </a:solidFill>
                <a:highlight>
                  <a:srgbClr val="000000"/>
                </a:highlight>
                <a:latin typeface="Courier New"/>
                <a:ea typeface="宋体"/>
                <a:cs typeface="Courier New"/>
              </a:rPr>
              <a:t>] </a:t>
            </a:r>
            <a:r>
              <a:rPr lang="en-US" sz="2400" dirty="0" err="1">
                <a:solidFill>
                  <a:srgbClr val="FFFF00"/>
                </a:solidFill>
                <a:highlight>
                  <a:srgbClr val="000000"/>
                </a:highlight>
                <a:latin typeface="Courier New"/>
                <a:ea typeface="宋体"/>
                <a:cs typeface="Courier New"/>
              </a:rPr>
              <a:t>vlan</a:t>
            </a:r>
            <a:r>
              <a:rPr lang="en-US" sz="2400" dirty="0">
                <a:solidFill>
                  <a:srgbClr val="FFFF00"/>
                </a:solidFill>
                <a:highlight>
                  <a:srgbClr val="000000"/>
                </a:highlight>
                <a:latin typeface="Courier New"/>
                <a:ea typeface="宋体"/>
                <a:cs typeface="Courier New"/>
              </a:rPr>
              <a:t> 2</a:t>
            </a:r>
            <a:endParaRPr lang="en-US" dirty="0">
              <a:solidFill>
                <a:srgbClr val="FFFF00"/>
              </a:solidFill>
              <a:highlight>
                <a:srgbClr val="000000"/>
              </a:highlight>
            </a:endParaRPr>
          </a:p>
          <a:p>
            <a:pPr marL="546100" lvl="1" indent="-457200">
              <a:buFont typeface="+mj-lt"/>
              <a:buAutoNum type="arabicParenR" startAt="6"/>
              <a:defRPr/>
            </a:pPr>
            <a:r>
              <a:rPr lang="zh-CN" dirty="0"/>
              <a:t>向</a:t>
            </a:r>
            <a:r>
              <a:rPr lang="en-US" dirty="0"/>
              <a:t>VLAN 2</a:t>
            </a:r>
            <a:r>
              <a:rPr lang="zh-CN" dirty="0"/>
              <a:t>中加入端口</a:t>
            </a:r>
            <a:r>
              <a:rPr lang="en-US" dirty="0"/>
              <a:t>(</a:t>
            </a:r>
            <a:r>
              <a:rPr lang="zh-CN" dirty="0"/>
              <a:t>例如</a:t>
            </a:r>
            <a:r>
              <a:rPr lang="en-US" dirty="0"/>
              <a:t>Ethernet 1/0/3)</a:t>
            </a:r>
            <a:endParaRPr dirty="0"/>
          </a:p>
          <a:p>
            <a:pPr marL="447675" lvl="1" indent="-358775">
              <a:buNone/>
              <a:defRPr/>
            </a:pPr>
            <a:r>
              <a:rPr lang="en-US" sz="2000" dirty="0">
                <a:solidFill>
                  <a:srgbClr val="FFFF00"/>
                </a:solidFill>
                <a:highlight>
                  <a:srgbClr val="000000"/>
                </a:highlight>
                <a:latin typeface="Courier New"/>
                <a:ea typeface="宋体"/>
                <a:cs typeface="Courier New"/>
              </a:rPr>
              <a:t>[Quidway-vlan2] port Ethernet1/0/3</a:t>
            </a:r>
            <a:endParaRPr dirty="0"/>
          </a:p>
          <a:p>
            <a:pPr marL="447675" lvl="1" indent="-358775">
              <a:buNone/>
              <a:defRPr/>
            </a:pPr>
            <a:br>
              <a:rPr lang="en-US" dirty="0"/>
            </a:br>
            <a:endParaRPr lang="en-US" dirty="0"/>
          </a:p>
        </p:txBody>
      </p:sp>
      <p:sp>
        <p:nvSpPr>
          <p:cNvPr id="203" name="Date Placeholder 202"/>
          <p:cNvSpPr>
            <a:spLocks noGrp="1"/>
          </p:cNvSpPr>
          <p:nvPr>
            <p:ph type="dt" sz="half" idx="10"/>
          </p:nvPr>
        </p:nvSpPr>
        <p:spPr bwMode="auto"/>
        <p:txBody>
          <a:bodyPr/>
          <a:lstStyle/>
          <a:p>
            <a:pPr>
              <a:defRPr/>
            </a:pPr>
            <a:r>
              <a:rPr lang="en-US"/>
              <a:t>3/1/2020</a:t>
            </a:r>
            <a:endParaRPr/>
          </a:p>
        </p:txBody>
      </p:sp>
      <p:sp>
        <p:nvSpPr>
          <p:cNvPr id="204" name="Footer Placeholder 203"/>
          <p:cNvSpPr>
            <a:spLocks noGrp="1"/>
          </p:cNvSpPr>
          <p:nvPr>
            <p:ph type="ftr" sz="quarter" idx="11"/>
          </p:nvPr>
        </p:nvSpPr>
        <p:spPr bwMode="auto"/>
        <p:txBody>
          <a:bodyPr/>
          <a:lstStyle/>
          <a:p>
            <a:pPr>
              <a:defRPr/>
            </a:pPr>
            <a:r>
              <a:rPr lang="zh-CN"/>
              <a:t>计算机网络实验</a:t>
            </a:r>
            <a:endParaRPr lang="en-US"/>
          </a:p>
        </p:txBody>
      </p:sp>
      <p:sp>
        <p:nvSpPr>
          <p:cNvPr id="205" name="Slide Number Placeholder 204"/>
          <p:cNvSpPr>
            <a:spLocks noGrp="1"/>
          </p:cNvSpPr>
          <p:nvPr>
            <p:ph type="sldNum" sz="quarter" idx="12"/>
          </p:nvPr>
        </p:nvSpPr>
        <p:spPr bwMode="auto"/>
        <p:txBody>
          <a:bodyPr/>
          <a:lstStyle/>
          <a:p>
            <a:pPr>
              <a:defRPr/>
            </a:pPr>
            <a:fld id="{0ECDF2DC-913F-4A16-9C18-8900B299D998}" type="slidenum">
              <a:rPr lang="en-US"/>
              <a:t>21</a:t>
            </a:fld>
            <a:endParaRPr lang="en-US"/>
          </a:p>
        </p:txBody>
      </p:sp>
      <p:grpSp>
        <p:nvGrpSpPr>
          <p:cNvPr id="6" name="Group 5"/>
          <p:cNvGrpSpPr/>
          <p:nvPr/>
        </p:nvGrpSpPr>
        <p:grpSpPr bwMode="auto">
          <a:xfrm>
            <a:off x="3009125" y="4124754"/>
            <a:ext cx="3098173" cy="2198779"/>
            <a:chOff x="5994947" y="2968383"/>
            <a:chExt cx="2663570" cy="1913205"/>
          </a:xfrm>
        </p:grpSpPr>
        <p:sp>
          <p:nvSpPr>
            <p:cNvPr id="105" name="Rectangle 104"/>
            <p:cNvSpPr/>
            <p:nvPr/>
          </p:nvSpPr>
          <p:spPr bwMode="auto">
            <a:xfrm>
              <a:off x="6035571" y="2968383"/>
              <a:ext cx="2622946" cy="1913205"/>
            </a:xfrm>
            <a:prstGeom prst="rect">
              <a:avLst/>
            </a:prstGeom>
            <a:noFill/>
            <a:ln w="9525" cap="flat" cmpd="sng" algn="ctr">
              <a:solidFill>
                <a:schemeClr val="accent2"/>
              </a:solidFill>
              <a:prstDash val="solid"/>
              <a:round/>
              <a:headEnd type="none" w="med" len="med"/>
              <a:tailEnd type="none" w="med" len="med"/>
            </a:ln>
          </p:spPr>
          <p:style>
            <a:lnRef idx="0">
              <a:srgbClr val="000000"/>
            </a:lnRef>
            <a:fillRef idx="0">
              <a:srgbClr val="000000"/>
            </a:fillRef>
            <a:effectRef idx="0">
              <a:srgbClr val="000000"/>
            </a:effectRef>
            <a:fontRef idx="minor">
              <a:schemeClr val="accent2"/>
            </a:fontRef>
          </p:style>
          <p:txBody>
            <a:bodyPr rtlCol="0" anchor="ctr"/>
            <a:lstStyle/>
            <a:p>
              <a:pPr algn="ctr">
                <a:defRPr/>
              </a:pPr>
              <a:endParaRPr lang="en-US" sz="2000"/>
            </a:p>
          </p:txBody>
        </p:sp>
        <p:grpSp>
          <p:nvGrpSpPr>
            <p:cNvPr id="106" name="Group 105"/>
            <p:cNvGrpSpPr>
              <a:grpSpLocks noChangeAspect="1"/>
            </p:cNvGrpSpPr>
            <p:nvPr/>
          </p:nvGrpSpPr>
          <p:grpSpPr bwMode="auto">
            <a:xfrm>
              <a:off x="5994947" y="3061264"/>
              <a:ext cx="2582994" cy="1803057"/>
              <a:chOff x="2140497" y="3290348"/>
              <a:chExt cx="4311578" cy="3009693"/>
            </a:xfrm>
          </p:grpSpPr>
          <p:grpSp>
            <p:nvGrpSpPr>
              <p:cNvPr id="107" name="Group 106"/>
              <p:cNvGrpSpPr/>
              <p:nvPr/>
            </p:nvGrpSpPr>
            <p:grpSpPr bwMode="auto">
              <a:xfrm>
                <a:off x="2140497" y="3290348"/>
                <a:ext cx="4311578" cy="3009693"/>
                <a:chOff x="2140497" y="3290348"/>
                <a:chExt cx="4311578" cy="3009693"/>
              </a:xfrm>
            </p:grpSpPr>
            <p:grpSp>
              <p:nvGrpSpPr>
                <p:cNvPr id="112" name="Group 111"/>
                <p:cNvGrpSpPr/>
                <p:nvPr/>
              </p:nvGrpSpPr>
              <p:grpSpPr bwMode="auto">
                <a:xfrm>
                  <a:off x="2647144" y="4839730"/>
                  <a:ext cx="1061526" cy="823469"/>
                  <a:chOff x="1136203" y="4520619"/>
                  <a:chExt cx="1419428" cy="1013448"/>
                </a:xfrm>
              </p:grpSpPr>
              <p:grpSp>
                <p:nvGrpSpPr>
                  <p:cNvPr id="166" name="Group 950"/>
                  <p:cNvGrpSpPr/>
                  <p:nvPr/>
                </p:nvGrpSpPr>
                <p:grpSpPr bwMode="auto">
                  <a:xfrm>
                    <a:off x="2039815" y="4520619"/>
                    <a:ext cx="515816" cy="969179"/>
                    <a:chOff x="4140" y="429"/>
                    <a:chExt cx="1425" cy="2396"/>
                  </a:xfrm>
                </p:grpSpPr>
                <p:sp>
                  <p:nvSpPr>
                    <p:cNvPr id="170"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171"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72"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173"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174"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nvGrpSpPr>
                    <p:cNvPr id="175" name="Group 956"/>
                    <p:cNvGrpSpPr/>
                    <p:nvPr/>
                  </p:nvGrpSpPr>
                  <p:grpSpPr bwMode="auto">
                    <a:xfrm>
                      <a:off x="4749" y="668"/>
                      <a:ext cx="581" cy="145"/>
                      <a:chOff x="614" y="2568"/>
                      <a:chExt cx="725" cy="139"/>
                    </a:xfrm>
                  </p:grpSpPr>
                  <p:sp>
                    <p:nvSpPr>
                      <p:cNvPr id="200"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201"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sp>
                  <p:nvSpPr>
                    <p:cNvPr id="176"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nvGrpSpPr>
                    <p:cNvPr id="177" name="Group 960"/>
                    <p:cNvGrpSpPr/>
                    <p:nvPr/>
                  </p:nvGrpSpPr>
                  <p:grpSpPr bwMode="auto">
                    <a:xfrm>
                      <a:off x="4747" y="994"/>
                      <a:ext cx="581" cy="134"/>
                      <a:chOff x="614" y="2568"/>
                      <a:chExt cx="725" cy="139"/>
                    </a:xfrm>
                  </p:grpSpPr>
                  <p:sp>
                    <p:nvSpPr>
                      <p:cNvPr id="198"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99"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sp>
                  <p:nvSpPr>
                    <p:cNvPr id="178"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79"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nvGrpSpPr>
                    <p:cNvPr id="180" name="Group 965"/>
                    <p:cNvGrpSpPr/>
                    <p:nvPr/>
                  </p:nvGrpSpPr>
                  <p:grpSpPr bwMode="auto">
                    <a:xfrm>
                      <a:off x="4735" y="1627"/>
                      <a:ext cx="582" cy="151"/>
                      <a:chOff x="614" y="2568"/>
                      <a:chExt cx="725" cy="139"/>
                    </a:xfrm>
                  </p:grpSpPr>
                  <p:sp>
                    <p:nvSpPr>
                      <p:cNvPr id="196"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97"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sp>
                  <p:nvSpPr>
                    <p:cNvPr id="181"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grpSp>
                  <p:nvGrpSpPr>
                    <p:cNvPr id="182" name="Group 969"/>
                    <p:cNvGrpSpPr/>
                    <p:nvPr/>
                  </p:nvGrpSpPr>
                  <p:grpSpPr bwMode="auto">
                    <a:xfrm>
                      <a:off x="4739" y="1327"/>
                      <a:ext cx="582" cy="139"/>
                      <a:chOff x="614" y="2568"/>
                      <a:chExt cx="725" cy="139"/>
                    </a:xfrm>
                  </p:grpSpPr>
                  <p:sp>
                    <p:nvSpPr>
                      <p:cNvPr id="194"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95"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sp>
                  <p:nvSpPr>
                    <p:cNvPr id="183"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84"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185"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186"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87"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188"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89"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90"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91"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200" b="0" i="0" u="sng" strike="noStrike" cap="none" spc="0">
                        <a:ln>
                          <a:noFill/>
                        </a:ln>
                        <a:solidFill>
                          <a:srgbClr val="FF0000"/>
                        </a:solidFill>
                        <a:latin typeface="+mn-lt"/>
                        <a:ea typeface="MS PGothic"/>
                        <a:cs typeface="Arial"/>
                      </a:endParaRPr>
                    </a:p>
                  </p:txBody>
                </p:sp>
                <p:sp>
                  <p:nvSpPr>
                    <p:cNvPr id="192"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93"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grpSp>
                <p:nvGrpSpPr>
                  <p:cNvPr id="167" name="Group 590"/>
                  <p:cNvGrpSpPr/>
                  <p:nvPr/>
                </p:nvGrpSpPr>
                <p:grpSpPr bwMode="auto">
                  <a:xfrm flipH="1">
                    <a:off x="1136203" y="4624876"/>
                    <a:ext cx="948819" cy="909191"/>
                    <a:chOff x="2839" y="3501"/>
                    <a:chExt cx="755" cy="803"/>
                  </a:xfrm>
                </p:grpSpPr>
                <p:pic>
                  <p:nvPicPr>
                    <p:cNvPr id="168"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69"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200" u="sng"/>
                    </a:p>
                  </p:txBody>
                </p:sp>
              </p:grpSp>
            </p:grpSp>
            <p:grpSp>
              <p:nvGrpSpPr>
                <p:cNvPr id="113" name="Group 112"/>
                <p:cNvGrpSpPr/>
                <p:nvPr/>
              </p:nvGrpSpPr>
              <p:grpSpPr bwMode="auto">
                <a:xfrm>
                  <a:off x="4351760" y="4831496"/>
                  <a:ext cx="1061526" cy="831703"/>
                  <a:chOff x="1136203" y="4520619"/>
                  <a:chExt cx="1419428" cy="1013448"/>
                </a:xfrm>
              </p:grpSpPr>
              <p:grpSp>
                <p:nvGrpSpPr>
                  <p:cNvPr id="130" name="Group 950"/>
                  <p:cNvGrpSpPr/>
                  <p:nvPr/>
                </p:nvGrpSpPr>
                <p:grpSpPr bwMode="auto">
                  <a:xfrm>
                    <a:off x="2039815" y="4520619"/>
                    <a:ext cx="515816" cy="969179"/>
                    <a:chOff x="4140" y="429"/>
                    <a:chExt cx="1425" cy="2396"/>
                  </a:xfrm>
                </p:grpSpPr>
                <p:sp>
                  <p:nvSpPr>
                    <p:cNvPr id="134"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135"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36"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137"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138"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nvGrpSpPr>
                    <p:cNvPr id="139" name="Group 956"/>
                    <p:cNvGrpSpPr/>
                    <p:nvPr/>
                  </p:nvGrpSpPr>
                  <p:grpSpPr bwMode="auto">
                    <a:xfrm>
                      <a:off x="4749" y="668"/>
                      <a:ext cx="581" cy="145"/>
                      <a:chOff x="614" y="2568"/>
                      <a:chExt cx="725" cy="139"/>
                    </a:xfrm>
                  </p:grpSpPr>
                  <p:sp>
                    <p:nvSpPr>
                      <p:cNvPr id="164"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65"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sp>
                  <p:nvSpPr>
                    <p:cNvPr id="140"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nvGrpSpPr>
                    <p:cNvPr id="141" name="Group 960"/>
                    <p:cNvGrpSpPr/>
                    <p:nvPr/>
                  </p:nvGrpSpPr>
                  <p:grpSpPr bwMode="auto">
                    <a:xfrm>
                      <a:off x="4747" y="994"/>
                      <a:ext cx="581" cy="134"/>
                      <a:chOff x="614" y="2568"/>
                      <a:chExt cx="725" cy="139"/>
                    </a:xfrm>
                  </p:grpSpPr>
                  <p:sp>
                    <p:nvSpPr>
                      <p:cNvPr id="162"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63"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sp>
                  <p:nvSpPr>
                    <p:cNvPr id="142"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43"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nvGrpSpPr>
                    <p:cNvPr id="144" name="Group 965"/>
                    <p:cNvGrpSpPr/>
                    <p:nvPr/>
                  </p:nvGrpSpPr>
                  <p:grpSpPr bwMode="auto">
                    <a:xfrm>
                      <a:off x="4735" y="1627"/>
                      <a:ext cx="582" cy="151"/>
                      <a:chOff x="614" y="2568"/>
                      <a:chExt cx="725" cy="139"/>
                    </a:xfrm>
                  </p:grpSpPr>
                  <p:sp>
                    <p:nvSpPr>
                      <p:cNvPr id="160"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61"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sp>
                  <p:nvSpPr>
                    <p:cNvPr id="145"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grpSp>
                  <p:nvGrpSpPr>
                    <p:cNvPr id="146" name="Group 969"/>
                    <p:cNvGrpSpPr/>
                    <p:nvPr/>
                  </p:nvGrpSpPr>
                  <p:grpSpPr bwMode="auto">
                    <a:xfrm>
                      <a:off x="4739" y="1327"/>
                      <a:ext cx="582" cy="139"/>
                      <a:chOff x="614" y="2568"/>
                      <a:chExt cx="725" cy="139"/>
                    </a:xfrm>
                  </p:grpSpPr>
                  <p:sp>
                    <p:nvSpPr>
                      <p:cNvPr id="158"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59"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sp>
                  <p:nvSpPr>
                    <p:cNvPr id="147"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48"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149"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150"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51"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152"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53"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54"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55"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200" b="0" i="0" u="sng" strike="noStrike" cap="none" spc="0">
                        <a:ln>
                          <a:noFill/>
                        </a:ln>
                        <a:solidFill>
                          <a:srgbClr val="FF0000"/>
                        </a:solidFill>
                        <a:latin typeface="+mn-lt"/>
                        <a:ea typeface="MS PGothic"/>
                        <a:cs typeface="Arial"/>
                      </a:endParaRPr>
                    </a:p>
                  </p:txBody>
                </p:sp>
                <p:sp>
                  <p:nvSpPr>
                    <p:cNvPr id="156"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157"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grpSp>
                <p:nvGrpSpPr>
                  <p:cNvPr id="131" name="Group 590"/>
                  <p:cNvGrpSpPr/>
                  <p:nvPr/>
                </p:nvGrpSpPr>
                <p:grpSpPr bwMode="auto">
                  <a:xfrm flipH="1">
                    <a:off x="1136203" y="4624876"/>
                    <a:ext cx="948819" cy="909191"/>
                    <a:chOff x="2839" y="3501"/>
                    <a:chExt cx="755" cy="803"/>
                  </a:xfrm>
                </p:grpSpPr>
                <p:pic>
                  <p:nvPicPr>
                    <p:cNvPr id="132"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33"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200" u="sng"/>
                    </a:p>
                  </p:txBody>
                </p:sp>
              </p:grpSp>
            </p:grpSp>
            <p:cxnSp>
              <p:nvCxnSpPr>
                <p:cNvPr id="114" name="Straight Connector 113"/>
                <p:cNvCxnSpPr>
                  <a:cxnSpLocks/>
                  <a:stCxn id="171" idx="0"/>
                  <a:endCxn id="123" idx="1"/>
                </p:cNvCxnSpPr>
                <p:nvPr/>
              </p:nvCxnSpPr>
              <p:spPr bwMode="auto">
                <a:xfrm flipV="1">
                  <a:off x="3483443" y="3924349"/>
                  <a:ext cx="374980" cy="915381"/>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115" name="Straight Connector 114"/>
                <p:cNvCxnSpPr>
                  <a:cxnSpLocks/>
                  <a:stCxn id="135" idx="0"/>
                  <a:endCxn id="123" idx="3"/>
                </p:cNvCxnSpPr>
                <p:nvPr/>
              </p:nvCxnSpPr>
              <p:spPr bwMode="auto">
                <a:xfrm flipH="1" flipV="1">
                  <a:off x="4723453" y="3924349"/>
                  <a:ext cx="464605" cy="907147"/>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grpSp>
              <p:nvGrpSpPr>
                <p:cNvPr id="116" name="Group 115"/>
                <p:cNvGrpSpPr/>
                <p:nvPr/>
              </p:nvGrpSpPr>
              <p:grpSpPr bwMode="auto">
                <a:xfrm>
                  <a:off x="3858423" y="3290348"/>
                  <a:ext cx="868153" cy="794009"/>
                  <a:chOff x="3668110" y="2448910"/>
                  <a:chExt cx="3794234" cy="2165130"/>
                </a:xfrm>
              </p:grpSpPr>
              <p:sp>
                <p:nvSpPr>
                  <p:cNvPr id="123" name="Rectangle 122"/>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200"/>
                  </a:p>
                </p:txBody>
              </p:sp>
              <p:sp>
                <p:nvSpPr>
                  <p:cNvPr id="124"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200"/>
                  </a:p>
                </p:txBody>
              </p:sp>
              <p:grpSp>
                <p:nvGrpSpPr>
                  <p:cNvPr id="125" name="Group 124"/>
                  <p:cNvGrpSpPr/>
                  <p:nvPr/>
                </p:nvGrpSpPr>
                <p:grpSpPr bwMode="auto">
                  <a:xfrm>
                    <a:off x="3941378" y="2603243"/>
                    <a:ext cx="3202060" cy="1066110"/>
                    <a:chOff x="7939341" y="3037317"/>
                    <a:chExt cx="897649" cy="353919"/>
                  </a:xfrm>
                </p:grpSpPr>
                <p:sp>
                  <p:nvSpPr>
                    <p:cNvPr id="126"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200"/>
                    </a:p>
                  </p:txBody>
                </p:sp>
                <p:sp>
                  <p:nvSpPr>
                    <p:cNvPr id="127"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200"/>
                    </a:p>
                  </p:txBody>
                </p:sp>
                <p:sp>
                  <p:nvSpPr>
                    <p:cNvPr id="128"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200"/>
                    </a:p>
                  </p:txBody>
                </p:sp>
                <p:sp>
                  <p:nvSpPr>
                    <p:cNvPr id="129"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200"/>
                    </a:p>
                  </p:txBody>
                </p:sp>
              </p:grpSp>
            </p:grpSp>
            <p:sp>
              <p:nvSpPr>
                <p:cNvPr id="117" name="Rectangle 116"/>
                <p:cNvSpPr/>
                <p:nvPr/>
              </p:nvSpPr>
              <p:spPr bwMode="auto">
                <a:xfrm>
                  <a:off x="2140497" y="3805428"/>
                  <a:ext cx="1551766" cy="402319"/>
                </a:xfrm>
                <a:prstGeom prst="rect">
                  <a:avLst/>
                </a:prstGeom>
                <a:grpFill/>
              </p:spPr>
              <p:txBody>
                <a:bodyPr wrap="none">
                  <a:spAutoFit/>
                </a:bodyPr>
                <a:lstStyle/>
                <a:p>
                  <a:pPr>
                    <a:defRPr/>
                  </a:pPr>
                  <a:r>
                    <a:rPr lang="en-US" sz="1200">
                      <a:ea typeface="宋体"/>
                      <a:cs typeface="Courier New"/>
                    </a:rPr>
                    <a:t>Ethernet1/0/3</a:t>
                  </a:r>
                  <a:endParaRPr lang="en-US" sz="1200"/>
                </a:p>
              </p:txBody>
            </p:sp>
            <p:sp>
              <p:nvSpPr>
                <p:cNvPr id="118" name="Rectangle 117"/>
                <p:cNvSpPr/>
                <p:nvPr/>
              </p:nvSpPr>
              <p:spPr bwMode="auto">
                <a:xfrm>
                  <a:off x="4900308" y="3805428"/>
                  <a:ext cx="1551766" cy="402319"/>
                </a:xfrm>
                <a:prstGeom prst="rect">
                  <a:avLst/>
                </a:prstGeom>
                <a:grpFill/>
              </p:spPr>
              <p:txBody>
                <a:bodyPr wrap="none">
                  <a:spAutoFit/>
                </a:bodyPr>
                <a:lstStyle/>
                <a:p>
                  <a:pPr>
                    <a:defRPr/>
                  </a:pPr>
                  <a:r>
                    <a:rPr lang="en-US" sz="1200">
                      <a:ea typeface="宋体"/>
                      <a:cs typeface="Courier New"/>
                    </a:rPr>
                    <a:t>Ethernet1/0/4</a:t>
                  </a:r>
                  <a:endParaRPr lang="en-US" sz="1200"/>
                </a:p>
              </p:txBody>
            </p:sp>
            <p:sp>
              <p:nvSpPr>
                <p:cNvPr id="119" name="Rectangle 118"/>
                <p:cNvSpPr/>
                <p:nvPr/>
              </p:nvSpPr>
              <p:spPr bwMode="auto">
                <a:xfrm>
                  <a:off x="3246537" y="5657519"/>
                  <a:ext cx="639975" cy="447022"/>
                </a:xfrm>
                <a:prstGeom prst="rect">
                  <a:avLst/>
                </a:prstGeom>
                <a:grpFill/>
              </p:spPr>
              <p:txBody>
                <a:bodyPr wrap="none">
                  <a:spAutoFit/>
                </a:bodyPr>
                <a:lstStyle/>
                <a:p>
                  <a:pPr>
                    <a:defRPr/>
                  </a:pPr>
                  <a:r>
                    <a:rPr lang="en-US" sz="1400">
                      <a:ea typeface="宋体"/>
                      <a:cs typeface="Courier New"/>
                    </a:rPr>
                    <a:t>pc1</a:t>
                  </a:r>
                  <a:endParaRPr lang="en-US" sz="1400"/>
                </a:p>
              </p:txBody>
            </p:sp>
            <p:sp>
              <p:nvSpPr>
                <p:cNvPr id="120" name="Rectangle 119"/>
                <p:cNvSpPr/>
                <p:nvPr/>
              </p:nvSpPr>
              <p:spPr bwMode="auto">
                <a:xfrm>
                  <a:off x="5025652" y="5672447"/>
                  <a:ext cx="639975" cy="447022"/>
                </a:xfrm>
                <a:prstGeom prst="rect">
                  <a:avLst/>
                </a:prstGeom>
                <a:grpFill/>
              </p:spPr>
              <p:txBody>
                <a:bodyPr wrap="none">
                  <a:spAutoFit/>
                </a:bodyPr>
                <a:lstStyle/>
                <a:p>
                  <a:pPr>
                    <a:defRPr/>
                  </a:pPr>
                  <a:r>
                    <a:rPr lang="en-US" sz="1400">
                      <a:ea typeface="宋体"/>
                      <a:cs typeface="Courier New"/>
                    </a:rPr>
                    <a:t>pc2</a:t>
                  </a:r>
                  <a:endParaRPr lang="en-US" sz="1400"/>
                </a:p>
              </p:txBody>
            </p:sp>
            <p:sp>
              <p:nvSpPr>
                <p:cNvPr id="121" name="Rectangle 120"/>
                <p:cNvSpPr/>
                <p:nvPr/>
              </p:nvSpPr>
              <p:spPr bwMode="auto">
                <a:xfrm>
                  <a:off x="2743192" y="5897722"/>
                  <a:ext cx="1755675" cy="402319"/>
                </a:xfrm>
                <a:prstGeom prst="rect">
                  <a:avLst/>
                </a:prstGeom>
                <a:grpFill/>
              </p:spPr>
              <p:txBody>
                <a:bodyPr wrap="none">
                  <a:spAutoFit/>
                </a:bodyPr>
                <a:lstStyle/>
                <a:p>
                  <a:pPr>
                    <a:defRPr/>
                  </a:pPr>
                  <a:r>
                    <a:rPr lang="en-US" sz="1200"/>
                    <a:t>192.168.1.11/24</a:t>
                  </a:r>
                </a:p>
              </p:txBody>
            </p:sp>
            <p:sp>
              <p:nvSpPr>
                <p:cNvPr id="122" name="Rectangle 121"/>
                <p:cNvSpPr/>
                <p:nvPr/>
              </p:nvSpPr>
              <p:spPr bwMode="auto">
                <a:xfrm>
                  <a:off x="4522309" y="5892179"/>
                  <a:ext cx="1755675" cy="402319"/>
                </a:xfrm>
                <a:prstGeom prst="rect">
                  <a:avLst/>
                </a:prstGeom>
                <a:grpFill/>
              </p:spPr>
              <p:txBody>
                <a:bodyPr wrap="none">
                  <a:spAutoFit/>
                </a:bodyPr>
                <a:lstStyle/>
                <a:p>
                  <a:pPr>
                    <a:defRPr/>
                  </a:pPr>
                  <a:r>
                    <a:rPr lang="en-US" sz="1200"/>
                    <a:t>192.168.1.12/24</a:t>
                  </a:r>
                </a:p>
              </p:txBody>
            </p:sp>
          </p:grpSp>
          <p:sp>
            <p:nvSpPr>
              <p:cNvPr id="108" name="Oval 107"/>
              <p:cNvSpPr/>
              <p:nvPr/>
            </p:nvSpPr>
            <p:spPr bwMode="auto">
              <a:xfrm>
                <a:off x="3239677" y="4393500"/>
                <a:ext cx="728392" cy="256205"/>
              </a:xfrm>
              <a:prstGeom prst="ellipse">
                <a:avLst/>
              </a:prstGeom>
              <a:noFill/>
              <a:ln w="9525"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en-US" sz="1200"/>
              </a:p>
            </p:txBody>
          </p:sp>
          <p:sp>
            <p:nvSpPr>
              <p:cNvPr id="109" name="Oval 108"/>
              <p:cNvSpPr/>
              <p:nvPr/>
            </p:nvSpPr>
            <p:spPr bwMode="auto">
              <a:xfrm>
                <a:off x="4600370" y="4394968"/>
                <a:ext cx="728392" cy="256205"/>
              </a:xfrm>
              <a:prstGeom prst="ellipse">
                <a:avLst/>
              </a:prstGeom>
              <a:noFill/>
              <a:ln w="9525"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en-US" sz="1200"/>
              </a:p>
            </p:txBody>
          </p:sp>
          <p:sp>
            <p:nvSpPr>
              <p:cNvPr id="110" name="Rectangle 109"/>
              <p:cNvSpPr/>
              <p:nvPr/>
            </p:nvSpPr>
            <p:spPr bwMode="auto">
              <a:xfrm>
                <a:off x="2414162" y="4427547"/>
                <a:ext cx="865415" cy="402319"/>
              </a:xfrm>
              <a:prstGeom prst="rect">
                <a:avLst/>
              </a:prstGeom>
              <a:grpFill/>
            </p:spPr>
            <p:txBody>
              <a:bodyPr wrap="none">
                <a:spAutoFit/>
              </a:bodyPr>
              <a:lstStyle/>
              <a:p>
                <a:pPr>
                  <a:defRPr/>
                </a:pPr>
                <a:r>
                  <a:rPr lang="en-US" sz="1200">
                    <a:ea typeface="宋体"/>
                    <a:cs typeface="Courier New"/>
                  </a:rPr>
                  <a:t>VLAN2</a:t>
                </a:r>
                <a:endParaRPr lang="en-US" sz="1200"/>
              </a:p>
            </p:txBody>
          </p:sp>
          <p:sp>
            <p:nvSpPr>
              <p:cNvPr id="111" name="Rectangle 110"/>
              <p:cNvSpPr/>
              <p:nvPr/>
            </p:nvSpPr>
            <p:spPr bwMode="auto">
              <a:xfrm>
                <a:off x="5433876" y="4426590"/>
                <a:ext cx="865415" cy="402319"/>
              </a:xfrm>
              <a:prstGeom prst="rect">
                <a:avLst/>
              </a:prstGeom>
              <a:grpFill/>
            </p:spPr>
            <p:txBody>
              <a:bodyPr wrap="none">
                <a:spAutoFit/>
              </a:bodyPr>
              <a:lstStyle/>
              <a:p>
                <a:pPr>
                  <a:defRPr/>
                </a:pPr>
                <a:r>
                  <a:rPr lang="en-US" sz="1200">
                    <a:ea typeface="宋体"/>
                    <a:cs typeface="Courier New"/>
                  </a:rPr>
                  <a:t>VLAN3</a:t>
                </a:r>
                <a:endParaRPr lang="en-US" sz="1200"/>
              </a:p>
            </p:txBody>
          </p:sp>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3. </a:t>
            </a:r>
            <a:r>
              <a:rPr lang="zh-CN"/>
              <a:t>配置双节点网络</a:t>
            </a:r>
            <a:r>
              <a:rPr lang="en-US"/>
              <a:t>VLAN </a:t>
            </a:r>
          </a:p>
        </p:txBody>
      </p:sp>
      <p:sp>
        <p:nvSpPr>
          <p:cNvPr id="3" name="Content Placeholder 2"/>
          <p:cNvSpPr>
            <a:spLocks noGrp="1"/>
          </p:cNvSpPr>
          <p:nvPr>
            <p:ph idx="1"/>
          </p:nvPr>
        </p:nvSpPr>
        <p:spPr bwMode="auto"/>
        <p:txBody>
          <a:bodyPr>
            <a:noAutofit/>
          </a:bodyPr>
          <a:lstStyle/>
          <a:p>
            <a:pPr marL="447675" lvl="1" indent="-358775">
              <a:buNone/>
              <a:defRPr/>
            </a:pPr>
            <a:r>
              <a:rPr lang="zh-CN"/>
              <a:t>如果过程中出现如下错误信息：</a:t>
            </a:r>
            <a:endParaRPr lang="en-US"/>
          </a:p>
          <a:p>
            <a:pPr marL="447675" lvl="1" indent="-358775">
              <a:buNone/>
              <a:defRPr/>
            </a:pPr>
            <a:r>
              <a:rPr lang="en-US">
                <a:solidFill>
                  <a:srgbClr val="C00000"/>
                </a:solidFill>
              </a:rPr>
              <a:t>Error: Please renew the default configurations</a:t>
            </a:r>
            <a:r>
              <a:rPr lang="en-US"/>
              <a:t>.</a:t>
            </a:r>
            <a:endParaRPr/>
          </a:p>
          <a:p>
            <a:pPr marL="88900" lvl="1" indent="0">
              <a:buNone/>
              <a:defRPr/>
            </a:pPr>
            <a:endParaRPr lang="en-US"/>
          </a:p>
          <a:p>
            <a:pPr marL="88900" lvl="1" indent="0">
              <a:buNone/>
              <a:defRPr/>
            </a:pPr>
            <a:r>
              <a:rPr lang="zh-CN"/>
              <a:t>请参考下面的官方说明处理：</a:t>
            </a:r>
            <a:r>
              <a:rPr lang="en-US" sz="2100"/>
              <a:t>https://support.huawei.com/enterprise/zh/knowledge/KB1000063053</a:t>
            </a:r>
            <a:endParaRPr/>
          </a:p>
          <a:p>
            <a:pPr marL="447675" lvl="1" indent="-358775">
              <a:buNone/>
              <a:defRPr/>
            </a:pPr>
            <a:endParaRPr lang="en-US">
              <a:solidFill>
                <a:srgbClr val="C00000"/>
              </a:solidFill>
            </a:endParaRPr>
          </a:p>
          <a:p>
            <a:pPr marL="447675" lvl="1" indent="-358775">
              <a:buNone/>
              <a:defRPr/>
            </a:pPr>
            <a:endParaRPr lang="en-US">
              <a:solidFill>
                <a:srgbClr val="C00000"/>
              </a:solidFill>
            </a:endParaRPr>
          </a:p>
          <a:p>
            <a:pPr marL="447675" lvl="1" indent="-358775">
              <a:buNone/>
              <a:defRPr/>
            </a:pPr>
            <a:endParaRPr lang="en-US"/>
          </a:p>
          <a:p>
            <a:pPr marL="447675" lvl="1" indent="-358775">
              <a:buNone/>
              <a:defRPr/>
            </a:pPr>
            <a:br>
              <a:rPr lang="en-US"/>
            </a:br>
            <a:endParaRPr lang="en-US"/>
          </a:p>
        </p:txBody>
      </p:sp>
      <p:sp>
        <p:nvSpPr>
          <p:cNvPr id="203" name="Date Placeholder 202"/>
          <p:cNvSpPr>
            <a:spLocks noGrp="1"/>
          </p:cNvSpPr>
          <p:nvPr>
            <p:ph type="dt" sz="half" idx="10"/>
          </p:nvPr>
        </p:nvSpPr>
        <p:spPr bwMode="auto"/>
        <p:txBody>
          <a:bodyPr/>
          <a:lstStyle/>
          <a:p>
            <a:pPr>
              <a:defRPr/>
            </a:pPr>
            <a:r>
              <a:rPr lang="en-US"/>
              <a:t>3/1/2020</a:t>
            </a:r>
            <a:endParaRPr/>
          </a:p>
        </p:txBody>
      </p:sp>
      <p:sp>
        <p:nvSpPr>
          <p:cNvPr id="204" name="Footer Placeholder 203"/>
          <p:cNvSpPr>
            <a:spLocks noGrp="1"/>
          </p:cNvSpPr>
          <p:nvPr>
            <p:ph type="ftr" sz="quarter" idx="11"/>
          </p:nvPr>
        </p:nvSpPr>
        <p:spPr bwMode="auto"/>
        <p:txBody>
          <a:bodyPr/>
          <a:lstStyle/>
          <a:p>
            <a:pPr>
              <a:defRPr/>
            </a:pPr>
            <a:r>
              <a:rPr lang="zh-CN"/>
              <a:t>计算机网络实验</a:t>
            </a:r>
            <a:endParaRPr lang="en-US"/>
          </a:p>
        </p:txBody>
      </p:sp>
      <p:sp>
        <p:nvSpPr>
          <p:cNvPr id="205" name="Slide Number Placeholder 204"/>
          <p:cNvSpPr>
            <a:spLocks noGrp="1"/>
          </p:cNvSpPr>
          <p:nvPr>
            <p:ph type="sldNum" sz="quarter" idx="12"/>
          </p:nvPr>
        </p:nvSpPr>
        <p:spPr bwMode="auto"/>
        <p:txBody>
          <a:bodyPr/>
          <a:lstStyle/>
          <a:p>
            <a:pPr>
              <a:defRPr/>
            </a:pPr>
            <a:fld id="{0ECDF2DC-913F-4A16-9C18-8900B299D998}" type="slidenum">
              <a:rPr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Title 4"/>
          <p:cNvSpPr>
            <a:spLocks noGrp="1"/>
          </p:cNvSpPr>
          <p:nvPr>
            <p:ph type="title"/>
          </p:nvPr>
        </p:nvSpPr>
        <p:spPr bwMode="auto"/>
        <p:txBody>
          <a:bodyPr/>
          <a:lstStyle/>
          <a:p>
            <a:pPr>
              <a:defRPr/>
            </a:pPr>
            <a:r>
              <a:rPr lang="en-US"/>
              <a:t>3. </a:t>
            </a:r>
            <a:r>
              <a:rPr lang="zh-CN"/>
              <a:t>配置双节点网络</a:t>
            </a:r>
            <a:r>
              <a:rPr lang="en-US"/>
              <a:t>VLAN </a:t>
            </a:r>
          </a:p>
        </p:txBody>
      </p:sp>
      <p:sp>
        <p:nvSpPr>
          <p:cNvPr id="6" name="Content Placeholder 5"/>
          <p:cNvSpPr>
            <a:spLocks noGrp="1"/>
          </p:cNvSpPr>
          <p:nvPr>
            <p:ph idx="1"/>
          </p:nvPr>
        </p:nvSpPr>
        <p:spPr bwMode="auto"/>
        <p:txBody>
          <a:bodyPr/>
          <a:lstStyle/>
          <a:p>
            <a:pPr marL="546100" lvl="1" indent="-457200">
              <a:buFont typeface="+mj-lt"/>
              <a:buAutoNum type="arabicParenR" startAt="7"/>
              <a:defRPr/>
            </a:pPr>
            <a:r>
              <a:rPr lang="zh-CN"/>
              <a:t>进入接口</a:t>
            </a:r>
            <a:r>
              <a:rPr lang="en-US"/>
              <a:t>Ethernet 1/0/4</a:t>
            </a:r>
            <a:r>
              <a:rPr lang="zh-CN"/>
              <a:t>的界面</a:t>
            </a:r>
            <a:endParaRPr lang="en-US"/>
          </a:p>
          <a:p>
            <a:pPr marL="447675" lvl="2" indent="-358775">
              <a:buNone/>
              <a:defRPr/>
            </a:pPr>
            <a:r>
              <a:rPr lang="en-US" sz="2000">
                <a:solidFill>
                  <a:srgbClr val="FFFF00"/>
                </a:solidFill>
                <a:highlight>
                  <a:srgbClr val="000000"/>
                </a:highlight>
                <a:latin typeface="Courier New"/>
                <a:ea typeface="宋体"/>
                <a:cs typeface="Courier New"/>
              </a:rPr>
              <a:t>[Quidway] interface Ethernet 1/0/4</a:t>
            </a:r>
            <a:endParaRPr lang="en-US" sz="2400">
              <a:solidFill>
                <a:srgbClr val="FFFF00"/>
              </a:solidFill>
              <a:highlight>
                <a:srgbClr val="000000"/>
              </a:highlight>
            </a:endParaRPr>
          </a:p>
          <a:p>
            <a:pPr marL="546100" lvl="1" indent="-457200">
              <a:buFont typeface="+mj-lt"/>
              <a:buAutoNum type="arabicParenR" startAt="7"/>
              <a:defRPr/>
            </a:pPr>
            <a:r>
              <a:rPr lang="zh-CN"/>
              <a:t>将其配置为</a:t>
            </a:r>
            <a:r>
              <a:rPr lang="en-US"/>
              <a:t>Access</a:t>
            </a:r>
            <a:r>
              <a:rPr lang="zh-CN"/>
              <a:t>类型</a:t>
            </a:r>
            <a:endParaRPr/>
          </a:p>
          <a:p>
            <a:pPr marL="447675" lvl="2" indent="-358775">
              <a:buNone/>
              <a:defRPr/>
            </a:pPr>
            <a:r>
              <a:rPr lang="en-US" sz="2000">
                <a:solidFill>
                  <a:srgbClr val="FFFF00"/>
                </a:solidFill>
                <a:highlight>
                  <a:srgbClr val="000000"/>
                </a:highlight>
                <a:latin typeface="Courier New"/>
                <a:ea typeface="宋体"/>
                <a:cs typeface="Courier New"/>
              </a:rPr>
              <a:t>[Quidway-Ethernet1/0/4] port link-type access </a:t>
            </a:r>
            <a:endParaRPr lang="en-US">
              <a:solidFill>
                <a:srgbClr val="FFFF00"/>
              </a:solidFill>
              <a:highlight>
                <a:srgbClr val="000000"/>
              </a:highlight>
            </a:endParaRPr>
          </a:p>
          <a:p>
            <a:pPr marL="546100" lvl="1" indent="-457200">
              <a:buFont typeface="+mj-lt"/>
              <a:buAutoNum type="arabicParenR" startAt="7"/>
              <a:defRPr/>
            </a:pPr>
            <a:r>
              <a:rPr lang="zh-CN"/>
              <a:t>创建</a:t>
            </a:r>
            <a:r>
              <a:rPr lang="en-US"/>
              <a:t>VLAN 3</a:t>
            </a:r>
            <a:r>
              <a:rPr lang="zh-CN"/>
              <a:t>并进入其视图。</a:t>
            </a:r>
            <a:endParaRPr lang="en-US"/>
          </a:p>
          <a:p>
            <a:pPr marL="447675" lvl="1" indent="-358775">
              <a:buNone/>
              <a:defRPr/>
            </a:pPr>
            <a:r>
              <a:rPr lang="en-US" sz="2400">
                <a:solidFill>
                  <a:srgbClr val="FFFF00"/>
                </a:solidFill>
                <a:highlight>
                  <a:srgbClr val="000000"/>
                </a:highlight>
                <a:latin typeface="Courier New"/>
                <a:ea typeface="宋体"/>
                <a:cs typeface="Courier New"/>
              </a:rPr>
              <a:t>[Quidway] vlan 3</a:t>
            </a:r>
            <a:endParaRPr lang="en-US"/>
          </a:p>
          <a:p>
            <a:pPr marL="546100" lvl="1" indent="-457200">
              <a:buFont typeface="+mj-lt"/>
              <a:buAutoNum type="arabicParenR" startAt="10"/>
              <a:defRPr/>
            </a:pPr>
            <a:r>
              <a:rPr lang="zh-CN"/>
              <a:t>向</a:t>
            </a:r>
            <a:r>
              <a:rPr lang="en-US"/>
              <a:t>VLAN 3</a:t>
            </a:r>
            <a:r>
              <a:rPr lang="zh-CN"/>
              <a:t>中加入端口</a:t>
            </a:r>
            <a:r>
              <a:rPr lang="en-US"/>
              <a:t>(</a:t>
            </a:r>
            <a:r>
              <a:rPr lang="zh-CN"/>
              <a:t>例如</a:t>
            </a:r>
            <a:r>
              <a:rPr lang="en-US"/>
              <a:t>Ethernet 1/0/4 ) </a:t>
            </a:r>
            <a:endParaRPr/>
          </a:p>
          <a:p>
            <a:pPr marL="447675" lvl="1" indent="-358775">
              <a:buNone/>
              <a:defRPr/>
            </a:pPr>
            <a:r>
              <a:rPr lang="en-US" sz="2000">
                <a:solidFill>
                  <a:srgbClr val="FFFF00"/>
                </a:solidFill>
                <a:highlight>
                  <a:srgbClr val="000000"/>
                </a:highlight>
                <a:latin typeface="Courier New"/>
                <a:ea typeface="宋体"/>
                <a:cs typeface="Courier New"/>
              </a:rPr>
              <a:t>[Quidway-vlan3] port Ethernet1/0/4</a:t>
            </a:r>
            <a:endParaRPr lang="en-US">
              <a:solidFill>
                <a:srgbClr val="FFFF00"/>
              </a:solidFill>
              <a:highlight>
                <a:srgbClr val="000000"/>
              </a:highlight>
            </a:endParaRPr>
          </a:p>
          <a:p>
            <a:pPr marL="447675" indent="-358775">
              <a:defRPr/>
            </a:pPr>
            <a:endParaRPr lang="en-US"/>
          </a:p>
        </p:txBody>
      </p:sp>
      <p:sp>
        <p:nvSpPr>
          <p:cNvPr id="2" name="Date Placeholder 1"/>
          <p:cNvSpPr>
            <a:spLocks noGrp="1"/>
          </p:cNvSpPr>
          <p:nvPr>
            <p:ph type="dt" sz="half" idx="10"/>
          </p:nvPr>
        </p:nvSpPr>
        <p:spPr bwMode="auto"/>
        <p:txBody>
          <a:bodyPr/>
          <a:lstStyle/>
          <a:p>
            <a:pPr>
              <a:defRPr/>
            </a:pPr>
            <a:r>
              <a:rPr lang="en-US"/>
              <a:t>3/1/2020</a:t>
            </a:r>
            <a:endParaRPr/>
          </a:p>
        </p:txBody>
      </p:sp>
      <p:sp>
        <p:nvSpPr>
          <p:cNvPr id="4" name="Footer Placeholder 3"/>
          <p:cNvSpPr>
            <a:spLocks noGrp="1"/>
          </p:cNvSpPr>
          <p:nvPr>
            <p:ph type="ftr" sz="quarter" idx="11"/>
          </p:nvPr>
        </p:nvSpPr>
        <p:spPr bwMode="auto"/>
        <p:txBody>
          <a:bodyPr/>
          <a:lstStyle/>
          <a:p>
            <a:pPr>
              <a:defRPr/>
            </a:pPr>
            <a:r>
              <a:rPr lang="zh-CN"/>
              <a:t>计算机网络实验</a:t>
            </a:r>
            <a:endParaRPr lang="en-US"/>
          </a:p>
        </p:txBody>
      </p:sp>
      <p:sp>
        <p:nvSpPr>
          <p:cNvPr id="7" name="Slide Number Placeholder 6"/>
          <p:cNvSpPr>
            <a:spLocks noGrp="1"/>
          </p:cNvSpPr>
          <p:nvPr>
            <p:ph type="sldNum" sz="quarter" idx="12"/>
          </p:nvPr>
        </p:nvSpPr>
        <p:spPr bwMode="auto"/>
        <p:txBody>
          <a:bodyPr/>
          <a:lstStyle/>
          <a:p>
            <a:pPr>
              <a:defRPr/>
            </a:pPr>
            <a:fld id="{0ECDF2DC-913F-4A16-9C18-8900B299D998}" type="slidenum">
              <a:rPr lang="en-US"/>
              <a:t>23</a:t>
            </a:fld>
            <a:endParaRPr lang="en-US"/>
          </a:p>
        </p:txBody>
      </p:sp>
      <p:grpSp>
        <p:nvGrpSpPr>
          <p:cNvPr id="297" name="Group 296"/>
          <p:cNvGrpSpPr/>
          <p:nvPr/>
        </p:nvGrpSpPr>
        <p:grpSpPr bwMode="auto">
          <a:xfrm>
            <a:off x="3009125" y="4099530"/>
            <a:ext cx="3098173" cy="2198779"/>
            <a:chOff x="5994947" y="2968383"/>
            <a:chExt cx="2663570" cy="1913205"/>
          </a:xfrm>
        </p:grpSpPr>
        <p:sp>
          <p:nvSpPr>
            <p:cNvPr id="298" name="Rectangle 297"/>
            <p:cNvSpPr/>
            <p:nvPr/>
          </p:nvSpPr>
          <p:spPr bwMode="auto">
            <a:xfrm>
              <a:off x="6035571" y="2968383"/>
              <a:ext cx="2622946" cy="1913205"/>
            </a:xfrm>
            <a:prstGeom prst="rect">
              <a:avLst/>
            </a:prstGeom>
            <a:noFill/>
            <a:ln w="9525" cap="flat" cmpd="sng" algn="ctr">
              <a:solidFill>
                <a:schemeClr val="accent2"/>
              </a:solidFill>
              <a:prstDash val="solid"/>
              <a:round/>
              <a:headEnd type="none" w="med" len="med"/>
              <a:tailEnd type="none" w="med" len="med"/>
            </a:ln>
          </p:spPr>
          <p:style>
            <a:lnRef idx="0">
              <a:srgbClr val="000000"/>
            </a:lnRef>
            <a:fillRef idx="0">
              <a:srgbClr val="000000"/>
            </a:fillRef>
            <a:effectRef idx="0">
              <a:srgbClr val="000000"/>
            </a:effectRef>
            <a:fontRef idx="minor">
              <a:schemeClr val="accent2"/>
            </a:fontRef>
          </p:style>
          <p:txBody>
            <a:bodyPr rtlCol="0" anchor="ctr"/>
            <a:lstStyle/>
            <a:p>
              <a:pPr algn="ctr">
                <a:defRPr/>
              </a:pPr>
              <a:endParaRPr lang="en-US" sz="2000"/>
            </a:p>
          </p:txBody>
        </p:sp>
        <p:grpSp>
          <p:nvGrpSpPr>
            <p:cNvPr id="299" name="Group 298"/>
            <p:cNvGrpSpPr>
              <a:grpSpLocks noChangeAspect="1"/>
            </p:cNvGrpSpPr>
            <p:nvPr/>
          </p:nvGrpSpPr>
          <p:grpSpPr bwMode="auto">
            <a:xfrm>
              <a:off x="5994947" y="3061264"/>
              <a:ext cx="2582994" cy="1803057"/>
              <a:chOff x="2140497" y="3290348"/>
              <a:chExt cx="4311578" cy="3009693"/>
            </a:xfrm>
          </p:grpSpPr>
          <p:grpSp>
            <p:nvGrpSpPr>
              <p:cNvPr id="300" name="Group 299"/>
              <p:cNvGrpSpPr/>
              <p:nvPr/>
            </p:nvGrpSpPr>
            <p:grpSpPr bwMode="auto">
              <a:xfrm>
                <a:off x="2140497" y="3290348"/>
                <a:ext cx="4311578" cy="3009693"/>
                <a:chOff x="2140497" y="3290348"/>
                <a:chExt cx="4311578" cy="3009693"/>
              </a:xfrm>
            </p:grpSpPr>
            <p:grpSp>
              <p:nvGrpSpPr>
                <p:cNvPr id="305" name="Group 304"/>
                <p:cNvGrpSpPr/>
                <p:nvPr/>
              </p:nvGrpSpPr>
              <p:grpSpPr bwMode="auto">
                <a:xfrm>
                  <a:off x="2647144" y="4839730"/>
                  <a:ext cx="1061526" cy="823469"/>
                  <a:chOff x="1136203" y="4520619"/>
                  <a:chExt cx="1419428" cy="1013448"/>
                </a:xfrm>
              </p:grpSpPr>
              <p:grpSp>
                <p:nvGrpSpPr>
                  <p:cNvPr id="359" name="Group 950"/>
                  <p:cNvGrpSpPr/>
                  <p:nvPr/>
                </p:nvGrpSpPr>
                <p:grpSpPr bwMode="auto">
                  <a:xfrm>
                    <a:off x="2039815" y="4520619"/>
                    <a:ext cx="515816" cy="969179"/>
                    <a:chOff x="4140" y="429"/>
                    <a:chExt cx="1425" cy="2396"/>
                  </a:xfrm>
                </p:grpSpPr>
                <p:sp>
                  <p:nvSpPr>
                    <p:cNvPr id="363"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364"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65"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366"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367"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nvGrpSpPr>
                    <p:cNvPr id="368" name="Group 956"/>
                    <p:cNvGrpSpPr/>
                    <p:nvPr/>
                  </p:nvGrpSpPr>
                  <p:grpSpPr bwMode="auto">
                    <a:xfrm>
                      <a:off x="4749" y="668"/>
                      <a:ext cx="581" cy="145"/>
                      <a:chOff x="614" y="2568"/>
                      <a:chExt cx="725" cy="139"/>
                    </a:xfrm>
                  </p:grpSpPr>
                  <p:sp>
                    <p:nvSpPr>
                      <p:cNvPr id="393"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94"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sp>
                  <p:nvSpPr>
                    <p:cNvPr id="369"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nvGrpSpPr>
                    <p:cNvPr id="370" name="Group 960"/>
                    <p:cNvGrpSpPr/>
                    <p:nvPr/>
                  </p:nvGrpSpPr>
                  <p:grpSpPr bwMode="auto">
                    <a:xfrm>
                      <a:off x="4747" y="994"/>
                      <a:ext cx="581" cy="134"/>
                      <a:chOff x="614" y="2568"/>
                      <a:chExt cx="725" cy="139"/>
                    </a:xfrm>
                  </p:grpSpPr>
                  <p:sp>
                    <p:nvSpPr>
                      <p:cNvPr id="391"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92"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sp>
                  <p:nvSpPr>
                    <p:cNvPr id="371"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72"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nvGrpSpPr>
                    <p:cNvPr id="373" name="Group 965"/>
                    <p:cNvGrpSpPr/>
                    <p:nvPr/>
                  </p:nvGrpSpPr>
                  <p:grpSpPr bwMode="auto">
                    <a:xfrm>
                      <a:off x="4735" y="1627"/>
                      <a:ext cx="582" cy="151"/>
                      <a:chOff x="614" y="2568"/>
                      <a:chExt cx="725" cy="139"/>
                    </a:xfrm>
                  </p:grpSpPr>
                  <p:sp>
                    <p:nvSpPr>
                      <p:cNvPr id="389"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90"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sp>
                  <p:nvSpPr>
                    <p:cNvPr id="374"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grpSp>
                  <p:nvGrpSpPr>
                    <p:cNvPr id="375" name="Group 969"/>
                    <p:cNvGrpSpPr/>
                    <p:nvPr/>
                  </p:nvGrpSpPr>
                  <p:grpSpPr bwMode="auto">
                    <a:xfrm>
                      <a:off x="4739" y="1327"/>
                      <a:ext cx="582" cy="139"/>
                      <a:chOff x="614" y="2568"/>
                      <a:chExt cx="725" cy="139"/>
                    </a:xfrm>
                  </p:grpSpPr>
                  <p:sp>
                    <p:nvSpPr>
                      <p:cNvPr id="387"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88"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sp>
                  <p:nvSpPr>
                    <p:cNvPr id="376"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77"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378"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379"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80"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381"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82"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83"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84"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200" b="0" i="0" u="sng" strike="noStrike" cap="none" spc="0">
                        <a:ln>
                          <a:noFill/>
                        </a:ln>
                        <a:solidFill>
                          <a:srgbClr val="FF0000"/>
                        </a:solidFill>
                        <a:latin typeface="+mn-lt"/>
                        <a:ea typeface="MS PGothic"/>
                        <a:cs typeface="Arial"/>
                      </a:endParaRPr>
                    </a:p>
                  </p:txBody>
                </p:sp>
                <p:sp>
                  <p:nvSpPr>
                    <p:cNvPr id="385"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86"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grpSp>
                <p:nvGrpSpPr>
                  <p:cNvPr id="360" name="Group 590"/>
                  <p:cNvGrpSpPr/>
                  <p:nvPr/>
                </p:nvGrpSpPr>
                <p:grpSpPr bwMode="auto">
                  <a:xfrm flipH="1">
                    <a:off x="1136203" y="4624876"/>
                    <a:ext cx="948819" cy="909191"/>
                    <a:chOff x="2839" y="3501"/>
                    <a:chExt cx="755" cy="803"/>
                  </a:xfrm>
                </p:grpSpPr>
                <p:pic>
                  <p:nvPicPr>
                    <p:cNvPr id="361"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362"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200" u="sng"/>
                    </a:p>
                  </p:txBody>
                </p:sp>
              </p:grpSp>
            </p:grpSp>
            <p:grpSp>
              <p:nvGrpSpPr>
                <p:cNvPr id="306" name="Group 305"/>
                <p:cNvGrpSpPr/>
                <p:nvPr/>
              </p:nvGrpSpPr>
              <p:grpSpPr bwMode="auto">
                <a:xfrm>
                  <a:off x="4351760" y="4831496"/>
                  <a:ext cx="1061526" cy="831703"/>
                  <a:chOff x="1136203" y="4520619"/>
                  <a:chExt cx="1419428" cy="1013448"/>
                </a:xfrm>
              </p:grpSpPr>
              <p:grpSp>
                <p:nvGrpSpPr>
                  <p:cNvPr id="323" name="Group 950"/>
                  <p:cNvGrpSpPr/>
                  <p:nvPr/>
                </p:nvGrpSpPr>
                <p:grpSpPr bwMode="auto">
                  <a:xfrm>
                    <a:off x="2039815" y="4520619"/>
                    <a:ext cx="515816" cy="969179"/>
                    <a:chOff x="4140" y="429"/>
                    <a:chExt cx="1425" cy="2396"/>
                  </a:xfrm>
                </p:grpSpPr>
                <p:sp>
                  <p:nvSpPr>
                    <p:cNvPr id="327"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328"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29"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330"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331"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nvGrpSpPr>
                    <p:cNvPr id="332" name="Group 956"/>
                    <p:cNvGrpSpPr/>
                    <p:nvPr/>
                  </p:nvGrpSpPr>
                  <p:grpSpPr bwMode="auto">
                    <a:xfrm>
                      <a:off x="4749" y="668"/>
                      <a:ext cx="581" cy="145"/>
                      <a:chOff x="614" y="2568"/>
                      <a:chExt cx="725" cy="139"/>
                    </a:xfrm>
                  </p:grpSpPr>
                  <p:sp>
                    <p:nvSpPr>
                      <p:cNvPr id="357"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58"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sp>
                  <p:nvSpPr>
                    <p:cNvPr id="333"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nvGrpSpPr>
                    <p:cNvPr id="334" name="Group 960"/>
                    <p:cNvGrpSpPr/>
                    <p:nvPr/>
                  </p:nvGrpSpPr>
                  <p:grpSpPr bwMode="auto">
                    <a:xfrm>
                      <a:off x="4747" y="994"/>
                      <a:ext cx="581" cy="134"/>
                      <a:chOff x="614" y="2568"/>
                      <a:chExt cx="725" cy="139"/>
                    </a:xfrm>
                  </p:grpSpPr>
                  <p:sp>
                    <p:nvSpPr>
                      <p:cNvPr id="355"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56"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sp>
                  <p:nvSpPr>
                    <p:cNvPr id="335"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36"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nvGrpSpPr>
                    <p:cNvPr id="337" name="Group 965"/>
                    <p:cNvGrpSpPr/>
                    <p:nvPr/>
                  </p:nvGrpSpPr>
                  <p:grpSpPr bwMode="auto">
                    <a:xfrm>
                      <a:off x="4735" y="1627"/>
                      <a:ext cx="582" cy="151"/>
                      <a:chOff x="614" y="2568"/>
                      <a:chExt cx="725" cy="139"/>
                    </a:xfrm>
                  </p:grpSpPr>
                  <p:sp>
                    <p:nvSpPr>
                      <p:cNvPr id="353"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54"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sp>
                  <p:nvSpPr>
                    <p:cNvPr id="338"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grpSp>
                  <p:nvGrpSpPr>
                    <p:cNvPr id="339" name="Group 969"/>
                    <p:cNvGrpSpPr/>
                    <p:nvPr/>
                  </p:nvGrpSpPr>
                  <p:grpSpPr bwMode="auto">
                    <a:xfrm>
                      <a:off x="4739" y="1327"/>
                      <a:ext cx="582" cy="139"/>
                      <a:chOff x="614" y="2568"/>
                      <a:chExt cx="725" cy="139"/>
                    </a:xfrm>
                  </p:grpSpPr>
                  <p:sp>
                    <p:nvSpPr>
                      <p:cNvPr id="351"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52"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sp>
                  <p:nvSpPr>
                    <p:cNvPr id="340"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41"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342"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343"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44"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endParaRPr>
                    </a:p>
                  </p:txBody>
                </p:sp>
                <p:sp>
                  <p:nvSpPr>
                    <p:cNvPr id="345"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46"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47"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48"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200" b="0" i="0" u="sng" strike="noStrike" cap="none" spc="0">
                        <a:ln>
                          <a:noFill/>
                        </a:ln>
                        <a:solidFill>
                          <a:srgbClr val="FF0000"/>
                        </a:solidFill>
                        <a:latin typeface="+mn-lt"/>
                        <a:ea typeface="MS PGothic"/>
                        <a:cs typeface="Arial"/>
                      </a:endParaRPr>
                    </a:p>
                  </p:txBody>
                </p:sp>
                <p:sp>
                  <p:nvSpPr>
                    <p:cNvPr id="349"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sp>
                  <p:nvSpPr>
                    <p:cNvPr id="350"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200" b="0" i="0" u="sng" strike="noStrike" cap="none" spc="0">
                        <a:ln>
                          <a:noFill/>
                        </a:ln>
                        <a:solidFill>
                          <a:prstClr val="black"/>
                        </a:solidFill>
                        <a:latin typeface="+mn-lt"/>
                        <a:ea typeface="MS PGothic"/>
                        <a:cs typeface="Arial"/>
                      </a:endParaRPr>
                    </a:p>
                  </p:txBody>
                </p:sp>
              </p:grpSp>
              <p:grpSp>
                <p:nvGrpSpPr>
                  <p:cNvPr id="324" name="Group 590"/>
                  <p:cNvGrpSpPr/>
                  <p:nvPr/>
                </p:nvGrpSpPr>
                <p:grpSpPr bwMode="auto">
                  <a:xfrm flipH="1">
                    <a:off x="1136203" y="4624876"/>
                    <a:ext cx="948819" cy="909191"/>
                    <a:chOff x="2839" y="3501"/>
                    <a:chExt cx="755" cy="803"/>
                  </a:xfrm>
                </p:grpSpPr>
                <p:pic>
                  <p:nvPicPr>
                    <p:cNvPr id="325"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326"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200" u="sng"/>
                    </a:p>
                  </p:txBody>
                </p:sp>
              </p:grpSp>
            </p:grpSp>
            <p:cxnSp>
              <p:nvCxnSpPr>
                <p:cNvPr id="307" name="Straight Connector 306"/>
                <p:cNvCxnSpPr>
                  <a:cxnSpLocks/>
                  <a:stCxn id="364" idx="0"/>
                  <a:endCxn id="316" idx="1"/>
                </p:cNvCxnSpPr>
                <p:nvPr/>
              </p:nvCxnSpPr>
              <p:spPr bwMode="auto">
                <a:xfrm flipV="1">
                  <a:off x="3483443" y="3924349"/>
                  <a:ext cx="374980" cy="915381"/>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308" name="Straight Connector 307"/>
                <p:cNvCxnSpPr>
                  <a:cxnSpLocks/>
                  <a:stCxn id="328" idx="0"/>
                  <a:endCxn id="316" idx="3"/>
                </p:cNvCxnSpPr>
                <p:nvPr/>
              </p:nvCxnSpPr>
              <p:spPr bwMode="auto">
                <a:xfrm flipH="1" flipV="1">
                  <a:off x="4723453" y="3924349"/>
                  <a:ext cx="464605" cy="907147"/>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grpSp>
              <p:nvGrpSpPr>
                <p:cNvPr id="309" name="Group 308"/>
                <p:cNvGrpSpPr/>
                <p:nvPr/>
              </p:nvGrpSpPr>
              <p:grpSpPr bwMode="auto">
                <a:xfrm>
                  <a:off x="3858423" y="3290348"/>
                  <a:ext cx="868153" cy="794009"/>
                  <a:chOff x="3668110" y="2448910"/>
                  <a:chExt cx="3794234" cy="2165130"/>
                </a:xfrm>
              </p:grpSpPr>
              <p:sp>
                <p:nvSpPr>
                  <p:cNvPr id="316" name="Rectangle 315"/>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200"/>
                  </a:p>
                </p:txBody>
              </p:sp>
              <p:sp>
                <p:nvSpPr>
                  <p:cNvPr id="317"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200"/>
                  </a:p>
                </p:txBody>
              </p:sp>
              <p:grpSp>
                <p:nvGrpSpPr>
                  <p:cNvPr id="318" name="Group 317"/>
                  <p:cNvGrpSpPr/>
                  <p:nvPr/>
                </p:nvGrpSpPr>
                <p:grpSpPr bwMode="auto">
                  <a:xfrm>
                    <a:off x="3941378" y="2603243"/>
                    <a:ext cx="3202060" cy="1066110"/>
                    <a:chOff x="7939341" y="3037317"/>
                    <a:chExt cx="897649" cy="353919"/>
                  </a:xfrm>
                </p:grpSpPr>
                <p:sp>
                  <p:nvSpPr>
                    <p:cNvPr id="319"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200"/>
                    </a:p>
                  </p:txBody>
                </p:sp>
                <p:sp>
                  <p:nvSpPr>
                    <p:cNvPr id="320"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200"/>
                    </a:p>
                  </p:txBody>
                </p:sp>
                <p:sp>
                  <p:nvSpPr>
                    <p:cNvPr id="321"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200"/>
                    </a:p>
                  </p:txBody>
                </p:sp>
                <p:sp>
                  <p:nvSpPr>
                    <p:cNvPr id="322"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200"/>
                    </a:p>
                  </p:txBody>
                </p:sp>
              </p:grpSp>
            </p:grpSp>
            <p:sp>
              <p:nvSpPr>
                <p:cNvPr id="310" name="Rectangle 309"/>
                <p:cNvSpPr/>
                <p:nvPr/>
              </p:nvSpPr>
              <p:spPr bwMode="auto">
                <a:xfrm>
                  <a:off x="2140497" y="3805428"/>
                  <a:ext cx="1551766" cy="402319"/>
                </a:xfrm>
                <a:prstGeom prst="rect">
                  <a:avLst/>
                </a:prstGeom>
                <a:grpFill/>
              </p:spPr>
              <p:txBody>
                <a:bodyPr wrap="none">
                  <a:spAutoFit/>
                </a:bodyPr>
                <a:lstStyle/>
                <a:p>
                  <a:pPr>
                    <a:defRPr/>
                  </a:pPr>
                  <a:r>
                    <a:rPr lang="en-US" sz="1200">
                      <a:ea typeface="宋体"/>
                      <a:cs typeface="Courier New"/>
                    </a:rPr>
                    <a:t>Ethernet1/0/3</a:t>
                  </a:r>
                  <a:endParaRPr lang="en-US" sz="1200"/>
                </a:p>
              </p:txBody>
            </p:sp>
            <p:sp>
              <p:nvSpPr>
                <p:cNvPr id="311" name="Rectangle 310"/>
                <p:cNvSpPr/>
                <p:nvPr/>
              </p:nvSpPr>
              <p:spPr bwMode="auto">
                <a:xfrm>
                  <a:off x="4900308" y="3805428"/>
                  <a:ext cx="1551766" cy="402319"/>
                </a:xfrm>
                <a:prstGeom prst="rect">
                  <a:avLst/>
                </a:prstGeom>
                <a:grpFill/>
              </p:spPr>
              <p:txBody>
                <a:bodyPr wrap="none">
                  <a:spAutoFit/>
                </a:bodyPr>
                <a:lstStyle/>
                <a:p>
                  <a:pPr>
                    <a:defRPr/>
                  </a:pPr>
                  <a:r>
                    <a:rPr lang="en-US" sz="1200">
                      <a:ea typeface="宋体"/>
                      <a:cs typeface="Courier New"/>
                    </a:rPr>
                    <a:t>Ethernet1/0/4</a:t>
                  </a:r>
                  <a:endParaRPr lang="en-US" sz="1200"/>
                </a:p>
              </p:txBody>
            </p:sp>
            <p:sp>
              <p:nvSpPr>
                <p:cNvPr id="312" name="Rectangle 311"/>
                <p:cNvSpPr/>
                <p:nvPr/>
              </p:nvSpPr>
              <p:spPr bwMode="auto">
                <a:xfrm>
                  <a:off x="3246537" y="5657519"/>
                  <a:ext cx="639975" cy="447022"/>
                </a:xfrm>
                <a:prstGeom prst="rect">
                  <a:avLst/>
                </a:prstGeom>
                <a:grpFill/>
              </p:spPr>
              <p:txBody>
                <a:bodyPr wrap="none">
                  <a:spAutoFit/>
                </a:bodyPr>
                <a:lstStyle/>
                <a:p>
                  <a:pPr>
                    <a:defRPr/>
                  </a:pPr>
                  <a:r>
                    <a:rPr lang="en-US" sz="1400">
                      <a:ea typeface="宋体"/>
                      <a:cs typeface="Courier New"/>
                    </a:rPr>
                    <a:t>pc1</a:t>
                  </a:r>
                  <a:endParaRPr lang="en-US" sz="1400"/>
                </a:p>
              </p:txBody>
            </p:sp>
            <p:sp>
              <p:nvSpPr>
                <p:cNvPr id="313" name="Rectangle 312"/>
                <p:cNvSpPr/>
                <p:nvPr/>
              </p:nvSpPr>
              <p:spPr bwMode="auto">
                <a:xfrm>
                  <a:off x="5025652" y="5672447"/>
                  <a:ext cx="639975" cy="447022"/>
                </a:xfrm>
                <a:prstGeom prst="rect">
                  <a:avLst/>
                </a:prstGeom>
                <a:grpFill/>
              </p:spPr>
              <p:txBody>
                <a:bodyPr wrap="none">
                  <a:spAutoFit/>
                </a:bodyPr>
                <a:lstStyle/>
                <a:p>
                  <a:pPr>
                    <a:defRPr/>
                  </a:pPr>
                  <a:r>
                    <a:rPr lang="en-US" sz="1400">
                      <a:ea typeface="宋体"/>
                      <a:cs typeface="Courier New"/>
                    </a:rPr>
                    <a:t>pc2</a:t>
                  </a:r>
                  <a:endParaRPr lang="en-US" sz="1400"/>
                </a:p>
              </p:txBody>
            </p:sp>
            <p:sp>
              <p:nvSpPr>
                <p:cNvPr id="314" name="Rectangle 313"/>
                <p:cNvSpPr/>
                <p:nvPr/>
              </p:nvSpPr>
              <p:spPr bwMode="auto">
                <a:xfrm>
                  <a:off x="2743192" y="5897722"/>
                  <a:ext cx="1755675" cy="402319"/>
                </a:xfrm>
                <a:prstGeom prst="rect">
                  <a:avLst/>
                </a:prstGeom>
                <a:grpFill/>
              </p:spPr>
              <p:txBody>
                <a:bodyPr wrap="none">
                  <a:spAutoFit/>
                </a:bodyPr>
                <a:lstStyle/>
                <a:p>
                  <a:pPr>
                    <a:defRPr/>
                  </a:pPr>
                  <a:r>
                    <a:rPr lang="en-US" sz="1200"/>
                    <a:t>192.168.1.11/24</a:t>
                  </a:r>
                </a:p>
              </p:txBody>
            </p:sp>
            <p:sp>
              <p:nvSpPr>
                <p:cNvPr id="315" name="Rectangle 314"/>
                <p:cNvSpPr/>
                <p:nvPr/>
              </p:nvSpPr>
              <p:spPr bwMode="auto">
                <a:xfrm>
                  <a:off x="4522309" y="5892179"/>
                  <a:ext cx="1755675" cy="402319"/>
                </a:xfrm>
                <a:prstGeom prst="rect">
                  <a:avLst/>
                </a:prstGeom>
                <a:grpFill/>
              </p:spPr>
              <p:txBody>
                <a:bodyPr wrap="none">
                  <a:spAutoFit/>
                </a:bodyPr>
                <a:lstStyle/>
                <a:p>
                  <a:pPr>
                    <a:defRPr/>
                  </a:pPr>
                  <a:r>
                    <a:rPr lang="en-US" sz="1200"/>
                    <a:t>192.168.1.12/24</a:t>
                  </a:r>
                </a:p>
              </p:txBody>
            </p:sp>
          </p:grpSp>
          <p:sp>
            <p:nvSpPr>
              <p:cNvPr id="301" name="Oval 300"/>
              <p:cNvSpPr/>
              <p:nvPr/>
            </p:nvSpPr>
            <p:spPr bwMode="auto">
              <a:xfrm>
                <a:off x="3239677" y="4393500"/>
                <a:ext cx="728392" cy="256205"/>
              </a:xfrm>
              <a:prstGeom prst="ellipse">
                <a:avLst/>
              </a:prstGeom>
              <a:noFill/>
              <a:ln w="9525"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en-US" sz="1200"/>
              </a:p>
            </p:txBody>
          </p:sp>
          <p:sp>
            <p:nvSpPr>
              <p:cNvPr id="302" name="Oval 301"/>
              <p:cNvSpPr/>
              <p:nvPr/>
            </p:nvSpPr>
            <p:spPr bwMode="auto">
              <a:xfrm>
                <a:off x="4600370" y="4394968"/>
                <a:ext cx="728392" cy="256205"/>
              </a:xfrm>
              <a:prstGeom prst="ellipse">
                <a:avLst/>
              </a:prstGeom>
              <a:noFill/>
              <a:ln w="9525"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en-US" sz="1200"/>
              </a:p>
            </p:txBody>
          </p:sp>
          <p:sp>
            <p:nvSpPr>
              <p:cNvPr id="303" name="Rectangle 302"/>
              <p:cNvSpPr/>
              <p:nvPr/>
            </p:nvSpPr>
            <p:spPr bwMode="auto">
              <a:xfrm>
                <a:off x="2414162" y="4427547"/>
                <a:ext cx="865415" cy="402319"/>
              </a:xfrm>
              <a:prstGeom prst="rect">
                <a:avLst/>
              </a:prstGeom>
              <a:grpFill/>
            </p:spPr>
            <p:txBody>
              <a:bodyPr wrap="none">
                <a:spAutoFit/>
              </a:bodyPr>
              <a:lstStyle/>
              <a:p>
                <a:pPr>
                  <a:defRPr/>
                </a:pPr>
                <a:r>
                  <a:rPr lang="en-US" sz="1200">
                    <a:ea typeface="宋体"/>
                    <a:cs typeface="Courier New"/>
                  </a:rPr>
                  <a:t>VLAN2</a:t>
                </a:r>
                <a:endParaRPr lang="en-US" sz="1200"/>
              </a:p>
            </p:txBody>
          </p:sp>
          <p:sp>
            <p:nvSpPr>
              <p:cNvPr id="304" name="Rectangle 303"/>
              <p:cNvSpPr/>
              <p:nvPr/>
            </p:nvSpPr>
            <p:spPr bwMode="auto">
              <a:xfrm>
                <a:off x="5433876" y="4426590"/>
                <a:ext cx="865415" cy="402319"/>
              </a:xfrm>
              <a:prstGeom prst="rect">
                <a:avLst/>
              </a:prstGeom>
              <a:grpFill/>
            </p:spPr>
            <p:txBody>
              <a:bodyPr wrap="none">
                <a:spAutoFit/>
              </a:bodyPr>
              <a:lstStyle/>
              <a:p>
                <a:pPr>
                  <a:defRPr/>
                </a:pPr>
                <a:r>
                  <a:rPr lang="en-US" sz="1200">
                    <a:ea typeface="宋体"/>
                    <a:cs typeface="Courier New"/>
                  </a:rPr>
                  <a:t>VLAN3</a:t>
                </a:r>
                <a:endParaRPr lang="en-US" sz="1200"/>
              </a:p>
            </p:txBody>
          </p:sp>
        </p:gr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Title 3"/>
          <p:cNvSpPr>
            <a:spLocks noGrp="1"/>
          </p:cNvSpPr>
          <p:nvPr>
            <p:ph type="title"/>
          </p:nvPr>
        </p:nvSpPr>
        <p:spPr bwMode="auto"/>
        <p:txBody>
          <a:bodyPr/>
          <a:lstStyle/>
          <a:p>
            <a:pPr>
              <a:defRPr/>
            </a:pPr>
            <a:r>
              <a:rPr lang="en-US"/>
              <a:t>3. </a:t>
            </a:r>
            <a:r>
              <a:rPr lang="zh-CN"/>
              <a:t>配置双节点网络</a:t>
            </a:r>
            <a:r>
              <a:rPr lang="en-US"/>
              <a:t>VLAN </a:t>
            </a:r>
          </a:p>
        </p:txBody>
      </p:sp>
      <p:sp>
        <p:nvSpPr>
          <p:cNvPr id="3" name="Content Placeholder 2"/>
          <p:cNvSpPr>
            <a:spLocks noGrp="1"/>
          </p:cNvSpPr>
          <p:nvPr>
            <p:ph idx="1"/>
          </p:nvPr>
        </p:nvSpPr>
        <p:spPr bwMode="auto"/>
        <p:txBody>
          <a:bodyPr/>
          <a:lstStyle/>
          <a:p>
            <a:pPr marL="546100" lvl="1" indent="-457200">
              <a:buFont typeface="+mj-lt"/>
              <a:buAutoNum type="arabicParenR" startAt="11"/>
              <a:defRPr/>
            </a:pPr>
            <a:r>
              <a:rPr lang="zh-CN" dirty="0"/>
              <a:t>配置完成，开始检查，查看配置信息。</a:t>
            </a:r>
            <a:endParaRPr lang="en-US" dirty="0"/>
          </a:p>
          <a:p>
            <a:pPr marL="447675" lvl="2" indent="-358775">
              <a:defRPr/>
            </a:pPr>
            <a:r>
              <a:rPr lang="zh-CN" dirty="0"/>
              <a:t>使用</a:t>
            </a:r>
            <a:r>
              <a:rPr lang="en-US" dirty="0"/>
              <a:t>display VLAN</a:t>
            </a:r>
            <a:r>
              <a:rPr lang="zh-CN" dirty="0"/>
              <a:t>查看交换机中</a:t>
            </a:r>
            <a:r>
              <a:rPr lang="en-US" dirty="0"/>
              <a:t>VLAN</a:t>
            </a:r>
            <a:r>
              <a:rPr lang="zh-CN" dirty="0"/>
              <a:t>配置信息。</a:t>
            </a:r>
            <a:endParaRPr lang="en-US" dirty="0"/>
          </a:p>
          <a:p>
            <a:pPr marL="447675" lvl="2" indent="-358775">
              <a:buNone/>
              <a:defRPr/>
            </a:pPr>
            <a:r>
              <a:rPr lang="en-US" sz="2000" dirty="0">
                <a:solidFill>
                  <a:srgbClr val="FFFF00"/>
                </a:solidFill>
                <a:highlight>
                  <a:srgbClr val="000000"/>
                </a:highlight>
                <a:latin typeface="Courier New"/>
                <a:ea typeface="宋体"/>
                <a:cs typeface="Courier New"/>
              </a:rPr>
              <a:t>[</a:t>
            </a:r>
            <a:r>
              <a:rPr lang="en-US" sz="2000" dirty="0" err="1">
                <a:solidFill>
                  <a:srgbClr val="FFFF00"/>
                </a:solidFill>
                <a:highlight>
                  <a:srgbClr val="000000"/>
                </a:highlight>
                <a:latin typeface="Courier New"/>
                <a:ea typeface="宋体"/>
                <a:cs typeface="Courier New"/>
              </a:rPr>
              <a:t>Quidway</a:t>
            </a:r>
            <a:r>
              <a:rPr lang="en-US" sz="2000" dirty="0">
                <a:solidFill>
                  <a:srgbClr val="FFFF00"/>
                </a:solidFill>
                <a:highlight>
                  <a:srgbClr val="000000"/>
                </a:highlight>
                <a:latin typeface="Courier New"/>
                <a:ea typeface="宋体"/>
                <a:cs typeface="Courier New"/>
              </a:rPr>
              <a:t>] display </a:t>
            </a:r>
            <a:r>
              <a:rPr lang="en-US" sz="2000" dirty="0" err="1">
                <a:solidFill>
                  <a:srgbClr val="FFFF00"/>
                </a:solidFill>
                <a:highlight>
                  <a:srgbClr val="000000"/>
                </a:highlight>
                <a:latin typeface="Courier New"/>
                <a:ea typeface="宋体"/>
                <a:cs typeface="Courier New"/>
              </a:rPr>
              <a:t>vlan</a:t>
            </a:r>
            <a:r>
              <a:rPr lang="en-US" sz="2000" dirty="0">
                <a:solidFill>
                  <a:srgbClr val="FFFF00"/>
                </a:solidFill>
                <a:highlight>
                  <a:srgbClr val="000000"/>
                </a:highlight>
                <a:latin typeface="Courier New"/>
                <a:ea typeface="宋体"/>
                <a:cs typeface="Courier New"/>
              </a:rPr>
              <a:t> 2</a:t>
            </a:r>
            <a:endParaRPr dirty="0"/>
          </a:p>
          <a:p>
            <a:pPr marL="447675" lvl="2" indent="-358775">
              <a:defRPr/>
            </a:pPr>
            <a:endParaRPr lang="en-US" dirty="0"/>
          </a:p>
          <a:p>
            <a:pPr marL="447675" lvl="2" indent="-358775">
              <a:defRPr/>
            </a:pPr>
            <a:r>
              <a:rPr lang="zh-CN" dirty="0"/>
              <a:t>使用</a:t>
            </a:r>
            <a:r>
              <a:rPr lang="en-US" dirty="0"/>
              <a:t>display interface ethernet</a:t>
            </a:r>
            <a:r>
              <a:rPr lang="zh-CN" dirty="0"/>
              <a:t>查看各个端口配置信息。</a:t>
            </a:r>
            <a:endParaRPr lang="en-US" dirty="0"/>
          </a:p>
          <a:p>
            <a:pPr marL="447675" lvl="2" indent="-358775">
              <a:buNone/>
              <a:defRPr/>
            </a:pPr>
            <a:r>
              <a:rPr lang="en-US" sz="2000" dirty="0">
                <a:solidFill>
                  <a:srgbClr val="FFFF00"/>
                </a:solidFill>
                <a:highlight>
                  <a:srgbClr val="000000"/>
                </a:highlight>
                <a:latin typeface="Courier New"/>
                <a:ea typeface="宋体"/>
                <a:cs typeface="Courier New"/>
              </a:rPr>
              <a:t>[</a:t>
            </a:r>
            <a:r>
              <a:rPr lang="en-US" sz="2000" dirty="0" err="1">
                <a:solidFill>
                  <a:srgbClr val="FFFF00"/>
                </a:solidFill>
                <a:highlight>
                  <a:srgbClr val="000000"/>
                </a:highlight>
                <a:latin typeface="Courier New"/>
                <a:ea typeface="宋体"/>
                <a:cs typeface="Courier New"/>
              </a:rPr>
              <a:t>Quidway</a:t>
            </a:r>
            <a:r>
              <a:rPr lang="en-US" sz="2000" dirty="0">
                <a:solidFill>
                  <a:srgbClr val="FFFF00"/>
                </a:solidFill>
                <a:highlight>
                  <a:srgbClr val="000000"/>
                </a:highlight>
                <a:latin typeface="Courier New"/>
                <a:ea typeface="宋体"/>
                <a:cs typeface="Courier New"/>
              </a:rPr>
              <a:t>] display </a:t>
            </a:r>
            <a:r>
              <a:rPr lang="en-US" sz="2000" dirty="0" err="1">
                <a:solidFill>
                  <a:srgbClr val="FFFF00"/>
                </a:solidFill>
                <a:highlight>
                  <a:srgbClr val="000000"/>
                </a:highlight>
                <a:latin typeface="Courier New"/>
                <a:ea typeface="宋体"/>
                <a:cs typeface="Courier New"/>
              </a:rPr>
              <a:t>inferface</a:t>
            </a:r>
            <a:r>
              <a:rPr lang="en-US" sz="2000" dirty="0">
                <a:solidFill>
                  <a:srgbClr val="FFFF00"/>
                </a:solidFill>
                <a:highlight>
                  <a:srgbClr val="000000"/>
                </a:highlight>
                <a:latin typeface="Courier New"/>
                <a:ea typeface="宋体"/>
                <a:cs typeface="Courier New"/>
              </a:rPr>
              <a:t> Ethernet1/0/3</a:t>
            </a:r>
            <a:endParaRPr dirty="0"/>
          </a:p>
          <a:p>
            <a:pPr marL="447675" lvl="2" indent="-358775">
              <a:defRPr/>
            </a:pPr>
            <a:endParaRPr lang="en-US" dirty="0"/>
          </a:p>
          <a:p>
            <a:pPr marL="447675" lvl="2" indent="-358775">
              <a:defRPr/>
            </a:pPr>
            <a:r>
              <a:rPr lang="zh-CN" dirty="0"/>
              <a:t>显示交换机配置和端口信息。</a:t>
            </a:r>
            <a:endParaRPr lang="en-US" dirty="0"/>
          </a:p>
          <a:p>
            <a:pPr marL="447675" lvl="2" indent="-358775">
              <a:buNone/>
              <a:defRPr/>
            </a:pPr>
            <a:r>
              <a:rPr lang="en-US" sz="2000" dirty="0">
                <a:solidFill>
                  <a:srgbClr val="FFFF00"/>
                </a:solidFill>
                <a:highlight>
                  <a:srgbClr val="000000"/>
                </a:highlight>
                <a:latin typeface="Courier New"/>
                <a:ea typeface="宋体"/>
                <a:cs typeface="Courier New"/>
              </a:rPr>
              <a:t>[</a:t>
            </a:r>
            <a:r>
              <a:rPr lang="en-US" sz="2000" dirty="0" err="1">
                <a:solidFill>
                  <a:srgbClr val="FFFF00"/>
                </a:solidFill>
                <a:highlight>
                  <a:srgbClr val="000000"/>
                </a:highlight>
                <a:latin typeface="Courier New"/>
                <a:ea typeface="宋体"/>
                <a:cs typeface="Courier New"/>
              </a:rPr>
              <a:t>Quidway</a:t>
            </a:r>
            <a:r>
              <a:rPr lang="en-US" sz="2000" dirty="0">
                <a:solidFill>
                  <a:srgbClr val="FFFF00"/>
                </a:solidFill>
                <a:highlight>
                  <a:srgbClr val="000000"/>
                </a:highlight>
                <a:latin typeface="Courier New"/>
                <a:ea typeface="宋体"/>
                <a:cs typeface="Courier New"/>
              </a:rPr>
              <a:t>] display current-configuration</a:t>
            </a:r>
            <a:endParaRPr dirty="0"/>
          </a:p>
          <a:p>
            <a:pPr marL="447675" lvl="2" indent="-358775">
              <a:defRPr/>
            </a:pPr>
            <a:endParaRPr lang="en-US" dirty="0"/>
          </a:p>
          <a:p>
            <a:pPr marL="447675" lvl="2" indent="-358775">
              <a:defRPr/>
            </a:pPr>
            <a:r>
              <a:rPr lang="zh-CN" i="1" u="sng" dirty="0">
                <a:solidFill>
                  <a:srgbClr val="C00000"/>
                </a:solidFill>
              </a:rPr>
              <a:t>这些显示指令可以在配置过程中随时使用。</a:t>
            </a:r>
            <a:endParaRPr lang="en-US" i="1" u="sng" dirty="0">
              <a:solidFill>
                <a:srgbClr val="C00000"/>
              </a:solidFill>
            </a:endParaRPr>
          </a:p>
        </p:txBody>
      </p:sp>
      <p:sp>
        <p:nvSpPr>
          <p:cNvPr id="5" name="Date Placeholder 4"/>
          <p:cNvSpPr>
            <a:spLocks noGrp="1"/>
          </p:cNvSpPr>
          <p:nvPr>
            <p:ph type="dt" sz="half" idx="10"/>
          </p:nvPr>
        </p:nvSpPr>
        <p:spPr bwMode="auto"/>
        <p:txBody>
          <a:bodyPr/>
          <a:lstStyle/>
          <a:p>
            <a:pPr>
              <a:defRPr/>
            </a:pPr>
            <a:r>
              <a:rPr lang="en-US"/>
              <a:t>3/1/2020</a:t>
            </a:r>
            <a:endParaRPr/>
          </a:p>
        </p:txBody>
      </p:sp>
      <p:sp>
        <p:nvSpPr>
          <p:cNvPr id="6" name="Footer Placeholder 5"/>
          <p:cNvSpPr>
            <a:spLocks noGrp="1"/>
          </p:cNvSpPr>
          <p:nvPr>
            <p:ph type="ftr" sz="quarter" idx="11"/>
          </p:nvPr>
        </p:nvSpPr>
        <p:spPr bwMode="auto"/>
        <p:txBody>
          <a:bodyPr/>
          <a:lstStyle/>
          <a:p>
            <a:pPr>
              <a:defRPr/>
            </a:pPr>
            <a:r>
              <a:rPr lang="zh-CN"/>
              <a:t>计算机网络实验</a:t>
            </a:r>
            <a:endParaRPr lang="en-US"/>
          </a:p>
        </p:txBody>
      </p:sp>
      <p:sp>
        <p:nvSpPr>
          <p:cNvPr id="7" name="Slide Number Placeholder 6"/>
          <p:cNvSpPr>
            <a:spLocks noGrp="1"/>
          </p:cNvSpPr>
          <p:nvPr>
            <p:ph type="sldNum" sz="quarter" idx="12"/>
          </p:nvPr>
        </p:nvSpPr>
        <p:spPr bwMode="auto"/>
        <p:txBody>
          <a:bodyPr/>
          <a:lstStyle/>
          <a:p>
            <a:pPr>
              <a:defRPr/>
            </a:pPr>
            <a:fld id="{0ECDF2DC-913F-4A16-9C18-8900B299D998}" type="slidenum">
              <a:rPr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3. </a:t>
            </a:r>
            <a:r>
              <a:rPr lang="zh-CN"/>
              <a:t>配置双节点网络</a:t>
            </a:r>
            <a:r>
              <a:rPr lang="en-US"/>
              <a:t>VLAN </a:t>
            </a:r>
          </a:p>
        </p:txBody>
      </p:sp>
      <p:sp>
        <p:nvSpPr>
          <p:cNvPr id="3" name="Content Placeholder 2"/>
          <p:cNvSpPr>
            <a:spLocks noGrp="1"/>
          </p:cNvSpPr>
          <p:nvPr>
            <p:ph idx="1"/>
          </p:nvPr>
        </p:nvSpPr>
        <p:spPr bwMode="auto"/>
        <p:txBody>
          <a:bodyPr/>
          <a:lstStyle/>
          <a:p>
            <a:pPr marL="546100" lvl="1" indent="-457200">
              <a:buFont typeface="+mj-lt"/>
              <a:buAutoNum type="arabicParenR" startAt="12"/>
              <a:defRPr/>
            </a:pPr>
            <a:r>
              <a:rPr lang="zh-CN" dirty="0"/>
              <a:t>配置完成，检查</a:t>
            </a:r>
            <a:r>
              <a:rPr lang="en-US" dirty="0"/>
              <a:t>pc1</a:t>
            </a:r>
            <a:r>
              <a:rPr lang="zh-CN" dirty="0"/>
              <a:t>和</a:t>
            </a:r>
            <a:r>
              <a:rPr lang="en-US" dirty="0"/>
              <a:t>pc2</a:t>
            </a:r>
            <a:r>
              <a:rPr lang="zh-CN" dirty="0"/>
              <a:t>之间是否能够</a:t>
            </a:r>
            <a:r>
              <a:rPr lang="en-US" dirty="0"/>
              <a:t>ping</a:t>
            </a:r>
            <a:r>
              <a:rPr lang="zh-CN" dirty="0"/>
              <a:t>通。</a:t>
            </a:r>
            <a:endParaRPr lang="en-US" dirty="0"/>
          </a:p>
          <a:p>
            <a:pPr marL="447675" lvl="2" indent="-358775">
              <a:defRPr/>
            </a:pPr>
            <a:r>
              <a:rPr lang="zh-CN" dirty="0"/>
              <a:t>应该不能互通，因为它们属于不同的</a:t>
            </a:r>
            <a:r>
              <a:rPr lang="en-US" dirty="0"/>
              <a:t>VLAN</a:t>
            </a:r>
            <a:r>
              <a:rPr lang="zh-CN" dirty="0"/>
              <a:t>。</a:t>
            </a:r>
            <a:endParaRPr lang="en-US" dirty="0"/>
          </a:p>
          <a:p>
            <a:pPr marL="447675" lvl="2" indent="-358775">
              <a:defRPr/>
            </a:pPr>
            <a:endParaRPr lang="en-US" dirty="0"/>
          </a:p>
          <a:p>
            <a:pPr marL="447675" lvl="2" indent="-358775">
              <a:defRPr/>
            </a:pPr>
            <a:endParaRPr lang="en-US" dirty="0"/>
          </a:p>
        </p:txBody>
      </p:sp>
      <p:sp>
        <p:nvSpPr>
          <p:cNvPr id="199" name="Date Placeholder 198"/>
          <p:cNvSpPr>
            <a:spLocks noGrp="1"/>
          </p:cNvSpPr>
          <p:nvPr>
            <p:ph type="dt" sz="half" idx="10"/>
          </p:nvPr>
        </p:nvSpPr>
        <p:spPr bwMode="auto"/>
        <p:txBody>
          <a:bodyPr/>
          <a:lstStyle/>
          <a:p>
            <a:pPr>
              <a:defRPr/>
            </a:pPr>
            <a:r>
              <a:rPr lang="en-US"/>
              <a:t>3/1/2020</a:t>
            </a:r>
            <a:endParaRPr/>
          </a:p>
        </p:txBody>
      </p:sp>
      <p:sp>
        <p:nvSpPr>
          <p:cNvPr id="200" name="Footer Placeholder 199"/>
          <p:cNvSpPr>
            <a:spLocks noGrp="1"/>
          </p:cNvSpPr>
          <p:nvPr>
            <p:ph type="ftr" sz="quarter" idx="11"/>
          </p:nvPr>
        </p:nvSpPr>
        <p:spPr bwMode="auto"/>
        <p:txBody>
          <a:bodyPr/>
          <a:lstStyle/>
          <a:p>
            <a:pPr>
              <a:defRPr/>
            </a:pPr>
            <a:r>
              <a:rPr lang="zh-CN"/>
              <a:t>计算机网络实验</a:t>
            </a:r>
            <a:endParaRPr lang="en-US"/>
          </a:p>
        </p:txBody>
      </p:sp>
      <p:sp>
        <p:nvSpPr>
          <p:cNvPr id="201" name="Slide Number Placeholder 200"/>
          <p:cNvSpPr>
            <a:spLocks noGrp="1"/>
          </p:cNvSpPr>
          <p:nvPr>
            <p:ph type="sldNum" sz="quarter" idx="12"/>
          </p:nvPr>
        </p:nvSpPr>
        <p:spPr bwMode="auto"/>
        <p:txBody>
          <a:bodyPr/>
          <a:lstStyle/>
          <a:p>
            <a:pPr>
              <a:defRPr/>
            </a:pPr>
            <a:fld id="{0ECDF2DC-913F-4A16-9C18-8900B299D998}" type="slidenum">
              <a:rPr lang="en-US"/>
              <a:t>25</a:t>
            </a:fld>
            <a:endParaRPr lang="en-US"/>
          </a:p>
        </p:txBody>
      </p:sp>
      <p:grpSp>
        <p:nvGrpSpPr>
          <p:cNvPr id="103" name="Group 102"/>
          <p:cNvGrpSpPr/>
          <p:nvPr/>
        </p:nvGrpSpPr>
        <p:grpSpPr bwMode="auto">
          <a:xfrm>
            <a:off x="2140497" y="2795048"/>
            <a:ext cx="4291897" cy="2976706"/>
            <a:chOff x="2140497" y="3290348"/>
            <a:chExt cx="4291897" cy="2976706"/>
          </a:xfrm>
        </p:grpSpPr>
        <p:grpSp>
          <p:nvGrpSpPr>
            <p:cNvPr id="104" name="Group 103"/>
            <p:cNvGrpSpPr/>
            <p:nvPr/>
          </p:nvGrpSpPr>
          <p:grpSpPr bwMode="auto">
            <a:xfrm>
              <a:off x="2140497" y="3290348"/>
              <a:ext cx="4291897" cy="2976706"/>
              <a:chOff x="2140497" y="3290348"/>
              <a:chExt cx="4291897" cy="2976706"/>
            </a:xfrm>
          </p:grpSpPr>
          <p:grpSp>
            <p:nvGrpSpPr>
              <p:cNvPr id="109" name="Group 108"/>
              <p:cNvGrpSpPr/>
              <p:nvPr/>
            </p:nvGrpSpPr>
            <p:grpSpPr bwMode="auto">
              <a:xfrm>
                <a:off x="2647144" y="4839730"/>
                <a:ext cx="1061526" cy="823469"/>
                <a:chOff x="1136203" y="4520619"/>
                <a:chExt cx="1419428" cy="1013448"/>
              </a:xfrm>
            </p:grpSpPr>
            <p:grpSp>
              <p:nvGrpSpPr>
                <p:cNvPr id="163" name="Group 950"/>
                <p:cNvGrpSpPr/>
                <p:nvPr/>
              </p:nvGrpSpPr>
              <p:grpSpPr bwMode="auto">
                <a:xfrm>
                  <a:off x="2039815" y="4520619"/>
                  <a:ext cx="515816" cy="969179"/>
                  <a:chOff x="4140" y="429"/>
                  <a:chExt cx="1425" cy="2396"/>
                </a:xfrm>
              </p:grpSpPr>
              <p:sp>
                <p:nvSpPr>
                  <p:cNvPr id="167"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68"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69"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70"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71"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172" name="Group 956"/>
                  <p:cNvGrpSpPr/>
                  <p:nvPr/>
                </p:nvGrpSpPr>
                <p:grpSpPr bwMode="auto">
                  <a:xfrm>
                    <a:off x="4749" y="668"/>
                    <a:ext cx="581" cy="145"/>
                    <a:chOff x="614" y="2568"/>
                    <a:chExt cx="725" cy="139"/>
                  </a:xfrm>
                </p:grpSpPr>
                <p:sp>
                  <p:nvSpPr>
                    <p:cNvPr id="197"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98"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73"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174" name="Group 960"/>
                  <p:cNvGrpSpPr/>
                  <p:nvPr/>
                </p:nvGrpSpPr>
                <p:grpSpPr bwMode="auto">
                  <a:xfrm>
                    <a:off x="4747" y="994"/>
                    <a:ext cx="581" cy="134"/>
                    <a:chOff x="614" y="2568"/>
                    <a:chExt cx="725" cy="139"/>
                  </a:xfrm>
                </p:grpSpPr>
                <p:sp>
                  <p:nvSpPr>
                    <p:cNvPr id="195"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96"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75"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76"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177" name="Group 965"/>
                  <p:cNvGrpSpPr/>
                  <p:nvPr/>
                </p:nvGrpSpPr>
                <p:grpSpPr bwMode="auto">
                  <a:xfrm>
                    <a:off x="4735" y="1627"/>
                    <a:ext cx="582" cy="151"/>
                    <a:chOff x="614" y="2568"/>
                    <a:chExt cx="725" cy="139"/>
                  </a:xfrm>
                </p:grpSpPr>
                <p:sp>
                  <p:nvSpPr>
                    <p:cNvPr id="193"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94"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78"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grpSp>
                <p:nvGrpSpPr>
                  <p:cNvPr id="179" name="Group 969"/>
                  <p:cNvGrpSpPr/>
                  <p:nvPr/>
                </p:nvGrpSpPr>
                <p:grpSpPr bwMode="auto">
                  <a:xfrm>
                    <a:off x="4739" y="1327"/>
                    <a:ext cx="582" cy="139"/>
                    <a:chOff x="614" y="2568"/>
                    <a:chExt cx="725" cy="139"/>
                  </a:xfrm>
                </p:grpSpPr>
                <p:sp>
                  <p:nvSpPr>
                    <p:cNvPr id="191"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92"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80"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1"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82"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83"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4"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85"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6"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7"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8"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800" b="0" i="0" u="sng" strike="noStrike" cap="none" spc="0">
                      <a:ln>
                        <a:noFill/>
                      </a:ln>
                      <a:solidFill>
                        <a:srgbClr val="FF0000"/>
                      </a:solidFill>
                      <a:latin typeface="+mn-lt"/>
                      <a:ea typeface="MS PGothic"/>
                      <a:cs typeface="Arial"/>
                    </a:endParaRPr>
                  </a:p>
                </p:txBody>
              </p:sp>
              <p:sp>
                <p:nvSpPr>
                  <p:cNvPr id="189"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90"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grpSp>
              <p:nvGrpSpPr>
                <p:cNvPr id="164" name="Group 590"/>
                <p:cNvGrpSpPr/>
                <p:nvPr/>
              </p:nvGrpSpPr>
              <p:grpSpPr bwMode="auto">
                <a:xfrm flipH="1">
                  <a:off x="1136203" y="4624876"/>
                  <a:ext cx="948819" cy="909191"/>
                  <a:chOff x="2839" y="3501"/>
                  <a:chExt cx="755" cy="803"/>
                </a:xfrm>
              </p:grpSpPr>
              <p:pic>
                <p:nvPicPr>
                  <p:cNvPr id="165"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66"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u="sng"/>
                  </a:p>
                </p:txBody>
              </p:sp>
            </p:grpSp>
          </p:grpSp>
          <p:grpSp>
            <p:nvGrpSpPr>
              <p:cNvPr id="110" name="Group 109"/>
              <p:cNvGrpSpPr/>
              <p:nvPr/>
            </p:nvGrpSpPr>
            <p:grpSpPr bwMode="auto">
              <a:xfrm>
                <a:off x="4351760" y="4831496"/>
                <a:ext cx="1061526" cy="831703"/>
                <a:chOff x="1136203" y="4520619"/>
                <a:chExt cx="1419428" cy="1013448"/>
              </a:xfrm>
            </p:grpSpPr>
            <p:grpSp>
              <p:nvGrpSpPr>
                <p:cNvPr id="127" name="Group 950"/>
                <p:cNvGrpSpPr/>
                <p:nvPr/>
              </p:nvGrpSpPr>
              <p:grpSpPr bwMode="auto">
                <a:xfrm>
                  <a:off x="2039815" y="4520619"/>
                  <a:ext cx="515816" cy="969179"/>
                  <a:chOff x="4140" y="429"/>
                  <a:chExt cx="1425" cy="2396"/>
                </a:xfrm>
              </p:grpSpPr>
              <p:sp>
                <p:nvSpPr>
                  <p:cNvPr id="131"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32"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33"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34"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35"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136" name="Group 956"/>
                  <p:cNvGrpSpPr/>
                  <p:nvPr/>
                </p:nvGrpSpPr>
                <p:grpSpPr bwMode="auto">
                  <a:xfrm>
                    <a:off x="4749" y="668"/>
                    <a:ext cx="581" cy="145"/>
                    <a:chOff x="614" y="2568"/>
                    <a:chExt cx="725" cy="139"/>
                  </a:xfrm>
                </p:grpSpPr>
                <p:sp>
                  <p:nvSpPr>
                    <p:cNvPr id="161"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62"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37"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138" name="Group 960"/>
                  <p:cNvGrpSpPr/>
                  <p:nvPr/>
                </p:nvGrpSpPr>
                <p:grpSpPr bwMode="auto">
                  <a:xfrm>
                    <a:off x="4747" y="994"/>
                    <a:ext cx="581" cy="134"/>
                    <a:chOff x="614" y="2568"/>
                    <a:chExt cx="725" cy="139"/>
                  </a:xfrm>
                </p:grpSpPr>
                <p:sp>
                  <p:nvSpPr>
                    <p:cNvPr id="159"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60"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39"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40"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141" name="Group 965"/>
                  <p:cNvGrpSpPr/>
                  <p:nvPr/>
                </p:nvGrpSpPr>
                <p:grpSpPr bwMode="auto">
                  <a:xfrm>
                    <a:off x="4735" y="1627"/>
                    <a:ext cx="582" cy="151"/>
                    <a:chOff x="614" y="2568"/>
                    <a:chExt cx="725" cy="139"/>
                  </a:xfrm>
                </p:grpSpPr>
                <p:sp>
                  <p:nvSpPr>
                    <p:cNvPr id="157"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58"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42"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grpSp>
                <p:nvGrpSpPr>
                  <p:cNvPr id="143" name="Group 969"/>
                  <p:cNvGrpSpPr/>
                  <p:nvPr/>
                </p:nvGrpSpPr>
                <p:grpSpPr bwMode="auto">
                  <a:xfrm>
                    <a:off x="4739" y="1327"/>
                    <a:ext cx="582" cy="139"/>
                    <a:chOff x="614" y="2568"/>
                    <a:chExt cx="725" cy="139"/>
                  </a:xfrm>
                </p:grpSpPr>
                <p:sp>
                  <p:nvSpPr>
                    <p:cNvPr id="155"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56"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44"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45"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46"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47"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48"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49"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50"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51"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52"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800" b="0" i="0" u="sng" strike="noStrike" cap="none" spc="0">
                      <a:ln>
                        <a:noFill/>
                      </a:ln>
                      <a:solidFill>
                        <a:srgbClr val="FF0000"/>
                      </a:solidFill>
                      <a:latin typeface="+mn-lt"/>
                      <a:ea typeface="MS PGothic"/>
                      <a:cs typeface="Arial"/>
                    </a:endParaRPr>
                  </a:p>
                </p:txBody>
              </p:sp>
              <p:sp>
                <p:nvSpPr>
                  <p:cNvPr id="153"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54"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grpSp>
              <p:nvGrpSpPr>
                <p:cNvPr id="128" name="Group 590"/>
                <p:cNvGrpSpPr/>
                <p:nvPr/>
              </p:nvGrpSpPr>
              <p:grpSpPr bwMode="auto">
                <a:xfrm flipH="1">
                  <a:off x="1136203" y="4624876"/>
                  <a:ext cx="948819" cy="909191"/>
                  <a:chOff x="2839" y="3501"/>
                  <a:chExt cx="755" cy="803"/>
                </a:xfrm>
              </p:grpSpPr>
              <p:pic>
                <p:nvPicPr>
                  <p:cNvPr id="129"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30"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u="sng"/>
                  </a:p>
                </p:txBody>
              </p:sp>
            </p:grpSp>
          </p:grpSp>
          <p:cxnSp>
            <p:nvCxnSpPr>
              <p:cNvPr id="111" name="Straight Connector 110"/>
              <p:cNvCxnSpPr>
                <a:cxnSpLocks/>
                <a:stCxn id="168" idx="0"/>
                <a:endCxn id="120" idx="1"/>
              </p:cNvCxnSpPr>
              <p:nvPr/>
            </p:nvCxnSpPr>
            <p:spPr bwMode="auto">
              <a:xfrm flipV="1">
                <a:off x="3483443" y="3924349"/>
                <a:ext cx="374980" cy="915381"/>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112" name="Straight Connector 111"/>
              <p:cNvCxnSpPr>
                <a:cxnSpLocks/>
                <a:stCxn id="132" idx="0"/>
                <a:endCxn id="120" idx="3"/>
              </p:cNvCxnSpPr>
              <p:nvPr/>
            </p:nvCxnSpPr>
            <p:spPr bwMode="auto">
              <a:xfrm flipH="1" flipV="1">
                <a:off x="4723453" y="3924349"/>
                <a:ext cx="464605" cy="907147"/>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grpSp>
            <p:nvGrpSpPr>
              <p:cNvPr id="113" name="Group 112"/>
              <p:cNvGrpSpPr/>
              <p:nvPr/>
            </p:nvGrpSpPr>
            <p:grpSpPr bwMode="auto">
              <a:xfrm>
                <a:off x="3858423" y="3290348"/>
                <a:ext cx="868153" cy="794009"/>
                <a:chOff x="3668110" y="2448910"/>
                <a:chExt cx="3794234" cy="2165130"/>
              </a:xfrm>
            </p:grpSpPr>
            <p:sp>
              <p:nvSpPr>
                <p:cNvPr id="120" name="Rectangle 119"/>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1"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nvGrpSpPr>
                <p:cNvPr id="122" name="Group 121"/>
                <p:cNvGrpSpPr/>
                <p:nvPr/>
              </p:nvGrpSpPr>
              <p:grpSpPr bwMode="auto">
                <a:xfrm>
                  <a:off x="3941378" y="2603243"/>
                  <a:ext cx="3202060" cy="1066110"/>
                  <a:chOff x="7939341" y="3037317"/>
                  <a:chExt cx="897649" cy="353919"/>
                </a:xfrm>
              </p:grpSpPr>
              <p:sp>
                <p:nvSpPr>
                  <p:cNvPr id="123"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4"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5"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6"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sp>
            <p:nvSpPr>
              <p:cNvPr id="114" name="Rectangle 113"/>
              <p:cNvSpPr/>
              <p:nvPr/>
            </p:nvSpPr>
            <p:spPr bwMode="auto">
              <a:xfrm>
                <a:off x="2140497" y="3805425"/>
                <a:ext cx="1532086" cy="369332"/>
              </a:xfrm>
              <a:prstGeom prst="rect">
                <a:avLst/>
              </a:prstGeom>
              <a:grpFill/>
            </p:spPr>
            <p:txBody>
              <a:bodyPr wrap="none">
                <a:spAutoFit/>
              </a:bodyPr>
              <a:lstStyle/>
              <a:p>
                <a:pPr>
                  <a:defRPr/>
                </a:pPr>
                <a:r>
                  <a:rPr lang="en-US">
                    <a:ea typeface="宋体"/>
                    <a:cs typeface="Courier New"/>
                  </a:rPr>
                  <a:t>Ethernet1/0/3</a:t>
                </a:r>
                <a:endParaRPr lang="en-US"/>
              </a:p>
            </p:txBody>
          </p:sp>
          <p:sp>
            <p:nvSpPr>
              <p:cNvPr id="115" name="Rectangle 114"/>
              <p:cNvSpPr/>
              <p:nvPr/>
            </p:nvSpPr>
            <p:spPr bwMode="auto">
              <a:xfrm>
                <a:off x="4900308" y="3805425"/>
                <a:ext cx="1532086" cy="369332"/>
              </a:xfrm>
              <a:prstGeom prst="rect">
                <a:avLst/>
              </a:prstGeom>
              <a:grpFill/>
            </p:spPr>
            <p:txBody>
              <a:bodyPr wrap="none">
                <a:spAutoFit/>
              </a:bodyPr>
              <a:lstStyle/>
              <a:p>
                <a:pPr>
                  <a:defRPr/>
                </a:pPr>
                <a:r>
                  <a:rPr lang="en-US">
                    <a:ea typeface="宋体"/>
                    <a:cs typeface="Courier New"/>
                  </a:rPr>
                  <a:t>Ethernet1/0/4</a:t>
                </a:r>
                <a:endParaRPr lang="en-US"/>
              </a:p>
            </p:txBody>
          </p:sp>
          <p:sp>
            <p:nvSpPr>
              <p:cNvPr id="116" name="Rectangle 115"/>
              <p:cNvSpPr/>
              <p:nvPr/>
            </p:nvSpPr>
            <p:spPr bwMode="auto">
              <a:xfrm>
                <a:off x="3246536" y="5657521"/>
                <a:ext cx="521297" cy="369332"/>
              </a:xfrm>
              <a:prstGeom prst="rect">
                <a:avLst/>
              </a:prstGeom>
              <a:grpFill/>
            </p:spPr>
            <p:txBody>
              <a:bodyPr wrap="none">
                <a:spAutoFit/>
              </a:bodyPr>
              <a:lstStyle/>
              <a:p>
                <a:pPr>
                  <a:defRPr/>
                </a:pPr>
                <a:r>
                  <a:rPr lang="en-US">
                    <a:ea typeface="宋体"/>
                    <a:cs typeface="Courier New"/>
                  </a:rPr>
                  <a:t>pc1</a:t>
                </a:r>
                <a:endParaRPr lang="en-US"/>
              </a:p>
            </p:txBody>
          </p:sp>
          <p:sp>
            <p:nvSpPr>
              <p:cNvPr id="117" name="Rectangle 116"/>
              <p:cNvSpPr/>
              <p:nvPr/>
            </p:nvSpPr>
            <p:spPr bwMode="auto">
              <a:xfrm>
                <a:off x="5025651" y="5672448"/>
                <a:ext cx="521297" cy="369332"/>
              </a:xfrm>
              <a:prstGeom prst="rect">
                <a:avLst/>
              </a:prstGeom>
              <a:grpFill/>
            </p:spPr>
            <p:txBody>
              <a:bodyPr wrap="none">
                <a:spAutoFit/>
              </a:bodyPr>
              <a:lstStyle/>
              <a:p>
                <a:pPr>
                  <a:defRPr/>
                </a:pPr>
                <a:r>
                  <a:rPr lang="en-US">
                    <a:ea typeface="宋体"/>
                    <a:cs typeface="Courier New"/>
                  </a:rPr>
                  <a:t>pc2</a:t>
                </a:r>
                <a:endParaRPr lang="en-US"/>
              </a:p>
            </p:txBody>
          </p:sp>
          <p:sp>
            <p:nvSpPr>
              <p:cNvPr id="118" name="Rectangle 117"/>
              <p:cNvSpPr/>
              <p:nvPr/>
            </p:nvSpPr>
            <p:spPr bwMode="auto">
              <a:xfrm>
                <a:off x="2743193" y="5897722"/>
                <a:ext cx="1734770" cy="369332"/>
              </a:xfrm>
              <a:prstGeom prst="rect">
                <a:avLst/>
              </a:prstGeom>
              <a:grpFill/>
            </p:spPr>
            <p:txBody>
              <a:bodyPr wrap="none">
                <a:spAutoFit/>
              </a:bodyPr>
              <a:lstStyle/>
              <a:p>
                <a:pPr>
                  <a:defRPr/>
                </a:pPr>
                <a:r>
                  <a:rPr lang="en-US"/>
                  <a:t>192.168.1.11/24</a:t>
                </a:r>
              </a:p>
            </p:txBody>
          </p:sp>
          <p:sp>
            <p:nvSpPr>
              <p:cNvPr id="119" name="Rectangle 118"/>
              <p:cNvSpPr/>
              <p:nvPr/>
            </p:nvSpPr>
            <p:spPr bwMode="auto">
              <a:xfrm>
                <a:off x="4522308" y="5892181"/>
                <a:ext cx="1734770" cy="369332"/>
              </a:xfrm>
              <a:prstGeom prst="rect">
                <a:avLst/>
              </a:prstGeom>
              <a:grpFill/>
            </p:spPr>
            <p:txBody>
              <a:bodyPr wrap="none">
                <a:spAutoFit/>
              </a:bodyPr>
              <a:lstStyle/>
              <a:p>
                <a:pPr>
                  <a:defRPr/>
                </a:pPr>
                <a:r>
                  <a:rPr lang="en-US"/>
                  <a:t>192.168.1.12/24</a:t>
                </a:r>
              </a:p>
            </p:txBody>
          </p:sp>
        </p:grpSp>
        <p:sp>
          <p:nvSpPr>
            <p:cNvPr id="105" name="Oval 104"/>
            <p:cNvSpPr/>
            <p:nvPr/>
          </p:nvSpPr>
          <p:spPr bwMode="auto">
            <a:xfrm>
              <a:off x="3239677" y="4393500"/>
              <a:ext cx="728392" cy="256205"/>
            </a:xfrm>
            <a:prstGeom prst="ellipse">
              <a:avLst/>
            </a:prstGeom>
            <a:noFill/>
            <a:ln w="9525"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en-US"/>
            </a:p>
          </p:txBody>
        </p:sp>
        <p:sp>
          <p:nvSpPr>
            <p:cNvPr id="106" name="Oval 105"/>
            <p:cNvSpPr/>
            <p:nvPr/>
          </p:nvSpPr>
          <p:spPr bwMode="auto">
            <a:xfrm>
              <a:off x="4600370" y="4394968"/>
              <a:ext cx="728392" cy="256205"/>
            </a:xfrm>
            <a:prstGeom prst="ellipse">
              <a:avLst/>
            </a:prstGeom>
            <a:noFill/>
            <a:ln w="9525"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en-US"/>
            </a:p>
          </p:txBody>
        </p:sp>
        <p:sp>
          <p:nvSpPr>
            <p:cNvPr id="107" name="Rectangle 106"/>
            <p:cNvSpPr/>
            <p:nvPr/>
          </p:nvSpPr>
          <p:spPr bwMode="auto">
            <a:xfrm>
              <a:off x="2414162" y="4427547"/>
              <a:ext cx="813043" cy="369332"/>
            </a:xfrm>
            <a:prstGeom prst="rect">
              <a:avLst/>
            </a:prstGeom>
            <a:grpFill/>
          </p:spPr>
          <p:txBody>
            <a:bodyPr wrap="none">
              <a:spAutoFit/>
            </a:bodyPr>
            <a:lstStyle/>
            <a:p>
              <a:pPr>
                <a:defRPr/>
              </a:pPr>
              <a:r>
                <a:rPr lang="en-US">
                  <a:ea typeface="宋体"/>
                  <a:cs typeface="Courier New"/>
                </a:rPr>
                <a:t>VLAN2</a:t>
              </a:r>
              <a:endParaRPr lang="en-US"/>
            </a:p>
          </p:txBody>
        </p:sp>
        <p:sp>
          <p:nvSpPr>
            <p:cNvPr id="108" name="Rectangle 107"/>
            <p:cNvSpPr/>
            <p:nvPr/>
          </p:nvSpPr>
          <p:spPr bwMode="auto">
            <a:xfrm>
              <a:off x="5433875" y="4426591"/>
              <a:ext cx="813043" cy="369332"/>
            </a:xfrm>
            <a:prstGeom prst="rect">
              <a:avLst/>
            </a:prstGeom>
            <a:grpFill/>
          </p:spPr>
          <p:txBody>
            <a:bodyPr wrap="none">
              <a:spAutoFit/>
            </a:bodyPr>
            <a:lstStyle/>
            <a:p>
              <a:pPr>
                <a:defRPr/>
              </a:pPr>
              <a:r>
                <a:rPr lang="en-US">
                  <a:ea typeface="宋体"/>
                  <a:cs typeface="Courier New"/>
                </a:rPr>
                <a:t>VLAN3</a:t>
              </a:r>
              <a:endParaRPr lang="en-US"/>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3. </a:t>
            </a:r>
            <a:r>
              <a:rPr lang="zh-CN"/>
              <a:t>配置双节点网络</a:t>
            </a:r>
            <a:r>
              <a:rPr lang="en-US"/>
              <a:t>VLAN </a:t>
            </a:r>
          </a:p>
        </p:txBody>
      </p:sp>
      <p:sp>
        <p:nvSpPr>
          <p:cNvPr id="3" name="Content Placeholder 2"/>
          <p:cNvSpPr>
            <a:spLocks noGrp="1"/>
          </p:cNvSpPr>
          <p:nvPr>
            <p:ph idx="1"/>
          </p:nvPr>
        </p:nvSpPr>
        <p:spPr bwMode="auto"/>
        <p:txBody>
          <a:bodyPr/>
          <a:lstStyle/>
          <a:p>
            <a:pPr marL="546100" lvl="1" indent="-457200">
              <a:buFont typeface="+mj-lt"/>
              <a:buAutoNum type="arabicParenR" startAt="13"/>
              <a:defRPr/>
            </a:pPr>
            <a:r>
              <a:rPr lang="zh-CN" dirty="0"/>
              <a:t>更改</a:t>
            </a:r>
            <a:r>
              <a:rPr lang="en-US" dirty="0"/>
              <a:t>VLAN</a:t>
            </a:r>
            <a:r>
              <a:rPr lang="zh-CN" dirty="0"/>
              <a:t>配置，将接口</a:t>
            </a:r>
            <a:r>
              <a:rPr lang="en-US" dirty="0"/>
              <a:t>Ethernet1/0/4</a:t>
            </a:r>
            <a:r>
              <a:rPr lang="zh-CN" dirty="0"/>
              <a:t>加入</a:t>
            </a:r>
            <a:r>
              <a:rPr lang="en-US" dirty="0"/>
              <a:t>VLAN2</a:t>
            </a:r>
            <a:r>
              <a:rPr lang="zh-CN" dirty="0"/>
              <a:t>，其将不再属于</a:t>
            </a:r>
            <a:r>
              <a:rPr lang="en-US" dirty="0"/>
              <a:t>VLAN3</a:t>
            </a:r>
            <a:r>
              <a:rPr lang="zh-CN" dirty="0"/>
              <a:t>。</a:t>
            </a:r>
            <a:endParaRPr lang="en-US" dirty="0"/>
          </a:p>
          <a:p>
            <a:pPr marL="447675" lvl="1" indent="-358775">
              <a:buNone/>
              <a:defRPr/>
            </a:pPr>
            <a:r>
              <a:rPr lang="en-US" sz="2000" dirty="0">
                <a:solidFill>
                  <a:srgbClr val="FFFF00"/>
                </a:solidFill>
                <a:highlight>
                  <a:srgbClr val="000000"/>
                </a:highlight>
                <a:latin typeface="Courier New"/>
                <a:ea typeface="宋体"/>
                <a:cs typeface="Courier New"/>
              </a:rPr>
              <a:t>[</a:t>
            </a:r>
            <a:r>
              <a:rPr lang="en-US" sz="2000" dirty="0" err="1">
                <a:solidFill>
                  <a:srgbClr val="FFFF00"/>
                </a:solidFill>
                <a:highlight>
                  <a:srgbClr val="000000"/>
                </a:highlight>
                <a:latin typeface="Courier New"/>
                <a:ea typeface="宋体"/>
                <a:cs typeface="Courier New"/>
              </a:rPr>
              <a:t>Quidway</a:t>
            </a:r>
            <a:r>
              <a:rPr lang="en-US" sz="2000" dirty="0">
                <a:solidFill>
                  <a:srgbClr val="FFFF00"/>
                </a:solidFill>
                <a:highlight>
                  <a:srgbClr val="000000"/>
                </a:highlight>
                <a:latin typeface="Courier New"/>
                <a:ea typeface="宋体"/>
                <a:cs typeface="Courier New"/>
              </a:rPr>
              <a:t>] </a:t>
            </a:r>
            <a:r>
              <a:rPr lang="en-US" sz="2000" dirty="0" err="1">
                <a:solidFill>
                  <a:srgbClr val="FFFF00"/>
                </a:solidFill>
                <a:highlight>
                  <a:srgbClr val="000000"/>
                </a:highlight>
                <a:latin typeface="Courier New"/>
                <a:ea typeface="宋体"/>
                <a:cs typeface="Courier New"/>
              </a:rPr>
              <a:t>vlan</a:t>
            </a:r>
            <a:r>
              <a:rPr lang="en-US" sz="2000" dirty="0">
                <a:solidFill>
                  <a:srgbClr val="FFFF00"/>
                </a:solidFill>
                <a:highlight>
                  <a:srgbClr val="000000"/>
                </a:highlight>
                <a:latin typeface="Courier New"/>
                <a:ea typeface="宋体"/>
                <a:cs typeface="Courier New"/>
              </a:rPr>
              <a:t> 2</a:t>
            </a:r>
            <a:endParaRPr dirty="0"/>
          </a:p>
          <a:p>
            <a:pPr marL="447675" lvl="1" indent="-358775">
              <a:buNone/>
              <a:defRPr/>
            </a:pPr>
            <a:r>
              <a:rPr lang="en-US" sz="2000" dirty="0">
                <a:solidFill>
                  <a:srgbClr val="FFFF00"/>
                </a:solidFill>
                <a:highlight>
                  <a:srgbClr val="000000"/>
                </a:highlight>
                <a:latin typeface="Courier New"/>
                <a:ea typeface="宋体"/>
                <a:cs typeface="Courier New"/>
              </a:rPr>
              <a:t>[Quidway-vlan2] port Ethernet1/0/4</a:t>
            </a:r>
            <a:r>
              <a:rPr lang="en-US" sz="2000" dirty="0">
                <a:latin typeface="Courier New"/>
                <a:ea typeface="宋体"/>
                <a:cs typeface="Courier New"/>
              </a:rPr>
              <a:t> </a:t>
            </a:r>
            <a:br>
              <a:rPr lang="en-US" dirty="0"/>
            </a:br>
            <a:endParaRPr lang="en-US" dirty="0"/>
          </a:p>
          <a:p>
            <a:pPr marL="447675" lvl="1" indent="-358775">
              <a:defRPr/>
            </a:pPr>
            <a:endParaRPr lang="en-US" dirty="0"/>
          </a:p>
          <a:p>
            <a:pPr marL="447675" lvl="1" indent="-358775">
              <a:defRPr/>
            </a:pPr>
            <a:endParaRPr lang="en-US" dirty="0"/>
          </a:p>
        </p:txBody>
      </p:sp>
      <p:sp>
        <p:nvSpPr>
          <p:cNvPr id="102" name="Date Placeholder 101"/>
          <p:cNvSpPr>
            <a:spLocks noGrp="1"/>
          </p:cNvSpPr>
          <p:nvPr>
            <p:ph type="dt" sz="half" idx="10"/>
          </p:nvPr>
        </p:nvSpPr>
        <p:spPr bwMode="auto"/>
        <p:txBody>
          <a:bodyPr/>
          <a:lstStyle/>
          <a:p>
            <a:pPr>
              <a:defRPr/>
            </a:pPr>
            <a:r>
              <a:rPr lang="en-US"/>
              <a:t>3/1/2020</a:t>
            </a:r>
            <a:endParaRPr/>
          </a:p>
        </p:txBody>
      </p:sp>
      <p:sp>
        <p:nvSpPr>
          <p:cNvPr id="103" name="Footer Placeholder 102"/>
          <p:cNvSpPr>
            <a:spLocks noGrp="1"/>
          </p:cNvSpPr>
          <p:nvPr>
            <p:ph type="ftr" sz="quarter" idx="11"/>
          </p:nvPr>
        </p:nvSpPr>
        <p:spPr bwMode="auto"/>
        <p:txBody>
          <a:bodyPr/>
          <a:lstStyle/>
          <a:p>
            <a:pPr>
              <a:defRPr/>
            </a:pPr>
            <a:r>
              <a:rPr lang="zh-CN"/>
              <a:t>计算机网络实验</a:t>
            </a:r>
            <a:endParaRPr lang="en-US"/>
          </a:p>
        </p:txBody>
      </p:sp>
      <p:sp>
        <p:nvSpPr>
          <p:cNvPr id="104" name="Slide Number Placeholder 103"/>
          <p:cNvSpPr>
            <a:spLocks noGrp="1"/>
          </p:cNvSpPr>
          <p:nvPr>
            <p:ph type="sldNum" sz="quarter" idx="12"/>
          </p:nvPr>
        </p:nvSpPr>
        <p:spPr bwMode="auto"/>
        <p:txBody>
          <a:bodyPr/>
          <a:lstStyle/>
          <a:p>
            <a:pPr>
              <a:defRPr/>
            </a:pPr>
            <a:fld id="{0ECDF2DC-913F-4A16-9C18-8900B299D998}" type="slidenum">
              <a:rPr lang="en-US"/>
              <a:t>26</a:t>
            </a:fld>
            <a:endParaRPr lang="en-US"/>
          </a:p>
        </p:txBody>
      </p:sp>
      <p:grpSp>
        <p:nvGrpSpPr>
          <p:cNvPr id="101" name="Group 100"/>
          <p:cNvGrpSpPr/>
          <p:nvPr/>
        </p:nvGrpSpPr>
        <p:grpSpPr bwMode="auto">
          <a:xfrm>
            <a:off x="2140497" y="3004598"/>
            <a:ext cx="4291897" cy="2976706"/>
            <a:chOff x="2140497" y="2795048"/>
            <a:chExt cx="4291897" cy="2976706"/>
          </a:xfrm>
        </p:grpSpPr>
        <p:grpSp>
          <p:nvGrpSpPr>
            <p:cNvPr id="5" name="Group 4"/>
            <p:cNvGrpSpPr/>
            <p:nvPr/>
          </p:nvGrpSpPr>
          <p:grpSpPr bwMode="auto">
            <a:xfrm>
              <a:off x="2140497" y="2795048"/>
              <a:ext cx="4291897" cy="2976706"/>
              <a:chOff x="2140497" y="3290348"/>
              <a:chExt cx="4291897" cy="2976706"/>
            </a:xfrm>
          </p:grpSpPr>
          <p:grpSp>
            <p:nvGrpSpPr>
              <p:cNvPr id="10" name="Group 9"/>
              <p:cNvGrpSpPr/>
              <p:nvPr/>
            </p:nvGrpSpPr>
            <p:grpSpPr bwMode="auto">
              <a:xfrm>
                <a:off x="2647144" y="4839730"/>
                <a:ext cx="1061526" cy="823469"/>
                <a:chOff x="1136203" y="4520619"/>
                <a:chExt cx="1419428" cy="1013448"/>
              </a:xfrm>
            </p:grpSpPr>
            <p:grpSp>
              <p:nvGrpSpPr>
                <p:cNvPr id="64" name="Group 950"/>
                <p:cNvGrpSpPr/>
                <p:nvPr/>
              </p:nvGrpSpPr>
              <p:grpSpPr bwMode="auto">
                <a:xfrm>
                  <a:off x="2039815" y="4520619"/>
                  <a:ext cx="515816" cy="969179"/>
                  <a:chOff x="4140" y="429"/>
                  <a:chExt cx="1425" cy="2396"/>
                </a:xfrm>
              </p:grpSpPr>
              <p:sp>
                <p:nvSpPr>
                  <p:cNvPr id="68"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69"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70"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71"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72"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73" name="Group 956"/>
                  <p:cNvGrpSpPr/>
                  <p:nvPr/>
                </p:nvGrpSpPr>
                <p:grpSpPr bwMode="auto">
                  <a:xfrm>
                    <a:off x="4749" y="668"/>
                    <a:ext cx="581" cy="145"/>
                    <a:chOff x="614" y="2568"/>
                    <a:chExt cx="725" cy="139"/>
                  </a:xfrm>
                </p:grpSpPr>
                <p:sp>
                  <p:nvSpPr>
                    <p:cNvPr id="98"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99"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74"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75" name="Group 960"/>
                  <p:cNvGrpSpPr/>
                  <p:nvPr/>
                </p:nvGrpSpPr>
                <p:grpSpPr bwMode="auto">
                  <a:xfrm>
                    <a:off x="4747" y="994"/>
                    <a:ext cx="581" cy="134"/>
                    <a:chOff x="614" y="2568"/>
                    <a:chExt cx="725" cy="139"/>
                  </a:xfrm>
                </p:grpSpPr>
                <p:sp>
                  <p:nvSpPr>
                    <p:cNvPr id="96"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97"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76"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77"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78" name="Group 965"/>
                  <p:cNvGrpSpPr/>
                  <p:nvPr/>
                </p:nvGrpSpPr>
                <p:grpSpPr bwMode="auto">
                  <a:xfrm>
                    <a:off x="4735" y="1627"/>
                    <a:ext cx="582" cy="151"/>
                    <a:chOff x="614" y="2568"/>
                    <a:chExt cx="725" cy="139"/>
                  </a:xfrm>
                </p:grpSpPr>
                <p:sp>
                  <p:nvSpPr>
                    <p:cNvPr id="94"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95"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79"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grpSp>
                <p:nvGrpSpPr>
                  <p:cNvPr id="80" name="Group 969"/>
                  <p:cNvGrpSpPr/>
                  <p:nvPr/>
                </p:nvGrpSpPr>
                <p:grpSpPr bwMode="auto">
                  <a:xfrm>
                    <a:off x="4739" y="1327"/>
                    <a:ext cx="582" cy="139"/>
                    <a:chOff x="614" y="2568"/>
                    <a:chExt cx="725" cy="139"/>
                  </a:xfrm>
                </p:grpSpPr>
                <p:sp>
                  <p:nvSpPr>
                    <p:cNvPr id="92"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93"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81"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82"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83"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84"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85"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86"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87"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88"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89"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800" b="0" i="0" u="sng" strike="noStrike" cap="none" spc="0">
                      <a:ln>
                        <a:noFill/>
                      </a:ln>
                      <a:solidFill>
                        <a:srgbClr val="FF0000"/>
                      </a:solidFill>
                      <a:latin typeface="+mn-lt"/>
                      <a:ea typeface="MS PGothic"/>
                      <a:cs typeface="Arial"/>
                    </a:endParaRPr>
                  </a:p>
                </p:txBody>
              </p:sp>
              <p:sp>
                <p:nvSpPr>
                  <p:cNvPr id="90"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91"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grpSp>
              <p:nvGrpSpPr>
                <p:cNvPr id="65" name="Group 590"/>
                <p:cNvGrpSpPr/>
                <p:nvPr/>
              </p:nvGrpSpPr>
              <p:grpSpPr bwMode="auto">
                <a:xfrm flipH="1">
                  <a:off x="1136203" y="4624876"/>
                  <a:ext cx="948819" cy="909191"/>
                  <a:chOff x="2839" y="3501"/>
                  <a:chExt cx="755" cy="803"/>
                </a:xfrm>
              </p:grpSpPr>
              <p:pic>
                <p:nvPicPr>
                  <p:cNvPr id="66"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67"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u="sng"/>
                  </a:p>
                </p:txBody>
              </p:sp>
            </p:grpSp>
          </p:grpSp>
          <p:grpSp>
            <p:nvGrpSpPr>
              <p:cNvPr id="11" name="Group 10"/>
              <p:cNvGrpSpPr/>
              <p:nvPr/>
            </p:nvGrpSpPr>
            <p:grpSpPr bwMode="auto">
              <a:xfrm>
                <a:off x="4351760" y="4831496"/>
                <a:ext cx="1061526" cy="831703"/>
                <a:chOff x="1136203" y="4520619"/>
                <a:chExt cx="1419428" cy="1013448"/>
              </a:xfrm>
            </p:grpSpPr>
            <p:grpSp>
              <p:nvGrpSpPr>
                <p:cNvPr id="28" name="Group 950"/>
                <p:cNvGrpSpPr/>
                <p:nvPr/>
              </p:nvGrpSpPr>
              <p:grpSpPr bwMode="auto">
                <a:xfrm>
                  <a:off x="2039815" y="4520619"/>
                  <a:ext cx="515816" cy="969179"/>
                  <a:chOff x="4140" y="429"/>
                  <a:chExt cx="1425" cy="2396"/>
                </a:xfrm>
              </p:grpSpPr>
              <p:sp>
                <p:nvSpPr>
                  <p:cNvPr id="32"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33"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34"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35"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36"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37" name="Group 956"/>
                  <p:cNvGrpSpPr/>
                  <p:nvPr/>
                </p:nvGrpSpPr>
                <p:grpSpPr bwMode="auto">
                  <a:xfrm>
                    <a:off x="4749" y="668"/>
                    <a:ext cx="581" cy="145"/>
                    <a:chOff x="614" y="2568"/>
                    <a:chExt cx="725" cy="139"/>
                  </a:xfrm>
                </p:grpSpPr>
                <p:sp>
                  <p:nvSpPr>
                    <p:cNvPr id="62"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63"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38"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39" name="Group 960"/>
                  <p:cNvGrpSpPr/>
                  <p:nvPr/>
                </p:nvGrpSpPr>
                <p:grpSpPr bwMode="auto">
                  <a:xfrm>
                    <a:off x="4747" y="994"/>
                    <a:ext cx="581" cy="134"/>
                    <a:chOff x="614" y="2568"/>
                    <a:chExt cx="725" cy="139"/>
                  </a:xfrm>
                </p:grpSpPr>
                <p:sp>
                  <p:nvSpPr>
                    <p:cNvPr id="60"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61"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40"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41"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42" name="Group 965"/>
                  <p:cNvGrpSpPr/>
                  <p:nvPr/>
                </p:nvGrpSpPr>
                <p:grpSpPr bwMode="auto">
                  <a:xfrm>
                    <a:off x="4735" y="1627"/>
                    <a:ext cx="582" cy="151"/>
                    <a:chOff x="614" y="2568"/>
                    <a:chExt cx="725" cy="139"/>
                  </a:xfrm>
                </p:grpSpPr>
                <p:sp>
                  <p:nvSpPr>
                    <p:cNvPr id="58"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59"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43"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grpSp>
                <p:nvGrpSpPr>
                  <p:cNvPr id="44" name="Group 969"/>
                  <p:cNvGrpSpPr/>
                  <p:nvPr/>
                </p:nvGrpSpPr>
                <p:grpSpPr bwMode="auto">
                  <a:xfrm>
                    <a:off x="4739" y="1327"/>
                    <a:ext cx="582" cy="139"/>
                    <a:chOff x="614" y="2568"/>
                    <a:chExt cx="725" cy="139"/>
                  </a:xfrm>
                </p:grpSpPr>
                <p:sp>
                  <p:nvSpPr>
                    <p:cNvPr id="56"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57"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45"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46"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47"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48"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49"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50"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51"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52"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53"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800" b="0" i="0" u="sng" strike="noStrike" cap="none" spc="0">
                      <a:ln>
                        <a:noFill/>
                      </a:ln>
                      <a:solidFill>
                        <a:srgbClr val="FF0000"/>
                      </a:solidFill>
                      <a:latin typeface="+mn-lt"/>
                      <a:ea typeface="MS PGothic"/>
                      <a:cs typeface="Arial"/>
                    </a:endParaRPr>
                  </a:p>
                </p:txBody>
              </p:sp>
              <p:sp>
                <p:nvSpPr>
                  <p:cNvPr id="54"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55"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grpSp>
              <p:nvGrpSpPr>
                <p:cNvPr id="29" name="Group 590"/>
                <p:cNvGrpSpPr/>
                <p:nvPr/>
              </p:nvGrpSpPr>
              <p:grpSpPr bwMode="auto">
                <a:xfrm flipH="1">
                  <a:off x="1136203" y="4624876"/>
                  <a:ext cx="948819" cy="909191"/>
                  <a:chOff x="2839" y="3501"/>
                  <a:chExt cx="755" cy="803"/>
                </a:xfrm>
              </p:grpSpPr>
              <p:pic>
                <p:nvPicPr>
                  <p:cNvPr id="30"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31"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u="sng"/>
                  </a:p>
                </p:txBody>
              </p:sp>
            </p:grpSp>
          </p:grpSp>
          <p:cxnSp>
            <p:nvCxnSpPr>
              <p:cNvPr id="12" name="Straight Connector 11"/>
              <p:cNvCxnSpPr>
                <a:cxnSpLocks/>
                <a:stCxn id="69" idx="0"/>
                <a:endCxn id="21" idx="1"/>
              </p:cNvCxnSpPr>
              <p:nvPr/>
            </p:nvCxnSpPr>
            <p:spPr bwMode="auto">
              <a:xfrm flipV="1">
                <a:off x="3483443" y="3924349"/>
                <a:ext cx="374980" cy="915381"/>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13" name="Straight Connector 12"/>
              <p:cNvCxnSpPr>
                <a:cxnSpLocks/>
                <a:stCxn id="33" idx="0"/>
                <a:endCxn id="21" idx="3"/>
              </p:cNvCxnSpPr>
              <p:nvPr/>
            </p:nvCxnSpPr>
            <p:spPr bwMode="auto">
              <a:xfrm flipH="1" flipV="1">
                <a:off x="4723453" y="3924349"/>
                <a:ext cx="464605" cy="907147"/>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grpSp>
            <p:nvGrpSpPr>
              <p:cNvPr id="14" name="Group 13"/>
              <p:cNvGrpSpPr/>
              <p:nvPr/>
            </p:nvGrpSpPr>
            <p:grpSpPr bwMode="auto">
              <a:xfrm>
                <a:off x="3858423" y="3290348"/>
                <a:ext cx="868153" cy="794009"/>
                <a:chOff x="3668110" y="2448910"/>
                <a:chExt cx="3794234" cy="2165130"/>
              </a:xfrm>
            </p:grpSpPr>
            <p:sp>
              <p:nvSpPr>
                <p:cNvPr id="21" name="Rectangle 20"/>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2"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nvGrpSpPr>
                <p:cNvPr id="23" name="Group 22"/>
                <p:cNvGrpSpPr/>
                <p:nvPr/>
              </p:nvGrpSpPr>
              <p:grpSpPr bwMode="auto">
                <a:xfrm>
                  <a:off x="3941378" y="2603243"/>
                  <a:ext cx="3202060" cy="1066110"/>
                  <a:chOff x="7939341" y="3037317"/>
                  <a:chExt cx="897649" cy="353919"/>
                </a:xfrm>
              </p:grpSpPr>
              <p:sp>
                <p:nvSpPr>
                  <p:cNvPr id="24"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5"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6"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7"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sp>
            <p:nvSpPr>
              <p:cNvPr id="15" name="Rectangle 14"/>
              <p:cNvSpPr/>
              <p:nvPr/>
            </p:nvSpPr>
            <p:spPr bwMode="auto">
              <a:xfrm>
                <a:off x="2140497" y="3805425"/>
                <a:ext cx="1532086" cy="369332"/>
              </a:xfrm>
              <a:prstGeom prst="rect">
                <a:avLst/>
              </a:prstGeom>
              <a:grpFill/>
            </p:spPr>
            <p:txBody>
              <a:bodyPr wrap="none">
                <a:spAutoFit/>
              </a:bodyPr>
              <a:lstStyle/>
              <a:p>
                <a:pPr>
                  <a:defRPr/>
                </a:pPr>
                <a:r>
                  <a:rPr lang="en-US">
                    <a:ea typeface="宋体"/>
                    <a:cs typeface="Courier New"/>
                  </a:rPr>
                  <a:t>Ethernet1/0/3</a:t>
                </a:r>
                <a:endParaRPr lang="en-US"/>
              </a:p>
            </p:txBody>
          </p:sp>
          <p:sp>
            <p:nvSpPr>
              <p:cNvPr id="16" name="Rectangle 15"/>
              <p:cNvSpPr/>
              <p:nvPr/>
            </p:nvSpPr>
            <p:spPr bwMode="auto">
              <a:xfrm>
                <a:off x="4900308" y="3805425"/>
                <a:ext cx="1532086" cy="369332"/>
              </a:xfrm>
              <a:prstGeom prst="rect">
                <a:avLst/>
              </a:prstGeom>
              <a:grpFill/>
            </p:spPr>
            <p:txBody>
              <a:bodyPr wrap="none">
                <a:spAutoFit/>
              </a:bodyPr>
              <a:lstStyle/>
              <a:p>
                <a:pPr>
                  <a:defRPr/>
                </a:pPr>
                <a:r>
                  <a:rPr lang="en-US">
                    <a:ea typeface="宋体"/>
                    <a:cs typeface="Courier New"/>
                  </a:rPr>
                  <a:t>Ethernet1/0/4</a:t>
                </a:r>
                <a:endParaRPr lang="en-US"/>
              </a:p>
            </p:txBody>
          </p:sp>
          <p:sp>
            <p:nvSpPr>
              <p:cNvPr id="17" name="Rectangle 16"/>
              <p:cNvSpPr/>
              <p:nvPr/>
            </p:nvSpPr>
            <p:spPr bwMode="auto">
              <a:xfrm>
                <a:off x="3246536" y="5657521"/>
                <a:ext cx="521297" cy="369332"/>
              </a:xfrm>
              <a:prstGeom prst="rect">
                <a:avLst/>
              </a:prstGeom>
              <a:grpFill/>
            </p:spPr>
            <p:txBody>
              <a:bodyPr wrap="none">
                <a:spAutoFit/>
              </a:bodyPr>
              <a:lstStyle/>
              <a:p>
                <a:pPr>
                  <a:defRPr/>
                </a:pPr>
                <a:r>
                  <a:rPr lang="en-US">
                    <a:ea typeface="宋体"/>
                    <a:cs typeface="Courier New"/>
                  </a:rPr>
                  <a:t>pc1</a:t>
                </a:r>
                <a:endParaRPr lang="en-US"/>
              </a:p>
            </p:txBody>
          </p:sp>
          <p:sp>
            <p:nvSpPr>
              <p:cNvPr id="18" name="Rectangle 17"/>
              <p:cNvSpPr/>
              <p:nvPr/>
            </p:nvSpPr>
            <p:spPr bwMode="auto">
              <a:xfrm>
                <a:off x="5025651" y="5672448"/>
                <a:ext cx="521297" cy="369332"/>
              </a:xfrm>
              <a:prstGeom prst="rect">
                <a:avLst/>
              </a:prstGeom>
              <a:grpFill/>
            </p:spPr>
            <p:txBody>
              <a:bodyPr wrap="none">
                <a:spAutoFit/>
              </a:bodyPr>
              <a:lstStyle/>
              <a:p>
                <a:pPr>
                  <a:defRPr/>
                </a:pPr>
                <a:r>
                  <a:rPr lang="en-US">
                    <a:ea typeface="宋体"/>
                    <a:cs typeface="Courier New"/>
                  </a:rPr>
                  <a:t>pc2</a:t>
                </a:r>
                <a:endParaRPr lang="en-US"/>
              </a:p>
            </p:txBody>
          </p:sp>
          <p:sp>
            <p:nvSpPr>
              <p:cNvPr id="19" name="Rectangle 18"/>
              <p:cNvSpPr/>
              <p:nvPr/>
            </p:nvSpPr>
            <p:spPr bwMode="auto">
              <a:xfrm>
                <a:off x="2743193" y="5897722"/>
                <a:ext cx="1734770" cy="369332"/>
              </a:xfrm>
              <a:prstGeom prst="rect">
                <a:avLst/>
              </a:prstGeom>
              <a:grpFill/>
            </p:spPr>
            <p:txBody>
              <a:bodyPr wrap="none">
                <a:spAutoFit/>
              </a:bodyPr>
              <a:lstStyle/>
              <a:p>
                <a:pPr>
                  <a:defRPr/>
                </a:pPr>
                <a:r>
                  <a:rPr lang="en-US"/>
                  <a:t>192.168.1.11/24</a:t>
                </a:r>
              </a:p>
            </p:txBody>
          </p:sp>
          <p:sp>
            <p:nvSpPr>
              <p:cNvPr id="20" name="Rectangle 19"/>
              <p:cNvSpPr/>
              <p:nvPr/>
            </p:nvSpPr>
            <p:spPr bwMode="auto">
              <a:xfrm>
                <a:off x="4522308" y="5892181"/>
                <a:ext cx="1734770" cy="369332"/>
              </a:xfrm>
              <a:prstGeom prst="rect">
                <a:avLst/>
              </a:prstGeom>
              <a:grpFill/>
            </p:spPr>
            <p:txBody>
              <a:bodyPr wrap="none">
                <a:spAutoFit/>
              </a:bodyPr>
              <a:lstStyle/>
              <a:p>
                <a:pPr>
                  <a:defRPr/>
                </a:pPr>
                <a:r>
                  <a:rPr lang="en-US"/>
                  <a:t>192.168.1.12/24</a:t>
                </a:r>
              </a:p>
            </p:txBody>
          </p:sp>
        </p:grpSp>
        <p:sp>
          <p:nvSpPr>
            <p:cNvPr id="6" name="Oval 5"/>
            <p:cNvSpPr/>
            <p:nvPr/>
          </p:nvSpPr>
          <p:spPr bwMode="auto">
            <a:xfrm>
              <a:off x="3239677" y="3815650"/>
              <a:ext cx="2160074" cy="413637"/>
            </a:xfrm>
            <a:prstGeom prst="ellipse">
              <a:avLst/>
            </a:prstGeom>
            <a:noFill/>
            <a:ln w="9525"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en-US"/>
            </a:p>
          </p:txBody>
        </p:sp>
        <p:sp>
          <p:nvSpPr>
            <p:cNvPr id="8" name="Rectangle 7"/>
            <p:cNvSpPr/>
            <p:nvPr/>
          </p:nvSpPr>
          <p:spPr bwMode="auto">
            <a:xfrm>
              <a:off x="2414162" y="3932247"/>
              <a:ext cx="813043" cy="369332"/>
            </a:xfrm>
            <a:prstGeom prst="rect">
              <a:avLst/>
            </a:prstGeom>
            <a:grpFill/>
          </p:spPr>
          <p:txBody>
            <a:bodyPr wrap="none">
              <a:spAutoFit/>
            </a:bodyPr>
            <a:lstStyle/>
            <a:p>
              <a:pPr>
                <a:defRPr/>
              </a:pPr>
              <a:r>
                <a:rPr lang="en-US">
                  <a:ea typeface="宋体"/>
                  <a:cs typeface="Courier New"/>
                </a:rPr>
                <a:t>VLAN2</a:t>
              </a:r>
              <a:endParaRPr lang="en-US"/>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3. </a:t>
            </a:r>
            <a:r>
              <a:rPr lang="zh-CN"/>
              <a:t>配置双节点网络</a:t>
            </a:r>
            <a:r>
              <a:rPr lang="en-US"/>
              <a:t>VLAN </a:t>
            </a:r>
          </a:p>
        </p:txBody>
      </p:sp>
      <p:sp>
        <p:nvSpPr>
          <p:cNvPr id="3" name="Content Placeholder 2"/>
          <p:cNvSpPr>
            <a:spLocks noGrp="1"/>
          </p:cNvSpPr>
          <p:nvPr>
            <p:ph idx="1"/>
          </p:nvPr>
        </p:nvSpPr>
        <p:spPr bwMode="auto"/>
        <p:txBody>
          <a:bodyPr/>
          <a:lstStyle/>
          <a:p>
            <a:pPr marL="546100" lvl="1" indent="-457200">
              <a:buFont typeface="+mj-lt"/>
              <a:buAutoNum type="arabicParenR" startAt="14"/>
              <a:defRPr/>
            </a:pPr>
            <a:r>
              <a:rPr lang="zh-CN" dirty="0"/>
              <a:t>再次检查</a:t>
            </a:r>
            <a:r>
              <a:rPr lang="en-US" dirty="0"/>
              <a:t>pc1</a:t>
            </a:r>
            <a:r>
              <a:rPr lang="zh-CN" dirty="0"/>
              <a:t>和</a:t>
            </a:r>
            <a:r>
              <a:rPr lang="en-US" dirty="0"/>
              <a:t>pc2</a:t>
            </a:r>
            <a:r>
              <a:rPr lang="zh-CN" dirty="0"/>
              <a:t>之间是否能够</a:t>
            </a:r>
            <a:r>
              <a:rPr lang="en-US" dirty="0"/>
              <a:t>ping</a:t>
            </a:r>
            <a:r>
              <a:rPr lang="zh-CN" dirty="0"/>
              <a:t>通。</a:t>
            </a:r>
            <a:endParaRPr lang="en-US" dirty="0"/>
          </a:p>
          <a:p>
            <a:pPr marL="447675" lvl="2" indent="-358775">
              <a:defRPr/>
            </a:pPr>
            <a:r>
              <a:rPr lang="zh-CN" dirty="0"/>
              <a:t>应该能够互通，因为它们现在都属于</a:t>
            </a:r>
            <a:r>
              <a:rPr lang="en-US" dirty="0"/>
              <a:t>VLAN2</a:t>
            </a:r>
            <a:r>
              <a:rPr lang="zh-CN" dirty="0"/>
              <a:t>。</a:t>
            </a:r>
            <a:endParaRPr lang="en-US" dirty="0"/>
          </a:p>
          <a:p>
            <a:pPr marL="447675" lvl="1" indent="-358775">
              <a:defRPr/>
            </a:pPr>
            <a:endParaRPr lang="en-US" dirty="0"/>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195" name="Footer Placeholder 194"/>
          <p:cNvSpPr>
            <a:spLocks noGrp="1"/>
          </p:cNvSpPr>
          <p:nvPr>
            <p:ph type="ftr" sz="quarter" idx="11"/>
          </p:nvPr>
        </p:nvSpPr>
        <p:spPr bwMode="auto"/>
        <p:txBody>
          <a:bodyPr/>
          <a:lstStyle/>
          <a:p>
            <a:pPr>
              <a:defRPr/>
            </a:pPr>
            <a:r>
              <a:rPr lang="zh-CN"/>
              <a:t>计算机网络实验</a:t>
            </a:r>
            <a:endParaRPr lang="en-US"/>
          </a:p>
        </p:txBody>
      </p:sp>
      <p:sp>
        <p:nvSpPr>
          <p:cNvPr id="196" name="Slide Number Placeholder 195"/>
          <p:cNvSpPr>
            <a:spLocks noGrp="1"/>
          </p:cNvSpPr>
          <p:nvPr>
            <p:ph type="sldNum" sz="quarter" idx="12"/>
          </p:nvPr>
        </p:nvSpPr>
        <p:spPr bwMode="auto"/>
        <p:txBody>
          <a:bodyPr/>
          <a:lstStyle/>
          <a:p>
            <a:pPr>
              <a:defRPr/>
            </a:pPr>
            <a:fld id="{0ECDF2DC-913F-4A16-9C18-8900B299D998}" type="slidenum">
              <a:rPr lang="en-US"/>
              <a:t>27</a:t>
            </a:fld>
            <a:endParaRPr lang="en-US"/>
          </a:p>
        </p:txBody>
      </p:sp>
      <p:grpSp>
        <p:nvGrpSpPr>
          <p:cNvPr id="101" name="Group 100"/>
          <p:cNvGrpSpPr/>
          <p:nvPr/>
        </p:nvGrpSpPr>
        <p:grpSpPr bwMode="auto">
          <a:xfrm>
            <a:off x="2140497" y="3004598"/>
            <a:ext cx="4291897" cy="2976706"/>
            <a:chOff x="2140497" y="2795048"/>
            <a:chExt cx="4291897" cy="2976706"/>
          </a:xfrm>
        </p:grpSpPr>
        <p:grpSp>
          <p:nvGrpSpPr>
            <p:cNvPr id="102" name="Group 101"/>
            <p:cNvGrpSpPr/>
            <p:nvPr/>
          </p:nvGrpSpPr>
          <p:grpSpPr bwMode="auto">
            <a:xfrm>
              <a:off x="2140497" y="2795048"/>
              <a:ext cx="4291897" cy="2976706"/>
              <a:chOff x="2140497" y="3290348"/>
              <a:chExt cx="4291897" cy="2976706"/>
            </a:xfrm>
          </p:grpSpPr>
          <p:grpSp>
            <p:nvGrpSpPr>
              <p:cNvPr id="105" name="Group 104"/>
              <p:cNvGrpSpPr/>
              <p:nvPr/>
            </p:nvGrpSpPr>
            <p:grpSpPr bwMode="auto">
              <a:xfrm>
                <a:off x="2647144" y="4839730"/>
                <a:ext cx="1061526" cy="823469"/>
                <a:chOff x="1136203" y="4520619"/>
                <a:chExt cx="1419428" cy="1013448"/>
              </a:xfrm>
            </p:grpSpPr>
            <p:grpSp>
              <p:nvGrpSpPr>
                <p:cNvPr id="159" name="Group 950"/>
                <p:cNvGrpSpPr/>
                <p:nvPr/>
              </p:nvGrpSpPr>
              <p:grpSpPr bwMode="auto">
                <a:xfrm>
                  <a:off x="2039815" y="4520619"/>
                  <a:ext cx="515816" cy="969179"/>
                  <a:chOff x="4140" y="429"/>
                  <a:chExt cx="1425" cy="2396"/>
                </a:xfrm>
              </p:grpSpPr>
              <p:sp>
                <p:nvSpPr>
                  <p:cNvPr id="163"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64"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65"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66"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67"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168" name="Group 956"/>
                  <p:cNvGrpSpPr/>
                  <p:nvPr/>
                </p:nvGrpSpPr>
                <p:grpSpPr bwMode="auto">
                  <a:xfrm>
                    <a:off x="4749" y="668"/>
                    <a:ext cx="581" cy="145"/>
                    <a:chOff x="614" y="2568"/>
                    <a:chExt cx="725" cy="139"/>
                  </a:xfrm>
                </p:grpSpPr>
                <p:sp>
                  <p:nvSpPr>
                    <p:cNvPr id="193"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94"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69"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170" name="Group 960"/>
                  <p:cNvGrpSpPr/>
                  <p:nvPr/>
                </p:nvGrpSpPr>
                <p:grpSpPr bwMode="auto">
                  <a:xfrm>
                    <a:off x="4747" y="994"/>
                    <a:ext cx="581" cy="134"/>
                    <a:chOff x="614" y="2568"/>
                    <a:chExt cx="725" cy="139"/>
                  </a:xfrm>
                </p:grpSpPr>
                <p:sp>
                  <p:nvSpPr>
                    <p:cNvPr id="191"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92"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71"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72"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173" name="Group 965"/>
                  <p:cNvGrpSpPr/>
                  <p:nvPr/>
                </p:nvGrpSpPr>
                <p:grpSpPr bwMode="auto">
                  <a:xfrm>
                    <a:off x="4735" y="1627"/>
                    <a:ext cx="582" cy="151"/>
                    <a:chOff x="614" y="2568"/>
                    <a:chExt cx="725" cy="139"/>
                  </a:xfrm>
                </p:grpSpPr>
                <p:sp>
                  <p:nvSpPr>
                    <p:cNvPr id="189"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90"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74"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grpSp>
                <p:nvGrpSpPr>
                  <p:cNvPr id="175" name="Group 969"/>
                  <p:cNvGrpSpPr/>
                  <p:nvPr/>
                </p:nvGrpSpPr>
                <p:grpSpPr bwMode="auto">
                  <a:xfrm>
                    <a:off x="4739" y="1327"/>
                    <a:ext cx="582" cy="139"/>
                    <a:chOff x="614" y="2568"/>
                    <a:chExt cx="725" cy="139"/>
                  </a:xfrm>
                </p:grpSpPr>
                <p:sp>
                  <p:nvSpPr>
                    <p:cNvPr id="187"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8"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76"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77"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78"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79"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0"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81"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2"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3"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4"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800" b="0" i="0" u="sng" strike="noStrike" cap="none" spc="0">
                      <a:ln>
                        <a:noFill/>
                      </a:ln>
                      <a:solidFill>
                        <a:srgbClr val="FF0000"/>
                      </a:solidFill>
                      <a:latin typeface="+mn-lt"/>
                      <a:ea typeface="MS PGothic"/>
                      <a:cs typeface="Arial"/>
                    </a:endParaRPr>
                  </a:p>
                </p:txBody>
              </p:sp>
              <p:sp>
                <p:nvSpPr>
                  <p:cNvPr id="185"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86"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grpSp>
              <p:nvGrpSpPr>
                <p:cNvPr id="160" name="Group 590"/>
                <p:cNvGrpSpPr/>
                <p:nvPr/>
              </p:nvGrpSpPr>
              <p:grpSpPr bwMode="auto">
                <a:xfrm flipH="1">
                  <a:off x="1136203" y="4624876"/>
                  <a:ext cx="948819" cy="909191"/>
                  <a:chOff x="2839" y="3501"/>
                  <a:chExt cx="755" cy="803"/>
                </a:xfrm>
              </p:grpSpPr>
              <p:pic>
                <p:nvPicPr>
                  <p:cNvPr id="161"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62"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u="sng"/>
                  </a:p>
                </p:txBody>
              </p:sp>
            </p:grpSp>
          </p:grpSp>
          <p:grpSp>
            <p:nvGrpSpPr>
              <p:cNvPr id="106" name="Group 105"/>
              <p:cNvGrpSpPr/>
              <p:nvPr/>
            </p:nvGrpSpPr>
            <p:grpSpPr bwMode="auto">
              <a:xfrm>
                <a:off x="4351760" y="4831496"/>
                <a:ext cx="1061526" cy="831703"/>
                <a:chOff x="1136203" y="4520619"/>
                <a:chExt cx="1419428" cy="1013448"/>
              </a:xfrm>
            </p:grpSpPr>
            <p:grpSp>
              <p:nvGrpSpPr>
                <p:cNvPr id="123" name="Group 950"/>
                <p:cNvGrpSpPr/>
                <p:nvPr/>
              </p:nvGrpSpPr>
              <p:grpSpPr bwMode="auto">
                <a:xfrm>
                  <a:off x="2039815" y="4520619"/>
                  <a:ext cx="515816" cy="969179"/>
                  <a:chOff x="4140" y="429"/>
                  <a:chExt cx="1425" cy="2396"/>
                </a:xfrm>
              </p:grpSpPr>
              <p:sp>
                <p:nvSpPr>
                  <p:cNvPr id="127"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28"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29"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30"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31"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132" name="Group 956"/>
                  <p:cNvGrpSpPr/>
                  <p:nvPr/>
                </p:nvGrpSpPr>
                <p:grpSpPr bwMode="auto">
                  <a:xfrm>
                    <a:off x="4749" y="668"/>
                    <a:ext cx="581" cy="145"/>
                    <a:chOff x="614" y="2568"/>
                    <a:chExt cx="725" cy="139"/>
                  </a:xfrm>
                </p:grpSpPr>
                <p:sp>
                  <p:nvSpPr>
                    <p:cNvPr id="157"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58"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33"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134" name="Group 960"/>
                  <p:cNvGrpSpPr/>
                  <p:nvPr/>
                </p:nvGrpSpPr>
                <p:grpSpPr bwMode="auto">
                  <a:xfrm>
                    <a:off x="4747" y="994"/>
                    <a:ext cx="581" cy="134"/>
                    <a:chOff x="614" y="2568"/>
                    <a:chExt cx="725" cy="139"/>
                  </a:xfrm>
                </p:grpSpPr>
                <p:sp>
                  <p:nvSpPr>
                    <p:cNvPr id="155"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56"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35"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36"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nvGrpSpPr>
                  <p:cNvPr id="137" name="Group 965"/>
                  <p:cNvGrpSpPr/>
                  <p:nvPr/>
                </p:nvGrpSpPr>
                <p:grpSpPr bwMode="auto">
                  <a:xfrm>
                    <a:off x="4735" y="1627"/>
                    <a:ext cx="582" cy="151"/>
                    <a:chOff x="614" y="2568"/>
                    <a:chExt cx="725" cy="139"/>
                  </a:xfrm>
                </p:grpSpPr>
                <p:sp>
                  <p:nvSpPr>
                    <p:cNvPr id="153"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54"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38"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grpSp>
                <p:nvGrpSpPr>
                  <p:cNvPr id="139" name="Group 969"/>
                  <p:cNvGrpSpPr/>
                  <p:nvPr/>
                </p:nvGrpSpPr>
                <p:grpSpPr bwMode="auto">
                  <a:xfrm>
                    <a:off x="4739" y="1327"/>
                    <a:ext cx="582" cy="139"/>
                    <a:chOff x="614" y="2568"/>
                    <a:chExt cx="725" cy="139"/>
                  </a:xfrm>
                </p:grpSpPr>
                <p:sp>
                  <p:nvSpPr>
                    <p:cNvPr id="151"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52"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sp>
                <p:nvSpPr>
                  <p:cNvPr id="140"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41"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42"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43"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44"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b="0" i="0" u="sng" strike="noStrike" cap="none" spc="0">
                      <a:ln>
                        <a:noFill/>
                      </a:ln>
                      <a:solidFill>
                        <a:prstClr val="black"/>
                      </a:solidFill>
                    </a:endParaRPr>
                  </a:p>
                </p:txBody>
              </p:sp>
              <p:sp>
                <p:nvSpPr>
                  <p:cNvPr id="145"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46"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47"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48"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800" b="0" i="0" u="sng" strike="noStrike" cap="none" spc="0">
                      <a:ln>
                        <a:noFill/>
                      </a:ln>
                      <a:solidFill>
                        <a:srgbClr val="FF0000"/>
                      </a:solidFill>
                      <a:latin typeface="+mn-lt"/>
                      <a:ea typeface="MS PGothic"/>
                      <a:cs typeface="Arial"/>
                    </a:endParaRPr>
                  </a:p>
                </p:txBody>
              </p:sp>
              <p:sp>
                <p:nvSpPr>
                  <p:cNvPr id="149"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sp>
                <p:nvSpPr>
                  <p:cNvPr id="150"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2400" b="0" i="0" u="sng" strike="noStrike" cap="none" spc="0">
                      <a:ln>
                        <a:noFill/>
                      </a:ln>
                      <a:solidFill>
                        <a:prstClr val="black"/>
                      </a:solidFill>
                      <a:latin typeface="+mn-lt"/>
                      <a:ea typeface="MS PGothic"/>
                      <a:cs typeface="Arial"/>
                    </a:endParaRPr>
                  </a:p>
                </p:txBody>
              </p:sp>
            </p:grpSp>
            <p:grpSp>
              <p:nvGrpSpPr>
                <p:cNvPr id="124" name="Group 590"/>
                <p:cNvGrpSpPr/>
                <p:nvPr/>
              </p:nvGrpSpPr>
              <p:grpSpPr bwMode="auto">
                <a:xfrm flipH="1">
                  <a:off x="1136203" y="4624876"/>
                  <a:ext cx="948819" cy="909191"/>
                  <a:chOff x="2839" y="3501"/>
                  <a:chExt cx="755" cy="803"/>
                </a:xfrm>
              </p:grpSpPr>
              <p:pic>
                <p:nvPicPr>
                  <p:cNvPr id="125"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26"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u="sng"/>
                  </a:p>
                </p:txBody>
              </p:sp>
            </p:grpSp>
          </p:grpSp>
          <p:cxnSp>
            <p:nvCxnSpPr>
              <p:cNvPr id="107" name="Straight Connector 106"/>
              <p:cNvCxnSpPr>
                <a:cxnSpLocks/>
                <a:stCxn id="164" idx="0"/>
                <a:endCxn id="116" idx="1"/>
              </p:cNvCxnSpPr>
              <p:nvPr/>
            </p:nvCxnSpPr>
            <p:spPr bwMode="auto">
              <a:xfrm flipV="1">
                <a:off x="3483443" y="3924349"/>
                <a:ext cx="374980" cy="915381"/>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108" name="Straight Connector 107"/>
              <p:cNvCxnSpPr>
                <a:cxnSpLocks/>
                <a:stCxn id="128" idx="0"/>
                <a:endCxn id="116" idx="3"/>
              </p:cNvCxnSpPr>
              <p:nvPr/>
            </p:nvCxnSpPr>
            <p:spPr bwMode="auto">
              <a:xfrm flipH="1" flipV="1">
                <a:off x="4723453" y="3924349"/>
                <a:ext cx="464605" cy="907147"/>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grpSp>
            <p:nvGrpSpPr>
              <p:cNvPr id="109" name="Group 108"/>
              <p:cNvGrpSpPr/>
              <p:nvPr/>
            </p:nvGrpSpPr>
            <p:grpSpPr bwMode="auto">
              <a:xfrm>
                <a:off x="3858423" y="3290348"/>
                <a:ext cx="868153" cy="794009"/>
                <a:chOff x="3668110" y="2448910"/>
                <a:chExt cx="3794234" cy="2165130"/>
              </a:xfrm>
            </p:grpSpPr>
            <p:sp>
              <p:nvSpPr>
                <p:cNvPr id="116" name="Rectangle 115"/>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7"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nvGrpSpPr>
                <p:cNvPr id="118" name="Group 117"/>
                <p:cNvGrpSpPr/>
                <p:nvPr/>
              </p:nvGrpSpPr>
              <p:grpSpPr bwMode="auto">
                <a:xfrm>
                  <a:off x="3941378" y="2603243"/>
                  <a:ext cx="3202060" cy="1066110"/>
                  <a:chOff x="7939341" y="3037317"/>
                  <a:chExt cx="897649" cy="353919"/>
                </a:xfrm>
              </p:grpSpPr>
              <p:sp>
                <p:nvSpPr>
                  <p:cNvPr id="119"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0"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1"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2"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grpSp>
          <p:sp>
            <p:nvSpPr>
              <p:cNvPr id="110" name="Rectangle 109"/>
              <p:cNvSpPr/>
              <p:nvPr/>
            </p:nvSpPr>
            <p:spPr bwMode="auto">
              <a:xfrm>
                <a:off x="2140497" y="3805425"/>
                <a:ext cx="1532086" cy="369332"/>
              </a:xfrm>
              <a:prstGeom prst="rect">
                <a:avLst/>
              </a:prstGeom>
              <a:grpFill/>
            </p:spPr>
            <p:txBody>
              <a:bodyPr wrap="none">
                <a:spAutoFit/>
              </a:bodyPr>
              <a:lstStyle/>
              <a:p>
                <a:pPr>
                  <a:defRPr/>
                </a:pPr>
                <a:r>
                  <a:rPr lang="en-US">
                    <a:ea typeface="宋体"/>
                    <a:cs typeface="Courier New"/>
                  </a:rPr>
                  <a:t>Ethernet1/0/3</a:t>
                </a:r>
                <a:endParaRPr lang="en-US"/>
              </a:p>
            </p:txBody>
          </p:sp>
          <p:sp>
            <p:nvSpPr>
              <p:cNvPr id="111" name="Rectangle 110"/>
              <p:cNvSpPr/>
              <p:nvPr/>
            </p:nvSpPr>
            <p:spPr bwMode="auto">
              <a:xfrm>
                <a:off x="4900308" y="3805425"/>
                <a:ext cx="1532086" cy="369332"/>
              </a:xfrm>
              <a:prstGeom prst="rect">
                <a:avLst/>
              </a:prstGeom>
              <a:grpFill/>
            </p:spPr>
            <p:txBody>
              <a:bodyPr wrap="none">
                <a:spAutoFit/>
              </a:bodyPr>
              <a:lstStyle/>
              <a:p>
                <a:pPr>
                  <a:defRPr/>
                </a:pPr>
                <a:r>
                  <a:rPr lang="en-US">
                    <a:ea typeface="宋体"/>
                    <a:cs typeface="Courier New"/>
                  </a:rPr>
                  <a:t>Ethernet1/0/4</a:t>
                </a:r>
                <a:endParaRPr lang="en-US"/>
              </a:p>
            </p:txBody>
          </p:sp>
          <p:sp>
            <p:nvSpPr>
              <p:cNvPr id="112" name="Rectangle 111"/>
              <p:cNvSpPr/>
              <p:nvPr/>
            </p:nvSpPr>
            <p:spPr bwMode="auto">
              <a:xfrm>
                <a:off x="3246536" y="5657521"/>
                <a:ext cx="521297" cy="369332"/>
              </a:xfrm>
              <a:prstGeom prst="rect">
                <a:avLst/>
              </a:prstGeom>
              <a:grpFill/>
            </p:spPr>
            <p:txBody>
              <a:bodyPr wrap="none">
                <a:spAutoFit/>
              </a:bodyPr>
              <a:lstStyle/>
              <a:p>
                <a:pPr>
                  <a:defRPr/>
                </a:pPr>
                <a:r>
                  <a:rPr lang="en-US">
                    <a:ea typeface="宋体"/>
                    <a:cs typeface="Courier New"/>
                  </a:rPr>
                  <a:t>pc1</a:t>
                </a:r>
                <a:endParaRPr lang="en-US"/>
              </a:p>
            </p:txBody>
          </p:sp>
          <p:sp>
            <p:nvSpPr>
              <p:cNvPr id="113" name="Rectangle 112"/>
              <p:cNvSpPr/>
              <p:nvPr/>
            </p:nvSpPr>
            <p:spPr bwMode="auto">
              <a:xfrm>
                <a:off x="5025651" y="5672448"/>
                <a:ext cx="521297" cy="369332"/>
              </a:xfrm>
              <a:prstGeom prst="rect">
                <a:avLst/>
              </a:prstGeom>
              <a:grpFill/>
            </p:spPr>
            <p:txBody>
              <a:bodyPr wrap="none">
                <a:spAutoFit/>
              </a:bodyPr>
              <a:lstStyle/>
              <a:p>
                <a:pPr>
                  <a:defRPr/>
                </a:pPr>
                <a:r>
                  <a:rPr lang="en-US">
                    <a:ea typeface="宋体"/>
                    <a:cs typeface="Courier New"/>
                  </a:rPr>
                  <a:t>pc2</a:t>
                </a:r>
                <a:endParaRPr lang="en-US"/>
              </a:p>
            </p:txBody>
          </p:sp>
          <p:sp>
            <p:nvSpPr>
              <p:cNvPr id="114" name="Rectangle 113"/>
              <p:cNvSpPr/>
              <p:nvPr/>
            </p:nvSpPr>
            <p:spPr bwMode="auto">
              <a:xfrm>
                <a:off x="2743193" y="5897722"/>
                <a:ext cx="1734770" cy="369332"/>
              </a:xfrm>
              <a:prstGeom prst="rect">
                <a:avLst/>
              </a:prstGeom>
              <a:grpFill/>
            </p:spPr>
            <p:txBody>
              <a:bodyPr wrap="none">
                <a:spAutoFit/>
              </a:bodyPr>
              <a:lstStyle/>
              <a:p>
                <a:pPr>
                  <a:defRPr/>
                </a:pPr>
                <a:r>
                  <a:rPr lang="en-US"/>
                  <a:t>192.168.1.11/24</a:t>
                </a:r>
              </a:p>
            </p:txBody>
          </p:sp>
          <p:sp>
            <p:nvSpPr>
              <p:cNvPr id="115" name="Rectangle 114"/>
              <p:cNvSpPr/>
              <p:nvPr/>
            </p:nvSpPr>
            <p:spPr bwMode="auto">
              <a:xfrm>
                <a:off x="4522308" y="5892181"/>
                <a:ext cx="1734770" cy="369332"/>
              </a:xfrm>
              <a:prstGeom prst="rect">
                <a:avLst/>
              </a:prstGeom>
              <a:grpFill/>
            </p:spPr>
            <p:txBody>
              <a:bodyPr wrap="none">
                <a:spAutoFit/>
              </a:bodyPr>
              <a:lstStyle/>
              <a:p>
                <a:pPr>
                  <a:defRPr/>
                </a:pPr>
                <a:r>
                  <a:rPr lang="en-US"/>
                  <a:t>192.168.1.12/24</a:t>
                </a:r>
              </a:p>
            </p:txBody>
          </p:sp>
        </p:grpSp>
        <p:sp>
          <p:nvSpPr>
            <p:cNvPr id="103" name="Oval 102"/>
            <p:cNvSpPr/>
            <p:nvPr/>
          </p:nvSpPr>
          <p:spPr bwMode="auto">
            <a:xfrm>
              <a:off x="3239677" y="3815650"/>
              <a:ext cx="2160074" cy="413637"/>
            </a:xfrm>
            <a:prstGeom prst="ellipse">
              <a:avLst/>
            </a:prstGeom>
            <a:noFill/>
            <a:ln w="9525" cap="flat" cmpd="sng" algn="ctr">
              <a:solidFill>
                <a:schemeClr val="accent1"/>
              </a:solidFill>
              <a:prstDash val="solid"/>
              <a:round/>
              <a:headEnd type="none" w="med" len="med"/>
              <a:tailEnd type="none" w="med" len="med"/>
            </a:ln>
          </p:spPr>
          <p:style>
            <a:lnRef idx="0">
              <a:srgbClr val="000000"/>
            </a:lnRef>
            <a:fillRef idx="0">
              <a:srgbClr val="000000"/>
            </a:fillRef>
            <a:effectRef idx="0">
              <a:srgbClr val="000000"/>
            </a:effectRef>
            <a:fontRef idx="minor">
              <a:schemeClr val="accent1"/>
            </a:fontRef>
          </p:style>
          <p:txBody>
            <a:bodyPr rtlCol="0" anchor="ctr"/>
            <a:lstStyle/>
            <a:p>
              <a:pPr algn="ctr">
                <a:defRPr/>
              </a:pPr>
              <a:endParaRPr lang="en-US"/>
            </a:p>
          </p:txBody>
        </p:sp>
        <p:sp>
          <p:nvSpPr>
            <p:cNvPr id="104" name="Rectangle 103"/>
            <p:cNvSpPr/>
            <p:nvPr/>
          </p:nvSpPr>
          <p:spPr bwMode="auto">
            <a:xfrm>
              <a:off x="2414162" y="3932247"/>
              <a:ext cx="813043" cy="369332"/>
            </a:xfrm>
            <a:prstGeom prst="rect">
              <a:avLst/>
            </a:prstGeom>
            <a:grpFill/>
          </p:spPr>
          <p:txBody>
            <a:bodyPr wrap="none">
              <a:spAutoFit/>
            </a:bodyPr>
            <a:lstStyle/>
            <a:p>
              <a:pPr>
                <a:defRPr/>
              </a:pPr>
              <a:r>
                <a:rPr lang="en-US">
                  <a:ea typeface="宋体"/>
                  <a:cs typeface="Courier New"/>
                </a:rPr>
                <a:t>VLAN2</a:t>
              </a:r>
              <a:endParaRPr lang="en-US"/>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le 2"/>
          <p:cNvSpPr>
            <a:spLocks noGrp="1"/>
          </p:cNvSpPr>
          <p:nvPr>
            <p:ph type="title"/>
          </p:nvPr>
        </p:nvSpPr>
        <p:spPr bwMode="auto"/>
        <p:txBody>
          <a:bodyPr/>
          <a:lstStyle/>
          <a:p>
            <a:pPr>
              <a:defRPr/>
            </a:pPr>
            <a:r>
              <a:rPr lang="zh-CN"/>
              <a:t>实验内容</a:t>
            </a:r>
            <a:endParaRPr lang="en-US"/>
          </a:p>
        </p:txBody>
      </p:sp>
      <p:sp>
        <p:nvSpPr>
          <p:cNvPr id="2" name="Content Placeholder 1"/>
          <p:cNvSpPr>
            <a:spLocks noGrp="1"/>
          </p:cNvSpPr>
          <p:nvPr>
            <p:ph idx="1"/>
          </p:nvPr>
        </p:nvSpPr>
        <p:spPr bwMode="auto"/>
        <p:txBody>
          <a:bodyPr/>
          <a:lstStyle/>
          <a:p>
            <a:pPr marL="514350" indent="-514350">
              <a:buFont typeface="+mj-lt"/>
              <a:buAutoNum type="arabicPeriod"/>
              <a:defRPr/>
            </a:pPr>
            <a:r>
              <a:rPr lang="zh-CN"/>
              <a:t>登录交换机</a:t>
            </a:r>
            <a:endParaRPr/>
          </a:p>
          <a:p>
            <a:pPr marL="514350" indent="-514350">
              <a:buFont typeface="+mj-lt"/>
              <a:buAutoNum type="arabicPeriod"/>
              <a:defRPr/>
            </a:pPr>
            <a:r>
              <a:rPr lang="zh-CN"/>
              <a:t>连接双节点网络</a:t>
            </a:r>
            <a:endParaRPr/>
          </a:p>
          <a:p>
            <a:pPr marL="514350" indent="-514350">
              <a:buFont typeface="+mj-lt"/>
              <a:buAutoNum type="arabicPeriod"/>
              <a:defRPr/>
            </a:pPr>
            <a:r>
              <a:rPr lang="zh-CN"/>
              <a:t>配置双节点网络</a:t>
            </a:r>
            <a:r>
              <a:rPr lang="en-US"/>
              <a:t>VLAN</a:t>
            </a:r>
            <a:endParaRPr/>
          </a:p>
          <a:p>
            <a:pPr marL="514350" indent="-514350">
              <a:buFont typeface="+mj-lt"/>
              <a:buAutoNum type="arabicPeriod"/>
              <a:defRPr/>
            </a:pPr>
            <a:r>
              <a:rPr lang="zh-CN">
                <a:solidFill>
                  <a:schemeClr val="accent2"/>
                </a:solidFill>
              </a:rPr>
              <a:t>配置四节点网络</a:t>
            </a:r>
            <a:r>
              <a:rPr lang="en-US">
                <a:solidFill>
                  <a:schemeClr val="accent2"/>
                </a:solidFill>
              </a:rPr>
              <a:t>VLAN</a:t>
            </a:r>
            <a:endParaRPr/>
          </a:p>
          <a:p>
            <a:pPr>
              <a:defRPr/>
            </a:pPr>
            <a:endParaRPr lang="en-US"/>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4. </a:t>
            </a:r>
            <a:r>
              <a:rPr lang="zh-CN"/>
              <a:t>配置四节点网络</a:t>
            </a:r>
            <a:r>
              <a:rPr lang="en-US"/>
              <a:t> VLAN</a:t>
            </a:r>
          </a:p>
        </p:txBody>
      </p:sp>
      <p:sp>
        <p:nvSpPr>
          <p:cNvPr id="199" name="Content Placeholder 198"/>
          <p:cNvSpPr>
            <a:spLocks noGrp="1"/>
          </p:cNvSpPr>
          <p:nvPr>
            <p:ph idx="1"/>
          </p:nvPr>
        </p:nvSpPr>
        <p:spPr bwMode="auto"/>
        <p:txBody>
          <a:bodyPr/>
          <a:lstStyle/>
          <a:p>
            <a:pPr marL="447675" lvl="1" indent="-358775">
              <a:buFont typeface="+mj-lt"/>
              <a:buAutoNum type="arabicParenR"/>
              <a:defRPr/>
            </a:pPr>
            <a:r>
              <a:rPr lang="zh-CN"/>
              <a:t>刚才我们已经搭建了一个两节点的网络（如左图），现在我们用另外一个交换机和另外两台主机再搭建一个两节点的网络（如右图）。</a:t>
            </a:r>
            <a:endParaRPr lang="en-US"/>
          </a:p>
        </p:txBody>
      </p:sp>
      <p:sp>
        <p:nvSpPr>
          <p:cNvPr id="3" name="Date Placeholder 2"/>
          <p:cNvSpPr>
            <a:spLocks noGrp="1"/>
          </p:cNvSpPr>
          <p:nvPr>
            <p:ph type="dt" sz="half" idx="10"/>
          </p:nvPr>
        </p:nvSpPr>
        <p:spPr bwMode="auto"/>
        <p:txBody>
          <a:bodyPr/>
          <a:lstStyle/>
          <a:p>
            <a:pPr>
              <a:defRPr/>
            </a:pPr>
            <a:r>
              <a:rPr lang="en-US"/>
              <a:t>3/1/2020</a:t>
            </a:r>
            <a:endParaRPr/>
          </a:p>
        </p:txBody>
      </p:sp>
      <p:sp>
        <p:nvSpPr>
          <p:cNvPr id="4" name="Footer Placeholder 3"/>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29</a:t>
            </a:fld>
            <a:endParaRPr lang="en-US"/>
          </a:p>
        </p:txBody>
      </p:sp>
      <p:sp>
        <p:nvSpPr>
          <p:cNvPr id="200" name="Rectangle 199"/>
          <p:cNvSpPr/>
          <p:nvPr/>
        </p:nvSpPr>
        <p:spPr bwMode="auto">
          <a:xfrm>
            <a:off x="708072" y="2880000"/>
            <a:ext cx="3646127" cy="3185779"/>
          </a:xfrm>
          <a:prstGeom prst="rect">
            <a:avLst/>
          </a:prstGeom>
          <a:noFill/>
          <a:ln w="9525" cap="flat" cmpd="sng" algn="ctr">
            <a:solidFill>
              <a:schemeClr val="accent2"/>
            </a:solidFill>
            <a:prstDash val="solid"/>
            <a:round/>
            <a:headEnd type="none" w="med" len="med"/>
            <a:tailEnd type="none" w="med" len="med"/>
          </a:ln>
        </p:spPr>
        <p:style>
          <a:lnRef idx="0">
            <a:srgbClr val="000000"/>
          </a:lnRef>
          <a:fillRef idx="0">
            <a:srgbClr val="000000"/>
          </a:fillRef>
          <a:effectRef idx="0">
            <a:srgbClr val="000000"/>
          </a:effectRef>
          <a:fontRef idx="minor">
            <a:schemeClr val="accent2"/>
          </a:fontRef>
        </p:style>
        <p:txBody>
          <a:bodyPr rtlCol="0" anchor="ctr"/>
          <a:lstStyle/>
          <a:p>
            <a:pPr algn="ctr">
              <a:defRPr/>
            </a:pPr>
            <a:endParaRPr lang="en-US"/>
          </a:p>
        </p:txBody>
      </p:sp>
      <p:grpSp>
        <p:nvGrpSpPr>
          <p:cNvPr id="191" name="Group 190"/>
          <p:cNvGrpSpPr>
            <a:grpSpLocks noChangeAspect="1"/>
          </p:cNvGrpSpPr>
          <p:nvPr/>
        </p:nvGrpSpPr>
        <p:grpSpPr bwMode="auto">
          <a:xfrm>
            <a:off x="708343" y="3375815"/>
            <a:ext cx="3577476" cy="2634796"/>
            <a:chOff x="2266419" y="3290348"/>
            <a:chExt cx="4062212" cy="2991802"/>
          </a:xfrm>
        </p:grpSpPr>
        <p:grpSp>
          <p:nvGrpSpPr>
            <p:cNvPr id="192" name="Group 191"/>
            <p:cNvGrpSpPr/>
            <p:nvPr/>
          </p:nvGrpSpPr>
          <p:grpSpPr bwMode="auto">
            <a:xfrm>
              <a:off x="2647144" y="4839730"/>
              <a:ext cx="1061526" cy="823469"/>
              <a:chOff x="1136203" y="4520619"/>
              <a:chExt cx="1419428" cy="1013448"/>
            </a:xfrm>
          </p:grpSpPr>
          <p:grpSp>
            <p:nvGrpSpPr>
              <p:cNvPr id="249" name="Group 950"/>
              <p:cNvGrpSpPr/>
              <p:nvPr/>
            </p:nvGrpSpPr>
            <p:grpSpPr bwMode="auto">
              <a:xfrm>
                <a:off x="2039815" y="4520619"/>
                <a:ext cx="515816" cy="969179"/>
                <a:chOff x="4140" y="429"/>
                <a:chExt cx="1425" cy="2396"/>
              </a:xfrm>
            </p:grpSpPr>
            <p:sp>
              <p:nvSpPr>
                <p:cNvPr id="253"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54"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55"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56"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57"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258" name="Group 956"/>
                <p:cNvGrpSpPr/>
                <p:nvPr/>
              </p:nvGrpSpPr>
              <p:grpSpPr bwMode="auto">
                <a:xfrm>
                  <a:off x="4749" y="668"/>
                  <a:ext cx="581" cy="145"/>
                  <a:chOff x="614" y="2568"/>
                  <a:chExt cx="725" cy="139"/>
                </a:xfrm>
              </p:grpSpPr>
              <p:sp>
                <p:nvSpPr>
                  <p:cNvPr id="283"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84"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59"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260" name="Group 960"/>
                <p:cNvGrpSpPr/>
                <p:nvPr/>
              </p:nvGrpSpPr>
              <p:grpSpPr bwMode="auto">
                <a:xfrm>
                  <a:off x="4747" y="994"/>
                  <a:ext cx="581" cy="134"/>
                  <a:chOff x="614" y="2568"/>
                  <a:chExt cx="725" cy="139"/>
                </a:xfrm>
              </p:grpSpPr>
              <p:sp>
                <p:nvSpPr>
                  <p:cNvPr id="281"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82"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61"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62"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263" name="Group 965"/>
                <p:cNvGrpSpPr/>
                <p:nvPr/>
              </p:nvGrpSpPr>
              <p:grpSpPr bwMode="auto">
                <a:xfrm>
                  <a:off x="4735" y="1627"/>
                  <a:ext cx="582" cy="151"/>
                  <a:chOff x="614" y="2568"/>
                  <a:chExt cx="725" cy="139"/>
                </a:xfrm>
              </p:grpSpPr>
              <p:sp>
                <p:nvSpPr>
                  <p:cNvPr id="279"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80"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64"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265" name="Group 969"/>
                <p:cNvGrpSpPr/>
                <p:nvPr/>
              </p:nvGrpSpPr>
              <p:grpSpPr bwMode="auto">
                <a:xfrm>
                  <a:off x="4739" y="1327"/>
                  <a:ext cx="582" cy="139"/>
                  <a:chOff x="614" y="2568"/>
                  <a:chExt cx="725" cy="139"/>
                </a:xfrm>
              </p:grpSpPr>
              <p:sp>
                <p:nvSpPr>
                  <p:cNvPr id="277"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78"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66"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67"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68"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69"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70"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71"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72"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73"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74"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275"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76"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250" name="Group 590"/>
              <p:cNvGrpSpPr/>
              <p:nvPr/>
            </p:nvGrpSpPr>
            <p:grpSpPr bwMode="auto">
              <a:xfrm flipH="1">
                <a:off x="1136203" y="4624876"/>
                <a:ext cx="948819" cy="909191"/>
                <a:chOff x="2839" y="3501"/>
                <a:chExt cx="755" cy="803"/>
              </a:xfrm>
            </p:grpSpPr>
            <p:pic>
              <p:nvPicPr>
                <p:cNvPr id="251"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252"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grpSp>
          <p:nvGrpSpPr>
            <p:cNvPr id="193" name="Group 192"/>
            <p:cNvGrpSpPr/>
            <p:nvPr/>
          </p:nvGrpSpPr>
          <p:grpSpPr bwMode="auto">
            <a:xfrm>
              <a:off x="4351760" y="4831496"/>
              <a:ext cx="1061526" cy="831703"/>
              <a:chOff x="1136203" y="4520619"/>
              <a:chExt cx="1419428" cy="1013448"/>
            </a:xfrm>
          </p:grpSpPr>
          <p:grpSp>
            <p:nvGrpSpPr>
              <p:cNvPr id="213" name="Group 950"/>
              <p:cNvGrpSpPr/>
              <p:nvPr/>
            </p:nvGrpSpPr>
            <p:grpSpPr bwMode="auto">
              <a:xfrm>
                <a:off x="2039815" y="4520619"/>
                <a:ext cx="515816" cy="969179"/>
                <a:chOff x="4140" y="429"/>
                <a:chExt cx="1425" cy="2396"/>
              </a:xfrm>
            </p:grpSpPr>
            <p:sp>
              <p:nvSpPr>
                <p:cNvPr id="217"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18"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19"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20"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21"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222" name="Group 956"/>
                <p:cNvGrpSpPr/>
                <p:nvPr/>
              </p:nvGrpSpPr>
              <p:grpSpPr bwMode="auto">
                <a:xfrm>
                  <a:off x="4749" y="668"/>
                  <a:ext cx="581" cy="145"/>
                  <a:chOff x="614" y="2568"/>
                  <a:chExt cx="725" cy="139"/>
                </a:xfrm>
              </p:grpSpPr>
              <p:sp>
                <p:nvSpPr>
                  <p:cNvPr id="247"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48"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23"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224" name="Group 960"/>
                <p:cNvGrpSpPr/>
                <p:nvPr/>
              </p:nvGrpSpPr>
              <p:grpSpPr bwMode="auto">
                <a:xfrm>
                  <a:off x="4747" y="994"/>
                  <a:ext cx="581" cy="134"/>
                  <a:chOff x="614" y="2568"/>
                  <a:chExt cx="725" cy="139"/>
                </a:xfrm>
              </p:grpSpPr>
              <p:sp>
                <p:nvSpPr>
                  <p:cNvPr id="245"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46"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25"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26"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227" name="Group 965"/>
                <p:cNvGrpSpPr/>
                <p:nvPr/>
              </p:nvGrpSpPr>
              <p:grpSpPr bwMode="auto">
                <a:xfrm>
                  <a:off x="4735" y="1627"/>
                  <a:ext cx="582" cy="151"/>
                  <a:chOff x="614" y="2568"/>
                  <a:chExt cx="725" cy="139"/>
                </a:xfrm>
              </p:grpSpPr>
              <p:sp>
                <p:nvSpPr>
                  <p:cNvPr id="243"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44"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28"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229" name="Group 969"/>
                <p:cNvGrpSpPr/>
                <p:nvPr/>
              </p:nvGrpSpPr>
              <p:grpSpPr bwMode="auto">
                <a:xfrm>
                  <a:off x="4739" y="1327"/>
                  <a:ext cx="582" cy="139"/>
                  <a:chOff x="614" y="2568"/>
                  <a:chExt cx="725" cy="139"/>
                </a:xfrm>
              </p:grpSpPr>
              <p:sp>
                <p:nvSpPr>
                  <p:cNvPr id="241"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42"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30"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31"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32"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33"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34"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35"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36"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37"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38"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239"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40"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214" name="Group 590"/>
              <p:cNvGrpSpPr/>
              <p:nvPr/>
            </p:nvGrpSpPr>
            <p:grpSpPr bwMode="auto">
              <a:xfrm flipH="1">
                <a:off x="1136203" y="4624876"/>
                <a:ext cx="948819" cy="909191"/>
                <a:chOff x="2839" y="3501"/>
                <a:chExt cx="755" cy="803"/>
              </a:xfrm>
            </p:grpSpPr>
            <p:pic>
              <p:nvPicPr>
                <p:cNvPr id="215"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216"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cxnSp>
          <p:nvCxnSpPr>
            <p:cNvPr id="194" name="Straight Connector 193"/>
            <p:cNvCxnSpPr>
              <a:cxnSpLocks/>
              <a:stCxn id="254" idx="0"/>
              <a:endCxn id="206" idx="1"/>
            </p:cNvCxnSpPr>
            <p:nvPr/>
          </p:nvCxnSpPr>
          <p:spPr bwMode="auto">
            <a:xfrm flipV="1">
              <a:off x="3483443" y="3924349"/>
              <a:ext cx="374980" cy="915381"/>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195" name="Straight Connector 194"/>
            <p:cNvCxnSpPr>
              <a:cxnSpLocks/>
              <a:stCxn id="218" idx="0"/>
              <a:endCxn id="206" idx="3"/>
            </p:cNvCxnSpPr>
            <p:nvPr/>
          </p:nvCxnSpPr>
          <p:spPr bwMode="auto">
            <a:xfrm flipH="1" flipV="1">
              <a:off x="4723453" y="3924349"/>
              <a:ext cx="464605" cy="907147"/>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grpSp>
          <p:nvGrpSpPr>
            <p:cNvPr id="196" name="Group 195"/>
            <p:cNvGrpSpPr/>
            <p:nvPr/>
          </p:nvGrpSpPr>
          <p:grpSpPr bwMode="auto">
            <a:xfrm>
              <a:off x="3858423" y="3290348"/>
              <a:ext cx="868153" cy="794009"/>
              <a:chOff x="3668110" y="2448910"/>
              <a:chExt cx="3794234" cy="2165130"/>
            </a:xfrm>
          </p:grpSpPr>
          <p:sp>
            <p:nvSpPr>
              <p:cNvPr id="206" name="Rectangle 205"/>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07"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nvGrpSpPr>
              <p:cNvPr id="208" name="Group 207"/>
              <p:cNvGrpSpPr/>
              <p:nvPr/>
            </p:nvGrpSpPr>
            <p:grpSpPr bwMode="auto">
              <a:xfrm>
                <a:off x="3941378" y="2603243"/>
                <a:ext cx="3202060" cy="1066110"/>
                <a:chOff x="7939341" y="3037317"/>
                <a:chExt cx="897649" cy="353919"/>
              </a:xfrm>
            </p:grpSpPr>
            <p:sp>
              <p:nvSpPr>
                <p:cNvPr id="209"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10"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11"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12"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grpSp>
        <p:sp>
          <p:nvSpPr>
            <p:cNvPr id="197" name="Rectangle 196"/>
            <p:cNvSpPr/>
            <p:nvPr/>
          </p:nvSpPr>
          <p:spPr bwMode="auto">
            <a:xfrm>
              <a:off x="2266419" y="3805425"/>
              <a:ext cx="1569017" cy="384427"/>
            </a:xfrm>
            <a:prstGeom prst="rect">
              <a:avLst/>
            </a:prstGeom>
            <a:grpFill/>
          </p:spPr>
          <p:txBody>
            <a:bodyPr wrap="none">
              <a:spAutoFit/>
            </a:bodyPr>
            <a:lstStyle/>
            <a:p>
              <a:pPr>
                <a:defRPr/>
              </a:pPr>
              <a:r>
                <a:rPr lang="en-US" sz="1600">
                  <a:ea typeface="宋体"/>
                  <a:cs typeface="Courier New"/>
                </a:rPr>
                <a:t>Ethernet1/0/3</a:t>
              </a:r>
              <a:endParaRPr lang="en-US" sz="1600"/>
            </a:p>
          </p:txBody>
        </p:sp>
        <p:sp>
          <p:nvSpPr>
            <p:cNvPr id="198" name="Rectangle 197"/>
            <p:cNvSpPr/>
            <p:nvPr/>
          </p:nvSpPr>
          <p:spPr bwMode="auto">
            <a:xfrm>
              <a:off x="4759614" y="3799079"/>
              <a:ext cx="1569017" cy="384427"/>
            </a:xfrm>
            <a:prstGeom prst="rect">
              <a:avLst/>
            </a:prstGeom>
            <a:grpFill/>
          </p:spPr>
          <p:txBody>
            <a:bodyPr wrap="none">
              <a:spAutoFit/>
            </a:bodyPr>
            <a:lstStyle/>
            <a:p>
              <a:pPr>
                <a:defRPr/>
              </a:pPr>
              <a:r>
                <a:rPr lang="en-US" sz="1600">
                  <a:ea typeface="宋体"/>
                  <a:cs typeface="Courier New"/>
                </a:rPr>
                <a:t>Ethernet1/0/4</a:t>
              </a:r>
              <a:endParaRPr lang="en-US" sz="1600"/>
            </a:p>
          </p:txBody>
        </p:sp>
        <p:sp>
          <p:nvSpPr>
            <p:cNvPr id="202" name="Rectangle 201"/>
            <p:cNvSpPr/>
            <p:nvPr/>
          </p:nvSpPr>
          <p:spPr bwMode="auto">
            <a:xfrm>
              <a:off x="3246536" y="5657521"/>
              <a:ext cx="548245" cy="384427"/>
            </a:xfrm>
            <a:prstGeom prst="rect">
              <a:avLst/>
            </a:prstGeom>
            <a:grpFill/>
          </p:spPr>
          <p:txBody>
            <a:bodyPr wrap="none">
              <a:spAutoFit/>
            </a:bodyPr>
            <a:lstStyle/>
            <a:p>
              <a:pPr>
                <a:defRPr/>
              </a:pPr>
              <a:r>
                <a:rPr lang="en-US" sz="1600">
                  <a:ea typeface="宋体"/>
                  <a:cs typeface="Courier New"/>
                </a:rPr>
                <a:t>pc1</a:t>
              </a:r>
              <a:endParaRPr lang="en-US" sz="1600"/>
            </a:p>
          </p:txBody>
        </p:sp>
        <p:sp>
          <p:nvSpPr>
            <p:cNvPr id="203" name="Rectangle 202"/>
            <p:cNvSpPr/>
            <p:nvPr/>
          </p:nvSpPr>
          <p:spPr bwMode="auto">
            <a:xfrm>
              <a:off x="5025651" y="5672448"/>
              <a:ext cx="548245" cy="384427"/>
            </a:xfrm>
            <a:prstGeom prst="rect">
              <a:avLst/>
            </a:prstGeom>
            <a:grpFill/>
          </p:spPr>
          <p:txBody>
            <a:bodyPr wrap="none">
              <a:spAutoFit/>
            </a:bodyPr>
            <a:lstStyle/>
            <a:p>
              <a:pPr>
                <a:defRPr/>
              </a:pPr>
              <a:r>
                <a:rPr lang="en-US" sz="1600">
                  <a:ea typeface="宋体"/>
                  <a:cs typeface="Courier New"/>
                </a:rPr>
                <a:t>pc2</a:t>
              </a:r>
              <a:endParaRPr lang="en-US" sz="1600"/>
            </a:p>
          </p:txBody>
        </p:sp>
        <p:sp>
          <p:nvSpPr>
            <p:cNvPr id="204" name="Rectangle 203"/>
            <p:cNvSpPr/>
            <p:nvPr/>
          </p:nvSpPr>
          <p:spPr bwMode="auto">
            <a:xfrm>
              <a:off x="2743192" y="5897722"/>
              <a:ext cx="1775063" cy="384427"/>
            </a:xfrm>
            <a:prstGeom prst="rect">
              <a:avLst/>
            </a:prstGeom>
            <a:grpFill/>
          </p:spPr>
          <p:txBody>
            <a:bodyPr wrap="none">
              <a:spAutoFit/>
            </a:bodyPr>
            <a:lstStyle/>
            <a:p>
              <a:pPr>
                <a:defRPr/>
              </a:pPr>
              <a:r>
                <a:rPr lang="en-US" sz="1600"/>
                <a:t>192.168.1.11/24</a:t>
              </a:r>
            </a:p>
          </p:txBody>
        </p:sp>
        <p:sp>
          <p:nvSpPr>
            <p:cNvPr id="205" name="Rectangle 204"/>
            <p:cNvSpPr/>
            <p:nvPr/>
          </p:nvSpPr>
          <p:spPr bwMode="auto">
            <a:xfrm>
              <a:off x="4522308" y="5892181"/>
              <a:ext cx="1775063" cy="384427"/>
            </a:xfrm>
            <a:prstGeom prst="rect">
              <a:avLst/>
            </a:prstGeom>
            <a:grpFill/>
          </p:spPr>
          <p:txBody>
            <a:bodyPr wrap="none">
              <a:spAutoFit/>
            </a:bodyPr>
            <a:lstStyle/>
            <a:p>
              <a:pPr>
                <a:defRPr/>
              </a:pPr>
              <a:r>
                <a:rPr lang="en-US" sz="1600"/>
                <a:t>192.168.1.12/24</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4. </a:t>
            </a:r>
            <a:r>
              <a:rPr lang="zh-CN"/>
              <a:t>配置四节点网络</a:t>
            </a:r>
            <a:r>
              <a:rPr lang="en-US"/>
              <a:t> VLAN</a:t>
            </a:r>
          </a:p>
        </p:txBody>
      </p:sp>
      <p:sp>
        <p:nvSpPr>
          <p:cNvPr id="199" name="Content Placeholder 198"/>
          <p:cNvSpPr>
            <a:spLocks noGrp="1"/>
          </p:cNvSpPr>
          <p:nvPr>
            <p:ph idx="1"/>
          </p:nvPr>
        </p:nvSpPr>
        <p:spPr bwMode="auto"/>
        <p:txBody>
          <a:bodyPr/>
          <a:lstStyle/>
          <a:p>
            <a:pPr marL="447675" lvl="1" indent="-358775">
              <a:buFont typeface="+mj-lt"/>
              <a:buAutoNum type="arabicParenR"/>
              <a:defRPr/>
            </a:pPr>
            <a:r>
              <a:rPr lang="zh-CN"/>
              <a:t>刚才我们已经搭建了一个两节点的网络（如左图），现在我们用另外一个交换机和另外两台主机再搭建一个两节点的网络（如右图）。</a:t>
            </a:r>
            <a:endParaRPr lang="en-US"/>
          </a:p>
        </p:txBody>
      </p:sp>
      <p:sp>
        <p:nvSpPr>
          <p:cNvPr id="388" name="Date Placeholder 387"/>
          <p:cNvSpPr>
            <a:spLocks noGrp="1"/>
          </p:cNvSpPr>
          <p:nvPr>
            <p:ph type="dt" sz="half" idx="10"/>
          </p:nvPr>
        </p:nvSpPr>
        <p:spPr bwMode="auto"/>
        <p:txBody>
          <a:bodyPr/>
          <a:lstStyle/>
          <a:p>
            <a:pPr>
              <a:defRPr/>
            </a:pPr>
            <a:r>
              <a:rPr lang="en-US"/>
              <a:t>3/1/2020</a:t>
            </a:r>
            <a:endParaRPr/>
          </a:p>
        </p:txBody>
      </p:sp>
      <p:sp>
        <p:nvSpPr>
          <p:cNvPr id="389" name="Footer Placeholder 388"/>
          <p:cNvSpPr>
            <a:spLocks noGrp="1"/>
          </p:cNvSpPr>
          <p:nvPr>
            <p:ph type="ftr" sz="quarter" idx="11"/>
          </p:nvPr>
        </p:nvSpPr>
        <p:spPr bwMode="auto"/>
        <p:txBody>
          <a:bodyPr/>
          <a:lstStyle/>
          <a:p>
            <a:pPr>
              <a:defRPr/>
            </a:pPr>
            <a:r>
              <a:rPr lang="zh-CN"/>
              <a:t>计算机网络实验</a:t>
            </a:r>
            <a:endParaRPr lang="en-US"/>
          </a:p>
        </p:txBody>
      </p:sp>
      <p:sp>
        <p:nvSpPr>
          <p:cNvPr id="390" name="Slide Number Placeholder 389"/>
          <p:cNvSpPr>
            <a:spLocks noGrp="1"/>
          </p:cNvSpPr>
          <p:nvPr>
            <p:ph type="sldNum" sz="quarter" idx="12"/>
          </p:nvPr>
        </p:nvSpPr>
        <p:spPr bwMode="auto"/>
        <p:txBody>
          <a:bodyPr/>
          <a:lstStyle/>
          <a:p>
            <a:pPr>
              <a:defRPr/>
            </a:pPr>
            <a:fld id="{0ECDF2DC-913F-4A16-9C18-8900B299D998}" type="slidenum">
              <a:rPr lang="en-US"/>
              <a:t>30</a:t>
            </a:fld>
            <a:endParaRPr lang="en-US"/>
          </a:p>
        </p:txBody>
      </p:sp>
      <p:sp>
        <p:nvSpPr>
          <p:cNvPr id="200" name="Rectangle 199"/>
          <p:cNvSpPr/>
          <p:nvPr/>
        </p:nvSpPr>
        <p:spPr bwMode="auto">
          <a:xfrm>
            <a:off x="708072" y="2880000"/>
            <a:ext cx="3646127" cy="3185779"/>
          </a:xfrm>
          <a:prstGeom prst="rect">
            <a:avLst/>
          </a:prstGeom>
          <a:noFill/>
          <a:ln w="9525" cap="flat" cmpd="sng" algn="ctr">
            <a:solidFill>
              <a:schemeClr val="accent2"/>
            </a:solidFill>
            <a:prstDash val="solid"/>
            <a:round/>
            <a:headEnd type="none" w="med" len="med"/>
            <a:tailEnd type="none" w="med" len="med"/>
          </a:ln>
        </p:spPr>
        <p:style>
          <a:lnRef idx="0">
            <a:srgbClr val="000000"/>
          </a:lnRef>
          <a:fillRef idx="0">
            <a:srgbClr val="000000"/>
          </a:fillRef>
          <a:effectRef idx="0">
            <a:srgbClr val="000000"/>
          </a:effectRef>
          <a:fontRef idx="minor">
            <a:schemeClr val="accent2"/>
          </a:fontRef>
        </p:style>
        <p:txBody>
          <a:bodyPr rtlCol="0" anchor="ctr"/>
          <a:lstStyle/>
          <a:p>
            <a:pPr algn="ctr">
              <a:defRPr/>
            </a:pPr>
            <a:endParaRPr lang="en-US"/>
          </a:p>
        </p:txBody>
      </p:sp>
      <p:sp>
        <p:nvSpPr>
          <p:cNvPr id="201" name="Rectangle 200"/>
          <p:cNvSpPr/>
          <p:nvPr/>
        </p:nvSpPr>
        <p:spPr bwMode="auto">
          <a:xfrm>
            <a:off x="4472417" y="2880000"/>
            <a:ext cx="3646127" cy="3185779"/>
          </a:xfrm>
          <a:prstGeom prst="rect">
            <a:avLst/>
          </a:prstGeom>
          <a:noFill/>
          <a:ln w="9525" cap="flat" cmpd="sng" algn="ctr">
            <a:solidFill>
              <a:schemeClr val="accent2"/>
            </a:solidFill>
            <a:prstDash val="solid"/>
            <a:round/>
            <a:headEnd type="none" w="med" len="med"/>
            <a:tailEnd type="none" w="med" len="med"/>
          </a:ln>
        </p:spPr>
        <p:style>
          <a:lnRef idx="0">
            <a:srgbClr val="000000"/>
          </a:lnRef>
          <a:fillRef idx="0">
            <a:srgbClr val="000000"/>
          </a:fillRef>
          <a:effectRef idx="0">
            <a:srgbClr val="000000"/>
          </a:effectRef>
          <a:fontRef idx="minor">
            <a:schemeClr val="accent2"/>
          </a:fontRef>
        </p:style>
        <p:txBody>
          <a:bodyPr rtlCol="0" anchor="ctr"/>
          <a:lstStyle/>
          <a:p>
            <a:pPr algn="ctr">
              <a:defRPr/>
            </a:pPr>
            <a:endParaRPr lang="en-US"/>
          </a:p>
        </p:txBody>
      </p:sp>
      <p:grpSp>
        <p:nvGrpSpPr>
          <p:cNvPr id="204" name="Group 203"/>
          <p:cNvGrpSpPr>
            <a:grpSpLocks noChangeAspect="1"/>
          </p:cNvGrpSpPr>
          <p:nvPr/>
        </p:nvGrpSpPr>
        <p:grpSpPr bwMode="auto">
          <a:xfrm>
            <a:off x="708343" y="3375815"/>
            <a:ext cx="3577476" cy="2634796"/>
            <a:chOff x="2266419" y="3290348"/>
            <a:chExt cx="4062212" cy="2991802"/>
          </a:xfrm>
        </p:grpSpPr>
        <p:grpSp>
          <p:nvGrpSpPr>
            <p:cNvPr id="298" name="Group 297"/>
            <p:cNvGrpSpPr/>
            <p:nvPr/>
          </p:nvGrpSpPr>
          <p:grpSpPr bwMode="auto">
            <a:xfrm>
              <a:off x="2647144" y="4839730"/>
              <a:ext cx="1061526" cy="823469"/>
              <a:chOff x="1136203" y="4520619"/>
              <a:chExt cx="1419428" cy="1013448"/>
            </a:xfrm>
          </p:grpSpPr>
          <p:grpSp>
            <p:nvGrpSpPr>
              <p:cNvPr id="352" name="Group 950"/>
              <p:cNvGrpSpPr/>
              <p:nvPr/>
            </p:nvGrpSpPr>
            <p:grpSpPr bwMode="auto">
              <a:xfrm>
                <a:off x="2039815" y="4520619"/>
                <a:ext cx="515816" cy="969179"/>
                <a:chOff x="4140" y="429"/>
                <a:chExt cx="1425" cy="2396"/>
              </a:xfrm>
            </p:grpSpPr>
            <p:sp>
              <p:nvSpPr>
                <p:cNvPr id="356"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57"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58"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59"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60"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61" name="Group 956"/>
                <p:cNvGrpSpPr/>
                <p:nvPr/>
              </p:nvGrpSpPr>
              <p:grpSpPr bwMode="auto">
                <a:xfrm>
                  <a:off x="4749" y="668"/>
                  <a:ext cx="581" cy="145"/>
                  <a:chOff x="614" y="2568"/>
                  <a:chExt cx="725" cy="139"/>
                </a:xfrm>
              </p:grpSpPr>
              <p:sp>
                <p:nvSpPr>
                  <p:cNvPr id="386"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87"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62"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63" name="Group 960"/>
                <p:cNvGrpSpPr/>
                <p:nvPr/>
              </p:nvGrpSpPr>
              <p:grpSpPr bwMode="auto">
                <a:xfrm>
                  <a:off x="4747" y="994"/>
                  <a:ext cx="581" cy="134"/>
                  <a:chOff x="614" y="2568"/>
                  <a:chExt cx="725" cy="139"/>
                </a:xfrm>
              </p:grpSpPr>
              <p:sp>
                <p:nvSpPr>
                  <p:cNvPr id="384"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85"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64"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65"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66" name="Group 965"/>
                <p:cNvGrpSpPr/>
                <p:nvPr/>
              </p:nvGrpSpPr>
              <p:grpSpPr bwMode="auto">
                <a:xfrm>
                  <a:off x="4735" y="1627"/>
                  <a:ext cx="582" cy="151"/>
                  <a:chOff x="614" y="2568"/>
                  <a:chExt cx="725" cy="139"/>
                </a:xfrm>
              </p:grpSpPr>
              <p:sp>
                <p:nvSpPr>
                  <p:cNvPr id="382"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83"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67"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368" name="Group 969"/>
                <p:cNvGrpSpPr/>
                <p:nvPr/>
              </p:nvGrpSpPr>
              <p:grpSpPr bwMode="auto">
                <a:xfrm>
                  <a:off x="4739" y="1327"/>
                  <a:ext cx="582" cy="139"/>
                  <a:chOff x="614" y="2568"/>
                  <a:chExt cx="725" cy="139"/>
                </a:xfrm>
              </p:grpSpPr>
              <p:sp>
                <p:nvSpPr>
                  <p:cNvPr id="380"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81"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69"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70"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71"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72"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73"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74"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75"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76"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77"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378"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79"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353" name="Group 590"/>
              <p:cNvGrpSpPr/>
              <p:nvPr/>
            </p:nvGrpSpPr>
            <p:grpSpPr bwMode="auto">
              <a:xfrm flipH="1">
                <a:off x="1136203" y="4624876"/>
                <a:ext cx="948819" cy="909191"/>
                <a:chOff x="2839" y="3501"/>
                <a:chExt cx="755" cy="803"/>
              </a:xfrm>
            </p:grpSpPr>
            <p:pic>
              <p:nvPicPr>
                <p:cNvPr id="354"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355"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grpSp>
          <p:nvGrpSpPr>
            <p:cNvPr id="299" name="Group 298"/>
            <p:cNvGrpSpPr/>
            <p:nvPr/>
          </p:nvGrpSpPr>
          <p:grpSpPr bwMode="auto">
            <a:xfrm>
              <a:off x="4351760" y="4831496"/>
              <a:ext cx="1061526" cy="831703"/>
              <a:chOff x="1136203" y="4520619"/>
              <a:chExt cx="1419428" cy="1013448"/>
            </a:xfrm>
          </p:grpSpPr>
          <p:grpSp>
            <p:nvGrpSpPr>
              <p:cNvPr id="316" name="Group 950"/>
              <p:cNvGrpSpPr/>
              <p:nvPr/>
            </p:nvGrpSpPr>
            <p:grpSpPr bwMode="auto">
              <a:xfrm>
                <a:off x="2039815" y="4520619"/>
                <a:ext cx="515816" cy="969179"/>
                <a:chOff x="4140" y="429"/>
                <a:chExt cx="1425" cy="2396"/>
              </a:xfrm>
            </p:grpSpPr>
            <p:sp>
              <p:nvSpPr>
                <p:cNvPr id="320"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21"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22"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23"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24"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25" name="Group 956"/>
                <p:cNvGrpSpPr/>
                <p:nvPr/>
              </p:nvGrpSpPr>
              <p:grpSpPr bwMode="auto">
                <a:xfrm>
                  <a:off x="4749" y="668"/>
                  <a:ext cx="581" cy="145"/>
                  <a:chOff x="614" y="2568"/>
                  <a:chExt cx="725" cy="139"/>
                </a:xfrm>
              </p:grpSpPr>
              <p:sp>
                <p:nvSpPr>
                  <p:cNvPr id="350"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51"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26"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27" name="Group 960"/>
                <p:cNvGrpSpPr/>
                <p:nvPr/>
              </p:nvGrpSpPr>
              <p:grpSpPr bwMode="auto">
                <a:xfrm>
                  <a:off x="4747" y="994"/>
                  <a:ext cx="581" cy="134"/>
                  <a:chOff x="614" y="2568"/>
                  <a:chExt cx="725" cy="139"/>
                </a:xfrm>
              </p:grpSpPr>
              <p:sp>
                <p:nvSpPr>
                  <p:cNvPr id="348"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49"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28"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29"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30" name="Group 965"/>
                <p:cNvGrpSpPr/>
                <p:nvPr/>
              </p:nvGrpSpPr>
              <p:grpSpPr bwMode="auto">
                <a:xfrm>
                  <a:off x="4735" y="1627"/>
                  <a:ext cx="582" cy="151"/>
                  <a:chOff x="614" y="2568"/>
                  <a:chExt cx="725" cy="139"/>
                </a:xfrm>
              </p:grpSpPr>
              <p:sp>
                <p:nvSpPr>
                  <p:cNvPr id="346"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47"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31"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332" name="Group 969"/>
                <p:cNvGrpSpPr/>
                <p:nvPr/>
              </p:nvGrpSpPr>
              <p:grpSpPr bwMode="auto">
                <a:xfrm>
                  <a:off x="4739" y="1327"/>
                  <a:ext cx="582" cy="139"/>
                  <a:chOff x="614" y="2568"/>
                  <a:chExt cx="725" cy="139"/>
                </a:xfrm>
              </p:grpSpPr>
              <p:sp>
                <p:nvSpPr>
                  <p:cNvPr id="344"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45"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33"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34"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35"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36"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37"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38"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39"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40"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41"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342"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43"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317" name="Group 590"/>
              <p:cNvGrpSpPr/>
              <p:nvPr/>
            </p:nvGrpSpPr>
            <p:grpSpPr bwMode="auto">
              <a:xfrm flipH="1">
                <a:off x="1136203" y="4624876"/>
                <a:ext cx="948819" cy="909191"/>
                <a:chOff x="2839" y="3501"/>
                <a:chExt cx="755" cy="803"/>
              </a:xfrm>
            </p:grpSpPr>
            <p:pic>
              <p:nvPicPr>
                <p:cNvPr id="318"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319"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cxnSp>
          <p:nvCxnSpPr>
            <p:cNvPr id="300" name="Straight Connector 299"/>
            <p:cNvCxnSpPr>
              <a:cxnSpLocks/>
              <a:stCxn id="357" idx="0"/>
              <a:endCxn id="309" idx="1"/>
            </p:cNvCxnSpPr>
            <p:nvPr/>
          </p:nvCxnSpPr>
          <p:spPr bwMode="auto">
            <a:xfrm flipV="1">
              <a:off x="3483443" y="3924349"/>
              <a:ext cx="374980" cy="915381"/>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301" name="Straight Connector 300"/>
            <p:cNvCxnSpPr>
              <a:cxnSpLocks/>
              <a:stCxn id="321" idx="0"/>
              <a:endCxn id="309" idx="3"/>
            </p:cNvCxnSpPr>
            <p:nvPr/>
          </p:nvCxnSpPr>
          <p:spPr bwMode="auto">
            <a:xfrm flipH="1" flipV="1">
              <a:off x="4723453" y="3924349"/>
              <a:ext cx="464605" cy="907147"/>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grpSp>
          <p:nvGrpSpPr>
            <p:cNvPr id="302" name="Group 301"/>
            <p:cNvGrpSpPr/>
            <p:nvPr/>
          </p:nvGrpSpPr>
          <p:grpSpPr bwMode="auto">
            <a:xfrm>
              <a:off x="3858423" y="3290348"/>
              <a:ext cx="868153" cy="794009"/>
              <a:chOff x="3668110" y="2448910"/>
              <a:chExt cx="3794234" cy="2165130"/>
            </a:xfrm>
          </p:grpSpPr>
          <p:sp>
            <p:nvSpPr>
              <p:cNvPr id="309" name="Rectangle 308"/>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310"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nvGrpSpPr>
              <p:cNvPr id="311" name="Group 310"/>
              <p:cNvGrpSpPr/>
              <p:nvPr/>
            </p:nvGrpSpPr>
            <p:grpSpPr bwMode="auto">
              <a:xfrm>
                <a:off x="3941378" y="2603243"/>
                <a:ext cx="3202060" cy="1066110"/>
                <a:chOff x="7939341" y="3037317"/>
                <a:chExt cx="897649" cy="353919"/>
              </a:xfrm>
            </p:grpSpPr>
            <p:sp>
              <p:nvSpPr>
                <p:cNvPr id="312"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313"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314"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315"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grpSp>
        <p:sp>
          <p:nvSpPr>
            <p:cNvPr id="303" name="Rectangle 302"/>
            <p:cNvSpPr/>
            <p:nvPr/>
          </p:nvSpPr>
          <p:spPr bwMode="auto">
            <a:xfrm>
              <a:off x="2266419" y="3805425"/>
              <a:ext cx="1569017" cy="384427"/>
            </a:xfrm>
            <a:prstGeom prst="rect">
              <a:avLst/>
            </a:prstGeom>
            <a:grpFill/>
          </p:spPr>
          <p:txBody>
            <a:bodyPr wrap="none">
              <a:spAutoFit/>
            </a:bodyPr>
            <a:lstStyle/>
            <a:p>
              <a:pPr>
                <a:defRPr/>
              </a:pPr>
              <a:r>
                <a:rPr lang="en-US" sz="1600">
                  <a:ea typeface="宋体"/>
                  <a:cs typeface="Courier New"/>
                </a:rPr>
                <a:t>Ethernet1/0/3</a:t>
              </a:r>
              <a:endParaRPr lang="en-US" sz="1600"/>
            </a:p>
          </p:txBody>
        </p:sp>
        <p:sp>
          <p:nvSpPr>
            <p:cNvPr id="304" name="Rectangle 303"/>
            <p:cNvSpPr/>
            <p:nvPr/>
          </p:nvSpPr>
          <p:spPr bwMode="auto">
            <a:xfrm>
              <a:off x="4759614" y="3799079"/>
              <a:ext cx="1569017" cy="384427"/>
            </a:xfrm>
            <a:prstGeom prst="rect">
              <a:avLst/>
            </a:prstGeom>
            <a:grpFill/>
          </p:spPr>
          <p:txBody>
            <a:bodyPr wrap="none">
              <a:spAutoFit/>
            </a:bodyPr>
            <a:lstStyle/>
            <a:p>
              <a:pPr>
                <a:defRPr/>
              </a:pPr>
              <a:r>
                <a:rPr lang="en-US" sz="1600">
                  <a:ea typeface="宋体"/>
                  <a:cs typeface="Courier New"/>
                </a:rPr>
                <a:t>Ethernet1/0/4</a:t>
              </a:r>
              <a:endParaRPr lang="en-US" sz="1600"/>
            </a:p>
          </p:txBody>
        </p:sp>
        <p:sp>
          <p:nvSpPr>
            <p:cNvPr id="305" name="Rectangle 304"/>
            <p:cNvSpPr/>
            <p:nvPr/>
          </p:nvSpPr>
          <p:spPr bwMode="auto">
            <a:xfrm>
              <a:off x="3246536" y="5657521"/>
              <a:ext cx="548245" cy="384427"/>
            </a:xfrm>
            <a:prstGeom prst="rect">
              <a:avLst/>
            </a:prstGeom>
            <a:grpFill/>
          </p:spPr>
          <p:txBody>
            <a:bodyPr wrap="none">
              <a:spAutoFit/>
            </a:bodyPr>
            <a:lstStyle/>
            <a:p>
              <a:pPr>
                <a:defRPr/>
              </a:pPr>
              <a:r>
                <a:rPr lang="en-US" sz="1600">
                  <a:ea typeface="宋体"/>
                  <a:cs typeface="Courier New"/>
                </a:rPr>
                <a:t>pc1</a:t>
              </a:r>
              <a:endParaRPr lang="en-US" sz="1600"/>
            </a:p>
          </p:txBody>
        </p:sp>
        <p:sp>
          <p:nvSpPr>
            <p:cNvPr id="306" name="Rectangle 305"/>
            <p:cNvSpPr/>
            <p:nvPr/>
          </p:nvSpPr>
          <p:spPr bwMode="auto">
            <a:xfrm>
              <a:off x="5025651" y="5672448"/>
              <a:ext cx="548245" cy="384427"/>
            </a:xfrm>
            <a:prstGeom prst="rect">
              <a:avLst/>
            </a:prstGeom>
            <a:grpFill/>
          </p:spPr>
          <p:txBody>
            <a:bodyPr wrap="none">
              <a:spAutoFit/>
            </a:bodyPr>
            <a:lstStyle/>
            <a:p>
              <a:pPr>
                <a:defRPr/>
              </a:pPr>
              <a:r>
                <a:rPr lang="en-US" sz="1600">
                  <a:ea typeface="宋体"/>
                  <a:cs typeface="Courier New"/>
                </a:rPr>
                <a:t>pc2</a:t>
              </a:r>
              <a:endParaRPr lang="en-US" sz="1600"/>
            </a:p>
          </p:txBody>
        </p:sp>
        <p:sp>
          <p:nvSpPr>
            <p:cNvPr id="307" name="Rectangle 306"/>
            <p:cNvSpPr/>
            <p:nvPr/>
          </p:nvSpPr>
          <p:spPr bwMode="auto">
            <a:xfrm>
              <a:off x="2743192" y="5897722"/>
              <a:ext cx="1775063" cy="384427"/>
            </a:xfrm>
            <a:prstGeom prst="rect">
              <a:avLst/>
            </a:prstGeom>
            <a:grpFill/>
          </p:spPr>
          <p:txBody>
            <a:bodyPr wrap="none">
              <a:spAutoFit/>
            </a:bodyPr>
            <a:lstStyle/>
            <a:p>
              <a:pPr>
                <a:defRPr/>
              </a:pPr>
              <a:r>
                <a:rPr lang="en-US" sz="1600"/>
                <a:t>192.168.1.11/24</a:t>
              </a:r>
            </a:p>
          </p:txBody>
        </p:sp>
        <p:sp>
          <p:nvSpPr>
            <p:cNvPr id="308" name="Rectangle 307"/>
            <p:cNvSpPr/>
            <p:nvPr/>
          </p:nvSpPr>
          <p:spPr bwMode="auto">
            <a:xfrm>
              <a:off x="4522308" y="5892181"/>
              <a:ext cx="1775063" cy="384427"/>
            </a:xfrm>
            <a:prstGeom prst="rect">
              <a:avLst/>
            </a:prstGeom>
            <a:grpFill/>
          </p:spPr>
          <p:txBody>
            <a:bodyPr wrap="none">
              <a:spAutoFit/>
            </a:bodyPr>
            <a:lstStyle/>
            <a:p>
              <a:pPr>
                <a:defRPr/>
              </a:pPr>
              <a:r>
                <a:rPr lang="en-US" sz="1600"/>
                <a:t>192.168.1.12/24</a:t>
              </a:r>
            </a:p>
          </p:txBody>
        </p:sp>
      </p:grpSp>
      <p:grpSp>
        <p:nvGrpSpPr>
          <p:cNvPr id="205" name="Group 204"/>
          <p:cNvGrpSpPr>
            <a:grpSpLocks noChangeAspect="1"/>
          </p:cNvGrpSpPr>
          <p:nvPr/>
        </p:nvGrpSpPr>
        <p:grpSpPr bwMode="auto">
          <a:xfrm>
            <a:off x="4471812" y="3375815"/>
            <a:ext cx="3704159" cy="2634796"/>
            <a:chOff x="2263265" y="3290348"/>
            <a:chExt cx="4206060" cy="2991802"/>
          </a:xfrm>
        </p:grpSpPr>
        <p:grpSp>
          <p:nvGrpSpPr>
            <p:cNvPr id="208" name="Group 207"/>
            <p:cNvGrpSpPr/>
            <p:nvPr/>
          </p:nvGrpSpPr>
          <p:grpSpPr bwMode="auto">
            <a:xfrm>
              <a:off x="2647144" y="4839730"/>
              <a:ext cx="1061526" cy="823469"/>
              <a:chOff x="1136203" y="4520619"/>
              <a:chExt cx="1419428" cy="1013448"/>
            </a:xfrm>
          </p:grpSpPr>
          <p:grpSp>
            <p:nvGrpSpPr>
              <p:cNvPr id="262" name="Group 950"/>
              <p:cNvGrpSpPr/>
              <p:nvPr/>
            </p:nvGrpSpPr>
            <p:grpSpPr bwMode="auto">
              <a:xfrm>
                <a:off x="2039815" y="4520619"/>
                <a:ext cx="515816" cy="969179"/>
                <a:chOff x="4140" y="429"/>
                <a:chExt cx="1425" cy="2396"/>
              </a:xfrm>
            </p:grpSpPr>
            <p:sp>
              <p:nvSpPr>
                <p:cNvPr id="266"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67"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68"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69"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70"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271" name="Group 956"/>
                <p:cNvGrpSpPr/>
                <p:nvPr/>
              </p:nvGrpSpPr>
              <p:grpSpPr bwMode="auto">
                <a:xfrm>
                  <a:off x="4749" y="668"/>
                  <a:ext cx="581" cy="145"/>
                  <a:chOff x="614" y="2568"/>
                  <a:chExt cx="725" cy="139"/>
                </a:xfrm>
              </p:grpSpPr>
              <p:sp>
                <p:nvSpPr>
                  <p:cNvPr id="296"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97"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72"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273" name="Group 960"/>
                <p:cNvGrpSpPr/>
                <p:nvPr/>
              </p:nvGrpSpPr>
              <p:grpSpPr bwMode="auto">
                <a:xfrm>
                  <a:off x="4747" y="994"/>
                  <a:ext cx="581" cy="134"/>
                  <a:chOff x="614" y="2568"/>
                  <a:chExt cx="725" cy="139"/>
                </a:xfrm>
              </p:grpSpPr>
              <p:sp>
                <p:nvSpPr>
                  <p:cNvPr id="294"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95"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74"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75"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276" name="Group 965"/>
                <p:cNvGrpSpPr/>
                <p:nvPr/>
              </p:nvGrpSpPr>
              <p:grpSpPr bwMode="auto">
                <a:xfrm>
                  <a:off x="4735" y="1627"/>
                  <a:ext cx="582" cy="151"/>
                  <a:chOff x="614" y="2568"/>
                  <a:chExt cx="725" cy="139"/>
                </a:xfrm>
              </p:grpSpPr>
              <p:sp>
                <p:nvSpPr>
                  <p:cNvPr id="292"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93"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77"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278" name="Group 969"/>
                <p:cNvGrpSpPr/>
                <p:nvPr/>
              </p:nvGrpSpPr>
              <p:grpSpPr bwMode="auto">
                <a:xfrm>
                  <a:off x="4739" y="1327"/>
                  <a:ext cx="582" cy="139"/>
                  <a:chOff x="614" y="2568"/>
                  <a:chExt cx="725" cy="139"/>
                </a:xfrm>
              </p:grpSpPr>
              <p:sp>
                <p:nvSpPr>
                  <p:cNvPr id="290"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91"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79"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80"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81"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82"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83"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84"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85"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86"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87"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288"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89"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263" name="Group 590"/>
              <p:cNvGrpSpPr/>
              <p:nvPr/>
            </p:nvGrpSpPr>
            <p:grpSpPr bwMode="auto">
              <a:xfrm flipH="1">
                <a:off x="1136203" y="4624876"/>
                <a:ext cx="948819" cy="909191"/>
                <a:chOff x="2839" y="3501"/>
                <a:chExt cx="755" cy="803"/>
              </a:xfrm>
            </p:grpSpPr>
            <p:pic>
              <p:nvPicPr>
                <p:cNvPr id="264"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265"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grpSp>
          <p:nvGrpSpPr>
            <p:cNvPr id="209" name="Group 208"/>
            <p:cNvGrpSpPr/>
            <p:nvPr/>
          </p:nvGrpSpPr>
          <p:grpSpPr bwMode="auto">
            <a:xfrm>
              <a:off x="4351760" y="4831496"/>
              <a:ext cx="1061526" cy="831703"/>
              <a:chOff x="1136203" y="4520619"/>
              <a:chExt cx="1419428" cy="1013448"/>
            </a:xfrm>
          </p:grpSpPr>
          <p:grpSp>
            <p:nvGrpSpPr>
              <p:cNvPr id="226" name="Group 950"/>
              <p:cNvGrpSpPr/>
              <p:nvPr/>
            </p:nvGrpSpPr>
            <p:grpSpPr bwMode="auto">
              <a:xfrm>
                <a:off x="2039815" y="4520619"/>
                <a:ext cx="515816" cy="969179"/>
                <a:chOff x="4140" y="429"/>
                <a:chExt cx="1425" cy="2396"/>
              </a:xfrm>
            </p:grpSpPr>
            <p:sp>
              <p:nvSpPr>
                <p:cNvPr id="230"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31"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32"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33"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34"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235" name="Group 956"/>
                <p:cNvGrpSpPr/>
                <p:nvPr/>
              </p:nvGrpSpPr>
              <p:grpSpPr bwMode="auto">
                <a:xfrm>
                  <a:off x="4749" y="668"/>
                  <a:ext cx="581" cy="145"/>
                  <a:chOff x="614" y="2568"/>
                  <a:chExt cx="725" cy="139"/>
                </a:xfrm>
              </p:grpSpPr>
              <p:sp>
                <p:nvSpPr>
                  <p:cNvPr id="260"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61"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36"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237" name="Group 960"/>
                <p:cNvGrpSpPr/>
                <p:nvPr/>
              </p:nvGrpSpPr>
              <p:grpSpPr bwMode="auto">
                <a:xfrm>
                  <a:off x="4747" y="994"/>
                  <a:ext cx="581" cy="134"/>
                  <a:chOff x="614" y="2568"/>
                  <a:chExt cx="725" cy="139"/>
                </a:xfrm>
              </p:grpSpPr>
              <p:sp>
                <p:nvSpPr>
                  <p:cNvPr id="258"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59"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38"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39"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240" name="Group 965"/>
                <p:cNvGrpSpPr/>
                <p:nvPr/>
              </p:nvGrpSpPr>
              <p:grpSpPr bwMode="auto">
                <a:xfrm>
                  <a:off x="4735" y="1627"/>
                  <a:ext cx="582" cy="151"/>
                  <a:chOff x="614" y="2568"/>
                  <a:chExt cx="725" cy="139"/>
                </a:xfrm>
              </p:grpSpPr>
              <p:sp>
                <p:nvSpPr>
                  <p:cNvPr id="256"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57"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41"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242" name="Group 969"/>
                <p:cNvGrpSpPr/>
                <p:nvPr/>
              </p:nvGrpSpPr>
              <p:grpSpPr bwMode="auto">
                <a:xfrm>
                  <a:off x="4739" y="1327"/>
                  <a:ext cx="582" cy="139"/>
                  <a:chOff x="614" y="2568"/>
                  <a:chExt cx="725" cy="139"/>
                </a:xfrm>
              </p:grpSpPr>
              <p:sp>
                <p:nvSpPr>
                  <p:cNvPr id="254"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55"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43"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44"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45"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46"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47"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48"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49"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50"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51"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252"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53"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227" name="Group 590"/>
              <p:cNvGrpSpPr/>
              <p:nvPr/>
            </p:nvGrpSpPr>
            <p:grpSpPr bwMode="auto">
              <a:xfrm flipH="1">
                <a:off x="1136203" y="4624876"/>
                <a:ext cx="948819" cy="909191"/>
                <a:chOff x="2839" y="3501"/>
                <a:chExt cx="755" cy="803"/>
              </a:xfrm>
            </p:grpSpPr>
            <p:pic>
              <p:nvPicPr>
                <p:cNvPr id="228"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229"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cxnSp>
          <p:nvCxnSpPr>
            <p:cNvPr id="210" name="Straight Connector 209"/>
            <p:cNvCxnSpPr>
              <a:cxnSpLocks/>
              <a:stCxn id="267" idx="0"/>
              <a:endCxn id="219" idx="1"/>
            </p:cNvCxnSpPr>
            <p:nvPr/>
          </p:nvCxnSpPr>
          <p:spPr bwMode="auto">
            <a:xfrm flipV="1">
              <a:off x="3483443" y="3924349"/>
              <a:ext cx="374980" cy="915381"/>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211" name="Straight Connector 210"/>
            <p:cNvCxnSpPr>
              <a:cxnSpLocks/>
              <a:stCxn id="231" idx="0"/>
              <a:endCxn id="219" idx="3"/>
            </p:cNvCxnSpPr>
            <p:nvPr/>
          </p:nvCxnSpPr>
          <p:spPr bwMode="auto">
            <a:xfrm flipH="1" flipV="1">
              <a:off x="4723453" y="3924349"/>
              <a:ext cx="464605" cy="907147"/>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grpSp>
          <p:nvGrpSpPr>
            <p:cNvPr id="212" name="Group 211"/>
            <p:cNvGrpSpPr/>
            <p:nvPr/>
          </p:nvGrpSpPr>
          <p:grpSpPr bwMode="auto">
            <a:xfrm>
              <a:off x="3858423" y="3290348"/>
              <a:ext cx="868153" cy="794009"/>
              <a:chOff x="3668110" y="2448910"/>
              <a:chExt cx="3794234" cy="2165130"/>
            </a:xfrm>
          </p:grpSpPr>
          <p:sp>
            <p:nvSpPr>
              <p:cNvPr id="219" name="Rectangle 218"/>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20"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nvGrpSpPr>
              <p:cNvPr id="221" name="Group 220"/>
              <p:cNvGrpSpPr/>
              <p:nvPr/>
            </p:nvGrpSpPr>
            <p:grpSpPr bwMode="auto">
              <a:xfrm>
                <a:off x="3941378" y="2603243"/>
                <a:ext cx="3202060" cy="1066110"/>
                <a:chOff x="7939341" y="3037317"/>
                <a:chExt cx="897649" cy="353919"/>
              </a:xfrm>
            </p:grpSpPr>
            <p:sp>
              <p:nvSpPr>
                <p:cNvPr id="222"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23"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24"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25"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grpSp>
        <p:sp>
          <p:nvSpPr>
            <p:cNvPr id="213" name="Rectangle 212"/>
            <p:cNvSpPr/>
            <p:nvPr/>
          </p:nvSpPr>
          <p:spPr bwMode="auto">
            <a:xfrm>
              <a:off x="2263265" y="3805425"/>
              <a:ext cx="1569017" cy="384427"/>
            </a:xfrm>
            <a:prstGeom prst="rect">
              <a:avLst/>
            </a:prstGeom>
            <a:grpFill/>
          </p:spPr>
          <p:txBody>
            <a:bodyPr wrap="none">
              <a:spAutoFit/>
            </a:bodyPr>
            <a:lstStyle/>
            <a:p>
              <a:pPr>
                <a:defRPr/>
              </a:pPr>
              <a:r>
                <a:rPr lang="en-US" sz="1600">
                  <a:ea typeface="宋体"/>
                  <a:cs typeface="Courier New"/>
                </a:rPr>
                <a:t>Ethernet1/0/3</a:t>
              </a:r>
              <a:endParaRPr lang="en-US" sz="1600"/>
            </a:p>
          </p:txBody>
        </p:sp>
        <p:sp>
          <p:nvSpPr>
            <p:cNvPr id="214" name="Rectangle 213"/>
            <p:cNvSpPr/>
            <p:nvPr/>
          </p:nvSpPr>
          <p:spPr bwMode="auto">
            <a:xfrm>
              <a:off x="4900308" y="3805425"/>
              <a:ext cx="1569017" cy="384427"/>
            </a:xfrm>
            <a:prstGeom prst="rect">
              <a:avLst/>
            </a:prstGeom>
            <a:grpFill/>
          </p:spPr>
          <p:txBody>
            <a:bodyPr wrap="none">
              <a:spAutoFit/>
            </a:bodyPr>
            <a:lstStyle/>
            <a:p>
              <a:pPr>
                <a:defRPr/>
              </a:pPr>
              <a:r>
                <a:rPr lang="en-US" sz="1600">
                  <a:ea typeface="宋体"/>
                  <a:cs typeface="Courier New"/>
                </a:rPr>
                <a:t>Ethernet1/0/4</a:t>
              </a:r>
              <a:endParaRPr lang="en-US" sz="1600"/>
            </a:p>
          </p:txBody>
        </p:sp>
        <p:sp>
          <p:nvSpPr>
            <p:cNvPr id="215" name="Rectangle 214"/>
            <p:cNvSpPr/>
            <p:nvPr/>
          </p:nvSpPr>
          <p:spPr bwMode="auto">
            <a:xfrm>
              <a:off x="3246536" y="5657521"/>
              <a:ext cx="548245" cy="384427"/>
            </a:xfrm>
            <a:prstGeom prst="rect">
              <a:avLst/>
            </a:prstGeom>
            <a:grpFill/>
          </p:spPr>
          <p:txBody>
            <a:bodyPr wrap="none">
              <a:spAutoFit/>
            </a:bodyPr>
            <a:lstStyle/>
            <a:p>
              <a:pPr>
                <a:defRPr/>
              </a:pPr>
              <a:r>
                <a:rPr lang="en-US" sz="1600">
                  <a:ea typeface="宋体"/>
                  <a:cs typeface="Courier New"/>
                </a:rPr>
                <a:t>pc3</a:t>
              </a:r>
              <a:endParaRPr lang="en-US" sz="1600"/>
            </a:p>
          </p:txBody>
        </p:sp>
        <p:sp>
          <p:nvSpPr>
            <p:cNvPr id="216" name="Rectangle 215"/>
            <p:cNvSpPr/>
            <p:nvPr/>
          </p:nvSpPr>
          <p:spPr bwMode="auto">
            <a:xfrm>
              <a:off x="5025651" y="5672448"/>
              <a:ext cx="548245" cy="384427"/>
            </a:xfrm>
            <a:prstGeom prst="rect">
              <a:avLst/>
            </a:prstGeom>
            <a:grpFill/>
          </p:spPr>
          <p:txBody>
            <a:bodyPr wrap="none">
              <a:spAutoFit/>
            </a:bodyPr>
            <a:lstStyle/>
            <a:p>
              <a:pPr>
                <a:defRPr/>
              </a:pPr>
              <a:r>
                <a:rPr lang="en-US" sz="1600">
                  <a:ea typeface="宋体"/>
                  <a:cs typeface="Courier New"/>
                </a:rPr>
                <a:t>pc4</a:t>
              </a:r>
              <a:endParaRPr lang="en-US" sz="1600"/>
            </a:p>
          </p:txBody>
        </p:sp>
        <p:sp>
          <p:nvSpPr>
            <p:cNvPr id="217" name="Rectangle 216"/>
            <p:cNvSpPr/>
            <p:nvPr/>
          </p:nvSpPr>
          <p:spPr bwMode="auto">
            <a:xfrm>
              <a:off x="2743193" y="5897722"/>
              <a:ext cx="1775063" cy="384427"/>
            </a:xfrm>
            <a:prstGeom prst="rect">
              <a:avLst/>
            </a:prstGeom>
            <a:grpFill/>
          </p:spPr>
          <p:txBody>
            <a:bodyPr wrap="none">
              <a:spAutoFit/>
            </a:bodyPr>
            <a:lstStyle/>
            <a:p>
              <a:pPr>
                <a:defRPr/>
              </a:pPr>
              <a:r>
                <a:rPr lang="en-US" sz="1600"/>
                <a:t>192.168.1.13/24</a:t>
              </a:r>
            </a:p>
          </p:txBody>
        </p:sp>
        <p:sp>
          <p:nvSpPr>
            <p:cNvPr id="218" name="Rectangle 217"/>
            <p:cNvSpPr/>
            <p:nvPr/>
          </p:nvSpPr>
          <p:spPr bwMode="auto">
            <a:xfrm>
              <a:off x="4522308" y="5892181"/>
              <a:ext cx="1775063" cy="384427"/>
            </a:xfrm>
            <a:prstGeom prst="rect">
              <a:avLst/>
            </a:prstGeom>
            <a:grpFill/>
          </p:spPr>
          <p:txBody>
            <a:bodyPr wrap="none">
              <a:spAutoFit/>
            </a:bodyPr>
            <a:lstStyle/>
            <a:p>
              <a:pPr>
                <a:defRPr/>
              </a:pPr>
              <a:r>
                <a:rPr lang="en-US" sz="1600"/>
                <a:t>192.168.1.14/24</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4. </a:t>
            </a:r>
            <a:r>
              <a:rPr lang="zh-CN"/>
              <a:t>配置四节点网络</a:t>
            </a:r>
            <a:r>
              <a:rPr lang="en-US"/>
              <a:t> VLAN</a:t>
            </a:r>
          </a:p>
        </p:txBody>
      </p:sp>
      <p:sp>
        <p:nvSpPr>
          <p:cNvPr id="199" name="Content Placeholder 198"/>
          <p:cNvSpPr>
            <a:spLocks noGrp="1"/>
          </p:cNvSpPr>
          <p:nvPr>
            <p:ph idx="1"/>
          </p:nvPr>
        </p:nvSpPr>
        <p:spPr bwMode="auto"/>
        <p:txBody>
          <a:bodyPr/>
          <a:lstStyle/>
          <a:p>
            <a:pPr marL="447675" lvl="1" indent="-358775">
              <a:buFont typeface="+mj-lt"/>
              <a:buAutoNum type="arabicParenR" startAt="2"/>
              <a:defRPr/>
            </a:pPr>
            <a:r>
              <a:rPr lang="zh-CN"/>
              <a:t>我们再将两台交换机相连。</a:t>
            </a:r>
            <a:endParaRPr lang="en-US"/>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6" name="Footer Placeholder 5"/>
          <p:cNvSpPr>
            <a:spLocks noGrp="1"/>
          </p:cNvSpPr>
          <p:nvPr>
            <p:ph type="ftr" sz="quarter" idx="11"/>
          </p:nvPr>
        </p:nvSpPr>
        <p:spPr bwMode="auto"/>
        <p:txBody>
          <a:bodyPr/>
          <a:lstStyle/>
          <a:p>
            <a:pPr>
              <a:defRPr/>
            </a:pPr>
            <a:r>
              <a:rPr lang="zh-CN"/>
              <a:t>计算机网络实验</a:t>
            </a:r>
            <a:endParaRPr lang="en-US"/>
          </a:p>
        </p:txBody>
      </p:sp>
      <p:sp>
        <p:nvSpPr>
          <p:cNvPr id="7" name="Slide Number Placeholder 6"/>
          <p:cNvSpPr>
            <a:spLocks noGrp="1"/>
          </p:cNvSpPr>
          <p:nvPr>
            <p:ph type="sldNum" sz="quarter" idx="12"/>
          </p:nvPr>
        </p:nvSpPr>
        <p:spPr bwMode="auto"/>
        <p:txBody>
          <a:bodyPr/>
          <a:lstStyle/>
          <a:p>
            <a:pPr>
              <a:defRPr/>
            </a:pPr>
            <a:fld id="{0ECDF2DC-913F-4A16-9C18-8900B299D998}" type="slidenum">
              <a:rPr lang="en-US"/>
              <a:t>31</a:t>
            </a:fld>
            <a:endParaRPr lang="en-US"/>
          </a:p>
        </p:txBody>
      </p:sp>
      <p:grpSp>
        <p:nvGrpSpPr>
          <p:cNvPr id="3" name="Group 2"/>
          <p:cNvGrpSpPr/>
          <p:nvPr/>
        </p:nvGrpSpPr>
        <p:grpSpPr bwMode="auto">
          <a:xfrm>
            <a:off x="708343" y="3240000"/>
            <a:ext cx="7467628" cy="2770611"/>
            <a:chOff x="708343" y="2659234"/>
            <a:chExt cx="7467628" cy="2770611"/>
          </a:xfrm>
        </p:grpSpPr>
        <p:cxnSp>
          <p:nvCxnSpPr>
            <p:cNvPr id="191" name="Straight Connector 190"/>
            <p:cNvCxnSpPr>
              <a:cxnSpLocks/>
            </p:cNvCxnSpPr>
            <p:nvPr/>
          </p:nvCxnSpPr>
          <p:spPr bwMode="auto">
            <a:xfrm>
              <a:off x="2483787" y="3037632"/>
              <a:ext cx="3766247" cy="0"/>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grpSp>
          <p:nvGrpSpPr>
            <p:cNvPr id="5" name="Group 4"/>
            <p:cNvGrpSpPr>
              <a:grpSpLocks noChangeAspect="1"/>
            </p:cNvGrpSpPr>
            <p:nvPr/>
          </p:nvGrpSpPr>
          <p:grpSpPr bwMode="auto">
            <a:xfrm>
              <a:off x="708343" y="2795049"/>
              <a:ext cx="3577476" cy="2634796"/>
              <a:chOff x="2266419" y="3290348"/>
              <a:chExt cx="4062212" cy="2991802"/>
            </a:xfrm>
          </p:grpSpPr>
          <p:grpSp>
            <p:nvGrpSpPr>
              <p:cNvPr id="10" name="Group 9"/>
              <p:cNvGrpSpPr/>
              <p:nvPr/>
            </p:nvGrpSpPr>
            <p:grpSpPr bwMode="auto">
              <a:xfrm>
                <a:off x="2647144" y="4839730"/>
                <a:ext cx="1061526" cy="823469"/>
                <a:chOff x="1136203" y="4520619"/>
                <a:chExt cx="1419428" cy="1013448"/>
              </a:xfrm>
            </p:grpSpPr>
            <p:grpSp>
              <p:nvGrpSpPr>
                <p:cNvPr id="64" name="Group 950"/>
                <p:cNvGrpSpPr/>
                <p:nvPr/>
              </p:nvGrpSpPr>
              <p:grpSpPr bwMode="auto">
                <a:xfrm>
                  <a:off x="2039815" y="4520619"/>
                  <a:ext cx="515816" cy="969179"/>
                  <a:chOff x="4140" y="429"/>
                  <a:chExt cx="1425" cy="2396"/>
                </a:xfrm>
              </p:grpSpPr>
              <p:sp>
                <p:nvSpPr>
                  <p:cNvPr id="68"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69"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70"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71"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72"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73" name="Group 956"/>
                  <p:cNvGrpSpPr/>
                  <p:nvPr/>
                </p:nvGrpSpPr>
                <p:grpSpPr bwMode="auto">
                  <a:xfrm>
                    <a:off x="4749" y="668"/>
                    <a:ext cx="581" cy="145"/>
                    <a:chOff x="614" y="2568"/>
                    <a:chExt cx="725" cy="139"/>
                  </a:xfrm>
                </p:grpSpPr>
                <p:sp>
                  <p:nvSpPr>
                    <p:cNvPr id="98"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9"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74"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75" name="Group 960"/>
                  <p:cNvGrpSpPr/>
                  <p:nvPr/>
                </p:nvGrpSpPr>
                <p:grpSpPr bwMode="auto">
                  <a:xfrm>
                    <a:off x="4747" y="994"/>
                    <a:ext cx="581" cy="134"/>
                    <a:chOff x="614" y="2568"/>
                    <a:chExt cx="725" cy="139"/>
                  </a:xfrm>
                </p:grpSpPr>
                <p:sp>
                  <p:nvSpPr>
                    <p:cNvPr id="96"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7"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76"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77"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78" name="Group 965"/>
                  <p:cNvGrpSpPr/>
                  <p:nvPr/>
                </p:nvGrpSpPr>
                <p:grpSpPr bwMode="auto">
                  <a:xfrm>
                    <a:off x="4735" y="1627"/>
                    <a:ext cx="582" cy="151"/>
                    <a:chOff x="614" y="2568"/>
                    <a:chExt cx="725" cy="139"/>
                  </a:xfrm>
                </p:grpSpPr>
                <p:sp>
                  <p:nvSpPr>
                    <p:cNvPr id="94"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5"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79"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80" name="Group 969"/>
                  <p:cNvGrpSpPr/>
                  <p:nvPr/>
                </p:nvGrpSpPr>
                <p:grpSpPr bwMode="auto">
                  <a:xfrm>
                    <a:off x="4739" y="1327"/>
                    <a:ext cx="582" cy="139"/>
                    <a:chOff x="614" y="2568"/>
                    <a:chExt cx="725" cy="139"/>
                  </a:xfrm>
                </p:grpSpPr>
                <p:sp>
                  <p:nvSpPr>
                    <p:cNvPr id="92"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3"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81"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2"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83"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84"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5"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86"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7"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8"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9"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90"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1"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65" name="Group 590"/>
                <p:cNvGrpSpPr/>
                <p:nvPr/>
              </p:nvGrpSpPr>
              <p:grpSpPr bwMode="auto">
                <a:xfrm flipH="1">
                  <a:off x="1136203" y="4624876"/>
                  <a:ext cx="948819" cy="909191"/>
                  <a:chOff x="2839" y="3501"/>
                  <a:chExt cx="755" cy="803"/>
                </a:xfrm>
              </p:grpSpPr>
              <p:pic>
                <p:nvPicPr>
                  <p:cNvPr id="66"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67"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grpSp>
            <p:nvGrpSpPr>
              <p:cNvPr id="11" name="Group 10"/>
              <p:cNvGrpSpPr/>
              <p:nvPr/>
            </p:nvGrpSpPr>
            <p:grpSpPr bwMode="auto">
              <a:xfrm>
                <a:off x="4351760" y="4831496"/>
                <a:ext cx="1061526" cy="831703"/>
                <a:chOff x="1136203" y="4520619"/>
                <a:chExt cx="1419428" cy="1013448"/>
              </a:xfrm>
            </p:grpSpPr>
            <p:grpSp>
              <p:nvGrpSpPr>
                <p:cNvPr id="28" name="Group 950"/>
                <p:cNvGrpSpPr/>
                <p:nvPr/>
              </p:nvGrpSpPr>
              <p:grpSpPr bwMode="auto">
                <a:xfrm>
                  <a:off x="2039815" y="4520619"/>
                  <a:ext cx="515816" cy="969179"/>
                  <a:chOff x="4140" y="429"/>
                  <a:chExt cx="1425" cy="2396"/>
                </a:xfrm>
              </p:grpSpPr>
              <p:sp>
                <p:nvSpPr>
                  <p:cNvPr id="32"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3"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4"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5"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6"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7" name="Group 956"/>
                  <p:cNvGrpSpPr/>
                  <p:nvPr/>
                </p:nvGrpSpPr>
                <p:grpSpPr bwMode="auto">
                  <a:xfrm>
                    <a:off x="4749" y="668"/>
                    <a:ext cx="581" cy="145"/>
                    <a:chOff x="614" y="2568"/>
                    <a:chExt cx="725" cy="139"/>
                  </a:xfrm>
                </p:grpSpPr>
                <p:sp>
                  <p:nvSpPr>
                    <p:cNvPr id="62"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63"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8"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9" name="Group 960"/>
                  <p:cNvGrpSpPr/>
                  <p:nvPr/>
                </p:nvGrpSpPr>
                <p:grpSpPr bwMode="auto">
                  <a:xfrm>
                    <a:off x="4747" y="994"/>
                    <a:ext cx="581" cy="134"/>
                    <a:chOff x="614" y="2568"/>
                    <a:chExt cx="725" cy="139"/>
                  </a:xfrm>
                </p:grpSpPr>
                <p:sp>
                  <p:nvSpPr>
                    <p:cNvPr id="60"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61"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40"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41"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42" name="Group 965"/>
                  <p:cNvGrpSpPr/>
                  <p:nvPr/>
                </p:nvGrpSpPr>
                <p:grpSpPr bwMode="auto">
                  <a:xfrm>
                    <a:off x="4735" y="1627"/>
                    <a:ext cx="582" cy="151"/>
                    <a:chOff x="614" y="2568"/>
                    <a:chExt cx="725" cy="139"/>
                  </a:xfrm>
                </p:grpSpPr>
                <p:sp>
                  <p:nvSpPr>
                    <p:cNvPr id="58"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9"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43"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44" name="Group 969"/>
                  <p:cNvGrpSpPr/>
                  <p:nvPr/>
                </p:nvGrpSpPr>
                <p:grpSpPr bwMode="auto">
                  <a:xfrm>
                    <a:off x="4739" y="1327"/>
                    <a:ext cx="582" cy="139"/>
                    <a:chOff x="614" y="2568"/>
                    <a:chExt cx="725" cy="139"/>
                  </a:xfrm>
                </p:grpSpPr>
                <p:sp>
                  <p:nvSpPr>
                    <p:cNvPr id="56"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7"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45"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46"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47"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48"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49"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50"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1"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2"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3"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54"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5"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29" name="Group 590"/>
                <p:cNvGrpSpPr/>
                <p:nvPr/>
              </p:nvGrpSpPr>
              <p:grpSpPr bwMode="auto">
                <a:xfrm flipH="1">
                  <a:off x="1136203" y="4624876"/>
                  <a:ext cx="948819" cy="909191"/>
                  <a:chOff x="2839" y="3501"/>
                  <a:chExt cx="755" cy="803"/>
                </a:xfrm>
              </p:grpSpPr>
              <p:pic>
                <p:nvPicPr>
                  <p:cNvPr id="30"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31"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cxnSp>
            <p:nvCxnSpPr>
              <p:cNvPr id="12" name="Straight Connector 11"/>
              <p:cNvCxnSpPr>
                <a:cxnSpLocks/>
                <a:stCxn id="69" idx="0"/>
                <a:endCxn id="21" idx="1"/>
              </p:cNvCxnSpPr>
              <p:nvPr/>
            </p:nvCxnSpPr>
            <p:spPr bwMode="auto">
              <a:xfrm flipV="1">
                <a:off x="3483443" y="3924349"/>
                <a:ext cx="374980" cy="915381"/>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13" name="Straight Connector 12"/>
              <p:cNvCxnSpPr>
                <a:cxnSpLocks/>
                <a:stCxn id="33" idx="0"/>
                <a:endCxn id="21" idx="3"/>
              </p:cNvCxnSpPr>
              <p:nvPr/>
            </p:nvCxnSpPr>
            <p:spPr bwMode="auto">
              <a:xfrm flipH="1" flipV="1">
                <a:off x="4723453" y="3924349"/>
                <a:ext cx="464605" cy="907147"/>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grpSp>
            <p:nvGrpSpPr>
              <p:cNvPr id="14" name="Group 13"/>
              <p:cNvGrpSpPr/>
              <p:nvPr/>
            </p:nvGrpSpPr>
            <p:grpSpPr bwMode="auto">
              <a:xfrm>
                <a:off x="3858423" y="3290348"/>
                <a:ext cx="868153" cy="794009"/>
                <a:chOff x="3668110" y="2448910"/>
                <a:chExt cx="3794234" cy="2165130"/>
              </a:xfrm>
            </p:grpSpPr>
            <p:sp>
              <p:nvSpPr>
                <p:cNvPr id="21" name="Rectangle 20"/>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2"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nvGrpSpPr>
                <p:cNvPr id="23" name="Group 22"/>
                <p:cNvGrpSpPr/>
                <p:nvPr/>
              </p:nvGrpSpPr>
              <p:grpSpPr bwMode="auto">
                <a:xfrm>
                  <a:off x="3941378" y="2603243"/>
                  <a:ext cx="3202060" cy="1066110"/>
                  <a:chOff x="7939341" y="3037317"/>
                  <a:chExt cx="897649" cy="353919"/>
                </a:xfrm>
              </p:grpSpPr>
              <p:sp>
                <p:nvSpPr>
                  <p:cNvPr id="24"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5"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6"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7"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grpSp>
          <p:sp>
            <p:nvSpPr>
              <p:cNvPr id="15" name="Rectangle 14"/>
              <p:cNvSpPr/>
              <p:nvPr/>
            </p:nvSpPr>
            <p:spPr bwMode="auto">
              <a:xfrm>
                <a:off x="2266419" y="3805425"/>
                <a:ext cx="1569017" cy="384427"/>
              </a:xfrm>
              <a:prstGeom prst="rect">
                <a:avLst/>
              </a:prstGeom>
              <a:grpFill/>
            </p:spPr>
            <p:txBody>
              <a:bodyPr wrap="none">
                <a:spAutoFit/>
              </a:bodyPr>
              <a:lstStyle/>
              <a:p>
                <a:pPr>
                  <a:defRPr/>
                </a:pPr>
                <a:r>
                  <a:rPr lang="en-US" sz="1600">
                    <a:ea typeface="宋体"/>
                    <a:cs typeface="Courier New"/>
                  </a:rPr>
                  <a:t>Ethernet1/0/3</a:t>
                </a:r>
                <a:endParaRPr lang="en-US" sz="1600"/>
              </a:p>
            </p:txBody>
          </p:sp>
          <p:sp>
            <p:nvSpPr>
              <p:cNvPr id="16" name="Rectangle 15"/>
              <p:cNvSpPr/>
              <p:nvPr/>
            </p:nvSpPr>
            <p:spPr bwMode="auto">
              <a:xfrm>
                <a:off x="4759614" y="3799079"/>
                <a:ext cx="1569017" cy="384427"/>
              </a:xfrm>
              <a:prstGeom prst="rect">
                <a:avLst/>
              </a:prstGeom>
              <a:grpFill/>
            </p:spPr>
            <p:txBody>
              <a:bodyPr wrap="none">
                <a:spAutoFit/>
              </a:bodyPr>
              <a:lstStyle/>
              <a:p>
                <a:pPr>
                  <a:defRPr/>
                </a:pPr>
                <a:r>
                  <a:rPr lang="en-US" sz="1600">
                    <a:ea typeface="宋体"/>
                    <a:cs typeface="Courier New"/>
                  </a:rPr>
                  <a:t>Ethernet1/0/4</a:t>
                </a:r>
                <a:endParaRPr lang="en-US" sz="1600"/>
              </a:p>
            </p:txBody>
          </p:sp>
          <p:sp>
            <p:nvSpPr>
              <p:cNvPr id="17" name="Rectangle 16"/>
              <p:cNvSpPr/>
              <p:nvPr/>
            </p:nvSpPr>
            <p:spPr bwMode="auto">
              <a:xfrm>
                <a:off x="3246536" y="5657521"/>
                <a:ext cx="548245" cy="384427"/>
              </a:xfrm>
              <a:prstGeom prst="rect">
                <a:avLst/>
              </a:prstGeom>
              <a:grpFill/>
            </p:spPr>
            <p:txBody>
              <a:bodyPr wrap="none">
                <a:spAutoFit/>
              </a:bodyPr>
              <a:lstStyle/>
              <a:p>
                <a:pPr>
                  <a:defRPr/>
                </a:pPr>
                <a:r>
                  <a:rPr lang="en-US" sz="1600">
                    <a:ea typeface="宋体"/>
                    <a:cs typeface="Courier New"/>
                  </a:rPr>
                  <a:t>pc1</a:t>
                </a:r>
                <a:endParaRPr lang="en-US" sz="1600"/>
              </a:p>
            </p:txBody>
          </p:sp>
          <p:sp>
            <p:nvSpPr>
              <p:cNvPr id="18" name="Rectangle 17"/>
              <p:cNvSpPr/>
              <p:nvPr/>
            </p:nvSpPr>
            <p:spPr bwMode="auto">
              <a:xfrm>
                <a:off x="5025651" y="5672448"/>
                <a:ext cx="548245" cy="384427"/>
              </a:xfrm>
              <a:prstGeom prst="rect">
                <a:avLst/>
              </a:prstGeom>
              <a:grpFill/>
            </p:spPr>
            <p:txBody>
              <a:bodyPr wrap="none">
                <a:spAutoFit/>
              </a:bodyPr>
              <a:lstStyle/>
              <a:p>
                <a:pPr>
                  <a:defRPr/>
                </a:pPr>
                <a:r>
                  <a:rPr lang="en-US" sz="1600">
                    <a:ea typeface="宋体"/>
                    <a:cs typeface="Courier New"/>
                  </a:rPr>
                  <a:t>pc2</a:t>
                </a:r>
                <a:endParaRPr lang="en-US" sz="1600"/>
              </a:p>
            </p:txBody>
          </p:sp>
          <p:sp>
            <p:nvSpPr>
              <p:cNvPr id="19" name="Rectangle 18"/>
              <p:cNvSpPr/>
              <p:nvPr/>
            </p:nvSpPr>
            <p:spPr bwMode="auto">
              <a:xfrm>
                <a:off x="2743192" y="5897722"/>
                <a:ext cx="1775063" cy="384427"/>
              </a:xfrm>
              <a:prstGeom prst="rect">
                <a:avLst/>
              </a:prstGeom>
              <a:grpFill/>
            </p:spPr>
            <p:txBody>
              <a:bodyPr wrap="none">
                <a:spAutoFit/>
              </a:bodyPr>
              <a:lstStyle/>
              <a:p>
                <a:pPr>
                  <a:defRPr/>
                </a:pPr>
                <a:r>
                  <a:rPr lang="en-US" sz="1600"/>
                  <a:t>192.168.1.11/24</a:t>
                </a:r>
              </a:p>
            </p:txBody>
          </p:sp>
          <p:sp>
            <p:nvSpPr>
              <p:cNvPr id="20" name="Rectangle 19"/>
              <p:cNvSpPr/>
              <p:nvPr/>
            </p:nvSpPr>
            <p:spPr bwMode="auto">
              <a:xfrm>
                <a:off x="4522308" y="5892181"/>
                <a:ext cx="1775063" cy="384427"/>
              </a:xfrm>
              <a:prstGeom prst="rect">
                <a:avLst/>
              </a:prstGeom>
              <a:grpFill/>
            </p:spPr>
            <p:txBody>
              <a:bodyPr wrap="none">
                <a:spAutoFit/>
              </a:bodyPr>
              <a:lstStyle/>
              <a:p>
                <a:pPr>
                  <a:defRPr/>
                </a:pPr>
                <a:r>
                  <a:rPr lang="en-US" sz="1600"/>
                  <a:t>192.168.1.12/24</a:t>
                </a:r>
              </a:p>
            </p:txBody>
          </p:sp>
        </p:grpSp>
        <p:grpSp>
          <p:nvGrpSpPr>
            <p:cNvPr id="100" name="Group 99"/>
            <p:cNvGrpSpPr>
              <a:grpSpLocks noChangeAspect="1"/>
            </p:cNvGrpSpPr>
            <p:nvPr/>
          </p:nvGrpSpPr>
          <p:grpSpPr bwMode="auto">
            <a:xfrm>
              <a:off x="4471812" y="2795049"/>
              <a:ext cx="3704159" cy="2634796"/>
              <a:chOff x="2263265" y="3290348"/>
              <a:chExt cx="4206060" cy="2991802"/>
            </a:xfrm>
          </p:grpSpPr>
          <p:grpSp>
            <p:nvGrpSpPr>
              <p:cNvPr id="101" name="Group 100"/>
              <p:cNvGrpSpPr/>
              <p:nvPr/>
            </p:nvGrpSpPr>
            <p:grpSpPr bwMode="auto">
              <a:xfrm>
                <a:off x="2647144" y="4839730"/>
                <a:ext cx="1061526" cy="823469"/>
                <a:chOff x="1136203" y="4520619"/>
                <a:chExt cx="1419428" cy="1013448"/>
              </a:xfrm>
            </p:grpSpPr>
            <p:grpSp>
              <p:nvGrpSpPr>
                <p:cNvPr id="155" name="Group 950"/>
                <p:cNvGrpSpPr/>
                <p:nvPr/>
              </p:nvGrpSpPr>
              <p:grpSpPr bwMode="auto">
                <a:xfrm>
                  <a:off x="2039815" y="4520619"/>
                  <a:ext cx="515816" cy="969179"/>
                  <a:chOff x="4140" y="429"/>
                  <a:chExt cx="1425" cy="2396"/>
                </a:xfrm>
              </p:grpSpPr>
              <p:sp>
                <p:nvSpPr>
                  <p:cNvPr id="159"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60"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61"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62"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63"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64" name="Group 956"/>
                  <p:cNvGrpSpPr/>
                  <p:nvPr/>
                </p:nvGrpSpPr>
                <p:grpSpPr bwMode="auto">
                  <a:xfrm>
                    <a:off x="4749" y="668"/>
                    <a:ext cx="581" cy="145"/>
                    <a:chOff x="614" y="2568"/>
                    <a:chExt cx="725" cy="139"/>
                  </a:xfrm>
                </p:grpSpPr>
                <p:sp>
                  <p:nvSpPr>
                    <p:cNvPr id="189"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90"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65"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66" name="Group 960"/>
                  <p:cNvGrpSpPr/>
                  <p:nvPr/>
                </p:nvGrpSpPr>
                <p:grpSpPr bwMode="auto">
                  <a:xfrm>
                    <a:off x="4747" y="994"/>
                    <a:ext cx="581" cy="134"/>
                    <a:chOff x="614" y="2568"/>
                    <a:chExt cx="725" cy="139"/>
                  </a:xfrm>
                </p:grpSpPr>
                <p:sp>
                  <p:nvSpPr>
                    <p:cNvPr id="187"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8"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67"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68"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69" name="Group 965"/>
                  <p:cNvGrpSpPr/>
                  <p:nvPr/>
                </p:nvGrpSpPr>
                <p:grpSpPr bwMode="auto">
                  <a:xfrm>
                    <a:off x="4735" y="1627"/>
                    <a:ext cx="582" cy="151"/>
                    <a:chOff x="614" y="2568"/>
                    <a:chExt cx="725" cy="139"/>
                  </a:xfrm>
                </p:grpSpPr>
                <p:sp>
                  <p:nvSpPr>
                    <p:cNvPr id="185"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6"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70"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171" name="Group 969"/>
                  <p:cNvGrpSpPr/>
                  <p:nvPr/>
                </p:nvGrpSpPr>
                <p:grpSpPr bwMode="auto">
                  <a:xfrm>
                    <a:off x="4739" y="1327"/>
                    <a:ext cx="582" cy="139"/>
                    <a:chOff x="614" y="2568"/>
                    <a:chExt cx="725" cy="139"/>
                  </a:xfrm>
                </p:grpSpPr>
                <p:sp>
                  <p:nvSpPr>
                    <p:cNvPr id="183"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4"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72"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3"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74"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75"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6"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77"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8"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9"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0"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181"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2"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156" name="Group 590"/>
                <p:cNvGrpSpPr/>
                <p:nvPr/>
              </p:nvGrpSpPr>
              <p:grpSpPr bwMode="auto">
                <a:xfrm flipH="1">
                  <a:off x="1136203" y="4624876"/>
                  <a:ext cx="948819" cy="909191"/>
                  <a:chOff x="2839" y="3501"/>
                  <a:chExt cx="755" cy="803"/>
                </a:xfrm>
              </p:grpSpPr>
              <p:pic>
                <p:nvPicPr>
                  <p:cNvPr id="157"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58"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grpSp>
            <p:nvGrpSpPr>
              <p:cNvPr id="102" name="Group 101"/>
              <p:cNvGrpSpPr/>
              <p:nvPr/>
            </p:nvGrpSpPr>
            <p:grpSpPr bwMode="auto">
              <a:xfrm>
                <a:off x="4351760" y="4831496"/>
                <a:ext cx="1061526" cy="831703"/>
                <a:chOff x="1136203" y="4520619"/>
                <a:chExt cx="1419428" cy="1013448"/>
              </a:xfrm>
            </p:grpSpPr>
            <p:grpSp>
              <p:nvGrpSpPr>
                <p:cNvPr id="119" name="Group 950"/>
                <p:cNvGrpSpPr/>
                <p:nvPr/>
              </p:nvGrpSpPr>
              <p:grpSpPr bwMode="auto">
                <a:xfrm>
                  <a:off x="2039815" y="4520619"/>
                  <a:ext cx="515816" cy="969179"/>
                  <a:chOff x="4140" y="429"/>
                  <a:chExt cx="1425" cy="2396"/>
                </a:xfrm>
              </p:grpSpPr>
              <p:sp>
                <p:nvSpPr>
                  <p:cNvPr id="123"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24"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25"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26"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27"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28" name="Group 956"/>
                  <p:cNvGrpSpPr/>
                  <p:nvPr/>
                </p:nvGrpSpPr>
                <p:grpSpPr bwMode="auto">
                  <a:xfrm>
                    <a:off x="4749" y="668"/>
                    <a:ext cx="581" cy="145"/>
                    <a:chOff x="614" y="2568"/>
                    <a:chExt cx="725" cy="139"/>
                  </a:xfrm>
                </p:grpSpPr>
                <p:sp>
                  <p:nvSpPr>
                    <p:cNvPr id="153"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54"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29"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30" name="Group 960"/>
                  <p:cNvGrpSpPr/>
                  <p:nvPr/>
                </p:nvGrpSpPr>
                <p:grpSpPr bwMode="auto">
                  <a:xfrm>
                    <a:off x="4747" y="994"/>
                    <a:ext cx="581" cy="134"/>
                    <a:chOff x="614" y="2568"/>
                    <a:chExt cx="725" cy="139"/>
                  </a:xfrm>
                </p:grpSpPr>
                <p:sp>
                  <p:nvSpPr>
                    <p:cNvPr id="151"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52"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31"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32"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33" name="Group 965"/>
                  <p:cNvGrpSpPr/>
                  <p:nvPr/>
                </p:nvGrpSpPr>
                <p:grpSpPr bwMode="auto">
                  <a:xfrm>
                    <a:off x="4735" y="1627"/>
                    <a:ext cx="582" cy="151"/>
                    <a:chOff x="614" y="2568"/>
                    <a:chExt cx="725" cy="139"/>
                  </a:xfrm>
                </p:grpSpPr>
                <p:sp>
                  <p:nvSpPr>
                    <p:cNvPr id="149"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50"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34"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135" name="Group 969"/>
                  <p:cNvGrpSpPr/>
                  <p:nvPr/>
                </p:nvGrpSpPr>
                <p:grpSpPr bwMode="auto">
                  <a:xfrm>
                    <a:off x="4739" y="1327"/>
                    <a:ext cx="582" cy="139"/>
                    <a:chOff x="614" y="2568"/>
                    <a:chExt cx="725" cy="139"/>
                  </a:xfrm>
                </p:grpSpPr>
                <p:sp>
                  <p:nvSpPr>
                    <p:cNvPr id="147"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8"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36"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37"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38"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39"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0"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41"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2"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3"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4"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145"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6"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120" name="Group 590"/>
                <p:cNvGrpSpPr/>
                <p:nvPr/>
              </p:nvGrpSpPr>
              <p:grpSpPr bwMode="auto">
                <a:xfrm flipH="1">
                  <a:off x="1136203" y="4624876"/>
                  <a:ext cx="948819" cy="909191"/>
                  <a:chOff x="2839" y="3501"/>
                  <a:chExt cx="755" cy="803"/>
                </a:xfrm>
              </p:grpSpPr>
              <p:pic>
                <p:nvPicPr>
                  <p:cNvPr id="121"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22"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cxnSp>
            <p:nvCxnSpPr>
              <p:cNvPr id="103" name="Straight Connector 102"/>
              <p:cNvCxnSpPr>
                <a:cxnSpLocks/>
                <a:stCxn id="160" idx="0"/>
                <a:endCxn id="112" idx="1"/>
              </p:cNvCxnSpPr>
              <p:nvPr/>
            </p:nvCxnSpPr>
            <p:spPr bwMode="auto">
              <a:xfrm flipV="1">
                <a:off x="3483443" y="3924349"/>
                <a:ext cx="374980" cy="915381"/>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cxnSp>
            <p:nvCxnSpPr>
              <p:cNvPr id="104" name="Straight Connector 103"/>
              <p:cNvCxnSpPr>
                <a:cxnSpLocks/>
                <a:stCxn id="124" idx="0"/>
                <a:endCxn id="112" idx="3"/>
              </p:cNvCxnSpPr>
              <p:nvPr/>
            </p:nvCxnSpPr>
            <p:spPr bwMode="auto">
              <a:xfrm flipH="1" flipV="1">
                <a:off x="4723453" y="3924349"/>
                <a:ext cx="464605" cy="907147"/>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grpSp>
            <p:nvGrpSpPr>
              <p:cNvPr id="105" name="Group 104"/>
              <p:cNvGrpSpPr/>
              <p:nvPr/>
            </p:nvGrpSpPr>
            <p:grpSpPr bwMode="auto">
              <a:xfrm>
                <a:off x="3858423" y="3290348"/>
                <a:ext cx="868153" cy="794009"/>
                <a:chOff x="3668110" y="2448910"/>
                <a:chExt cx="3794234" cy="2165130"/>
              </a:xfrm>
            </p:grpSpPr>
            <p:sp>
              <p:nvSpPr>
                <p:cNvPr id="112" name="Rectangle 111"/>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3"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nvGrpSpPr>
                <p:cNvPr id="114" name="Group 113"/>
                <p:cNvGrpSpPr/>
                <p:nvPr/>
              </p:nvGrpSpPr>
              <p:grpSpPr bwMode="auto">
                <a:xfrm>
                  <a:off x="3941378" y="2603243"/>
                  <a:ext cx="3202060" cy="1066110"/>
                  <a:chOff x="7939341" y="3037317"/>
                  <a:chExt cx="897649" cy="353919"/>
                </a:xfrm>
              </p:grpSpPr>
              <p:sp>
                <p:nvSpPr>
                  <p:cNvPr id="115"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6"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7"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8"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grpSp>
          <p:sp>
            <p:nvSpPr>
              <p:cNvPr id="106" name="Rectangle 105"/>
              <p:cNvSpPr/>
              <p:nvPr/>
            </p:nvSpPr>
            <p:spPr bwMode="auto">
              <a:xfrm>
                <a:off x="2263265" y="3805425"/>
                <a:ext cx="1569017" cy="384427"/>
              </a:xfrm>
              <a:prstGeom prst="rect">
                <a:avLst/>
              </a:prstGeom>
              <a:grpFill/>
            </p:spPr>
            <p:txBody>
              <a:bodyPr wrap="none">
                <a:spAutoFit/>
              </a:bodyPr>
              <a:lstStyle/>
              <a:p>
                <a:pPr>
                  <a:defRPr/>
                </a:pPr>
                <a:r>
                  <a:rPr lang="en-US" sz="1600">
                    <a:ea typeface="宋体"/>
                    <a:cs typeface="Courier New"/>
                  </a:rPr>
                  <a:t>Ethernet1/0/3</a:t>
                </a:r>
                <a:endParaRPr lang="en-US" sz="1600"/>
              </a:p>
            </p:txBody>
          </p:sp>
          <p:sp>
            <p:nvSpPr>
              <p:cNvPr id="107" name="Rectangle 106"/>
              <p:cNvSpPr/>
              <p:nvPr/>
            </p:nvSpPr>
            <p:spPr bwMode="auto">
              <a:xfrm>
                <a:off x="4900308" y="3805425"/>
                <a:ext cx="1569017" cy="384427"/>
              </a:xfrm>
              <a:prstGeom prst="rect">
                <a:avLst/>
              </a:prstGeom>
              <a:grpFill/>
            </p:spPr>
            <p:txBody>
              <a:bodyPr wrap="none">
                <a:spAutoFit/>
              </a:bodyPr>
              <a:lstStyle/>
              <a:p>
                <a:pPr>
                  <a:defRPr/>
                </a:pPr>
                <a:r>
                  <a:rPr lang="en-US" sz="1600">
                    <a:ea typeface="宋体"/>
                    <a:cs typeface="Courier New"/>
                  </a:rPr>
                  <a:t>Ethernet1/0/4</a:t>
                </a:r>
                <a:endParaRPr lang="en-US" sz="1600"/>
              </a:p>
            </p:txBody>
          </p:sp>
          <p:sp>
            <p:nvSpPr>
              <p:cNvPr id="108" name="Rectangle 107"/>
              <p:cNvSpPr/>
              <p:nvPr/>
            </p:nvSpPr>
            <p:spPr bwMode="auto">
              <a:xfrm>
                <a:off x="3246536" y="5657521"/>
                <a:ext cx="548245" cy="384427"/>
              </a:xfrm>
              <a:prstGeom prst="rect">
                <a:avLst/>
              </a:prstGeom>
              <a:grpFill/>
            </p:spPr>
            <p:txBody>
              <a:bodyPr wrap="none">
                <a:spAutoFit/>
              </a:bodyPr>
              <a:lstStyle/>
              <a:p>
                <a:pPr>
                  <a:defRPr/>
                </a:pPr>
                <a:r>
                  <a:rPr lang="en-US" sz="1600">
                    <a:ea typeface="宋体"/>
                    <a:cs typeface="Courier New"/>
                  </a:rPr>
                  <a:t>pc3</a:t>
                </a:r>
                <a:endParaRPr lang="en-US" sz="1600"/>
              </a:p>
            </p:txBody>
          </p:sp>
          <p:sp>
            <p:nvSpPr>
              <p:cNvPr id="109" name="Rectangle 108"/>
              <p:cNvSpPr/>
              <p:nvPr/>
            </p:nvSpPr>
            <p:spPr bwMode="auto">
              <a:xfrm>
                <a:off x="5025651" y="5672448"/>
                <a:ext cx="548245" cy="384427"/>
              </a:xfrm>
              <a:prstGeom prst="rect">
                <a:avLst/>
              </a:prstGeom>
              <a:grpFill/>
            </p:spPr>
            <p:txBody>
              <a:bodyPr wrap="none">
                <a:spAutoFit/>
              </a:bodyPr>
              <a:lstStyle/>
              <a:p>
                <a:pPr>
                  <a:defRPr/>
                </a:pPr>
                <a:r>
                  <a:rPr lang="en-US" sz="1600">
                    <a:ea typeface="宋体"/>
                    <a:cs typeface="Courier New"/>
                  </a:rPr>
                  <a:t>pc4</a:t>
                </a:r>
                <a:endParaRPr lang="en-US" sz="1600"/>
              </a:p>
            </p:txBody>
          </p:sp>
          <p:sp>
            <p:nvSpPr>
              <p:cNvPr id="110" name="Rectangle 109"/>
              <p:cNvSpPr/>
              <p:nvPr/>
            </p:nvSpPr>
            <p:spPr bwMode="auto">
              <a:xfrm>
                <a:off x="2743193" y="5897722"/>
                <a:ext cx="1775063" cy="384427"/>
              </a:xfrm>
              <a:prstGeom prst="rect">
                <a:avLst/>
              </a:prstGeom>
              <a:grpFill/>
            </p:spPr>
            <p:txBody>
              <a:bodyPr wrap="none">
                <a:spAutoFit/>
              </a:bodyPr>
              <a:lstStyle/>
              <a:p>
                <a:pPr>
                  <a:defRPr/>
                </a:pPr>
                <a:r>
                  <a:rPr lang="en-US" sz="1600"/>
                  <a:t>192.168.1.13/24</a:t>
                </a:r>
              </a:p>
            </p:txBody>
          </p:sp>
          <p:sp>
            <p:nvSpPr>
              <p:cNvPr id="111" name="Rectangle 110"/>
              <p:cNvSpPr/>
              <p:nvPr/>
            </p:nvSpPr>
            <p:spPr bwMode="auto">
              <a:xfrm>
                <a:off x="4522308" y="5892181"/>
                <a:ext cx="1775063" cy="384427"/>
              </a:xfrm>
              <a:prstGeom prst="rect">
                <a:avLst/>
              </a:prstGeom>
              <a:grpFill/>
            </p:spPr>
            <p:txBody>
              <a:bodyPr wrap="none">
                <a:spAutoFit/>
              </a:bodyPr>
              <a:lstStyle/>
              <a:p>
                <a:pPr>
                  <a:defRPr/>
                </a:pPr>
                <a:r>
                  <a:rPr lang="en-US" sz="1600"/>
                  <a:t>192.168.1.14/24</a:t>
                </a:r>
              </a:p>
            </p:txBody>
          </p:sp>
        </p:grpSp>
        <p:sp>
          <p:nvSpPr>
            <p:cNvPr id="192" name="Rectangle 191"/>
            <p:cNvSpPr/>
            <p:nvPr/>
          </p:nvSpPr>
          <p:spPr bwMode="auto">
            <a:xfrm>
              <a:off x="2815354" y="2659234"/>
              <a:ext cx="1381789" cy="338554"/>
            </a:xfrm>
            <a:prstGeom prst="rect">
              <a:avLst/>
            </a:prstGeom>
            <a:grpFill/>
          </p:spPr>
          <p:txBody>
            <a:bodyPr wrap="none">
              <a:spAutoFit/>
            </a:bodyPr>
            <a:lstStyle/>
            <a:p>
              <a:pPr>
                <a:defRPr/>
              </a:pPr>
              <a:r>
                <a:rPr lang="en-US" sz="1600">
                  <a:ea typeface="宋体"/>
                  <a:cs typeface="Courier New"/>
                </a:rPr>
                <a:t>Ethernet1/0/1</a:t>
              </a:r>
              <a:endParaRPr lang="en-US" sz="1600"/>
            </a:p>
          </p:txBody>
        </p:sp>
        <p:sp>
          <p:nvSpPr>
            <p:cNvPr id="193" name="Rectangle 192"/>
            <p:cNvSpPr/>
            <p:nvPr/>
          </p:nvSpPr>
          <p:spPr bwMode="auto">
            <a:xfrm>
              <a:off x="4567746" y="2659234"/>
              <a:ext cx="1381789" cy="338554"/>
            </a:xfrm>
            <a:prstGeom prst="rect">
              <a:avLst/>
            </a:prstGeom>
            <a:grpFill/>
          </p:spPr>
          <p:txBody>
            <a:bodyPr wrap="none">
              <a:spAutoFit/>
            </a:bodyPr>
            <a:lstStyle/>
            <a:p>
              <a:pPr>
                <a:defRPr/>
              </a:pPr>
              <a:r>
                <a:rPr lang="en-US" sz="1600">
                  <a:ea typeface="宋体"/>
                  <a:cs typeface="Courier New"/>
                </a:rPr>
                <a:t>Ethernet1/0/1</a:t>
              </a:r>
              <a:endParaRPr lang="en-US" sz="1600"/>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4. </a:t>
            </a:r>
            <a:r>
              <a:rPr lang="zh-CN"/>
              <a:t>配置四节点网络</a:t>
            </a:r>
            <a:r>
              <a:rPr lang="en-US"/>
              <a:t> VLAN</a:t>
            </a:r>
          </a:p>
        </p:txBody>
      </p:sp>
      <p:sp>
        <p:nvSpPr>
          <p:cNvPr id="199" name="Content Placeholder 198"/>
          <p:cNvSpPr>
            <a:spLocks noGrp="1"/>
          </p:cNvSpPr>
          <p:nvPr>
            <p:ph idx="1"/>
          </p:nvPr>
        </p:nvSpPr>
        <p:spPr bwMode="auto"/>
        <p:txBody>
          <a:bodyPr/>
          <a:lstStyle/>
          <a:p>
            <a:pPr marL="447675" lvl="1" indent="-358775">
              <a:buFont typeface="+mj-lt"/>
              <a:buAutoNum type="arabicParenR" startAt="3"/>
              <a:defRPr/>
            </a:pPr>
            <a:r>
              <a:rPr lang="zh-CN"/>
              <a:t>配置</a:t>
            </a:r>
            <a:r>
              <a:rPr lang="en-US"/>
              <a:t>VLAN</a:t>
            </a:r>
            <a:r>
              <a:rPr lang="zh-CN"/>
              <a:t>。</a:t>
            </a:r>
            <a:endParaRPr lang="en-US"/>
          </a:p>
          <a:p>
            <a:pPr marL="447675" lvl="2" indent="-358775">
              <a:defRPr/>
            </a:pPr>
            <a:r>
              <a:rPr lang="zh-CN"/>
              <a:t>红色线对应的接口加入</a:t>
            </a:r>
            <a:r>
              <a:rPr lang="en-US"/>
              <a:t>VLAN2</a:t>
            </a:r>
            <a:r>
              <a:rPr lang="zh-CN"/>
              <a:t>，绿色线对应的接口加入</a:t>
            </a:r>
            <a:r>
              <a:rPr lang="en-US"/>
              <a:t>VLAN3.</a:t>
            </a:r>
            <a:endParaRPr/>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6" name="Footer Placeholder 5"/>
          <p:cNvSpPr>
            <a:spLocks noGrp="1"/>
          </p:cNvSpPr>
          <p:nvPr>
            <p:ph type="ftr" sz="quarter" idx="11"/>
          </p:nvPr>
        </p:nvSpPr>
        <p:spPr bwMode="auto"/>
        <p:txBody>
          <a:bodyPr/>
          <a:lstStyle/>
          <a:p>
            <a:pPr>
              <a:defRPr/>
            </a:pPr>
            <a:r>
              <a:rPr lang="zh-CN"/>
              <a:t>计算机网络实验</a:t>
            </a:r>
            <a:endParaRPr lang="en-US"/>
          </a:p>
        </p:txBody>
      </p:sp>
      <p:sp>
        <p:nvSpPr>
          <p:cNvPr id="7" name="Slide Number Placeholder 6"/>
          <p:cNvSpPr>
            <a:spLocks noGrp="1"/>
          </p:cNvSpPr>
          <p:nvPr>
            <p:ph type="sldNum" sz="quarter" idx="12"/>
          </p:nvPr>
        </p:nvSpPr>
        <p:spPr bwMode="auto"/>
        <p:txBody>
          <a:bodyPr/>
          <a:lstStyle/>
          <a:p>
            <a:pPr>
              <a:defRPr/>
            </a:pPr>
            <a:fld id="{0ECDF2DC-913F-4A16-9C18-8900B299D998}" type="slidenum">
              <a:rPr lang="en-US"/>
              <a:t>32</a:t>
            </a:fld>
            <a:endParaRPr lang="en-US"/>
          </a:p>
        </p:txBody>
      </p:sp>
      <p:grpSp>
        <p:nvGrpSpPr>
          <p:cNvPr id="3" name="Group 2"/>
          <p:cNvGrpSpPr/>
          <p:nvPr/>
        </p:nvGrpSpPr>
        <p:grpSpPr bwMode="auto">
          <a:xfrm>
            <a:off x="480121" y="3240000"/>
            <a:ext cx="7761893" cy="2770611"/>
            <a:chOff x="480121" y="2659234"/>
            <a:chExt cx="7761893" cy="2770611"/>
          </a:xfrm>
        </p:grpSpPr>
        <p:cxnSp>
          <p:nvCxnSpPr>
            <p:cNvPr id="191" name="Straight Connector 190"/>
            <p:cNvCxnSpPr>
              <a:cxnSpLocks/>
            </p:cNvCxnSpPr>
            <p:nvPr/>
          </p:nvCxnSpPr>
          <p:spPr bwMode="auto">
            <a:xfrm>
              <a:off x="2483787" y="3037632"/>
              <a:ext cx="3766247" cy="0"/>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grpSp>
          <p:nvGrpSpPr>
            <p:cNvPr id="10" name="Group 9"/>
            <p:cNvGrpSpPr/>
            <p:nvPr/>
          </p:nvGrpSpPr>
          <p:grpSpPr bwMode="auto">
            <a:xfrm>
              <a:off x="1043637" y="4159546"/>
              <a:ext cx="934856" cy="725206"/>
              <a:chOff x="1136203" y="4520619"/>
              <a:chExt cx="1419428" cy="1013448"/>
            </a:xfrm>
          </p:grpSpPr>
          <p:grpSp>
            <p:nvGrpSpPr>
              <p:cNvPr id="64" name="Group 950"/>
              <p:cNvGrpSpPr/>
              <p:nvPr/>
            </p:nvGrpSpPr>
            <p:grpSpPr bwMode="auto">
              <a:xfrm>
                <a:off x="2039815" y="4520619"/>
                <a:ext cx="515816" cy="969179"/>
                <a:chOff x="4140" y="429"/>
                <a:chExt cx="1425" cy="2396"/>
              </a:xfrm>
            </p:grpSpPr>
            <p:sp>
              <p:nvSpPr>
                <p:cNvPr id="68"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69"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70"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71"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72"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73" name="Group 956"/>
                <p:cNvGrpSpPr/>
                <p:nvPr/>
              </p:nvGrpSpPr>
              <p:grpSpPr bwMode="auto">
                <a:xfrm>
                  <a:off x="4749" y="668"/>
                  <a:ext cx="581" cy="145"/>
                  <a:chOff x="614" y="2568"/>
                  <a:chExt cx="725" cy="139"/>
                </a:xfrm>
              </p:grpSpPr>
              <p:sp>
                <p:nvSpPr>
                  <p:cNvPr id="98"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9"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74"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75" name="Group 960"/>
                <p:cNvGrpSpPr/>
                <p:nvPr/>
              </p:nvGrpSpPr>
              <p:grpSpPr bwMode="auto">
                <a:xfrm>
                  <a:off x="4747" y="994"/>
                  <a:ext cx="581" cy="134"/>
                  <a:chOff x="614" y="2568"/>
                  <a:chExt cx="725" cy="139"/>
                </a:xfrm>
              </p:grpSpPr>
              <p:sp>
                <p:nvSpPr>
                  <p:cNvPr id="96"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7"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76"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77"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78" name="Group 965"/>
                <p:cNvGrpSpPr/>
                <p:nvPr/>
              </p:nvGrpSpPr>
              <p:grpSpPr bwMode="auto">
                <a:xfrm>
                  <a:off x="4735" y="1627"/>
                  <a:ext cx="582" cy="151"/>
                  <a:chOff x="614" y="2568"/>
                  <a:chExt cx="725" cy="139"/>
                </a:xfrm>
              </p:grpSpPr>
              <p:sp>
                <p:nvSpPr>
                  <p:cNvPr id="94"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5"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79"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80" name="Group 969"/>
                <p:cNvGrpSpPr/>
                <p:nvPr/>
              </p:nvGrpSpPr>
              <p:grpSpPr bwMode="auto">
                <a:xfrm>
                  <a:off x="4739" y="1327"/>
                  <a:ext cx="582" cy="139"/>
                  <a:chOff x="614" y="2568"/>
                  <a:chExt cx="725" cy="139"/>
                </a:xfrm>
              </p:grpSpPr>
              <p:sp>
                <p:nvSpPr>
                  <p:cNvPr id="92"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3"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81"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2"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83"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84"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5"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86"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7"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8"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9"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90"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1"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65" name="Group 590"/>
              <p:cNvGrpSpPr/>
              <p:nvPr/>
            </p:nvGrpSpPr>
            <p:grpSpPr bwMode="auto">
              <a:xfrm flipH="1">
                <a:off x="1136203" y="4624876"/>
                <a:ext cx="948819" cy="909191"/>
                <a:chOff x="2839" y="3501"/>
                <a:chExt cx="755" cy="803"/>
              </a:xfrm>
            </p:grpSpPr>
            <p:pic>
              <p:nvPicPr>
                <p:cNvPr id="66"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67"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grpSp>
          <p:nvGrpSpPr>
            <p:cNvPr id="11" name="Group 10"/>
            <p:cNvGrpSpPr/>
            <p:nvPr/>
          </p:nvGrpSpPr>
          <p:grpSpPr bwMode="auto">
            <a:xfrm>
              <a:off x="2544844" y="4152295"/>
              <a:ext cx="934856" cy="732457"/>
              <a:chOff x="1136203" y="4520619"/>
              <a:chExt cx="1419428" cy="1013448"/>
            </a:xfrm>
          </p:grpSpPr>
          <p:grpSp>
            <p:nvGrpSpPr>
              <p:cNvPr id="28" name="Group 950"/>
              <p:cNvGrpSpPr/>
              <p:nvPr/>
            </p:nvGrpSpPr>
            <p:grpSpPr bwMode="auto">
              <a:xfrm>
                <a:off x="2039815" y="4520619"/>
                <a:ext cx="515816" cy="969179"/>
                <a:chOff x="4140" y="429"/>
                <a:chExt cx="1425" cy="2396"/>
              </a:xfrm>
            </p:grpSpPr>
            <p:sp>
              <p:nvSpPr>
                <p:cNvPr id="32"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3"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4"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5"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6"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7" name="Group 956"/>
                <p:cNvGrpSpPr/>
                <p:nvPr/>
              </p:nvGrpSpPr>
              <p:grpSpPr bwMode="auto">
                <a:xfrm>
                  <a:off x="4749" y="668"/>
                  <a:ext cx="581" cy="145"/>
                  <a:chOff x="614" y="2568"/>
                  <a:chExt cx="725" cy="139"/>
                </a:xfrm>
              </p:grpSpPr>
              <p:sp>
                <p:nvSpPr>
                  <p:cNvPr id="62"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63"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8"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9" name="Group 960"/>
                <p:cNvGrpSpPr/>
                <p:nvPr/>
              </p:nvGrpSpPr>
              <p:grpSpPr bwMode="auto">
                <a:xfrm>
                  <a:off x="4747" y="994"/>
                  <a:ext cx="581" cy="134"/>
                  <a:chOff x="614" y="2568"/>
                  <a:chExt cx="725" cy="139"/>
                </a:xfrm>
              </p:grpSpPr>
              <p:sp>
                <p:nvSpPr>
                  <p:cNvPr id="60"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61"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40"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41"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42" name="Group 965"/>
                <p:cNvGrpSpPr/>
                <p:nvPr/>
              </p:nvGrpSpPr>
              <p:grpSpPr bwMode="auto">
                <a:xfrm>
                  <a:off x="4735" y="1627"/>
                  <a:ext cx="582" cy="151"/>
                  <a:chOff x="614" y="2568"/>
                  <a:chExt cx="725" cy="139"/>
                </a:xfrm>
              </p:grpSpPr>
              <p:sp>
                <p:nvSpPr>
                  <p:cNvPr id="58"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9"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43"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44" name="Group 969"/>
                <p:cNvGrpSpPr/>
                <p:nvPr/>
              </p:nvGrpSpPr>
              <p:grpSpPr bwMode="auto">
                <a:xfrm>
                  <a:off x="4739" y="1327"/>
                  <a:ext cx="582" cy="139"/>
                  <a:chOff x="614" y="2568"/>
                  <a:chExt cx="725" cy="139"/>
                </a:xfrm>
              </p:grpSpPr>
              <p:sp>
                <p:nvSpPr>
                  <p:cNvPr id="56"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7"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45"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46"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47"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48"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49"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50"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1"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2"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3"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54"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5"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29" name="Group 590"/>
              <p:cNvGrpSpPr/>
              <p:nvPr/>
            </p:nvGrpSpPr>
            <p:grpSpPr bwMode="auto">
              <a:xfrm flipH="1">
                <a:off x="1136203" y="4624876"/>
                <a:ext cx="948819" cy="909191"/>
                <a:chOff x="2839" y="3501"/>
                <a:chExt cx="755" cy="803"/>
              </a:xfrm>
            </p:grpSpPr>
            <p:pic>
              <p:nvPicPr>
                <p:cNvPr id="30"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31"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cxnSp>
          <p:nvCxnSpPr>
            <p:cNvPr id="12" name="Straight Connector 11"/>
            <p:cNvCxnSpPr>
              <a:cxnSpLocks/>
              <a:stCxn id="69" idx="0"/>
              <a:endCxn id="21" idx="1"/>
            </p:cNvCxnSpPr>
            <p:nvPr/>
          </p:nvCxnSpPr>
          <p:spPr bwMode="auto">
            <a:xfrm flipV="1">
              <a:off x="1780141" y="3353396"/>
              <a:ext cx="330234" cy="80615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cxnSpLocks/>
              <a:stCxn id="33" idx="0"/>
              <a:endCxn id="21" idx="3"/>
            </p:cNvCxnSpPr>
            <p:nvPr/>
          </p:nvCxnSpPr>
          <p:spPr bwMode="auto">
            <a:xfrm flipH="1" flipV="1">
              <a:off x="2872185" y="3353396"/>
              <a:ext cx="409165" cy="798899"/>
            </a:xfrm>
            <a:prstGeom prst="line">
              <a:avLst/>
            </a:prstGeom>
            <a:ln w="28575"/>
          </p:spPr>
          <p:style>
            <a:lnRef idx="1">
              <a:schemeClr val="accent4"/>
            </a:lnRef>
            <a:fillRef idx="0">
              <a:schemeClr val="accent4"/>
            </a:fillRef>
            <a:effectRef idx="0">
              <a:schemeClr val="accent4"/>
            </a:effectRef>
            <a:fontRef idx="minor">
              <a:schemeClr val="tx1"/>
            </a:fontRef>
          </p:style>
        </p:cxnSp>
        <p:grpSp>
          <p:nvGrpSpPr>
            <p:cNvPr id="14" name="Group 13"/>
            <p:cNvGrpSpPr/>
            <p:nvPr/>
          </p:nvGrpSpPr>
          <p:grpSpPr bwMode="auto">
            <a:xfrm>
              <a:off x="2110376" y="2795049"/>
              <a:ext cx="764558" cy="699261"/>
              <a:chOff x="3668110" y="2448910"/>
              <a:chExt cx="3794234" cy="2165130"/>
            </a:xfrm>
          </p:grpSpPr>
          <p:sp>
            <p:nvSpPr>
              <p:cNvPr id="21" name="Rectangle 20"/>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2"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nvGrpSpPr>
              <p:cNvPr id="23" name="Group 22"/>
              <p:cNvGrpSpPr/>
              <p:nvPr/>
            </p:nvGrpSpPr>
            <p:grpSpPr bwMode="auto">
              <a:xfrm>
                <a:off x="3941378" y="2603243"/>
                <a:ext cx="3202060" cy="1066110"/>
                <a:chOff x="7939341" y="3037317"/>
                <a:chExt cx="897649" cy="353919"/>
              </a:xfrm>
            </p:grpSpPr>
            <p:sp>
              <p:nvSpPr>
                <p:cNvPr id="24"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5"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6"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7"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grpSp>
        <p:sp>
          <p:nvSpPr>
            <p:cNvPr id="15" name="Rectangle 14"/>
            <p:cNvSpPr/>
            <p:nvPr/>
          </p:nvSpPr>
          <p:spPr bwMode="auto">
            <a:xfrm>
              <a:off x="708343" y="324866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Ethernet1/0/3</a:t>
              </a:r>
              <a:endParaRPr lang="en-US" sz="1600">
                <a:solidFill>
                  <a:schemeClr val="accent3"/>
                </a:solidFill>
              </a:endParaRPr>
            </a:p>
          </p:txBody>
        </p:sp>
        <p:sp>
          <p:nvSpPr>
            <p:cNvPr id="16" name="Rectangle 15"/>
            <p:cNvSpPr/>
            <p:nvPr/>
          </p:nvSpPr>
          <p:spPr bwMode="auto">
            <a:xfrm>
              <a:off x="2904030" y="3243074"/>
              <a:ext cx="1381789" cy="338554"/>
            </a:xfrm>
            <a:prstGeom prst="rect">
              <a:avLst/>
            </a:prstGeom>
            <a:grpFill/>
          </p:spPr>
          <p:txBody>
            <a:bodyPr wrap="none">
              <a:spAutoFit/>
            </a:bodyPr>
            <a:lstStyle/>
            <a:p>
              <a:pPr>
                <a:defRPr/>
              </a:pPr>
              <a:r>
                <a:rPr lang="en-US" sz="1600">
                  <a:solidFill>
                    <a:schemeClr val="accent4"/>
                  </a:solidFill>
                  <a:ea typeface="宋体"/>
                  <a:cs typeface="Courier New"/>
                </a:rPr>
                <a:t>Ethernet1/0/4</a:t>
              </a:r>
              <a:endParaRPr lang="en-US" sz="1600">
                <a:solidFill>
                  <a:schemeClr val="accent4"/>
                </a:solidFill>
              </a:endParaRPr>
            </a:p>
          </p:txBody>
        </p:sp>
        <p:sp>
          <p:nvSpPr>
            <p:cNvPr id="17" name="Rectangle 16"/>
            <p:cNvSpPr/>
            <p:nvPr/>
          </p:nvSpPr>
          <p:spPr bwMode="auto">
            <a:xfrm>
              <a:off x="1571505" y="4879752"/>
              <a:ext cx="482824" cy="338554"/>
            </a:xfrm>
            <a:prstGeom prst="rect">
              <a:avLst/>
            </a:prstGeom>
            <a:grpFill/>
          </p:spPr>
          <p:txBody>
            <a:bodyPr wrap="none">
              <a:spAutoFit/>
            </a:bodyPr>
            <a:lstStyle/>
            <a:p>
              <a:pPr>
                <a:defRPr/>
              </a:pPr>
              <a:r>
                <a:rPr lang="en-US" sz="1600">
                  <a:ea typeface="宋体"/>
                  <a:cs typeface="Courier New"/>
                </a:rPr>
                <a:t>pc1</a:t>
              </a:r>
              <a:endParaRPr lang="en-US" sz="1600"/>
            </a:p>
          </p:txBody>
        </p:sp>
        <p:sp>
          <p:nvSpPr>
            <p:cNvPr id="18" name="Rectangle 17"/>
            <p:cNvSpPr/>
            <p:nvPr/>
          </p:nvSpPr>
          <p:spPr bwMode="auto">
            <a:xfrm>
              <a:off x="3138321" y="4892898"/>
              <a:ext cx="482824" cy="338554"/>
            </a:xfrm>
            <a:prstGeom prst="rect">
              <a:avLst/>
            </a:prstGeom>
            <a:grpFill/>
          </p:spPr>
          <p:txBody>
            <a:bodyPr wrap="none">
              <a:spAutoFit/>
            </a:bodyPr>
            <a:lstStyle/>
            <a:p>
              <a:pPr>
                <a:defRPr/>
              </a:pPr>
              <a:r>
                <a:rPr lang="en-US" sz="1600">
                  <a:ea typeface="宋体"/>
                  <a:cs typeface="Courier New"/>
                </a:rPr>
                <a:t>pc2</a:t>
              </a:r>
              <a:endParaRPr lang="en-US" sz="1600"/>
            </a:p>
          </p:txBody>
        </p:sp>
        <p:sp>
          <p:nvSpPr>
            <p:cNvPr id="19" name="Rectangle 18"/>
            <p:cNvSpPr/>
            <p:nvPr/>
          </p:nvSpPr>
          <p:spPr bwMode="auto">
            <a:xfrm>
              <a:off x="1128224" y="5091291"/>
              <a:ext cx="1563247" cy="338554"/>
            </a:xfrm>
            <a:prstGeom prst="rect">
              <a:avLst/>
            </a:prstGeom>
            <a:grpFill/>
          </p:spPr>
          <p:txBody>
            <a:bodyPr wrap="none">
              <a:spAutoFit/>
            </a:bodyPr>
            <a:lstStyle/>
            <a:p>
              <a:pPr>
                <a:defRPr/>
              </a:pPr>
              <a:r>
                <a:rPr lang="en-US" sz="1600"/>
                <a:t>192.168.1.11/24</a:t>
              </a:r>
            </a:p>
          </p:txBody>
        </p:sp>
        <p:sp>
          <p:nvSpPr>
            <p:cNvPr id="20" name="Rectangle 19"/>
            <p:cNvSpPr/>
            <p:nvPr/>
          </p:nvSpPr>
          <p:spPr bwMode="auto">
            <a:xfrm>
              <a:off x="2695041" y="5086410"/>
              <a:ext cx="1563247" cy="338554"/>
            </a:xfrm>
            <a:prstGeom prst="rect">
              <a:avLst/>
            </a:prstGeom>
            <a:grpFill/>
          </p:spPr>
          <p:txBody>
            <a:bodyPr wrap="none">
              <a:spAutoFit/>
            </a:bodyPr>
            <a:lstStyle/>
            <a:p>
              <a:pPr>
                <a:defRPr/>
              </a:pPr>
              <a:r>
                <a:rPr lang="en-US" sz="1600"/>
                <a:t>192.168.1.12/24</a:t>
              </a:r>
            </a:p>
          </p:txBody>
        </p:sp>
        <p:grpSp>
          <p:nvGrpSpPr>
            <p:cNvPr id="101" name="Group 100"/>
            <p:cNvGrpSpPr/>
            <p:nvPr/>
          </p:nvGrpSpPr>
          <p:grpSpPr bwMode="auto">
            <a:xfrm>
              <a:off x="4809883" y="4159546"/>
              <a:ext cx="934856" cy="725206"/>
              <a:chOff x="1136203" y="4520619"/>
              <a:chExt cx="1419428" cy="1013448"/>
            </a:xfrm>
          </p:grpSpPr>
          <p:grpSp>
            <p:nvGrpSpPr>
              <p:cNvPr id="155" name="Group 950"/>
              <p:cNvGrpSpPr/>
              <p:nvPr/>
            </p:nvGrpSpPr>
            <p:grpSpPr bwMode="auto">
              <a:xfrm>
                <a:off x="2039815" y="4520619"/>
                <a:ext cx="515816" cy="969179"/>
                <a:chOff x="4140" y="429"/>
                <a:chExt cx="1425" cy="2396"/>
              </a:xfrm>
            </p:grpSpPr>
            <p:sp>
              <p:nvSpPr>
                <p:cNvPr id="159"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60"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61"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62"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63"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64" name="Group 956"/>
                <p:cNvGrpSpPr/>
                <p:nvPr/>
              </p:nvGrpSpPr>
              <p:grpSpPr bwMode="auto">
                <a:xfrm>
                  <a:off x="4749" y="668"/>
                  <a:ext cx="581" cy="145"/>
                  <a:chOff x="614" y="2568"/>
                  <a:chExt cx="725" cy="139"/>
                </a:xfrm>
              </p:grpSpPr>
              <p:sp>
                <p:nvSpPr>
                  <p:cNvPr id="189"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90"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65"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66" name="Group 960"/>
                <p:cNvGrpSpPr/>
                <p:nvPr/>
              </p:nvGrpSpPr>
              <p:grpSpPr bwMode="auto">
                <a:xfrm>
                  <a:off x="4747" y="994"/>
                  <a:ext cx="581" cy="134"/>
                  <a:chOff x="614" y="2568"/>
                  <a:chExt cx="725" cy="139"/>
                </a:xfrm>
              </p:grpSpPr>
              <p:sp>
                <p:nvSpPr>
                  <p:cNvPr id="187"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8"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67"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68"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69" name="Group 965"/>
                <p:cNvGrpSpPr/>
                <p:nvPr/>
              </p:nvGrpSpPr>
              <p:grpSpPr bwMode="auto">
                <a:xfrm>
                  <a:off x="4735" y="1627"/>
                  <a:ext cx="582" cy="151"/>
                  <a:chOff x="614" y="2568"/>
                  <a:chExt cx="725" cy="139"/>
                </a:xfrm>
              </p:grpSpPr>
              <p:sp>
                <p:nvSpPr>
                  <p:cNvPr id="185"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6"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70"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171" name="Group 969"/>
                <p:cNvGrpSpPr/>
                <p:nvPr/>
              </p:nvGrpSpPr>
              <p:grpSpPr bwMode="auto">
                <a:xfrm>
                  <a:off x="4739" y="1327"/>
                  <a:ext cx="582" cy="139"/>
                  <a:chOff x="614" y="2568"/>
                  <a:chExt cx="725" cy="139"/>
                </a:xfrm>
              </p:grpSpPr>
              <p:sp>
                <p:nvSpPr>
                  <p:cNvPr id="183"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4"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72"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3"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74"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75"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6"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77"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8"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9"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0"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181"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2"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156" name="Group 590"/>
              <p:cNvGrpSpPr/>
              <p:nvPr/>
            </p:nvGrpSpPr>
            <p:grpSpPr bwMode="auto">
              <a:xfrm flipH="1">
                <a:off x="1136203" y="4624876"/>
                <a:ext cx="948819" cy="909191"/>
                <a:chOff x="2839" y="3501"/>
                <a:chExt cx="755" cy="803"/>
              </a:xfrm>
            </p:grpSpPr>
            <p:pic>
              <p:nvPicPr>
                <p:cNvPr id="157"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58"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grpSp>
          <p:nvGrpSpPr>
            <p:cNvPr id="102" name="Group 101"/>
            <p:cNvGrpSpPr/>
            <p:nvPr/>
          </p:nvGrpSpPr>
          <p:grpSpPr bwMode="auto">
            <a:xfrm>
              <a:off x="6311091" y="4152295"/>
              <a:ext cx="934856" cy="732457"/>
              <a:chOff x="1136203" y="4520619"/>
              <a:chExt cx="1419428" cy="1013448"/>
            </a:xfrm>
          </p:grpSpPr>
          <p:grpSp>
            <p:nvGrpSpPr>
              <p:cNvPr id="119" name="Group 950"/>
              <p:cNvGrpSpPr/>
              <p:nvPr/>
            </p:nvGrpSpPr>
            <p:grpSpPr bwMode="auto">
              <a:xfrm>
                <a:off x="2039815" y="4520619"/>
                <a:ext cx="515816" cy="969179"/>
                <a:chOff x="4140" y="429"/>
                <a:chExt cx="1425" cy="2396"/>
              </a:xfrm>
            </p:grpSpPr>
            <p:sp>
              <p:nvSpPr>
                <p:cNvPr id="123"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24"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25"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26"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27"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28" name="Group 956"/>
                <p:cNvGrpSpPr/>
                <p:nvPr/>
              </p:nvGrpSpPr>
              <p:grpSpPr bwMode="auto">
                <a:xfrm>
                  <a:off x="4749" y="668"/>
                  <a:ext cx="581" cy="145"/>
                  <a:chOff x="614" y="2568"/>
                  <a:chExt cx="725" cy="139"/>
                </a:xfrm>
              </p:grpSpPr>
              <p:sp>
                <p:nvSpPr>
                  <p:cNvPr id="153"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54"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29"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30" name="Group 960"/>
                <p:cNvGrpSpPr/>
                <p:nvPr/>
              </p:nvGrpSpPr>
              <p:grpSpPr bwMode="auto">
                <a:xfrm>
                  <a:off x="4747" y="994"/>
                  <a:ext cx="581" cy="134"/>
                  <a:chOff x="614" y="2568"/>
                  <a:chExt cx="725" cy="139"/>
                </a:xfrm>
              </p:grpSpPr>
              <p:sp>
                <p:nvSpPr>
                  <p:cNvPr id="151"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52"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31"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32"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33" name="Group 965"/>
                <p:cNvGrpSpPr/>
                <p:nvPr/>
              </p:nvGrpSpPr>
              <p:grpSpPr bwMode="auto">
                <a:xfrm>
                  <a:off x="4735" y="1627"/>
                  <a:ext cx="582" cy="151"/>
                  <a:chOff x="614" y="2568"/>
                  <a:chExt cx="725" cy="139"/>
                </a:xfrm>
              </p:grpSpPr>
              <p:sp>
                <p:nvSpPr>
                  <p:cNvPr id="149"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50"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34"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135" name="Group 969"/>
                <p:cNvGrpSpPr/>
                <p:nvPr/>
              </p:nvGrpSpPr>
              <p:grpSpPr bwMode="auto">
                <a:xfrm>
                  <a:off x="4739" y="1327"/>
                  <a:ext cx="582" cy="139"/>
                  <a:chOff x="614" y="2568"/>
                  <a:chExt cx="725" cy="139"/>
                </a:xfrm>
              </p:grpSpPr>
              <p:sp>
                <p:nvSpPr>
                  <p:cNvPr id="147"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8"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36"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37"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38"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39"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0"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41"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2"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3"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4"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145"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6"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120" name="Group 590"/>
              <p:cNvGrpSpPr/>
              <p:nvPr/>
            </p:nvGrpSpPr>
            <p:grpSpPr bwMode="auto">
              <a:xfrm flipH="1">
                <a:off x="1136203" y="4624876"/>
                <a:ext cx="948819" cy="909191"/>
                <a:chOff x="2839" y="3501"/>
                <a:chExt cx="755" cy="803"/>
              </a:xfrm>
            </p:grpSpPr>
            <p:pic>
              <p:nvPicPr>
                <p:cNvPr id="121"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22"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cxnSp>
          <p:nvCxnSpPr>
            <p:cNvPr id="103" name="Straight Connector 102"/>
            <p:cNvCxnSpPr>
              <a:cxnSpLocks/>
              <a:stCxn id="160" idx="0"/>
              <a:endCxn id="112" idx="1"/>
            </p:cNvCxnSpPr>
            <p:nvPr/>
          </p:nvCxnSpPr>
          <p:spPr bwMode="auto">
            <a:xfrm flipV="1">
              <a:off x="5546389" y="3353396"/>
              <a:ext cx="330234" cy="80615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a:cxnSpLocks/>
              <a:stCxn id="124" idx="0"/>
              <a:endCxn id="112" idx="3"/>
            </p:cNvCxnSpPr>
            <p:nvPr/>
          </p:nvCxnSpPr>
          <p:spPr bwMode="auto">
            <a:xfrm flipH="1" flipV="1">
              <a:off x="6638431" y="3353396"/>
              <a:ext cx="409165" cy="798899"/>
            </a:xfrm>
            <a:prstGeom prst="line">
              <a:avLst/>
            </a:prstGeom>
            <a:ln w="28575"/>
          </p:spPr>
          <p:style>
            <a:lnRef idx="1">
              <a:schemeClr val="accent4"/>
            </a:lnRef>
            <a:fillRef idx="0">
              <a:schemeClr val="accent4"/>
            </a:fillRef>
            <a:effectRef idx="0">
              <a:schemeClr val="accent4"/>
            </a:effectRef>
            <a:fontRef idx="minor">
              <a:schemeClr val="tx1"/>
            </a:fontRef>
          </p:style>
        </p:cxnSp>
        <p:grpSp>
          <p:nvGrpSpPr>
            <p:cNvPr id="105" name="Group 104"/>
            <p:cNvGrpSpPr/>
            <p:nvPr/>
          </p:nvGrpSpPr>
          <p:grpSpPr bwMode="auto">
            <a:xfrm>
              <a:off x="5876623" y="2795049"/>
              <a:ext cx="764558" cy="699261"/>
              <a:chOff x="3668110" y="2448910"/>
              <a:chExt cx="3794234" cy="2165130"/>
            </a:xfrm>
          </p:grpSpPr>
          <p:sp>
            <p:nvSpPr>
              <p:cNvPr id="112" name="Rectangle 111"/>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3"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nvGrpSpPr>
              <p:cNvPr id="114" name="Group 113"/>
              <p:cNvGrpSpPr/>
              <p:nvPr/>
            </p:nvGrpSpPr>
            <p:grpSpPr bwMode="auto">
              <a:xfrm>
                <a:off x="3941378" y="2603243"/>
                <a:ext cx="3202060" cy="1066110"/>
                <a:chOff x="7939341" y="3037317"/>
                <a:chExt cx="897649" cy="353919"/>
              </a:xfrm>
            </p:grpSpPr>
            <p:sp>
              <p:nvSpPr>
                <p:cNvPr id="115"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6"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7"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8"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grpSp>
        <p:sp>
          <p:nvSpPr>
            <p:cNvPr id="106" name="Rectangle 105"/>
            <p:cNvSpPr/>
            <p:nvPr/>
          </p:nvSpPr>
          <p:spPr bwMode="auto">
            <a:xfrm>
              <a:off x="4471812" y="324866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Ethernet1/0/3</a:t>
              </a:r>
              <a:endParaRPr lang="en-US" sz="1600">
                <a:solidFill>
                  <a:schemeClr val="accent3"/>
                </a:solidFill>
              </a:endParaRPr>
            </a:p>
          </p:txBody>
        </p:sp>
        <p:sp>
          <p:nvSpPr>
            <p:cNvPr id="107" name="Rectangle 106"/>
            <p:cNvSpPr/>
            <p:nvPr/>
          </p:nvSpPr>
          <p:spPr bwMode="auto">
            <a:xfrm>
              <a:off x="6794182" y="3248664"/>
              <a:ext cx="1381789" cy="338554"/>
            </a:xfrm>
            <a:prstGeom prst="rect">
              <a:avLst/>
            </a:prstGeom>
            <a:grpFill/>
          </p:spPr>
          <p:txBody>
            <a:bodyPr wrap="none">
              <a:spAutoFit/>
            </a:bodyPr>
            <a:lstStyle/>
            <a:p>
              <a:pPr>
                <a:defRPr/>
              </a:pPr>
              <a:r>
                <a:rPr lang="en-US" sz="1600">
                  <a:solidFill>
                    <a:schemeClr val="accent4"/>
                  </a:solidFill>
                  <a:ea typeface="宋体"/>
                  <a:cs typeface="Courier New"/>
                </a:rPr>
                <a:t>Ethernet1/0/4</a:t>
              </a:r>
              <a:endParaRPr lang="en-US" sz="1600">
                <a:solidFill>
                  <a:schemeClr val="accent4"/>
                </a:solidFill>
              </a:endParaRPr>
            </a:p>
          </p:txBody>
        </p:sp>
        <p:sp>
          <p:nvSpPr>
            <p:cNvPr id="108" name="Rectangle 107"/>
            <p:cNvSpPr/>
            <p:nvPr/>
          </p:nvSpPr>
          <p:spPr bwMode="auto">
            <a:xfrm>
              <a:off x="5337751" y="4879752"/>
              <a:ext cx="482824" cy="338554"/>
            </a:xfrm>
            <a:prstGeom prst="rect">
              <a:avLst/>
            </a:prstGeom>
            <a:grpFill/>
          </p:spPr>
          <p:txBody>
            <a:bodyPr wrap="none">
              <a:spAutoFit/>
            </a:bodyPr>
            <a:lstStyle/>
            <a:p>
              <a:pPr>
                <a:defRPr/>
              </a:pPr>
              <a:r>
                <a:rPr lang="en-US" sz="1600">
                  <a:ea typeface="宋体"/>
                  <a:cs typeface="Courier New"/>
                </a:rPr>
                <a:t>pc3</a:t>
              </a:r>
              <a:endParaRPr lang="en-US" sz="1600"/>
            </a:p>
          </p:txBody>
        </p:sp>
        <p:sp>
          <p:nvSpPr>
            <p:cNvPr id="109" name="Rectangle 108"/>
            <p:cNvSpPr/>
            <p:nvPr/>
          </p:nvSpPr>
          <p:spPr bwMode="auto">
            <a:xfrm>
              <a:off x="6904567" y="4892898"/>
              <a:ext cx="482824" cy="338554"/>
            </a:xfrm>
            <a:prstGeom prst="rect">
              <a:avLst/>
            </a:prstGeom>
            <a:grpFill/>
          </p:spPr>
          <p:txBody>
            <a:bodyPr wrap="none">
              <a:spAutoFit/>
            </a:bodyPr>
            <a:lstStyle/>
            <a:p>
              <a:pPr>
                <a:defRPr/>
              </a:pPr>
              <a:r>
                <a:rPr lang="en-US" sz="1600">
                  <a:ea typeface="宋体"/>
                  <a:cs typeface="Courier New"/>
                </a:rPr>
                <a:t>pc4</a:t>
              </a:r>
              <a:endParaRPr lang="en-US" sz="1600"/>
            </a:p>
          </p:txBody>
        </p:sp>
        <p:sp>
          <p:nvSpPr>
            <p:cNvPr id="110" name="Rectangle 109"/>
            <p:cNvSpPr/>
            <p:nvPr/>
          </p:nvSpPr>
          <p:spPr bwMode="auto">
            <a:xfrm>
              <a:off x="4894471" y="5091291"/>
              <a:ext cx="1563247" cy="338554"/>
            </a:xfrm>
            <a:prstGeom prst="rect">
              <a:avLst/>
            </a:prstGeom>
            <a:grpFill/>
          </p:spPr>
          <p:txBody>
            <a:bodyPr wrap="none">
              <a:spAutoFit/>
            </a:bodyPr>
            <a:lstStyle/>
            <a:p>
              <a:pPr>
                <a:defRPr/>
              </a:pPr>
              <a:r>
                <a:rPr lang="en-US" sz="1600"/>
                <a:t>192.168.1.13/24</a:t>
              </a:r>
            </a:p>
          </p:txBody>
        </p:sp>
        <p:sp>
          <p:nvSpPr>
            <p:cNvPr id="111" name="Rectangle 110"/>
            <p:cNvSpPr/>
            <p:nvPr/>
          </p:nvSpPr>
          <p:spPr bwMode="auto">
            <a:xfrm>
              <a:off x="6461288" y="5086410"/>
              <a:ext cx="1563247" cy="338554"/>
            </a:xfrm>
            <a:prstGeom prst="rect">
              <a:avLst/>
            </a:prstGeom>
            <a:grpFill/>
          </p:spPr>
          <p:txBody>
            <a:bodyPr wrap="none">
              <a:spAutoFit/>
            </a:bodyPr>
            <a:lstStyle/>
            <a:p>
              <a:pPr>
                <a:defRPr/>
              </a:pPr>
              <a:r>
                <a:rPr lang="en-US" sz="1600"/>
                <a:t>192.168.1.14/24</a:t>
              </a:r>
            </a:p>
          </p:txBody>
        </p:sp>
        <p:sp>
          <p:nvSpPr>
            <p:cNvPr id="192" name="Rectangle 191"/>
            <p:cNvSpPr/>
            <p:nvPr/>
          </p:nvSpPr>
          <p:spPr bwMode="auto">
            <a:xfrm>
              <a:off x="2815354" y="2659234"/>
              <a:ext cx="1381789" cy="338554"/>
            </a:xfrm>
            <a:prstGeom prst="rect">
              <a:avLst/>
            </a:prstGeom>
            <a:grpFill/>
          </p:spPr>
          <p:txBody>
            <a:bodyPr wrap="none">
              <a:spAutoFit/>
            </a:bodyPr>
            <a:lstStyle/>
            <a:p>
              <a:pPr>
                <a:defRPr/>
              </a:pPr>
              <a:r>
                <a:rPr lang="en-US" sz="1600">
                  <a:ea typeface="宋体"/>
                  <a:cs typeface="Courier New"/>
                </a:rPr>
                <a:t>Ethernet1/0/1</a:t>
              </a:r>
              <a:endParaRPr lang="en-US" sz="1600"/>
            </a:p>
          </p:txBody>
        </p:sp>
        <p:sp>
          <p:nvSpPr>
            <p:cNvPr id="193" name="Rectangle 192"/>
            <p:cNvSpPr/>
            <p:nvPr/>
          </p:nvSpPr>
          <p:spPr bwMode="auto">
            <a:xfrm>
              <a:off x="4567746" y="2659234"/>
              <a:ext cx="1381789" cy="338554"/>
            </a:xfrm>
            <a:prstGeom prst="rect">
              <a:avLst/>
            </a:prstGeom>
            <a:grpFill/>
          </p:spPr>
          <p:txBody>
            <a:bodyPr wrap="none">
              <a:spAutoFit/>
            </a:bodyPr>
            <a:lstStyle/>
            <a:p>
              <a:pPr>
                <a:defRPr/>
              </a:pPr>
              <a:r>
                <a:rPr lang="en-US" sz="1600">
                  <a:ea typeface="宋体"/>
                  <a:cs typeface="Courier New"/>
                </a:rPr>
                <a:t>Ethernet1/0/1</a:t>
              </a:r>
              <a:endParaRPr lang="en-US" sz="1600"/>
            </a:p>
          </p:txBody>
        </p:sp>
        <p:sp>
          <p:nvSpPr>
            <p:cNvPr id="194" name="Rectangle 193"/>
            <p:cNvSpPr/>
            <p:nvPr/>
          </p:nvSpPr>
          <p:spPr bwMode="auto">
            <a:xfrm>
              <a:off x="480121" y="3724551"/>
              <a:ext cx="756938" cy="338554"/>
            </a:xfrm>
            <a:prstGeom prst="rect">
              <a:avLst/>
            </a:prstGeom>
            <a:grpFill/>
          </p:spPr>
          <p:txBody>
            <a:bodyPr wrap="none">
              <a:spAutoFit/>
            </a:bodyPr>
            <a:lstStyle/>
            <a:p>
              <a:pPr>
                <a:defRPr/>
              </a:pPr>
              <a:r>
                <a:rPr lang="en-US" sz="1600" b="1" u="sng">
                  <a:solidFill>
                    <a:schemeClr val="accent3"/>
                  </a:solidFill>
                  <a:ea typeface="宋体"/>
                  <a:cs typeface="Courier New"/>
                </a:rPr>
                <a:t>VLAN2</a:t>
              </a:r>
              <a:endParaRPr lang="en-US" sz="1600" b="1" u="sng">
                <a:solidFill>
                  <a:schemeClr val="accent3"/>
                </a:solidFill>
              </a:endParaRPr>
            </a:p>
          </p:txBody>
        </p:sp>
        <p:sp>
          <p:nvSpPr>
            <p:cNvPr id="195" name="Rectangle 194"/>
            <p:cNvSpPr/>
            <p:nvPr/>
          </p:nvSpPr>
          <p:spPr bwMode="auto">
            <a:xfrm>
              <a:off x="7485076" y="3737169"/>
              <a:ext cx="756938" cy="338554"/>
            </a:xfrm>
            <a:prstGeom prst="rect">
              <a:avLst/>
            </a:prstGeom>
            <a:grpFill/>
          </p:spPr>
          <p:txBody>
            <a:bodyPr wrap="none">
              <a:spAutoFit/>
            </a:bodyPr>
            <a:lstStyle/>
            <a:p>
              <a:pPr>
                <a:defRPr/>
              </a:pPr>
              <a:r>
                <a:rPr lang="en-US" sz="1600" b="1" u="sng">
                  <a:solidFill>
                    <a:schemeClr val="accent4"/>
                  </a:solidFill>
                  <a:ea typeface="宋体"/>
                  <a:cs typeface="Courier New"/>
                </a:rPr>
                <a:t>VLAN3</a:t>
              </a:r>
              <a:endParaRPr lang="en-US" sz="1600" b="1" u="sng">
                <a:solidFill>
                  <a:schemeClr val="accent4"/>
                </a:solidFill>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4. </a:t>
            </a:r>
            <a:r>
              <a:rPr lang="zh-CN"/>
              <a:t>配置四节点网络</a:t>
            </a:r>
            <a:r>
              <a:rPr lang="en-US"/>
              <a:t> VLAN</a:t>
            </a:r>
          </a:p>
        </p:txBody>
      </p:sp>
      <p:sp>
        <p:nvSpPr>
          <p:cNvPr id="199" name="Content Placeholder 198"/>
          <p:cNvSpPr>
            <a:spLocks noGrp="1"/>
          </p:cNvSpPr>
          <p:nvPr>
            <p:ph idx="1"/>
          </p:nvPr>
        </p:nvSpPr>
        <p:spPr bwMode="auto"/>
        <p:txBody>
          <a:bodyPr/>
          <a:lstStyle/>
          <a:p>
            <a:pPr marL="447675" lvl="1" indent="-358775">
              <a:buFont typeface="+mj-lt"/>
              <a:buAutoNum type="arabicParenR" startAt="3"/>
              <a:defRPr/>
            </a:pPr>
            <a:r>
              <a:rPr lang="zh-CN"/>
              <a:t>配置</a:t>
            </a:r>
            <a:r>
              <a:rPr lang="en-US"/>
              <a:t>VLAN</a:t>
            </a:r>
            <a:r>
              <a:rPr lang="zh-CN"/>
              <a:t>。</a:t>
            </a:r>
            <a:endParaRPr lang="en-US"/>
          </a:p>
          <a:p>
            <a:pPr marL="447675" lvl="2" indent="-358775">
              <a:defRPr/>
            </a:pPr>
            <a:r>
              <a:rPr lang="zh-CN"/>
              <a:t>问：</a:t>
            </a:r>
            <a:r>
              <a:rPr lang="en-US"/>
              <a:t>VLAN2</a:t>
            </a:r>
            <a:r>
              <a:rPr lang="zh-CN"/>
              <a:t>内部的</a:t>
            </a:r>
            <a:r>
              <a:rPr lang="en-US"/>
              <a:t>pc1</a:t>
            </a:r>
            <a:r>
              <a:rPr lang="zh-CN"/>
              <a:t>和</a:t>
            </a:r>
            <a:r>
              <a:rPr lang="en-US"/>
              <a:t>pc3</a:t>
            </a:r>
            <a:r>
              <a:rPr lang="zh-CN"/>
              <a:t>能通信吗？</a:t>
            </a:r>
            <a:endParaRPr lang="en-US"/>
          </a:p>
          <a:p>
            <a:pPr marL="447675" lvl="2" indent="-358775">
              <a:defRPr/>
            </a:pPr>
            <a:r>
              <a:rPr lang="zh-CN"/>
              <a:t>答：不能，因为连接两个交换机的接口不属于</a:t>
            </a:r>
            <a:r>
              <a:rPr lang="en-US"/>
              <a:t>VLAN2</a:t>
            </a:r>
            <a:r>
              <a:rPr lang="zh-CN"/>
              <a:t>。</a:t>
            </a:r>
            <a:endParaRPr lang="en-US"/>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33</a:t>
            </a:fld>
            <a:endParaRPr lang="en-US"/>
          </a:p>
        </p:txBody>
      </p:sp>
      <p:grpSp>
        <p:nvGrpSpPr>
          <p:cNvPr id="3" name="Group 2"/>
          <p:cNvGrpSpPr/>
          <p:nvPr/>
        </p:nvGrpSpPr>
        <p:grpSpPr bwMode="auto">
          <a:xfrm>
            <a:off x="480121" y="3240000"/>
            <a:ext cx="7761893" cy="2770611"/>
            <a:chOff x="480121" y="2659234"/>
            <a:chExt cx="7761893" cy="2770611"/>
          </a:xfrm>
        </p:grpSpPr>
        <p:cxnSp>
          <p:nvCxnSpPr>
            <p:cNvPr id="191" name="Straight Connector 190"/>
            <p:cNvCxnSpPr>
              <a:cxnSpLocks/>
            </p:cNvCxnSpPr>
            <p:nvPr/>
          </p:nvCxnSpPr>
          <p:spPr bwMode="auto">
            <a:xfrm>
              <a:off x="2483787" y="3037632"/>
              <a:ext cx="3766247" cy="0"/>
            </a:xfrm>
            <a:prstGeom prst="line">
              <a:avLst/>
            </a:prstGeom>
            <a:ln>
              <a:solidFill>
                <a:schemeClr val="tx1">
                  <a:lumMod val="75000"/>
                  <a:lumOff val="25000"/>
                </a:schemeClr>
              </a:solidFill>
            </a:ln>
          </p:spPr>
          <p:style>
            <a:lnRef idx="2">
              <a:schemeClr val="dk1"/>
            </a:lnRef>
            <a:fillRef idx="0">
              <a:schemeClr val="dk1"/>
            </a:fillRef>
            <a:effectRef idx="1">
              <a:schemeClr val="dk1"/>
            </a:effectRef>
            <a:fontRef idx="minor">
              <a:schemeClr val="tx1"/>
            </a:fontRef>
          </p:style>
        </p:cxnSp>
        <p:grpSp>
          <p:nvGrpSpPr>
            <p:cNvPr id="10" name="Group 9"/>
            <p:cNvGrpSpPr/>
            <p:nvPr/>
          </p:nvGrpSpPr>
          <p:grpSpPr bwMode="auto">
            <a:xfrm>
              <a:off x="1043637" y="4159546"/>
              <a:ext cx="934856" cy="725206"/>
              <a:chOff x="1136203" y="4520619"/>
              <a:chExt cx="1419428" cy="1013448"/>
            </a:xfrm>
          </p:grpSpPr>
          <p:grpSp>
            <p:nvGrpSpPr>
              <p:cNvPr id="64" name="Group 950"/>
              <p:cNvGrpSpPr/>
              <p:nvPr/>
            </p:nvGrpSpPr>
            <p:grpSpPr bwMode="auto">
              <a:xfrm>
                <a:off x="2039815" y="4520619"/>
                <a:ext cx="515816" cy="969179"/>
                <a:chOff x="4140" y="429"/>
                <a:chExt cx="1425" cy="2396"/>
              </a:xfrm>
            </p:grpSpPr>
            <p:sp>
              <p:nvSpPr>
                <p:cNvPr id="68"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69"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70"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71"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72"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73" name="Group 956"/>
                <p:cNvGrpSpPr/>
                <p:nvPr/>
              </p:nvGrpSpPr>
              <p:grpSpPr bwMode="auto">
                <a:xfrm>
                  <a:off x="4749" y="668"/>
                  <a:ext cx="581" cy="145"/>
                  <a:chOff x="614" y="2568"/>
                  <a:chExt cx="725" cy="139"/>
                </a:xfrm>
              </p:grpSpPr>
              <p:sp>
                <p:nvSpPr>
                  <p:cNvPr id="98"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9"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74"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75" name="Group 960"/>
                <p:cNvGrpSpPr/>
                <p:nvPr/>
              </p:nvGrpSpPr>
              <p:grpSpPr bwMode="auto">
                <a:xfrm>
                  <a:off x="4747" y="994"/>
                  <a:ext cx="581" cy="134"/>
                  <a:chOff x="614" y="2568"/>
                  <a:chExt cx="725" cy="139"/>
                </a:xfrm>
              </p:grpSpPr>
              <p:sp>
                <p:nvSpPr>
                  <p:cNvPr id="96"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7"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76"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77"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78" name="Group 965"/>
                <p:cNvGrpSpPr/>
                <p:nvPr/>
              </p:nvGrpSpPr>
              <p:grpSpPr bwMode="auto">
                <a:xfrm>
                  <a:off x="4735" y="1627"/>
                  <a:ext cx="582" cy="151"/>
                  <a:chOff x="614" y="2568"/>
                  <a:chExt cx="725" cy="139"/>
                </a:xfrm>
              </p:grpSpPr>
              <p:sp>
                <p:nvSpPr>
                  <p:cNvPr id="94"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5"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79"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80" name="Group 969"/>
                <p:cNvGrpSpPr/>
                <p:nvPr/>
              </p:nvGrpSpPr>
              <p:grpSpPr bwMode="auto">
                <a:xfrm>
                  <a:off x="4739" y="1327"/>
                  <a:ext cx="582" cy="139"/>
                  <a:chOff x="614" y="2568"/>
                  <a:chExt cx="725" cy="139"/>
                </a:xfrm>
              </p:grpSpPr>
              <p:sp>
                <p:nvSpPr>
                  <p:cNvPr id="92"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3"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81"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2"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83"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84"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5"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86"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7"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8"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9"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90"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1"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65" name="Group 590"/>
              <p:cNvGrpSpPr/>
              <p:nvPr/>
            </p:nvGrpSpPr>
            <p:grpSpPr bwMode="auto">
              <a:xfrm flipH="1">
                <a:off x="1136203" y="4624876"/>
                <a:ext cx="948819" cy="909191"/>
                <a:chOff x="2839" y="3501"/>
                <a:chExt cx="755" cy="803"/>
              </a:xfrm>
            </p:grpSpPr>
            <p:pic>
              <p:nvPicPr>
                <p:cNvPr id="66"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67"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grpSp>
          <p:nvGrpSpPr>
            <p:cNvPr id="11" name="Group 10"/>
            <p:cNvGrpSpPr/>
            <p:nvPr/>
          </p:nvGrpSpPr>
          <p:grpSpPr bwMode="auto">
            <a:xfrm>
              <a:off x="2544844" y="4152295"/>
              <a:ext cx="934856" cy="732457"/>
              <a:chOff x="1136203" y="4520619"/>
              <a:chExt cx="1419428" cy="1013448"/>
            </a:xfrm>
          </p:grpSpPr>
          <p:grpSp>
            <p:nvGrpSpPr>
              <p:cNvPr id="28" name="Group 950"/>
              <p:cNvGrpSpPr/>
              <p:nvPr/>
            </p:nvGrpSpPr>
            <p:grpSpPr bwMode="auto">
              <a:xfrm>
                <a:off x="2039815" y="4520619"/>
                <a:ext cx="515816" cy="969179"/>
                <a:chOff x="4140" y="429"/>
                <a:chExt cx="1425" cy="2396"/>
              </a:xfrm>
            </p:grpSpPr>
            <p:sp>
              <p:nvSpPr>
                <p:cNvPr id="32"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3"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4"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5"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6"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7" name="Group 956"/>
                <p:cNvGrpSpPr/>
                <p:nvPr/>
              </p:nvGrpSpPr>
              <p:grpSpPr bwMode="auto">
                <a:xfrm>
                  <a:off x="4749" y="668"/>
                  <a:ext cx="581" cy="145"/>
                  <a:chOff x="614" y="2568"/>
                  <a:chExt cx="725" cy="139"/>
                </a:xfrm>
              </p:grpSpPr>
              <p:sp>
                <p:nvSpPr>
                  <p:cNvPr id="62"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63"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8"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9" name="Group 960"/>
                <p:cNvGrpSpPr/>
                <p:nvPr/>
              </p:nvGrpSpPr>
              <p:grpSpPr bwMode="auto">
                <a:xfrm>
                  <a:off x="4747" y="994"/>
                  <a:ext cx="581" cy="134"/>
                  <a:chOff x="614" y="2568"/>
                  <a:chExt cx="725" cy="139"/>
                </a:xfrm>
              </p:grpSpPr>
              <p:sp>
                <p:nvSpPr>
                  <p:cNvPr id="60"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61"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40"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41"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42" name="Group 965"/>
                <p:cNvGrpSpPr/>
                <p:nvPr/>
              </p:nvGrpSpPr>
              <p:grpSpPr bwMode="auto">
                <a:xfrm>
                  <a:off x="4735" y="1627"/>
                  <a:ext cx="582" cy="151"/>
                  <a:chOff x="614" y="2568"/>
                  <a:chExt cx="725" cy="139"/>
                </a:xfrm>
              </p:grpSpPr>
              <p:sp>
                <p:nvSpPr>
                  <p:cNvPr id="58"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9"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43"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44" name="Group 969"/>
                <p:cNvGrpSpPr/>
                <p:nvPr/>
              </p:nvGrpSpPr>
              <p:grpSpPr bwMode="auto">
                <a:xfrm>
                  <a:off x="4739" y="1327"/>
                  <a:ext cx="582" cy="139"/>
                  <a:chOff x="614" y="2568"/>
                  <a:chExt cx="725" cy="139"/>
                </a:xfrm>
              </p:grpSpPr>
              <p:sp>
                <p:nvSpPr>
                  <p:cNvPr id="56"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7"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45"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46"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47"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48"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49"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50"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1"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2"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3"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54"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5"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29" name="Group 590"/>
              <p:cNvGrpSpPr/>
              <p:nvPr/>
            </p:nvGrpSpPr>
            <p:grpSpPr bwMode="auto">
              <a:xfrm flipH="1">
                <a:off x="1136203" y="4624876"/>
                <a:ext cx="948819" cy="909191"/>
                <a:chOff x="2839" y="3501"/>
                <a:chExt cx="755" cy="803"/>
              </a:xfrm>
            </p:grpSpPr>
            <p:pic>
              <p:nvPicPr>
                <p:cNvPr id="30"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31"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cxnSp>
          <p:nvCxnSpPr>
            <p:cNvPr id="12" name="Straight Connector 11"/>
            <p:cNvCxnSpPr>
              <a:cxnSpLocks/>
              <a:stCxn id="69" idx="0"/>
              <a:endCxn id="21" idx="1"/>
            </p:cNvCxnSpPr>
            <p:nvPr/>
          </p:nvCxnSpPr>
          <p:spPr bwMode="auto">
            <a:xfrm flipV="1">
              <a:off x="1780141" y="3353396"/>
              <a:ext cx="330234" cy="80615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cxnSpLocks/>
              <a:stCxn id="33" idx="0"/>
              <a:endCxn id="21" idx="3"/>
            </p:cNvCxnSpPr>
            <p:nvPr/>
          </p:nvCxnSpPr>
          <p:spPr bwMode="auto">
            <a:xfrm flipH="1" flipV="1">
              <a:off x="2872185" y="3353396"/>
              <a:ext cx="409165" cy="798899"/>
            </a:xfrm>
            <a:prstGeom prst="line">
              <a:avLst/>
            </a:prstGeom>
            <a:ln w="28575"/>
          </p:spPr>
          <p:style>
            <a:lnRef idx="1">
              <a:schemeClr val="accent4"/>
            </a:lnRef>
            <a:fillRef idx="0">
              <a:schemeClr val="accent4"/>
            </a:fillRef>
            <a:effectRef idx="0">
              <a:schemeClr val="accent4"/>
            </a:effectRef>
            <a:fontRef idx="minor">
              <a:schemeClr val="tx1"/>
            </a:fontRef>
          </p:style>
        </p:cxnSp>
        <p:grpSp>
          <p:nvGrpSpPr>
            <p:cNvPr id="14" name="Group 13"/>
            <p:cNvGrpSpPr/>
            <p:nvPr/>
          </p:nvGrpSpPr>
          <p:grpSpPr bwMode="auto">
            <a:xfrm>
              <a:off x="2110376" y="2795049"/>
              <a:ext cx="764558" cy="699261"/>
              <a:chOff x="3668110" y="2448910"/>
              <a:chExt cx="3794234" cy="2165130"/>
            </a:xfrm>
          </p:grpSpPr>
          <p:sp>
            <p:nvSpPr>
              <p:cNvPr id="21" name="Rectangle 20"/>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2"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nvGrpSpPr>
              <p:cNvPr id="23" name="Group 22"/>
              <p:cNvGrpSpPr/>
              <p:nvPr/>
            </p:nvGrpSpPr>
            <p:grpSpPr bwMode="auto">
              <a:xfrm>
                <a:off x="3941378" y="2603243"/>
                <a:ext cx="3202060" cy="1066110"/>
                <a:chOff x="7939341" y="3037317"/>
                <a:chExt cx="897649" cy="353919"/>
              </a:xfrm>
            </p:grpSpPr>
            <p:sp>
              <p:nvSpPr>
                <p:cNvPr id="24"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5"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6"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7"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grpSp>
        <p:sp>
          <p:nvSpPr>
            <p:cNvPr id="15" name="Rectangle 14"/>
            <p:cNvSpPr/>
            <p:nvPr/>
          </p:nvSpPr>
          <p:spPr bwMode="auto">
            <a:xfrm>
              <a:off x="708343" y="324866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Ethernet1/0/3</a:t>
              </a:r>
              <a:endParaRPr lang="en-US" sz="1600">
                <a:solidFill>
                  <a:schemeClr val="accent3"/>
                </a:solidFill>
              </a:endParaRPr>
            </a:p>
          </p:txBody>
        </p:sp>
        <p:sp>
          <p:nvSpPr>
            <p:cNvPr id="16" name="Rectangle 15"/>
            <p:cNvSpPr/>
            <p:nvPr/>
          </p:nvSpPr>
          <p:spPr bwMode="auto">
            <a:xfrm>
              <a:off x="2904030" y="3243074"/>
              <a:ext cx="1381789" cy="338554"/>
            </a:xfrm>
            <a:prstGeom prst="rect">
              <a:avLst/>
            </a:prstGeom>
            <a:grpFill/>
          </p:spPr>
          <p:txBody>
            <a:bodyPr wrap="none">
              <a:spAutoFit/>
            </a:bodyPr>
            <a:lstStyle/>
            <a:p>
              <a:pPr>
                <a:defRPr/>
              </a:pPr>
              <a:r>
                <a:rPr lang="en-US" sz="1600">
                  <a:solidFill>
                    <a:schemeClr val="accent4"/>
                  </a:solidFill>
                  <a:ea typeface="宋体"/>
                  <a:cs typeface="Courier New"/>
                </a:rPr>
                <a:t>Ethernet1/0/4</a:t>
              </a:r>
              <a:endParaRPr lang="en-US" sz="1600">
                <a:solidFill>
                  <a:schemeClr val="accent4"/>
                </a:solidFill>
              </a:endParaRPr>
            </a:p>
          </p:txBody>
        </p:sp>
        <p:sp>
          <p:nvSpPr>
            <p:cNvPr id="17" name="Rectangle 16"/>
            <p:cNvSpPr/>
            <p:nvPr/>
          </p:nvSpPr>
          <p:spPr bwMode="auto">
            <a:xfrm>
              <a:off x="1571505" y="4879752"/>
              <a:ext cx="482824" cy="338554"/>
            </a:xfrm>
            <a:prstGeom prst="rect">
              <a:avLst/>
            </a:prstGeom>
            <a:grpFill/>
          </p:spPr>
          <p:txBody>
            <a:bodyPr wrap="none">
              <a:spAutoFit/>
            </a:bodyPr>
            <a:lstStyle/>
            <a:p>
              <a:pPr>
                <a:defRPr/>
              </a:pPr>
              <a:r>
                <a:rPr lang="en-US" sz="1600">
                  <a:ea typeface="宋体"/>
                  <a:cs typeface="Courier New"/>
                </a:rPr>
                <a:t>pc1</a:t>
              </a:r>
              <a:endParaRPr lang="en-US" sz="1600"/>
            </a:p>
          </p:txBody>
        </p:sp>
        <p:sp>
          <p:nvSpPr>
            <p:cNvPr id="18" name="Rectangle 17"/>
            <p:cNvSpPr/>
            <p:nvPr/>
          </p:nvSpPr>
          <p:spPr bwMode="auto">
            <a:xfrm>
              <a:off x="3138321" y="4892898"/>
              <a:ext cx="482824" cy="338554"/>
            </a:xfrm>
            <a:prstGeom prst="rect">
              <a:avLst/>
            </a:prstGeom>
            <a:grpFill/>
          </p:spPr>
          <p:txBody>
            <a:bodyPr wrap="none">
              <a:spAutoFit/>
            </a:bodyPr>
            <a:lstStyle/>
            <a:p>
              <a:pPr>
                <a:defRPr/>
              </a:pPr>
              <a:r>
                <a:rPr lang="en-US" sz="1600">
                  <a:ea typeface="宋体"/>
                  <a:cs typeface="Courier New"/>
                </a:rPr>
                <a:t>pc2</a:t>
              </a:r>
              <a:endParaRPr lang="en-US" sz="1600"/>
            </a:p>
          </p:txBody>
        </p:sp>
        <p:sp>
          <p:nvSpPr>
            <p:cNvPr id="19" name="Rectangle 18"/>
            <p:cNvSpPr/>
            <p:nvPr/>
          </p:nvSpPr>
          <p:spPr bwMode="auto">
            <a:xfrm>
              <a:off x="1128224" y="5091291"/>
              <a:ext cx="1563247" cy="338554"/>
            </a:xfrm>
            <a:prstGeom prst="rect">
              <a:avLst/>
            </a:prstGeom>
            <a:grpFill/>
          </p:spPr>
          <p:txBody>
            <a:bodyPr wrap="none">
              <a:spAutoFit/>
            </a:bodyPr>
            <a:lstStyle/>
            <a:p>
              <a:pPr>
                <a:defRPr/>
              </a:pPr>
              <a:r>
                <a:rPr lang="en-US" sz="1600"/>
                <a:t>192.168.1.11/24</a:t>
              </a:r>
            </a:p>
          </p:txBody>
        </p:sp>
        <p:sp>
          <p:nvSpPr>
            <p:cNvPr id="20" name="Rectangle 19"/>
            <p:cNvSpPr/>
            <p:nvPr/>
          </p:nvSpPr>
          <p:spPr bwMode="auto">
            <a:xfrm>
              <a:off x="2695041" y="5086410"/>
              <a:ext cx="1563247" cy="338554"/>
            </a:xfrm>
            <a:prstGeom prst="rect">
              <a:avLst/>
            </a:prstGeom>
            <a:grpFill/>
          </p:spPr>
          <p:txBody>
            <a:bodyPr wrap="none">
              <a:spAutoFit/>
            </a:bodyPr>
            <a:lstStyle/>
            <a:p>
              <a:pPr>
                <a:defRPr/>
              </a:pPr>
              <a:r>
                <a:rPr lang="en-US" sz="1600"/>
                <a:t>192.168.1.12/24</a:t>
              </a:r>
            </a:p>
          </p:txBody>
        </p:sp>
        <p:grpSp>
          <p:nvGrpSpPr>
            <p:cNvPr id="101" name="Group 100"/>
            <p:cNvGrpSpPr/>
            <p:nvPr/>
          </p:nvGrpSpPr>
          <p:grpSpPr bwMode="auto">
            <a:xfrm>
              <a:off x="4809883" y="4159546"/>
              <a:ext cx="934856" cy="725206"/>
              <a:chOff x="1136203" y="4520619"/>
              <a:chExt cx="1419428" cy="1013448"/>
            </a:xfrm>
          </p:grpSpPr>
          <p:grpSp>
            <p:nvGrpSpPr>
              <p:cNvPr id="155" name="Group 950"/>
              <p:cNvGrpSpPr/>
              <p:nvPr/>
            </p:nvGrpSpPr>
            <p:grpSpPr bwMode="auto">
              <a:xfrm>
                <a:off x="2039815" y="4520619"/>
                <a:ext cx="515816" cy="969179"/>
                <a:chOff x="4140" y="429"/>
                <a:chExt cx="1425" cy="2396"/>
              </a:xfrm>
            </p:grpSpPr>
            <p:sp>
              <p:nvSpPr>
                <p:cNvPr id="159"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60"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61"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62"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63"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64" name="Group 956"/>
                <p:cNvGrpSpPr/>
                <p:nvPr/>
              </p:nvGrpSpPr>
              <p:grpSpPr bwMode="auto">
                <a:xfrm>
                  <a:off x="4749" y="668"/>
                  <a:ext cx="581" cy="145"/>
                  <a:chOff x="614" y="2568"/>
                  <a:chExt cx="725" cy="139"/>
                </a:xfrm>
              </p:grpSpPr>
              <p:sp>
                <p:nvSpPr>
                  <p:cNvPr id="189"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90"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65"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66" name="Group 960"/>
                <p:cNvGrpSpPr/>
                <p:nvPr/>
              </p:nvGrpSpPr>
              <p:grpSpPr bwMode="auto">
                <a:xfrm>
                  <a:off x="4747" y="994"/>
                  <a:ext cx="581" cy="134"/>
                  <a:chOff x="614" y="2568"/>
                  <a:chExt cx="725" cy="139"/>
                </a:xfrm>
              </p:grpSpPr>
              <p:sp>
                <p:nvSpPr>
                  <p:cNvPr id="187"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8"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67"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68"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69" name="Group 965"/>
                <p:cNvGrpSpPr/>
                <p:nvPr/>
              </p:nvGrpSpPr>
              <p:grpSpPr bwMode="auto">
                <a:xfrm>
                  <a:off x="4735" y="1627"/>
                  <a:ext cx="582" cy="151"/>
                  <a:chOff x="614" y="2568"/>
                  <a:chExt cx="725" cy="139"/>
                </a:xfrm>
              </p:grpSpPr>
              <p:sp>
                <p:nvSpPr>
                  <p:cNvPr id="185"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6"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70"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171" name="Group 969"/>
                <p:cNvGrpSpPr/>
                <p:nvPr/>
              </p:nvGrpSpPr>
              <p:grpSpPr bwMode="auto">
                <a:xfrm>
                  <a:off x="4739" y="1327"/>
                  <a:ext cx="582" cy="139"/>
                  <a:chOff x="614" y="2568"/>
                  <a:chExt cx="725" cy="139"/>
                </a:xfrm>
              </p:grpSpPr>
              <p:sp>
                <p:nvSpPr>
                  <p:cNvPr id="183"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4"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72"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3"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74"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75"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6"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77"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8"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9"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0"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181"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2"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156" name="Group 590"/>
              <p:cNvGrpSpPr/>
              <p:nvPr/>
            </p:nvGrpSpPr>
            <p:grpSpPr bwMode="auto">
              <a:xfrm flipH="1">
                <a:off x="1136203" y="4624876"/>
                <a:ext cx="948819" cy="909191"/>
                <a:chOff x="2839" y="3501"/>
                <a:chExt cx="755" cy="803"/>
              </a:xfrm>
            </p:grpSpPr>
            <p:pic>
              <p:nvPicPr>
                <p:cNvPr id="157"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58"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grpSp>
          <p:nvGrpSpPr>
            <p:cNvPr id="102" name="Group 101"/>
            <p:cNvGrpSpPr/>
            <p:nvPr/>
          </p:nvGrpSpPr>
          <p:grpSpPr bwMode="auto">
            <a:xfrm>
              <a:off x="6311091" y="4152295"/>
              <a:ext cx="934856" cy="732457"/>
              <a:chOff x="1136203" y="4520619"/>
              <a:chExt cx="1419428" cy="1013448"/>
            </a:xfrm>
          </p:grpSpPr>
          <p:grpSp>
            <p:nvGrpSpPr>
              <p:cNvPr id="119" name="Group 950"/>
              <p:cNvGrpSpPr/>
              <p:nvPr/>
            </p:nvGrpSpPr>
            <p:grpSpPr bwMode="auto">
              <a:xfrm>
                <a:off x="2039815" y="4520619"/>
                <a:ext cx="515816" cy="969179"/>
                <a:chOff x="4140" y="429"/>
                <a:chExt cx="1425" cy="2396"/>
              </a:xfrm>
            </p:grpSpPr>
            <p:sp>
              <p:nvSpPr>
                <p:cNvPr id="123"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24"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25"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26"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27"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28" name="Group 956"/>
                <p:cNvGrpSpPr/>
                <p:nvPr/>
              </p:nvGrpSpPr>
              <p:grpSpPr bwMode="auto">
                <a:xfrm>
                  <a:off x="4749" y="668"/>
                  <a:ext cx="581" cy="145"/>
                  <a:chOff x="614" y="2568"/>
                  <a:chExt cx="725" cy="139"/>
                </a:xfrm>
              </p:grpSpPr>
              <p:sp>
                <p:nvSpPr>
                  <p:cNvPr id="153"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54"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29"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30" name="Group 960"/>
                <p:cNvGrpSpPr/>
                <p:nvPr/>
              </p:nvGrpSpPr>
              <p:grpSpPr bwMode="auto">
                <a:xfrm>
                  <a:off x="4747" y="994"/>
                  <a:ext cx="581" cy="134"/>
                  <a:chOff x="614" y="2568"/>
                  <a:chExt cx="725" cy="139"/>
                </a:xfrm>
              </p:grpSpPr>
              <p:sp>
                <p:nvSpPr>
                  <p:cNvPr id="151"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52"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31"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32"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33" name="Group 965"/>
                <p:cNvGrpSpPr/>
                <p:nvPr/>
              </p:nvGrpSpPr>
              <p:grpSpPr bwMode="auto">
                <a:xfrm>
                  <a:off x="4735" y="1627"/>
                  <a:ext cx="582" cy="151"/>
                  <a:chOff x="614" y="2568"/>
                  <a:chExt cx="725" cy="139"/>
                </a:xfrm>
              </p:grpSpPr>
              <p:sp>
                <p:nvSpPr>
                  <p:cNvPr id="149"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50"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34"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135" name="Group 969"/>
                <p:cNvGrpSpPr/>
                <p:nvPr/>
              </p:nvGrpSpPr>
              <p:grpSpPr bwMode="auto">
                <a:xfrm>
                  <a:off x="4739" y="1327"/>
                  <a:ext cx="582" cy="139"/>
                  <a:chOff x="614" y="2568"/>
                  <a:chExt cx="725" cy="139"/>
                </a:xfrm>
              </p:grpSpPr>
              <p:sp>
                <p:nvSpPr>
                  <p:cNvPr id="147"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8"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36"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37"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38"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39"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0"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41"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2"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3"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4"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145"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6"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120" name="Group 590"/>
              <p:cNvGrpSpPr/>
              <p:nvPr/>
            </p:nvGrpSpPr>
            <p:grpSpPr bwMode="auto">
              <a:xfrm flipH="1">
                <a:off x="1136203" y="4624876"/>
                <a:ext cx="948819" cy="909191"/>
                <a:chOff x="2839" y="3501"/>
                <a:chExt cx="755" cy="803"/>
              </a:xfrm>
            </p:grpSpPr>
            <p:pic>
              <p:nvPicPr>
                <p:cNvPr id="121"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22"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cxnSp>
          <p:nvCxnSpPr>
            <p:cNvPr id="103" name="Straight Connector 102"/>
            <p:cNvCxnSpPr>
              <a:cxnSpLocks/>
              <a:stCxn id="160" idx="0"/>
              <a:endCxn id="112" idx="1"/>
            </p:cNvCxnSpPr>
            <p:nvPr/>
          </p:nvCxnSpPr>
          <p:spPr bwMode="auto">
            <a:xfrm flipV="1">
              <a:off x="5546389" y="3353396"/>
              <a:ext cx="330234" cy="80615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a:cxnSpLocks/>
              <a:stCxn id="124" idx="0"/>
              <a:endCxn id="112" idx="3"/>
            </p:cNvCxnSpPr>
            <p:nvPr/>
          </p:nvCxnSpPr>
          <p:spPr bwMode="auto">
            <a:xfrm flipH="1" flipV="1">
              <a:off x="6638431" y="3353396"/>
              <a:ext cx="409165" cy="798899"/>
            </a:xfrm>
            <a:prstGeom prst="line">
              <a:avLst/>
            </a:prstGeom>
            <a:ln w="28575"/>
          </p:spPr>
          <p:style>
            <a:lnRef idx="1">
              <a:schemeClr val="accent4"/>
            </a:lnRef>
            <a:fillRef idx="0">
              <a:schemeClr val="accent4"/>
            </a:fillRef>
            <a:effectRef idx="0">
              <a:schemeClr val="accent4"/>
            </a:effectRef>
            <a:fontRef idx="minor">
              <a:schemeClr val="tx1"/>
            </a:fontRef>
          </p:style>
        </p:cxnSp>
        <p:grpSp>
          <p:nvGrpSpPr>
            <p:cNvPr id="105" name="Group 104"/>
            <p:cNvGrpSpPr/>
            <p:nvPr/>
          </p:nvGrpSpPr>
          <p:grpSpPr bwMode="auto">
            <a:xfrm>
              <a:off x="5876623" y="2795049"/>
              <a:ext cx="764558" cy="699261"/>
              <a:chOff x="3668110" y="2448910"/>
              <a:chExt cx="3794234" cy="2165130"/>
            </a:xfrm>
          </p:grpSpPr>
          <p:sp>
            <p:nvSpPr>
              <p:cNvPr id="112" name="Rectangle 111"/>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3"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nvGrpSpPr>
              <p:cNvPr id="114" name="Group 113"/>
              <p:cNvGrpSpPr/>
              <p:nvPr/>
            </p:nvGrpSpPr>
            <p:grpSpPr bwMode="auto">
              <a:xfrm>
                <a:off x="3941378" y="2603243"/>
                <a:ext cx="3202060" cy="1066110"/>
                <a:chOff x="7939341" y="3037317"/>
                <a:chExt cx="897649" cy="353919"/>
              </a:xfrm>
            </p:grpSpPr>
            <p:sp>
              <p:nvSpPr>
                <p:cNvPr id="115"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6"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7"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8"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grpSp>
        <p:sp>
          <p:nvSpPr>
            <p:cNvPr id="106" name="Rectangle 105"/>
            <p:cNvSpPr/>
            <p:nvPr/>
          </p:nvSpPr>
          <p:spPr bwMode="auto">
            <a:xfrm>
              <a:off x="4471812" y="324866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Ethernet1/0/3</a:t>
              </a:r>
              <a:endParaRPr lang="en-US" sz="1600">
                <a:solidFill>
                  <a:schemeClr val="accent3"/>
                </a:solidFill>
              </a:endParaRPr>
            </a:p>
          </p:txBody>
        </p:sp>
        <p:sp>
          <p:nvSpPr>
            <p:cNvPr id="107" name="Rectangle 106"/>
            <p:cNvSpPr/>
            <p:nvPr/>
          </p:nvSpPr>
          <p:spPr bwMode="auto">
            <a:xfrm>
              <a:off x="6794182" y="3248664"/>
              <a:ext cx="1381789" cy="338554"/>
            </a:xfrm>
            <a:prstGeom prst="rect">
              <a:avLst/>
            </a:prstGeom>
            <a:grpFill/>
          </p:spPr>
          <p:txBody>
            <a:bodyPr wrap="none">
              <a:spAutoFit/>
            </a:bodyPr>
            <a:lstStyle/>
            <a:p>
              <a:pPr>
                <a:defRPr/>
              </a:pPr>
              <a:r>
                <a:rPr lang="en-US" sz="1600">
                  <a:solidFill>
                    <a:schemeClr val="accent4"/>
                  </a:solidFill>
                  <a:ea typeface="宋体"/>
                  <a:cs typeface="Courier New"/>
                </a:rPr>
                <a:t>Ethernet1/0/4</a:t>
              </a:r>
              <a:endParaRPr lang="en-US" sz="1600">
                <a:solidFill>
                  <a:schemeClr val="accent4"/>
                </a:solidFill>
              </a:endParaRPr>
            </a:p>
          </p:txBody>
        </p:sp>
        <p:sp>
          <p:nvSpPr>
            <p:cNvPr id="108" name="Rectangle 107"/>
            <p:cNvSpPr/>
            <p:nvPr/>
          </p:nvSpPr>
          <p:spPr bwMode="auto">
            <a:xfrm>
              <a:off x="5337751" y="4879752"/>
              <a:ext cx="482824" cy="338554"/>
            </a:xfrm>
            <a:prstGeom prst="rect">
              <a:avLst/>
            </a:prstGeom>
            <a:grpFill/>
          </p:spPr>
          <p:txBody>
            <a:bodyPr wrap="none">
              <a:spAutoFit/>
            </a:bodyPr>
            <a:lstStyle/>
            <a:p>
              <a:pPr>
                <a:defRPr/>
              </a:pPr>
              <a:r>
                <a:rPr lang="en-US" sz="1600">
                  <a:ea typeface="宋体"/>
                  <a:cs typeface="Courier New"/>
                </a:rPr>
                <a:t>pc3</a:t>
              </a:r>
              <a:endParaRPr lang="en-US" sz="1600"/>
            </a:p>
          </p:txBody>
        </p:sp>
        <p:sp>
          <p:nvSpPr>
            <p:cNvPr id="109" name="Rectangle 108"/>
            <p:cNvSpPr/>
            <p:nvPr/>
          </p:nvSpPr>
          <p:spPr bwMode="auto">
            <a:xfrm>
              <a:off x="6904567" y="4892898"/>
              <a:ext cx="482824" cy="338554"/>
            </a:xfrm>
            <a:prstGeom prst="rect">
              <a:avLst/>
            </a:prstGeom>
            <a:grpFill/>
          </p:spPr>
          <p:txBody>
            <a:bodyPr wrap="none">
              <a:spAutoFit/>
            </a:bodyPr>
            <a:lstStyle/>
            <a:p>
              <a:pPr>
                <a:defRPr/>
              </a:pPr>
              <a:r>
                <a:rPr lang="en-US" sz="1600">
                  <a:ea typeface="宋体"/>
                  <a:cs typeface="Courier New"/>
                </a:rPr>
                <a:t>pc4</a:t>
              </a:r>
              <a:endParaRPr lang="en-US" sz="1600"/>
            </a:p>
          </p:txBody>
        </p:sp>
        <p:sp>
          <p:nvSpPr>
            <p:cNvPr id="110" name="Rectangle 109"/>
            <p:cNvSpPr/>
            <p:nvPr/>
          </p:nvSpPr>
          <p:spPr bwMode="auto">
            <a:xfrm>
              <a:off x="4894471" y="5091291"/>
              <a:ext cx="1563247" cy="338554"/>
            </a:xfrm>
            <a:prstGeom prst="rect">
              <a:avLst/>
            </a:prstGeom>
            <a:grpFill/>
          </p:spPr>
          <p:txBody>
            <a:bodyPr wrap="none">
              <a:spAutoFit/>
            </a:bodyPr>
            <a:lstStyle/>
            <a:p>
              <a:pPr>
                <a:defRPr/>
              </a:pPr>
              <a:r>
                <a:rPr lang="en-US" sz="1600"/>
                <a:t>192.168.1.13/24</a:t>
              </a:r>
            </a:p>
          </p:txBody>
        </p:sp>
        <p:sp>
          <p:nvSpPr>
            <p:cNvPr id="111" name="Rectangle 110"/>
            <p:cNvSpPr/>
            <p:nvPr/>
          </p:nvSpPr>
          <p:spPr bwMode="auto">
            <a:xfrm>
              <a:off x="6461288" y="5086410"/>
              <a:ext cx="1563247" cy="338554"/>
            </a:xfrm>
            <a:prstGeom prst="rect">
              <a:avLst/>
            </a:prstGeom>
            <a:grpFill/>
          </p:spPr>
          <p:txBody>
            <a:bodyPr wrap="none">
              <a:spAutoFit/>
            </a:bodyPr>
            <a:lstStyle/>
            <a:p>
              <a:pPr>
                <a:defRPr/>
              </a:pPr>
              <a:r>
                <a:rPr lang="en-US" sz="1600"/>
                <a:t>192.168.1.14/24</a:t>
              </a:r>
            </a:p>
          </p:txBody>
        </p:sp>
        <p:sp>
          <p:nvSpPr>
            <p:cNvPr id="192" name="Rectangle 191"/>
            <p:cNvSpPr/>
            <p:nvPr/>
          </p:nvSpPr>
          <p:spPr bwMode="auto">
            <a:xfrm>
              <a:off x="2815354" y="2659234"/>
              <a:ext cx="1381789" cy="338554"/>
            </a:xfrm>
            <a:prstGeom prst="rect">
              <a:avLst/>
            </a:prstGeom>
            <a:grpFill/>
          </p:spPr>
          <p:txBody>
            <a:bodyPr wrap="none">
              <a:spAutoFit/>
            </a:bodyPr>
            <a:lstStyle/>
            <a:p>
              <a:pPr>
                <a:defRPr/>
              </a:pPr>
              <a:r>
                <a:rPr lang="en-US" sz="1600">
                  <a:ea typeface="宋体"/>
                  <a:cs typeface="Courier New"/>
                </a:rPr>
                <a:t>Ethernet1/0/1</a:t>
              </a:r>
              <a:endParaRPr lang="en-US" sz="1600"/>
            </a:p>
          </p:txBody>
        </p:sp>
        <p:sp>
          <p:nvSpPr>
            <p:cNvPr id="193" name="Rectangle 192"/>
            <p:cNvSpPr/>
            <p:nvPr/>
          </p:nvSpPr>
          <p:spPr bwMode="auto">
            <a:xfrm>
              <a:off x="4567746" y="2659234"/>
              <a:ext cx="1381789" cy="338554"/>
            </a:xfrm>
            <a:prstGeom prst="rect">
              <a:avLst/>
            </a:prstGeom>
            <a:grpFill/>
          </p:spPr>
          <p:txBody>
            <a:bodyPr wrap="none">
              <a:spAutoFit/>
            </a:bodyPr>
            <a:lstStyle/>
            <a:p>
              <a:pPr>
                <a:defRPr/>
              </a:pPr>
              <a:r>
                <a:rPr lang="en-US" sz="1600">
                  <a:ea typeface="宋体"/>
                  <a:cs typeface="Courier New"/>
                </a:rPr>
                <a:t>Ethernet1/0/1</a:t>
              </a:r>
              <a:endParaRPr lang="en-US" sz="1600"/>
            </a:p>
          </p:txBody>
        </p:sp>
        <p:sp>
          <p:nvSpPr>
            <p:cNvPr id="194" name="Rectangle 193"/>
            <p:cNvSpPr/>
            <p:nvPr/>
          </p:nvSpPr>
          <p:spPr bwMode="auto">
            <a:xfrm>
              <a:off x="480121" y="3724551"/>
              <a:ext cx="756938" cy="338554"/>
            </a:xfrm>
            <a:prstGeom prst="rect">
              <a:avLst/>
            </a:prstGeom>
            <a:grpFill/>
          </p:spPr>
          <p:txBody>
            <a:bodyPr wrap="none">
              <a:spAutoFit/>
            </a:bodyPr>
            <a:lstStyle/>
            <a:p>
              <a:pPr>
                <a:defRPr/>
              </a:pPr>
              <a:r>
                <a:rPr lang="en-US" sz="1600" b="1" u="sng">
                  <a:solidFill>
                    <a:schemeClr val="accent3"/>
                  </a:solidFill>
                  <a:ea typeface="宋体"/>
                  <a:cs typeface="Courier New"/>
                </a:rPr>
                <a:t>VLAN2</a:t>
              </a:r>
              <a:endParaRPr lang="en-US" sz="1600" b="1" u="sng">
                <a:solidFill>
                  <a:schemeClr val="accent3"/>
                </a:solidFill>
              </a:endParaRPr>
            </a:p>
          </p:txBody>
        </p:sp>
        <p:sp>
          <p:nvSpPr>
            <p:cNvPr id="195" name="Rectangle 194"/>
            <p:cNvSpPr/>
            <p:nvPr/>
          </p:nvSpPr>
          <p:spPr bwMode="auto">
            <a:xfrm>
              <a:off x="7485076" y="3737169"/>
              <a:ext cx="756938" cy="338554"/>
            </a:xfrm>
            <a:prstGeom prst="rect">
              <a:avLst/>
            </a:prstGeom>
            <a:grpFill/>
          </p:spPr>
          <p:txBody>
            <a:bodyPr wrap="none">
              <a:spAutoFit/>
            </a:bodyPr>
            <a:lstStyle/>
            <a:p>
              <a:pPr>
                <a:defRPr/>
              </a:pPr>
              <a:r>
                <a:rPr lang="en-US" sz="1600" b="1" u="sng">
                  <a:solidFill>
                    <a:schemeClr val="accent4"/>
                  </a:solidFill>
                  <a:ea typeface="宋体"/>
                  <a:cs typeface="Courier New"/>
                </a:rPr>
                <a:t>VLAN3</a:t>
              </a:r>
              <a:endParaRPr lang="en-US" sz="1600" b="1" u="sng">
                <a:solidFill>
                  <a:schemeClr val="accent4"/>
                </a:solidFil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4. </a:t>
            </a:r>
            <a:r>
              <a:rPr lang="zh-CN"/>
              <a:t>配置四节点网络</a:t>
            </a:r>
            <a:r>
              <a:rPr lang="en-US"/>
              <a:t> VLAN</a:t>
            </a:r>
          </a:p>
        </p:txBody>
      </p:sp>
      <p:sp>
        <p:nvSpPr>
          <p:cNvPr id="199" name="Content Placeholder 198"/>
          <p:cNvSpPr>
            <a:spLocks noGrp="1"/>
          </p:cNvSpPr>
          <p:nvPr>
            <p:ph idx="1"/>
          </p:nvPr>
        </p:nvSpPr>
        <p:spPr bwMode="auto"/>
        <p:txBody>
          <a:bodyPr/>
          <a:lstStyle/>
          <a:p>
            <a:pPr marL="447675" lvl="1" indent="-358775">
              <a:buFont typeface="+mj-lt"/>
              <a:buAutoNum type="arabicParenR" startAt="3"/>
              <a:defRPr/>
            </a:pPr>
            <a:r>
              <a:rPr lang="zh-CN"/>
              <a:t>配置</a:t>
            </a:r>
            <a:r>
              <a:rPr lang="en-US"/>
              <a:t>VLAN</a:t>
            </a:r>
            <a:r>
              <a:rPr lang="zh-CN"/>
              <a:t>。</a:t>
            </a:r>
            <a:endParaRPr lang="en-US"/>
          </a:p>
          <a:p>
            <a:pPr marL="447675" lvl="2" indent="-358775">
              <a:defRPr/>
            </a:pPr>
            <a:r>
              <a:rPr lang="zh-CN"/>
              <a:t>问：那把连接两个交换机的接口都加入</a:t>
            </a:r>
            <a:r>
              <a:rPr lang="en-US"/>
              <a:t>VLAN2</a:t>
            </a:r>
            <a:r>
              <a:rPr lang="zh-CN"/>
              <a:t>，不就好了吗？</a:t>
            </a:r>
            <a:endParaRPr lang="en-US"/>
          </a:p>
          <a:p>
            <a:pPr marL="447675" lvl="2" indent="-358775">
              <a:defRPr/>
            </a:pPr>
            <a:r>
              <a:rPr lang="zh-CN"/>
              <a:t>答：可以。但你看看</a:t>
            </a:r>
            <a:r>
              <a:rPr lang="en-US"/>
              <a:t>VLAN3</a:t>
            </a:r>
            <a:r>
              <a:rPr lang="zh-CN"/>
              <a:t>之间的两个节点能互通吗？</a:t>
            </a:r>
            <a:endParaRPr lang="en-US"/>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34</a:t>
            </a:fld>
            <a:endParaRPr lang="en-US"/>
          </a:p>
        </p:txBody>
      </p:sp>
      <p:grpSp>
        <p:nvGrpSpPr>
          <p:cNvPr id="3" name="Group 2"/>
          <p:cNvGrpSpPr/>
          <p:nvPr/>
        </p:nvGrpSpPr>
        <p:grpSpPr bwMode="auto">
          <a:xfrm>
            <a:off x="480121" y="3240000"/>
            <a:ext cx="7761893" cy="2770611"/>
            <a:chOff x="480121" y="2659234"/>
            <a:chExt cx="7761893" cy="2770611"/>
          </a:xfrm>
        </p:grpSpPr>
        <p:cxnSp>
          <p:nvCxnSpPr>
            <p:cNvPr id="191" name="Straight Connector 190"/>
            <p:cNvCxnSpPr>
              <a:cxnSpLocks/>
            </p:cNvCxnSpPr>
            <p:nvPr/>
          </p:nvCxnSpPr>
          <p:spPr bwMode="auto">
            <a:xfrm>
              <a:off x="2483787" y="3037632"/>
              <a:ext cx="3766247"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bwMode="auto">
            <a:xfrm>
              <a:off x="1043637" y="4159546"/>
              <a:ext cx="934856" cy="725206"/>
              <a:chOff x="1136203" y="4520619"/>
              <a:chExt cx="1419428" cy="1013448"/>
            </a:xfrm>
          </p:grpSpPr>
          <p:grpSp>
            <p:nvGrpSpPr>
              <p:cNvPr id="64" name="Group 950"/>
              <p:cNvGrpSpPr/>
              <p:nvPr/>
            </p:nvGrpSpPr>
            <p:grpSpPr bwMode="auto">
              <a:xfrm>
                <a:off x="2039815" y="4520619"/>
                <a:ext cx="515816" cy="969179"/>
                <a:chOff x="4140" y="429"/>
                <a:chExt cx="1425" cy="2396"/>
              </a:xfrm>
            </p:grpSpPr>
            <p:sp>
              <p:nvSpPr>
                <p:cNvPr id="68"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69"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70"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71"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72"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73" name="Group 956"/>
                <p:cNvGrpSpPr/>
                <p:nvPr/>
              </p:nvGrpSpPr>
              <p:grpSpPr bwMode="auto">
                <a:xfrm>
                  <a:off x="4749" y="668"/>
                  <a:ext cx="581" cy="145"/>
                  <a:chOff x="614" y="2568"/>
                  <a:chExt cx="725" cy="139"/>
                </a:xfrm>
              </p:grpSpPr>
              <p:sp>
                <p:nvSpPr>
                  <p:cNvPr id="98"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9"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74"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75" name="Group 960"/>
                <p:cNvGrpSpPr/>
                <p:nvPr/>
              </p:nvGrpSpPr>
              <p:grpSpPr bwMode="auto">
                <a:xfrm>
                  <a:off x="4747" y="994"/>
                  <a:ext cx="581" cy="134"/>
                  <a:chOff x="614" y="2568"/>
                  <a:chExt cx="725" cy="139"/>
                </a:xfrm>
              </p:grpSpPr>
              <p:sp>
                <p:nvSpPr>
                  <p:cNvPr id="96"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7"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76"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77"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78" name="Group 965"/>
                <p:cNvGrpSpPr/>
                <p:nvPr/>
              </p:nvGrpSpPr>
              <p:grpSpPr bwMode="auto">
                <a:xfrm>
                  <a:off x="4735" y="1627"/>
                  <a:ext cx="582" cy="151"/>
                  <a:chOff x="614" y="2568"/>
                  <a:chExt cx="725" cy="139"/>
                </a:xfrm>
              </p:grpSpPr>
              <p:sp>
                <p:nvSpPr>
                  <p:cNvPr id="94"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5"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79"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80" name="Group 969"/>
                <p:cNvGrpSpPr/>
                <p:nvPr/>
              </p:nvGrpSpPr>
              <p:grpSpPr bwMode="auto">
                <a:xfrm>
                  <a:off x="4739" y="1327"/>
                  <a:ext cx="582" cy="139"/>
                  <a:chOff x="614" y="2568"/>
                  <a:chExt cx="725" cy="139"/>
                </a:xfrm>
              </p:grpSpPr>
              <p:sp>
                <p:nvSpPr>
                  <p:cNvPr id="92"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3"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81"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2"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83"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84"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5"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86"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7"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8"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9"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90"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1"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65" name="Group 590"/>
              <p:cNvGrpSpPr/>
              <p:nvPr/>
            </p:nvGrpSpPr>
            <p:grpSpPr bwMode="auto">
              <a:xfrm flipH="1">
                <a:off x="1136203" y="4624876"/>
                <a:ext cx="948819" cy="909191"/>
                <a:chOff x="2839" y="3501"/>
                <a:chExt cx="755" cy="803"/>
              </a:xfrm>
            </p:grpSpPr>
            <p:pic>
              <p:nvPicPr>
                <p:cNvPr id="66"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67"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grpSp>
          <p:nvGrpSpPr>
            <p:cNvPr id="11" name="Group 10"/>
            <p:cNvGrpSpPr/>
            <p:nvPr/>
          </p:nvGrpSpPr>
          <p:grpSpPr bwMode="auto">
            <a:xfrm>
              <a:off x="2544844" y="4152295"/>
              <a:ext cx="934856" cy="732457"/>
              <a:chOff x="1136203" y="4520619"/>
              <a:chExt cx="1419428" cy="1013448"/>
            </a:xfrm>
          </p:grpSpPr>
          <p:grpSp>
            <p:nvGrpSpPr>
              <p:cNvPr id="28" name="Group 950"/>
              <p:cNvGrpSpPr/>
              <p:nvPr/>
            </p:nvGrpSpPr>
            <p:grpSpPr bwMode="auto">
              <a:xfrm>
                <a:off x="2039815" y="4520619"/>
                <a:ext cx="515816" cy="969179"/>
                <a:chOff x="4140" y="429"/>
                <a:chExt cx="1425" cy="2396"/>
              </a:xfrm>
            </p:grpSpPr>
            <p:sp>
              <p:nvSpPr>
                <p:cNvPr id="32"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3"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4"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5"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6"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7" name="Group 956"/>
                <p:cNvGrpSpPr/>
                <p:nvPr/>
              </p:nvGrpSpPr>
              <p:grpSpPr bwMode="auto">
                <a:xfrm>
                  <a:off x="4749" y="668"/>
                  <a:ext cx="581" cy="145"/>
                  <a:chOff x="614" y="2568"/>
                  <a:chExt cx="725" cy="139"/>
                </a:xfrm>
              </p:grpSpPr>
              <p:sp>
                <p:nvSpPr>
                  <p:cNvPr id="62"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63"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8"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9" name="Group 960"/>
                <p:cNvGrpSpPr/>
                <p:nvPr/>
              </p:nvGrpSpPr>
              <p:grpSpPr bwMode="auto">
                <a:xfrm>
                  <a:off x="4747" y="994"/>
                  <a:ext cx="581" cy="134"/>
                  <a:chOff x="614" y="2568"/>
                  <a:chExt cx="725" cy="139"/>
                </a:xfrm>
              </p:grpSpPr>
              <p:sp>
                <p:nvSpPr>
                  <p:cNvPr id="60"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61"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40"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41"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42" name="Group 965"/>
                <p:cNvGrpSpPr/>
                <p:nvPr/>
              </p:nvGrpSpPr>
              <p:grpSpPr bwMode="auto">
                <a:xfrm>
                  <a:off x="4735" y="1627"/>
                  <a:ext cx="582" cy="151"/>
                  <a:chOff x="614" y="2568"/>
                  <a:chExt cx="725" cy="139"/>
                </a:xfrm>
              </p:grpSpPr>
              <p:sp>
                <p:nvSpPr>
                  <p:cNvPr id="58"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9"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43"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44" name="Group 969"/>
                <p:cNvGrpSpPr/>
                <p:nvPr/>
              </p:nvGrpSpPr>
              <p:grpSpPr bwMode="auto">
                <a:xfrm>
                  <a:off x="4739" y="1327"/>
                  <a:ext cx="582" cy="139"/>
                  <a:chOff x="614" y="2568"/>
                  <a:chExt cx="725" cy="139"/>
                </a:xfrm>
              </p:grpSpPr>
              <p:sp>
                <p:nvSpPr>
                  <p:cNvPr id="56"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7"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45"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46"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47"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48"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49"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50"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1"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2"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3"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54"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5"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29" name="Group 590"/>
              <p:cNvGrpSpPr/>
              <p:nvPr/>
            </p:nvGrpSpPr>
            <p:grpSpPr bwMode="auto">
              <a:xfrm flipH="1">
                <a:off x="1136203" y="4624876"/>
                <a:ext cx="948819" cy="909191"/>
                <a:chOff x="2839" y="3501"/>
                <a:chExt cx="755" cy="803"/>
              </a:xfrm>
            </p:grpSpPr>
            <p:pic>
              <p:nvPicPr>
                <p:cNvPr id="30"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31"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cxnSp>
          <p:nvCxnSpPr>
            <p:cNvPr id="12" name="Straight Connector 11"/>
            <p:cNvCxnSpPr>
              <a:cxnSpLocks/>
              <a:stCxn id="69" idx="0"/>
              <a:endCxn id="21" idx="1"/>
            </p:cNvCxnSpPr>
            <p:nvPr/>
          </p:nvCxnSpPr>
          <p:spPr bwMode="auto">
            <a:xfrm flipV="1">
              <a:off x="1780141" y="3353396"/>
              <a:ext cx="330234" cy="80615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cxnSpLocks/>
              <a:stCxn id="33" idx="0"/>
              <a:endCxn id="21" idx="3"/>
            </p:cNvCxnSpPr>
            <p:nvPr/>
          </p:nvCxnSpPr>
          <p:spPr bwMode="auto">
            <a:xfrm flipH="1" flipV="1">
              <a:off x="2872185" y="3353396"/>
              <a:ext cx="409165" cy="798899"/>
            </a:xfrm>
            <a:prstGeom prst="line">
              <a:avLst/>
            </a:prstGeom>
            <a:ln w="28575"/>
          </p:spPr>
          <p:style>
            <a:lnRef idx="1">
              <a:schemeClr val="accent4"/>
            </a:lnRef>
            <a:fillRef idx="0">
              <a:schemeClr val="accent4"/>
            </a:fillRef>
            <a:effectRef idx="0">
              <a:schemeClr val="accent4"/>
            </a:effectRef>
            <a:fontRef idx="minor">
              <a:schemeClr val="tx1"/>
            </a:fontRef>
          </p:style>
        </p:cxnSp>
        <p:grpSp>
          <p:nvGrpSpPr>
            <p:cNvPr id="14" name="Group 13"/>
            <p:cNvGrpSpPr/>
            <p:nvPr/>
          </p:nvGrpSpPr>
          <p:grpSpPr bwMode="auto">
            <a:xfrm>
              <a:off x="2110376" y="2795049"/>
              <a:ext cx="764558" cy="699261"/>
              <a:chOff x="3668110" y="2448910"/>
              <a:chExt cx="3794234" cy="2165130"/>
            </a:xfrm>
          </p:grpSpPr>
          <p:sp>
            <p:nvSpPr>
              <p:cNvPr id="21" name="Rectangle 20"/>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2"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nvGrpSpPr>
              <p:cNvPr id="23" name="Group 22"/>
              <p:cNvGrpSpPr/>
              <p:nvPr/>
            </p:nvGrpSpPr>
            <p:grpSpPr bwMode="auto">
              <a:xfrm>
                <a:off x="3941378" y="2603243"/>
                <a:ext cx="3202060" cy="1066110"/>
                <a:chOff x="7939341" y="3037317"/>
                <a:chExt cx="897649" cy="353919"/>
              </a:xfrm>
            </p:grpSpPr>
            <p:sp>
              <p:nvSpPr>
                <p:cNvPr id="24"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5"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6"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7"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grpSp>
        <p:sp>
          <p:nvSpPr>
            <p:cNvPr id="15" name="Rectangle 14"/>
            <p:cNvSpPr/>
            <p:nvPr/>
          </p:nvSpPr>
          <p:spPr bwMode="auto">
            <a:xfrm>
              <a:off x="708343" y="324866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Ethernet1/0/3</a:t>
              </a:r>
              <a:endParaRPr lang="en-US" sz="1600">
                <a:solidFill>
                  <a:schemeClr val="accent3"/>
                </a:solidFill>
              </a:endParaRPr>
            </a:p>
          </p:txBody>
        </p:sp>
        <p:sp>
          <p:nvSpPr>
            <p:cNvPr id="16" name="Rectangle 15"/>
            <p:cNvSpPr/>
            <p:nvPr/>
          </p:nvSpPr>
          <p:spPr bwMode="auto">
            <a:xfrm>
              <a:off x="2904030" y="3243074"/>
              <a:ext cx="1381789" cy="338554"/>
            </a:xfrm>
            <a:prstGeom prst="rect">
              <a:avLst/>
            </a:prstGeom>
            <a:grpFill/>
          </p:spPr>
          <p:txBody>
            <a:bodyPr wrap="none">
              <a:spAutoFit/>
            </a:bodyPr>
            <a:lstStyle/>
            <a:p>
              <a:pPr>
                <a:defRPr/>
              </a:pPr>
              <a:r>
                <a:rPr lang="en-US" sz="1600">
                  <a:solidFill>
                    <a:schemeClr val="accent4"/>
                  </a:solidFill>
                  <a:ea typeface="宋体"/>
                  <a:cs typeface="Courier New"/>
                </a:rPr>
                <a:t>Ethernet1/0/4</a:t>
              </a:r>
              <a:endParaRPr lang="en-US" sz="1600">
                <a:solidFill>
                  <a:schemeClr val="accent4"/>
                </a:solidFill>
              </a:endParaRPr>
            </a:p>
          </p:txBody>
        </p:sp>
        <p:sp>
          <p:nvSpPr>
            <p:cNvPr id="17" name="Rectangle 16"/>
            <p:cNvSpPr/>
            <p:nvPr/>
          </p:nvSpPr>
          <p:spPr bwMode="auto">
            <a:xfrm>
              <a:off x="1571505" y="4879752"/>
              <a:ext cx="482824" cy="338554"/>
            </a:xfrm>
            <a:prstGeom prst="rect">
              <a:avLst/>
            </a:prstGeom>
            <a:grpFill/>
          </p:spPr>
          <p:txBody>
            <a:bodyPr wrap="none">
              <a:spAutoFit/>
            </a:bodyPr>
            <a:lstStyle/>
            <a:p>
              <a:pPr>
                <a:defRPr/>
              </a:pPr>
              <a:r>
                <a:rPr lang="en-US" sz="1600">
                  <a:ea typeface="宋体"/>
                  <a:cs typeface="Courier New"/>
                </a:rPr>
                <a:t>pc1</a:t>
              </a:r>
              <a:endParaRPr lang="en-US" sz="1600"/>
            </a:p>
          </p:txBody>
        </p:sp>
        <p:sp>
          <p:nvSpPr>
            <p:cNvPr id="18" name="Rectangle 17"/>
            <p:cNvSpPr/>
            <p:nvPr/>
          </p:nvSpPr>
          <p:spPr bwMode="auto">
            <a:xfrm>
              <a:off x="3138321" y="4892898"/>
              <a:ext cx="482824" cy="338554"/>
            </a:xfrm>
            <a:prstGeom prst="rect">
              <a:avLst/>
            </a:prstGeom>
            <a:grpFill/>
          </p:spPr>
          <p:txBody>
            <a:bodyPr wrap="none">
              <a:spAutoFit/>
            </a:bodyPr>
            <a:lstStyle/>
            <a:p>
              <a:pPr>
                <a:defRPr/>
              </a:pPr>
              <a:r>
                <a:rPr lang="en-US" sz="1600">
                  <a:ea typeface="宋体"/>
                  <a:cs typeface="Courier New"/>
                </a:rPr>
                <a:t>pc2</a:t>
              </a:r>
              <a:endParaRPr lang="en-US" sz="1600"/>
            </a:p>
          </p:txBody>
        </p:sp>
        <p:sp>
          <p:nvSpPr>
            <p:cNvPr id="19" name="Rectangle 18"/>
            <p:cNvSpPr/>
            <p:nvPr/>
          </p:nvSpPr>
          <p:spPr bwMode="auto">
            <a:xfrm>
              <a:off x="1128224" y="5091291"/>
              <a:ext cx="1563247" cy="338554"/>
            </a:xfrm>
            <a:prstGeom prst="rect">
              <a:avLst/>
            </a:prstGeom>
            <a:grpFill/>
          </p:spPr>
          <p:txBody>
            <a:bodyPr wrap="none">
              <a:spAutoFit/>
            </a:bodyPr>
            <a:lstStyle/>
            <a:p>
              <a:pPr>
                <a:defRPr/>
              </a:pPr>
              <a:r>
                <a:rPr lang="en-US" sz="1600"/>
                <a:t>192.168.1.11/24</a:t>
              </a:r>
            </a:p>
          </p:txBody>
        </p:sp>
        <p:sp>
          <p:nvSpPr>
            <p:cNvPr id="20" name="Rectangle 19"/>
            <p:cNvSpPr/>
            <p:nvPr/>
          </p:nvSpPr>
          <p:spPr bwMode="auto">
            <a:xfrm>
              <a:off x="2695041" y="5086410"/>
              <a:ext cx="1563247" cy="338554"/>
            </a:xfrm>
            <a:prstGeom prst="rect">
              <a:avLst/>
            </a:prstGeom>
            <a:grpFill/>
          </p:spPr>
          <p:txBody>
            <a:bodyPr wrap="none">
              <a:spAutoFit/>
            </a:bodyPr>
            <a:lstStyle/>
            <a:p>
              <a:pPr>
                <a:defRPr/>
              </a:pPr>
              <a:r>
                <a:rPr lang="en-US" sz="1600"/>
                <a:t>192.168.1.12/24</a:t>
              </a:r>
            </a:p>
          </p:txBody>
        </p:sp>
        <p:grpSp>
          <p:nvGrpSpPr>
            <p:cNvPr id="101" name="Group 100"/>
            <p:cNvGrpSpPr/>
            <p:nvPr/>
          </p:nvGrpSpPr>
          <p:grpSpPr bwMode="auto">
            <a:xfrm>
              <a:off x="4809883" y="4159546"/>
              <a:ext cx="934856" cy="725206"/>
              <a:chOff x="1136203" y="4520619"/>
              <a:chExt cx="1419428" cy="1013448"/>
            </a:xfrm>
          </p:grpSpPr>
          <p:grpSp>
            <p:nvGrpSpPr>
              <p:cNvPr id="155" name="Group 950"/>
              <p:cNvGrpSpPr/>
              <p:nvPr/>
            </p:nvGrpSpPr>
            <p:grpSpPr bwMode="auto">
              <a:xfrm>
                <a:off x="2039815" y="4520619"/>
                <a:ext cx="515816" cy="969179"/>
                <a:chOff x="4140" y="429"/>
                <a:chExt cx="1425" cy="2396"/>
              </a:xfrm>
            </p:grpSpPr>
            <p:sp>
              <p:nvSpPr>
                <p:cNvPr id="159"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60"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61"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62"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63"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64" name="Group 956"/>
                <p:cNvGrpSpPr/>
                <p:nvPr/>
              </p:nvGrpSpPr>
              <p:grpSpPr bwMode="auto">
                <a:xfrm>
                  <a:off x="4749" y="668"/>
                  <a:ext cx="581" cy="145"/>
                  <a:chOff x="614" y="2568"/>
                  <a:chExt cx="725" cy="139"/>
                </a:xfrm>
              </p:grpSpPr>
              <p:sp>
                <p:nvSpPr>
                  <p:cNvPr id="189"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90"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65"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66" name="Group 960"/>
                <p:cNvGrpSpPr/>
                <p:nvPr/>
              </p:nvGrpSpPr>
              <p:grpSpPr bwMode="auto">
                <a:xfrm>
                  <a:off x="4747" y="994"/>
                  <a:ext cx="581" cy="134"/>
                  <a:chOff x="614" y="2568"/>
                  <a:chExt cx="725" cy="139"/>
                </a:xfrm>
              </p:grpSpPr>
              <p:sp>
                <p:nvSpPr>
                  <p:cNvPr id="187"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8"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67"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68"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69" name="Group 965"/>
                <p:cNvGrpSpPr/>
                <p:nvPr/>
              </p:nvGrpSpPr>
              <p:grpSpPr bwMode="auto">
                <a:xfrm>
                  <a:off x="4735" y="1627"/>
                  <a:ext cx="582" cy="151"/>
                  <a:chOff x="614" y="2568"/>
                  <a:chExt cx="725" cy="139"/>
                </a:xfrm>
              </p:grpSpPr>
              <p:sp>
                <p:nvSpPr>
                  <p:cNvPr id="185"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6"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70"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171" name="Group 969"/>
                <p:cNvGrpSpPr/>
                <p:nvPr/>
              </p:nvGrpSpPr>
              <p:grpSpPr bwMode="auto">
                <a:xfrm>
                  <a:off x="4739" y="1327"/>
                  <a:ext cx="582" cy="139"/>
                  <a:chOff x="614" y="2568"/>
                  <a:chExt cx="725" cy="139"/>
                </a:xfrm>
              </p:grpSpPr>
              <p:sp>
                <p:nvSpPr>
                  <p:cNvPr id="183"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4"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72"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3"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74"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75"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6"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77"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8"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9"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0"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181"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2"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156" name="Group 590"/>
              <p:cNvGrpSpPr/>
              <p:nvPr/>
            </p:nvGrpSpPr>
            <p:grpSpPr bwMode="auto">
              <a:xfrm flipH="1">
                <a:off x="1136203" y="4624876"/>
                <a:ext cx="948819" cy="909191"/>
                <a:chOff x="2839" y="3501"/>
                <a:chExt cx="755" cy="803"/>
              </a:xfrm>
            </p:grpSpPr>
            <p:pic>
              <p:nvPicPr>
                <p:cNvPr id="157"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58"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grpSp>
          <p:nvGrpSpPr>
            <p:cNvPr id="102" name="Group 101"/>
            <p:cNvGrpSpPr/>
            <p:nvPr/>
          </p:nvGrpSpPr>
          <p:grpSpPr bwMode="auto">
            <a:xfrm>
              <a:off x="6311091" y="4152295"/>
              <a:ext cx="934856" cy="732457"/>
              <a:chOff x="1136203" y="4520619"/>
              <a:chExt cx="1419428" cy="1013448"/>
            </a:xfrm>
          </p:grpSpPr>
          <p:grpSp>
            <p:nvGrpSpPr>
              <p:cNvPr id="119" name="Group 950"/>
              <p:cNvGrpSpPr/>
              <p:nvPr/>
            </p:nvGrpSpPr>
            <p:grpSpPr bwMode="auto">
              <a:xfrm>
                <a:off x="2039815" y="4520619"/>
                <a:ext cx="515816" cy="969179"/>
                <a:chOff x="4140" y="429"/>
                <a:chExt cx="1425" cy="2396"/>
              </a:xfrm>
            </p:grpSpPr>
            <p:sp>
              <p:nvSpPr>
                <p:cNvPr id="123"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24"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25"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26"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27"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28" name="Group 956"/>
                <p:cNvGrpSpPr/>
                <p:nvPr/>
              </p:nvGrpSpPr>
              <p:grpSpPr bwMode="auto">
                <a:xfrm>
                  <a:off x="4749" y="668"/>
                  <a:ext cx="581" cy="145"/>
                  <a:chOff x="614" y="2568"/>
                  <a:chExt cx="725" cy="139"/>
                </a:xfrm>
              </p:grpSpPr>
              <p:sp>
                <p:nvSpPr>
                  <p:cNvPr id="153"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54"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29"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30" name="Group 960"/>
                <p:cNvGrpSpPr/>
                <p:nvPr/>
              </p:nvGrpSpPr>
              <p:grpSpPr bwMode="auto">
                <a:xfrm>
                  <a:off x="4747" y="994"/>
                  <a:ext cx="581" cy="134"/>
                  <a:chOff x="614" y="2568"/>
                  <a:chExt cx="725" cy="139"/>
                </a:xfrm>
              </p:grpSpPr>
              <p:sp>
                <p:nvSpPr>
                  <p:cNvPr id="151"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52"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31"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32"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33" name="Group 965"/>
                <p:cNvGrpSpPr/>
                <p:nvPr/>
              </p:nvGrpSpPr>
              <p:grpSpPr bwMode="auto">
                <a:xfrm>
                  <a:off x="4735" y="1627"/>
                  <a:ext cx="582" cy="151"/>
                  <a:chOff x="614" y="2568"/>
                  <a:chExt cx="725" cy="139"/>
                </a:xfrm>
              </p:grpSpPr>
              <p:sp>
                <p:nvSpPr>
                  <p:cNvPr id="149"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50"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34"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135" name="Group 969"/>
                <p:cNvGrpSpPr/>
                <p:nvPr/>
              </p:nvGrpSpPr>
              <p:grpSpPr bwMode="auto">
                <a:xfrm>
                  <a:off x="4739" y="1327"/>
                  <a:ext cx="582" cy="139"/>
                  <a:chOff x="614" y="2568"/>
                  <a:chExt cx="725" cy="139"/>
                </a:xfrm>
              </p:grpSpPr>
              <p:sp>
                <p:nvSpPr>
                  <p:cNvPr id="147"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8"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36"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37"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38"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39"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0"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41"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2"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3"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4"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145"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6"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120" name="Group 590"/>
              <p:cNvGrpSpPr/>
              <p:nvPr/>
            </p:nvGrpSpPr>
            <p:grpSpPr bwMode="auto">
              <a:xfrm flipH="1">
                <a:off x="1136203" y="4624876"/>
                <a:ext cx="948819" cy="909191"/>
                <a:chOff x="2839" y="3501"/>
                <a:chExt cx="755" cy="803"/>
              </a:xfrm>
            </p:grpSpPr>
            <p:pic>
              <p:nvPicPr>
                <p:cNvPr id="121"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22"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cxnSp>
          <p:nvCxnSpPr>
            <p:cNvPr id="103" name="Straight Connector 102"/>
            <p:cNvCxnSpPr>
              <a:cxnSpLocks/>
              <a:stCxn id="160" idx="0"/>
              <a:endCxn id="112" idx="1"/>
            </p:cNvCxnSpPr>
            <p:nvPr/>
          </p:nvCxnSpPr>
          <p:spPr bwMode="auto">
            <a:xfrm flipV="1">
              <a:off x="5546389" y="3353396"/>
              <a:ext cx="330234" cy="80615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a:cxnSpLocks/>
              <a:stCxn id="124" idx="0"/>
              <a:endCxn id="112" idx="3"/>
            </p:cNvCxnSpPr>
            <p:nvPr/>
          </p:nvCxnSpPr>
          <p:spPr bwMode="auto">
            <a:xfrm flipH="1" flipV="1">
              <a:off x="6638431" y="3353396"/>
              <a:ext cx="409165" cy="798899"/>
            </a:xfrm>
            <a:prstGeom prst="line">
              <a:avLst/>
            </a:prstGeom>
            <a:ln w="28575"/>
          </p:spPr>
          <p:style>
            <a:lnRef idx="1">
              <a:schemeClr val="accent4"/>
            </a:lnRef>
            <a:fillRef idx="0">
              <a:schemeClr val="accent4"/>
            </a:fillRef>
            <a:effectRef idx="0">
              <a:schemeClr val="accent4"/>
            </a:effectRef>
            <a:fontRef idx="minor">
              <a:schemeClr val="tx1"/>
            </a:fontRef>
          </p:style>
        </p:cxnSp>
        <p:grpSp>
          <p:nvGrpSpPr>
            <p:cNvPr id="105" name="Group 104"/>
            <p:cNvGrpSpPr/>
            <p:nvPr/>
          </p:nvGrpSpPr>
          <p:grpSpPr bwMode="auto">
            <a:xfrm>
              <a:off x="5876623" y="2795049"/>
              <a:ext cx="764558" cy="699261"/>
              <a:chOff x="3668110" y="2448910"/>
              <a:chExt cx="3794234" cy="2165130"/>
            </a:xfrm>
          </p:grpSpPr>
          <p:sp>
            <p:nvSpPr>
              <p:cNvPr id="112" name="Rectangle 111"/>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3"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nvGrpSpPr>
              <p:cNvPr id="114" name="Group 113"/>
              <p:cNvGrpSpPr/>
              <p:nvPr/>
            </p:nvGrpSpPr>
            <p:grpSpPr bwMode="auto">
              <a:xfrm>
                <a:off x="3941378" y="2603243"/>
                <a:ext cx="3202060" cy="1066110"/>
                <a:chOff x="7939341" y="3037317"/>
                <a:chExt cx="897649" cy="353919"/>
              </a:xfrm>
            </p:grpSpPr>
            <p:sp>
              <p:nvSpPr>
                <p:cNvPr id="115"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6"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7"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8"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grpSp>
        <p:sp>
          <p:nvSpPr>
            <p:cNvPr id="106" name="Rectangle 105"/>
            <p:cNvSpPr/>
            <p:nvPr/>
          </p:nvSpPr>
          <p:spPr bwMode="auto">
            <a:xfrm>
              <a:off x="4471812" y="324866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Ethernet1/0/3</a:t>
              </a:r>
              <a:endParaRPr lang="en-US" sz="1600">
                <a:solidFill>
                  <a:schemeClr val="accent3"/>
                </a:solidFill>
              </a:endParaRPr>
            </a:p>
          </p:txBody>
        </p:sp>
        <p:sp>
          <p:nvSpPr>
            <p:cNvPr id="107" name="Rectangle 106"/>
            <p:cNvSpPr/>
            <p:nvPr/>
          </p:nvSpPr>
          <p:spPr bwMode="auto">
            <a:xfrm>
              <a:off x="6794182" y="3248664"/>
              <a:ext cx="1381789" cy="338554"/>
            </a:xfrm>
            <a:prstGeom prst="rect">
              <a:avLst/>
            </a:prstGeom>
            <a:grpFill/>
          </p:spPr>
          <p:txBody>
            <a:bodyPr wrap="none">
              <a:spAutoFit/>
            </a:bodyPr>
            <a:lstStyle/>
            <a:p>
              <a:pPr>
                <a:defRPr/>
              </a:pPr>
              <a:r>
                <a:rPr lang="en-US" sz="1600">
                  <a:solidFill>
                    <a:schemeClr val="accent4"/>
                  </a:solidFill>
                  <a:ea typeface="宋体"/>
                  <a:cs typeface="Courier New"/>
                </a:rPr>
                <a:t>Ethernet1/0/4</a:t>
              </a:r>
              <a:endParaRPr lang="en-US" sz="1600">
                <a:solidFill>
                  <a:schemeClr val="accent4"/>
                </a:solidFill>
              </a:endParaRPr>
            </a:p>
          </p:txBody>
        </p:sp>
        <p:sp>
          <p:nvSpPr>
            <p:cNvPr id="108" name="Rectangle 107"/>
            <p:cNvSpPr/>
            <p:nvPr/>
          </p:nvSpPr>
          <p:spPr bwMode="auto">
            <a:xfrm>
              <a:off x="5337751" y="4879752"/>
              <a:ext cx="482824" cy="338554"/>
            </a:xfrm>
            <a:prstGeom prst="rect">
              <a:avLst/>
            </a:prstGeom>
            <a:grpFill/>
          </p:spPr>
          <p:txBody>
            <a:bodyPr wrap="none">
              <a:spAutoFit/>
            </a:bodyPr>
            <a:lstStyle/>
            <a:p>
              <a:pPr>
                <a:defRPr/>
              </a:pPr>
              <a:r>
                <a:rPr lang="en-US" sz="1600">
                  <a:ea typeface="宋体"/>
                  <a:cs typeface="Courier New"/>
                </a:rPr>
                <a:t>pc3</a:t>
              </a:r>
              <a:endParaRPr lang="en-US" sz="1600"/>
            </a:p>
          </p:txBody>
        </p:sp>
        <p:sp>
          <p:nvSpPr>
            <p:cNvPr id="109" name="Rectangle 108"/>
            <p:cNvSpPr/>
            <p:nvPr/>
          </p:nvSpPr>
          <p:spPr bwMode="auto">
            <a:xfrm>
              <a:off x="6904567" y="4892898"/>
              <a:ext cx="482824" cy="338554"/>
            </a:xfrm>
            <a:prstGeom prst="rect">
              <a:avLst/>
            </a:prstGeom>
            <a:grpFill/>
          </p:spPr>
          <p:txBody>
            <a:bodyPr wrap="none">
              <a:spAutoFit/>
            </a:bodyPr>
            <a:lstStyle/>
            <a:p>
              <a:pPr>
                <a:defRPr/>
              </a:pPr>
              <a:r>
                <a:rPr lang="en-US" sz="1600">
                  <a:ea typeface="宋体"/>
                  <a:cs typeface="Courier New"/>
                </a:rPr>
                <a:t>pc4</a:t>
              </a:r>
              <a:endParaRPr lang="en-US" sz="1600"/>
            </a:p>
          </p:txBody>
        </p:sp>
        <p:sp>
          <p:nvSpPr>
            <p:cNvPr id="110" name="Rectangle 109"/>
            <p:cNvSpPr/>
            <p:nvPr/>
          </p:nvSpPr>
          <p:spPr bwMode="auto">
            <a:xfrm>
              <a:off x="4894471" y="5091291"/>
              <a:ext cx="1563247" cy="338554"/>
            </a:xfrm>
            <a:prstGeom prst="rect">
              <a:avLst/>
            </a:prstGeom>
            <a:grpFill/>
          </p:spPr>
          <p:txBody>
            <a:bodyPr wrap="none">
              <a:spAutoFit/>
            </a:bodyPr>
            <a:lstStyle/>
            <a:p>
              <a:pPr>
                <a:defRPr/>
              </a:pPr>
              <a:r>
                <a:rPr lang="en-US" sz="1600"/>
                <a:t>192.168.1.13/24</a:t>
              </a:r>
            </a:p>
          </p:txBody>
        </p:sp>
        <p:sp>
          <p:nvSpPr>
            <p:cNvPr id="111" name="Rectangle 110"/>
            <p:cNvSpPr/>
            <p:nvPr/>
          </p:nvSpPr>
          <p:spPr bwMode="auto">
            <a:xfrm>
              <a:off x="6461288" y="5086410"/>
              <a:ext cx="1563247" cy="338554"/>
            </a:xfrm>
            <a:prstGeom prst="rect">
              <a:avLst/>
            </a:prstGeom>
            <a:grpFill/>
          </p:spPr>
          <p:txBody>
            <a:bodyPr wrap="none">
              <a:spAutoFit/>
            </a:bodyPr>
            <a:lstStyle/>
            <a:p>
              <a:pPr>
                <a:defRPr/>
              </a:pPr>
              <a:r>
                <a:rPr lang="en-US" sz="1600"/>
                <a:t>192.168.1.14/24</a:t>
              </a:r>
            </a:p>
          </p:txBody>
        </p:sp>
        <p:sp>
          <p:nvSpPr>
            <p:cNvPr id="192" name="Rectangle 191"/>
            <p:cNvSpPr/>
            <p:nvPr/>
          </p:nvSpPr>
          <p:spPr bwMode="auto">
            <a:xfrm>
              <a:off x="2815354" y="265923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Ethernet1/0/1</a:t>
              </a:r>
            </a:p>
          </p:txBody>
        </p:sp>
        <p:sp>
          <p:nvSpPr>
            <p:cNvPr id="193" name="Rectangle 192"/>
            <p:cNvSpPr/>
            <p:nvPr/>
          </p:nvSpPr>
          <p:spPr bwMode="auto">
            <a:xfrm>
              <a:off x="4567746" y="265923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Ethernet1/0/1</a:t>
              </a:r>
            </a:p>
          </p:txBody>
        </p:sp>
        <p:sp>
          <p:nvSpPr>
            <p:cNvPr id="194" name="Rectangle 193"/>
            <p:cNvSpPr/>
            <p:nvPr/>
          </p:nvSpPr>
          <p:spPr bwMode="auto">
            <a:xfrm>
              <a:off x="480121" y="3724551"/>
              <a:ext cx="756938" cy="338554"/>
            </a:xfrm>
            <a:prstGeom prst="rect">
              <a:avLst/>
            </a:prstGeom>
            <a:grpFill/>
          </p:spPr>
          <p:txBody>
            <a:bodyPr wrap="none">
              <a:spAutoFit/>
            </a:bodyPr>
            <a:lstStyle/>
            <a:p>
              <a:pPr>
                <a:defRPr/>
              </a:pPr>
              <a:r>
                <a:rPr lang="en-US" sz="1600" b="1" u="sng">
                  <a:solidFill>
                    <a:schemeClr val="accent3"/>
                  </a:solidFill>
                  <a:ea typeface="宋体"/>
                  <a:cs typeface="Courier New"/>
                </a:rPr>
                <a:t>VLAN2</a:t>
              </a:r>
              <a:endParaRPr lang="en-US" sz="1600" b="1" u="sng">
                <a:solidFill>
                  <a:schemeClr val="accent3"/>
                </a:solidFill>
              </a:endParaRPr>
            </a:p>
          </p:txBody>
        </p:sp>
        <p:sp>
          <p:nvSpPr>
            <p:cNvPr id="195" name="Rectangle 194"/>
            <p:cNvSpPr/>
            <p:nvPr/>
          </p:nvSpPr>
          <p:spPr bwMode="auto">
            <a:xfrm>
              <a:off x="7485076" y="3737169"/>
              <a:ext cx="756938" cy="338554"/>
            </a:xfrm>
            <a:prstGeom prst="rect">
              <a:avLst/>
            </a:prstGeom>
            <a:grpFill/>
          </p:spPr>
          <p:txBody>
            <a:bodyPr wrap="none">
              <a:spAutoFit/>
            </a:bodyPr>
            <a:lstStyle/>
            <a:p>
              <a:pPr>
                <a:defRPr/>
              </a:pPr>
              <a:r>
                <a:rPr lang="en-US" sz="1600" b="1" u="sng">
                  <a:solidFill>
                    <a:schemeClr val="accent4"/>
                  </a:solidFill>
                  <a:ea typeface="宋体"/>
                  <a:cs typeface="Courier New"/>
                </a:rPr>
                <a:t>VLAN3</a:t>
              </a:r>
              <a:endParaRPr lang="en-US" sz="1600" b="1" u="sng">
                <a:solidFill>
                  <a:schemeClr val="accent4"/>
                </a:solidFill>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4. </a:t>
            </a:r>
            <a:r>
              <a:rPr lang="zh-CN"/>
              <a:t>配置四节点网络</a:t>
            </a:r>
            <a:r>
              <a:rPr lang="en-US"/>
              <a:t> VLAN</a:t>
            </a:r>
          </a:p>
        </p:txBody>
      </p:sp>
      <p:sp>
        <p:nvSpPr>
          <p:cNvPr id="199" name="Content Placeholder 198"/>
          <p:cNvSpPr>
            <a:spLocks noGrp="1"/>
          </p:cNvSpPr>
          <p:nvPr>
            <p:ph idx="1"/>
          </p:nvPr>
        </p:nvSpPr>
        <p:spPr bwMode="auto"/>
        <p:txBody>
          <a:bodyPr/>
          <a:lstStyle/>
          <a:p>
            <a:pPr marL="447675" lvl="1" indent="-358775">
              <a:buFont typeface="+mj-lt"/>
              <a:buAutoNum type="arabicParenR" startAt="3"/>
              <a:defRPr/>
            </a:pPr>
            <a:r>
              <a:rPr lang="zh-CN"/>
              <a:t>配置</a:t>
            </a:r>
            <a:r>
              <a:rPr lang="en-US"/>
              <a:t>VLAN</a:t>
            </a:r>
            <a:r>
              <a:rPr lang="zh-CN"/>
              <a:t>。</a:t>
            </a:r>
            <a:endParaRPr lang="en-US"/>
          </a:p>
          <a:p>
            <a:pPr marL="447675" lvl="2" indent="-358775">
              <a:defRPr/>
            </a:pPr>
            <a:r>
              <a:rPr lang="zh-CN"/>
              <a:t>答：不能，因为我们刚刚把连接交换机的两个接口加入了</a:t>
            </a:r>
            <a:r>
              <a:rPr lang="en-US"/>
              <a:t>VLAN2</a:t>
            </a:r>
            <a:r>
              <a:rPr lang="zh-CN"/>
              <a:t>，这将导致</a:t>
            </a:r>
            <a:r>
              <a:rPr lang="en-US"/>
              <a:t>VLAN3</a:t>
            </a:r>
            <a:r>
              <a:rPr lang="zh-CN"/>
              <a:t>的帧到达这些接口时被丢弃。</a:t>
            </a:r>
            <a:endParaRPr lang="en-US"/>
          </a:p>
          <a:p>
            <a:pPr marL="447675" lvl="2" indent="-358775">
              <a:defRPr/>
            </a:pPr>
            <a:r>
              <a:rPr lang="zh-CN"/>
              <a:t>问：那怎么才能让</a:t>
            </a:r>
            <a:r>
              <a:rPr lang="en-US"/>
              <a:t>VLAN3</a:t>
            </a:r>
            <a:r>
              <a:rPr lang="zh-CN"/>
              <a:t>里的</a:t>
            </a:r>
            <a:r>
              <a:rPr lang="en-US"/>
              <a:t>pc2</a:t>
            </a:r>
            <a:r>
              <a:rPr lang="zh-CN"/>
              <a:t>和</a:t>
            </a:r>
            <a:r>
              <a:rPr lang="en-US"/>
              <a:t>pc3</a:t>
            </a:r>
            <a:r>
              <a:rPr lang="zh-CN"/>
              <a:t>也能互通呢？</a:t>
            </a:r>
            <a:endParaRPr lang="en-US"/>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35</a:t>
            </a:fld>
            <a:endParaRPr lang="en-US"/>
          </a:p>
        </p:txBody>
      </p:sp>
      <p:grpSp>
        <p:nvGrpSpPr>
          <p:cNvPr id="3" name="Group 2"/>
          <p:cNvGrpSpPr/>
          <p:nvPr/>
        </p:nvGrpSpPr>
        <p:grpSpPr bwMode="auto">
          <a:xfrm>
            <a:off x="480121" y="3240000"/>
            <a:ext cx="7761893" cy="2770611"/>
            <a:chOff x="480121" y="2659234"/>
            <a:chExt cx="7761893" cy="2770611"/>
          </a:xfrm>
        </p:grpSpPr>
        <p:cxnSp>
          <p:nvCxnSpPr>
            <p:cNvPr id="191" name="Straight Connector 190"/>
            <p:cNvCxnSpPr>
              <a:cxnSpLocks/>
            </p:cNvCxnSpPr>
            <p:nvPr/>
          </p:nvCxnSpPr>
          <p:spPr bwMode="auto">
            <a:xfrm>
              <a:off x="2483787" y="3037632"/>
              <a:ext cx="3766247"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bwMode="auto">
            <a:xfrm>
              <a:off x="1043637" y="4159546"/>
              <a:ext cx="934856" cy="725206"/>
              <a:chOff x="1136203" y="4520619"/>
              <a:chExt cx="1419428" cy="1013448"/>
            </a:xfrm>
          </p:grpSpPr>
          <p:grpSp>
            <p:nvGrpSpPr>
              <p:cNvPr id="64" name="Group 950"/>
              <p:cNvGrpSpPr/>
              <p:nvPr/>
            </p:nvGrpSpPr>
            <p:grpSpPr bwMode="auto">
              <a:xfrm>
                <a:off x="2039815" y="4520619"/>
                <a:ext cx="515816" cy="969179"/>
                <a:chOff x="4140" y="429"/>
                <a:chExt cx="1425" cy="2396"/>
              </a:xfrm>
            </p:grpSpPr>
            <p:sp>
              <p:nvSpPr>
                <p:cNvPr id="68"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69"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70"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71"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72"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73" name="Group 956"/>
                <p:cNvGrpSpPr/>
                <p:nvPr/>
              </p:nvGrpSpPr>
              <p:grpSpPr bwMode="auto">
                <a:xfrm>
                  <a:off x="4749" y="668"/>
                  <a:ext cx="581" cy="145"/>
                  <a:chOff x="614" y="2568"/>
                  <a:chExt cx="725" cy="139"/>
                </a:xfrm>
              </p:grpSpPr>
              <p:sp>
                <p:nvSpPr>
                  <p:cNvPr id="98"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9"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74"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75" name="Group 960"/>
                <p:cNvGrpSpPr/>
                <p:nvPr/>
              </p:nvGrpSpPr>
              <p:grpSpPr bwMode="auto">
                <a:xfrm>
                  <a:off x="4747" y="994"/>
                  <a:ext cx="581" cy="134"/>
                  <a:chOff x="614" y="2568"/>
                  <a:chExt cx="725" cy="139"/>
                </a:xfrm>
              </p:grpSpPr>
              <p:sp>
                <p:nvSpPr>
                  <p:cNvPr id="96"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7"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76"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77"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78" name="Group 965"/>
                <p:cNvGrpSpPr/>
                <p:nvPr/>
              </p:nvGrpSpPr>
              <p:grpSpPr bwMode="auto">
                <a:xfrm>
                  <a:off x="4735" y="1627"/>
                  <a:ext cx="582" cy="151"/>
                  <a:chOff x="614" y="2568"/>
                  <a:chExt cx="725" cy="139"/>
                </a:xfrm>
              </p:grpSpPr>
              <p:sp>
                <p:nvSpPr>
                  <p:cNvPr id="94"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5"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79"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80" name="Group 969"/>
                <p:cNvGrpSpPr/>
                <p:nvPr/>
              </p:nvGrpSpPr>
              <p:grpSpPr bwMode="auto">
                <a:xfrm>
                  <a:off x="4739" y="1327"/>
                  <a:ext cx="582" cy="139"/>
                  <a:chOff x="614" y="2568"/>
                  <a:chExt cx="725" cy="139"/>
                </a:xfrm>
              </p:grpSpPr>
              <p:sp>
                <p:nvSpPr>
                  <p:cNvPr id="92"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3"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81"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2"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83"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84"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5"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86"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7"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8"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9"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90"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1"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65" name="Group 590"/>
              <p:cNvGrpSpPr/>
              <p:nvPr/>
            </p:nvGrpSpPr>
            <p:grpSpPr bwMode="auto">
              <a:xfrm flipH="1">
                <a:off x="1136203" y="4624876"/>
                <a:ext cx="948819" cy="909191"/>
                <a:chOff x="2839" y="3501"/>
                <a:chExt cx="755" cy="803"/>
              </a:xfrm>
            </p:grpSpPr>
            <p:pic>
              <p:nvPicPr>
                <p:cNvPr id="66"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67"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grpSp>
          <p:nvGrpSpPr>
            <p:cNvPr id="11" name="Group 10"/>
            <p:cNvGrpSpPr/>
            <p:nvPr/>
          </p:nvGrpSpPr>
          <p:grpSpPr bwMode="auto">
            <a:xfrm>
              <a:off x="2544844" y="4152295"/>
              <a:ext cx="934856" cy="732457"/>
              <a:chOff x="1136203" y="4520619"/>
              <a:chExt cx="1419428" cy="1013448"/>
            </a:xfrm>
          </p:grpSpPr>
          <p:grpSp>
            <p:nvGrpSpPr>
              <p:cNvPr id="28" name="Group 950"/>
              <p:cNvGrpSpPr/>
              <p:nvPr/>
            </p:nvGrpSpPr>
            <p:grpSpPr bwMode="auto">
              <a:xfrm>
                <a:off x="2039815" y="4520619"/>
                <a:ext cx="515816" cy="969179"/>
                <a:chOff x="4140" y="429"/>
                <a:chExt cx="1425" cy="2396"/>
              </a:xfrm>
            </p:grpSpPr>
            <p:sp>
              <p:nvSpPr>
                <p:cNvPr id="32"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3"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4"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5"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6"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7" name="Group 956"/>
                <p:cNvGrpSpPr/>
                <p:nvPr/>
              </p:nvGrpSpPr>
              <p:grpSpPr bwMode="auto">
                <a:xfrm>
                  <a:off x="4749" y="668"/>
                  <a:ext cx="581" cy="145"/>
                  <a:chOff x="614" y="2568"/>
                  <a:chExt cx="725" cy="139"/>
                </a:xfrm>
              </p:grpSpPr>
              <p:sp>
                <p:nvSpPr>
                  <p:cNvPr id="62"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63"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8"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9" name="Group 960"/>
                <p:cNvGrpSpPr/>
                <p:nvPr/>
              </p:nvGrpSpPr>
              <p:grpSpPr bwMode="auto">
                <a:xfrm>
                  <a:off x="4747" y="994"/>
                  <a:ext cx="581" cy="134"/>
                  <a:chOff x="614" y="2568"/>
                  <a:chExt cx="725" cy="139"/>
                </a:xfrm>
              </p:grpSpPr>
              <p:sp>
                <p:nvSpPr>
                  <p:cNvPr id="60"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61"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40"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41"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42" name="Group 965"/>
                <p:cNvGrpSpPr/>
                <p:nvPr/>
              </p:nvGrpSpPr>
              <p:grpSpPr bwMode="auto">
                <a:xfrm>
                  <a:off x="4735" y="1627"/>
                  <a:ext cx="582" cy="151"/>
                  <a:chOff x="614" y="2568"/>
                  <a:chExt cx="725" cy="139"/>
                </a:xfrm>
              </p:grpSpPr>
              <p:sp>
                <p:nvSpPr>
                  <p:cNvPr id="58"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9"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43"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44" name="Group 969"/>
                <p:cNvGrpSpPr/>
                <p:nvPr/>
              </p:nvGrpSpPr>
              <p:grpSpPr bwMode="auto">
                <a:xfrm>
                  <a:off x="4739" y="1327"/>
                  <a:ext cx="582" cy="139"/>
                  <a:chOff x="614" y="2568"/>
                  <a:chExt cx="725" cy="139"/>
                </a:xfrm>
              </p:grpSpPr>
              <p:sp>
                <p:nvSpPr>
                  <p:cNvPr id="56"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7"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45"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46"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47"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48"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49"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50"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1"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2"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3"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54"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5"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29" name="Group 590"/>
              <p:cNvGrpSpPr/>
              <p:nvPr/>
            </p:nvGrpSpPr>
            <p:grpSpPr bwMode="auto">
              <a:xfrm flipH="1">
                <a:off x="1136203" y="4624876"/>
                <a:ext cx="948819" cy="909191"/>
                <a:chOff x="2839" y="3501"/>
                <a:chExt cx="755" cy="803"/>
              </a:xfrm>
            </p:grpSpPr>
            <p:pic>
              <p:nvPicPr>
                <p:cNvPr id="30"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31"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cxnSp>
          <p:nvCxnSpPr>
            <p:cNvPr id="12" name="Straight Connector 11"/>
            <p:cNvCxnSpPr>
              <a:cxnSpLocks/>
              <a:stCxn id="69" idx="0"/>
              <a:endCxn id="21" idx="1"/>
            </p:cNvCxnSpPr>
            <p:nvPr/>
          </p:nvCxnSpPr>
          <p:spPr bwMode="auto">
            <a:xfrm flipV="1">
              <a:off x="1780141" y="3353396"/>
              <a:ext cx="330234" cy="80615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cxnSpLocks/>
              <a:stCxn id="33" idx="0"/>
              <a:endCxn id="21" idx="3"/>
            </p:cNvCxnSpPr>
            <p:nvPr/>
          </p:nvCxnSpPr>
          <p:spPr bwMode="auto">
            <a:xfrm flipH="1" flipV="1">
              <a:off x="2872185" y="3353396"/>
              <a:ext cx="409165" cy="798899"/>
            </a:xfrm>
            <a:prstGeom prst="line">
              <a:avLst/>
            </a:prstGeom>
            <a:ln w="28575"/>
          </p:spPr>
          <p:style>
            <a:lnRef idx="1">
              <a:schemeClr val="accent4"/>
            </a:lnRef>
            <a:fillRef idx="0">
              <a:schemeClr val="accent4"/>
            </a:fillRef>
            <a:effectRef idx="0">
              <a:schemeClr val="accent4"/>
            </a:effectRef>
            <a:fontRef idx="minor">
              <a:schemeClr val="tx1"/>
            </a:fontRef>
          </p:style>
        </p:cxnSp>
        <p:grpSp>
          <p:nvGrpSpPr>
            <p:cNvPr id="14" name="Group 13"/>
            <p:cNvGrpSpPr/>
            <p:nvPr/>
          </p:nvGrpSpPr>
          <p:grpSpPr bwMode="auto">
            <a:xfrm>
              <a:off x="2110376" y="2795049"/>
              <a:ext cx="764558" cy="699261"/>
              <a:chOff x="3668110" y="2448910"/>
              <a:chExt cx="3794234" cy="2165130"/>
            </a:xfrm>
          </p:grpSpPr>
          <p:sp>
            <p:nvSpPr>
              <p:cNvPr id="21" name="Rectangle 20"/>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2"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nvGrpSpPr>
              <p:cNvPr id="23" name="Group 22"/>
              <p:cNvGrpSpPr/>
              <p:nvPr/>
            </p:nvGrpSpPr>
            <p:grpSpPr bwMode="auto">
              <a:xfrm>
                <a:off x="3941378" y="2603243"/>
                <a:ext cx="3202060" cy="1066110"/>
                <a:chOff x="7939341" y="3037317"/>
                <a:chExt cx="897649" cy="353919"/>
              </a:xfrm>
            </p:grpSpPr>
            <p:sp>
              <p:nvSpPr>
                <p:cNvPr id="24"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5"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6"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7"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grpSp>
        <p:sp>
          <p:nvSpPr>
            <p:cNvPr id="15" name="Rectangle 14"/>
            <p:cNvSpPr/>
            <p:nvPr/>
          </p:nvSpPr>
          <p:spPr bwMode="auto">
            <a:xfrm>
              <a:off x="708343" y="324866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Ethernet1/0/3</a:t>
              </a:r>
              <a:endParaRPr lang="en-US" sz="1600">
                <a:solidFill>
                  <a:schemeClr val="accent3"/>
                </a:solidFill>
              </a:endParaRPr>
            </a:p>
          </p:txBody>
        </p:sp>
        <p:sp>
          <p:nvSpPr>
            <p:cNvPr id="16" name="Rectangle 15"/>
            <p:cNvSpPr/>
            <p:nvPr/>
          </p:nvSpPr>
          <p:spPr bwMode="auto">
            <a:xfrm>
              <a:off x="2904030" y="3243074"/>
              <a:ext cx="1381789" cy="338554"/>
            </a:xfrm>
            <a:prstGeom prst="rect">
              <a:avLst/>
            </a:prstGeom>
            <a:grpFill/>
          </p:spPr>
          <p:txBody>
            <a:bodyPr wrap="none">
              <a:spAutoFit/>
            </a:bodyPr>
            <a:lstStyle/>
            <a:p>
              <a:pPr>
                <a:defRPr/>
              </a:pPr>
              <a:r>
                <a:rPr lang="en-US" sz="1600">
                  <a:solidFill>
                    <a:schemeClr val="accent4"/>
                  </a:solidFill>
                  <a:ea typeface="宋体"/>
                  <a:cs typeface="Courier New"/>
                </a:rPr>
                <a:t>Ethernet1/0/4</a:t>
              </a:r>
              <a:endParaRPr lang="en-US" sz="1600">
                <a:solidFill>
                  <a:schemeClr val="accent4"/>
                </a:solidFill>
              </a:endParaRPr>
            </a:p>
          </p:txBody>
        </p:sp>
        <p:sp>
          <p:nvSpPr>
            <p:cNvPr id="17" name="Rectangle 16"/>
            <p:cNvSpPr/>
            <p:nvPr/>
          </p:nvSpPr>
          <p:spPr bwMode="auto">
            <a:xfrm>
              <a:off x="1571505" y="4879752"/>
              <a:ext cx="482824" cy="338554"/>
            </a:xfrm>
            <a:prstGeom prst="rect">
              <a:avLst/>
            </a:prstGeom>
            <a:grpFill/>
          </p:spPr>
          <p:txBody>
            <a:bodyPr wrap="none">
              <a:spAutoFit/>
            </a:bodyPr>
            <a:lstStyle/>
            <a:p>
              <a:pPr>
                <a:defRPr/>
              </a:pPr>
              <a:r>
                <a:rPr lang="en-US" sz="1600">
                  <a:ea typeface="宋体"/>
                  <a:cs typeface="Courier New"/>
                </a:rPr>
                <a:t>pc1</a:t>
              </a:r>
              <a:endParaRPr lang="en-US" sz="1600"/>
            </a:p>
          </p:txBody>
        </p:sp>
        <p:sp>
          <p:nvSpPr>
            <p:cNvPr id="18" name="Rectangle 17"/>
            <p:cNvSpPr/>
            <p:nvPr/>
          </p:nvSpPr>
          <p:spPr bwMode="auto">
            <a:xfrm>
              <a:off x="3138321" y="4892898"/>
              <a:ext cx="482824" cy="338554"/>
            </a:xfrm>
            <a:prstGeom prst="rect">
              <a:avLst/>
            </a:prstGeom>
            <a:grpFill/>
          </p:spPr>
          <p:txBody>
            <a:bodyPr wrap="none">
              <a:spAutoFit/>
            </a:bodyPr>
            <a:lstStyle/>
            <a:p>
              <a:pPr>
                <a:defRPr/>
              </a:pPr>
              <a:r>
                <a:rPr lang="en-US" sz="1600">
                  <a:ea typeface="宋体"/>
                  <a:cs typeface="Courier New"/>
                </a:rPr>
                <a:t>pc2</a:t>
              </a:r>
              <a:endParaRPr lang="en-US" sz="1600"/>
            </a:p>
          </p:txBody>
        </p:sp>
        <p:sp>
          <p:nvSpPr>
            <p:cNvPr id="19" name="Rectangle 18"/>
            <p:cNvSpPr/>
            <p:nvPr/>
          </p:nvSpPr>
          <p:spPr bwMode="auto">
            <a:xfrm>
              <a:off x="1128224" y="5091291"/>
              <a:ext cx="1563247" cy="338554"/>
            </a:xfrm>
            <a:prstGeom prst="rect">
              <a:avLst/>
            </a:prstGeom>
            <a:grpFill/>
          </p:spPr>
          <p:txBody>
            <a:bodyPr wrap="none">
              <a:spAutoFit/>
            </a:bodyPr>
            <a:lstStyle/>
            <a:p>
              <a:pPr>
                <a:defRPr/>
              </a:pPr>
              <a:r>
                <a:rPr lang="en-US" sz="1600"/>
                <a:t>192.168.1.11/24</a:t>
              </a:r>
            </a:p>
          </p:txBody>
        </p:sp>
        <p:sp>
          <p:nvSpPr>
            <p:cNvPr id="20" name="Rectangle 19"/>
            <p:cNvSpPr/>
            <p:nvPr/>
          </p:nvSpPr>
          <p:spPr bwMode="auto">
            <a:xfrm>
              <a:off x="2695041" y="5086410"/>
              <a:ext cx="1563247" cy="338554"/>
            </a:xfrm>
            <a:prstGeom prst="rect">
              <a:avLst/>
            </a:prstGeom>
            <a:grpFill/>
          </p:spPr>
          <p:txBody>
            <a:bodyPr wrap="none">
              <a:spAutoFit/>
            </a:bodyPr>
            <a:lstStyle/>
            <a:p>
              <a:pPr>
                <a:defRPr/>
              </a:pPr>
              <a:r>
                <a:rPr lang="en-US" sz="1600"/>
                <a:t>192.168.1.12/24</a:t>
              </a:r>
            </a:p>
          </p:txBody>
        </p:sp>
        <p:grpSp>
          <p:nvGrpSpPr>
            <p:cNvPr id="101" name="Group 100"/>
            <p:cNvGrpSpPr/>
            <p:nvPr/>
          </p:nvGrpSpPr>
          <p:grpSpPr bwMode="auto">
            <a:xfrm>
              <a:off x="4809883" y="4159546"/>
              <a:ext cx="934856" cy="725206"/>
              <a:chOff x="1136203" y="4520619"/>
              <a:chExt cx="1419428" cy="1013448"/>
            </a:xfrm>
          </p:grpSpPr>
          <p:grpSp>
            <p:nvGrpSpPr>
              <p:cNvPr id="155" name="Group 950"/>
              <p:cNvGrpSpPr/>
              <p:nvPr/>
            </p:nvGrpSpPr>
            <p:grpSpPr bwMode="auto">
              <a:xfrm>
                <a:off x="2039815" y="4520619"/>
                <a:ext cx="515816" cy="969179"/>
                <a:chOff x="4140" y="429"/>
                <a:chExt cx="1425" cy="2396"/>
              </a:xfrm>
            </p:grpSpPr>
            <p:sp>
              <p:nvSpPr>
                <p:cNvPr id="159"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60"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61"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62"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63"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64" name="Group 956"/>
                <p:cNvGrpSpPr/>
                <p:nvPr/>
              </p:nvGrpSpPr>
              <p:grpSpPr bwMode="auto">
                <a:xfrm>
                  <a:off x="4749" y="668"/>
                  <a:ext cx="581" cy="145"/>
                  <a:chOff x="614" y="2568"/>
                  <a:chExt cx="725" cy="139"/>
                </a:xfrm>
              </p:grpSpPr>
              <p:sp>
                <p:nvSpPr>
                  <p:cNvPr id="189"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90"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65"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66" name="Group 960"/>
                <p:cNvGrpSpPr/>
                <p:nvPr/>
              </p:nvGrpSpPr>
              <p:grpSpPr bwMode="auto">
                <a:xfrm>
                  <a:off x="4747" y="994"/>
                  <a:ext cx="581" cy="134"/>
                  <a:chOff x="614" y="2568"/>
                  <a:chExt cx="725" cy="139"/>
                </a:xfrm>
              </p:grpSpPr>
              <p:sp>
                <p:nvSpPr>
                  <p:cNvPr id="187"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8"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67"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68"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69" name="Group 965"/>
                <p:cNvGrpSpPr/>
                <p:nvPr/>
              </p:nvGrpSpPr>
              <p:grpSpPr bwMode="auto">
                <a:xfrm>
                  <a:off x="4735" y="1627"/>
                  <a:ext cx="582" cy="151"/>
                  <a:chOff x="614" y="2568"/>
                  <a:chExt cx="725" cy="139"/>
                </a:xfrm>
              </p:grpSpPr>
              <p:sp>
                <p:nvSpPr>
                  <p:cNvPr id="185"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6"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70"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171" name="Group 969"/>
                <p:cNvGrpSpPr/>
                <p:nvPr/>
              </p:nvGrpSpPr>
              <p:grpSpPr bwMode="auto">
                <a:xfrm>
                  <a:off x="4739" y="1327"/>
                  <a:ext cx="582" cy="139"/>
                  <a:chOff x="614" y="2568"/>
                  <a:chExt cx="725" cy="139"/>
                </a:xfrm>
              </p:grpSpPr>
              <p:sp>
                <p:nvSpPr>
                  <p:cNvPr id="183"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4"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72"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3"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74"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75"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6"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77"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8"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9"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0"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181"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2"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156" name="Group 590"/>
              <p:cNvGrpSpPr/>
              <p:nvPr/>
            </p:nvGrpSpPr>
            <p:grpSpPr bwMode="auto">
              <a:xfrm flipH="1">
                <a:off x="1136203" y="4624876"/>
                <a:ext cx="948819" cy="909191"/>
                <a:chOff x="2839" y="3501"/>
                <a:chExt cx="755" cy="803"/>
              </a:xfrm>
            </p:grpSpPr>
            <p:pic>
              <p:nvPicPr>
                <p:cNvPr id="157"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58"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grpSp>
          <p:nvGrpSpPr>
            <p:cNvPr id="102" name="Group 101"/>
            <p:cNvGrpSpPr/>
            <p:nvPr/>
          </p:nvGrpSpPr>
          <p:grpSpPr bwMode="auto">
            <a:xfrm>
              <a:off x="6311091" y="4152295"/>
              <a:ext cx="934856" cy="732457"/>
              <a:chOff x="1136203" y="4520619"/>
              <a:chExt cx="1419428" cy="1013448"/>
            </a:xfrm>
          </p:grpSpPr>
          <p:grpSp>
            <p:nvGrpSpPr>
              <p:cNvPr id="119" name="Group 950"/>
              <p:cNvGrpSpPr/>
              <p:nvPr/>
            </p:nvGrpSpPr>
            <p:grpSpPr bwMode="auto">
              <a:xfrm>
                <a:off x="2039815" y="4520619"/>
                <a:ext cx="515816" cy="969179"/>
                <a:chOff x="4140" y="429"/>
                <a:chExt cx="1425" cy="2396"/>
              </a:xfrm>
            </p:grpSpPr>
            <p:sp>
              <p:nvSpPr>
                <p:cNvPr id="123"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24"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25"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26"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27"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28" name="Group 956"/>
                <p:cNvGrpSpPr/>
                <p:nvPr/>
              </p:nvGrpSpPr>
              <p:grpSpPr bwMode="auto">
                <a:xfrm>
                  <a:off x="4749" y="668"/>
                  <a:ext cx="581" cy="145"/>
                  <a:chOff x="614" y="2568"/>
                  <a:chExt cx="725" cy="139"/>
                </a:xfrm>
              </p:grpSpPr>
              <p:sp>
                <p:nvSpPr>
                  <p:cNvPr id="153"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54"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29"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30" name="Group 960"/>
                <p:cNvGrpSpPr/>
                <p:nvPr/>
              </p:nvGrpSpPr>
              <p:grpSpPr bwMode="auto">
                <a:xfrm>
                  <a:off x="4747" y="994"/>
                  <a:ext cx="581" cy="134"/>
                  <a:chOff x="614" y="2568"/>
                  <a:chExt cx="725" cy="139"/>
                </a:xfrm>
              </p:grpSpPr>
              <p:sp>
                <p:nvSpPr>
                  <p:cNvPr id="151"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52"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31"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32"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33" name="Group 965"/>
                <p:cNvGrpSpPr/>
                <p:nvPr/>
              </p:nvGrpSpPr>
              <p:grpSpPr bwMode="auto">
                <a:xfrm>
                  <a:off x="4735" y="1627"/>
                  <a:ext cx="582" cy="151"/>
                  <a:chOff x="614" y="2568"/>
                  <a:chExt cx="725" cy="139"/>
                </a:xfrm>
              </p:grpSpPr>
              <p:sp>
                <p:nvSpPr>
                  <p:cNvPr id="149"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50"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34"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135" name="Group 969"/>
                <p:cNvGrpSpPr/>
                <p:nvPr/>
              </p:nvGrpSpPr>
              <p:grpSpPr bwMode="auto">
                <a:xfrm>
                  <a:off x="4739" y="1327"/>
                  <a:ext cx="582" cy="139"/>
                  <a:chOff x="614" y="2568"/>
                  <a:chExt cx="725" cy="139"/>
                </a:xfrm>
              </p:grpSpPr>
              <p:sp>
                <p:nvSpPr>
                  <p:cNvPr id="147"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8"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36"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37"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38"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39"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0"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41"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2"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3"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4"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145"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6"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120" name="Group 590"/>
              <p:cNvGrpSpPr/>
              <p:nvPr/>
            </p:nvGrpSpPr>
            <p:grpSpPr bwMode="auto">
              <a:xfrm flipH="1">
                <a:off x="1136203" y="4624876"/>
                <a:ext cx="948819" cy="909191"/>
                <a:chOff x="2839" y="3501"/>
                <a:chExt cx="755" cy="803"/>
              </a:xfrm>
            </p:grpSpPr>
            <p:pic>
              <p:nvPicPr>
                <p:cNvPr id="121"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22"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cxnSp>
          <p:nvCxnSpPr>
            <p:cNvPr id="103" name="Straight Connector 102"/>
            <p:cNvCxnSpPr>
              <a:cxnSpLocks/>
              <a:stCxn id="160" idx="0"/>
              <a:endCxn id="112" idx="1"/>
            </p:cNvCxnSpPr>
            <p:nvPr/>
          </p:nvCxnSpPr>
          <p:spPr bwMode="auto">
            <a:xfrm flipV="1">
              <a:off x="5546389" y="3353396"/>
              <a:ext cx="330234" cy="80615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a:cxnSpLocks/>
              <a:stCxn id="124" idx="0"/>
              <a:endCxn id="112" idx="3"/>
            </p:cNvCxnSpPr>
            <p:nvPr/>
          </p:nvCxnSpPr>
          <p:spPr bwMode="auto">
            <a:xfrm flipH="1" flipV="1">
              <a:off x="6638431" y="3353396"/>
              <a:ext cx="409165" cy="798899"/>
            </a:xfrm>
            <a:prstGeom prst="line">
              <a:avLst/>
            </a:prstGeom>
            <a:ln w="28575"/>
          </p:spPr>
          <p:style>
            <a:lnRef idx="1">
              <a:schemeClr val="accent4"/>
            </a:lnRef>
            <a:fillRef idx="0">
              <a:schemeClr val="accent4"/>
            </a:fillRef>
            <a:effectRef idx="0">
              <a:schemeClr val="accent4"/>
            </a:effectRef>
            <a:fontRef idx="minor">
              <a:schemeClr val="tx1"/>
            </a:fontRef>
          </p:style>
        </p:cxnSp>
        <p:grpSp>
          <p:nvGrpSpPr>
            <p:cNvPr id="105" name="Group 104"/>
            <p:cNvGrpSpPr/>
            <p:nvPr/>
          </p:nvGrpSpPr>
          <p:grpSpPr bwMode="auto">
            <a:xfrm>
              <a:off x="5876623" y="2795049"/>
              <a:ext cx="764558" cy="699261"/>
              <a:chOff x="3668110" y="2448910"/>
              <a:chExt cx="3794234" cy="2165130"/>
            </a:xfrm>
          </p:grpSpPr>
          <p:sp>
            <p:nvSpPr>
              <p:cNvPr id="112" name="Rectangle 111"/>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3"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nvGrpSpPr>
              <p:cNvPr id="114" name="Group 113"/>
              <p:cNvGrpSpPr/>
              <p:nvPr/>
            </p:nvGrpSpPr>
            <p:grpSpPr bwMode="auto">
              <a:xfrm>
                <a:off x="3941378" y="2603243"/>
                <a:ext cx="3202060" cy="1066110"/>
                <a:chOff x="7939341" y="3037317"/>
                <a:chExt cx="897649" cy="353919"/>
              </a:xfrm>
            </p:grpSpPr>
            <p:sp>
              <p:nvSpPr>
                <p:cNvPr id="115"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6"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7"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8"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grpSp>
        <p:sp>
          <p:nvSpPr>
            <p:cNvPr id="106" name="Rectangle 105"/>
            <p:cNvSpPr/>
            <p:nvPr/>
          </p:nvSpPr>
          <p:spPr bwMode="auto">
            <a:xfrm>
              <a:off x="4471812" y="324866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Ethernet1/0/3</a:t>
              </a:r>
              <a:endParaRPr lang="en-US" sz="1600">
                <a:solidFill>
                  <a:schemeClr val="accent3"/>
                </a:solidFill>
              </a:endParaRPr>
            </a:p>
          </p:txBody>
        </p:sp>
        <p:sp>
          <p:nvSpPr>
            <p:cNvPr id="107" name="Rectangle 106"/>
            <p:cNvSpPr/>
            <p:nvPr/>
          </p:nvSpPr>
          <p:spPr bwMode="auto">
            <a:xfrm>
              <a:off x="6794182" y="3248664"/>
              <a:ext cx="1381789" cy="338554"/>
            </a:xfrm>
            <a:prstGeom prst="rect">
              <a:avLst/>
            </a:prstGeom>
            <a:grpFill/>
          </p:spPr>
          <p:txBody>
            <a:bodyPr wrap="none">
              <a:spAutoFit/>
            </a:bodyPr>
            <a:lstStyle/>
            <a:p>
              <a:pPr>
                <a:defRPr/>
              </a:pPr>
              <a:r>
                <a:rPr lang="en-US" sz="1600">
                  <a:solidFill>
                    <a:schemeClr val="accent4"/>
                  </a:solidFill>
                  <a:ea typeface="宋体"/>
                  <a:cs typeface="Courier New"/>
                </a:rPr>
                <a:t>Ethernet1/0/4</a:t>
              </a:r>
              <a:endParaRPr lang="en-US" sz="1600">
                <a:solidFill>
                  <a:schemeClr val="accent4"/>
                </a:solidFill>
              </a:endParaRPr>
            </a:p>
          </p:txBody>
        </p:sp>
        <p:sp>
          <p:nvSpPr>
            <p:cNvPr id="108" name="Rectangle 107"/>
            <p:cNvSpPr/>
            <p:nvPr/>
          </p:nvSpPr>
          <p:spPr bwMode="auto">
            <a:xfrm>
              <a:off x="5337751" y="4879752"/>
              <a:ext cx="482824" cy="338554"/>
            </a:xfrm>
            <a:prstGeom prst="rect">
              <a:avLst/>
            </a:prstGeom>
            <a:grpFill/>
          </p:spPr>
          <p:txBody>
            <a:bodyPr wrap="none">
              <a:spAutoFit/>
            </a:bodyPr>
            <a:lstStyle/>
            <a:p>
              <a:pPr>
                <a:defRPr/>
              </a:pPr>
              <a:r>
                <a:rPr lang="en-US" sz="1600">
                  <a:ea typeface="宋体"/>
                  <a:cs typeface="Courier New"/>
                </a:rPr>
                <a:t>pc3</a:t>
              </a:r>
              <a:endParaRPr lang="en-US" sz="1600"/>
            </a:p>
          </p:txBody>
        </p:sp>
        <p:sp>
          <p:nvSpPr>
            <p:cNvPr id="109" name="Rectangle 108"/>
            <p:cNvSpPr/>
            <p:nvPr/>
          </p:nvSpPr>
          <p:spPr bwMode="auto">
            <a:xfrm>
              <a:off x="6904567" y="4892898"/>
              <a:ext cx="482824" cy="338554"/>
            </a:xfrm>
            <a:prstGeom prst="rect">
              <a:avLst/>
            </a:prstGeom>
            <a:grpFill/>
          </p:spPr>
          <p:txBody>
            <a:bodyPr wrap="none">
              <a:spAutoFit/>
            </a:bodyPr>
            <a:lstStyle/>
            <a:p>
              <a:pPr>
                <a:defRPr/>
              </a:pPr>
              <a:r>
                <a:rPr lang="en-US" sz="1600">
                  <a:ea typeface="宋体"/>
                  <a:cs typeface="Courier New"/>
                </a:rPr>
                <a:t>pc4</a:t>
              </a:r>
              <a:endParaRPr lang="en-US" sz="1600"/>
            </a:p>
          </p:txBody>
        </p:sp>
        <p:sp>
          <p:nvSpPr>
            <p:cNvPr id="110" name="Rectangle 109"/>
            <p:cNvSpPr/>
            <p:nvPr/>
          </p:nvSpPr>
          <p:spPr bwMode="auto">
            <a:xfrm>
              <a:off x="4894471" y="5091291"/>
              <a:ext cx="1563247" cy="338554"/>
            </a:xfrm>
            <a:prstGeom prst="rect">
              <a:avLst/>
            </a:prstGeom>
            <a:grpFill/>
          </p:spPr>
          <p:txBody>
            <a:bodyPr wrap="none">
              <a:spAutoFit/>
            </a:bodyPr>
            <a:lstStyle/>
            <a:p>
              <a:pPr>
                <a:defRPr/>
              </a:pPr>
              <a:r>
                <a:rPr lang="en-US" sz="1600"/>
                <a:t>192.168.1.13/24</a:t>
              </a:r>
            </a:p>
          </p:txBody>
        </p:sp>
        <p:sp>
          <p:nvSpPr>
            <p:cNvPr id="111" name="Rectangle 110"/>
            <p:cNvSpPr/>
            <p:nvPr/>
          </p:nvSpPr>
          <p:spPr bwMode="auto">
            <a:xfrm>
              <a:off x="6461288" y="5086410"/>
              <a:ext cx="1563247" cy="338554"/>
            </a:xfrm>
            <a:prstGeom prst="rect">
              <a:avLst/>
            </a:prstGeom>
            <a:grpFill/>
          </p:spPr>
          <p:txBody>
            <a:bodyPr wrap="none">
              <a:spAutoFit/>
            </a:bodyPr>
            <a:lstStyle/>
            <a:p>
              <a:pPr>
                <a:defRPr/>
              </a:pPr>
              <a:r>
                <a:rPr lang="en-US" sz="1600"/>
                <a:t>192.168.1.14/24</a:t>
              </a:r>
            </a:p>
          </p:txBody>
        </p:sp>
        <p:sp>
          <p:nvSpPr>
            <p:cNvPr id="192" name="Rectangle 191"/>
            <p:cNvSpPr/>
            <p:nvPr/>
          </p:nvSpPr>
          <p:spPr bwMode="auto">
            <a:xfrm>
              <a:off x="2815354" y="265923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Ethernet1/0/1</a:t>
              </a:r>
            </a:p>
          </p:txBody>
        </p:sp>
        <p:sp>
          <p:nvSpPr>
            <p:cNvPr id="193" name="Rectangle 192"/>
            <p:cNvSpPr/>
            <p:nvPr/>
          </p:nvSpPr>
          <p:spPr bwMode="auto">
            <a:xfrm>
              <a:off x="4567746" y="265923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Ethernet1/0/1</a:t>
              </a:r>
            </a:p>
          </p:txBody>
        </p:sp>
        <p:sp>
          <p:nvSpPr>
            <p:cNvPr id="194" name="Rectangle 193"/>
            <p:cNvSpPr/>
            <p:nvPr/>
          </p:nvSpPr>
          <p:spPr bwMode="auto">
            <a:xfrm>
              <a:off x="480121" y="3724551"/>
              <a:ext cx="756938" cy="338554"/>
            </a:xfrm>
            <a:prstGeom prst="rect">
              <a:avLst/>
            </a:prstGeom>
            <a:grpFill/>
          </p:spPr>
          <p:txBody>
            <a:bodyPr wrap="none">
              <a:spAutoFit/>
            </a:bodyPr>
            <a:lstStyle/>
            <a:p>
              <a:pPr>
                <a:defRPr/>
              </a:pPr>
              <a:r>
                <a:rPr lang="en-US" sz="1600" b="1" u="sng">
                  <a:solidFill>
                    <a:schemeClr val="accent3"/>
                  </a:solidFill>
                  <a:ea typeface="宋体"/>
                  <a:cs typeface="Courier New"/>
                </a:rPr>
                <a:t>VLAN2</a:t>
              </a:r>
              <a:endParaRPr lang="en-US" sz="1600" b="1" u="sng">
                <a:solidFill>
                  <a:schemeClr val="accent3"/>
                </a:solidFill>
              </a:endParaRPr>
            </a:p>
          </p:txBody>
        </p:sp>
        <p:sp>
          <p:nvSpPr>
            <p:cNvPr id="195" name="Rectangle 194"/>
            <p:cNvSpPr/>
            <p:nvPr/>
          </p:nvSpPr>
          <p:spPr bwMode="auto">
            <a:xfrm>
              <a:off x="7485076" y="3737169"/>
              <a:ext cx="756938" cy="338554"/>
            </a:xfrm>
            <a:prstGeom prst="rect">
              <a:avLst/>
            </a:prstGeom>
            <a:grpFill/>
          </p:spPr>
          <p:txBody>
            <a:bodyPr wrap="none">
              <a:spAutoFit/>
            </a:bodyPr>
            <a:lstStyle/>
            <a:p>
              <a:pPr>
                <a:defRPr/>
              </a:pPr>
              <a:r>
                <a:rPr lang="en-US" sz="1600" b="1" u="sng">
                  <a:solidFill>
                    <a:schemeClr val="accent4"/>
                  </a:solidFill>
                  <a:ea typeface="宋体"/>
                  <a:cs typeface="Courier New"/>
                </a:rPr>
                <a:t>VLAN3</a:t>
              </a:r>
              <a:endParaRPr lang="en-US" sz="1600" b="1" u="sng">
                <a:solidFill>
                  <a:schemeClr val="accent4"/>
                </a:solidFill>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4. </a:t>
            </a:r>
            <a:r>
              <a:rPr lang="zh-CN"/>
              <a:t>配置四节点网络</a:t>
            </a:r>
            <a:r>
              <a:rPr lang="en-US"/>
              <a:t> VLAN</a:t>
            </a:r>
          </a:p>
        </p:txBody>
      </p:sp>
      <p:sp>
        <p:nvSpPr>
          <p:cNvPr id="199" name="Content Placeholder 198"/>
          <p:cNvSpPr>
            <a:spLocks noGrp="1"/>
          </p:cNvSpPr>
          <p:nvPr>
            <p:ph idx="1"/>
          </p:nvPr>
        </p:nvSpPr>
        <p:spPr bwMode="auto"/>
        <p:txBody>
          <a:bodyPr/>
          <a:lstStyle/>
          <a:p>
            <a:pPr marL="447675" lvl="1" indent="-358775">
              <a:buFont typeface="+mj-lt"/>
              <a:buAutoNum type="arabicParenR" startAt="3"/>
              <a:defRPr/>
            </a:pPr>
            <a:r>
              <a:rPr lang="zh-CN"/>
              <a:t>配置</a:t>
            </a:r>
            <a:r>
              <a:rPr lang="en-US"/>
              <a:t>VLAN</a:t>
            </a:r>
            <a:r>
              <a:rPr lang="zh-CN"/>
              <a:t>。</a:t>
            </a:r>
            <a:endParaRPr lang="en-US"/>
          </a:p>
          <a:p>
            <a:pPr marL="447675" lvl="2" indent="-358775">
              <a:defRPr/>
            </a:pPr>
            <a:r>
              <a:rPr lang="zh-CN"/>
              <a:t>问：那怎么才能让</a:t>
            </a:r>
            <a:r>
              <a:rPr lang="en-US"/>
              <a:t>VLAN3</a:t>
            </a:r>
            <a:r>
              <a:rPr lang="zh-CN"/>
              <a:t>里的</a:t>
            </a:r>
            <a:r>
              <a:rPr lang="en-US"/>
              <a:t>pc2</a:t>
            </a:r>
            <a:r>
              <a:rPr lang="zh-CN"/>
              <a:t>和</a:t>
            </a:r>
            <a:r>
              <a:rPr lang="en-US"/>
              <a:t>pc3</a:t>
            </a:r>
            <a:r>
              <a:rPr lang="zh-CN"/>
              <a:t>也能互通呢？</a:t>
            </a:r>
            <a:endParaRPr lang="en-US"/>
          </a:p>
          <a:p>
            <a:pPr marL="447675" lvl="2" indent="-358775">
              <a:defRPr/>
            </a:pPr>
            <a:r>
              <a:rPr lang="zh-CN"/>
              <a:t>答：有办法，</a:t>
            </a:r>
            <a:r>
              <a:rPr lang="en-US"/>
              <a:t>Quidway</a:t>
            </a:r>
            <a:r>
              <a:rPr lang="zh-CN"/>
              <a:t>交换机有一种接口类型叫</a:t>
            </a:r>
            <a:r>
              <a:rPr lang="en-US">
                <a:solidFill>
                  <a:srgbClr val="C00000"/>
                </a:solidFill>
              </a:rPr>
              <a:t>Trunk</a:t>
            </a:r>
            <a:r>
              <a:rPr lang="zh-CN"/>
              <a:t>（主干），</a:t>
            </a:r>
            <a:r>
              <a:rPr lang="en-US"/>
              <a:t>Trunk</a:t>
            </a:r>
            <a:r>
              <a:rPr lang="zh-CN"/>
              <a:t>接口可以属于多个</a:t>
            </a:r>
            <a:r>
              <a:rPr lang="en-US"/>
              <a:t>VLAN</a:t>
            </a:r>
            <a:r>
              <a:rPr lang="zh-CN"/>
              <a:t>，允许多个</a:t>
            </a:r>
            <a:r>
              <a:rPr lang="en-US"/>
              <a:t>VLAN</a:t>
            </a:r>
            <a:r>
              <a:rPr lang="zh-CN"/>
              <a:t>的帧通过，主要用于干道链路。</a:t>
            </a:r>
            <a:endParaRPr lang="en-US"/>
          </a:p>
          <a:p>
            <a:pPr marL="447675" lvl="2" indent="-358775">
              <a:defRPr/>
            </a:pPr>
            <a:r>
              <a:rPr lang="zh-CN"/>
              <a:t>我们之前一直使用的接口类型是</a:t>
            </a:r>
            <a:r>
              <a:rPr lang="en-US">
                <a:solidFill>
                  <a:srgbClr val="C00000"/>
                </a:solidFill>
              </a:rPr>
              <a:t>Access</a:t>
            </a:r>
            <a:r>
              <a:rPr lang="zh-CN"/>
              <a:t>（接入），只能属于一个</a:t>
            </a:r>
            <a:r>
              <a:rPr lang="en-US"/>
              <a:t>VLAN</a:t>
            </a:r>
            <a:r>
              <a:rPr lang="zh-CN"/>
              <a:t>，只允许一种</a:t>
            </a:r>
            <a:r>
              <a:rPr lang="en-US"/>
              <a:t>VLAN</a:t>
            </a:r>
            <a:r>
              <a:rPr lang="zh-CN"/>
              <a:t>通过，其主要用来连接用户主机，一般用于接入链路。</a:t>
            </a:r>
            <a:endParaRPr lang="en-US"/>
          </a:p>
          <a:p>
            <a:pPr marL="447675" lvl="2" indent="-358775">
              <a:defRPr/>
            </a:pPr>
            <a:r>
              <a:rPr lang="zh-CN" i="1" u="sng">
                <a:solidFill>
                  <a:srgbClr val="C00000"/>
                </a:solidFill>
              </a:rPr>
              <a:t>注意：之前我们配置</a:t>
            </a:r>
            <a:r>
              <a:rPr lang="en-US" i="1" u="sng">
                <a:solidFill>
                  <a:srgbClr val="C00000"/>
                </a:solidFill>
              </a:rPr>
              <a:t>VLAN</a:t>
            </a:r>
            <a:r>
              <a:rPr lang="zh-CN" i="1" u="sng">
                <a:solidFill>
                  <a:srgbClr val="C00000"/>
                </a:solidFill>
              </a:rPr>
              <a:t>的指令（如下图）只能用于</a:t>
            </a:r>
            <a:r>
              <a:rPr lang="en-US" i="1" u="sng">
                <a:solidFill>
                  <a:srgbClr val="C00000"/>
                </a:solidFill>
              </a:rPr>
              <a:t>Access</a:t>
            </a:r>
            <a:r>
              <a:rPr lang="zh-CN" i="1" u="sng">
                <a:solidFill>
                  <a:srgbClr val="C00000"/>
                </a:solidFill>
              </a:rPr>
              <a:t>接口，不能用于</a:t>
            </a:r>
            <a:r>
              <a:rPr lang="en-US" i="1" u="sng">
                <a:solidFill>
                  <a:srgbClr val="C00000"/>
                </a:solidFill>
              </a:rPr>
              <a:t>Trunk</a:t>
            </a:r>
            <a:r>
              <a:rPr lang="zh-CN" i="1" u="sng">
                <a:solidFill>
                  <a:srgbClr val="C00000"/>
                </a:solidFill>
              </a:rPr>
              <a:t>接口。</a:t>
            </a:r>
            <a:endParaRPr lang="en-US" i="1" u="sng">
              <a:solidFill>
                <a:srgbClr val="C00000"/>
              </a:solidFill>
            </a:endParaRPr>
          </a:p>
        </p:txBody>
      </p:sp>
      <p:sp>
        <p:nvSpPr>
          <p:cNvPr id="6" name="Date Placeholder 5"/>
          <p:cNvSpPr>
            <a:spLocks noGrp="1"/>
          </p:cNvSpPr>
          <p:nvPr>
            <p:ph type="dt" sz="half" idx="10"/>
          </p:nvPr>
        </p:nvSpPr>
        <p:spPr bwMode="auto"/>
        <p:txBody>
          <a:bodyPr/>
          <a:lstStyle/>
          <a:p>
            <a:pPr>
              <a:defRPr/>
            </a:pPr>
            <a:r>
              <a:rPr lang="en-US"/>
              <a:t>3/1/2020</a:t>
            </a:r>
            <a:endParaRPr/>
          </a:p>
        </p:txBody>
      </p:sp>
      <p:sp>
        <p:nvSpPr>
          <p:cNvPr id="7" name="Footer Placeholder 6"/>
          <p:cNvSpPr>
            <a:spLocks noGrp="1"/>
          </p:cNvSpPr>
          <p:nvPr>
            <p:ph type="ftr" sz="quarter" idx="11"/>
          </p:nvPr>
        </p:nvSpPr>
        <p:spPr bwMode="auto"/>
        <p:txBody>
          <a:bodyPr/>
          <a:lstStyle/>
          <a:p>
            <a:pPr>
              <a:defRPr/>
            </a:pPr>
            <a:r>
              <a:rPr lang="zh-CN"/>
              <a:t>计算机网络实验</a:t>
            </a:r>
            <a:endParaRPr lang="en-US"/>
          </a:p>
        </p:txBody>
      </p:sp>
      <p:sp>
        <p:nvSpPr>
          <p:cNvPr id="8" name="Slide Number Placeholder 7"/>
          <p:cNvSpPr>
            <a:spLocks noGrp="1"/>
          </p:cNvSpPr>
          <p:nvPr>
            <p:ph type="sldNum" sz="quarter" idx="12"/>
          </p:nvPr>
        </p:nvSpPr>
        <p:spPr bwMode="auto"/>
        <p:txBody>
          <a:bodyPr/>
          <a:lstStyle/>
          <a:p>
            <a:pPr>
              <a:defRPr/>
            </a:pPr>
            <a:fld id="{0ECDF2DC-913F-4A16-9C18-8900B299D998}" type="slidenum">
              <a:rPr lang="en-US"/>
              <a:t>36</a:t>
            </a:fld>
            <a:endParaRPr lang="en-US"/>
          </a:p>
        </p:txBody>
      </p:sp>
      <p:sp>
        <p:nvSpPr>
          <p:cNvPr id="5" name="Rectangle 4"/>
          <p:cNvSpPr/>
          <p:nvPr/>
        </p:nvSpPr>
        <p:spPr bwMode="auto">
          <a:xfrm>
            <a:off x="1754687" y="5138092"/>
            <a:ext cx="5835650" cy="707886"/>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01168" lvl="1" indent="0">
              <a:buNone/>
              <a:defRPr/>
            </a:pPr>
            <a:r>
              <a:rPr lang="en-US" sz="2000">
                <a:latin typeface="Courier New"/>
                <a:ea typeface="宋体"/>
                <a:cs typeface="Courier New"/>
              </a:rPr>
              <a:t>[Quidway] vlan 2</a:t>
            </a:r>
            <a:endParaRPr/>
          </a:p>
          <a:p>
            <a:pPr marL="201168" lvl="1" indent="0">
              <a:buNone/>
              <a:defRPr/>
            </a:pPr>
            <a:r>
              <a:rPr lang="en-US" sz="2000">
                <a:solidFill>
                  <a:srgbClr val="000000">
                    <a:lumMod val="75000"/>
                    <a:lumOff val="25000"/>
                  </a:srgbClr>
                </a:solidFill>
                <a:latin typeface="Courier New"/>
                <a:ea typeface="宋体"/>
                <a:cs typeface="Courier New"/>
              </a:rPr>
              <a:t>[Quidway-vlan2] port Ethernet1/0/3 </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4. </a:t>
            </a:r>
            <a:r>
              <a:rPr lang="zh-CN"/>
              <a:t>配置四节点网络</a:t>
            </a:r>
            <a:r>
              <a:rPr lang="en-US"/>
              <a:t> VLAN</a:t>
            </a:r>
          </a:p>
        </p:txBody>
      </p:sp>
      <p:sp>
        <p:nvSpPr>
          <p:cNvPr id="199" name="Content Placeholder 198"/>
          <p:cNvSpPr>
            <a:spLocks noGrp="1"/>
          </p:cNvSpPr>
          <p:nvPr>
            <p:ph idx="1"/>
          </p:nvPr>
        </p:nvSpPr>
        <p:spPr bwMode="auto"/>
        <p:txBody>
          <a:bodyPr/>
          <a:lstStyle/>
          <a:p>
            <a:pPr marL="447675" lvl="1" indent="-358775">
              <a:buFont typeface="+mj-lt"/>
              <a:buAutoNum type="arabicParenR" startAt="4"/>
              <a:defRPr/>
            </a:pPr>
            <a:r>
              <a:rPr lang="zh-CN"/>
              <a:t>配置</a:t>
            </a:r>
            <a:r>
              <a:rPr lang="en-US"/>
              <a:t>trunk</a:t>
            </a:r>
            <a:r>
              <a:rPr lang="zh-CN"/>
              <a:t>类型接口。</a:t>
            </a:r>
            <a:endParaRPr lang="en-US"/>
          </a:p>
          <a:p>
            <a:pPr marL="447675" lvl="2" indent="-358775">
              <a:defRPr/>
            </a:pPr>
            <a:r>
              <a:rPr lang="zh-CN"/>
              <a:t>所以，我们可以把交换机之间的干线的接口设置为</a:t>
            </a:r>
            <a:r>
              <a:rPr lang="en-US"/>
              <a:t>Trunk</a:t>
            </a:r>
            <a:r>
              <a:rPr lang="zh-CN"/>
              <a:t>类型，同时允许</a:t>
            </a:r>
            <a:r>
              <a:rPr lang="en-US"/>
              <a:t>VLAN2</a:t>
            </a:r>
            <a:r>
              <a:rPr lang="zh-CN"/>
              <a:t>和</a:t>
            </a:r>
            <a:r>
              <a:rPr lang="en-US"/>
              <a:t>VLAN3</a:t>
            </a:r>
            <a:r>
              <a:rPr lang="zh-CN"/>
              <a:t>通过。</a:t>
            </a:r>
            <a:endParaRPr lang="en-US"/>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5" name="Footer Placeholder 4"/>
          <p:cNvSpPr>
            <a:spLocks noGrp="1"/>
          </p:cNvSpPr>
          <p:nvPr>
            <p:ph type="ftr" sz="quarter" idx="11"/>
          </p:nvPr>
        </p:nvSpPr>
        <p:spPr bwMode="auto"/>
        <p:txBody>
          <a:bodyPr/>
          <a:lstStyle/>
          <a:p>
            <a:pPr>
              <a:defRPr/>
            </a:pPr>
            <a:r>
              <a:rPr lang="zh-CN"/>
              <a:t>计算机网络实验</a:t>
            </a:r>
            <a:endParaRPr lang="en-US"/>
          </a:p>
        </p:txBody>
      </p:sp>
      <p:sp>
        <p:nvSpPr>
          <p:cNvPr id="6" name="Slide Number Placeholder 5"/>
          <p:cNvSpPr>
            <a:spLocks noGrp="1"/>
          </p:cNvSpPr>
          <p:nvPr>
            <p:ph type="sldNum" sz="quarter" idx="12"/>
          </p:nvPr>
        </p:nvSpPr>
        <p:spPr bwMode="auto"/>
        <p:txBody>
          <a:bodyPr/>
          <a:lstStyle/>
          <a:p>
            <a:pPr>
              <a:defRPr/>
            </a:pPr>
            <a:fld id="{0ECDF2DC-913F-4A16-9C18-8900B299D998}" type="slidenum">
              <a:rPr lang="en-US"/>
              <a:t>37</a:t>
            </a:fld>
            <a:endParaRPr lang="en-US"/>
          </a:p>
        </p:txBody>
      </p:sp>
      <p:grpSp>
        <p:nvGrpSpPr>
          <p:cNvPr id="3" name="Group 2"/>
          <p:cNvGrpSpPr/>
          <p:nvPr/>
        </p:nvGrpSpPr>
        <p:grpSpPr bwMode="auto">
          <a:xfrm>
            <a:off x="480121" y="3240000"/>
            <a:ext cx="7761893" cy="2770611"/>
            <a:chOff x="480121" y="2659234"/>
            <a:chExt cx="7761893" cy="2770611"/>
          </a:xfrm>
        </p:grpSpPr>
        <p:cxnSp>
          <p:nvCxnSpPr>
            <p:cNvPr id="196" name="Straight Connector 195"/>
            <p:cNvCxnSpPr>
              <a:cxnSpLocks/>
            </p:cNvCxnSpPr>
            <p:nvPr/>
          </p:nvCxnSpPr>
          <p:spPr bwMode="auto">
            <a:xfrm>
              <a:off x="2544844" y="2999393"/>
              <a:ext cx="3766247"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91" name="Straight Connector 190"/>
            <p:cNvCxnSpPr>
              <a:cxnSpLocks/>
            </p:cNvCxnSpPr>
            <p:nvPr/>
          </p:nvCxnSpPr>
          <p:spPr bwMode="auto">
            <a:xfrm>
              <a:off x="2483787" y="3037632"/>
              <a:ext cx="3766247"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bwMode="auto">
            <a:xfrm>
              <a:off x="1043637" y="4159546"/>
              <a:ext cx="934856" cy="725206"/>
              <a:chOff x="1136203" y="4520619"/>
              <a:chExt cx="1419428" cy="1013448"/>
            </a:xfrm>
          </p:grpSpPr>
          <p:grpSp>
            <p:nvGrpSpPr>
              <p:cNvPr id="64" name="Group 950"/>
              <p:cNvGrpSpPr/>
              <p:nvPr/>
            </p:nvGrpSpPr>
            <p:grpSpPr bwMode="auto">
              <a:xfrm>
                <a:off x="2039815" y="4520619"/>
                <a:ext cx="515816" cy="969179"/>
                <a:chOff x="4140" y="429"/>
                <a:chExt cx="1425" cy="2396"/>
              </a:xfrm>
            </p:grpSpPr>
            <p:sp>
              <p:nvSpPr>
                <p:cNvPr id="68"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69"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70"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71"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72"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73" name="Group 956"/>
                <p:cNvGrpSpPr/>
                <p:nvPr/>
              </p:nvGrpSpPr>
              <p:grpSpPr bwMode="auto">
                <a:xfrm>
                  <a:off x="4749" y="668"/>
                  <a:ext cx="581" cy="145"/>
                  <a:chOff x="614" y="2568"/>
                  <a:chExt cx="725" cy="139"/>
                </a:xfrm>
              </p:grpSpPr>
              <p:sp>
                <p:nvSpPr>
                  <p:cNvPr id="98"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9"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74"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75" name="Group 960"/>
                <p:cNvGrpSpPr/>
                <p:nvPr/>
              </p:nvGrpSpPr>
              <p:grpSpPr bwMode="auto">
                <a:xfrm>
                  <a:off x="4747" y="994"/>
                  <a:ext cx="581" cy="134"/>
                  <a:chOff x="614" y="2568"/>
                  <a:chExt cx="725" cy="139"/>
                </a:xfrm>
              </p:grpSpPr>
              <p:sp>
                <p:nvSpPr>
                  <p:cNvPr id="96"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7"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76"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77"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78" name="Group 965"/>
                <p:cNvGrpSpPr/>
                <p:nvPr/>
              </p:nvGrpSpPr>
              <p:grpSpPr bwMode="auto">
                <a:xfrm>
                  <a:off x="4735" y="1627"/>
                  <a:ext cx="582" cy="151"/>
                  <a:chOff x="614" y="2568"/>
                  <a:chExt cx="725" cy="139"/>
                </a:xfrm>
              </p:grpSpPr>
              <p:sp>
                <p:nvSpPr>
                  <p:cNvPr id="94"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5"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79"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80" name="Group 969"/>
                <p:cNvGrpSpPr/>
                <p:nvPr/>
              </p:nvGrpSpPr>
              <p:grpSpPr bwMode="auto">
                <a:xfrm>
                  <a:off x="4739" y="1327"/>
                  <a:ext cx="582" cy="139"/>
                  <a:chOff x="614" y="2568"/>
                  <a:chExt cx="725" cy="139"/>
                </a:xfrm>
              </p:grpSpPr>
              <p:sp>
                <p:nvSpPr>
                  <p:cNvPr id="92"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3"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81"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2"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83"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84"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5"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86"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7"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8"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89"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90"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91"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65" name="Group 590"/>
              <p:cNvGrpSpPr/>
              <p:nvPr/>
            </p:nvGrpSpPr>
            <p:grpSpPr bwMode="auto">
              <a:xfrm flipH="1">
                <a:off x="1136203" y="4624876"/>
                <a:ext cx="948819" cy="909191"/>
                <a:chOff x="2839" y="3501"/>
                <a:chExt cx="755" cy="803"/>
              </a:xfrm>
            </p:grpSpPr>
            <p:pic>
              <p:nvPicPr>
                <p:cNvPr id="66"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67"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grpSp>
          <p:nvGrpSpPr>
            <p:cNvPr id="11" name="Group 10"/>
            <p:cNvGrpSpPr/>
            <p:nvPr/>
          </p:nvGrpSpPr>
          <p:grpSpPr bwMode="auto">
            <a:xfrm>
              <a:off x="2544844" y="4152295"/>
              <a:ext cx="934856" cy="732457"/>
              <a:chOff x="1136203" y="4520619"/>
              <a:chExt cx="1419428" cy="1013448"/>
            </a:xfrm>
          </p:grpSpPr>
          <p:grpSp>
            <p:nvGrpSpPr>
              <p:cNvPr id="28" name="Group 950"/>
              <p:cNvGrpSpPr/>
              <p:nvPr/>
            </p:nvGrpSpPr>
            <p:grpSpPr bwMode="auto">
              <a:xfrm>
                <a:off x="2039815" y="4520619"/>
                <a:ext cx="515816" cy="969179"/>
                <a:chOff x="4140" y="429"/>
                <a:chExt cx="1425" cy="2396"/>
              </a:xfrm>
            </p:grpSpPr>
            <p:sp>
              <p:nvSpPr>
                <p:cNvPr id="32"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3"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4"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5"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6"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7" name="Group 956"/>
                <p:cNvGrpSpPr/>
                <p:nvPr/>
              </p:nvGrpSpPr>
              <p:grpSpPr bwMode="auto">
                <a:xfrm>
                  <a:off x="4749" y="668"/>
                  <a:ext cx="581" cy="145"/>
                  <a:chOff x="614" y="2568"/>
                  <a:chExt cx="725" cy="139"/>
                </a:xfrm>
              </p:grpSpPr>
              <p:sp>
                <p:nvSpPr>
                  <p:cNvPr id="62"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63"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8"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9" name="Group 960"/>
                <p:cNvGrpSpPr/>
                <p:nvPr/>
              </p:nvGrpSpPr>
              <p:grpSpPr bwMode="auto">
                <a:xfrm>
                  <a:off x="4747" y="994"/>
                  <a:ext cx="581" cy="134"/>
                  <a:chOff x="614" y="2568"/>
                  <a:chExt cx="725" cy="139"/>
                </a:xfrm>
              </p:grpSpPr>
              <p:sp>
                <p:nvSpPr>
                  <p:cNvPr id="60"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61"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40"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41"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42" name="Group 965"/>
                <p:cNvGrpSpPr/>
                <p:nvPr/>
              </p:nvGrpSpPr>
              <p:grpSpPr bwMode="auto">
                <a:xfrm>
                  <a:off x="4735" y="1627"/>
                  <a:ext cx="582" cy="151"/>
                  <a:chOff x="614" y="2568"/>
                  <a:chExt cx="725" cy="139"/>
                </a:xfrm>
              </p:grpSpPr>
              <p:sp>
                <p:nvSpPr>
                  <p:cNvPr id="58"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9"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43"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44" name="Group 969"/>
                <p:cNvGrpSpPr/>
                <p:nvPr/>
              </p:nvGrpSpPr>
              <p:grpSpPr bwMode="auto">
                <a:xfrm>
                  <a:off x="4739" y="1327"/>
                  <a:ext cx="582" cy="139"/>
                  <a:chOff x="614" y="2568"/>
                  <a:chExt cx="725" cy="139"/>
                </a:xfrm>
              </p:grpSpPr>
              <p:sp>
                <p:nvSpPr>
                  <p:cNvPr id="56"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7"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45"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46"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47"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48"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49"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50"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1"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2"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3"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54"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55"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29" name="Group 590"/>
              <p:cNvGrpSpPr/>
              <p:nvPr/>
            </p:nvGrpSpPr>
            <p:grpSpPr bwMode="auto">
              <a:xfrm flipH="1">
                <a:off x="1136203" y="4624876"/>
                <a:ext cx="948819" cy="909191"/>
                <a:chOff x="2839" y="3501"/>
                <a:chExt cx="755" cy="803"/>
              </a:xfrm>
            </p:grpSpPr>
            <p:pic>
              <p:nvPicPr>
                <p:cNvPr id="30"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31"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cxnSp>
          <p:nvCxnSpPr>
            <p:cNvPr id="12" name="Straight Connector 11"/>
            <p:cNvCxnSpPr>
              <a:cxnSpLocks/>
              <a:stCxn id="69" idx="0"/>
              <a:endCxn id="21" idx="1"/>
            </p:cNvCxnSpPr>
            <p:nvPr/>
          </p:nvCxnSpPr>
          <p:spPr bwMode="auto">
            <a:xfrm flipV="1">
              <a:off x="1780141" y="3353396"/>
              <a:ext cx="330234" cy="80615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cxnSpLocks/>
              <a:stCxn id="33" idx="0"/>
              <a:endCxn id="21" idx="3"/>
            </p:cNvCxnSpPr>
            <p:nvPr/>
          </p:nvCxnSpPr>
          <p:spPr bwMode="auto">
            <a:xfrm flipH="1" flipV="1">
              <a:off x="2872185" y="3353396"/>
              <a:ext cx="409165" cy="798899"/>
            </a:xfrm>
            <a:prstGeom prst="line">
              <a:avLst/>
            </a:prstGeom>
            <a:ln w="28575"/>
          </p:spPr>
          <p:style>
            <a:lnRef idx="1">
              <a:schemeClr val="accent4"/>
            </a:lnRef>
            <a:fillRef idx="0">
              <a:schemeClr val="accent4"/>
            </a:fillRef>
            <a:effectRef idx="0">
              <a:schemeClr val="accent4"/>
            </a:effectRef>
            <a:fontRef idx="minor">
              <a:schemeClr val="tx1"/>
            </a:fontRef>
          </p:style>
        </p:cxnSp>
        <p:grpSp>
          <p:nvGrpSpPr>
            <p:cNvPr id="14" name="Group 13"/>
            <p:cNvGrpSpPr/>
            <p:nvPr/>
          </p:nvGrpSpPr>
          <p:grpSpPr bwMode="auto">
            <a:xfrm>
              <a:off x="2110376" y="2795049"/>
              <a:ext cx="764558" cy="699261"/>
              <a:chOff x="3668110" y="2448910"/>
              <a:chExt cx="3794234" cy="2165130"/>
            </a:xfrm>
          </p:grpSpPr>
          <p:sp>
            <p:nvSpPr>
              <p:cNvPr id="21" name="Rectangle 20"/>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2"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nvGrpSpPr>
              <p:cNvPr id="23" name="Group 22"/>
              <p:cNvGrpSpPr/>
              <p:nvPr/>
            </p:nvGrpSpPr>
            <p:grpSpPr bwMode="auto">
              <a:xfrm>
                <a:off x="3941378" y="2603243"/>
                <a:ext cx="3202060" cy="1066110"/>
                <a:chOff x="7939341" y="3037317"/>
                <a:chExt cx="897649" cy="353919"/>
              </a:xfrm>
            </p:grpSpPr>
            <p:sp>
              <p:nvSpPr>
                <p:cNvPr id="24"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5"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6"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7"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grpSp>
        <p:sp>
          <p:nvSpPr>
            <p:cNvPr id="15" name="Rectangle 14"/>
            <p:cNvSpPr/>
            <p:nvPr/>
          </p:nvSpPr>
          <p:spPr bwMode="auto">
            <a:xfrm>
              <a:off x="708343" y="324866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Ethernet1/0/3</a:t>
              </a:r>
              <a:endParaRPr lang="en-US" sz="1600">
                <a:solidFill>
                  <a:schemeClr val="accent3"/>
                </a:solidFill>
              </a:endParaRPr>
            </a:p>
          </p:txBody>
        </p:sp>
        <p:sp>
          <p:nvSpPr>
            <p:cNvPr id="16" name="Rectangle 15"/>
            <p:cNvSpPr/>
            <p:nvPr/>
          </p:nvSpPr>
          <p:spPr bwMode="auto">
            <a:xfrm>
              <a:off x="2904030" y="3243074"/>
              <a:ext cx="1381789" cy="338554"/>
            </a:xfrm>
            <a:prstGeom prst="rect">
              <a:avLst/>
            </a:prstGeom>
            <a:grpFill/>
          </p:spPr>
          <p:txBody>
            <a:bodyPr wrap="none">
              <a:spAutoFit/>
            </a:bodyPr>
            <a:lstStyle/>
            <a:p>
              <a:pPr>
                <a:defRPr/>
              </a:pPr>
              <a:r>
                <a:rPr lang="en-US" sz="1600">
                  <a:solidFill>
                    <a:schemeClr val="accent4"/>
                  </a:solidFill>
                  <a:ea typeface="宋体"/>
                  <a:cs typeface="Courier New"/>
                </a:rPr>
                <a:t>Ethernet1/0/4</a:t>
              </a:r>
              <a:endParaRPr lang="en-US" sz="1600">
                <a:solidFill>
                  <a:schemeClr val="accent4"/>
                </a:solidFill>
              </a:endParaRPr>
            </a:p>
          </p:txBody>
        </p:sp>
        <p:sp>
          <p:nvSpPr>
            <p:cNvPr id="17" name="Rectangle 16"/>
            <p:cNvSpPr/>
            <p:nvPr/>
          </p:nvSpPr>
          <p:spPr bwMode="auto">
            <a:xfrm>
              <a:off x="1571505" y="4879752"/>
              <a:ext cx="482824" cy="338554"/>
            </a:xfrm>
            <a:prstGeom prst="rect">
              <a:avLst/>
            </a:prstGeom>
            <a:grpFill/>
          </p:spPr>
          <p:txBody>
            <a:bodyPr wrap="none">
              <a:spAutoFit/>
            </a:bodyPr>
            <a:lstStyle/>
            <a:p>
              <a:pPr>
                <a:defRPr/>
              </a:pPr>
              <a:r>
                <a:rPr lang="en-US" sz="1600">
                  <a:ea typeface="宋体"/>
                  <a:cs typeface="Courier New"/>
                </a:rPr>
                <a:t>pc1</a:t>
              </a:r>
              <a:endParaRPr lang="en-US" sz="1600"/>
            </a:p>
          </p:txBody>
        </p:sp>
        <p:sp>
          <p:nvSpPr>
            <p:cNvPr id="18" name="Rectangle 17"/>
            <p:cNvSpPr/>
            <p:nvPr/>
          </p:nvSpPr>
          <p:spPr bwMode="auto">
            <a:xfrm>
              <a:off x="3138321" y="4892898"/>
              <a:ext cx="482824" cy="338554"/>
            </a:xfrm>
            <a:prstGeom prst="rect">
              <a:avLst/>
            </a:prstGeom>
            <a:grpFill/>
          </p:spPr>
          <p:txBody>
            <a:bodyPr wrap="none">
              <a:spAutoFit/>
            </a:bodyPr>
            <a:lstStyle/>
            <a:p>
              <a:pPr>
                <a:defRPr/>
              </a:pPr>
              <a:r>
                <a:rPr lang="en-US" sz="1600">
                  <a:ea typeface="宋体"/>
                  <a:cs typeface="Courier New"/>
                </a:rPr>
                <a:t>pc2</a:t>
              </a:r>
              <a:endParaRPr lang="en-US" sz="1600"/>
            </a:p>
          </p:txBody>
        </p:sp>
        <p:sp>
          <p:nvSpPr>
            <p:cNvPr id="19" name="Rectangle 18"/>
            <p:cNvSpPr/>
            <p:nvPr/>
          </p:nvSpPr>
          <p:spPr bwMode="auto">
            <a:xfrm>
              <a:off x="1128224" y="5091291"/>
              <a:ext cx="1563247" cy="338554"/>
            </a:xfrm>
            <a:prstGeom prst="rect">
              <a:avLst/>
            </a:prstGeom>
            <a:grpFill/>
          </p:spPr>
          <p:txBody>
            <a:bodyPr wrap="none">
              <a:spAutoFit/>
            </a:bodyPr>
            <a:lstStyle/>
            <a:p>
              <a:pPr>
                <a:defRPr/>
              </a:pPr>
              <a:r>
                <a:rPr lang="en-US" sz="1600"/>
                <a:t>192.168.1.11/24</a:t>
              </a:r>
            </a:p>
          </p:txBody>
        </p:sp>
        <p:sp>
          <p:nvSpPr>
            <p:cNvPr id="20" name="Rectangle 19"/>
            <p:cNvSpPr/>
            <p:nvPr/>
          </p:nvSpPr>
          <p:spPr bwMode="auto">
            <a:xfrm>
              <a:off x="2695041" y="5086410"/>
              <a:ext cx="1563247" cy="338554"/>
            </a:xfrm>
            <a:prstGeom prst="rect">
              <a:avLst/>
            </a:prstGeom>
            <a:grpFill/>
          </p:spPr>
          <p:txBody>
            <a:bodyPr wrap="none">
              <a:spAutoFit/>
            </a:bodyPr>
            <a:lstStyle/>
            <a:p>
              <a:pPr>
                <a:defRPr/>
              </a:pPr>
              <a:r>
                <a:rPr lang="en-US" sz="1600"/>
                <a:t>192.168.1.12/24</a:t>
              </a:r>
            </a:p>
          </p:txBody>
        </p:sp>
        <p:grpSp>
          <p:nvGrpSpPr>
            <p:cNvPr id="101" name="Group 100"/>
            <p:cNvGrpSpPr/>
            <p:nvPr/>
          </p:nvGrpSpPr>
          <p:grpSpPr bwMode="auto">
            <a:xfrm>
              <a:off x="4809883" y="4159546"/>
              <a:ext cx="934856" cy="725206"/>
              <a:chOff x="1136203" y="4520619"/>
              <a:chExt cx="1419428" cy="1013448"/>
            </a:xfrm>
          </p:grpSpPr>
          <p:grpSp>
            <p:nvGrpSpPr>
              <p:cNvPr id="155" name="Group 950"/>
              <p:cNvGrpSpPr/>
              <p:nvPr/>
            </p:nvGrpSpPr>
            <p:grpSpPr bwMode="auto">
              <a:xfrm>
                <a:off x="2039815" y="4520619"/>
                <a:ext cx="515816" cy="969179"/>
                <a:chOff x="4140" y="429"/>
                <a:chExt cx="1425" cy="2396"/>
              </a:xfrm>
            </p:grpSpPr>
            <p:sp>
              <p:nvSpPr>
                <p:cNvPr id="159"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60"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61"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62"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63"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64" name="Group 956"/>
                <p:cNvGrpSpPr/>
                <p:nvPr/>
              </p:nvGrpSpPr>
              <p:grpSpPr bwMode="auto">
                <a:xfrm>
                  <a:off x="4749" y="668"/>
                  <a:ext cx="581" cy="145"/>
                  <a:chOff x="614" y="2568"/>
                  <a:chExt cx="725" cy="139"/>
                </a:xfrm>
              </p:grpSpPr>
              <p:sp>
                <p:nvSpPr>
                  <p:cNvPr id="189"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90"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65"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66" name="Group 960"/>
                <p:cNvGrpSpPr/>
                <p:nvPr/>
              </p:nvGrpSpPr>
              <p:grpSpPr bwMode="auto">
                <a:xfrm>
                  <a:off x="4747" y="994"/>
                  <a:ext cx="581" cy="134"/>
                  <a:chOff x="614" y="2568"/>
                  <a:chExt cx="725" cy="139"/>
                </a:xfrm>
              </p:grpSpPr>
              <p:sp>
                <p:nvSpPr>
                  <p:cNvPr id="187"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8"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67"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68"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69" name="Group 965"/>
                <p:cNvGrpSpPr/>
                <p:nvPr/>
              </p:nvGrpSpPr>
              <p:grpSpPr bwMode="auto">
                <a:xfrm>
                  <a:off x="4735" y="1627"/>
                  <a:ext cx="582" cy="151"/>
                  <a:chOff x="614" y="2568"/>
                  <a:chExt cx="725" cy="139"/>
                </a:xfrm>
              </p:grpSpPr>
              <p:sp>
                <p:nvSpPr>
                  <p:cNvPr id="185"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6"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70"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171" name="Group 969"/>
                <p:cNvGrpSpPr/>
                <p:nvPr/>
              </p:nvGrpSpPr>
              <p:grpSpPr bwMode="auto">
                <a:xfrm>
                  <a:off x="4739" y="1327"/>
                  <a:ext cx="582" cy="139"/>
                  <a:chOff x="614" y="2568"/>
                  <a:chExt cx="725" cy="139"/>
                </a:xfrm>
              </p:grpSpPr>
              <p:sp>
                <p:nvSpPr>
                  <p:cNvPr id="183"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4"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72"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3"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74"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75"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6"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77"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8"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79"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0"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181"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82"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156" name="Group 590"/>
              <p:cNvGrpSpPr/>
              <p:nvPr/>
            </p:nvGrpSpPr>
            <p:grpSpPr bwMode="auto">
              <a:xfrm flipH="1">
                <a:off x="1136203" y="4624876"/>
                <a:ext cx="948819" cy="909191"/>
                <a:chOff x="2839" y="3501"/>
                <a:chExt cx="755" cy="803"/>
              </a:xfrm>
            </p:grpSpPr>
            <p:pic>
              <p:nvPicPr>
                <p:cNvPr id="157"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58"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grpSp>
          <p:nvGrpSpPr>
            <p:cNvPr id="102" name="Group 101"/>
            <p:cNvGrpSpPr/>
            <p:nvPr/>
          </p:nvGrpSpPr>
          <p:grpSpPr bwMode="auto">
            <a:xfrm>
              <a:off x="6311091" y="4152295"/>
              <a:ext cx="934856" cy="732457"/>
              <a:chOff x="1136203" y="4520619"/>
              <a:chExt cx="1419428" cy="1013448"/>
            </a:xfrm>
          </p:grpSpPr>
          <p:grpSp>
            <p:nvGrpSpPr>
              <p:cNvPr id="119" name="Group 950"/>
              <p:cNvGrpSpPr/>
              <p:nvPr/>
            </p:nvGrpSpPr>
            <p:grpSpPr bwMode="auto">
              <a:xfrm>
                <a:off x="2039815" y="4520619"/>
                <a:ext cx="515816" cy="969179"/>
                <a:chOff x="4140" y="429"/>
                <a:chExt cx="1425" cy="2396"/>
              </a:xfrm>
            </p:grpSpPr>
            <p:sp>
              <p:nvSpPr>
                <p:cNvPr id="123"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24"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25"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26"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27"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28" name="Group 956"/>
                <p:cNvGrpSpPr/>
                <p:nvPr/>
              </p:nvGrpSpPr>
              <p:grpSpPr bwMode="auto">
                <a:xfrm>
                  <a:off x="4749" y="668"/>
                  <a:ext cx="581" cy="145"/>
                  <a:chOff x="614" y="2568"/>
                  <a:chExt cx="725" cy="139"/>
                </a:xfrm>
              </p:grpSpPr>
              <p:sp>
                <p:nvSpPr>
                  <p:cNvPr id="153"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54"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29"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30" name="Group 960"/>
                <p:cNvGrpSpPr/>
                <p:nvPr/>
              </p:nvGrpSpPr>
              <p:grpSpPr bwMode="auto">
                <a:xfrm>
                  <a:off x="4747" y="994"/>
                  <a:ext cx="581" cy="134"/>
                  <a:chOff x="614" y="2568"/>
                  <a:chExt cx="725" cy="139"/>
                </a:xfrm>
              </p:grpSpPr>
              <p:sp>
                <p:nvSpPr>
                  <p:cNvPr id="151"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52"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31"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32"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133" name="Group 965"/>
                <p:cNvGrpSpPr/>
                <p:nvPr/>
              </p:nvGrpSpPr>
              <p:grpSpPr bwMode="auto">
                <a:xfrm>
                  <a:off x="4735" y="1627"/>
                  <a:ext cx="582" cy="151"/>
                  <a:chOff x="614" y="2568"/>
                  <a:chExt cx="725" cy="139"/>
                </a:xfrm>
              </p:grpSpPr>
              <p:sp>
                <p:nvSpPr>
                  <p:cNvPr id="149"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50"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34"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135" name="Group 969"/>
                <p:cNvGrpSpPr/>
                <p:nvPr/>
              </p:nvGrpSpPr>
              <p:grpSpPr bwMode="auto">
                <a:xfrm>
                  <a:off x="4739" y="1327"/>
                  <a:ext cx="582" cy="139"/>
                  <a:chOff x="614" y="2568"/>
                  <a:chExt cx="725" cy="139"/>
                </a:xfrm>
              </p:grpSpPr>
              <p:sp>
                <p:nvSpPr>
                  <p:cNvPr id="147"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8"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136"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37"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38"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39"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0"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141"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2"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3"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4"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145"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146"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120" name="Group 590"/>
              <p:cNvGrpSpPr/>
              <p:nvPr/>
            </p:nvGrpSpPr>
            <p:grpSpPr bwMode="auto">
              <a:xfrm flipH="1">
                <a:off x="1136203" y="4624876"/>
                <a:ext cx="948819" cy="909191"/>
                <a:chOff x="2839" y="3501"/>
                <a:chExt cx="755" cy="803"/>
              </a:xfrm>
            </p:grpSpPr>
            <p:pic>
              <p:nvPicPr>
                <p:cNvPr id="121"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22"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cxnSp>
          <p:nvCxnSpPr>
            <p:cNvPr id="103" name="Straight Connector 102"/>
            <p:cNvCxnSpPr>
              <a:cxnSpLocks/>
              <a:stCxn id="160" idx="0"/>
              <a:endCxn id="112" idx="1"/>
            </p:cNvCxnSpPr>
            <p:nvPr/>
          </p:nvCxnSpPr>
          <p:spPr bwMode="auto">
            <a:xfrm flipV="1">
              <a:off x="5546389" y="3353396"/>
              <a:ext cx="330234" cy="80615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a:cxnSpLocks/>
              <a:stCxn id="124" idx="0"/>
              <a:endCxn id="112" idx="3"/>
            </p:cNvCxnSpPr>
            <p:nvPr/>
          </p:nvCxnSpPr>
          <p:spPr bwMode="auto">
            <a:xfrm flipH="1" flipV="1">
              <a:off x="6638431" y="3353396"/>
              <a:ext cx="409165" cy="798899"/>
            </a:xfrm>
            <a:prstGeom prst="line">
              <a:avLst/>
            </a:prstGeom>
            <a:ln w="28575"/>
          </p:spPr>
          <p:style>
            <a:lnRef idx="1">
              <a:schemeClr val="accent4"/>
            </a:lnRef>
            <a:fillRef idx="0">
              <a:schemeClr val="accent4"/>
            </a:fillRef>
            <a:effectRef idx="0">
              <a:schemeClr val="accent4"/>
            </a:effectRef>
            <a:fontRef idx="minor">
              <a:schemeClr val="tx1"/>
            </a:fontRef>
          </p:style>
        </p:cxnSp>
        <p:grpSp>
          <p:nvGrpSpPr>
            <p:cNvPr id="105" name="Group 104"/>
            <p:cNvGrpSpPr/>
            <p:nvPr/>
          </p:nvGrpSpPr>
          <p:grpSpPr bwMode="auto">
            <a:xfrm>
              <a:off x="5876623" y="2795049"/>
              <a:ext cx="764558" cy="699261"/>
              <a:chOff x="3668110" y="2448910"/>
              <a:chExt cx="3794234" cy="2165130"/>
            </a:xfrm>
          </p:grpSpPr>
          <p:sp>
            <p:nvSpPr>
              <p:cNvPr id="112" name="Rectangle 111"/>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3"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nvGrpSpPr>
              <p:cNvPr id="114" name="Group 113"/>
              <p:cNvGrpSpPr/>
              <p:nvPr/>
            </p:nvGrpSpPr>
            <p:grpSpPr bwMode="auto">
              <a:xfrm>
                <a:off x="3941378" y="2603243"/>
                <a:ext cx="3202060" cy="1066110"/>
                <a:chOff x="7939341" y="3037317"/>
                <a:chExt cx="897649" cy="353919"/>
              </a:xfrm>
            </p:grpSpPr>
            <p:sp>
              <p:nvSpPr>
                <p:cNvPr id="115"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6"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7"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118"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grpSp>
        <p:sp>
          <p:nvSpPr>
            <p:cNvPr id="106" name="Rectangle 105"/>
            <p:cNvSpPr/>
            <p:nvPr/>
          </p:nvSpPr>
          <p:spPr bwMode="auto">
            <a:xfrm>
              <a:off x="4471812" y="324866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Ethernet1/0/3</a:t>
              </a:r>
              <a:endParaRPr lang="en-US" sz="1600">
                <a:solidFill>
                  <a:schemeClr val="accent3"/>
                </a:solidFill>
              </a:endParaRPr>
            </a:p>
          </p:txBody>
        </p:sp>
        <p:sp>
          <p:nvSpPr>
            <p:cNvPr id="107" name="Rectangle 106"/>
            <p:cNvSpPr/>
            <p:nvPr/>
          </p:nvSpPr>
          <p:spPr bwMode="auto">
            <a:xfrm>
              <a:off x="6794182" y="3248664"/>
              <a:ext cx="1381789" cy="338554"/>
            </a:xfrm>
            <a:prstGeom prst="rect">
              <a:avLst/>
            </a:prstGeom>
            <a:grpFill/>
          </p:spPr>
          <p:txBody>
            <a:bodyPr wrap="none">
              <a:spAutoFit/>
            </a:bodyPr>
            <a:lstStyle/>
            <a:p>
              <a:pPr>
                <a:defRPr/>
              </a:pPr>
              <a:r>
                <a:rPr lang="en-US" sz="1600">
                  <a:solidFill>
                    <a:schemeClr val="accent4"/>
                  </a:solidFill>
                  <a:ea typeface="宋体"/>
                  <a:cs typeface="Courier New"/>
                </a:rPr>
                <a:t>Ethernet1/0/4</a:t>
              </a:r>
              <a:endParaRPr lang="en-US" sz="1600">
                <a:solidFill>
                  <a:schemeClr val="accent4"/>
                </a:solidFill>
              </a:endParaRPr>
            </a:p>
          </p:txBody>
        </p:sp>
        <p:sp>
          <p:nvSpPr>
            <p:cNvPr id="108" name="Rectangle 107"/>
            <p:cNvSpPr/>
            <p:nvPr/>
          </p:nvSpPr>
          <p:spPr bwMode="auto">
            <a:xfrm>
              <a:off x="5337751" y="4879752"/>
              <a:ext cx="482824" cy="338554"/>
            </a:xfrm>
            <a:prstGeom prst="rect">
              <a:avLst/>
            </a:prstGeom>
            <a:grpFill/>
          </p:spPr>
          <p:txBody>
            <a:bodyPr wrap="none">
              <a:spAutoFit/>
            </a:bodyPr>
            <a:lstStyle/>
            <a:p>
              <a:pPr>
                <a:defRPr/>
              </a:pPr>
              <a:r>
                <a:rPr lang="en-US" sz="1600">
                  <a:ea typeface="宋体"/>
                  <a:cs typeface="Courier New"/>
                </a:rPr>
                <a:t>pc3</a:t>
              </a:r>
              <a:endParaRPr lang="en-US" sz="1600"/>
            </a:p>
          </p:txBody>
        </p:sp>
        <p:sp>
          <p:nvSpPr>
            <p:cNvPr id="109" name="Rectangle 108"/>
            <p:cNvSpPr/>
            <p:nvPr/>
          </p:nvSpPr>
          <p:spPr bwMode="auto">
            <a:xfrm>
              <a:off x="6904567" y="4892898"/>
              <a:ext cx="482824" cy="338554"/>
            </a:xfrm>
            <a:prstGeom prst="rect">
              <a:avLst/>
            </a:prstGeom>
            <a:grpFill/>
          </p:spPr>
          <p:txBody>
            <a:bodyPr wrap="none">
              <a:spAutoFit/>
            </a:bodyPr>
            <a:lstStyle/>
            <a:p>
              <a:pPr>
                <a:defRPr/>
              </a:pPr>
              <a:r>
                <a:rPr lang="en-US" sz="1600">
                  <a:ea typeface="宋体"/>
                  <a:cs typeface="Courier New"/>
                </a:rPr>
                <a:t>pc4</a:t>
              </a:r>
              <a:endParaRPr lang="en-US" sz="1600"/>
            </a:p>
          </p:txBody>
        </p:sp>
        <p:sp>
          <p:nvSpPr>
            <p:cNvPr id="110" name="Rectangle 109"/>
            <p:cNvSpPr/>
            <p:nvPr/>
          </p:nvSpPr>
          <p:spPr bwMode="auto">
            <a:xfrm>
              <a:off x="4894471" y="5091291"/>
              <a:ext cx="1563247" cy="338554"/>
            </a:xfrm>
            <a:prstGeom prst="rect">
              <a:avLst/>
            </a:prstGeom>
            <a:grpFill/>
          </p:spPr>
          <p:txBody>
            <a:bodyPr wrap="none">
              <a:spAutoFit/>
            </a:bodyPr>
            <a:lstStyle/>
            <a:p>
              <a:pPr>
                <a:defRPr/>
              </a:pPr>
              <a:r>
                <a:rPr lang="en-US" sz="1600"/>
                <a:t>192.168.1.13/24</a:t>
              </a:r>
            </a:p>
          </p:txBody>
        </p:sp>
        <p:sp>
          <p:nvSpPr>
            <p:cNvPr id="111" name="Rectangle 110"/>
            <p:cNvSpPr/>
            <p:nvPr/>
          </p:nvSpPr>
          <p:spPr bwMode="auto">
            <a:xfrm>
              <a:off x="6461288" y="5086410"/>
              <a:ext cx="1563247" cy="338554"/>
            </a:xfrm>
            <a:prstGeom prst="rect">
              <a:avLst/>
            </a:prstGeom>
            <a:grpFill/>
          </p:spPr>
          <p:txBody>
            <a:bodyPr wrap="none">
              <a:spAutoFit/>
            </a:bodyPr>
            <a:lstStyle/>
            <a:p>
              <a:pPr>
                <a:defRPr/>
              </a:pPr>
              <a:r>
                <a:rPr lang="en-US" sz="1600"/>
                <a:t>192.168.1.14/24</a:t>
              </a:r>
            </a:p>
          </p:txBody>
        </p:sp>
        <p:sp>
          <p:nvSpPr>
            <p:cNvPr id="192" name="Rectangle 191"/>
            <p:cNvSpPr/>
            <p:nvPr/>
          </p:nvSpPr>
          <p:spPr bwMode="auto">
            <a:xfrm>
              <a:off x="2815354" y="265923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Ethernet1/0/1</a:t>
              </a:r>
            </a:p>
          </p:txBody>
        </p:sp>
        <p:sp>
          <p:nvSpPr>
            <p:cNvPr id="193" name="Rectangle 192"/>
            <p:cNvSpPr/>
            <p:nvPr/>
          </p:nvSpPr>
          <p:spPr bwMode="auto">
            <a:xfrm>
              <a:off x="4567746" y="265923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Ethernet1/0/1</a:t>
              </a:r>
            </a:p>
          </p:txBody>
        </p:sp>
        <p:sp>
          <p:nvSpPr>
            <p:cNvPr id="194" name="Rectangle 193"/>
            <p:cNvSpPr/>
            <p:nvPr/>
          </p:nvSpPr>
          <p:spPr bwMode="auto">
            <a:xfrm>
              <a:off x="480121" y="3724551"/>
              <a:ext cx="756938" cy="338554"/>
            </a:xfrm>
            <a:prstGeom prst="rect">
              <a:avLst/>
            </a:prstGeom>
            <a:grpFill/>
          </p:spPr>
          <p:txBody>
            <a:bodyPr wrap="none">
              <a:spAutoFit/>
            </a:bodyPr>
            <a:lstStyle/>
            <a:p>
              <a:pPr>
                <a:defRPr/>
              </a:pPr>
              <a:r>
                <a:rPr lang="en-US" sz="1600" b="1" u="sng">
                  <a:solidFill>
                    <a:schemeClr val="accent3"/>
                  </a:solidFill>
                  <a:ea typeface="宋体"/>
                  <a:cs typeface="Courier New"/>
                </a:rPr>
                <a:t>VLAN2</a:t>
              </a:r>
              <a:endParaRPr lang="en-US" sz="1600" b="1" u="sng">
                <a:solidFill>
                  <a:schemeClr val="accent3"/>
                </a:solidFill>
              </a:endParaRPr>
            </a:p>
          </p:txBody>
        </p:sp>
        <p:sp>
          <p:nvSpPr>
            <p:cNvPr id="195" name="Rectangle 194"/>
            <p:cNvSpPr/>
            <p:nvPr/>
          </p:nvSpPr>
          <p:spPr bwMode="auto">
            <a:xfrm>
              <a:off x="7485076" y="3737169"/>
              <a:ext cx="756938" cy="338554"/>
            </a:xfrm>
            <a:prstGeom prst="rect">
              <a:avLst/>
            </a:prstGeom>
            <a:grpFill/>
          </p:spPr>
          <p:txBody>
            <a:bodyPr wrap="none">
              <a:spAutoFit/>
            </a:bodyPr>
            <a:lstStyle/>
            <a:p>
              <a:pPr>
                <a:defRPr/>
              </a:pPr>
              <a:r>
                <a:rPr lang="en-US" sz="1600" b="1" u="sng">
                  <a:solidFill>
                    <a:schemeClr val="accent4"/>
                  </a:solidFill>
                  <a:ea typeface="宋体"/>
                  <a:cs typeface="Courier New"/>
                </a:rPr>
                <a:t>VLAN3</a:t>
              </a:r>
              <a:endParaRPr lang="en-US" sz="1600" b="1" u="sng">
                <a:solidFill>
                  <a:schemeClr val="accent4"/>
                </a:solidFill>
              </a:endParaRPr>
            </a:p>
          </p:txBody>
        </p:sp>
        <p:sp>
          <p:nvSpPr>
            <p:cNvPr id="197" name="Rectangle 196"/>
            <p:cNvSpPr/>
            <p:nvPr/>
          </p:nvSpPr>
          <p:spPr bwMode="auto">
            <a:xfrm>
              <a:off x="2834404" y="2671934"/>
              <a:ext cx="1381789" cy="338554"/>
            </a:xfrm>
            <a:prstGeom prst="rect">
              <a:avLst/>
            </a:prstGeom>
            <a:grpFill/>
          </p:spPr>
          <p:txBody>
            <a:bodyPr wrap="none">
              <a:spAutoFit/>
            </a:bodyPr>
            <a:lstStyle/>
            <a:p>
              <a:pPr>
                <a:defRPr/>
              </a:pPr>
              <a:r>
                <a:rPr lang="en-US" sz="1600">
                  <a:solidFill>
                    <a:schemeClr val="accent4"/>
                  </a:solidFill>
                  <a:ea typeface="宋体"/>
                  <a:cs typeface="Courier New"/>
                </a:rPr>
                <a:t>Ethernet1/0/1</a:t>
              </a:r>
            </a:p>
          </p:txBody>
        </p:sp>
        <p:sp>
          <p:nvSpPr>
            <p:cNvPr id="198" name="Rectangle 197"/>
            <p:cNvSpPr/>
            <p:nvPr/>
          </p:nvSpPr>
          <p:spPr bwMode="auto">
            <a:xfrm>
              <a:off x="4585089" y="2671628"/>
              <a:ext cx="1381789" cy="338554"/>
            </a:xfrm>
            <a:prstGeom prst="rect">
              <a:avLst/>
            </a:prstGeom>
            <a:grpFill/>
          </p:spPr>
          <p:txBody>
            <a:bodyPr wrap="none">
              <a:spAutoFit/>
            </a:bodyPr>
            <a:lstStyle/>
            <a:p>
              <a:pPr>
                <a:defRPr/>
              </a:pPr>
              <a:r>
                <a:rPr lang="en-US" sz="1600">
                  <a:solidFill>
                    <a:schemeClr val="accent4"/>
                  </a:solidFill>
                  <a:ea typeface="宋体"/>
                  <a:cs typeface="Courier New"/>
                </a:rPr>
                <a:t>Ethernet1/0/1</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4. </a:t>
            </a:r>
            <a:r>
              <a:rPr lang="zh-CN"/>
              <a:t>配置四节点网络</a:t>
            </a:r>
            <a:r>
              <a:rPr lang="en-US"/>
              <a:t> VLAN</a:t>
            </a:r>
          </a:p>
        </p:txBody>
      </p:sp>
      <p:sp>
        <p:nvSpPr>
          <p:cNvPr id="199" name="Content Placeholder 198"/>
          <p:cNvSpPr>
            <a:spLocks noGrp="1"/>
          </p:cNvSpPr>
          <p:nvPr>
            <p:ph idx="1"/>
          </p:nvPr>
        </p:nvSpPr>
        <p:spPr bwMode="auto">
          <a:xfrm>
            <a:off x="576000" y="1121666"/>
            <a:ext cx="8212400" cy="4747428"/>
          </a:xfrm>
        </p:spPr>
        <p:txBody>
          <a:bodyPr/>
          <a:lstStyle/>
          <a:p>
            <a:pPr marL="447675" lvl="1" indent="-358775">
              <a:buFont typeface="+mj-lt"/>
              <a:buAutoNum type="arabicParenR" startAt="4"/>
              <a:defRPr/>
            </a:pPr>
            <a:r>
              <a:rPr lang="zh-CN"/>
              <a:t>配置</a:t>
            </a:r>
            <a:r>
              <a:rPr lang="en-US"/>
              <a:t>trunk</a:t>
            </a:r>
            <a:r>
              <a:rPr lang="zh-CN"/>
              <a:t>类型接口。</a:t>
            </a:r>
            <a:endParaRPr lang="en-US"/>
          </a:p>
          <a:p>
            <a:pPr marL="447675" lvl="2" indent="-358775">
              <a:defRPr/>
            </a:pPr>
            <a:r>
              <a:rPr lang="zh-CN" sz="2000"/>
              <a:t>进入接口</a:t>
            </a:r>
            <a:r>
              <a:rPr lang="en-US" sz="2000"/>
              <a:t>Ethernet1/0/1</a:t>
            </a:r>
            <a:r>
              <a:rPr lang="zh-CN" sz="2000"/>
              <a:t>的界面</a:t>
            </a:r>
            <a:endParaRPr lang="en-US" sz="2000"/>
          </a:p>
          <a:p>
            <a:pPr marL="447675" lvl="2" indent="-358775">
              <a:buNone/>
              <a:defRPr/>
            </a:pPr>
            <a:r>
              <a:rPr lang="en-US" sz="2000">
                <a:solidFill>
                  <a:srgbClr val="FFFF00"/>
                </a:solidFill>
                <a:highlight>
                  <a:srgbClr val="000000"/>
                </a:highlight>
                <a:latin typeface="Courier New"/>
                <a:ea typeface="宋体"/>
                <a:cs typeface="Courier New"/>
              </a:rPr>
              <a:t>[Quidway] interface Ethernet 1/0/1</a:t>
            </a:r>
          </a:p>
          <a:p>
            <a:pPr marL="447675" lvl="1" indent="-358775">
              <a:defRPr/>
            </a:pPr>
            <a:endParaRPr lang="en-US" sz="2400"/>
          </a:p>
          <a:p>
            <a:pPr marL="447675" lvl="2" indent="-358775">
              <a:defRPr/>
            </a:pPr>
            <a:r>
              <a:rPr lang="zh-CN" sz="2000"/>
              <a:t>将其配置为</a:t>
            </a:r>
            <a:r>
              <a:rPr lang="en-US" sz="2000"/>
              <a:t>Trunk</a:t>
            </a:r>
            <a:r>
              <a:rPr lang="zh-CN" sz="2000"/>
              <a:t>类型</a:t>
            </a:r>
            <a:endParaRPr/>
          </a:p>
          <a:p>
            <a:pPr marL="447675" lvl="2" indent="-358775">
              <a:buNone/>
              <a:defRPr/>
            </a:pPr>
            <a:r>
              <a:rPr lang="en-US" sz="2000">
                <a:solidFill>
                  <a:srgbClr val="FFFF00"/>
                </a:solidFill>
                <a:highlight>
                  <a:srgbClr val="000000"/>
                </a:highlight>
                <a:latin typeface="Courier New"/>
                <a:ea typeface="宋体"/>
                <a:cs typeface="Courier New"/>
              </a:rPr>
              <a:t>[Quidway-Ethernet1/0/1] port link-type trunk </a:t>
            </a:r>
            <a:endParaRPr/>
          </a:p>
          <a:p>
            <a:pPr marL="447675" lvl="1" indent="-358775">
              <a:defRPr/>
            </a:pPr>
            <a:endParaRPr lang="en-US" sz="2400"/>
          </a:p>
          <a:p>
            <a:pPr marL="447675" lvl="2" indent="-358775">
              <a:defRPr/>
            </a:pPr>
            <a:r>
              <a:rPr lang="zh-CN" sz="2000"/>
              <a:t>允许所有</a:t>
            </a:r>
            <a:r>
              <a:rPr lang="en-US" sz="2000"/>
              <a:t>VLAN</a:t>
            </a:r>
            <a:r>
              <a:rPr lang="zh-CN" sz="2000"/>
              <a:t>通过</a:t>
            </a:r>
            <a:endParaRPr lang="en-US" sz="2000"/>
          </a:p>
          <a:p>
            <a:pPr marL="447675" lvl="2" indent="-358775">
              <a:buNone/>
              <a:defRPr/>
            </a:pPr>
            <a:r>
              <a:rPr lang="en-US" sz="1900">
                <a:solidFill>
                  <a:srgbClr val="FFFF00"/>
                </a:solidFill>
                <a:highlight>
                  <a:srgbClr val="000000"/>
                </a:highlight>
                <a:latin typeface="Courier New"/>
                <a:ea typeface="宋体"/>
                <a:cs typeface="Courier New"/>
              </a:rPr>
              <a:t>[Quidway-Ethernet1/0/1] port trunk allow-pass vlan all </a:t>
            </a:r>
            <a:br>
              <a:rPr lang="en-US" sz="2000">
                <a:latin typeface="Courier New"/>
                <a:ea typeface="宋体"/>
                <a:cs typeface="Courier New"/>
              </a:rPr>
            </a:br>
            <a:endParaRPr lang="en-US" sz="2000">
              <a:latin typeface="Courier New"/>
              <a:ea typeface="宋体"/>
              <a:cs typeface="Courier New"/>
            </a:endParaRPr>
          </a:p>
          <a:p>
            <a:pPr marL="447675" lvl="2" indent="-358775">
              <a:defRPr/>
            </a:pPr>
            <a:r>
              <a:rPr lang="zh-CN" sz="2000" i="1" u="sng">
                <a:solidFill>
                  <a:srgbClr val="C00000"/>
                </a:solidFill>
              </a:rPr>
              <a:t>注意：对两个交换机</a:t>
            </a:r>
            <a:endParaRPr lang="en-US" sz="2000" i="1" u="sng">
              <a:solidFill>
                <a:srgbClr val="C00000"/>
              </a:solidFill>
            </a:endParaRPr>
          </a:p>
          <a:p>
            <a:pPr marL="447675" lvl="2" indent="-358775">
              <a:buNone/>
              <a:defRPr/>
            </a:pPr>
            <a:r>
              <a:rPr lang="zh-CN" sz="2000" i="1" u="sng">
                <a:solidFill>
                  <a:srgbClr val="C00000"/>
                </a:solidFill>
              </a:rPr>
              <a:t>都要执行以上操作。</a:t>
            </a:r>
            <a:endParaRPr lang="en-US" sz="2000" i="1" u="sng">
              <a:solidFill>
                <a:srgbClr val="C00000"/>
              </a:solidFill>
            </a:endParaRPr>
          </a:p>
        </p:txBody>
      </p:sp>
      <p:sp>
        <p:nvSpPr>
          <p:cNvPr id="6" name="Date Placeholder 5"/>
          <p:cNvSpPr>
            <a:spLocks noGrp="1"/>
          </p:cNvSpPr>
          <p:nvPr>
            <p:ph type="dt" sz="half" idx="10"/>
          </p:nvPr>
        </p:nvSpPr>
        <p:spPr bwMode="auto"/>
        <p:txBody>
          <a:bodyPr/>
          <a:lstStyle/>
          <a:p>
            <a:pPr>
              <a:defRPr/>
            </a:pPr>
            <a:r>
              <a:rPr lang="en-US"/>
              <a:t>3/1/2020</a:t>
            </a:r>
            <a:endParaRPr/>
          </a:p>
        </p:txBody>
      </p:sp>
      <p:sp>
        <p:nvSpPr>
          <p:cNvPr id="7" name="Footer Placeholder 6"/>
          <p:cNvSpPr>
            <a:spLocks noGrp="1"/>
          </p:cNvSpPr>
          <p:nvPr>
            <p:ph type="ftr" sz="quarter" idx="11"/>
          </p:nvPr>
        </p:nvSpPr>
        <p:spPr bwMode="auto"/>
        <p:txBody>
          <a:bodyPr/>
          <a:lstStyle/>
          <a:p>
            <a:pPr>
              <a:defRPr/>
            </a:pPr>
            <a:r>
              <a:rPr lang="zh-CN"/>
              <a:t>计算机网络实验</a:t>
            </a:r>
            <a:endParaRPr lang="en-US"/>
          </a:p>
        </p:txBody>
      </p:sp>
      <p:sp>
        <p:nvSpPr>
          <p:cNvPr id="8" name="Slide Number Placeholder 7"/>
          <p:cNvSpPr>
            <a:spLocks noGrp="1"/>
          </p:cNvSpPr>
          <p:nvPr>
            <p:ph type="sldNum" sz="quarter" idx="12"/>
          </p:nvPr>
        </p:nvSpPr>
        <p:spPr bwMode="auto"/>
        <p:txBody>
          <a:bodyPr/>
          <a:lstStyle/>
          <a:p>
            <a:pPr>
              <a:defRPr/>
            </a:pPr>
            <a:fld id="{0ECDF2DC-913F-4A16-9C18-8900B299D998}" type="slidenum">
              <a:rPr lang="en-US"/>
              <a:t>38</a:t>
            </a:fld>
            <a:endParaRPr lang="en-US"/>
          </a:p>
        </p:txBody>
      </p:sp>
      <p:grpSp>
        <p:nvGrpSpPr>
          <p:cNvPr id="5" name="Group 4"/>
          <p:cNvGrpSpPr/>
          <p:nvPr/>
        </p:nvGrpSpPr>
        <p:grpSpPr bwMode="auto">
          <a:xfrm>
            <a:off x="4042226" y="4521906"/>
            <a:ext cx="4424174" cy="1717015"/>
            <a:chOff x="4332818" y="4019318"/>
            <a:chExt cx="4424174" cy="1717015"/>
          </a:xfrm>
        </p:grpSpPr>
        <p:grpSp>
          <p:nvGrpSpPr>
            <p:cNvPr id="3" name="Group 2"/>
            <p:cNvGrpSpPr/>
            <p:nvPr/>
          </p:nvGrpSpPr>
          <p:grpSpPr bwMode="auto">
            <a:xfrm>
              <a:off x="4438115" y="4121150"/>
              <a:ext cx="4318877" cy="1521227"/>
              <a:chOff x="480121" y="2659234"/>
              <a:chExt cx="8044024" cy="2833327"/>
            </a:xfrm>
          </p:grpSpPr>
          <p:cxnSp>
            <p:nvCxnSpPr>
              <p:cNvPr id="196" name="Straight Connector 195"/>
              <p:cNvCxnSpPr>
                <a:cxnSpLocks/>
              </p:cNvCxnSpPr>
              <p:nvPr/>
            </p:nvCxnSpPr>
            <p:spPr bwMode="auto">
              <a:xfrm>
                <a:off x="2544844" y="2999393"/>
                <a:ext cx="3766247"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191" name="Straight Connector 190"/>
              <p:cNvCxnSpPr>
                <a:cxnSpLocks/>
              </p:cNvCxnSpPr>
              <p:nvPr/>
            </p:nvCxnSpPr>
            <p:spPr bwMode="auto">
              <a:xfrm>
                <a:off x="2483786" y="3037632"/>
                <a:ext cx="3766247"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bwMode="auto">
              <a:xfrm>
                <a:off x="1043637" y="4159546"/>
                <a:ext cx="934856" cy="725206"/>
                <a:chOff x="1136203" y="4520619"/>
                <a:chExt cx="1419428" cy="1013448"/>
              </a:xfrm>
            </p:grpSpPr>
            <p:grpSp>
              <p:nvGrpSpPr>
                <p:cNvPr id="64" name="Group 950"/>
                <p:cNvGrpSpPr/>
                <p:nvPr/>
              </p:nvGrpSpPr>
              <p:grpSpPr bwMode="auto">
                <a:xfrm>
                  <a:off x="2039815" y="4520619"/>
                  <a:ext cx="515816" cy="969179"/>
                  <a:chOff x="4140" y="429"/>
                  <a:chExt cx="1425" cy="2396"/>
                </a:xfrm>
              </p:grpSpPr>
              <p:sp>
                <p:nvSpPr>
                  <p:cNvPr id="68"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69"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70"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71"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72"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nvGrpSpPr>
                  <p:cNvPr id="73" name="Group 956"/>
                  <p:cNvGrpSpPr/>
                  <p:nvPr/>
                </p:nvGrpSpPr>
                <p:grpSpPr bwMode="auto">
                  <a:xfrm>
                    <a:off x="4749" y="668"/>
                    <a:ext cx="581" cy="145"/>
                    <a:chOff x="614" y="2568"/>
                    <a:chExt cx="725" cy="139"/>
                  </a:xfrm>
                </p:grpSpPr>
                <p:sp>
                  <p:nvSpPr>
                    <p:cNvPr id="98"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99"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sp>
                <p:nvSpPr>
                  <p:cNvPr id="74"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nvGrpSpPr>
                  <p:cNvPr id="75" name="Group 960"/>
                  <p:cNvGrpSpPr/>
                  <p:nvPr/>
                </p:nvGrpSpPr>
                <p:grpSpPr bwMode="auto">
                  <a:xfrm>
                    <a:off x="4747" y="994"/>
                    <a:ext cx="581" cy="134"/>
                    <a:chOff x="614" y="2568"/>
                    <a:chExt cx="725" cy="139"/>
                  </a:xfrm>
                </p:grpSpPr>
                <p:sp>
                  <p:nvSpPr>
                    <p:cNvPr id="96"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97"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sp>
                <p:nvSpPr>
                  <p:cNvPr id="76"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77"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nvGrpSpPr>
                  <p:cNvPr id="78" name="Group 965"/>
                  <p:cNvGrpSpPr/>
                  <p:nvPr/>
                </p:nvGrpSpPr>
                <p:grpSpPr bwMode="auto">
                  <a:xfrm>
                    <a:off x="4735" y="1627"/>
                    <a:ext cx="582" cy="151"/>
                    <a:chOff x="614" y="2568"/>
                    <a:chExt cx="725" cy="139"/>
                  </a:xfrm>
                </p:grpSpPr>
                <p:sp>
                  <p:nvSpPr>
                    <p:cNvPr id="94"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95"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sp>
                <p:nvSpPr>
                  <p:cNvPr id="79"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grpSp>
                <p:nvGrpSpPr>
                  <p:cNvPr id="80" name="Group 969"/>
                  <p:cNvGrpSpPr/>
                  <p:nvPr/>
                </p:nvGrpSpPr>
                <p:grpSpPr bwMode="auto">
                  <a:xfrm>
                    <a:off x="4739" y="1327"/>
                    <a:ext cx="582" cy="139"/>
                    <a:chOff x="614" y="2568"/>
                    <a:chExt cx="725" cy="139"/>
                  </a:xfrm>
                </p:grpSpPr>
                <p:sp>
                  <p:nvSpPr>
                    <p:cNvPr id="92"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93"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sp>
                <p:nvSpPr>
                  <p:cNvPr id="81"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82"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83"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84"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85"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86"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87"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88"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89"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800" b="0" i="0" u="sng" strike="noStrike" cap="none" spc="0">
                      <a:ln>
                        <a:noFill/>
                      </a:ln>
                      <a:solidFill>
                        <a:srgbClr val="FF0000"/>
                      </a:solidFill>
                      <a:latin typeface="+mn-lt"/>
                      <a:ea typeface="MS PGothic"/>
                      <a:cs typeface="Arial"/>
                    </a:endParaRPr>
                  </a:p>
                </p:txBody>
              </p:sp>
              <p:sp>
                <p:nvSpPr>
                  <p:cNvPr id="90"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91"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grpSp>
              <p:nvGrpSpPr>
                <p:cNvPr id="65" name="Group 590"/>
                <p:cNvGrpSpPr/>
                <p:nvPr/>
              </p:nvGrpSpPr>
              <p:grpSpPr bwMode="auto">
                <a:xfrm flipH="1">
                  <a:off x="1136203" y="4624876"/>
                  <a:ext cx="948819" cy="909191"/>
                  <a:chOff x="2839" y="3501"/>
                  <a:chExt cx="755" cy="803"/>
                </a:xfrm>
              </p:grpSpPr>
              <p:pic>
                <p:nvPicPr>
                  <p:cNvPr id="66"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67"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800" u="sng"/>
                  </a:p>
                </p:txBody>
              </p:sp>
            </p:grpSp>
          </p:grpSp>
          <p:grpSp>
            <p:nvGrpSpPr>
              <p:cNvPr id="11" name="Group 10"/>
              <p:cNvGrpSpPr/>
              <p:nvPr/>
            </p:nvGrpSpPr>
            <p:grpSpPr bwMode="auto">
              <a:xfrm>
                <a:off x="2544844" y="4152295"/>
                <a:ext cx="934856" cy="732457"/>
                <a:chOff x="1136203" y="4520619"/>
                <a:chExt cx="1419428" cy="1013448"/>
              </a:xfrm>
            </p:grpSpPr>
            <p:grpSp>
              <p:nvGrpSpPr>
                <p:cNvPr id="28" name="Group 950"/>
                <p:cNvGrpSpPr/>
                <p:nvPr/>
              </p:nvGrpSpPr>
              <p:grpSpPr bwMode="auto">
                <a:xfrm>
                  <a:off x="2039815" y="4520619"/>
                  <a:ext cx="515816" cy="969179"/>
                  <a:chOff x="4140" y="429"/>
                  <a:chExt cx="1425" cy="2396"/>
                </a:xfrm>
              </p:grpSpPr>
              <p:sp>
                <p:nvSpPr>
                  <p:cNvPr id="32"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33"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34"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35"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36"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nvGrpSpPr>
                  <p:cNvPr id="37" name="Group 956"/>
                  <p:cNvGrpSpPr/>
                  <p:nvPr/>
                </p:nvGrpSpPr>
                <p:grpSpPr bwMode="auto">
                  <a:xfrm>
                    <a:off x="4749" y="668"/>
                    <a:ext cx="581" cy="145"/>
                    <a:chOff x="614" y="2568"/>
                    <a:chExt cx="725" cy="139"/>
                  </a:xfrm>
                </p:grpSpPr>
                <p:sp>
                  <p:nvSpPr>
                    <p:cNvPr id="62"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63"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sp>
                <p:nvSpPr>
                  <p:cNvPr id="38"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nvGrpSpPr>
                  <p:cNvPr id="39" name="Group 960"/>
                  <p:cNvGrpSpPr/>
                  <p:nvPr/>
                </p:nvGrpSpPr>
                <p:grpSpPr bwMode="auto">
                  <a:xfrm>
                    <a:off x="4747" y="994"/>
                    <a:ext cx="581" cy="134"/>
                    <a:chOff x="614" y="2568"/>
                    <a:chExt cx="725" cy="139"/>
                  </a:xfrm>
                </p:grpSpPr>
                <p:sp>
                  <p:nvSpPr>
                    <p:cNvPr id="60"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61"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sp>
                <p:nvSpPr>
                  <p:cNvPr id="40"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41"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nvGrpSpPr>
                  <p:cNvPr id="42" name="Group 965"/>
                  <p:cNvGrpSpPr/>
                  <p:nvPr/>
                </p:nvGrpSpPr>
                <p:grpSpPr bwMode="auto">
                  <a:xfrm>
                    <a:off x="4735" y="1627"/>
                    <a:ext cx="582" cy="151"/>
                    <a:chOff x="614" y="2568"/>
                    <a:chExt cx="725" cy="139"/>
                  </a:xfrm>
                </p:grpSpPr>
                <p:sp>
                  <p:nvSpPr>
                    <p:cNvPr id="58"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59"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sp>
                <p:nvSpPr>
                  <p:cNvPr id="43"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grpSp>
                <p:nvGrpSpPr>
                  <p:cNvPr id="44" name="Group 969"/>
                  <p:cNvGrpSpPr/>
                  <p:nvPr/>
                </p:nvGrpSpPr>
                <p:grpSpPr bwMode="auto">
                  <a:xfrm>
                    <a:off x="4739" y="1327"/>
                    <a:ext cx="582" cy="139"/>
                    <a:chOff x="614" y="2568"/>
                    <a:chExt cx="725" cy="139"/>
                  </a:xfrm>
                </p:grpSpPr>
                <p:sp>
                  <p:nvSpPr>
                    <p:cNvPr id="56"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57"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sp>
                <p:nvSpPr>
                  <p:cNvPr id="45"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46"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47"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48"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49"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50"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51"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52"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53"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800" b="0" i="0" u="sng" strike="noStrike" cap="none" spc="0">
                      <a:ln>
                        <a:noFill/>
                      </a:ln>
                      <a:solidFill>
                        <a:srgbClr val="FF0000"/>
                      </a:solidFill>
                      <a:latin typeface="+mn-lt"/>
                      <a:ea typeface="MS PGothic"/>
                      <a:cs typeface="Arial"/>
                    </a:endParaRPr>
                  </a:p>
                </p:txBody>
              </p:sp>
              <p:sp>
                <p:nvSpPr>
                  <p:cNvPr id="54"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55"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grpSp>
              <p:nvGrpSpPr>
                <p:cNvPr id="29" name="Group 590"/>
                <p:cNvGrpSpPr/>
                <p:nvPr/>
              </p:nvGrpSpPr>
              <p:grpSpPr bwMode="auto">
                <a:xfrm flipH="1">
                  <a:off x="1136203" y="4624876"/>
                  <a:ext cx="948819" cy="909191"/>
                  <a:chOff x="2839" y="3501"/>
                  <a:chExt cx="755" cy="803"/>
                </a:xfrm>
              </p:grpSpPr>
              <p:pic>
                <p:nvPicPr>
                  <p:cNvPr id="30"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31"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800" u="sng"/>
                  </a:p>
                </p:txBody>
              </p:sp>
            </p:grpSp>
          </p:grpSp>
          <p:cxnSp>
            <p:nvCxnSpPr>
              <p:cNvPr id="12" name="Straight Connector 11"/>
              <p:cNvCxnSpPr>
                <a:cxnSpLocks/>
                <a:stCxn id="69" idx="0"/>
                <a:endCxn id="21" idx="1"/>
              </p:cNvCxnSpPr>
              <p:nvPr/>
            </p:nvCxnSpPr>
            <p:spPr bwMode="auto">
              <a:xfrm flipV="1">
                <a:off x="1780141" y="3361338"/>
                <a:ext cx="330233" cy="790267"/>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cxnSpLocks/>
                <a:stCxn id="33" idx="0"/>
                <a:endCxn id="21" idx="3"/>
              </p:cNvCxnSpPr>
              <p:nvPr/>
            </p:nvCxnSpPr>
            <p:spPr bwMode="auto">
              <a:xfrm flipH="1" flipV="1">
                <a:off x="2872185" y="3361267"/>
                <a:ext cx="409165" cy="783157"/>
              </a:xfrm>
              <a:prstGeom prst="line">
                <a:avLst/>
              </a:prstGeom>
              <a:ln w="19050"/>
            </p:spPr>
            <p:style>
              <a:lnRef idx="1">
                <a:schemeClr val="accent4"/>
              </a:lnRef>
              <a:fillRef idx="0">
                <a:schemeClr val="accent4"/>
              </a:fillRef>
              <a:effectRef idx="0">
                <a:schemeClr val="accent4"/>
              </a:effectRef>
              <a:fontRef idx="minor">
                <a:schemeClr val="tx1"/>
              </a:fontRef>
            </p:style>
          </p:cxnSp>
          <p:grpSp>
            <p:nvGrpSpPr>
              <p:cNvPr id="14" name="Group 13"/>
              <p:cNvGrpSpPr/>
              <p:nvPr/>
            </p:nvGrpSpPr>
            <p:grpSpPr bwMode="auto">
              <a:xfrm>
                <a:off x="2110376" y="2795049"/>
                <a:ext cx="764558" cy="699261"/>
                <a:chOff x="3668110" y="2448910"/>
                <a:chExt cx="3794234" cy="2165130"/>
              </a:xfrm>
            </p:grpSpPr>
            <p:sp>
              <p:nvSpPr>
                <p:cNvPr id="21" name="Rectangle 20"/>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800"/>
                </a:p>
              </p:txBody>
            </p:sp>
            <p:sp>
              <p:nvSpPr>
                <p:cNvPr id="22"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800"/>
                </a:p>
              </p:txBody>
            </p:sp>
            <p:grpSp>
              <p:nvGrpSpPr>
                <p:cNvPr id="23" name="Group 22"/>
                <p:cNvGrpSpPr/>
                <p:nvPr/>
              </p:nvGrpSpPr>
              <p:grpSpPr bwMode="auto">
                <a:xfrm>
                  <a:off x="3941378" y="2603243"/>
                  <a:ext cx="3202060" cy="1066110"/>
                  <a:chOff x="7939341" y="3037317"/>
                  <a:chExt cx="897649" cy="353919"/>
                </a:xfrm>
              </p:grpSpPr>
              <p:sp>
                <p:nvSpPr>
                  <p:cNvPr id="24"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800"/>
                  </a:p>
                </p:txBody>
              </p:sp>
              <p:sp>
                <p:nvSpPr>
                  <p:cNvPr id="25"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800"/>
                  </a:p>
                </p:txBody>
              </p:sp>
              <p:sp>
                <p:nvSpPr>
                  <p:cNvPr id="26"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800"/>
                  </a:p>
                </p:txBody>
              </p:sp>
              <p:sp>
                <p:nvSpPr>
                  <p:cNvPr id="27"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800"/>
                  </a:p>
                </p:txBody>
              </p:sp>
            </p:grpSp>
          </p:grpSp>
          <p:sp>
            <p:nvSpPr>
              <p:cNvPr id="15" name="Rectangle 14"/>
              <p:cNvSpPr/>
              <p:nvPr/>
            </p:nvSpPr>
            <p:spPr bwMode="auto">
              <a:xfrm>
                <a:off x="708342" y="3248665"/>
                <a:ext cx="1729963" cy="476254"/>
              </a:xfrm>
              <a:prstGeom prst="rect">
                <a:avLst/>
              </a:prstGeom>
              <a:grpFill/>
            </p:spPr>
            <p:txBody>
              <a:bodyPr wrap="none">
                <a:spAutoFit/>
              </a:bodyPr>
              <a:lstStyle/>
              <a:p>
                <a:pPr>
                  <a:defRPr/>
                </a:pPr>
                <a:r>
                  <a:rPr lang="en-US" sz="800">
                    <a:solidFill>
                      <a:schemeClr val="accent3"/>
                    </a:solidFill>
                    <a:ea typeface="宋体"/>
                    <a:cs typeface="Courier New"/>
                  </a:rPr>
                  <a:t>Ethernet1/0/3</a:t>
                </a:r>
                <a:endParaRPr lang="en-US" sz="800">
                  <a:solidFill>
                    <a:schemeClr val="accent3"/>
                  </a:solidFill>
                </a:endParaRPr>
              </a:p>
            </p:txBody>
          </p:sp>
          <p:sp>
            <p:nvSpPr>
              <p:cNvPr id="16" name="Rectangle 15"/>
              <p:cNvSpPr/>
              <p:nvPr/>
            </p:nvSpPr>
            <p:spPr bwMode="auto">
              <a:xfrm>
                <a:off x="2904030" y="3243074"/>
                <a:ext cx="1729963" cy="476254"/>
              </a:xfrm>
              <a:prstGeom prst="rect">
                <a:avLst/>
              </a:prstGeom>
              <a:grpFill/>
            </p:spPr>
            <p:txBody>
              <a:bodyPr wrap="none">
                <a:spAutoFit/>
              </a:bodyPr>
              <a:lstStyle/>
              <a:p>
                <a:pPr>
                  <a:defRPr/>
                </a:pPr>
                <a:r>
                  <a:rPr lang="en-US" sz="800">
                    <a:solidFill>
                      <a:schemeClr val="accent4"/>
                    </a:solidFill>
                    <a:ea typeface="宋体"/>
                    <a:cs typeface="Courier New"/>
                  </a:rPr>
                  <a:t>Ethernet1/0/4</a:t>
                </a:r>
                <a:endParaRPr lang="en-US" sz="800">
                  <a:solidFill>
                    <a:schemeClr val="accent4"/>
                  </a:solidFill>
                </a:endParaRPr>
              </a:p>
            </p:txBody>
          </p:sp>
          <p:sp>
            <p:nvSpPr>
              <p:cNvPr id="17" name="Rectangle 16"/>
              <p:cNvSpPr/>
              <p:nvPr/>
            </p:nvSpPr>
            <p:spPr bwMode="auto">
              <a:xfrm>
                <a:off x="1571506" y="4879752"/>
                <a:ext cx="737769" cy="476254"/>
              </a:xfrm>
              <a:prstGeom prst="rect">
                <a:avLst/>
              </a:prstGeom>
              <a:grpFill/>
            </p:spPr>
            <p:txBody>
              <a:bodyPr wrap="none">
                <a:spAutoFit/>
              </a:bodyPr>
              <a:lstStyle/>
              <a:p>
                <a:pPr>
                  <a:defRPr/>
                </a:pPr>
                <a:r>
                  <a:rPr lang="en-US" sz="800">
                    <a:ea typeface="宋体"/>
                    <a:cs typeface="Courier New"/>
                  </a:rPr>
                  <a:t>pc1</a:t>
                </a:r>
                <a:endParaRPr lang="en-US" sz="800"/>
              </a:p>
            </p:txBody>
          </p:sp>
          <p:sp>
            <p:nvSpPr>
              <p:cNvPr id="18" name="Rectangle 17"/>
              <p:cNvSpPr/>
              <p:nvPr/>
            </p:nvSpPr>
            <p:spPr bwMode="auto">
              <a:xfrm>
                <a:off x="3138322" y="4892898"/>
                <a:ext cx="737769" cy="476254"/>
              </a:xfrm>
              <a:prstGeom prst="rect">
                <a:avLst/>
              </a:prstGeom>
              <a:grpFill/>
            </p:spPr>
            <p:txBody>
              <a:bodyPr wrap="none">
                <a:spAutoFit/>
              </a:bodyPr>
              <a:lstStyle/>
              <a:p>
                <a:pPr>
                  <a:defRPr/>
                </a:pPr>
                <a:r>
                  <a:rPr lang="en-US" sz="800">
                    <a:ea typeface="宋体"/>
                    <a:cs typeface="Courier New"/>
                  </a:rPr>
                  <a:t>pc2</a:t>
                </a:r>
                <a:endParaRPr lang="en-US" sz="800"/>
              </a:p>
            </p:txBody>
          </p:sp>
          <p:sp>
            <p:nvSpPr>
              <p:cNvPr id="19" name="Rectangle 18"/>
              <p:cNvSpPr/>
              <p:nvPr/>
            </p:nvSpPr>
            <p:spPr bwMode="auto">
              <a:xfrm>
                <a:off x="1128224" y="5091290"/>
                <a:ext cx="1612842" cy="401270"/>
              </a:xfrm>
              <a:prstGeom prst="rect">
                <a:avLst/>
              </a:prstGeom>
              <a:grpFill/>
            </p:spPr>
            <p:txBody>
              <a:bodyPr wrap="none">
                <a:spAutoFit/>
              </a:bodyPr>
              <a:lstStyle/>
              <a:p>
                <a:pPr>
                  <a:defRPr/>
                </a:pPr>
                <a:r>
                  <a:rPr lang="en-US" sz="800"/>
                  <a:t>192.168.1.11/24</a:t>
                </a:r>
              </a:p>
            </p:txBody>
          </p:sp>
          <p:sp>
            <p:nvSpPr>
              <p:cNvPr id="20" name="Rectangle 19"/>
              <p:cNvSpPr/>
              <p:nvPr/>
            </p:nvSpPr>
            <p:spPr bwMode="auto">
              <a:xfrm>
                <a:off x="2695042" y="5086409"/>
                <a:ext cx="1612842" cy="401270"/>
              </a:xfrm>
              <a:prstGeom prst="rect">
                <a:avLst/>
              </a:prstGeom>
              <a:grpFill/>
            </p:spPr>
            <p:txBody>
              <a:bodyPr wrap="none">
                <a:spAutoFit/>
              </a:bodyPr>
              <a:lstStyle/>
              <a:p>
                <a:pPr>
                  <a:defRPr/>
                </a:pPr>
                <a:r>
                  <a:rPr lang="en-US" sz="800"/>
                  <a:t>192.168.1.12/24</a:t>
                </a:r>
              </a:p>
            </p:txBody>
          </p:sp>
          <p:grpSp>
            <p:nvGrpSpPr>
              <p:cNvPr id="101" name="Group 100"/>
              <p:cNvGrpSpPr/>
              <p:nvPr/>
            </p:nvGrpSpPr>
            <p:grpSpPr bwMode="auto">
              <a:xfrm>
                <a:off x="4809883" y="4159546"/>
                <a:ext cx="934856" cy="725206"/>
                <a:chOff x="1136203" y="4520619"/>
                <a:chExt cx="1419428" cy="1013448"/>
              </a:xfrm>
            </p:grpSpPr>
            <p:grpSp>
              <p:nvGrpSpPr>
                <p:cNvPr id="155" name="Group 950"/>
                <p:cNvGrpSpPr/>
                <p:nvPr/>
              </p:nvGrpSpPr>
              <p:grpSpPr bwMode="auto">
                <a:xfrm>
                  <a:off x="2039815" y="4520619"/>
                  <a:ext cx="515816" cy="969179"/>
                  <a:chOff x="4140" y="429"/>
                  <a:chExt cx="1425" cy="2396"/>
                </a:xfrm>
              </p:grpSpPr>
              <p:sp>
                <p:nvSpPr>
                  <p:cNvPr id="159"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160"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61"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162"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163"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nvGrpSpPr>
                  <p:cNvPr id="164" name="Group 956"/>
                  <p:cNvGrpSpPr/>
                  <p:nvPr/>
                </p:nvGrpSpPr>
                <p:grpSpPr bwMode="auto">
                  <a:xfrm>
                    <a:off x="4749" y="668"/>
                    <a:ext cx="581" cy="145"/>
                    <a:chOff x="614" y="2568"/>
                    <a:chExt cx="725" cy="139"/>
                  </a:xfrm>
                </p:grpSpPr>
                <p:sp>
                  <p:nvSpPr>
                    <p:cNvPr id="189"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90"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sp>
                <p:nvSpPr>
                  <p:cNvPr id="165"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nvGrpSpPr>
                  <p:cNvPr id="166" name="Group 960"/>
                  <p:cNvGrpSpPr/>
                  <p:nvPr/>
                </p:nvGrpSpPr>
                <p:grpSpPr bwMode="auto">
                  <a:xfrm>
                    <a:off x="4747" y="994"/>
                    <a:ext cx="581" cy="134"/>
                    <a:chOff x="614" y="2568"/>
                    <a:chExt cx="725" cy="139"/>
                  </a:xfrm>
                </p:grpSpPr>
                <p:sp>
                  <p:nvSpPr>
                    <p:cNvPr id="187"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88"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sp>
                <p:nvSpPr>
                  <p:cNvPr id="167"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68"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nvGrpSpPr>
                  <p:cNvPr id="169" name="Group 965"/>
                  <p:cNvGrpSpPr/>
                  <p:nvPr/>
                </p:nvGrpSpPr>
                <p:grpSpPr bwMode="auto">
                  <a:xfrm>
                    <a:off x="4735" y="1627"/>
                    <a:ext cx="582" cy="151"/>
                    <a:chOff x="614" y="2568"/>
                    <a:chExt cx="725" cy="139"/>
                  </a:xfrm>
                </p:grpSpPr>
                <p:sp>
                  <p:nvSpPr>
                    <p:cNvPr id="185"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86"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sp>
                <p:nvSpPr>
                  <p:cNvPr id="170"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grpSp>
                <p:nvGrpSpPr>
                  <p:cNvPr id="171" name="Group 969"/>
                  <p:cNvGrpSpPr/>
                  <p:nvPr/>
                </p:nvGrpSpPr>
                <p:grpSpPr bwMode="auto">
                  <a:xfrm>
                    <a:off x="4739" y="1327"/>
                    <a:ext cx="582" cy="139"/>
                    <a:chOff x="614" y="2568"/>
                    <a:chExt cx="725" cy="139"/>
                  </a:xfrm>
                </p:grpSpPr>
                <p:sp>
                  <p:nvSpPr>
                    <p:cNvPr id="183"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84"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sp>
                <p:nvSpPr>
                  <p:cNvPr id="172"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73"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174"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175"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76"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177"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78"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79"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80"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800" b="0" i="0" u="sng" strike="noStrike" cap="none" spc="0">
                      <a:ln>
                        <a:noFill/>
                      </a:ln>
                      <a:solidFill>
                        <a:srgbClr val="FF0000"/>
                      </a:solidFill>
                      <a:latin typeface="+mn-lt"/>
                      <a:ea typeface="MS PGothic"/>
                      <a:cs typeface="Arial"/>
                    </a:endParaRPr>
                  </a:p>
                </p:txBody>
              </p:sp>
              <p:sp>
                <p:nvSpPr>
                  <p:cNvPr id="181"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82"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grpSp>
              <p:nvGrpSpPr>
                <p:cNvPr id="156" name="Group 590"/>
                <p:cNvGrpSpPr/>
                <p:nvPr/>
              </p:nvGrpSpPr>
              <p:grpSpPr bwMode="auto">
                <a:xfrm flipH="1">
                  <a:off x="1136203" y="4624876"/>
                  <a:ext cx="948819" cy="909191"/>
                  <a:chOff x="2839" y="3501"/>
                  <a:chExt cx="755" cy="803"/>
                </a:xfrm>
              </p:grpSpPr>
              <p:pic>
                <p:nvPicPr>
                  <p:cNvPr id="157"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58"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800" u="sng"/>
                  </a:p>
                </p:txBody>
              </p:sp>
            </p:grpSp>
          </p:grpSp>
          <p:grpSp>
            <p:nvGrpSpPr>
              <p:cNvPr id="102" name="Group 101"/>
              <p:cNvGrpSpPr/>
              <p:nvPr/>
            </p:nvGrpSpPr>
            <p:grpSpPr bwMode="auto">
              <a:xfrm>
                <a:off x="6311091" y="4152295"/>
                <a:ext cx="934856" cy="732457"/>
                <a:chOff x="1136203" y="4520619"/>
                <a:chExt cx="1419428" cy="1013448"/>
              </a:xfrm>
            </p:grpSpPr>
            <p:grpSp>
              <p:nvGrpSpPr>
                <p:cNvPr id="119" name="Group 950"/>
                <p:cNvGrpSpPr/>
                <p:nvPr/>
              </p:nvGrpSpPr>
              <p:grpSpPr bwMode="auto">
                <a:xfrm>
                  <a:off x="2039815" y="4520619"/>
                  <a:ext cx="515816" cy="969179"/>
                  <a:chOff x="4140" y="429"/>
                  <a:chExt cx="1425" cy="2396"/>
                </a:xfrm>
              </p:grpSpPr>
              <p:sp>
                <p:nvSpPr>
                  <p:cNvPr id="123"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124"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25"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126"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127"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nvGrpSpPr>
                  <p:cNvPr id="128" name="Group 956"/>
                  <p:cNvGrpSpPr/>
                  <p:nvPr/>
                </p:nvGrpSpPr>
                <p:grpSpPr bwMode="auto">
                  <a:xfrm>
                    <a:off x="4749" y="668"/>
                    <a:ext cx="581" cy="145"/>
                    <a:chOff x="614" y="2568"/>
                    <a:chExt cx="725" cy="139"/>
                  </a:xfrm>
                </p:grpSpPr>
                <p:sp>
                  <p:nvSpPr>
                    <p:cNvPr id="153"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54"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sp>
                <p:nvSpPr>
                  <p:cNvPr id="129"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nvGrpSpPr>
                  <p:cNvPr id="130" name="Group 960"/>
                  <p:cNvGrpSpPr/>
                  <p:nvPr/>
                </p:nvGrpSpPr>
                <p:grpSpPr bwMode="auto">
                  <a:xfrm>
                    <a:off x="4747" y="994"/>
                    <a:ext cx="581" cy="134"/>
                    <a:chOff x="614" y="2568"/>
                    <a:chExt cx="725" cy="139"/>
                  </a:xfrm>
                </p:grpSpPr>
                <p:sp>
                  <p:nvSpPr>
                    <p:cNvPr id="151"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52"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sp>
                <p:nvSpPr>
                  <p:cNvPr id="131"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32"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nvGrpSpPr>
                  <p:cNvPr id="133" name="Group 965"/>
                  <p:cNvGrpSpPr/>
                  <p:nvPr/>
                </p:nvGrpSpPr>
                <p:grpSpPr bwMode="auto">
                  <a:xfrm>
                    <a:off x="4735" y="1627"/>
                    <a:ext cx="582" cy="151"/>
                    <a:chOff x="614" y="2568"/>
                    <a:chExt cx="725" cy="139"/>
                  </a:xfrm>
                </p:grpSpPr>
                <p:sp>
                  <p:nvSpPr>
                    <p:cNvPr id="149"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50"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sp>
                <p:nvSpPr>
                  <p:cNvPr id="134"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grpSp>
                <p:nvGrpSpPr>
                  <p:cNvPr id="135" name="Group 969"/>
                  <p:cNvGrpSpPr/>
                  <p:nvPr/>
                </p:nvGrpSpPr>
                <p:grpSpPr bwMode="auto">
                  <a:xfrm>
                    <a:off x="4739" y="1327"/>
                    <a:ext cx="582" cy="139"/>
                    <a:chOff x="614" y="2568"/>
                    <a:chExt cx="725" cy="139"/>
                  </a:xfrm>
                </p:grpSpPr>
                <p:sp>
                  <p:nvSpPr>
                    <p:cNvPr id="147"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48"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sp>
                <p:nvSpPr>
                  <p:cNvPr id="136"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37"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138"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139"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40"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endParaRPr>
                  </a:p>
                </p:txBody>
              </p:sp>
              <p:sp>
                <p:nvSpPr>
                  <p:cNvPr id="141"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42"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43"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44"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800" b="0" i="0" u="sng" strike="noStrike" cap="none" spc="0">
                      <a:ln>
                        <a:noFill/>
                      </a:ln>
                      <a:solidFill>
                        <a:srgbClr val="FF0000"/>
                      </a:solidFill>
                      <a:latin typeface="+mn-lt"/>
                      <a:ea typeface="MS PGothic"/>
                      <a:cs typeface="Arial"/>
                    </a:endParaRPr>
                  </a:p>
                </p:txBody>
              </p:sp>
              <p:sp>
                <p:nvSpPr>
                  <p:cNvPr id="145"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sp>
                <p:nvSpPr>
                  <p:cNvPr id="146"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800" b="0" i="0" u="sng" strike="noStrike" cap="none" spc="0">
                      <a:ln>
                        <a:noFill/>
                      </a:ln>
                      <a:solidFill>
                        <a:prstClr val="black"/>
                      </a:solidFill>
                      <a:latin typeface="+mn-lt"/>
                      <a:ea typeface="MS PGothic"/>
                      <a:cs typeface="Arial"/>
                    </a:endParaRPr>
                  </a:p>
                </p:txBody>
              </p:sp>
            </p:grpSp>
            <p:grpSp>
              <p:nvGrpSpPr>
                <p:cNvPr id="120" name="Group 590"/>
                <p:cNvGrpSpPr/>
                <p:nvPr/>
              </p:nvGrpSpPr>
              <p:grpSpPr bwMode="auto">
                <a:xfrm flipH="1">
                  <a:off x="1136203" y="4624876"/>
                  <a:ext cx="948819" cy="909191"/>
                  <a:chOff x="2839" y="3501"/>
                  <a:chExt cx="755" cy="803"/>
                </a:xfrm>
              </p:grpSpPr>
              <p:pic>
                <p:nvPicPr>
                  <p:cNvPr id="121"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122"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800" u="sng"/>
                  </a:p>
                </p:txBody>
              </p:sp>
            </p:grpSp>
          </p:grpSp>
          <p:cxnSp>
            <p:nvCxnSpPr>
              <p:cNvPr id="103" name="Straight Connector 102"/>
              <p:cNvCxnSpPr>
                <a:cxnSpLocks/>
                <a:stCxn id="160" idx="0"/>
                <a:endCxn id="112" idx="1"/>
              </p:cNvCxnSpPr>
              <p:nvPr/>
            </p:nvCxnSpPr>
            <p:spPr bwMode="auto">
              <a:xfrm flipV="1">
                <a:off x="5546389" y="3361338"/>
                <a:ext cx="330233" cy="790267"/>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a:cxnSpLocks/>
                <a:stCxn id="124" idx="0"/>
                <a:endCxn id="112" idx="3"/>
              </p:cNvCxnSpPr>
              <p:nvPr/>
            </p:nvCxnSpPr>
            <p:spPr bwMode="auto">
              <a:xfrm flipH="1" flipV="1">
                <a:off x="6638432" y="3361267"/>
                <a:ext cx="409165" cy="783157"/>
              </a:xfrm>
              <a:prstGeom prst="line">
                <a:avLst/>
              </a:prstGeom>
              <a:ln w="19050"/>
            </p:spPr>
            <p:style>
              <a:lnRef idx="1">
                <a:schemeClr val="accent4"/>
              </a:lnRef>
              <a:fillRef idx="0">
                <a:schemeClr val="accent4"/>
              </a:fillRef>
              <a:effectRef idx="0">
                <a:schemeClr val="accent4"/>
              </a:effectRef>
              <a:fontRef idx="minor">
                <a:schemeClr val="tx1"/>
              </a:fontRef>
            </p:style>
          </p:cxnSp>
          <p:grpSp>
            <p:nvGrpSpPr>
              <p:cNvPr id="105" name="Group 104"/>
              <p:cNvGrpSpPr/>
              <p:nvPr/>
            </p:nvGrpSpPr>
            <p:grpSpPr bwMode="auto">
              <a:xfrm>
                <a:off x="5876623" y="2795049"/>
                <a:ext cx="764558" cy="699261"/>
                <a:chOff x="3668110" y="2448910"/>
                <a:chExt cx="3794234" cy="2165130"/>
              </a:xfrm>
            </p:grpSpPr>
            <p:sp>
              <p:nvSpPr>
                <p:cNvPr id="112" name="Rectangle 111"/>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800"/>
                </a:p>
              </p:txBody>
            </p:sp>
            <p:sp>
              <p:nvSpPr>
                <p:cNvPr id="113"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800"/>
                </a:p>
              </p:txBody>
            </p:sp>
            <p:grpSp>
              <p:nvGrpSpPr>
                <p:cNvPr id="114" name="Group 113"/>
                <p:cNvGrpSpPr/>
                <p:nvPr/>
              </p:nvGrpSpPr>
              <p:grpSpPr bwMode="auto">
                <a:xfrm>
                  <a:off x="3941378" y="2603243"/>
                  <a:ext cx="3202060" cy="1066110"/>
                  <a:chOff x="7939341" y="3037317"/>
                  <a:chExt cx="897649" cy="353919"/>
                </a:xfrm>
              </p:grpSpPr>
              <p:sp>
                <p:nvSpPr>
                  <p:cNvPr id="115"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800"/>
                  </a:p>
                </p:txBody>
              </p:sp>
              <p:sp>
                <p:nvSpPr>
                  <p:cNvPr id="116"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800"/>
                  </a:p>
                </p:txBody>
              </p:sp>
              <p:sp>
                <p:nvSpPr>
                  <p:cNvPr id="117"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800"/>
                  </a:p>
                </p:txBody>
              </p:sp>
              <p:sp>
                <p:nvSpPr>
                  <p:cNvPr id="118"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800"/>
                  </a:p>
                </p:txBody>
              </p:sp>
            </p:grpSp>
          </p:grpSp>
          <p:sp>
            <p:nvSpPr>
              <p:cNvPr id="106" name="Rectangle 105"/>
              <p:cNvSpPr/>
              <p:nvPr/>
            </p:nvSpPr>
            <p:spPr bwMode="auto">
              <a:xfrm>
                <a:off x="4471813" y="3248665"/>
                <a:ext cx="1729963" cy="476254"/>
              </a:xfrm>
              <a:prstGeom prst="rect">
                <a:avLst/>
              </a:prstGeom>
              <a:grpFill/>
            </p:spPr>
            <p:txBody>
              <a:bodyPr wrap="none">
                <a:spAutoFit/>
              </a:bodyPr>
              <a:lstStyle/>
              <a:p>
                <a:pPr>
                  <a:defRPr/>
                </a:pPr>
                <a:r>
                  <a:rPr lang="en-US" sz="800">
                    <a:solidFill>
                      <a:schemeClr val="accent3"/>
                    </a:solidFill>
                    <a:ea typeface="宋体"/>
                    <a:cs typeface="Courier New"/>
                  </a:rPr>
                  <a:t>Ethernet1/0/3</a:t>
                </a:r>
                <a:endParaRPr lang="en-US" sz="800">
                  <a:solidFill>
                    <a:schemeClr val="accent3"/>
                  </a:solidFill>
                </a:endParaRPr>
              </a:p>
            </p:txBody>
          </p:sp>
          <p:sp>
            <p:nvSpPr>
              <p:cNvPr id="107" name="Rectangle 106"/>
              <p:cNvSpPr/>
              <p:nvPr/>
            </p:nvSpPr>
            <p:spPr bwMode="auto">
              <a:xfrm>
                <a:off x="6794182" y="3248665"/>
                <a:ext cx="1729963" cy="476254"/>
              </a:xfrm>
              <a:prstGeom prst="rect">
                <a:avLst/>
              </a:prstGeom>
              <a:grpFill/>
            </p:spPr>
            <p:txBody>
              <a:bodyPr wrap="none">
                <a:spAutoFit/>
              </a:bodyPr>
              <a:lstStyle/>
              <a:p>
                <a:pPr>
                  <a:defRPr/>
                </a:pPr>
                <a:r>
                  <a:rPr lang="en-US" sz="800">
                    <a:solidFill>
                      <a:schemeClr val="accent4"/>
                    </a:solidFill>
                    <a:ea typeface="宋体"/>
                    <a:cs typeface="Courier New"/>
                  </a:rPr>
                  <a:t>Ethernet1/0/4</a:t>
                </a:r>
                <a:endParaRPr lang="en-US" sz="800">
                  <a:solidFill>
                    <a:schemeClr val="accent4"/>
                  </a:solidFill>
                </a:endParaRPr>
              </a:p>
            </p:txBody>
          </p:sp>
          <p:sp>
            <p:nvSpPr>
              <p:cNvPr id="108" name="Rectangle 107"/>
              <p:cNvSpPr/>
              <p:nvPr/>
            </p:nvSpPr>
            <p:spPr bwMode="auto">
              <a:xfrm>
                <a:off x="5337750" y="4879752"/>
                <a:ext cx="737769" cy="476254"/>
              </a:xfrm>
              <a:prstGeom prst="rect">
                <a:avLst/>
              </a:prstGeom>
              <a:grpFill/>
            </p:spPr>
            <p:txBody>
              <a:bodyPr wrap="none">
                <a:spAutoFit/>
              </a:bodyPr>
              <a:lstStyle/>
              <a:p>
                <a:pPr>
                  <a:defRPr/>
                </a:pPr>
                <a:r>
                  <a:rPr lang="en-US" sz="800">
                    <a:ea typeface="宋体"/>
                    <a:cs typeface="Courier New"/>
                  </a:rPr>
                  <a:t>pc3</a:t>
                </a:r>
                <a:endParaRPr lang="en-US" sz="800"/>
              </a:p>
            </p:txBody>
          </p:sp>
          <p:sp>
            <p:nvSpPr>
              <p:cNvPr id="109" name="Rectangle 108"/>
              <p:cNvSpPr/>
              <p:nvPr/>
            </p:nvSpPr>
            <p:spPr bwMode="auto">
              <a:xfrm>
                <a:off x="6904569" y="4892898"/>
                <a:ext cx="737769" cy="476254"/>
              </a:xfrm>
              <a:prstGeom prst="rect">
                <a:avLst/>
              </a:prstGeom>
              <a:grpFill/>
            </p:spPr>
            <p:txBody>
              <a:bodyPr wrap="none">
                <a:spAutoFit/>
              </a:bodyPr>
              <a:lstStyle/>
              <a:p>
                <a:pPr>
                  <a:defRPr/>
                </a:pPr>
                <a:r>
                  <a:rPr lang="en-US" sz="800">
                    <a:ea typeface="宋体"/>
                    <a:cs typeface="Courier New"/>
                  </a:rPr>
                  <a:t>pc4</a:t>
                </a:r>
                <a:endParaRPr lang="en-US" sz="800"/>
              </a:p>
            </p:txBody>
          </p:sp>
          <p:sp>
            <p:nvSpPr>
              <p:cNvPr id="110" name="Rectangle 109"/>
              <p:cNvSpPr/>
              <p:nvPr/>
            </p:nvSpPr>
            <p:spPr bwMode="auto">
              <a:xfrm>
                <a:off x="4894471" y="5091291"/>
                <a:ext cx="1612842" cy="401270"/>
              </a:xfrm>
              <a:prstGeom prst="rect">
                <a:avLst/>
              </a:prstGeom>
              <a:grpFill/>
            </p:spPr>
            <p:txBody>
              <a:bodyPr wrap="none">
                <a:spAutoFit/>
              </a:bodyPr>
              <a:lstStyle/>
              <a:p>
                <a:pPr>
                  <a:defRPr/>
                </a:pPr>
                <a:r>
                  <a:rPr lang="en-US" sz="800"/>
                  <a:t>192.168.1.13/24</a:t>
                </a:r>
              </a:p>
            </p:txBody>
          </p:sp>
          <p:sp>
            <p:nvSpPr>
              <p:cNvPr id="111" name="Rectangle 110"/>
              <p:cNvSpPr/>
              <p:nvPr/>
            </p:nvSpPr>
            <p:spPr bwMode="auto">
              <a:xfrm>
                <a:off x="6461289" y="5086409"/>
                <a:ext cx="1612842" cy="401270"/>
              </a:xfrm>
              <a:prstGeom prst="rect">
                <a:avLst/>
              </a:prstGeom>
              <a:grpFill/>
            </p:spPr>
            <p:txBody>
              <a:bodyPr wrap="none">
                <a:spAutoFit/>
              </a:bodyPr>
              <a:lstStyle/>
              <a:p>
                <a:pPr>
                  <a:defRPr/>
                </a:pPr>
                <a:r>
                  <a:rPr lang="en-US" sz="800"/>
                  <a:t>192.168.1.14/24</a:t>
                </a:r>
              </a:p>
            </p:txBody>
          </p:sp>
          <p:sp>
            <p:nvSpPr>
              <p:cNvPr id="192" name="Rectangle 191"/>
              <p:cNvSpPr/>
              <p:nvPr/>
            </p:nvSpPr>
            <p:spPr bwMode="auto">
              <a:xfrm>
                <a:off x="2815353" y="2659234"/>
                <a:ext cx="1729963" cy="476254"/>
              </a:xfrm>
              <a:prstGeom prst="rect">
                <a:avLst/>
              </a:prstGeom>
              <a:grpFill/>
            </p:spPr>
            <p:txBody>
              <a:bodyPr wrap="none">
                <a:spAutoFit/>
              </a:bodyPr>
              <a:lstStyle/>
              <a:p>
                <a:pPr>
                  <a:defRPr/>
                </a:pPr>
                <a:r>
                  <a:rPr lang="en-US" sz="800">
                    <a:solidFill>
                      <a:schemeClr val="accent3"/>
                    </a:solidFill>
                    <a:ea typeface="宋体"/>
                    <a:cs typeface="Courier New"/>
                  </a:rPr>
                  <a:t>Ethernet1/0/1</a:t>
                </a:r>
              </a:p>
            </p:txBody>
          </p:sp>
          <p:sp>
            <p:nvSpPr>
              <p:cNvPr id="193" name="Rectangle 192"/>
              <p:cNvSpPr/>
              <p:nvPr/>
            </p:nvSpPr>
            <p:spPr bwMode="auto">
              <a:xfrm>
                <a:off x="4567745" y="2659234"/>
                <a:ext cx="1729963" cy="476254"/>
              </a:xfrm>
              <a:prstGeom prst="rect">
                <a:avLst/>
              </a:prstGeom>
              <a:grpFill/>
            </p:spPr>
            <p:txBody>
              <a:bodyPr wrap="none">
                <a:spAutoFit/>
              </a:bodyPr>
              <a:lstStyle/>
              <a:p>
                <a:pPr>
                  <a:defRPr/>
                </a:pPr>
                <a:r>
                  <a:rPr lang="en-US" sz="800">
                    <a:solidFill>
                      <a:schemeClr val="accent3"/>
                    </a:solidFill>
                    <a:ea typeface="宋体"/>
                    <a:cs typeface="Courier New"/>
                  </a:rPr>
                  <a:t>Ethernet1/0/1</a:t>
                </a:r>
              </a:p>
            </p:txBody>
          </p:sp>
          <p:sp>
            <p:nvSpPr>
              <p:cNvPr id="194" name="Rectangle 193"/>
              <p:cNvSpPr/>
              <p:nvPr/>
            </p:nvSpPr>
            <p:spPr bwMode="auto">
              <a:xfrm>
                <a:off x="480121" y="3724552"/>
                <a:ext cx="1038968" cy="476254"/>
              </a:xfrm>
              <a:prstGeom prst="rect">
                <a:avLst/>
              </a:prstGeom>
              <a:grpFill/>
            </p:spPr>
            <p:txBody>
              <a:bodyPr wrap="none">
                <a:spAutoFit/>
              </a:bodyPr>
              <a:lstStyle/>
              <a:p>
                <a:pPr>
                  <a:defRPr/>
                </a:pPr>
                <a:r>
                  <a:rPr lang="en-US" sz="800" b="1" u="sng">
                    <a:solidFill>
                      <a:schemeClr val="accent3"/>
                    </a:solidFill>
                    <a:ea typeface="宋体"/>
                    <a:cs typeface="Courier New"/>
                  </a:rPr>
                  <a:t>VLAN2</a:t>
                </a:r>
                <a:endParaRPr lang="en-US" sz="800" b="1" u="sng">
                  <a:solidFill>
                    <a:schemeClr val="accent3"/>
                  </a:solidFill>
                </a:endParaRPr>
              </a:p>
            </p:txBody>
          </p:sp>
          <p:sp>
            <p:nvSpPr>
              <p:cNvPr id="195" name="Rectangle 194"/>
              <p:cNvSpPr/>
              <p:nvPr/>
            </p:nvSpPr>
            <p:spPr bwMode="auto">
              <a:xfrm>
                <a:off x="7485076" y="3737170"/>
                <a:ext cx="1038968" cy="476254"/>
              </a:xfrm>
              <a:prstGeom prst="rect">
                <a:avLst/>
              </a:prstGeom>
              <a:grpFill/>
            </p:spPr>
            <p:txBody>
              <a:bodyPr wrap="none">
                <a:spAutoFit/>
              </a:bodyPr>
              <a:lstStyle/>
              <a:p>
                <a:pPr>
                  <a:defRPr/>
                </a:pPr>
                <a:r>
                  <a:rPr lang="en-US" sz="800" b="1" u="sng">
                    <a:solidFill>
                      <a:schemeClr val="accent4"/>
                    </a:solidFill>
                    <a:ea typeface="宋体"/>
                    <a:cs typeface="Courier New"/>
                  </a:rPr>
                  <a:t>VLAN3</a:t>
                </a:r>
                <a:endParaRPr lang="en-US" sz="800" b="1" u="sng">
                  <a:solidFill>
                    <a:schemeClr val="accent4"/>
                  </a:solidFill>
                </a:endParaRPr>
              </a:p>
            </p:txBody>
          </p:sp>
          <p:sp>
            <p:nvSpPr>
              <p:cNvPr id="197" name="Rectangle 196"/>
              <p:cNvSpPr/>
              <p:nvPr/>
            </p:nvSpPr>
            <p:spPr bwMode="auto">
              <a:xfrm>
                <a:off x="2834404" y="2671933"/>
                <a:ext cx="1729963" cy="476254"/>
              </a:xfrm>
              <a:prstGeom prst="rect">
                <a:avLst/>
              </a:prstGeom>
              <a:grpFill/>
            </p:spPr>
            <p:txBody>
              <a:bodyPr wrap="none">
                <a:spAutoFit/>
              </a:bodyPr>
              <a:lstStyle/>
              <a:p>
                <a:pPr>
                  <a:defRPr/>
                </a:pPr>
                <a:r>
                  <a:rPr lang="en-US" sz="800">
                    <a:solidFill>
                      <a:schemeClr val="accent4"/>
                    </a:solidFill>
                    <a:ea typeface="宋体"/>
                    <a:cs typeface="Courier New"/>
                  </a:rPr>
                  <a:t>Ethernet1/0/1</a:t>
                </a:r>
              </a:p>
            </p:txBody>
          </p:sp>
          <p:sp>
            <p:nvSpPr>
              <p:cNvPr id="198" name="Rectangle 197"/>
              <p:cNvSpPr/>
              <p:nvPr/>
            </p:nvSpPr>
            <p:spPr bwMode="auto">
              <a:xfrm>
                <a:off x="4585089" y="2671629"/>
                <a:ext cx="1729963" cy="476254"/>
              </a:xfrm>
              <a:prstGeom prst="rect">
                <a:avLst/>
              </a:prstGeom>
              <a:grpFill/>
            </p:spPr>
            <p:txBody>
              <a:bodyPr wrap="none">
                <a:spAutoFit/>
              </a:bodyPr>
              <a:lstStyle/>
              <a:p>
                <a:pPr>
                  <a:defRPr/>
                </a:pPr>
                <a:r>
                  <a:rPr lang="en-US" sz="800">
                    <a:solidFill>
                      <a:schemeClr val="accent4"/>
                    </a:solidFill>
                    <a:ea typeface="宋体"/>
                    <a:cs typeface="Courier New"/>
                  </a:rPr>
                  <a:t>Ethernet1/0/1</a:t>
                </a:r>
              </a:p>
            </p:txBody>
          </p:sp>
        </p:grpSp>
        <p:sp>
          <p:nvSpPr>
            <p:cNvPr id="200" name="Rectangle 199"/>
            <p:cNvSpPr/>
            <p:nvPr/>
          </p:nvSpPr>
          <p:spPr bwMode="auto">
            <a:xfrm>
              <a:off x="4332818" y="4019318"/>
              <a:ext cx="4424120" cy="1717015"/>
            </a:xfrm>
            <a:prstGeom prst="rect">
              <a:avLst/>
            </a:prstGeom>
            <a:noFill/>
            <a:ln w="9525" cap="flat" cmpd="sng" algn="ctr">
              <a:solidFill>
                <a:schemeClr val="tx1">
                  <a:lumMod val="50000"/>
                  <a:lumOff val="50000"/>
                </a:schemeClr>
              </a:solidFill>
              <a:prstDash val="solid"/>
              <a:round/>
              <a:headEnd type="none" w="med" len="med"/>
              <a:tailEnd type="none" w="med" len="med"/>
            </a:ln>
          </p:spPr>
          <p:style>
            <a:lnRef idx="0">
              <a:srgbClr val="000000"/>
            </a:lnRef>
            <a:fillRef idx="0">
              <a:srgbClr val="000000"/>
            </a:fillRef>
            <a:effectRef idx="0">
              <a:srgbClr val="000000"/>
            </a:effectRef>
            <a:fontRef idx="minor">
              <a:schemeClr val="dk1"/>
            </a:fontRef>
          </p:style>
          <p:txBody>
            <a:bodyPr rtlCol="0" anchor="ctr"/>
            <a:lstStyle/>
            <a:p>
              <a:pPr algn="ctr">
                <a:defRPr/>
              </a:pPr>
              <a:endParaRPr lang="en-US"/>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4. </a:t>
            </a:r>
            <a:r>
              <a:rPr lang="zh-CN"/>
              <a:t>配置四节点网络</a:t>
            </a:r>
            <a:r>
              <a:rPr lang="en-US"/>
              <a:t> VLAN</a:t>
            </a:r>
          </a:p>
        </p:txBody>
      </p:sp>
      <p:sp>
        <p:nvSpPr>
          <p:cNvPr id="199" name="Content Placeholder 198"/>
          <p:cNvSpPr>
            <a:spLocks noGrp="1"/>
          </p:cNvSpPr>
          <p:nvPr>
            <p:ph idx="1"/>
          </p:nvPr>
        </p:nvSpPr>
        <p:spPr bwMode="auto">
          <a:xfrm>
            <a:off x="576000" y="1121666"/>
            <a:ext cx="8212400" cy="4747428"/>
          </a:xfrm>
        </p:spPr>
        <p:txBody>
          <a:bodyPr>
            <a:normAutofit/>
          </a:bodyPr>
          <a:lstStyle/>
          <a:p>
            <a:pPr marL="447675" lvl="1" indent="-358775">
              <a:buFont typeface="+mj-lt"/>
              <a:buAutoNum type="arabicParenR" startAt="5"/>
              <a:defRPr/>
            </a:pPr>
            <a:r>
              <a:rPr lang="zh-CN"/>
              <a:t>配置完成，请检查 </a:t>
            </a:r>
            <a:r>
              <a:rPr lang="en-US"/>
              <a:t>VLAN2</a:t>
            </a:r>
            <a:r>
              <a:rPr lang="zh-CN"/>
              <a:t>内的</a:t>
            </a:r>
            <a:r>
              <a:rPr lang="en-US"/>
              <a:t>pc1</a:t>
            </a:r>
            <a:r>
              <a:rPr lang="zh-CN"/>
              <a:t>和</a:t>
            </a:r>
            <a:r>
              <a:rPr lang="en-US"/>
              <a:t>pc3</a:t>
            </a:r>
            <a:r>
              <a:rPr lang="zh-CN"/>
              <a:t>是否能</a:t>
            </a:r>
            <a:r>
              <a:rPr lang="en-US"/>
              <a:t>ping</a:t>
            </a:r>
            <a:r>
              <a:rPr lang="zh-CN"/>
              <a:t>通，</a:t>
            </a:r>
            <a:r>
              <a:rPr lang="en-US"/>
              <a:t>VLAN3</a:t>
            </a:r>
            <a:r>
              <a:rPr lang="zh-CN"/>
              <a:t>内的</a:t>
            </a:r>
            <a:r>
              <a:rPr lang="en-US"/>
              <a:t>pc2</a:t>
            </a:r>
            <a:r>
              <a:rPr lang="zh-CN"/>
              <a:t>和</a:t>
            </a:r>
            <a:r>
              <a:rPr lang="en-US"/>
              <a:t>pc4</a:t>
            </a:r>
            <a:r>
              <a:rPr lang="zh-CN"/>
              <a:t>是否能</a:t>
            </a:r>
            <a:r>
              <a:rPr lang="en-US"/>
              <a:t>ping</a:t>
            </a:r>
            <a:r>
              <a:rPr lang="zh-CN"/>
              <a:t>通。</a:t>
            </a:r>
            <a:endParaRPr lang="en-US"/>
          </a:p>
          <a:p>
            <a:pPr marL="447675" lvl="2" indent="-358775">
              <a:defRPr/>
            </a:pPr>
            <a:r>
              <a:rPr lang="zh-CN"/>
              <a:t>如果能通，则表明配置成功；</a:t>
            </a:r>
            <a:endParaRPr lang="en-US"/>
          </a:p>
          <a:p>
            <a:pPr marL="447675" lvl="2" indent="-358775">
              <a:defRPr/>
            </a:pPr>
            <a:r>
              <a:rPr lang="zh-CN"/>
              <a:t>否则，请检查配置过程。</a:t>
            </a:r>
            <a:endParaRPr lang="en-US"/>
          </a:p>
        </p:txBody>
      </p:sp>
      <p:sp>
        <p:nvSpPr>
          <p:cNvPr id="4" name="Date Placeholder 3"/>
          <p:cNvSpPr>
            <a:spLocks noGrp="1"/>
          </p:cNvSpPr>
          <p:nvPr>
            <p:ph type="dt" sz="half" idx="10"/>
          </p:nvPr>
        </p:nvSpPr>
        <p:spPr bwMode="auto"/>
        <p:txBody>
          <a:bodyPr/>
          <a:lstStyle/>
          <a:p>
            <a:pPr>
              <a:defRPr/>
            </a:pPr>
            <a:r>
              <a:rPr lang="en-US"/>
              <a:t>3/1/2020</a:t>
            </a:r>
            <a:endParaRPr/>
          </a:p>
        </p:txBody>
      </p:sp>
      <p:sp>
        <p:nvSpPr>
          <p:cNvPr id="6" name="Footer Placeholder 5"/>
          <p:cNvSpPr>
            <a:spLocks noGrp="1"/>
          </p:cNvSpPr>
          <p:nvPr>
            <p:ph type="ftr" sz="quarter" idx="11"/>
          </p:nvPr>
        </p:nvSpPr>
        <p:spPr bwMode="auto"/>
        <p:txBody>
          <a:bodyPr/>
          <a:lstStyle/>
          <a:p>
            <a:pPr>
              <a:defRPr/>
            </a:pPr>
            <a:r>
              <a:rPr lang="zh-CN"/>
              <a:t>计算机网络实验</a:t>
            </a:r>
            <a:endParaRPr lang="en-US"/>
          </a:p>
        </p:txBody>
      </p:sp>
      <p:sp>
        <p:nvSpPr>
          <p:cNvPr id="7" name="Slide Number Placeholder 6"/>
          <p:cNvSpPr>
            <a:spLocks noGrp="1"/>
          </p:cNvSpPr>
          <p:nvPr>
            <p:ph type="sldNum" sz="quarter" idx="12"/>
          </p:nvPr>
        </p:nvSpPr>
        <p:spPr bwMode="auto"/>
        <p:txBody>
          <a:bodyPr/>
          <a:lstStyle/>
          <a:p>
            <a:pPr>
              <a:defRPr/>
            </a:pPr>
            <a:fld id="{0ECDF2DC-913F-4A16-9C18-8900B299D998}" type="slidenum">
              <a:rPr lang="en-US"/>
              <a:t>39</a:t>
            </a:fld>
            <a:endParaRPr lang="en-US"/>
          </a:p>
        </p:txBody>
      </p:sp>
      <p:grpSp>
        <p:nvGrpSpPr>
          <p:cNvPr id="201" name="Group 200"/>
          <p:cNvGrpSpPr/>
          <p:nvPr/>
        </p:nvGrpSpPr>
        <p:grpSpPr bwMode="auto">
          <a:xfrm>
            <a:off x="480121" y="3240000"/>
            <a:ext cx="7761893" cy="2770611"/>
            <a:chOff x="480121" y="2659234"/>
            <a:chExt cx="7761893" cy="2770611"/>
          </a:xfrm>
        </p:grpSpPr>
        <p:cxnSp>
          <p:nvCxnSpPr>
            <p:cNvPr id="202" name="Straight Connector 201"/>
            <p:cNvCxnSpPr>
              <a:cxnSpLocks/>
            </p:cNvCxnSpPr>
            <p:nvPr/>
          </p:nvCxnSpPr>
          <p:spPr bwMode="auto">
            <a:xfrm>
              <a:off x="2544844" y="2999393"/>
              <a:ext cx="3766247" cy="0"/>
            </a:xfrm>
            <a:prstGeom prst="line">
              <a:avLst/>
            </a:prstGeom>
            <a:ln w="28575"/>
          </p:spPr>
          <p:style>
            <a:lnRef idx="1">
              <a:schemeClr val="accent4"/>
            </a:lnRef>
            <a:fillRef idx="0">
              <a:schemeClr val="accent4"/>
            </a:fillRef>
            <a:effectRef idx="0">
              <a:schemeClr val="accent4"/>
            </a:effectRef>
            <a:fontRef idx="minor">
              <a:schemeClr val="tx1"/>
            </a:fontRef>
          </p:style>
        </p:cxnSp>
        <p:cxnSp>
          <p:nvCxnSpPr>
            <p:cNvPr id="203" name="Straight Connector 202"/>
            <p:cNvCxnSpPr>
              <a:cxnSpLocks/>
            </p:cNvCxnSpPr>
            <p:nvPr/>
          </p:nvCxnSpPr>
          <p:spPr bwMode="auto">
            <a:xfrm>
              <a:off x="2483787" y="3037632"/>
              <a:ext cx="3766247"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04" name="Group 203"/>
            <p:cNvGrpSpPr/>
            <p:nvPr/>
          </p:nvGrpSpPr>
          <p:grpSpPr bwMode="auto">
            <a:xfrm>
              <a:off x="1043637" y="4159546"/>
              <a:ext cx="934856" cy="725206"/>
              <a:chOff x="1136203" y="4520619"/>
              <a:chExt cx="1419428" cy="1013448"/>
            </a:xfrm>
          </p:grpSpPr>
          <p:grpSp>
            <p:nvGrpSpPr>
              <p:cNvPr id="354" name="Group 950"/>
              <p:cNvGrpSpPr/>
              <p:nvPr/>
            </p:nvGrpSpPr>
            <p:grpSpPr bwMode="auto">
              <a:xfrm>
                <a:off x="2039815" y="4520619"/>
                <a:ext cx="515816" cy="969179"/>
                <a:chOff x="4140" y="429"/>
                <a:chExt cx="1425" cy="2396"/>
              </a:xfrm>
            </p:grpSpPr>
            <p:sp>
              <p:nvSpPr>
                <p:cNvPr id="358"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59"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60"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61"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62"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63" name="Group 956"/>
                <p:cNvGrpSpPr/>
                <p:nvPr/>
              </p:nvGrpSpPr>
              <p:grpSpPr bwMode="auto">
                <a:xfrm>
                  <a:off x="4749" y="668"/>
                  <a:ext cx="581" cy="145"/>
                  <a:chOff x="614" y="2568"/>
                  <a:chExt cx="725" cy="139"/>
                </a:xfrm>
              </p:grpSpPr>
              <p:sp>
                <p:nvSpPr>
                  <p:cNvPr id="388"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89"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64"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65" name="Group 960"/>
                <p:cNvGrpSpPr/>
                <p:nvPr/>
              </p:nvGrpSpPr>
              <p:grpSpPr bwMode="auto">
                <a:xfrm>
                  <a:off x="4747" y="994"/>
                  <a:ext cx="581" cy="134"/>
                  <a:chOff x="614" y="2568"/>
                  <a:chExt cx="725" cy="139"/>
                </a:xfrm>
              </p:grpSpPr>
              <p:sp>
                <p:nvSpPr>
                  <p:cNvPr id="386"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87"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66"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67"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68" name="Group 965"/>
                <p:cNvGrpSpPr/>
                <p:nvPr/>
              </p:nvGrpSpPr>
              <p:grpSpPr bwMode="auto">
                <a:xfrm>
                  <a:off x="4735" y="1627"/>
                  <a:ext cx="582" cy="151"/>
                  <a:chOff x="614" y="2568"/>
                  <a:chExt cx="725" cy="139"/>
                </a:xfrm>
              </p:grpSpPr>
              <p:sp>
                <p:nvSpPr>
                  <p:cNvPr id="384"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85"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69"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370" name="Group 969"/>
                <p:cNvGrpSpPr/>
                <p:nvPr/>
              </p:nvGrpSpPr>
              <p:grpSpPr bwMode="auto">
                <a:xfrm>
                  <a:off x="4739" y="1327"/>
                  <a:ext cx="582" cy="139"/>
                  <a:chOff x="614" y="2568"/>
                  <a:chExt cx="725" cy="139"/>
                </a:xfrm>
              </p:grpSpPr>
              <p:sp>
                <p:nvSpPr>
                  <p:cNvPr id="382"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83"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71"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72"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73"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74"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75"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76"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77"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78"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79"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380"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81"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355" name="Group 590"/>
              <p:cNvGrpSpPr/>
              <p:nvPr/>
            </p:nvGrpSpPr>
            <p:grpSpPr bwMode="auto">
              <a:xfrm flipH="1">
                <a:off x="1136203" y="4624876"/>
                <a:ext cx="948819" cy="909191"/>
                <a:chOff x="2839" y="3501"/>
                <a:chExt cx="755" cy="803"/>
              </a:xfrm>
            </p:grpSpPr>
            <p:pic>
              <p:nvPicPr>
                <p:cNvPr id="356"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357"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grpSp>
          <p:nvGrpSpPr>
            <p:cNvPr id="205" name="Group 204"/>
            <p:cNvGrpSpPr/>
            <p:nvPr/>
          </p:nvGrpSpPr>
          <p:grpSpPr bwMode="auto">
            <a:xfrm>
              <a:off x="2544844" y="4152295"/>
              <a:ext cx="934856" cy="732457"/>
              <a:chOff x="1136203" y="4520619"/>
              <a:chExt cx="1419428" cy="1013448"/>
            </a:xfrm>
          </p:grpSpPr>
          <p:grpSp>
            <p:nvGrpSpPr>
              <p:cNvPr id="318" name="Group 950"/>
              <p:cNvGrpSpPr/>
              <p:nvPr/>
            </p:nvGrpSpPr>
            <p:grpSpPr bwMode="auto">
              <a:xfrm>
                <a:off x="2039815" y="4520619"/>
                <a:ext cx="515816" cy="969179"/>
                <a:chOff x="4140" y="429"/>
                <a:chExt cx="1425" cy="2396"/>
              </a:xfrm>
            </p:grpSpPr>
            <p:sp>
              <p:nvSpPr>
                <p:cNvPr id="322"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23"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24"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25"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26"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27" name="Group 956"/>
                <p:cNvGrpSpPr/>
                <p:nvPr/>
              </p:nvGrpSpPr>
              <p:grpSpPr bwMode="auto">
                <a:xfrm>
                  <a:off x="4749" y="668"/>
                  <a:ext cx="581" cy="145"/>
                  <a:chOff x="614" y="2568"/>
                  <a:chExt cx="725" cy="139"/>
                </a:xfrm>
              </p:grpSpPr>
              <p:sp>
                <p:nvSpPr>
                  <p:cNvPr id="352"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53"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28"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29" name="Group 960"/>
                <p:cNvGrpSpPr/>
                <p:nvPr/>
              </p:nvGrpSpPr>
              <p:grpSpPr bwMode="auto">
                <a:xfrm>
                  <a:off x="4747" y="994"/>
                  <a:ext cx="581" cy="134"/>
                  <a:chOff x="614" y="2568"/>
                  <a:chExt cx="725" cy="139"/>
                </a:xfrm>
              </p:grpSpPr>
              <p:sp>
                <p:nvSpPr>
                  <p:cNvPr id="350"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51"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30"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31"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332" name="Group 965"/>
                <p:cNvGrpSpPr/>
                <p:nvPr/>
              </p:nvGrpSpPr>
              <p:grpSpPr bwMode="auto">
                <a:xfrm>
                  <a:off x="4735" y="1627"/>
                  <a:ext cx="582" cy="151"/>
                  <a:chOff x="614" y="2568"/>
                  <a:chExt cx="725" cy="139"/>
                </a:xfrm>
              </p:grpSpPr>
              <p:sp>
                <p:nvSpPr>
                  <p:cNvPr id="348"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49"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33"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334" name="Group 969"/>
                <p:cNvGrpSpPr/>
                <p:nvPr/>
              </p:nvGrpSpPr>
              <p:grpSpPr bwMode="auto">
                <a:xfrm>
                  <a:off x="4739" y="1327"/>
                  <a:ext cx="582" cy="139"/>
                  <a:chOff x="614" y="2568"/>
                  <a:chExt cx="725" cy="139"/>
                </a:xfrm>
              </p:grpSpPr>
              <p:sp>
                <p:nvSpPr>
                  <p:cNvPr id="346"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47"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335"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36"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37"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38"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39"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340"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41"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42"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43"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344"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45"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319" name="Group 590"/>
              <p:cNvGrpSpPr/>
              <p:nvPr/>
            </p:nvGrpSpPr>
            <p:grpSpPr bwMode="auto">
              <a:xfrm flipH="1">
                <a:off x="1136203" y="4624876"/>
                <a:ext cx="948819" cy="909191"/>
                <a:chOff x="2839" y="3501"/>
                <a:chExt cx="755" cy="803"/>
              </a:xfrm>
            </p:grpSpPr>
            <p:pic>
              <p:nvPicPr>
                <p:cNvPr id="320"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321"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cxnSp>
          <p:nvCxnSpPr>
            <p:cNvPr id="206" name="Straight Connector 205"/>
            <p:cNvCxnSpPr>
              <a:cxnSpLocks/>
              <a:stCxn id="359" idx="0"/>
              <a:endCxn id="311" idx="1"/>
            </p:cNvCxnSpPr>
            <p:nvPr/>
          </p:nvCxnSpPr>
          <p:spPr bwMode="auto">
            <a:xfrm flipV="1">
              <a:off x="1780141" y="3353396"/>
              <a:ext cx="330234" cy="80615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p:cNvCxnSpPr>
              <a:cxnSpLocks/>
              <a:stCxn id="323" idx="0"/>
              <a:endCxn id="311" idx="3"/>
            </p:cNvCxnSpPr>
            <p:nvPr/>
          </p:nvCxnSpPr>
          <p:spPr bwMode="auto">
            <a:xfrm flipH="1" flipV="1">
              <a:off x="2872185" y="3353396"/>
              <a:ext cx="409165" cy="798899"/>
            </a:xfrm>
            <a:prstGeom prst="line">
              <a:avLst/>
            </a:prstGeom>
            <a:ln w="28575"/>
          </p:spPr>
          <p:style>
            <a:lnRef idx="1">
              <a:schemeClr val="accent4"/>
            </a:lnRef>
            <a:fillRef idx="0">
              <a:schemeClr val="accent4"/>
            </a:fillRef>
            <a:effectRef idx="0">
              <a:schemeClr val="accent4"/>
            </a:effectRef>
            <a:fontRef idx="minor">
              <a:schemeClr val="tx1"/>
            </a:fontRef>
          </p:style>
        </p:cxnSp>
        <p:grpSp>
          <p:nvGrpSpPr>
            <p:cNvPr id="208" name="Group 207"/>
            <p:cNvGrpSpPr/>
            <p:nvPr/>
          </p:nvGrpSpPr>
          <p:grpSpPr bwMode="auto">
            <a:xfrm>
              <a:off x="2110376" y="2795049"/>
              <a:ext cx="764558" cy="699261"/>
              <a:chOff x="3668110" y="2448910"/>
              <a:chExt cx="3794234" cy="2165130"/>
            </a:xfrm>
          </p:grpSpPr>
          <p:sp>
            <p:nvSpPr>
              <p:cNvPr id="311" name="Rectangle 310"/>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312"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nvGrpSpPr>
              <p:cNvPr id="313" name="Group 312"/>
              <p:cNvGrpSpPr/>
              <p:nvPr/>
            </p:nvGrpSpPr>
            <p:grpSpPr bwMode="auto">
              <a:xfrm>
                <a:off x="3941378" y="2603243"/>
                <a:ext cx="3202060" cy="1066110"/>
                <a:chOff x="7939341" y="3037317"/>
                <a:chExt cx="897649" cy="353919"/>
              </a:xfrm>
            </p:grpSpPr>
            <p:sp>
              <p:nvSpPr>
                <p:cNvPr id="314"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315"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316"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317"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grpSp>
        <p:sp>
          <p:nvSpPr>
            <p:cNvPr id="209" name="Rectangle 208"/>
            <p:cNvSpPr/>
            <p:nvPr/>
          </p:nvSpPr>
          <p:spPr bwMode="auto">
            <a:xfrm>
              <a:off x="708343" y="324866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Ethernet1/0/3</a:t>
              </a:r>
              <a:endParaRPr lang="en-US" sz="1600">
                <a:solidFill>
                  <a:schemeClr val="accent3"/>
                </a:solidFill>
              </a:endParaRPr>
            </a:p>
          </p:txBody>
        </p:sp>
        <p:sp>
          <p:nvSpPr>
            <p:cNvPr id="210" name="Rectangle 209"/>
            <p:cNvSpPr/>
            <p:nvPr/>
          </p:nvSpPr>
          <p:spPr bwMode="auto">
            <a:xfrm>
              <a:off x="2904030" y="3243074"/>
              <a:ext cx="1381789" cy="338554"/>
            </a:xfrm>
            <a:prstGeom prst="rect">
              <a:avLst/>
            </a:prstGeom>
            <a:grpFill/>
          </p:spPr>
          <p:txBody>
            <a:bodyPr wrap="none">
              <a:spAutoFit/>
            </a:bodyPr>
            <a:lstStyle/>
            <a:p>
              <a:pPr>
                <a:defRPr/>
              </a:pPr>
              <a:r>
                <a:rPr lang="en-US" sz="1600">
                  <a:solidFill>
                    <a:schemeClr val="accent4"/>
                  </a:solidFill>
                  <a:ea typeface="宋体"/>
                  <a:cs typeface="Courier New"/>
                </a:rPr>
                <a:t>Ethernet1/0/4</a:t>
              </a:r>
              <a:endParaRPr lang="en-US" sz="1600">
                <a:solidFill>
                  <a:schemeClr val="accent4"/>
                </a:solidFill>
              </a:endParaRPr>
            </a:p>
          </p:txBody>
        </p:sp>
        <p:sp>
          <p:nvSpPr>
            <p:cNvPr id="211" name="Rectangle 210"/>
            <p:cNvSpPr/>
            <p:nvPr/>
          </p:nvSpPr>
          <p:spPr bwMode="auto">
            <a:xfrm>
              <a:off x="1571505" y="4879752"/>
              <a:ext cx="482824" cy="338554"/>
            </a:xfrm>
            <a:prstGeom prst="rect">
              <a:avLst/>
            </a:prstGeom>
            <a:grpFill/>
          </p:spPr>
          <p:txBody>
            <a:bodyPr wrap="none">
              <a:spAutoFit/>
            </a:bodyPr>
            <a:lstStyle/>
            <a:p>
              <a:pPr>
                <a:defRPr/>
              </a:pPr>
              <a:r>
                <a:rPr lang="en-US" sz="1600">
                  <a:ea typeface="宋体"/>
                  <a:cs typeface="Courier New"/>
                </a:rPr>
                <a:t>pc1</a:t>
              </a:r>
              <a:endParaRPr lang="en-US" sz="1600"/>
            </a:p>
          </p:txBody>
        </p:sp>
        <p:sp>
          <p:nvSpPr>
            <p:cNvPr id="212" name="Rectangle 211"/>
            <p:cNvSpPr/>
            <p:nvPr/>
          </p:nvSpPr>
          <p:spPr bwMode="auto">
            <a:xfrm>
              <a:off x="3138321" y="4892898"/>
              <a:ext cx="482824" cy="338554"/>
            </a:xfrm>
            <a:prstGeom prst="rect">
              <a:avLst/>
            </a:prstGeom>
            <a:grpFill/>
          </p:spPr>
          <p:txBody>
            <a:bodyPr wrap="none">
              <a:spAutoFit/>
            </a:bodyPr>
            <a:lstStyle/>
            <a:p>
              <a:pPr>
                <a:defRPr/>
              </a:pPr>
              <a:r>
                <a:rPr lang="en-US" sz="1600">
                  <a:ea typeface="宋体"/>
                  <a:cs typeface="Courier New"/>
                </a:rPr>
                <a:t>pc2</a:t>
              </a:r>
              <a:endParaRPr lang="en-US" sz="1600"/>
            </a:p>
          </p:txBody>
        </p:sp>
        <p:sp>
          <p:nvSpPr>
            <p:cNvPr id="213" name="Rectangle 212"/>
            <p:cNvSpPr/>
            <p:nvPr/>
          </p:nvSpPr>
          <p:spPr bwMode="auto">
            <a:xfrm>
              <a:off x="1128224" y="5091291"/>
              <a:ext cx="1563247" cy="338554"/>
            </a:xfrm>
            <a:prstGeom prst="rect">
              <a:avLst/>
            </a:prstGeom>
            <a:grpFill/>
          </p:spPr>
          <p:txBody>
            <a:bodyPr wrap="none">
              <a:spAutoFit/>
            </a:bodyPr>
            <a:lstStyle/>
            <a:p>
              <a:pPr>
                <a:defRPr/>
              </a:pPr>
              <a:r>
                <a:rPr lang="en-US" sz="1600"/>
                <a:t>192.168.1.11/24</a:t>
              </a:r>
            </a:p>
          </p:txBody>
        </p:sp>
        <p:sp>
          <p:nvSpPr>
            <p:cNvPr id="214" name="Rectangle 213"/>
            <p:cNvSpPr/>
            <p:nvPr/>
          </p:nvSpPr>
          <p:spPr bwMode="auto">
            <a:xfrm>
              <a:off x="2695041" y="5086410"/>
              <a:ext cx="1563247" cy="338554"/>
            </a:xfrm>
            <a:prstGeom prst="rect">
              <a:avLst/>
            </a:prstGeom>
            <a:grpFill/>
          </p:spPr>
          <p:txBody>
            <a:bodyPr wrap="none">
              <a:spAutoFit/>
            </a:bodyPr>
            <a:lstStyle/>
            <a:p>
              <a:pPr>
                <a:defRPr/>
              </a:pPr>
              <a:r>
                <a:rPr lang="en-US" sz="1600"/>
                <a:t>192.168.1.12/24</a:t>
              </a:r>
            </a:p>
          </p:txBody>
        </p:sp>
        <p:grpSp>
          <p:nvGrpSpPr>
            <p:cNvPr id="215" name="Group 214"/>
            <p:cNvGrpSpPr/>
            <p:nvPr/>
          </p:nvGrpSpPr>
          <p:grpSpPr bwMode="auto">
            <a:xfrm>
              <a:off x="4809883" y="4159546"/>
              <a:ext cx="934856" cy="725206"/>
              <a:chOff x="1136203" y="4520619"/>
              <a:chExt cx="1419428" cy="1013448"/>
            </a:xfrm>
          </p:grpSpPr>
          <p:grpSp>
            <p:nvGrpSpPr>
              <p:cNvPr id="275" name="Group 950"/>
              <p:cNvGrpSpPr/>
              <p:nvPr/>
            </p:nvGrpSpPr>
            <p:grpSpPr bwMode="auto">
              <a:xfrm>
                <a:off x="2039815" y="4520619"/>
                <a:ext cx="515816" cy="969179"/>
                <a:chOff x="4140" y="429"/>
                <a:chExt cx="1425" cy="2396"/>
              </a:xfrm>
            </p:grpSpPr>
            <p:sp>
              <p:nvSpPr>
                <p:cNvPr id="279"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80"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81"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82"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83"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284" name="Group 956"/>
                <p:cNvGrpSpPr/>
                <p:nvPr/>
              </p:nvGrpSpPr>
              <p:grpSpPr bwMode="auto">
                <a:xfrm>
                  <a:off x="4749" y="668"/>
                  <a:ext cx="581" cy="145"/>
                  <a:chOff x="614" y="2568"/>
                  <a:chExt cx="725" cy="139"/>
                </a:xfrm>
              </p:grpSpPr>
              <p:sp>
                <p:nvSpPr>
                  <p:cNvPr id="309"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10"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85"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286" name="Group 960"/>
                <p:cNvGrpSpPr/>
                <p:nvPr/>
              </p:nvGrpSpPr>
              <p:grpSpPr bwMode="auto">
                <a:xfrm>
                  <a:off x="4747" y="994"/>
                  <a:ext cx="581" cy="134"/>
                  <a:chOff x="614" y="2568"/>
                  <a:chExt cx="725" cy="139"/>
                </a:xfrm>
              </p:grpSpPr>
              <p:sp>
                <p:nvSpPr>
                  <p:cNvPr id="307"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08"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87"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88"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289" name="Group 965"/>
                <p:cNvGrpSpPr/>
                <p:nvPr/>
              </p:nvGrpSpPr>
              <p:grpSpPr bwMode="auto">
                <a:xfrm>
                  <a:off x="4735" y="1627"/>
                  <a:ext cx="582" cy="151"/>
                  <a:chOff x="614" y="2568"/>
                  <a:chExt cx="725" cy="139"/>
                </a:xfrm>
              </p:grpSpPr>
              <p:sp>
                <p:nvSpPr>
                  <p:cNvPr id="305"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06"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90"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291" name="Group 969"/>
                <p:cNvGrpSpPr/>
                <p:nvPr/>
              </p:nvGrpSpPr>
              <p:grpSpPr bwMode="auto">
                <a:xfrm>
                  <a:off x="4739" y="1327"/>
                  <a:ext cx="582" cy="139"/>
                  <a:chOff x="614" y="2568"/>
                  <a:chExt cx="725" cy="139"/>
                </a:xfrm>
              </p:grpSpPr>
              <p:sp>
                <p:nvSpPr>
                  <p:cNvPr id="303"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04"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92"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93"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94"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95"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96"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97"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98"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99"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00"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301"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302"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276" name="Group 590"/>
              <p:cNvGrpSpPr/>
              <p:nvPr/>
            </p:nvGrpSpPr>
            <p:grpSpPr bwMode="auto">
              <a:xfrm flipH="1">
                <a:off x="1136203" y="4624876"/>
                <a:ext cx="948819" cy="909191"/>
                <a:chOff x="2839" y="3501"/>
                <a:chExt cx="755" cy="803"/>
              </a:xfrm>
            </p:grpSpPr>
            <p:pic>
              <p:nvPicPr>
                <p:cNvPr id="277"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278"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grpSp>
          <p:nvGrpSpPr>
            <p:cNvPr id="216" name="Group 215"/>
            <p:cNvGrpSpPr/>
            <p:nvPr/>
          </p:nvGrpSpPr>
          <p:grpSpPr bwMode="auto">
            <a:xfrm>
              <a:off x="6311091" y="4152295"/>
              <a:ext cx="934856" cy="732457"/>
              <a:chOff x="1136203" y="4520619"/>
              <a:chExt cx="1419428" cy="1013448"/>
            </a:xfrm>
          </p:grpSpPr>
          <p:grpSp>
            <p:nvGrpSpPr>
              <p:cNvPr id="239" name="Group 950"/>
              <p:cNvGrpSpPr/>
              <p:nvPr/>
            </p:nvGrpSpPr>
            <p:grpSpPr bwMode="auto">
              <a:xfrm>
                <a:off x="2039815" y="4520619"/>
                <a:ext cx="515816" cy="969179"/>
                <a:chOff x="4140" y="429"/>
                <a:chExt cx="1425" cy="2396"/>
              </a:xfrm>
            </p:grpSpPr>
            <p:sp>
              <p:nvSpPr>
                <p:cNvPr id="243" name="Freeform 951"/>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extrusionOk="0">
                      <a:moveTo>
                        <a:pt x="63" y="0"/>
                      </a:moveTo>
                      <a:lnTo>
                        <a:pt x="354" y="339"/>
                      </a:lnTo>
                      <a:lnTo>
                        <a:pt x="346" y="2624"/>
                      </a:lnTo>
                      <a:lnTo>
                        <a:pt x="0" y="2742"/>
                      </a:lnTo>
                      <a:lnTo>
                        <a:pt x="63" y="0"/>
                      </a:lnTo>
                      <a:close/>
                    </a:path>
                  </a:pathLst>
                </a:custGeom>
                <a:gradFill>
                  <a:gsLst>
                    <a:gs pos="0">
                      <a:srgbClr val="DDDDDD"/>
                    </a:gs>
                    <a:gs pos="100000">
                      <a:srgbClr val="333333"/>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44" name="Rectangle 952"/>
                <p:cNvSpPr>
                  <a:spLocks noChangeArrowheads="1"/>
                </p:cNvSpPr>
                <p:nvPr/>
              </p:nvSpPr>
              <p:spPr bwMode="auto">
                <a:xfrm>
                  <a:off x="4210" y="429"/>
                  <a:ext cx="1046" cy="2285"/>
                </a:xfrm>
                <a:prstGeom prst="rect">
                  <a:avLst/>
                </a:prstGeom>
                <a:gradFill>
                  <a:gsLst>
                    <a:gs pos="0">
                      <a:srgbClr val="292929"/>
                    </a:gs>
                    <a:gs pos="100000">
                      <a:srgbClr val="808080"/>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45" name="Freeform 953"/>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extrusionOk="0">
                      <a:moveTo>
                        <a:pt x="7" y="0"/>
                      </a:moveTo>
                      <a:cubicBezTo>
                        <a:pt x="7" y="0"/>
                        <a:pt x="57" y="28"/>
                        <a:pt x="211" y="218"/>
                      </a:cubicBezTo>
                      <a:cubicBezTo>
                        <a:pt x="0" y="1229"/>
                        <a:pt x="41" y="2537"/>
                        <a:pt x="7" y="2501"/>
                      </a:cubicBezTo>
                      <a:lnTo>
                        <a:pt x="7" y="0"/>
                      </a:lnTo>
                      <a:close/>
                    </a:path>
                  </a:pathLst>
                </a:custGeom>
                <a:gradFill>
                  <a:gsLst>
                    <a:gs pos="0">
                      <a:srgbClr val="808080"/>
                    </a:gs>
                    <a:gs pos="100000">
                      <a:srgbClr val="F8F8F8"/>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46" name="Freeform 954"/>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47" name="Rectangle 955"/>
                <p:cNvSpPr>
                  <a:spLocks noChangeArrowheads="1"/>
                </p:cNvSpPr>
                <p:nvPr/>
              </p:nvSpPr>
              <p:spPr bwMode="auto">
                <a:xfrm>
                  <a:off x="4210" y="690"/>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248" name="Group 956"/>
                <p:cNvGrpSpPr/>
                <p:nvPr/>
              </p:nvGrpSpPr>
              <p:grpSpPr bwMode="auto">
                <a:xfrm>
                  <a:off x="4749" y="668"/>
                  <a:ext cx="581" cy="145"/>
                  <a:chOff x="614" y="2568"/>
                  <a:chExt cx="725" cy="139"/>
                </a:xfrm>
              </p:grpSpPr>
              <p:sp>
                <p:nvSpPr>
                  <p:cNvPr id="273" name="AutoShape 957"/>
                  <p:cNvSpPr>
                    <a:spLocks noChangeArrowheads="1"/>
                  </p:cNvSpPr>
                  <p:nvPr/>
                </p:nvSpPr>
                <p:spPr bwMode="auto">
                  <a:xfrm>
                    <a:off x="613" y="2566"/>
                    <a:ext cx="721" cy="14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74" name="AutoShape 958"/>
                  <p:cNvSpPr>
                    <a:spLocks noChangeArrowheads="1"/>
                  </p:cNvSpPr>
                  <p:nvPr/>
                </p:nvSpPr>
                <p:spPr bwMode="auto">
                  <a:xfrm>
                    <a:off x="625" y="2581"/>
                    <a:ext cx="696" cy="114"/>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49" name="Rectangle 959"/>
                <p:cNvSpPr>
                  <a:spLocks noChangeArrowheads="1"/>
                </p:cNvSpPr>
                <p:nvPr/>
              </p:nvSpPr>
              <p:spPr bwMode="auto">
                <a:xfrm>
                  <a:off x="4220" y="1022"/>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250" name="Group 960"/>
                <p:cNvGrpSpPr/>
                <p:nvPr/>
              </p:nvGrpSpPr>
              <p:grpSpPr bwMode="auto">
                <a:xfrm>
                  <a:off x="4747" y="994"/>
                  <a:ext cx="581" cy="134"/>
                  <a:chOff x="614" y="2568"/>
                  <a:chExt cx="725" cy="139"/>
                </a:xfrm>
              </p:grpSpPr>
              <p:sp>
                <p:nvSpPr>
                  <p:cNvPr id="271" name="AutoShape 961"/>
                  <p:cNvSpPr>
                    <a:spLocks noChangeArrowheads="1"/>
                  </p:cNvSpPr>
                  <p:nvPr/>
                </p:nvSpPr>
                <p:spPr bwMode="auto">
                  <a:xfrm>
                    <a:off x="615" y="2564"/>
                    <a:ext cx="721" cy="139"/>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72" name="AutoShape 962"/>
                  <p:cNvSpPr>
                    <a:spLocks noChangeArrowheads="1"/>
                  </p:cNvSpPr>
                  <p:nvPr/>
                </p:nvSpPr>
                <p:spPr bwMode="auto">
                  <a:xfrm>
                    <a:off x="628" y="2581"/>
                    <a:ext cx="696" cy="106"/>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51" name="Rectangle 963"/>
                <p:cNvSpPr>
                  <a:spLocks noChangeArrowheads="1"/>
                </p:cNvSpPr>
                <p:nvPr/>
              </p:nvSpPr>
              <p:spPr bwMode="auto">
                <a:xfrm>
                  <a:off x="4220" y="1354"/>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52" name="Rectangle 964"/>
                <p:cNvSpPr>
                  <a:spLocks noChangeArrowheads="1"/>
                </p:cNvSpPr>
                <p:nvPr/>
              </p:nvSpPr>
              <p:spPr bwMode="auto">
                <a:xfrm>
                  <a:off x="4230" y="1655"/>
                  <a:ext cx="598" cy="47"/>
                </a:xfrm>
                <a:prstGeom prst="rect">
                  <a:avLst/>
                </a:prstGeom>
                <a:solidFill>
                  <a:sysClr val="windowText" lastClr="000000"/>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nvGrpSpPr>
                <p:cNvPr id="253" name="Group 965"/>
                <p:cNvGrpSpPr/>
                <p:nvPr/>
              </p:nvGrpSpPr>
              <p:grpSpPr bwMode="auto">
                <a:xfrm>
                  <a:off x="4735" y="1627"/>
                  <a:ext cx="582" cy="151"/>
                  <a:chOff x="614" y="2568"/>
                  <a:chExt cx="725" cy="139"/>
                </a:xfrm>
              </p:grpSpPr>
              <p:sp>
                <p:nvSpPr>
                  <p:cNvPr id="269" name="AutoShape 966"/>
                  <p:cNvSpPr>
                    <a:spLocks noChangeArrowheads="1"/>
                  </p:cNvSpPr>
                  <p:nvPr/>
                </p:nvSpPr>
                <p:spPr bwMode="auto">
                  <a:xfrm>
                    <a:off x="618" y="2586"/>
                    <a:ext cx="720" cy="12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70" name="AutoShape 967"/>
                  <p:cNvSpPr>
                    <a:spLocks noChangeArrowheads="1"/>
                  </p:cNvSpPr>
                  <p:nvPr/>
                </p:nvSpPr>
                <p:spPr bwMode="auto">
                  <a:xfrm>
                    <a:off x="630" y="2586"/>
                    <a:ext cx="695" cy="109"/>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54" name="Freeform 968"/>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extrusionOk="0">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grpSp>
              <p:nvGrpSpPr>
                <p:cNvPr id="255" name="Group 969"/>
                <p:cNvGrpSpPr/>
                <p:nvPr/>
              </p:nvGrpSpPr>
              <p:grpSpPr bwMode="auto">
                <a:xfrm>
                  <a:off x="4739" y="1327"/>
                  <a:ext cx="582" cy="139"/>
                  <a:chOff x="614" y="2568"/>
                  <a:chExt cx="725" cy="139"/>
                </a:xfrm>
              </p:grpSpPr>
              <p:sp>
                <p:nvSpPr>
                  <p:cNvPr id="267" name="AutoShape 970"/>
                  <p:cNvSpPr>
                    <a:spLocks noChangeArrowheads="1"/>
                  </p:cNvSpPr>
                  <p:nvPr/>
                </p:nvSpPr>
                <p:spPr bwMode="auto">
                  <a:xfrm>
                    <a:off x="613" y="2571"/>
                    <a:ext cx="731" cy="134"/>
                  </a:xfrm>
                  <a:prstGeom prst="roundRect">
                    <a:avLst>
                      <a:gd name="adj" fmla="val 50000"/>
                    </a:avLst>
                  </a:prstGeom>
                  <a:solidFill>
                    <a:sysClr val="windowText" lastClr="00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68" name="AutoShape 971"/>
                  <p:cNvSpPr>
                    <a:spLocks noChangeArrowheads="1"/>
                  </p:cNvSpPr>
                  <p:nvPr/>
                </p:nvSpPr>
                <p:spPr bwMode="auto">
                  <a:xfrm>
                    <a:off x="625" y="2587"/>
                    <a:ext cx="720" cy="103"/>
                  </a:xfrm>
                  <a:prstGeom prst="roundRect">
                    <a:avLst>
                      <a:gd name="adj" fmla="val 50000"/>
                    </a:avLst>
                  </a:prstGeom>
                  <a:gradFill>
                    <a:gsLst>
                      <a:gs pos="0">
                        <a:srgbClr val="0000FF"/>
                      </a:gs>
                      <a:gs pos="50000">
                        <a:srgbClr val="99CCFF"/>
                      </a:gs>
                      <a:gs pos="100000">
                        <a:srgbClr val="0000FF"/>
                      </a:gs>
                    </a:gsLst>
                    <a:lin ang="0" scaled="1"/>
                  </a:gra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sp>
              <p:nvSpPr>
                <p:cNvPr id="256" name="Rectangle 972"/>
                <p:cNvSpPr>
                  <a:spLocks noChangeArrowheads="1"/>
                </p:cNvSpPr>
                <p:nvPr/>
              </p:nvSpPr>
              <p:spPr bwMode="auto">
                <a:xfrm>
                  <a:off x="5246" y="429"/>
                  <a:ext cx="70" cy="2285"/>
                </a:xfrm>
                <a:prstGeom prst="rect">
                  <a:avLst/>
                </a:prstGeom>
                <a:gradFill>
                  <a:gsLst>
                    <a:gs pos="0">
                      <a:srgbClr val="333333"/>
                    </a:gs>
                    <a:gs pos="50000">
                      <a:srgbClr val="DDDDDD"/>
                    </a:gs>
                    <a:gs pos="100000">
                      <a:srgbClr val="333333"/>
                    </a:gs>
                  </a:gsLst>
                  <a:lin ang="0" scaled="1"/>
                </a:gra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57" name="Freeform 973"/>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extrusionOk="0">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58" name="Freeform 974"/>
                <p:cNvSpPr/>
                <p:nvPr/>
              </p:nvSpPr>
              <p:spPr bwMode="auto">
                <a:xfrm>
                  <a:off x="5314"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extrusionOk="0">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a:gsLst>
                    <a:gs pos="0">
                      <a:srgbClr val="292929"/>
                    </a:gs>
                    <a:gs pos="100000">
                      <a:srgbClr val="808080"/>
                    </a:gs>
                  </a:gsLst>
                  <a:lin ang="0" scaled="1"/>
                </a:gra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59" name="Oval 975"/>
                <p:cNvSpPr>
                  <a:spLocks noChangeArrowheads="1"/>
                </p:cNvSpPr>
                <p:nvPr/>
              </p:nvSpPr>
              <p:spPr bwMode="auto">
                <a:xfrm>
                  <a:off x="5515" y="2611"/>
                  <a:ext cx="50" cy="95"/>
                </a:xfrm>
                <a:prstGeom prst="ellipse">
                  <a:avLst/>
                </a:prstGeom>
                <a:solidFill>
                  <a:srgbClr val="3333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60" name="Freeform 976"/>
                <p:cNvSpPr/>
                <p:nvPr/>
              </p:nvSpPr>
              <p:spPr bwMode="auto">
                <a:xfrm>
                  <a:off x="5302" y="2614"/>
                  <a:ext cx="244"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extrusionOk="0">
                      <a:moveTo>
                        <a:pt x="0" y="106"/>
                      </a:moveTo>
                      <a:lnTo>
                        <a:pt x="2" y="240"/>
                      </a:lnTo>
                      <a:lnTo>
                        <a:pt x="306" y="110"/>
                      </a:lnTo>
                      <a:lnTo>
                        <a:pt x="300" y="0"/>
                      </a:lnTo>
                      <a:lnTo>
                        <a:pt x="0" y="106"/>
                      </a:lnTo>
                      <a:close/>
                    </a:path>
                  </a:pathLst>
                </a:custGeom>
                <a:solidFill>
                  <a:srgbClr val="333333"/>
                </a:solidFill>
                <a:ln>
                  <a:noFill/>
                </a:ln>
              </p:spPr>
              <p:txBody>
                <a:body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endParaRPr>
                </a:p>
              </p:txBody>
            </p:sp>
            <p:sp>
              <p:nvSpPr>
                <p:cNvPr id="261" name="AutoShape 977"/>
                <p:cNvSpPr>
                  <a:spLocks noChangeArrowheads="1"/>
                </p:cNvSpPr>
                <p:nvPr/>
              </p:nvSpPr>
              <p:spPr bwMode="auto">
                <a:xfrm>
                  <a:off x="4140" y="2675"/>
                  <a:ext cx="1196" cy="150"/>
                </a:xfrm>
                <a:prstGeom prst="roundRect">
                  <a:avLst>
                    <a:gd name="adj" fmla="val 50000"/>
                  </a:avLst>
                </a:prstGeom>
                <a:solidFill>
                  <a:srgbClr val="DDDDDD"/>
                </a:soli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62" name="AutoShape 978"/>
                <p:cNvSpPr>
                  <a:spLocks noChangeArrowheads="1"/>
                </p:cNvSpPr>
                <p:nvPr/>
              </p:nvSpPr>
              <p:spPr bwMode="auto">
                <a:xfrm>
                  <a:off x="4210" y="2714"/>
                  <a:ext cx="1066" cy="79"/>
                </a:xfrm>
                <a:prstGeom prst="roundRect">
                  <a:avLst>
                    <a:gd name="adj" fmla="val 50000"/>
                  </a:avLst>
                </a:prstGeom>
                <a:gradFill>
                  <a:gsLst>
                    <a:gs pos="0">
                      <a:srgbClr val="44546A"/>
                    </a:gs>
                    <a:gs pos="100000">
                      <a:srgbClr val="E7E6E6"/>
                    </a:gs>
                  </a:gsLst>
                  <a:lin ang="0" scaled="1"/>
                </a:gradFill>
                <a:ln w="9525">
                  <a:solidFill>
                    <a:sysClr val="windowText" lastClr="000000"/>
                  </a:solidFill>
                  <a:round/>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63" name="Oval 979"/>
                <p:cNvSpPr>
                  <a:spLocks noChangeArrowheads="1"/>
                </p:cNvSpPr>
                <p:nvPr/>
              </p:nvSpPr>
              <p:spPr bwMode="auto">
                <a:xfrm>
                  <a:off x="4309"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64" name="Oval 980"/>
                <p:cNvSpPr>
                  <a:spLocks noChangeArrowheads="1"/>
                </p:cNvSpPr>
                <p:nvPr/>
              </p:nvSpPr>
              <p:spPr bwMode="auto">
                <a:xfrm>
                  <a:off x="4489" y="2382"/>
                  <a:ext cx="159" cy="142"/>
                </a:xfrm>
                <a:prstGeom prst="ellipse">
                  <a:avLst/>
                </a:prstGeom>
                <a:solidFill>
                  <a:srgbClr val="FF0000"/>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algn="ctr" defTabSz="914400">
                    <a:lnSpc>
                      <a:spcPct val="100000"/>
                    </a:lnSpc>
                    <a:spcBef>
                      <a:spcPts val="0"/>
                    </a:spcBef>
                    <a:spcAft>
                      <a:spcPts val="0"/>
                    </a:spcAft>
                    <a:buClrTx/>
                    <a:buSzTx/>
                    <a:buFontTx/>
                    <a:buNone/>
                    <a:defRPr/>
                  </a:pPr>
                  <a:endParaRPr lang="en-US" sz="1600" b="0" i="0" u="sng" strike="noStrike" cap="none" spc="0">
                    <a:ln>
                      <a:noFill/>
                    </a:ln>
                    <a:solidFill>
                      <a:srgbClr val="FF0000"/>
                    </a:solidFill>
                    <a:latin typeface="+mn-lt"/>
                    <a:ea typeface="MS PGothic"/>
                    <a:cs typeface="Arial"/>
                  </a:endParaRPr>
                </a:p>
              </p:txBody>
            </p:sp>
            <p:sp>
              <p:nvSpPr>
                <p:cNvPr id="265" name="Oval 981"/>
                <p:cNvSpPr>
                  <a:spLocks noChangeArrowheads="1"/>
                </p:cNvSpPr>
                <p:nvPr/>
              </p:nvSpPr>
              <p:spPr bwMode="auto">
                <a:xfrm>
                  <a:off x="4658" y="2382"/>
                  <a:ext cx="159" cy="142"/>
                </a:xfrm>
                <a:prstGeom prst="ellipse">
                  <a:avLst/>
                </a:prstGeom>
                <a:solidFill>
                  <a:srgbClr val="33CC33"/>
                </a:solidFill>
                <a:ln>
                  <a:noFill/>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sp>
              <p:nvSpPr>
                <p:cNvPr id="266" name="Rectangle 982"/>
                <p:cNvSpPr>
                  <a:spLocks noChangeArrowheads="1"/>
                </p:cNvSpPr>
                <p:nvPr/>
              </p:nvSpPr>
              <p:spPr bwMode="auto">
                <a:xfrm>
                  <a:off x="5066" y="1837"/>
                  <a:ext cx="80" cy="759"/>
                </a:xfrm>
                <a:prstGeom prst="rect">
                  <a:avLst/>
                </a:prstGeom>
                <a:solidFill>
                  <a:srgbClr val="292929"/>
                </a:solidFill>
                <a:ln w="9525">
                  <a:solidFill>
                    <a:sysClr val="windowText" lastClr="000000"/>
                  </a:solidFill>
                  <a:miter lim="800000"/>
                  <a:headEnd/>
                  <a:tailEnd/>
                </a:ln>
              </p:spPr>
              <p:txBody>
                <a:bodyPr wrap="none" anchor="ctr"/>
                <a:lstStyle>
                  <a:lvl1pPr>
                    <a:lnSpc>
                      <a:spcPct val="85000"/>
                    </a:lnSpc>
                    <a:spcBef>
                      <a:spcPts val="1675"/>
                    </a:spcBef>
                    <a:buClr>
                      <a:srgbClr val="000090"/>
                    </a:buClr>
                    <a:buSzPct val="100000"/>
                    <a:buFont typeface="Wingdings"/>
                    <a:buChar char="§"/>
                    <a:defRPr sz="2800">
                      <a:solidFill>
                        <a:schemeClr val="tx1"/>
                      </a:solidFill>
                      <a:latin typeface="Gill Sans MT"/>
                      <a:ea typeface="MS PGothic"/>
                      <a:cs typeface="Arial"/>
                    </a:defRPr>
                  </a:lvl1pPr>
                  <a:lvl2pPr marL="742950" indent="-285750">
                    <a:lnSpc>
                      <a:spcPct val="85000"/>
                    </a:lnSpc>
                    <a:spcBef>
                      <a:spcPts val="1438"/>
                    </a:spcBef>
                    <a:buClr>
                      <a:srgbClr val="000090"/>
                    </a:buClr>
                    <a:buFont typeface="Wingdings"/>
                    <a:buChar char="§"/>
                    <a:defRPr sz="2400">
                      <a:solidFill>
                        <a:schemeClr val="tx1"/>
                      </a:solidFill>
                      <a:latin typeface="Gill Sans MT"/>
                      <a:ea typeface="Arial"/>
                      <a:cs typeface="Arial"/>
                    </a:defRPr>
                  </a:lvl2pPr>
                  <a:lvl3pPr marL="1143000" indent="-228600">
                    <a:spcBef>
                      <a:spcPts val="0"/>
                    </a:spcBef>
                    <a:buClr>
                      <a:srgbClr val="000090"/>
                    </a:buClr>
                    <a:buFont typeface="Wingdings"/>
                    <a:buChar char="§"/>
                    <a:defRPr sz="2000">
                      <a:solidFill>
                        <a:schemeClr val="tx1"/>
                      </a:solidFill>
                      <a:latin typeface="Comic Sans MS"/>
                      <a:ea typeface="Arial"/>
                      <a:cs typeface="Arial"/>
                    </a:defRPr>
                  </a:lvl3pPr>
                  <a:lvl4pPr marL="1600200" indent="-228600">
                    <a:spcBef>
                      <a:spcPts val="0"/>
                    </a:spcBef>
                    <a:buClr>
                      <a:srgbClr val="000090"/>
                    </a:buClr>
                    <a:buFont typeface="Wingdings"/>
                    <a:buChar char="§"/>
                    <a:defRPr>
                      <a:solidFill>
                        <a:schemeClr val="tx1"/>
                      </a:solidFill>
                      <a:latin typeface="Comic Sans MS"/>
                      <a:ea typeface="Comic Sans MS"/>
                      <a:cs typeface="Arial"/>
                    </a:defRPr>
                  </a:lvl4pPr>
                  <a:lvl5pPr marL="2057400" indent="-228600">
                    <a:spcBef>
                      <a:spcPts val="0"/>
                    </a:spcBef>
                    <a:buClr>
                      <a:srgbClr val="000090"/>
                    </a:buClr>
                    <a:buFont typeface="Wingdings"/>
                    <a:buChar char="§"/>
                    <a:defRPr sz="1600">
                      <a:solidFill>
                        <a:schemeClr val="tx1"/>
                      </a:solidFill>
                      <a:latin typeface="Comic Sans MS"/>
                      <a:ea typeface="Comic Sans MS"/>
                      <a:cs typeface="Arial"/>
                    </a:defRPr>
                  </a:lvl5pPr>
                  <a:lvl6pPr marL="25146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6pPr>
                  <a:lvl7pPr marL="29718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7pPr>
                  <a:lvl8pPr marL="34290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8pPr>
                  <a:lvl9pPr marL="3886200" indent="-228600">
                    <a:spcBef>
                      <a:spcPts val="0"/>
                    </a:spcBef>
                    <a:spcAft>
                      <a:spcPts val="0"/>
                    </a:spcAft>
                    <a:buClr>
                      <a:srgbClr val="000090"/>
                    </a:buClr>
                    <a:buFont typeface="Wingdings"/>
                    <a:buChar char="§"/>
                    <a:defRPr sz="1600">
                      <a:solidFill>
                        <a:schemeClr val="tx1"/>
                      </a:solidFill>
                      <a:latin typeface="Comic Sans MS"/>
                      <a:ea typeface="Comic Sans MS"/>
                      <a:cs typeface="Arial"/>
                    </a:defRPr>
                  </a:lvl9pPr>
                </a:lstStyle>
                <a:p>
                  <a:pPr marL="0" marR="0" lvl="0" indent="0" defTabSz="914400">
                    <a:lnSpc>
                      <a:spcPct val="100000"/>
                    </a:lnSpc>
                    <a:spcBef>
                      <a:spcPts val="0"/>
                    </a:spcBef>
                    <a:spcAft>
                      <a:spcPts val="0"/>
                    </a:spcAft>
                    <a:buClrTx/>
                    <a:buSzTx/>
                    <a:buFontTx/>
                    <a:buNone/>
                    <a:defRPr/>
                  </a:pPr>
                  <a:endParaRPr lang="en-US" sz="1600" b="0" i="0" u="sng" strike="noStrike" cap="none" spc="0">
                    <a:ln>
                      <a:noFill/>
                    </a:ln>
                    <a:solidFill>
                      <a:prstClr val="black"/>
                    </a:solidFill>
                    <a:latin typeface="+mn-lt"/>
                    <a:ea typeface="MS PGothic"/>
                    <a:cs typeface="Arial"/>
                  </a:endParaRPr>
                </a:p>
              </p:txBody>
            </p:sp>
          </p:grpSp>
          <p:grpSp>
            <p:nvGrpSpPr>
              <p:cNvPr id="240" name="Group 590"/>
              <p:cNvGrpSpPr/>
              <p:nvPr/>
            </p:nvGrpSpPr>
            <p:grpSpPr bwMode="auto">
              <a:xfrm flipH="1">
                <a:off x="1136203" y="4624876"/>
                <a:ext cx="948819" cy="909191"/>
                <a:chOff x="2839" y="3501"/>
                <a:chExt cx="755" cy="803"/>
              </a:xfrm>
            </p:grpSpPr>
            <p:pic>
              <p:nvPicPr>
                <p:cNvPr id="241" name="Picture 591" descr="desktop_computer_stylized_medium"/>
                <p:cNvPicPr>
                  <a:picLocks noChangeAspect="1" noChangeArrowheads="1"/>
                </p:cNvPicPr>
                <p:nvPr/>
              </p:nvPicPr>
              <p:blipFill>
                <a:blip r:embed="rId2"/>
                <a:stretch/>
              </p:blipFill>
              <p:spPr bwMode="auto">
                <a:xfrm>
                  <a:off x="2839" y="3501"/>
                  <a:ext cx="755" cy="803"/>
                </a:xfrm>
                <a:prstGeom prst="rect">
                  <a:avLst/>
                </a:prstGeom>
                <a:noFill/>
                <a:ln>
                  <a:noFill/>
                </a:ln>
              </p:spPr>
            </p:pic>
            <p:sp>
              <p:nvSpPr>
                <p:cNvPr id="242" name="Freeform 592"/>
                <p:cNvSpPr/>
                <p:nvPr/>
              </p:nvSpPr>
              <p:spPr bwMode="auto">
                <a:xfrm>
                  <a:off x="2916" y="3578"/>
                  <a:ext cx="355"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extrusionOk="0">
                      <a:moveTo>
                        <a:pt x="0" y="0"/>
                      </a:moveTo>
                      <a:lnTo>
                        <a:pt x="300" y="14"/>
                      </a:lnTo>
                      <a:lnTo>
                        <a:pt x="356" y="294"/>
                      </a:lnTo>
                      <a:lnTo>
                        <a:pt x="78" y="368"/>
                      </a:lnTo>
                      <a:lnTo>
                        <a:pt x="0" y="0"/>
                      </a:lnTo>
                      <a:close/>
                    </a:path>
                  </a:pathLst>
                </a:custGeom>
                <a:gradFill>
                  <a:gsLst>
                    <a:gs pos="0">
                      <a:srgbClr val="000099"/>
                    </a:gs>
                    <a:gs pos="100000">
                      <a:schemeClr val="bg1"/>
                    </a:gs>
                  </a:gsLst>
                  <a:lin ang="2700000" scaled="1"/>
                </a:gradFill>
                <a:ln>
                  <a:noFill/>
                </a:ln>
              </p:spPr>
              <p:txBody>
                <a:bodyPr wrap="none"/>
                <a:lstStyle/>
                <a:p>
                  <a:pPr>
                    <a:defRPr/>
                  </a:pPr>
                  <a:endParaRPr lang="en-US" sz="1600" u="sng"/>
                </a:p>
              </p:txBody>
            </p:sp>
          </p:grpSp>
        </p:grpSp>
        <p:cxnSp>
          <p:nvCxnSpPr>
            <p:cNvPr id="217" name="Straight Connector 216"/>
            <p:cNvCxnSpPr>
              <a:cxnSpLocks/>
              <a:stCxn id="280" idx="0"/>
              <a:endCxn id="232" idx="1"/>
            </p:cNvCxnSpPr>
            <p:nvPr/>
          </p:nvCxnSpPr>
          <p:spPr bwMode="auto">
            <a:xfrm flipV="1">
              <a:off x="5546389" y="3353396"/>
              <a:ext cx="330234" cy="80615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a:cxnSpLocks/>
              <a:stCxn id="244" idx="0"/>
              <a:endCxn id="232" idx="3"/>
            </p:cNvCxnSpPr>
            <p:nvPr/>
          </p:nvCxnSpPr>
          <p:spPr bwMode="auto">
            <a:xfrm flipH="1" flipV="1">
              <a:off x="6638431" y="3353396"/>
              <a:ext cx="409165" cy="798899"/>
            </a:xfrm>
            <a:prstGeom prst="line">
              <a:avLst/>
            </a:prstGeom>
            <a:ln w="28575"/>
          </p:spPr>
          <p:style>
            <a:lnRef idx="1">
              <a:schemeClr val="accent4"/>
            </a:lnRef>
            <a:fillRef idx="0">
              <a:schemeClr val="accent4"/>
            </a:fillRef>
            <a:effectRef idx="0">
              <a:schemeClr val="accent4"/>
            </a:effectRef>
            <a:fontRef idx="minor">
              <a:schemeClr val="tx1"/>
            </a:fontRef>
          </p:style>
        </p:cxnSp>
        <p:grpSp>
          <p:nvGrpSpPr>
            <p:cNvPr id="219" name="Group 218"/>
            <p:cNvGrpSpPr/>
            <p:nvPr/>
          </p:nvGrpSpPr>
          <p:grpSpPr bwMode="auto">
            <a:xfrm>
              <a:off x="5876623" y="2795049"/>
              <a:ext cx="764558" cy="699261"/>
              <a:chOff x="3668110" y="2448910"/>
              <a:chExt cx="3794234" cy="2165130"/>
            </a:xfrm>
          </p:grpSpPr>
          <p:sp>
            <p:nvSpPr>
              <p:cNvPr id="232" name="Rectangle 231"/>
              <p:cNvSpPr/>
              <p:nvPr/>
            </p:nvSpPr>
            <p:spPr bwMode="auto">
              <a:xfrm>
                <a:off x="3668110" y="3741408"/>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33" name="Freeform 754"/>
              <p:cNvSpPr/>
              <p:nvPr/>
            </p:nvSpPr>
            <p:spPr bwMode="auto">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extrusionOk="0">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nvGrpSpPr>
              <p:cNvPr id="234" name="Group 233"/>
              <p:cNvGrpSpPr/>
              <p:nvPr/>
            </p:nvGrpSpPr>
            <p:grpSpPr bwMode="auto">
              <a:xfrm>
                <a:off x="3941378" y="2603243"/>
                <a:ext cx="3202060" cy="1066110"/>
                <a:chOff x="7939341" y="3037317"/>
                <a:chExt cx="897649" cy="353919"/>
              </a:xfrm>
            </p:grpSpPr>
            <p:sp>
              <p:nvSpPr>
                <p:cNvPr id="235" name="Freeform 756"/>
                <p:cNvSpPr/>
                <p:nvPr/>
              </p:nvSpPr>
              <p:spPr bwMode="auto">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extrusionOk="0">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36" name="Freeform 757"/>
                <p:cNvSpPr/>
                <p:nvPr/>
              </p:nvSpPr>
              <p:spPr bwMode="auto">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extrusionOk="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37" name="Freeform 758"/>
                <p:cNvSpPr/>
                <p:nvPr/>
              </p:nvSpPr>
              <p:spPr bwMode="auto">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extrusionOk="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sp>
              <p:nvSpPr>
                <p:cNvPr id="238" name="Freeform 759"/>
                <p:cNvSpPr/>
                <p:nvPr/>
              </p:nvSpPr>
              <p:spPr bwMode="auto">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extrusionOk="0">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600"/>
                </a:p>
              </p:txBody>
            </p:sp>
          </p:grpSp>
        </p:grpSp>
        <p:sp>
          <p:nvSpPr>
            <p:cNvPr id="220" name="Rectangle 219"/>
            <p:cNvSpPr/>
            <p:nvPr/>
          </p:nvSpPr>
          <p:spPr bwMode="auto">
            <a:xfrm>
              <a:off x="4471812" y="324866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Ethernet1/0/3</a:t>
              </a:r>
              <a:endParaRPr lang="en-US" sz="1600">
                <a:solidFill>
                  <a:schemeClr val="accent3"/>
                </a:solidFill>
              </a:endParaRPr>
            </a:p>
          </p:txBody>
        </p:sp>
        <p:sp>
          <p:nvSpPr>
            <p:cNvPr id="221" name="Rectangle 220"/>
            <p:cNvSpPr/>
            <p:nvPr/>
          </p:nvSpPr>
          <p:spPr bwMode="auto">
            <a:xfrm>
              <a:off x="6794182" y="3248664"/>
              <a:ext cx="1381789" cy="338554"/>
            </a:xfrm>
            <a:prstGeom prst="rect">
              <a:avLst/>
            </a:prstGeom>
            <a:grpFill/>
          </p:spPr>
          <p:txBody>
            <a:bodyPr wrap="none">
              <a:spAutoFit/>
            </a:bodyPr>
            <a:lstStyle/>
            <a:p>
              <a:pPr>
                <a:defRPr/>
              </a:pPr>
              <a:r>
                <a:rPr lang="en-US" sz="1600">
                  <a:solidFill>
                    <a:schemeClr val="accent4"/>
                  </a:solidFill>
                  <a:ea typeface="宋体"/>
                  <a:cs typeface="Courier New"/>
                </a:rPr>
                <a:t>Ethernet1/0/4</a:t>
              </a:r>
              <a:endParaRPr lang="en-US" sz="1600">
                <a:solidFill>
                  <a:schemeClr val="accent4"/>
                </a:solidFill>
              </a:endParaRPr>
            </a:p>
          </p:txBody>
        </p:sp>
        <p:sp>
          <p:nvSpPr>
            <p:cNvPr id="222" name="Rectangle 221"/>
            <p:cNvSpPr/>
            <p:nvPr/>
          </p:nvSpPr>
          <p:spPr bwMode="auto">
            <a:xfrm>
              <a:off x="5337751" y="4879752"/>
              <a:ext cx="482824" cy="338554"/>
            </a:xfrm>
            <a:prstGeom prst="rect">
              <a:avLst/>
            </a:prstGeom>
            <a:grpFill/>
          </p:spPr>
          <p:txBody>
            <a:bodyPr wrap="none">
              <a:spAutoFit/>
            </a:bodyPr>
            <a:lstStyle/>
            <a:p>
              <a:pPr>
                <a:defRPr/>
              </a:pPr>
              <a:r>
                <a:rPr lang="en-US" sz="1600">
                  <a:ea typeface="宋体"/>
                  <a:cs typeface="Courier New"/>
                </a:rPr>
                <a:t>pc3</a:t>
              </a:r>
              <a:endParaRPr lang="en-US" sz="1600"/>
            </a:p>
          </p:txBody>
        </p:sp>
        <p:sp>
          <p:nvSpPr>
            <p:cNvPr id="223" name="Rectangle 222"/>
            <p:cNvSpPr/>
            <p:nvPr/>
          </p:nvSpPr>
          <p:spPr bwMode="auto">
            <a:xfrm>
              <a:off x="6904567" y="4892898"/>
              <a:ext cx="482824" cy="338554"/>
            </a:xfrm>
            <a:prstGeom prst="rect">
              <a:avLst/>
            </a:prstGeom>
            <a:grpFill/>
          </p:spPr>
          <p:txBody>
            <a:bodyPr wrap="none">
              <a:spAutoFit/>
            </a:bodyPr>
            <a:lstStyle/>
            <a:p>
              <a:pPr>
                <a:defRPr/>
              </a:pPr>
              <a:r>
                <a:rPr lang="en-US" sz="1600">
                  <a:ea typeface="宋体"/>
                  <a:cs typeface="Courier New"/>
                </a:rPr>
                <a:t>pc4</a:t>
              </a:r>
              <a:endParaRPr lang="en-US" sz="1600"/>
            </a:p>
          </p:txBody>
        </p:sp>
        <p:sp>
          <p:nvSpPr>
            <p:cNvPr id="224" name="Rectangle 223"/>
            <p:cNvSpPr/>
            <p:nvPr/>
          </p:nvSpPr>
          <p:spPr bwMode="auto">
            <a:xfrm>
              <a:off x="4894471" y="5091291"/>
              <a:ext cx="1563247" cy="338554"/>
            </a:xfrm>
            <a:prstGeom prst="rect">
              <a:avLst/>
            </a:prstGeom>
            <a:grpFill/>
          </p:spPr>
          <p:txBody>
            <a:bodyPr wrap="none">
              <a:spAutoFit/>
            </a:bodyPr>
            <a:lstStyle/>
            <a:p>
              <a:pPr>
                <a:defRPr/>
              </a:pPr>
              <a:r>
                <a:rPr lang="en-US" sz="1600"/>
                <a:t>192.168.1.13/24</a:t>
              </a:r>
            </a:p>
          </p:txBody>
        </p:sp>
        <p:sp>
          <p:nvSpPr>
            <p:cNvPr id="225" name="Rectangle 224"/>
            <p:cNvSpPr/>
            <p:nvPr/>
          </p:nvSpPr>
          <p:spPr bwMode="auto">
            <a:xfrm>
              <a:off x="6461288" y="5086410"/>
              <a:ext cx="1563247" cy="338554"/>
            </a:xfrm>
            <a:prstGeom prst="rect">
              <a:avLst/>
            </a:prstGeom>
            <a:grpFill/>
          </p:spPr>
          <p:txBody>
            <a:bodyPr wrap="none">
              <a:spAutoFit/>
            </a:bodyPr>
            <a:lstStyle/>
            <a:p>
              <a:pPr>
                <a:defRPr/>
              </a:pPr>
              <a:r>
                <a:rPr lang="en-US" sz="1600"/>
                <a:t>192.168.1.14/24</a:t>
              </a:r>
            </a:p>
          </p:txBody>
        </p:sp>
        <p:sp>
          <p:nvSpPr>
            <p:cNvPr id="226" name="Rectangle 225"/>
            <p:cNvSpPr/>
            <p:nvPr/>
          </p:nvSpPr>
          <p:spPr bwMode="auto">
            <a:xfrm>
              <a:off x="2815354" y="265923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Ethernet1/0/1</a:t>
              </a:r>
            </a:p>
          </p:txBody>
        </p:sp>
        <p:sp>
          <p:nvSpPr>
            <p:cNvPr id="227" name="Rectangle 226"/>
            <p:cNvSpPr/>
            <p:nvPr/>
          </p:nvSpPr>
          <p:spPr bwMode="auto">
            <a:xfrm>
              <a:off x="4567746" y="2659234"/>
              <a:ext cx="1381789" cy="338554"/>
            </a:xfrm>
            <a:prstGeom prst="rect">
              <a:avLst/>
            </a:prstGeom>
            <a:grpFill/>
          </p:spPr>
          <p:txBody>
            <a:bodyPr wrap="none">
              <a:spAutoFit/>
            </a:bodyPr>
            <a:lstStyle/>
            <a:p>
              <a:pPr>
                <a:defRPr/>
              </a:pPr>
              <a:r>
                <a:rPr lang="en-US" sz="1600">
                  <a:solidFill>
                    <a:schemeClr val="accent3"/>
                  </a:solidFill>
                  <a:ea typeface="宋体"/>
                  <a:cs typeface="Courier New"/>
                </a:rPr>
                <a:t>Ethernet1/0/1</a:t>
              </a:r>
            </a:p>
          </p:txBody>
        </p:sp>
        <p:sp>
          <p:nvSpPr>
            <p:cNvPr id="228" name="Rectangle 227"/>
            <p:cNvSpPr/>
            <p:nvPr/>
          </p:nvSpPr>
          <p:spPr bwMode="auto">
            <a:xfrm>
              <a:off x="480121" y="3724551"/>
              <a:ext cx="756938" cy="338554"/>
            </a:xfrm>
            <a:prstGeom prst="rect">
              <a:avLst/>
            </a:prstGeom>
            <a:grpFill/>
          </p:spPr>
          <p:txBody>
            <a:bodyPr wrap="none">
              <a:spAutoFit/>
            </a:bodyPr>
            <a:lstStyle/>
            <a:p>
              <a:pPr>
                <a:defRPr/>
              </a:pPr>
              <a:r>
                <a:rPr lang="en-US" sz="1600" b="1" u="sng">
                  <a:solidFill>
                    <a:schemeClr val="accent3"/>
                  </a:solidFill>
                  <a:ea typeface="宋体"/>
                  <a:cs typeface="Courier New"/>
                </a:rPr>
                <a:t>VLAN2</a:t>
              </a:r>
              <a:endParaRPr lang="en-US" sz="1600" b="1" u="sng">
                <a:solidFill>
                  <a:schemeClr val="accent3"/>
                </a:solidFill>
              </a:endParaRPr>
            </a:p>
          </p:txBody>
        </p:sp>
        <p:sp>
          <p:nvSpPr>
            <p:cNvPr id="229" name="Rectangle 228"/>
            <p:cNvSpPr/>
            <p:nvPr/>
          </p:nvSpPr>
          <p:spPr bwMode="auto">
            <a:xfrm>
              <a:off x="7485076" y="3737169"/>
              <a:ext cx="756938" cy="338554"/>
            </a:xfrm>
            <a:prstGeom prst="rect">
              <a:avLst/>
            </a:prstGeom>
            <a:grpFill/>
          </p:spPr>
          <p:txBody>
            <a:bodyPr wrap="none">
              <a:spAutoFit/>
            </a:bodyPr>
            <a:lstStyle/>
            <a:p>
              <a:pPr>
                <a:defRPr/>
              </a:pPr>
              <a:r>
                <a:rPr lang="en-US" sz="1600" b="1" u="sng">
                  <a:solidFill>
                    <a:schemeClr val="accent4"/>
                  </a:solidFill>
                  <a:ea typeface="宋体"/>
                  <a:cs typeface="Courier New"/>
                </a:rPr>
                <a:t>VLAN3</a:t>
              </a:r>
              <a:endParaRPr lang="en-US" sz="1600" b="1" u="sng">
                <a:solidFill>
                  <a:schemeClr val="accent4"/>
                </a:solidFill>
              </a:endParaRPr>
            </a:p>
          </p:txBody>
        </p:sp>
        <p:sp>
          <p:nvSpPr>
            <p:cNvPr id="230" name="Rectangle 229"/>
            <p:cNvSpPr/>
            <p:nvPr/>
          </p:nvSpPr>
          <p:spPr bwMode="auto">
            <a:xfrm>
              <a:off x="2834404" y="2671934"/>
              <a:ext cx="1381789" cy="338554"/>
            </a:xfrm>
            <a:prstGeom prst="rect">
              <a:avLst/>
            </a:prstGeom>
            <a:grpFill/>
          </p:spPr>
          <p:txBody>
            <a:bodyPr wrap="none">
              <a:spAutoFit/>
            </a:bodyPr>
            <a:lstStyle/>
            <a:p>
              <a:pPr>
                <a:defRPr/>
              </a:pPr>
              <a:r>
                <a:rPr lang="en-US" sz="1600">
                  <a:solidFill>
                    <a:schemeClr val="accent4"/>
                  </a:solidFill>
                  <a:ea typeface="宋体"/>
                  <a:cs typeface="Courier New"/>
                </a:rPr>
                <a:t>Ethernet1/0/1</a:t>
              </a:r>
            </a:p>
          </p:txBody>
        </p:sp>
        <p:sp>
          <p:nvSpPr>
            <p:cNvPr id="231" name="Rectangle 230"/>
            <p:cNvSpPr/>
            <p:nvPr/>
          </p:nvSpPr>
          <p:spPr bwMode="auto">
            <a:xfrm>
              <a:off x="4585089" y="2671628"/>
              <a:ext cx="1381789" cy="338554"/>
            </a:xfrm>
            <a:prstGeom prst="rect">
              <a:avLst/>
            </a:prstGeom>
            <a:grpFill/>
          </p:spPr>
          <p:txBody>
            <a:bodyPr wrap="none">
              <a:spAutoFit/>
            </a:bodyPr>
            <a:lstStyle/>
            <a:p>
              <a:pPr>
                <a:defRPr/>
              </a:pPr>
              <a:r>
                <a:rPr lang="en-US" sz="1600">
                  <a:solidFill>
                    <a:schemeClr val="accent4"/>
                  </a:solidFill>
                  <a:ea typeface="宋体"/>
                  <a:cs typeface="Courier New"/>
                </a:rPr>
                <a:t>Ethernet1/0/1</a:t>
              </a:r>
            </a:p>
          </p:txBody>
        </p:sp>
      </p:grpSp>
    </p:spTree>
  </p:cSld>
  <p:clrMapOvr>
    <a:masterClrMapping/>
  </p:clrMapOvr>
</p:sld>
</file>

<file path=ppt/theme/theme1.xml><?xml version="1.0" encoding="utf-8"?>
<a:theme xmlns:a="http://schemas.openxmlformats.org/drawingml/2006/main" name="computer-network">
  <a:themeElements>
    <a:clrScheme name="Custom 10">
      <a:dk1>
        <a:srgbClr val="000000"/>
      </a:dk1>
      <a:lt1>
        <a:sysClr val="window" lastClr="FFFFFF"/>
      </a:lt1>
      <a:dk2>
        <a:srgbClr val="637052"/>
      </a:dk2>
      <a:lt2>
        <a:srgbClr val="CCDDEA"/>
      </a:lt2>
      <a:accent1>
        <a:srgbClr val="3DA3ED"/>
      </a:accent1>
      <a:accent2>
        <a:srgbClr val="00B4A6"/>
      </a:accent2>
      <a:accent3>
        <a:srgbClr val="E81588"/>
      </a:accent3>
      <a:accent4>
        <a:srgbClr val="008222"/>
      </a:accent4>
      <a:accent5>
        <a:srgbClr val="F1B61E"/>
      </a:accent5>
      <a:accent6>
        <a:srgbClr val="94A088"/>
      </a:accent6>
      <a:hlink>
        <a:srgbClr val="2998E3"/>
      </a:hlink>
      <a:folHlink>
        <a:srgbClr val="8C8C8C"/>
      </a:folHlink>
    </a:clrScheme>
    <a:fontScheme name="Custom 3">
      <a:majorFont>
        <a:latin typeface="Calibri"/>
        <a:ea typeface="华文楷体"/>
        <a:cs typeface="Arial"/>
      </a:majorFont>
      <a:minorFont>
        <a:latin typeface="Calibri"/>
        <a:ea typeface="华文楷体"/>
        <a:cs typeface="Arial"/>
      </a:minorFont>
    </a:fontScheme>
    <a:fmtScheme name="Retrospect">
      <a:fillStyleLst>
        <a:solidFill>
          <a:schemeClr val="phClr"/>
        </a:solidFill>
        <a:gradFill>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gradFill>
        <a:gradFill>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0000"/>
            <a:shade val="97000"/>
            <a:satMod val="130000"/>
          </a:schemeClr>
        </a:solidFill>
        <a:gradFill>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computer-network-template</Template>
  <TotalTime>340</TotalTime>
  <Words>2166</Words>
  <Application>Microsoft Office PowerPoint</Application>
  <DocSecurity>0</DocSecurity>
  <PresentationFormat>全屏显示(4:3)</PresentationFormat>
  <Paragraphs>565</Paragraphs>
  <Slides>39</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39</vt:i4>
      </vt:variant>
    </vt:vector>
  </HeadingPairs>
  <TitlesOfParts>
    <vt:vector size="44" baseType="lpstr">
      <vt:lpstr>CourierNewPSMT</vt:lpstr>
      <vt:lpstr>Calibri</vt:lpstr>
      <vt:lpstr>Courier New</vt:lpstr>
      <vt:lpstr>Wingdings</vt:lpstr>
      <vt:lpstr>computer-network</vt:lpstr>
      <vt:lpstr>计算机网络  实验六 交换机与VLAN配置</vt:lpstr>
      <vt:lpstr>实验六 交换机与VLAN配置</vt:lpstr>
      <vt:lpstr>实验内容</vt:lpstr>
      <vt:lpstr>实验任务要求</vt:lpstr>
      <vt:lpstr>实验报告撰写要求</vt:lpstr>
      <vt:lpstr>实验内容</vt:lpstr>
      <vt:lpstr>1. 登录交换机</vt:lpstr>
      <vt:lpstr>1. 登录交换机</vt:lpstr>
      <vt:lpstr>1. 登录交换机</vt:lpstr>
      <vt:lpstr>1. 登录交换机</vt:lpstr>
      <vt:lpstr>1. 登录交换机</vt:lpstr>
      <vt:lpstr>1. 登录交换机</vt:lpstr>
      <vt:lpstr>1. 登录交换机</vt:lpstr>
      <vt:lpstr>实验内容</vt:lpstr>
      <vt:lpstr>2. 连接双节点网络</vt:lpstr>
      <vt:lpstr>2. 连接双节点网络</vt:lpstr>
      <vt:lpstr>2. 连接双节点网络</vt:lpstr>
      <vt:lpstr>实验内容</vt:lpstr>
      <vt:lpstr>3. 配置双节点网络VLAN </vt:lpstr>
      <vt:lpstr>3. 配置双节点网络VLAN </vt:lpstr>
      <vt:lpstr>3. 配置双节点网络VLAN </vt:lpstr>
      <vt:lpstr>3. 配置双节点网络VLAN </vt:lpstr>
      <vt:lpstr>3. 配置双节点网络VLAN </vt:lpstr>
      <vt:lpstr>3. 配置双节点网络VLAN </vt:lpstr>
      <vt:lpstr>3. 配置双节点网络VLAN </vt:lpstr>
      <vt:lpstr>3. 配置双节点网络VLAN </vt:lpstr>
      <vt:lpstr>3. 配置双节点网络VLAN </vt:lpstr>
      <vt:lpstr>实验内容</vt:lpstr>
      <vt:lpstr>4. 配置四节点网络 VLAN</vt:lpstr>
      <vt:lpstr>4. 配置四节点网络 VLAN</vt:lpstr>
      <vt:lpstr>4. 配置四节点网络 VLAN</vt:lpstr>
      <vt:lpstr>4. 配置四节点网络 VLAN</vt:lpstr>
      <vt:lpstr>4. 配置四节点网络 VLAN</vt:lpstr>
      <vt:lpstr>4. 配置四节点网络 VLAN</vt:lpstr>
      <vt:lpstr>4. 配置四节点网络 VLAN</vt:lpstr>
      <vt:lpstr>4. 配置四节点网络 VLAN</vt:lpstr>
      <vt:lpstr>4. 配置四节点网络 VLAN</vt:lpstr>
      <vt:lpstr>4. 配置四节点网络 VLAN</vt:lpstr>
      <vt:lpstr>4. 配置四节点网络 VLAN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谢瑞桃</dc:creator>
  <cp:keywords/>
  <dc:description/>
  <cp:lastModifiedBy>王锦鸿</cp:lastModifiedBy>
  <cp:revision>481</cp:revision>
  <dcterms:created xsi:type="dcterms:W3CDTF">2020-02-29T10:07:07Z</dcterms:created>
  <dcterms:modified xsi:type="dcterms:W3CDTF">2024-04-29T13:35:27Z</dcterms:modified>
  <cp:category/>
  <dc:identifier/>
  <cp:contentStatus/>
  <dc:language/>
  <cp:version/>
</cp:coreProperties>
</file>